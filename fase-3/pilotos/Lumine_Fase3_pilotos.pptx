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embeddedFontLst>
    <p:embeddedFont>
      <p:font typeface="Michroma" charset="0"/>
      <p:regular r:id="rIdFuente1"/>
    </p:embeddedFont>
    <p:embeddedFont>
      <p:font typeface="Archivo Condensed" charset="0"/>
      <p:regular r:id="rIdFuente2"/>
      <p:bold r:id="rIdFuente3"/>
    </p:embeddedFont>
    <p:embeddedFont>
      <p:font typeface="Archivo" charset="0"/>
      <p:regular r:id="rIdFuente4"/>
      <p:bold r:id="rIdFuente5"/>
    </p:embeddedFont>
    <p:embeddedFont>
      <p:font typeface="Archivo SemiCondensed Medium" charset="0"/>
      <p:regular r:id="rIdFuente6"/>
      <p:bold r:id="rIdFuente7"/>
    </p:embeddedFont>
    <p:embeddedFont>
      <p:font typeface="Archivo Expanded Light" charset="0"/>
      <p:regular r:id="rIdFuente8"/>
      <p:italic r:id="rIdFuente9"/>
    </p:embeddedFont>
    <p:embeddedFont>
      <p:font typeface="Archivo Expanded ExtraBold" charset="0"/>
      <p:regular r:id="rIdFuente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 · Diego Alarcón" id="{1e951177-34b2-2c71-8462-bdd6ab3df773}">
          <p14:sldIdLst>
            <p14:sldId id="256"/>
            <p14:sldId id="257"/>
          </p14:sldIdLst>
        </p14:section>
        <p14:section name="2 · Benjamín Torres" id="{aa9fd0be-e0d4-c602-76a8-aecc739a2d41}">
          <p14:sldIdLst>
            <p14:sldId id="258"/>
          </p14:sldIdLst>
        </p14:section>
        <p14:section name="3 · Lukas Verdugo" id="{85b3ad8f-fe2f-3457-9429-d5fc5fb36d6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Fuente1" Type="http://schemas.openxmlformats.org/officeDocument/2006/relationships/font" Target="fonts/font1.fntdata"/><Relationship Id="rIdFuente2" Type="http://schemas.openxmlformats.org/officeDocument/2006/relationships/font" Target="fonts/font2.fntdata"/><Relationship Id="rIdFuente3" Type="http://schemas.openxmlformats.org/officeDocument/2006/relationships/font" Target="fonts/font3.fntdata"/><Relationship Id="rIdFuente4" Type="http://schemas.openxmlformats.org/officeDocument/2006/relationships/font" Target="fonts/font4.fntdata"/><Relationship Id="rIdFuente5" Type="http://schemas.openxmlformats.org/officeDocument/2006/relationships/font" Target="fonts/font5.fntdata"/><Relationship Id="rIdFuente6" Type="http://schemas.openxmlformats.org/officeDocument/2006/relationships/font" Target="fonts/font6.fntdata"/><Relationship Id="rIdFuente7" Type="http://schemas.openxmlformats.org/officeDocument/2006/relationships/font" Target="fonts/font7.fntdata"/><Relationship Id="rIdFuente8" Type="http://schemas.openxmlformats.org/officeDocument/2006/relationships/font" Target="fonts/font8.fntdata"/><Relationship Id="rIdFuente9" Type="http://schemas.openxmlformats.org/officeDocument/2006/relationships/font" Target="fonts/font9.fntdata"/><Relationship Id="rIdFuente10" Type="http://schemas.openxmlformats.org/officeDocument/2006/relationships/font" Target="fonts/font10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Esencial</c:v>
                </c:pt>
              </c:strCache>
            </c:strRef>
          </c:tx>
          <c:spPr>
            <a:solidFill>
              <a:srgbClr val="8B959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ECECEC"/>
                    </a:solidFill>
                    <a:latin typeface="Archivo Condense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Colectivo</c:v>
                  </c:pt>
                  <c:pt idx="1">
                    <c:v>Aplicación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36.6</c:v>
                </c:pt>
                <c:pt idx="1">
                  <c:v>28.9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Plus</c:v>
                </c:pt>
              </c:strCache>
            </c:strRef>
          </c:tx>
          <c:spPr>
            <a:solidFill>
              <a:srgbClr val="22B8F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ECECEC"/>
                    </a:solidFill>
                    <a:latin typeface="Archivo Condense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Colectivo</c:v>
                  </c:pt>
                  <c:pt idx="1">
                    <c:v>Aplicación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34.3</c:v>
                </c:pt>
                <c:pt idx="1">
                  <c:v>27.5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2000" u="none">
                  <a:solidFill>
                    <a:srgbClr val="ECECEC"/>
                  </a:solidFill>
                  <a:latin typeface="Archivo Condense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ECECEC"/>
                </a:solidFill>
                <a:latin typeface="Archivo SemiCondensed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8B9598"/>
                </a:solidFill>
                <a:latin typeface="Archivo SemiCondensed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ALARCÓN · 30 s
Buenos días. Somos Diego Alarcón, Benjamín Torres y Lukas Verdugo, y les presentamos el capítulo tres de Lumine Motors: los planes de marketing, recursos humanos y operaciones. Los tres comparten un mismo gatillo, así que un cambio en la demanda mueve el plan completo. Yo parto con los objetivos y el mercado, Benjamín sigue con la estrategia comercial y Lukas cierra con las personas y las operaciones.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ALARCÓN · 50 s
En la matriz de Ansoff, Lumine entra por desarrollo de producto: el mercado existe, porque los conductores ya buscan gastar menos, pero la hibridación aditiva no tiene oferta en Chile. En el año 2 viene la penetración y, antes de lo habitual, la diversificación relacionada: vender patrones de calibración, kits y certificación a otros talleres, porque la exclusividad de la calibración se agota con el tiempo. En el año 3 llega el desarrollo de mercado. Y nuestra ventaja competitiva, sostenible en el tiempo, es la biblioteca de calibraciones por modelo: crece con cada instalación y es lo más difícil de copiar. Le paso la palabra a Benjamín.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 TORRES · 35 s
En el mix de marketing, el cliente conoce su ahorro antes de pagar y lo comprueba después. El kit tiene dos versiones. Esencial cuesta 4.290.000 pesos con IVA y promete hasta 15% menos bencina; Plus cuesta 4.990.000 y hasta 20%. Plus vale 16% más, pero ahorra 24% más al colectivo, así que cada punto de ahorro sale más barato, y el colectivo recupera la inversión en 34 meses. Son precios de referencia que la encuesta debe validar.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PORTADA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IERRE-image-2.jpe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umine Mo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984563" cy="20116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98448"/>
            <a:ext cx="10058400" cy="14813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en-US" sz="5800" dirty="0">
                <a:solidFill>
                  <a:schemeClr val="tx1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endParaRPr lang="en-US" sz="5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ERTUR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umine Mo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984563" cy="2011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2B8F0"/>
                </a:solidFill>
                <a:latin typeface="Archivo SemiCondensed Medium"/>
                <a:ea typeface="Archivo SemiCondensed Medium"/>
                <a:cs typeface="Archivo SemiCondensed Medium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umine Mo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984563" cy="201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umine Mo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984563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0" y="365760"/>
            <a:ext cx="5973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INTEGRADOR II · ICMA 1001 · GRUPO 1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841248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15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243584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6000"/>
              </a:lnSpc>
              <a:buNone/>
              <a:defRPr lang="en-US" sz="3400" dirty="0">
                <a:solidFill>
                  <a:schemeClr val="tx1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defRPr>
            </a:lvl1pPr>
          </a:lstStyle>
          <a:p>
            <a:pPr algn="l" indent="0" marL="0">
              <a:lnSpc>
                <a:spcPct val="86000"/>
              </a:lnSpc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2B8F0"/>
                </a:solidFill>
                <a:latin typeface="Archivo SemiCondensed Medium"/>
                <a:ea typeface="Archivo SemiCondensed Medium"/>
                <a:cs typeface="Archivo SemiCondense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2B8F0"/>
                </a:solidFill>
                <a:latin typeface="Archivo SemiCondensed Medium"/>
                <a:ea typeface="Archivo SemiCondensed Medium"/>
                <a:cs typeface="Archivo SemiCondense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0" y="365760"/>
            <a:ext cx="50593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200" spc="10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UNAB · OCTUBRE 2026</a:t>
            </a:r>
            <a:endParaRPr lang="es-CL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400" spc="100" kern="0" dirty="0">
                <a:solidFill>
                  <a:schemeClr val="accent1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FASE 3 · CAPÍTULO III</a:t>
            </a:r>
            <a:pPr indent="0" marL="0">
              <a:buNone/>
            </a:pPr>
            <a:r>
              <a:rPr lang="es-CL" altLang="en-US" sz="1400" spc="10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  ·  PLAN DE MARKETING, OPERACIONES Y RECURSOS HUMANOS</a:t>
            </a:r>
            <a:endParaRPr lang="es-CL" sz="14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298448"/>
            <a:ext cx="10058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800" dirty="0">
                <a:solidFill>
                  <a:schemeClr val="tx1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LUMINE MOTORS</a:t>
            </a:r>
            <a:endParaRPr lang="en-US" sz="5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i="1" dirty="0">
                <a:solidFill>
                  <a:schemeClr val="accent1"/>
                </a:solidFill>
                <a:latin typeface="Archivo Expanded Light" pitchFamily="34" charset="0"/>
                <a:ea typeface="Archivo Expanded Light" pitchFamily="34" charset="-122"/>
                <a:cs typeface="Archivo Expanded Light" pitchFamily="34" charset="-120"/>
              </a:rPr>
              <a:t>tu mismo auto, ahora híbrido.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27248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s-CL" altLang="en-US" sz="1800" dirty="0">
                <a:solidFill>
                  <a:schemeClr val="tx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Kit que hibrida autos a combustión de tracción delantera para gastar menos bencina sin cambiar de auto.</a:t>
            </a:r>
            <a:endParaRPr lang="es-CL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956048"/>
            <a:ext cx="1097280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5102352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s-CL" altLang="en-US" sz="1200" b="1" dirty="0">
                <a:solidFill>
                  <a:schemeClr val="tx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Integrador II · ICMA 1001 · Grupo 1</a:t>
            </a:r>
            <a:endParaRPr lang="es-CL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s-CL" altLang="en-US" sz="12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Universidad Andrés Bello · Facultad de Economía y Negocios · Ingeniería Comercial</a:t>
            </a:r>
            <a:endParaRPr lang="es-CL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s-CL" altLang="en-US" sz="12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Profesor: Roberto Brito</a:t>
            </a:r>
            <a:endParaRPr lang="es-CL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s-CL" altLang="en-US" sz="12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Diego Alarcón · Benjamín Torres · Lukas Verdugo</a:t>
            </a:r>
            <a:endParaRPr lang="es-CL" sz="1200" dirty="0"/>
          </a:p>
        </p:txBody>
      </p:sp>
      <p:sp>
        <p:nvSpPr>
          <p:cNvPr id="8" name="Shape 6"/>
          <p:cNvSpPr/>
          <p:nvPr/>
        </p:nvSpPr>
        <p:spPr>
          <a:xfrm>
            <a:off x="5010912" y="6163056"/>
            <a:ext cx="429768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10912" y="4608576"/>
            <a:ext cx="0" cy="1554480"/>
          </a:xfrm>
          <a:prstGeom prst="line">
            <a:avLst/>
          </a:prstGeom>
          <a:noFill/>
          <a:ln w="9525">
            <a:solidFill>
              <a:schemeClr val="tx2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4956048" y="4489704"/>
            <a:ext cx="109728" cy="10972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78908" y="6131052"/>
            <a:ext cx="64008" cy="6400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005072" y="62544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00" spc="100" kern="0" dirty="0">
                <a:solidFill>
                  <a:schemeClr val="tx1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MOTOR ORIGINAL</a:t>
            </a:r>
            <a:endParaRPr lang="es-CL" sz="1200" dirty="0"/>
          </a:p>
          <a:p>
            <a:pPr algn="ctr" indent="0" marL="0">
              <a:buNone/>
            </a:pPr>
            <a:r>
              <a:rPr lang="es-CL" altLang="en-US" sz="12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intacto</a:t>
            </a:r>
            <a:endParaRPr lang="es-CL" sz="1200" dirty="0"/>
          </a:p>
        </p:txBody>
      </p:sp>
      <p:sp>
        <p:nvSpPr>
          <p:cNvPr id="13" name="Shape 11"/>
          <p:cNvSpPr/>
          <p:nvPr/>
        </p:nvSpPr>
        <p:spPr>
          <a:xfrm>
            <a:off x="6931152" y="5166360"/>
            <a:ext cx="0" cy="996696"/>
          </a:xfrm>
          <a:prstGeom prst="line">
            <a:avLst/>
          </a:prstGeom>
          <a:noFill/>
          <a:ln w="9525">
            <a:solidFill>
              <a:schemeClr val="tx2"/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6876288" y="5047488"/>
            <a:ext cx="109728" cy="10972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99148" y="6131052"/>
            <a:ext cx="64008" cy="6400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25312" y="62544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00" spc="100" kern="0" dirty="0">
                <a:solidFill>
                  <a:schemeClr val="tx1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BATERÍA</a:t>
            </a:r>
            <a:endParaRPr lang="es-CL" sz="1200" dirty="0"/>
          </a:p>
          <a:p>
            <a:pPr algn="ctr" indent="0" marL="0">
              <a:buNone/>
            </a:pPr>
            <a:r>
              <a:rPr lang="es-CL" altLang="en-US" sz="12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bajo el piso</a:t>
            </a:r>
            <a:endParaRPr lang="es-CL" sz="1200" dirty="0"/>
          </a:p>
        </p:txBody>
      </p:sp>
      <p:sp>
        <p:nvSpPr>
          <p:cNvPr id="17" name="Shape 15"/>
          <p:cNvSpPr/>
          <p:nvPr/>
        </p:nvSpPr>
        <p:spPr>
          <a:xfrm>
            <a:off x="9308592" y="5102352"/>
            <a:ext cx="0" cy="1060704"/>
          </a:xfrm>
          <a:prstGeom prst="line">
            <a:avLst/>
          </a:prstGeom>
          <a:noFill/>
          <a:ln w="9525">
            <a:solidFill>
              <a:schemeClr val="tx2"/>
            </a:solidFill>
            <a:prstDash val="sysDot"/>
          </a:ln>
        </p:spPr>
      </p:sp>
      <p:sp>
        <p:nvSpPr>
          <p:cNvPr id="18" name="Shape 16"/>
          <p:cNvSpPr/>
          <p:nvPr/>
        </p:nvSpPr>
        <p:spPr>
          <a:xfrm>
            <a:off x="9253728" y="4983480"/>
            <a:ext cx="109728" cy="10972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76588" y="6131052"/>
            <a:ext cx="64008" cy="6400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02752" y="62544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00" spc="100" kern="0" dirty="0">
                <a:solidFill>
                  <a:schemeClr val="tx1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TRACCIÓN ELÉCTRICA</a:t>
            </a:r>
            <a:endParaRPr lang="es-CL" sz="1200" dirty="0"/>
          </a:p>
          <a:p>
            <a:pPr algn="ctr" indent="0" marL="0">
              <a:buNone/>
            </a:pPr>
            <a:r>
              <a:rPr lang="es-CL" altLang="en-US" sz="12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eje trasero</a:t>
            </a:r>
            <a:endParaRPr lang="es-CL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99855" y="640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1100" spc="10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ILUSTRACIÓN DEL KIT</a:t>
            </a:r>
            <a:endParaRPr lang="es-CL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8412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chemeClr val="accent1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04</a:t>
            </a:r>
            <a:pPr indent="0" marL="0">
              <a:buNone/>
            </a:pPr>
            <a:r>
              <a:rPr lang="en-US" sz="1200" spc="150" kern="0" dirty="0">
                <a:solidFill>
                  <a:schemeClr val="accent5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  —— </a:t>
            </a:r>
            <a:pPr indent="0" marL="0">
              <a:buNone/>
            </a:pPr>
            <a:r>
              <a:rPr lang="en-US" sz="1200" spc="15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PLAN DE MARKETING · MATRIZ DE ANSOFF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43584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400" dirty="0">
                <a:solidFill>
                  <a:schemeClr val="tx1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UN PRODUCTO NUEVO </a:t>
            </a:r>
            <a:pPr algn="l" indent="0" marL="0">
              <a:lnSpc>
                <a:spcPct val="86000"/>
              </a:lnSpc>
              <a:buNone/>
            </a:pPr>
            <a:r>
              <a:rPr lang="en-US" sz="3400" i="1" dirty="0">
                <a:solidFill>
                  <a:schemeClr val="accent1"/>
                </a:solidFill>
                <a:latin typeface="Archivo Expanded Light" pitchFamily="34" charset="0"/>
                <a:ea typeface="Archivo Expanded Light" pitchFamily="34" charset="-122"/>
                <a:cs typeface="Archivo Expanded Light" pitchFamily="34" charset="-120"/>
              </a:rPr>
              <a:t>en un mercado que ya existe.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180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Fuentes: Ansoff (1965); elaboración propia (Informe Fase 3, §3.1.4, §3.1.5.4, §3.2.1 y Figura N° 1).</a:t>
            </a:r>
            <a:endParaRPr lang="es-CL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395728"/>
            <a:ext cx="3451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600" spc="10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PRODUCTO EXISTENTE</a:t>
            </a:r>
            <a:endParaRPr lang="es-C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640580" y="2395728"/>
            <a:ext cx="3451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600" spc="100" kern="0" dirty="0">
                <a:solidFill>
                  <a:schemeClr val="tx1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PRODUCTO NUEVO</a:t>
            </a:r>
            <a:endParaRPr lang="es-CL" sz="1600" dirty="0"/>
          </a:p>
        </p:txBody>
      </p:sp>
      <p:sp>
        <p:nvSpPr>
          <p:cNvPr id="7" name="Text 5"/>
          <p:cNvSpPr txBox="1"/>
          <p:nvPr/>
        </p:nvSpPr>
        <p:spPr>
          <a:xfrm rot="16200000">
            <a:off x="-54864" y="348386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600" spc="10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MERCADO EXISTENTE</a:t>
            </a:r>
            <a:endParaRPr lang="es-CL" sz="1600" dirty="0"/>
          </a:p>
        </p:txBody>
      </p:sp>
      <p:sp>
        <p:nvSpPr>
          <p:cNvPr id="8" name="Text 6"/>
          <p:cNvSpPr txBox="1"/>
          <p:nvPr/>
        </p:nvSpPr>
        <p:spPr>
          <a:xfrm rot="16200000">
            <a:off x="-54864" y="51846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600" spc="10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MERCADO NUEVO</a:t>
            </a:r>
            <a:endParaRPr lang="es-CL" sz="1600" dirty="0"/>
          </a:p>
        </p:txBody>
      </p:sp>
      <p:pic>
        <p:nvPicPr>
          <p:cNvPr id="9" name="Image 0" descr="/home/user/lumine/fase-3/generador/assets/bril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6180" y="2084832"/>
            <a:ext cx="5280660" cy="316382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40580" y="2816352"/>
            <a:ext cx="3451860" cy="1700784"/>
          </a:xfrm>
          <a:prstGeom prst="rect">
            <a:avLst/>
          </a:prstGeom>
          <a:solidFill>
            <a:srgbClr val="0B1A22">
              <a:alpha val="8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640580" y="2816352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40580" y="2816352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36992" y="2816352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92440" y="2816352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40580" y="451713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40580" y="4361688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36992" y="451713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92440" y="4361688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95444" y="4572000"/>
            <a:ext cx="3342132" cy="1591056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1188720" y="4517136"/>
            <a:ext cx="690372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40580" y="2816352"/>
            <a:ext cx="0" cy="3401568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88720" y="2816352"/>
            <a:ext cx="0" cy="3401568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188720" y="6217920"/>
            <a:ext cx="690372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960620" y="3136392"/>
            <a:ext cx="493776" cy="49377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960620" y="3136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2200" b="1" dirty="0">
                <a:solidFill>
                  <a:schemeClr val="bg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</a:t>
            </a:r>
            <a:endParaRPr lang="es-CL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5600700" y="2999232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spc="100" kern="0" dirty="0">
                <a:solidFill>
                  <a:schemeClr val="accent1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AÑO 1 · ENTRADA</a:t>
            </a:r>
            <a:endParaRPr lang="es-CL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600700" y="3273552"/>
            <a:ext cx="22174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s-CL" altLang="en-US" sz="2200" b="1" dirty="0">
                <a:solidFill>
                  <a:schemeClr val="tx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Desarrollo de producto</a:t>
            </a:r>
            <a:endParaRPr lang="es-CL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5600700" y="3950208"/>
            <a:ext cx="2217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s-CL" altLang="en-US" sz="1800" dirty="0">
                <a:solidFill>
                  <a:schemeClr val="tx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Sin oferta en Chile</a:t>
            </a:r>
            <a:endParaRPr lang="es-CL" sz="1800" dirty="0"/>
          </a:p>
        </p:txBody>
      </p:sp>
      <p:sp>
        <p:nvSpPr>
          <p:cNvPr id="29" name="Shape 26"/>
          <p:cNvSpPr/>
          <p:nvPr/>
        </p:nvSpPr>
        <p:spPr>
          <a:xfrm>
            <a:off x="3826764" y="3136392"/>
            <a:ext cx="493776" cy="4937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826764" y="3136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22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</a:t>
            </a:r>
            <a:endParaRPr lang="es-CL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1463040" y="2999232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spc="100" kern="0" dirty="0">
                <a:solidFill>
                  <a:schemeClr val="accent1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AÑO 2</a:t>
            </a:r>
            <a:endParaRPr lang="es-CL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463040" y="3273552"/>
            <a:ext cx="22174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s-CL" altLang="en-US" sz="2200" b="1" dirty="0">
                <a:solidFill>
                  <a:schemeClr val="tx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Penetración</a:t>
            </a:r>
            <a:endParaRPr lang="es-CL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3657600"/>
            <a:ext cx="2217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s-CL" altLang="en-US" sz="18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Más clientes, mismo mercado</a:t>
            </a:r>
            <a:endParaRPr lang="es-CL" sz="1800" dirty="0"/>
          </a:p>
        </p:txBody>
      </p:sp>
      <p:sp>
        <p:nvSpPr>
          <p:cNvPr id="34" name="Shape 31"/>
          <p:cNvSpPr/>
          <p:nvPr/>
        </p:nvSpPr>
        <p:spPr>
          <a:xfrm>
            <a:off x="4960620" y="4837176"/>
            <a:ext cx="493776" cy="49377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960620" y="48371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2200" b="1" dirty="0">
                <a:solidFill>
                  <a:schemeClr val="bg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</a:t>
            </a:r>
            <a:endParaRPr lang="es-CL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5600700" y="4700016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spc="100" kern="0" dirty="0">
                <a:solidFill>
                  <a:schemeClr val="accent1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DESDE EL AÑO 2</a:t>
            </a:r>
            <a:endParaRPr lang="es-CL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5600700" y="4974336"/>
            <a:ext cx="22174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s-CL" altLang="en-US" sz="2200" b="1" dirty="0">
                <a:solidFill>
                  <a:schemeClr val="tx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Diversificación</a:t>
            </a:r>
            <a:endParaRPr lang="es-CL" sz="2200" dirty="0"/>
          </a:p>
        </p:txBody>
      </p:sp>
      <p:sp>
        <p:nvSpPr>
          <p:cNvPr id="38" name="Text 35"/>
          <p:cNvSpPr txBox="1"/>
          <p:nvPr/>
        </p:nvSpPr>
        <p:spPr>
          <a:xfrm>
            <a:off x="5600700" y="5358384"/>
            <a:ext cx="2217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s-CL" altLang="en-US" sz="1800" dirty="0">
                <a:solidFill>
                  <a:schemeClr val="tx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Calibración y kits para talleres</a:t>
            </a:r>
            <a:endParaRPr lang="es-CL" sz="1800" dirty="0"/>
          </a:p>
        </p:txBody>
      </p:sp>
      <p:sp>
        <p:nvSpPr>
          <p:cNvPr id="39" name="Shape 36"/>
          <p:cNvSpPr/>
          <p:nvPr/>
        </p:nvSpPr>
        <p:spPr>
          <a:xfrm>
            <a:off x="3826764" y="4837176"/>
            <a:ext cx="493776" cy="4937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826764" y="48371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22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3</a:t>
            </a:r>
            <a:endParaRPr lang="es-CL" sz="22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4700016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spc="100" kern="0" dirty="0">
                <a:solidFill>
                  <a:schemeClr val="accent1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AÑO 3</a:t>
            </a:r>
            <a:endParaRPr lang="es-CL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1463040" y="4974336"/>
            <a:ext cx="22174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s-CL" altLang="en-US" sz="2200" b="1" dirty="0">
                <a:solidFill>
                  <a:schemeClr val="tx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Desarrollo de mercado</a:t>
            </a:r>
            <a:endParaRPr lang="es-CL" sz="2200" dirty="0"/>
          </a:p>
        </p:txBody>
      </p:sp>
      <p:sp>
        <p:nvSpPr>
          <p:cNvPr id="43" name="Text 40"/>
          <p:cNvSpPr txBox="1"/>
          <p:nvPr/>
        </p:nvSpPr>
        <p:spPr>
          <a:xfrm>
            <a:off x="1463040" y="5650992"/>
            <a:ext cx="2217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s-CL" altLang="en-US" sz="18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Flotas y regiones</a:t>
            </a:r>
            <a:endParaRPr lang="es-CL" sz="1800" dirty="0"/>
          </a:p>
        </p:txBody>
      </p:sp>
      <p:sp>
        <p:nvSpPr>
          <p:cNvPr id="44" name="Shape 41"/>
          <p:cNvSpPr/>
          <p:nvPr/>
        </p:nvSpPr>
        <p:spPr>
          <a:xfrm>
            <a:off x="4914900" y="3383280"/>
            <a:ext cx="-53035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4073652" y="3675888"/>
            <a:ext cx="0" cy="10972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5207508" y="3675888"/>
            <a:ext cx="0" cy="10972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  <a:tailEnd type="triangle"/>
          </a:ln>
        </p:spPr>
      </p:sp>
      <p:pic>
        <p:nvPicPr>
          <p:cNvPr id="47" name="Image 1" descr="Unidad de control del kit (imagen ilustrativ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395728"/>
            <a:ext cx="3139135" cy="868680"/>
          </a:xfrm>
          <a:prstGeom prst="rect">
            <a:avLst/>
          </a:prstGeom>
        </p:spPr>
      </p:pic>
      <p:sp>
        <p:nvSpPr>
          <p:cNvPr id="48" name="Shape 44"/>
          <p:cNvSpPr/>
          <p:nvPr/>
        </p:nvSpPr>
        <p:spPr>
          <a:xfrm>
            <a:off x="8503920" y="2395728"/>
            <a:ext cx="3139135" cy="86868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8613648" y="2990088"/>
            <a:ext cx="2919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00" spc="10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IMAGEN ILUSTRATIVA</a:t>
            </a:r>
            <a:endParaRPr lang="es-CL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8503920" y="3401568"/>
            <a:ext cx="31391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spc="100" kern="0" dirty="0">
                <a:solidFill>
                  <a:schemeClr val="accent1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VENTAJA COMPETITIVA</a:t>
            </a:r>
            <a:endParaRPr lang="es-CL" sz="1600" dirty="0"/>
          </a:p>
          <a:p>
            <a:pPr indent="0" marL="0">
              <a:buNone/>
            </a:pPr>
            <a:r>
              <a:rPr lang="es-CL" altLang="en-US" sz="1600" spc="100" kern="0" dirty="0">
                <a:solidFill>
                  <a:schemeClr val="accent1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SOSTENIBLE</a:t>
            </a:r>
            <a:endParaRPr lang="es-CL" sz="1600" dirty="0"/>
          </a:p>
        </p:txBody>
      </p:sp>
      <p:sp>
        <p:nvSpPr>
          <p:cNvPr id="51" name="Text 47"/>
          <p:cNvSpPr txBox="1"/>
          <p:nvPr/>
        </p:nvSpPr>
        <p:spPr>
          <a:xfrm>
            <a:off x="8503920" y="3968496"/>
            <a:ext cx="31391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s-CL" altLang="en-US" sz="2600" b="1" dirty="0">
                <a:solidFill>
                  <a:schemeClr val="tx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 biblioteca de calibraciones</a:t>
            </a:r>
            <a:endParaRPr lang="es-CL" sz="2600" dirty="0"/>
          </a:p>
        </p:txBody>
      </p:sp>
      <p:sp>
        <p:nvSpPr>
          <p:cNvPr id="52" name="Text 48"/>
          <p:cNvSpPr txBox="1"/>
          <p:nvPr/>
        </p:nvSpPr>
        <p:spPr>
          <a:xfrm>
            <a:off x="8503920" y="4773168"/>
            <a:ext cx="3139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8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Crece con cada instalación y es lo más difícil de copiar.</a:t>
            </a:r>
            <a:endParaRPr lang="es-CL" sz="1800" dirty="0"/>
          </a:p>
        </p:txBody>
      </p:sp>
      <p:sp>
        <p:nvSpPr>
          <p:cNvPr id="53" name="Shape 49"/>
          <p:cNvSpPr/>
          <p:nvPr/>
        </p:nvSpPr>
        <p:spPr>
          <a:xfrm>
            <a:off x="8503920" y="5413248"/>
            <a:ext cx="3139135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8503920" y="5486400"/>
            <a:ext cx="3139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800" dirty="0">
                <a:solidFill>
                  <a:schemeClr val="tx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Por eso la red parte en el año 2: se vende mientras es exclusiva.</a:t>
            </a:r>
            <a:endParaRPr lang="es-C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2B8F0"/>
                </a:solidFill>
                <a:latin typeface="Archivo SemiCondensed Medium"/>
                <a:ea typeface="Archivo SemiCondensed Medium"/>
                <a:cs typeface="Archivo SemiCondensed Medium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8412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chemeClr val="accent1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06</a:t>
            </a:r>
            <a:pPr indent="0" marL="0">
              <a:buNone/>
            </a:pPr>
            <a:r>
              <a:rPr lang="en-US" sz="1200" spc="150" kern="0" dirty="0">
                <a:solidFill>
                  <a:schemeClr val="accent5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  —— </a:t>
            </a:r>
            <a:pPr indent="0" marL="0">
              <a:buNone/>
            </a:pPr>
            <a:r>
              <a:rPr lang="en-US" sz="1200" spc="15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PLAN DE MARKETING · MIX: PRODUCTO Y PRECIO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43584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400" dirty="0">
                <a:solidFill>
                  <a:schemeClr val="tx1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PLUS CUESTA 16</a:t>
            </a:r>
            <a:pPr algn="l" indent="0" marL="0">
              <a:lnSpc>
                <a:spcPct val="86000"/>
              </a:lnSpc>
              <a:buNone/>
            </a:pPr>
            <a:r>
              <a:rPr lang="en-US" sz="3400" dirty="0">
                <a:solidFill>
                  <a:schemeClr val="tx1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%</a:t>
            </a:r>
            <a:pPr algn="l" indent="0" marL="0">
              <a:lnSpc>
                <a:spcPct val="86000"/>
              </a:lnSpc>
              <a:buNone/>
            </a:pPr>
            <a:r>
              <a:rPr lang="en-US" sz="3400" dirty="0">
                <a:solidFill>
                  <a:schemeClr val="tx1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 MÁS </a:t>
            </a:r>
            <a:pPr algn="l" indent="0" marL="0">
              <a:lnSpc>
                <a:spcPct val="86000"/>
              </a:lnSpc>
              <a:buNone/>
            </a:pPr>
            <a:r>
              <a:rPr lang="en-US" sz="3400" i="1" dirty="0">
                <a:solidFill>
                  <a:schemeClr val="accent1"/>
                </a:solidFill>
                <a:latin typeface="Archivo Expanded Light" pitchFamily="34" charset="0"/>
                <a:ea typeface="Archivo Expanded Light" pitchFamily="34" charset="-122"/>
                <a:cs typeface="Archivo Expanded Light" pitchFamily="34" charset="-120"/>
              </a:rPr>
              <a:t>y ahorra 24% más.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180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1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Fuentes: elaboración propia (Informe Fase 3, Tablas N° 5 y 6; Anexos N° 2 y 9); Banco Central de Chile (2026), tasa de consumo.</a:t>
            </a:r>
            <a:endParaRPr lang="es-CL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395728"/>
            <a:ext cx="3401568" cy="373075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95728"/>
            <a:ext cx="3401568" cy="5486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3347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800" spc="100" kern="0" dirty="0">
                <a:solidFill>
                  <a:schemeClr val="tx1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ESENCIAL</a:t>
            </a:r>
            <a:endParaRPr lang="es-CL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4436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48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$4.290.000</a:t>
            </a:r>
            <a:endParaRPr lang="es-CL" sz="4800" dirty="0"/>
          </a:p>
        </p:txBody>
      </p:sp>
      <p:sp>
        <p:nvSpPr>
          <p:cNvPr id="9" name="Shape 7"/>
          <p:cNvSpPr/>
          <p:nvPr/>
        </p:nvSpPr>
        <p:spPr>
          <a:xfrm>
            <a:off x="822960" y="3694176"/>
            <a:ext cx="2680208" cy="36576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tx2"/>
            </a:solidFill>
            <a:prstDash val="sysDot"/>
          </a:ln>
        </p:spPr>
      </p:sp>
      <p:sp>
        <p:nvSpPr>
          <p:cNvPr id="10" name="Text 8"/>
          <p:cNvSpPr txBox="1"/>
          <p:nvPr/>
        </p:nvSpPr>
        <p:spPr>
          <a:xfrm>
            <a:off x="932688" y="3694176"/>
            <a:ext cx="246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400" spc="10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REFERENCIA · CON IVA</a:t>
            </a:r>
            <a:endParaRPr lang="es-CL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224528"/>
            <a:ext cx="285292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3525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400" spc="10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AHORRO MÁXIMO EN CIUDAD</a:t>
            </a:r>
            <a:endParaRPr lang="es-CL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590288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CL" altLang="en-US" sz="2000" b="1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hasta </a:t>
            </a:r>
            <a:pPr indent="0" marL="0">
              <a:buNone/>
            </a:pPr>
            <a:r>
              <a:rPr lang="es-CL" altLang="en-US" sz="4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15%</a:t>
            </a:r>
            <a:endParaRPr lang="es-CL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2669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400" spc="10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AHORRO DE UN COLECTIVO</a:t>
            </a:r>
            <a:endParaRPr lang="es-CL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504688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CL" altLang="en-US" sz="36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$117.069</a:t>
            </a:r>
            <a:pPr indent="0" marL="0">
              <a:buNone/>
            </a:pPr>
            <a:r>
              <a:rPr lang="es-CL" altLang="en-US" sz="2000" b="1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al mes</a:t>
            </a:r>
            <a:endParaRPr lang="es-CL" sz="3600" dirty="0"/>
          </a:p>
        </p:txBody>
      </p:sp>
      <p:pic>
        <p:nvPicPr>
          <p:cNvPr id="16" name="Image 0" descr="/home/user/lumine/fase-3/generador/assets/bril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6432" y="1847088"/>
            <a:ext cx="5047488" cy="482803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279392" y="2395728"/>
            <a:ext cx="3401568" cy="3730752"/>
          </a:xfrm>
          <a:prstGeom prst="rect">
            <a:avLst/>
          </a:prstGeom>
          <a:solidFill>
            <a:srgbClr val="0B1A2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79392" y="2395728"/>
            <a:ext cx="3401568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Shape 16"/>
          <p:cNvSpPr/>
          <p:nvPr/>
        </p:nvSpPr>
        <p:spPr>
          <a:xfrm>
            <a:off x="4224528" y="234086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24528" y="234086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80376" y="234086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35824" y="234086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24528" y="618134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24528" y="602589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80376" y="618134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35824" y="602589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53712" y="263347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800" spc="100" kern="0" dirty="0">
                <a:solidFill>
                  <a:schemeClr val="accent1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PLUS</a:t>
            </a:r>
            <a:endParaRPr lang="es-CL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4553712" y="294436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48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$4.990.000</a:t>
            </a:r>
            <a:endParaRPr lang="es-CL" sz="4800" dirty="0"/>
          </a:p>
        </p:txBody>
      </p:sp>
      <p:sp>
        <p:nvSpPr>
          <p:cNvPr id="29" name="Shape 26"/>
          <p:cNvSpPr/>
          <p:nvPr/>
        </p:nvSpPr>
        <p:spPr>
          <a:xfrm>
            <a:off x="4553712" y="3694176"/>
            <a:ext cx="2680208" cy="36576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tx2"/>
            </a:solidFill>
            <a:prstDash val="sysDot"/>
          </a:ln>
        </p:spPr>
      </p:sp>
      <p:sp>
        <p:nvSpPr>
          <p:cNvPr id="30" name="Text 27"/>
          <p:cNvSpPr txBox="1"/>
          <p:nvPr/>
        </p:nvSpPr>
        <p:spPr>
          <a:xfrm>
            <a:off x="4663440" y="3694176"/>
            <a:ext cx="246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400" spc="10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REFERENCIA · CON IVA</a:t>
            </a:r>
            <a:endParaRPr lang="es-CL" sz="1400" dirty="0"/>
          </a:p>
        </p:txBody>
      </p:sp>
      <p:sp>
        <p:nvSpPr>
          <p:cNvPr id="31" name="Shape 28"/>
          <p:cNvSpPr/>
          <p:nvPr/>
        </p:nvSpPr>
        <p:spPr>
          <a:xfrm>
            <a:off x="4553712" y="4224528"/>
            <a:ext cx="285292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53712" y="43525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400" spc="10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AHORRO MÁXIMO EN CIUDAD</a:t>
            </a:r>
            <a:endParaRPr lang="es-CL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4553712" y="4590288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CL" altLang="en-US" sz="2000" b="1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hasta </a:t>
            </a:r>
            <a:pPr indent="0" marL="0">
              <a:buNone/>
            </a:pPr>
            <a:r>
              <a:rPr lang="es-CL" altLang="en-US" sz="4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20%</a:t>
            </a:r>
            <a:endParaRPr lang="es-CL" sz="4000" dirty="0"/>
          </a:p>
        </p:txBody>
      </p:sp>
      <p:sp>
        <p:nvSpPr>
          <p:cNvPr id="34" name="Text 31"/>
          <p:cNvSpPr txBox="1"/>
          <p:nvPr/>
        </p:nvSpPr>
        <p:spPr>
          <a:xfrm>
            <a:off x="4553712" y="52669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400" spc="10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AHORRO DE UN COLECTIVO</a:t>
            </a:r>
            <a:endParaRPr lang="es-CL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4553712" y="5504688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CL" altLang="en-US" sz="36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$145.327</a:t>
            </a:r>
            <a:pPr indent="0" marL="0">
              <a:buNone/>
            </a:pPr>
            <a:r>
              <a:rPr lang="es-CL" altLang="en-US" sz="2000" b="1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al mes</a:t>
            </a:r>
            <a:endParaRPr lang="es-CL" sz="3600" dirty="0"/>
          </a:p>
        </p:txBody>
      </p:sp>
      <p:sp>
        <p:nvSpPr>
          <p:cNvPr id="36" name="Text 33"/>
          <p:cNvSpPr txBox="1"/>
          <p:nvPr/>
        </p:nvSpPr>
        <p:spPr>
          <a:xfrm>
            <a:off x="8138160" y="2395728"/>
            <a:ext cx="3504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spc="100" kern="0" dirty="0">
                <a:solidFill>
                  <a:schemeClr val="tx1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MESES PARA RECUPERAR LA INVERSIÓN</a:t>
            </a:r>
            <a:endParaRPr lang="es-CL" sz="1600" dirty="0"/>
          </a:p>
        </p:txBody>
      </p:sp>
      <p:sp>
        <p:nvSpPr>
          <p:cNvPr id="37" name="Shape 34"/>
          <p:cNvSpPr/>
          <p:nvPr/>
        </p:nvSpPr>
        <p:spPr>
          <a:xfrm>
            <a:off x="8138160" y="3054096"/>
            <a:ext cx="201168" cy="201168"/>
          </a:xfrm>
          <a:prstGeom prst="rect">
            <a:avLst/>
          </a:prstGeom>
          <a:solidFill>
            <a:srgbClr val="8B9598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430768" y="2980944"/>
            <a:ext cx="107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Esencial</a:t>
            </a:r>
            <a:endParaRPr lang="es-CL" sz="1600" dirty="0"/>
          </a:p>
        </p:txBody>
      </p:sp>
      <p:sp>
        <p:nvSpPr>
          <p:cNvPr id="39" name="Shape 36"/>
          <p:cNvSpPr/>
          <p:nvPr/>
        </p:nvSpPr>
        <p:spPr>
          <a:xfrm>
            <a:off x="9736328" y="3054096"/>
            <a:ext cx="201168" cy="201168"/>
          </a:xfrm>
          <a:prstGeom prst="rect">
            <a:avLst/>
          </a:prstGeom>
          <a:solidFill>
            <a:srgbClr val="22B8F0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0028936" y="2980944"/>
            <a:ext cx="62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Plus</a:t>
            </a:r>
            <a:endParaRPr lang="es-CL" sz="1600" dirty="0"/>
          </a:p>
        </p:txBody>
      </p:sp>
      <p:graphicFrame>
        <p:nvGraphicFramePr>
          <p:cNvPr id="41" name="Meses para recuperar la inversión por versión" descr=""/>
          <p:cNvGraphicFramePr/>
          <p:nvPr/>
        </p:nvGraphicFramePr>
        <p:xfrm>
          <a:off x="8046720" y="3328416"/>
          <a:ext cx="3596335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2" name="Shape 38"/>
          <p:cNvSpPr/>
          <p:nvPr/>
        </p:nvSpPr>
        <p:spPr>
          <a:xfrm>
            <a:off x="8138160" y="4956048"/>
            <a:ext cx="2799588" cy="36576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tx2"/>
            </a:solidFill>
            <a:prstDash val="dash"/>
          </a:ln>
        </p:spPr>
      </p:sp>
      <p:sp>
        <p:nvSpPr>
          <p:cNvPr id="43" name="Text 39"/>
          <p:cNvSpPr txBox="1"/>
          <p:nvPr/>
        </p:nvSpPr>
        <p:spPr>
          <a:xfrm>
            <a:off x="8247888" y="4956048"/>
            <a:ext cx="2580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400" spc="100" kern="0" dirty="0">
                <a:solidFill>
                  <a:schemeClr val="tx2"/>
                </a:solidFill>
                <a:latin typeface="Archivo SemiCondensed Medium" pitchFamily="34" charset="0"/>
                <a:ea typeface="Archivo SemiCondensed Medium" pitchFamily="34" charset="-122"/>
                <a:cs typeface="Archivo SemiCondensed Medium" pitchFamily="34" charset="-120"/>
              </a:rPr>
              <a:t>ESTIMACIÓN · SIMULADO</a:t>
            </a:r>
            <a:endParaRPr lang="es-CL" sz="1400" dirty="0"/>
          </a:p>
        </p:txBody>
      </p:sp>
      <p:sp>
        <p:nvSpPr>
          <p:cNvPr id="44" name="Shape 40"/>
          <p:cNvSpPr/>
          <p:nvPr/>
        </p:nvSpPr>
        <p:spPr>
          <a:xfrm>
            <a:off x="8138160" y="5413248"/>
            <a:ext cx="3504895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8138160" y="5486400"/>
            <a:ext cx="3504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800" b="1" dirty="0">
                <a:solidFill>
                  <a:schemeClr val="tx1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Plus cuesta $700.000 más, </a:t>
            </a:r>
            <a:pPr indent="0" marL="0">
              <a:buNone/>
            </a:pPr>
            <a:r>
              <a:rPr lang="es-CL" altLang="en-US" sz="1800" dirty="0">
                <a:solidFill>
                  <a:schemeClr val="tx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pero cada punto de ahorro sale más barato.</a:t>
            </a:r>
            <a:endParaRPr lang="es-C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2B8F0"/>
                </a:solidFill>
                <a:latin typeface="Archivo SemiCondensed Medium"/>
                <a:ea typeface="Archivo SemiCondensed Medium"/>
                <a:cs typeface="Archivo SemiCondensed Medium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mine">
  <a:themeElements>
    <a:clrScheme name="Lumine">
      <a:dk1>
        <a:srgbClr val="ECECEC"/>
      </a:dk1>
      <a:lt1>
        <a:srgbClr val="020304"/>
      </a:lt1>
      <a:dk2>
        <a:srgbClr val="8B9598"/>
      </a:dk2>
      <a:lt2>
        <a:srgbClr val="0A0D0F"/>
      </a:lt2>
      <a:accent1>
        <a:srgbClr val="22B8F0"/>
      </a:accent1>
      <a:accent2>
        <a:srgbClr val="4ADE80"/>
      </a:accent2>
      <a:accent3>
        <a:srgbClr val="F5B94A"/>
      </a:accent3>
      <a:accent4>
        <a:srgbClr val="F87171"/>
      </a:accent4>
      <a:accent5>
        <a:srgbClr val="2E3438"/>
      </a:accent5>
      <a:accent6>
        <a:srgbClr val="101417"/>
      </a:accent6>
      <a:hlink>
        <a:srgbClr val="22B8F0"/>
      </a:hlink>
      <a:folHlink>
        <a:srgbClr val="0A6F9E"/>
      </a:folHlink>
    </a:clrScheme>
    <a:fontScheme name="Lumine">
      <a:majorFont>
        <a:latin typeface="Michr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chiv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Lumine Motors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Fase 3 · Plan de Marketing, Operaciones y Recursos Humanos · Lumine Motors</dc:title>
  <dc:subject>Integrador II: Taller de Empresas · ICMA 1001 · Grupo 1</dc:subject>
  <dc:creator>Diego Alarcón, Benjamín Torres y Lukas Verdugo</dc:creator>
  <cp:lastModifiedBy>Diego Alarcón, Benjamín Torres y Lukas Verdugo</cp:lastModifiedBy>
  <cp:revision>1</cp:revision>
  <dcterms:created xsi:type="dcterms:W3CDTF">2026-10-17T23:17:29Z</dcterms:created>
  <dcterms:modified xsi:type="dcterms:W3CDTF">2026-10-17T23:17:29Z</dcterms:modified>
</cp:coreProperties>
</file>