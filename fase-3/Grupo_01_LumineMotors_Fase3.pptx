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5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6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9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embeddedFontLst>
    <p:embeddedFont>
      <p:font typeface="Michroma" charset="0"/>
      <p:regular r:id="rIdFuente1"/>
    </p:embeddedFont>
    <p:embeddedFont>
      <p:font typeface="Archivo Condensed" charset="0"/>
      <p:regular r:id="rIdFuente2"/>
      <p:bold r:id="rIdFuente3"/>
    </p:embeddedFont>
    <p:embeddedFont>
      <p:font typeface="Archivo" charset="0"/>
      <p:regular r:id="rIdFuente4"/>
      <p:bold r:id="rIdFuente5"/>
    </p:embeddedFont>
    <p:embeddedFont>
      <p:font typeface="Archivo SemiCondensed Medium" charset="0"/>
      <p:regular r:id="rIdFuente6"/>
      <p:bold r:id="rIdFuente7"/>
    </p:embeddedFont>
    <p:embeddedFont>
      <p:font typeface="Archivo Expanded Light" charset="0"/>
      <p:regular r:id="rIdFuente8"/>
      <p:italic r:id="rIdFuente9"/>
    </p:embeddedFont>
    <p:embeddedFont>
      <p:font typeface="Archivo Expanded ExtraBold" charset="0"/>
      <p:regular r:id="rIdFuente1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Diego Alarcón" id="{73146d2a-ec93-9764-1cb0-179fdcdaca46}">
          <p14:sldIdLst>
            <p14:sldId id="256"/>
            <p14:sldId id="257"/>
            <p14:sldId id="258"/>
            <p14:sldId id="259"/>
          </p14:sldIdLst>
        </p14:section>
        <p14:section name="2 · Benjamín Torres" id="{85ce0bee-8054-4641-e7dd-d22920866d55}">
          <p14:sldIdLst>
            <p14:sldId id="260"/>
            <p14:sldId id="261"/>
            <p14:sldId id="262"/>
            <p14:sldId id="263"/>
          </p14:sldIdLst>
        </p14:section>
        <p14:section name="3 · Lukas Verdugo" id="{5a224750-6535-3718-6671-c70bfe5ea432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Anexo" id="{8a240e81-87b3-a0ca-3906-becf26d33a4b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Fuente1" Type="http://schemas.openxmlformats.org/officeDocument/2006/relationships/font" Target="fonts/font1.fntdata"/><Relationship Id="rIdFuente2" Type="http://schemas.openxmlformats.org/officeDocument/2006/relationships/font" Target="fonts/font2.fntdata"/><Relationship Id="rIdFuente3" Type="http://schemas.openxmlformats.org/officeDocument/2006/relationships/font" Target="fonts/font3.fntdata"/><Relationship Id="rIdFuente4" Type="http://schemas.openxmlformats.org/officeDocument/2006/relationships/font" Target="fonts/font4.fntdata"/><Relationship Id="rIdFuente5" Type="http://schemas.openxmlformats.org/officeDocument/2006/relationships/font" Target="fonts/font5.fntdata"/><Relationship Id="rIdFuente6" Type="http://schemas.openxmlformats.org/officeDocument/2006/relationships/font" Target="fonts/font6.fntdata"/><Relationship Id="rIdFuente7" Type="http://schemas.openxmlformats.org/officeDocument/2006/relationships/font" Target="fonts/font7.fntdata"/><Relationship Id="rIdFuente8" Type="http://schemas.openxmlformats.org/officeDocument/2006/relationships/font" Target="fonts/font8.fntdata"/><Relationship Id="rIdFuente9" Type="http://schemas.openxmlformats.org/officeDocument/2006/relationships/font" Target="fonts/font9.fntdata"/><Relationship Id="rIdFuente10" Type="http://schemas.openxmlformats.org/officeDocument/2006/relationships/font" Target="fonts/font10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Demanda atendible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7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367</c:v>
                </c:pt>
                <c:pt idx="1">
                  <c:v>990</c:v>
                </c:pt>
                <c:pt idx="2">
                  <c:v>1971</c:v>
                </c:pt>
                <c:pt idx="3">
                  <c:v>3835</c:v>
                </c:pt>
                <c:pt idx="4">
                  <c:v>7137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Instalaciones propias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7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299</c:v>
                </c:pt>
                <c:pt idx="1">
                  <c:v>869</c:v>
                </c:pt>
                <c:pt idx="2">
                  <c:v>1674</c:v>
                </c:pt>
                <c:pt idx="3">
                  <c:v>2268</c:v>
                </c:pt>
                <c:pt idx="4">
                  <c:v>2851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Kits a la red</c:v>
                </c:pt>
              </c:strCache>
            </c:strRef>
          </c:tx>
          <c:spPr>
            <a:solidFill>
              <a:srgbClr val="4A52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7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365</c:v>
                </c:pt>
                <c:pt idx="2">
                  <c:v>1074</c:v>
                </c:pt>
                <c:pt idx="3">
                  <c:v>3287</c:v>
                </c:pt>
                <c:pt idx="4">
                  <c:v>7773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7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9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piloto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 · 80,9</c:v>
                  </c:pt>
                  <c:pt idx="1">
                    <c:v>Año 2 · 80,0</c:v>
                  </c:pt>
                  <c:pt idx="2">
                    <c:v>Año 3 · 116,3</c:v>
                  </c:pt>
                  <c:pt idx="3">
                    <c:v>Año 4 · 134,3</c:v>
                  </c:pt>
                  <c:pt idx="4">
                    <c:v>Año 5 · 163,7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49.47</c:v>
                </c:pt>
                <c:pt idx="1">
                  <c:v>23.75</c:v>
                </c:pt>
                <c:pt idx="2">
                  <c:v>23.75</c:v>
                </c:pt>
                <c:pt idx="3">
                  <c:v>23.75</c:v>
                </c:pt>
                <c:pt idx="4">
                  <c:v>23.75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Pauta digital</c:v>
                </c:pt>
              </c:strCache>
            </c:strRef>
          </c:tx>
          <c:spPr>
            <a:solidFill>
              <a:srgbClr val="A9B1B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 · 80,9</c:v>
                  </c:pt>
                  <c:pt idx="1">
                    <c:v>Año 2 · 80,0</c:v>
                  </c:pt>
                  <c:pt idx="2">
                    <c:v>Año 3 · 116,3</c:v>
                  </c:pt>
                  <c:pt idx="3">
                    <c:v>Año 4 · 134,3</c:v>
                  </c:pt>
                  <c:pt idx="4">
                    <c:v>Año 5 · 163,7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14.4</c:v>
                </c:pt>
                <c:pt idx="1">
                  <c:v>18</c:v>
                </c:pt>
                <c:pt idx="2">
                  <c:v>24</c:v>
                </c:pt>
                <c:pt idx="3">
                  <c:v>24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Comisiones</c:v>
                </c:pt>
              </c:strCache>
            </c:strRef>
          </c:tx>
          <c:spPr>
            <a:solidFill>
              <a:srgbClr val="6B757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 · 80,9</c:v>
                  </c:pt>
                  <c:pt idx="1">
                    <c:v>Año 2 · 80,0</c:v>
                  </c:pt>
                  <c:pt idx="2">
                    <c:v>Año 3 · 116,3</c:v>
                  </c:pt>
                  <c:pt idx="3">
                    <c:v>Año 4 · 134,3</c:v>
                  </c:pt>
                  <c:pt idx="4">
                    <c:v>Año 5 · 163,7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4.92</c:v>
                </c:pt>
                <c:pt idx="1">
                  <c:v>15.58</c:v>
                </c:pt>
                <c:pt idx="2">
                  <c:v>30.3</c:v>
                </c:pt>
                <c:pt idx="3">
                  <c:v>42.45</c:v>
                </c:pt>
                <c:pt idx="4">
                  <c:v>56.98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Otras</c:v>
                </c:pt>
              </c:strCache>
            </c:strRef>
          </c:tx>
          <c:spPr>
            <a:solidFill>
              <a:srgbClr val="3A41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 · 80,9</c:v>
                  </c:pt>
                  <c:pt idx="1">
                    <c:v>Año 2 · 80,0</c:v>
                  </c:pt>
                  <c:pt idx="2">
                    <c:v>Año 3 · 116,3</c:v>
                  </c:pt>
                  <c:pt idx="3">
                    <c:v>Año 4 · 134,3</c:v>
                  </c:pt>
                  <c:pt idx="4">
                    <c:v>Año 5 · 163,7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12.15</c:v>
                </c:pt>
                <c:pt idx="1">
                  <c:v>22.65</c:v>
                </c:pt>
                <c:pt idx="2">
                  <c:v>38.22</c:v>
                </c:pt>
                <c:pt idx="3">
                  <c:v>44.14</c:v>
                </c:pt>
                <c:pt idx="4">
                  <c:v>52.96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20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8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Dotación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24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Pre</c:v>
                  </c:pt>
                  <c:pt idx="1">
                    <c:v>Año 1</c:v>
                  </c:pt>
                  <c:pt idx="2">
                    <c:v>Año 2</c:v>
                  </c:pt>
                  <c:pt idx="3">
                    <c:v>Año 3</c:v>
                  </c:pt>
                  <c:pt idx="4">
                    <c:v>Año 4</c:v>
                  </c:pt>
                  <c:pt idx="5">
                    <c:v>Año 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13</c:v>
                </c:pt>
                <c:pt idx="2">
                  <c:v>21</c:v>
                </c:pt>
                <c:pt idx="3">
                  <c:v>33</c:v>
                </c:pt>
                <c:pt idx="4">
                  <c:v>40</c:v>
                </c:pt>
                <c:pt idx="5">
                  <c:v>56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24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Talleres propios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;−#,##0;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-130.2</c:v>
                </c:pt>
                <c:pt idx="1">
                  <c:v>159.9</c:v>
                </c:pt>
                <c:pt idx="2">
                  <c:v>444.8</c:v>
                </c:pt>
                <c:pt idx="3">
                  <c:v>694.7</c:v>
                </c:pt>
                <c:pt idx="4">
                  <c:v>869.9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Red de talleres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;−#,##0;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142.1</c:v>
                </c:pt>
                <c:pt idx="2">
                  <c:v>415.2</c:v>
                </c:pt>
                <c:pt idx="3">
                  <c:v>1233.2</c:v>
                </c:pt>
                <c:pt idx="4">
                  <c:v>2889.5</c:v>
                </c:pt>
              </c:numCache>
            </c:numRef>
          </c:val>
        </c:ser>
        <c:dLbls>
          <c:numFmt formatCode="#,##0;−#,##0;;" sourceLinked="0"/>
          <c:txPr>
            <a:bodyPr/>
            <a:lstStyle/>
            <a:p>
              <a:pPr>
                <a:defRPr b="1" i="0" strike="noStrike" sz="16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50"/>
          <c:min val="-7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Adopción acumulada</c:v>
                </c:pt>
              </c:strCache>
            </c:strRef>
          </c:tx>
          <c:spPr>
            <a:solidFill>
              <a:srgbClr val="22B8F0"/>
            </a:solidFill>
            <a:ln w="38100" cap="flat">
              <a:solidFill>
                <a:srgbClr val="22B8F0"/>
              </a:solidFill>
              <a:prstDash val="dash"/>
              <a:round/>
            </a:ln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1"/>
            <c:spPr>
              <a:solidFill>
                <a:srgbClr val="22B8F0"/>
              </a:solidFill>
              <a:ln w="9525" cap="flat">
                <a:solidFill>
                  <a:srgbClr val="22B8F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0.0038</c:v>
                </c:pt>
                <c:pt idx="1">
                  <c:v>0.0114</c:v>
                </c:pt>
                <c:pt idx="2">
                  <c:v>0.0265</c:v>
                </c:pt>
                <c:pt idx="3">
                  <c:v>0.056</c:v>
                </c:pt>
                <c:pt idx="4">
                  <c:v>0.1108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b="1" i="0" strike="noStrike" sz="20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Renta bruta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Gerente General</c:v>
                  </c:pt>
                  <c:pt idx="1">
                    <c:v>Responsable Técnico</c:v>
                  </c:pt>
                  <c:pt idx="2">
                    <c:v>Calibración</c:v>
                  </c:pt>
                  <c:pt idx="3">
                    <c:v>Técnico N4</c:v>
                  </c:pt>
                  <c:pt idx="4">
                    <c:v>Técnico N3</c:v>
                  </c:pt>
                  <c:pt idx="5">
                    <c:v>Administración</c:v>
                  </c:pt>
                  <c:pt idx="6">
                    <c:v>Comercial</c:v>
                  </c:pt>
                  <c:pt idx="7">
                    <c:v>Técnico N1</c:v>
                  </c:pt>
                  <c:pt idx="8">
                    <c:v>Asistentes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2000</c:v>
                </c:pt>
                <c:pt idx="1">
                  <c:v>1800</c:v>
                </c:pt>
                <c:pt idx="2">
                  <c:v>1700</c:v>
                </c:pt>
                <c:pt idx="3">
                  <c:v>1150</c:v>
                </c:pt>
                <c:pt idx="4">
                  <c:v>1000</c:v>
                </c:pt>
                <c:pt idx="5">
                  <c:v>900</c:v>
                </c:pt>
                <c:pt idx="6">
                  <c:v>850</c:v>
                </c:pt>
                <c:pt idx="7">
                  <c:v>750</c:v>
                </c:pt>
                <c:pt idx="8">
                  <c:v>692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8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4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ECECEC"/>
                </a:solidFill>
                <a:latin typeface="Archiv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Inversión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0;;&quot;—&quot;" sourceLinked="0"/>
            <c:txPr>
              <a:bodyPr/>
              <a:lstStyle/>
              <a:p>
                <a:pPr>
                  <a:defRPr b="1" i="0" strike="noStrike" sz="22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71.2</c:v>
                </c:pt>
                <c:pt idx="1">
                  <c:v>10.1</c:v>
                </c:pt>
                <c:pt idx="2">
                  <c:v>81.3</c:v>
                </c:pt>
                <c:pt idx="3">
                  <c:v>0</c:v>
                </c:pt>
                <c:pt idx="4">
                  <c:v>81.3</c:v>
                </c:pt>
              </c:numCache>
            </c:numRef>
          </c:val>
        </c:ser>
        <c:dLbls>
          <c:numFmt formatCode="0;;&quot;—&quot;" sourceLinked="0"/>
          <c:txPr>
            <a:bodyPr/>
            <a:lstStyle/>
            <a:p>
              <a:pPr>
                <a:defRPr b="1" i="0" strike="noStrike" sz="22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Gasto operacional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2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1064.1</c:v>
                </c:pt>
                <c:pt idx="1">
                  <c:v>2945.4</c:v>
                </c:pt>
                <c:pt idx="2">
                  <c:v>5657.9</c:v>
                </c:pt>
                <c:pt idx="3">
                  <c:v>7623.5</c:v>
                </c:pt>
                <c:pt idx="4">
                  <c:v>9605.8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22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2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CECE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Dólar −10%</c:v>
                  </c:pt>
                  <c:pt idx="1">
                    <c:v>Precio +5%</c:v>
                  </c:pt>
                  <c:pt idx="2">
                    <c:v>Plus 80%</c:v>
                  </c:pt>
                  <c:pt idx="3">
                    <c:v>Base</c:v>
                  </c:pt>
                  <c:pt idx="4">
                    <c:v>Plus 40%</c:v>
                  </c:pt>
                  <c:pt idx="5">
                    <c:v>Precio −5%</c:v>
                  </c:pt>
                  <c:pt idx="6">
                    <c:v>Dólar +10%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1646.9</c:v>
                </c:pt>
                <c:pt idx="1">
                  <c:v>1433</c:v>
                </c:pt>
                <c:pt idx="2">
                  <c:v>993.7</c:v>
                </c:pt>
                <c:pt idx="3">
                  <c:v>869.9</c:v>
                </c:pt>
                <c:pt idx="4">
                  <c:v>746.1</c:v>
                </c:pt>
                <c:pt idx="5">
                  <c:v>306.9</c:v>
                </c:pt>
                <c:pt idx="6">
                  <c:v>92.9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20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7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35 s
Buenos días. Somos Diego Alarcón, Benjamín Torres y Lukas Verdugo, y les presentamos el capítulo tres de Lumine Motors: los planes de marketing, recursos humanos y operaciones. Lumine hibrida autos a combustión de tracción delantera sin cambiar el motor: suma motores eléctricos en las ruedas traseras, una batería bajo el piso y una unidad de control. Los tres planes comparten un mismo gatillo, así que un cambio en la demanda mueve el plan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55 s
¿A quién le vendemos y cuánto? El cliente no se define por su edad ni por su ingreso, sino por su auto: liviano, a combustión y con tracción delantera, porque el kit va en el eje trasero. De las cuatro variables, la decisiva es la conductual: la intensidad de uso fija en cuánto tiempo el ahorro paga la inversión. Por eso entramos por el uso laboral intensivo de la Región Metropolitana: colectivos, taxis y aplicaciones, 162.780 vehículos. La meta del primer año es instalar al menos 299 vehículos, publicar tres casos con ahorro medido en nueve meses, llegar a 80% de clientes satisfechos y a 15% de clientes por recomendación. A cinco años, queremos ser la referencia de la hibridación de posventa en Chile.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40 s
Nada de esto se le ha preguntado aún a un conductor, así que antes de vender validamos. La investigación es mixta y secuencial: una entrevista en profundidad, ya realizada, entrevistas a cuatro expertos y a cinco perfiles de cliente, y una encuesta por cuotas a 150 personas. Como no es aleatoria, los resultados serán indicativos. Pone a prueba seis hipótesis; la que más decide es que la barrera principal es la confianza y no el precio. Es una hipótesis: la encuesta dirá si se cumple.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60 s
En la matriz de Ansoff entramos por desarrollo de producto: el mercado existe, porque los conductores ya buscan gastar menos, pero la hibridación aditiva no tiene oferta en Chile. Frente a las alternativas, Lumine ocupa un espacio vacío: la conversión a gas es barata, pero tiene límite de antigüedad, y el híbrido usado o el eléctrico nuevo obligan a cambiar de auto y cuestan sobre 9 millones. Desde el año 2 sumamos la penetración y, antes de lo habitual, la diversificación relacionada: vender calibraciones, kits y certificación a otros talleres, porque esa exclusividad se agota con el tiempo. En el año 3 llega el desarrollo de mercado. Nuestra ventaja competitiva sostenible es la biblioteca de calibraciones por modelo: crece con cada instalación y es lo más difícil de copiar. Le paso la palabra a Benjamín.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45 s
Gracias, Diego. El kit tiene dos versiones con la misma estructura. Esencial cuesta 4.290.000 pesos con IVA y promete hasta 15% menos bencina en ciudad; Plus cuesta 4.990.000 y hasta 20%. Esos son máximos simulados. Con el ahorro mediano simulado, un colectivo dejaría de gastar 117 mil pesos al mes con Esencial y 145 mil con Plus, y recuperaría la inversión en unos 37 y 34 meses. Plus cuesta 16% más, pero ahorra 24% más, así que cada punto de ahorro sale más barato. Son precios de referencia que la encuesta debe validar.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El segmento laboral de la Región Metropolitana suma 162.780 vehículos. Con el modelo de Bass, la adopción llega a 11,1% al quinto año, por debajo del 16% de los primeros adoptantes. Pero el pronóstico es el menor entre demanda y capacidad, y desde el primer año la demanda atendible supera lo que podemos instalar: 299 vehículos el primer año y 2.851 al quinto. Lo que no alcanzamos a instalar lo atiende la red certificada, con 7.773 kits al quinto año.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45 s
¿Cómo llega el cliente? Empieza en el estimador digital, que calcula su ahorro y agenda la visita; sigue con una asesoría donde puede medir una semana su consumo antes de decidir; instala en el taller en una jornada, y después recibe un informe mensual de ahorro medido y la garantía. Al abrir, la promoción descansa en el estimador y en clientes piloto con 50% de descuento a cambio de su caso medido. El presupuesto se arma por objetivo y tarea: 80,9 millones el primer año, el 6,8% de los ingresos propios, y 575 millones en cinco años, cuando ya pesa 1,5%.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40 s
Para atender esa demanda, la estructura es funcional y sin mandos intermedios: cinco áreas bajo la Gerencia General. No cambia la estructura; cambia cuántas personas hay en cada cargo, y nadie se contrata antes de que la carga lo justifique. Ingeniería de Calibración depende de la Gerencia y no del taller, porque la biblioteca sostiene la ventaja. Así, el equipo pasa de 13 personas al cierre del primer año a 56 al quinto, y 36 de ellas son técnicos. Lukas sigue con las personas y las operaciones.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45 s
Gracias, Benjamín. El oficio escasea en Chile, así que los técnicos se forman en casa con Lumine Habilita: 39 competencias, cuatro niveles y 392 horas si se cursa todo. Con formación intensiva, un técnico nuevo llega al nivel 4 en unos ocho meses, y su renta sube de 750 mil a 1,15 millones. La nómina crece de 152 a 755 millones en cinco años, pero el costo por instalación baja de 508 mil a 253 mil pesos al cuarto año, porque los cargos fijos se reparten en más autos; el quinto sube un poco con el tercer taller.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25 s
El flujo sigue al vehículo desde la cotización hasta la postventa, en cinco etapas, con una regla: el negocio mide y recomienda, pero la decisión de instalar es siempre del cliente. La instalación toma una jornada estimada de 8,4 horas con cuatro puntos de control: vehículo apto, masa y ejes, aislación y dinamómetro. Si alguno falla, se detiene.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40 s
La Carta Gantt apunta a abrir en enero de 2027, pero el eslabón crítico es externo: el reglamento de la Ley 21.793 sigue pendiente, y sin él no hay certificado ni venta legal. Desde ahí crecemos con un gatillo: cuando la demanda supera el 80% de la capacidad durante dos meses, entra un dúo; cuando un taller llena sus seis dúos, abre el siguiente. Así, el segundo taller abre en el mes 25, el tercero en el 49, y la red crece de 3 a 42 talleres.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30 s
Cada local requiere 81 millones de inversión, casi la mitad en el dinamómetro, y el kit explica más del 90% del gasto operacional. Proyectamos que la línea propia pierde 130 millones en el lanzamiento y gana desde el segundo año, hasta un margen de 7,7% al quinto; la red rinde cerca de 10%. El riesgo mayor es el dólar: un alza de 10% baja ese margen a 0,8%.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40 s
Para cerrar, tres conclusiones. Primero, la oportunidad existe: desde el primer año hay más demanda que capacidad. Segundo, la ventaja es la biblioteca de calibraciones, y la red la vende mientras sigue siendo exclusiva. Tercero, los tres planes se mueven con un mismo gatillo, la demanda sobre el 80% de la capacidad. Quedan dos preguntas: si el reglamento admitirá el kit y desde cuándo, y si el ahorro medido y la encuesta confirman los precios. Muchas gracias; quedamos atentos a sus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Queda en pantalla mientras responden las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· No se presenta. Cada tema tiene un enlace a su diapositiva; cada diapositiva del anexo tiene un enlace de vuelta a este índice.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 · Solo si preguntan.
Las seis hipótesis con su prueba estadística (Tabla N° 3); significancia de 5%, resultados indicativos por la muestra por cuotas.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A2 · Solo si preguntan.
¿Funciona?, ¿daña mi auto?, ¿pasa la revisión técnica?, ¿hay que enchufarlo? (Tabla N° 4) y los límites de la promesa.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A3 · Solo si preguntan.
Las siete variables para el cliente final y para la red certificada (Tabla N°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A4 · Solo si preguntan.
Paquete de entrada, kit con licencia, certificación anual y suscripción a Habilita (Tabla N°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A5 · Solo si preguntan.
TAM, SAM y segmento laboral (Tabla N° 9) y la curva de Bass con su respaldo (Anexo 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A6 · Solo si preguntan.
Dependencia y responsabilidad crítica de cada cargo (Tabla N° 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A7 · Solo si preguntan.
Renta bruta mensual por cargo frente al mercado (Tabla N° 14), bono único por nivel validado (Tabla N° 15) y nómina por instalación de cada año (Tabla N° 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A8 · Solo si preguntan.
Los siete bloques de la jornada de 8,4 horas y sus cuatro puntos de control (Anexo N° 8). El límite de capacidad son las horas de los dúos: un dinamómetro por local basta, incluso con seis dúos (Tabla N° 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A9 · Solo si preguntan.
Inversión en equipamiento por año (Tabla N° 18) y gasto operacional de la línea propia (Tabla N° 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A10 · Solo si preguntan.
Resultado de la línea propia al quinto año con dólar, proporción de Plus y precio (Tabla N° 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A11 · Solo si preguntan.
La Carta Gantt completa (Figura N° 5): preparación, entrada de cada dúo, calibración de modelos, preapertura y apertura de los talleres 2 y 3, y crecimiento de la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PORTADA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CIERRE-image-2.jpe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298448"/>
            <a:ext cx="10058400" cy="1481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en-US" sz="58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endParaRPr lang="en-US" sz="5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PERTUR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0" y="365760"/>
            <a:ext cx="5973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INTEGRADOR II · ICMA 1001 · GRUPO 1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86000"/>
              </a:lnSpc>
              <a:buNone/>
              <a:def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defRPr>
            </a:lvl1pPr>
          </a:lstStyle>
          <a:p>
            <a:pPr algn="l" indent="0" marL="0">
              <a:lnSpc>
                <a:spcPct val="86000"/>
              </a:lnSpc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image" Target="../media/image-4-2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7-image-1.jpe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image" Target="../media/image-10-6.jp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5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16.xml"/><Relationship Id="rId3" Type="http://schemas.openxmlformats.org/officeDocument/2006/relationships/slide" Target="slide16.xml"/><Relationship Id="rId4" Type="http://schemas.openxmlformats.org/officeDocument/2006/relationships/slide" Target="slide17.xml"/><Relationship Id="rId5" Type="http://schemas.openxmlformats.org/officeDocument/2006/relationships/slide" Target="slide17.xml"/><Relationship Id="rId6" Type="http://schemas.openxmlformats.org/officeDocument/2006/relationships/slide" Target="slide18.xml"/><Relationship Id="rId7" Type="http://schemas.openxmlformats.org/officeDocument/2006/relationships/slide" Target="slide18.xml"/><Relationship Id="rId8" Type="http://schemas.openxmlformats.org/officeDocument/2006/relationships/slide" Target="slide19.xml"/><Relationship Id="rId9" Type="http://schemas.openxmlformats.org/officeDocument/2006/relationships/slide" Target="slide19.xml"/><Relationship Id="rId10" Type="http://schemas.openxmlformats.org/officeDocument/2006/relationships/slide" Target="slide20.xml"/><Relationship Id="rId11" Type="http://schemas.openxmlformats.org/officeDocument/2006/relationships/slide" Target="slide20.xml"/><Relationship Id="rId12" Type="http://schemas.openxmlformats.org/officeDocument/2006/relationships/slide" Target="slide21.xml"/><Relationship Id="rId13" Type="http://schemas.openxmlformats.org/officeDocument/2006/relationships/slide" Target="slide21.xml"/><Relationship Id="rId14" Type="http://schemas.openxmlformats.org/officeDocument/2006/relationships/slide" Target="slide22.xml"/><Relationship Id="rId15" Type="http://schemas.openxmlformats.org/officeDocument/2006/relationships/slide" Target="slide22.xml"/><Relationship Id="rId16" Type="http://schemas.openxmlformats.org/officeDocument/2006/relationships/slide" Target="slide23.xml"/><Relationship Id="rId17" Type="http://schemas.openxmlformats.org/officeDocument/2006/relationships/slide" Target="slide23.xml"/><Relationship Id="rId18" Type="http://schemas.openxmlformats.org/officeDocument/2006/relationships/slide" Target="slide24.xml"/><Relationship Id="rId19" Type="http://schemas.openxmlformats.org/officeDocument/2006/relationships/slide" Target="slide24.xml"/><Relationship Id="rId20" Type="http://schemas.openxmlformats.org/officeDocument/2006/relationships/slide" Target="slide25.xml"/><Relationship Id="rId21" Type="http://schemas.openxmlformats.org/officeDocument/2006/relationships/slide" Target="slide25.xml"/><Relationship Id="rId22" Type="http://schemas.openxmlformats.org/officeDocument/2006/relationships/slide" Target="slide26.xml"/><Relationship Id="rId23" Type="http://schemas.openxmlformats.org/officeDocument/2006/relationships/slide" Target="slide26.xml"/><Relationship Id="rId1" Type="http://schemas.openxmlformats.org/officeDocument/2006/relationships/image" Target="../media/Slide-15-image-1.jpeg"/><Relationship Id="rId24" Type="http://schemas.openxmlformats.org/officeDocument/2006/relationships/slideLayout" Target="../slideLayouts/slideLayout5.xml"/><Relationship Id="rId2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15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5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15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15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15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15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1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15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15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15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15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0" y="365760"/>
            <a:ext cx="5059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UNAB · OCTUBRE 2026</a:t>
            </a:r>
            <a:endParaRPr lang="es-CL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CAPÍTULO III</a:t>
            </a:r>
            <a:pPr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·  PLAN DE MARKETING, OPERACIONES Y RECURSOS HUMANOS</a:t>
            </a:r>
            <a:endParaRPr lang="es-CL" sz="14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1298448"/>
            <a:ext cx="100584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58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LUMINE MOTORS</a:t>
            </a:r>
            <a:endParaRPr lang="en-US" sz="58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reconversión híbrida · Fase 3</a:t>
            </a:r>
            <a:endParaRPr lang="en-US" sz="5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72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TU MISMO AUTO, AHORA HÍBRIDO</a:t>
            </a:r>
            <a:endParaRPr lang="es-CL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01568"/>
            <a:ext cx="3246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s-CL" altLang="en-US" sz="18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Kit que hibrida autos a combustión de tracción delantera para gastar menos bencina sin cambiar de auto.</a:t>
            </a:r>
            <a:endParaRPr lang="es-CL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4956048"/>
            <a:ext cx="1097280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5102352"/>
            <a:ext cx="3429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Integrador II · ICMA 1001 · Grupo 1</a:t>
            </a:r>
            <a:endParaRPr lang="es-CL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s-CL" altLang="en-US" sz="1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Universidad Andrés Bello · Facultad de Economía y Negocios · Ingeniería Comercial</a:t>
            </a:r>
            <a:endParaRPr lang="es-CL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s-CL" altLang="en-US" sz="1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Profesor: Roberto Brito</a:t>
            </a:r>
            <a:endParaRPr lang="es-CL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s-CL" altLang="en-US" sz="1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Diego Alarcón · Benjamín Torres · Lukas Verdugo</a:t>
            </a:r>
            <a:endParaRPr lang="es-CL" sz="1200" dirty="0"/>
          </a:p>
        </p:txBody>
      </p:sp>
      <p:sp>
        <p:nvSpPr>
          <p:cNvPr id="9" name="Shape 7"/>
          <p:cNvSpPr/>
          <p:nvPr/>
        </p:nvSpPr>
        <p:spPr>
          <a:xfrm>
            <a:off x="5010912" y="6163056"/>
            <a:ext cx="4297680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10912" y="4608576"/>
            <a:ext cx="0" cy="1554480"/>
          </a:xfrm>
          <a:prstGeom prst="line">
            <a:avLst/>
          </a:prstGeom>
          <a:noFill/>
          <a:ln w="9525">
            <a:solidFill>
              <a:schemeClr val="tx2"/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>
            <a:off x="4956048" y="4489704"/>
            <a:ext cx="109728" cy="10972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78908" y="6131052"/>
            <a:ext cx="64008" cy="64008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005072" y="62544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MOTOR ORIGINAL</a:t>
            </a:r>
            <a:endParaRPr lang="es-CL" sz="1200" dirty="0"/>
          </a:p>
          <a:p>
            <a:pPr algn="ctr"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intacto</a:t>
            </a:r>
            <a:endParaRPr lang="es-CL" sz="1200" dirty="0"/>
          </a:p>
        </p:txBody>
      </p:sp>
      <p:sp>
        <p:nvSpPr>
          <p:cNvPr id="14" name="Shape 12"/>
          <p:cNvSpPr/>
          <p:nvPr/>
        </p:nvSpPr>
        <p:spPr>
          <a:xfrm>
            <a:off x="6931152" y="5166360"/>
            <a:ext cx="0" cy="996696"/>
          </a:xfrm>
          <a:prstGeom prst="line">
            <a:avLst/>
          </a:prstGeom>
          <a:noFill/>
          <a:ln w="9525">
            <a:solidFill>
              <a:schemeClr val="tx2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6876288" y="5047488"/>
            <a:ext cx="109728" cy="10972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99148" y="6131052"/>
            <a:ext cx="64008" cy="64008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25312" y="62544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BATERÍA</a:t>
            </a:r>
            <a:endParaRPr lang="es-CL" sz="1200" dirty="0"/>
          </a:p>
          <a:p>
            <a:pPr algn="ctr"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bajo el piso</a:t>
            </a:r>
            <a:endParaRPr lang="es-CL" sz="1200" dirty="0"/>
          </a:p>
        </p:txBody>
      </p:sp>
      <p:sp>
        <p:nvSpPr>
          <p:cNvPr id="18" name="Shape 16"/>
          <p:cNvSpPr/>
          <p:nvPr/>
        </p:nvSpPr>
        <p:spPr>
          <a:xfrm>
            <a:off x="9308592" y="5102352"/>
            <a:ext cx="0" cy="1060704"/>
          </a:xfrm>
          <a:prstGeom prst="line">
            <a:avLst/>
          </a:prstGeom>
          <a:noFill/>
          <a:ln w="9525">
            <a:solidFill>
              <a:schemeClr val="tx2"/>
            </a:solidFill>
            <a:prstDash val="sysDot"/>
          </a:ln>
        </p:spPr>
      </p:sp>
      <p:sp>
        <p:nvSpPr>
          <p:cNvPr id="19" name="Shape 17"/>
          <p:cNvSpPr/>
          <p:nvPr/>
        </p:nvSpPr>
        <p:spPr>
          <a:xfrm>
            <a:off x="9253728" y="4983480"/>
            <a:ext cx="109728" cy="10972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76588" y="6131052"/>
            <a:ext cx="64008" cy="64008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02752" y="62544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TRACCIÓN ELÉCTRICA</a:t>
            </a:r>
            <a:endParaRPr lang="es-CL" sz="1200" dirty="0"/>
          </a:p>
          <a:p>
            <a:pPr algn="ctr"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eje trasero</a:t>
            </a:r>
            <a:endParaRPr lang="es-CL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899855" y="6400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ILUSTRACIÓN DEL KIT</a:t>
            </a:r>
            <a:endParaRPr lang="es-CL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OBJETIVOS Y SEGMENTACIÓN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EL MERCADO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y nuestra meta.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INE (2025), parque de vehículos 2024; SII (2025); Fielbaum y Tirachini (2021); elaboración propia (Informe Fase 3, §3.1.1 y §3.1.2, Tablas N° 1, 9 y 10).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META DEL PRIMER AÑO</a:t>
            </a:r>
            <a:endParaRPr lang="es-CL" sz="1600" dirty="0"/>
          </a:p>
        </p:txBody>
      </p:sp>
      <p:pic>
        <p:nvPicPr>
          <p:cNvPr id="6" name="Image 0" descr="/home/user/lumine/fase-3/generador/assets/bril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40" y="2359152"/>
            <a:ext cx="3383280" cy="17190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670048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299</a:t>
            </a:r>
            <a:endParaRPr lang="es-CL" sz="8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69417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instalaciones propias</a:t>
            </a:r>
            <a:endParaRPr lang="es-CL" sz="2200" dirty="0"/>
          </a:p>
        </p:txBody>
      </p:sp>
      <p:sp>
        <p:nvSpPr>
          <p:cNvPr id="9" name="Shape 6"/>
          <p:cNvSpPr/>
          <p:nvPr/>
        </p:nvSpPr>
        <p:spPr>
          <a:xfrm>
            <a:off x="548640" y="4224528"/>
            <a:ext cx="35661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4261104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1664208" y="4261104"/>
            <a:ext cx="2450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casos con ahorro medido en 9 meses</a:t>
            </a:r>
            <a:endParaRPr lang="es-CL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4901184"/>
            <a:ext cx="35661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937760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80%</a:t>
            </a:r>
            <a:endParaRPr lang="es-CL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1664208" y="4937760"/>
            <a:ext cx="2450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 clientes satisfechos</a:t>
            </a:r>
            <a:endParaRPr lang="es-CL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5577840"/>
            <a:ext cx="35661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5614416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15%</a:t>
            </a:r>
            <a:endParaRPr lang="es-CL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1664208" y="5614416"/>
            <a:ext cx="2450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llega por recomendación</a:t>
            </a:r>
            <a:endParaRPr lang="es-CL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2048256"/>
            <a:ext cx="457200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115568" y="1865376"/>
            <a:ext cx="105274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cinco años: </a:t>
            </a:r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ser la referencia de la hibridación de posventa en Chile.</a:t>
            </a:r>
            <a:endParaRPr lang="es-CL" sz="1800" dirty="0"/>
          </a:p>
        </p:txBody>
      </p:sp>
      <p:pic>
        <p:nvPicPr>
          <p:cNvPr id="20" name="Image 1" descr="/home/user/lumine/fase-3/generador/assets/brill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2075688"/>
            <a:ext cx="7894015" cy="1792224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4663440" y="2395728"/>
            <a:ext cx="6979615" cy="1152144"/>
          </a:xfrm>
          <a:prstGeom prst="rect">
            <a:avLst/>
          </a:prstGeom>
          <a:solidFill>
            <a:srgbClr val="0B1A2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608576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608576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608576" y="360273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608576" y="344728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11542471" y="360273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11697919" y="344728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919472" y="25420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PUNTO DE ENTRADA · USO LABORAL</a:t>
            </a:r>
            <a:endParaRPr lang="es-CL" sz="1600" dirty="0"/>
          </a:p>
        </p:txBody>
      </p:sp>
      <p:sp>
        <p:nvSpPr>
          <p:cNvPr id="31" name="Text 27"/>
          <p:cNvSpPr txBox="1"/>
          <p:nvPr/>
        </p:nvSpPr>
        <p:spPr>
          <a:xfrm>
            <a:off x="4919472" y="2816352"/>
            <a:ext cx="4053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Colectivos, taxis y aplicaciones en la RM</a:t>
            </a:r>
            <a:endParaRPr lang="es-CL" sz="2200" dirty="0"/>
          </a:p>
        </p:txBody>
      </p:sp>
      <p:sp>
        <p:nvSpPr>
          <p:cNvPr id="32" name="Text 28"/>
          <p:cNvSpPr txBox="1"/>
          <p:nvPr/>
        </p:nvSpPr>
        <p:spPr>
          <a:xfrm>
            <a:off x="8899855" y="2523744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4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162.780</a:t>
            </a:r>
            <a:endParaRPr lang="es-CL" sz="4400" dirty="0"/>
          </a:p>
        </p:txBody>
      </p:sp>
      <p:sp>
        <p:nvSpPr>
          <p:cNvPr id="33" name="Text 29"/>
          <p:cNvSpPr txBox="1"/>
          <p:nvPr/>
        </p:nvSpPr>
        <p:spPr>
          <a:xfrm>
            <a:off x="8899855" y="318211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vehículos en el segmento</a:t>
            </a:r>
            <a:endParaRPr lang="es-CL" sz="1600" dirty="0"/>
          </a:p>
        </p:txBody>
      </p:sp>
      <p:sp>
        <p:nvSpPr>
          <p:cNvPr id="34" name="Text 30"/>
          <p:cNvSpPr txBox="1"/>
          <p:nvPr/>
        </p:nvSpPr>
        <p:spPr>
          <a:xfrm>
            <a:off x="4663440" y="3675888"/>
            <a:ext cx="69796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Cliente: </a:t>
            </a:r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auto liviano, a combustión y con tracción delantera.</a:t>
            </a:r>
            <a:endParaRPr lang="es-CL" sz="1800" dirty="0"/>
          </a:p>
        </p:txBody>
      </p:sp>
      <p:sp>
        <p:nvSpPr>
          <p:cNvPr id="35" name="Shape 31"/>
          <p:cNvSpPr/>
          <p:nvPr/>
        </p:nvSpPr>
        <p:spPr>
          <a:xfrm>
            <a:off x="4663440" y="4133088"/>
            <a:ext cx="330692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663440" y="4206240"/>
            <a:ext cx="330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GEOGRÁFICA</a:t>
            </a:r>
            <a:endParaRPr lang="es-CL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4663440" y="4443984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36,8%</a:t>
            </a:r>
            <a:endParaRPr lang="es-CL" sz="3000" dirty="0"/>
          </a:p>
        </p:txBody>
      </p:sp>
      <p:sp>
        <p:nvSpPr>
          <p:cNvPr id="38" name="Text 34"/>
          <p:cNvSpPr txBox="1"/>
          <p:nvPr/>
        </p:nvSpPr>
        <p:spPr>
          <a:xfrm>
            <a:off x="6400800" y="4443984"/>
            <a:ext cx="1569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del parque está en la RM</a:t>
            </a:r>
            <a:endParaRPr lang="es-CL" sz="1600" dirty="0"/>
          </a:p>
        </p:txBody>
      </p:sp>
      <p:sp>
        <p:nvSpPr>
          <p:cNvPr id="39" name="Shape 35"/>
          <p:cNvSpPr/>
          <p:nvPr/>
        </p:nvSpPr>
        <p:spPr>
          <a:xfrm>
            <a:off x="8336128" y="4133088"/>
            <a:ext cx="330692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8336128" y="4206240"/>
            <a:ext cx="330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DEMOGRÁFICA</a:t>
            </a:r>
            <a:endParaRPr lang="es-CL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8336128" y="4443984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 roles</a:t>
            </a:r>
            <a:endParaRPr lang="es-CL" sz="3000" dirty="0"/>
          </a:p>
        </p:txBody>
      </p:sp>
      <p:sp>
        <p:nvSpPr>
          <p:cNvPr id="42" name="Text 38"/>
          <p:cNvSpPr txBox="1"/>
          <p:nvPr/>
        </p:nvSpPr>
        <p:spPr>
          <a:xfrm>
            <a:off x="10073488" y="4443984"/>
            <a:ext cx="1569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usa, decide, paga o influye</a:t>
            </a:r>
            <a:endParaRPr lang="es-CL" sz="1600" dirty="0"/>
          </a:p>
        </p:txBody>
      </p:sp>
      <p:sp>
        <p:nvSpPr>
          <p:cNvPr id="43" name="Shape 39"/>
          <p:cNvSpPr/>
          <p:nvPr/>
        </p:nvSpPr>
        <p:spPr>
          <a:xfrm>
            <a:off x="4663440" y="5010912"/>
            <a:ext cx="330692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4663440" y="5084064"/>
            <a:ext cx="330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PSICOGRÁFICA</a:t>
            </a:r>
            <a:endParaRPr lang="es-CL" sz="1300" dirty="0"/>
          </a:p>
        </p:txBody>
      </p:sp>
      <p:sp>
        <p:nvSpPr>
          <p:cNvPr id="45" name="Text 41"/>
          <p:cNvSpPr txBox="1"/>
          <p:nvPr/>
        </p:nvSpPr>
        <p:spPr>
          <a:xfrm>
            <a:off x="4663440" y="5321808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 motivos</a:t>
            </a:r>
            <a:endParaRPr lang="es-CL" sz="3000" dirty="0"/>
          </a:p>
        </p:txBody>
      </p:sp>
      <p:sp>
        <p:nvSpPr>
          <p:cNvPr id="46" name="Text 42"/>
          <p:cNvSpPr txBox="1"/>
          <p:nvPr/>
        </p:nvSpPr>
        <p:spPr>
          <a:xfrm>
            <a:off x="6400800" y="5321808"/>
            <a:ext cx="1569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ahorro es uno de ellos</a:t>
            </a:r>
            <a:endParaRPr lang="es-CL" sz="1600" dirty="0"/>
          </a:p>
        </p:txBody>
      </p:sp>
      <p:sp>
        <p:nvSpPr>
          <p:cNvPr id="47" name="Shape 43"/>
          <p:cNvSpPr/>
          <p:nvPr/>
        </p:nvSpPr>
        <p:spPr>
          <a:xfrm>
            <a:off x="8336128" y="5010912"/>
            <a:ext cx="3306928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8336128" y="5084064"/>
            <a:ext cx="330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CONDUCTUAL</a:t>
            </a:r>
            <a:endParaRPr lang="es-CL" sz="1300" dirty="0"/>
          </a:p>
        </p:txBody>
      </p:sp>
      <p:sp>
        <p:nvSpPr>
          <p:cNvPr id="49" name="Text 45"/>
          <p:cNvSpPr txBox="1"/>
          <p:nvPr/>
        </p:nvSpPr>
        <p:spPr>
          <a:xfrm>
            <a:off x="8336128" y="5321808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6 ejes</a:t>
            </a:r>
            <a:endParaRPr lang="es-CL" sz="3000" dirty="0"/>
          </a:p>
        </p:txBody>
      </p:sp>
      <p:sp>
        <p:nvSpPr>
          <p:cNvPr id="50" name="Text 46"/>
          <p:cNvSpPr txBox="1"/>
          <p:nvPr/>
        </p:nvSpPr>
        <p:spPr>
          <a:xfrm>
            <a:off x="10073488" y="5321808"/>
            <a:ext cx="1569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intensidad de uso manda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02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INVESTIGACIÓN DE MERCADO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VALIDAR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antes de vender.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§3.1.3, Tablas N° 2 y 3). Muestra no probabilística: resultados indicativos.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2505456"/>
            <a:ext cx="8412251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557784" y="2414016"/>
            <a:ext cx="182880" cy="1828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724912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ETAPA 1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07792"/>
            <a:ext cx="25907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Profundidad</a:t>
            </a:r>
            <a:endParaRPr lang="es-CL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419856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05993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conductor de aplicaciones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4681728"/>
            <a:ext cx="136702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658368" y="4681728"/>
            <a:ext cx="11475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REALIZADA</a:t>
            </a:r>
            <a:endParaRPr lang="es-CL" sz="1400" dirty="0"/>
          </a:p>
        </p:txBody>
      </p:sp>
      <p:sp>
        <p:nvSpPr>
          <p:cNvPr id="13" name="Shape 11"/>
          <p:cNvSpPr/>
          <p:nvPr/>
        </p:nvSpPr>
        <p:spPr>
          <a:xfrm>
            <a:off x="3331388" y="2414016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22244" y="2724912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ETAPA 2</a:t>
            </a:r>
            <a:endParaRPr lang="es-CL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322244" y="2907792"/>
            <a:ext cx="25907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i="1" dirty="0">
                <a:solidFill>
                  <a:schemeClr val="tx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Expertos</a:t>
            </a:r>
            <a:endParaRPr lang="es-CL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3322244" y="3419856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4800" dirty="0"/>
          </a:p>
        </p:txBody>
      </p:sp>
      <p:sp>
        <p:nvSpPr>
          <p:cNvPr id="17" name="Text 15"/>
          <p:cNvSpPr txBox="1"/>
          <p:nvPr/>
        </p:nvSpPr>
        <p:spPr>
          <a:xfrm>
            <a:off x="3322244" y="405993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expertos del rubro</a:t>
            </a:r>
            <a:endParaRPr lang="es-CL" sz="2000" dirty="0"/>
          </a:p>
        </p:txBody>
      </p:sp>
      <p:sp>
        <p:nvSpPr>
          <p:cNvPr id="18" name="Shape 16"/>
          <p:cNvSpPr/>
          <p:nvPr/>
        </p:nvSpPr>
        <p:spPr>
          <a:xfrm>
            <a:off x="3322244" y="4681728"/>
            <a:ext cx="17251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31972" y="4681728"/>
            <a:ext cx="1505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POR REALIZAR</a:t>
            </a:r>
            <a:endParaRPr lang="es-CL" sz="1400" dirty="0"/>
          </a:p>
        </p:txBody>
      </p:sp>
      <p:sp>
        <p:nvSpPr>
          <p:cNvPr id="20" name="Shape 18"/>
          <p:cNvSpPr/>
          <p:nvPr/>
        </p:nvSpPr>
        <p:spPr>
          <a:xfrm>
            <a:off x="6104992" y="2414016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95848" y="2724912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ETAPA 3</a:t>
            </a:r>
            <a:endParaRPr lang="es-CL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095848" y="2907792"/>
            <a:ext cx="25907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i="1" dirty="0">
                <a:solidFill>
                  <a:schemeClr val="tx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Clientes</a:t>
            </a:r>
            <a:endParaRPr lang="es-CL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095848" y="3419856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</a:t>
            </a:r>
            <a:endParaRPr lang="es-CL" sz="4800" dirty="0"/>
          </a:p>
        </p:txBody>
      </p:sp>
      <p:sp>
        <p:nvSpPr>
          <p:cNvPr id="24" name="Text 22"/>
          <p:cNvSpPr txBox="1"/>
          <p:nvPr/>
        </p:nvSpPr>
        <p:spPr>
          <a:xfrm>
            <a:off x="6095848" y="405993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perfiles de cliente</a:t>
            </a:r>
            <a:endParaRPr lang="es-CL" sz="2000" dirty="0"/>
          </a:p>
        </p:txBody>
      </p:sp>
      <p:sp>
        <p:nvSpPr>
          <p:cNvPr id="25" name="Shape 23"/>
          <p:cNvSpPr/>
          <p:nvPr/>
        </p:nvSpPr>
        <p:spPr>
          <a:xfrm>
            <a:off x="6095848" y="4681728"/>
            <a:ext cx="17251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05576" y="4681728"/>
            <a:ext cx="1505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POR REALIZAR</a:t>
            </a:r>
            <a:endParaRPr lang="es-CL" sz="1400" dirty="0"/>
          </a:p>
        </p:txBody>
      </p:sp>
      <p:sp>
        <p:nvSpPr>
          <p:cNvPr id="27" name="Shape 25"/>
          <p:cNvSpPr/>
          <p:nvPr/>
        </p:nvSpPr>
        <p:spPr>
          <a:xfrm>
            <a:off x="8878595" y="2414016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869451" y="2724912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ETAPA 4</a:t>
            </a:r>
            <a:endParaRPr lang="es-CL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869451" y="2907792"/>
            <a:ext cx="25907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i="1" dirty="0">
                <a:solidFill>
                  <a:schemeClr val="tx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Encuesta</a:t>
            </a:r>
            <a:endParaRPr lang="es-CL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8869451" y="3419856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150</a:t>
            </a:r>
            <a:endParaRPr lang="es-CL" sz="4800" dirty="0"/>
          </a:p>
        </p:txBody>
      </p:sp>
      <p:sp>
        <p:nvSpPr>
          <p:cNvPr id="31" name="Text 29"/>
          <p:cNvSpPr txBox="1"/>
          <p:nvPr/>
        </p:nvSpPr>
        <p:spPr>
          <a:xfrm>
            <a:off x="8869451" y="405993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encuestas por cuotas</a:t>
            </a:r>
            <a:endParaRPr lang="es-CL" sz="2000" dirty="0"/>
          </a:p>
        </p:txBody>
      </p:sp>
      <p:sp>
        <p:nvSpPr>
          <p:cNvPr id="32" name="Shape 30"/>
          <p:cNvSpPr/>
          <p:nvPr/>
        </p:nvSpPr>
        <p:spPr>
          <a:xfrm>
            <a:off x="8869451" y="4681728"/>
            <a:ext cx="17251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979179" y="4681728"/>
            <a:ext cx="1505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POR REALIZAR</a:t>
            </a:r>
            <a:endParaRPr lang="es-CL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5138928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524865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SEIS HIPÓTESIS (ANEXO A1) · LA QUE MÁS DECIDE, H4</a:t>
            </a:r>
            <a:endParaRPr lang="es-CL" sz="1600" dirty="0"/>
          </a:p>
        </p:txBody>
      </p:sp>
      <p:sp>
        <p:nvSpPr>
          <p:cNvPr id="36" name="Shape 34"/>
          <p:cNvSpPr/>
          <p:nvPr/>
        </p:nvSpPr>
        <p:spPr>
          <a:xfrm>
            <a:off x="8365947" y="5212080"/>
            <a:ext cx="32771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475675" y="5212080"/>
            <a:ext cx="30576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HIPÓTESIS · POR COMPROBAR</a:t>
            </a:r>
            <a:endParaRPr lang="es-CL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54126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«La barrera es la confianza, no el precio.»</a:t>
            </a:r>
            <a:endParaRPr lang="es-CL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8138160" y="5632704"/>
            <a:ext cx="3504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Muestra por cuotas: resultados indicativos (±8% con 150 casos).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03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ANSOFF Y POSICIONAMIENTO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UNA OPORTUNIDAD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sin oferta en Chile.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Ansoff (1965); KMcheck, Autofact, Mercado Libre y Abastible (2026); Gasco (s.f.); elaboración propia (Informe Fase 3, §3.1.4 y §3.1.5).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3957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PRODUCTO EXISTENTE</a:t>
            </a:r>
            <a:endParaRPr lang="es-CL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749040" y="23957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PRODUCTO NUEVO</a:t>
            </a:r>
            <a:endParaRPr lang="es-CL" sz="1400" dirty="0"/>
          </a:p>
        </p:txBody>
      </p:sp>
      <p:sp>
        <p:nvSpPr>
          <p:cNvPr id="7" name="Text 5"/>
          <p:cNvSpPr txBox="1"/>
          <p:nvPr/>
        </p:nvSpPr>
        <p:spPr>
          <a:xfrm rot="16200000">
            <a:off x="82296" y="324612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MERCADO EXISTENTE</a:t>
            </a:r>
            <a:endParaRPr lang="es-CL" sz="1400" dirty="0"/>
          </a:p>
        </p:txBody>
      </p:sp>
      <p:sp>
        <p:nvSpPr>
          <p:cNvPr id="8" name="Text 6"/>
          <p:cNvSpPr txBox="1"/>
          <p:nvPr/>
        </p:nvSpPr>
        <p:spPr>
          <a:xfrm rot="16200000">
            <a:off x="82296" y="4581144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MERCADO NUEVO</a:t>
            </a:r>
            <a:endParaRPr lang="es-CL" sz="1400" dirty="0"/>
          </a:p>
        </p:txBody>
      </p:sp>
      <p:pic>
        <p:nvPicPr>
          <p:cNvPr id="9" name="Image 0" descr="/home/user/lumine/fase-3/generador/assets/bril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2212848"/>
            <a:ext cx="4206240" cy="243230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749040" y="2761488"/>
            <a:ext cx="2743200" cy="1335024"/>
          </a:xfrm>
          <a:prstGeom prst="rect">
            <a:avLst/>
          </a:prstGeom>
          <a:solidFill>
            <a:srgbClr val="0B1A22">
              <a:alpha val="85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3749040" y="276148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749040" y="276148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36792" y="276148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92240" y="276148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749040" y="409651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749040" y="39410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36792" y="409651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92240" y="39410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803904" y="4151376"/>
            <a:ext cx="2633472" cy="1225296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1005840" y="4096512"/>
            <a:ext cx="5486400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749040" y="2761488"/>
            <a:ext cx="0" cy="2670048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05840" y="2761488"/>
            <a:ext cx="0" cy="2670048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05840" y="5431536"/>
            <a:ext cx="54864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922776" y="2971800"/>
            <a:ext cx="420624" cy="420624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922776" y="2971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4498848" y="2889504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1 · ENTRADA</a:t>
            </a:r>
            <a:endParaRPr lang="es-CL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4498848" y="3127248"/>
            <a:ext cx="18470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Desarrollo de producto</a:t>
            </a:r>
            <a:endParaRPr lang="es-CL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4498848" y="3712464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Sin oferta en Chile</a:t>
            </a:r>
            <a:endParaRPr lang="es-CL" sz="1600" dirty="0"/>
          </a:p>
        </p:txBody>
      </p:sp>
      <p:sp>
        <p:nvSpPr>
          <p:cNvPr id="29" name="Shape 26"/>
          <p:cNvSpPr/>
          <p:nvPr/>
        </p:nvSpPr>
        <p:spPr>
          <a:xfrm>
            <a:off x="3154680" y="2971800"/>
            <a:ext cx="420624" cy="4206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154680" y="2971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1152144" y="2889504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2</a:t>
            </a:r>
            <a:endParaRPr lang="es-CL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1152144" y="3127248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Penetración</a:t>
            </a:r>
            <a:endParaRPr lang="es-CL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1152144" y="3456432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Más clientes, mismo mercado</a:t>
            </a:r>
            <a:endParaRPr lang="es-CL" sz="1600" dirty="0"/>
          </a:p>
        </p:txBody>
      </p:sp>
      <p:sp>
        <p:nvSpPr>
          <p:cNvPr id="34" name="Shape 31"/>
          <p:cNvSpPr/>
          <p:nvPr/>
        </p:nvSpPr>
        <p:spPr>
          <a:xfrm>
            <a:off x="3922776" y="4306824"/>
            <a:ext cx="420624" cy="420624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922776" y="43068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2000" dirty="0"/>
          </a:p>
        </p:txBody>
      </p:sp>
      <p:sp>
        <p:nvSpPr>
          <p:cNvPr id="36" name="Text 33"/>
          <p:cNvSpPr txBox="1"/>
          <p:nvPr/>
        </p:nvSpPr>
        <p:spPr>
          <a:xfrm>
            <a:off x="4498848" y="4224528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DESDE EL AÑO 2</a:t>
            </a:r>
            <a:endParaRPr lang="es-CL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4498848" y="4462272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Diversificación</a:t>
            </a:r>
            <a:endParaRPr lang="es-CL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4498848" y="4791456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Calibración y kits para talleres</a:t>
            </a:r>
            <a:endParaRPr lang="es-CL" sz="1600" dirty="0"/>
          </a:p>
        </p:txBody>
      </p:sp>
      <p:sp>
        <p:nvSpPr>
          <p:cNvPr id="39" name="Shape 36"/>
          <p:cNvSpPr/>
          <p:nvPr/>
        </p:nvSpPr>
        <p:spPr>
          <a:xfrm>
            <a:off x="3154680" y="4306824"/>
            <a:ext cx="420624" cy="4206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154680" y="43068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1152144" y="4224528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3</a:t>
            </a:r>
            <a:endParaRPr lang="es-CL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1152144" y="4462272"/>
            <a:ext cx="18470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Desarrollo de mercado</a:t>
            </a:r>
            <a:endParaRPr lang="es-CL" sz="2000" dirty="0"/>
          </a:p>
        </p:txBody>
      </p:sp>
      <p:sp>
        <p:nvSpPr>
          <p:cNvPr id="43" name="Text 40"/>
          <p:cNvSpPr txBox="1"/>
          <p:nvPr/>
        </p:nvSpPr>
        <p:spPr>
          <a:xfrm>
            <a:off x="1152144" y="5047488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Flotas y regiones</a:t>
            </a:r>
            <a:endParaRPr lang="es-CL" sz="1600" dirty="0"/>
          </a:p>
        </p:txBody>
      </p:sp>
      <p:sp>
        <p:nvSpPr>
          <p:cNvPr id="44" name="Shape 41"/>
          <p:cNvSpPr/>
          <p:nvPr/>
        </p:nvSpPr>
        <p:spPr>
          <a:xfrm>
            <a:off x="3877056" y="3182112"/>
            <a:ext cx="-25603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3364992" y="3438144"/>
            <a:ext cx="0" cy="8229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4133088" y="3438144"/>
            <a:ext cx="0" cy="8229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dash"/>
            <a:tailEnd type="triangle"/>
          </a:ln>
        </p:spPr>
      </p:sp>
      <p:pic>
        <p:nvPicPr>
          <p:cNvPr id="47" name="Image 1" descr="Unidad de control del kit (imagen ilustrativa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559552"/>
            <a:ext cx="914400" cy="676656"/>
          </a:xfrm>
          <a:prstGeom prst="rect">
            <a:avLst/>
          </a:prstGeom>
        </p:spPr>
      </p:pic>
      <p:sp>
        <p:nvSpPr>
          <p:cNvPr id="48" name="Shape 44"/>
          <p:cNvSpPr/>
          <p:nvPr/>
        </p:nvSpPr>
        <p:spPr>
          <a:xfrm>
            <a:off x="548640" y="5559552"/>
            <a:ext cx="914400" cy="676656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600200" y="555955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VENTAJA COMPETITIVA SOSTENIBLE</a:t>
            </a:r>
            <a:endParaRPr lang="es-CL" sz="1300" dirty="0"/>
          </a:p>
        </p:txBody>
      </p:sp>
      <p:sp>
        <p:nvSpPr>
          <p:cNvPr id="50" name="Text 46"/>
          <p:cNvSpPr txBox="1"/>
          <p:nvPr/>
        </p:nvSpPr>
        <p:spPr>
          <a:xfrm>
            <a:off x="1600200" y="5815584"/>
            <a:ext cx="4892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biblioteca de calibraciones: </a:t>
            </a:r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crece con cada instalación y es lo más difícil de copiar.</a:t>
            </a:r>
            <a:endParaRPr lang="es-CL" sz="1600" dirty="0"/>
          </a:p>
        </p:txBody>
      </p:sp>
      <p:sp>
        <p:nvSpPr>
          <p:cNvPr id="51" name="Text 47"/>
          <p:cNvSpPr txBox="1"/>
          <p:nvPr/>
        </p:nvSpPr>
        <p:spPr>
          <a:xfrm>
            <a:off x="6903720" y="2395728"/>
            <a:ext cx="47393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AHORRAR SIN CAMBIAR DE AUTO</a:t>
            </a:r>
            <a:endParaRPr lang="es-CL" sz="1400" dirty="0"/>
          </a:p>
        </p:txBody>
      </p:sp>
      <p:sp>
        <p:nvSpPr>
          <p:cNvPr id="52" name="Text 48"/>
          <p:cNvSpPr txBox="1"/>
          <p:nvPr/>
        </p:nvSpPr>
        <p:spPr>
          <a:xfrm>
            <a:off x="6903720" y="267004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INVERSIÓN INICIAL</a:t>
            </a:r>
            <a:endParaRPr lang="es-CL" sz="1200" dirty="0"/>
          </a:p>
        </p:txBody>
      </p:sp>
      <p:sp>
        <p:nvSpPr>
          <p:cNvPr id="53" name="Shape 49"/>
          <p:cNvSpPr/>
          <p:nvPr/>
        </p:nvSpPr>
        <p:spPr>
          <a:xfrm>
            <a:off x="9509760" y="2944368"/>
            <a:ext cx="2087575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9509760" y="2898648"/>
            <a:ext cx="0" cy="4572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9052560" y="2670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$0</a:t>
            </a:r>
            <a:endParaRPr lang="es-CL" sz="1200" dirty="0"/>
          </a:p>
        </p:txBody>
      </p:sp>
      <p:sp>
        <p:nvSpPr>
          <p:cNvPr id="56" name="Shape 52"/>
          <p:cNvSpPr/>
          <p:nvPr/>
        </p:nvSpPr>
        <p:spPr>
          <a:xfrm>
            <a:off x="10312674" y="2898648"/>
            <a:ext cx="0" cy="4572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855474" y="2670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$10 M</a:t>
            </a:r>
            <a:endParaRPr lang="es-CL" sz="1200" dirty="0"/>
          </a:p>
        </p:txBody>
      </p:sp>
      <p:sp>
        <p:nvSpPr>
          <p:cNvPr id="58" name="Shape 54"/>
          <p:cNvSpPr/>
          <p:nvPr/>
        </p:nvSpPr>
        <p:spPr>
          <a:xfrm>
            <a:off x="11115587" y="2898648"/>
            <a:ext cx="0" cy="4572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10658387" y="2670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$20 M</a:t>
            </a:r>
            <a:endParaRPr lang="es-CL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6903720" y="3017520"/>
            <a:ext cx="4739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CONSERVA SU AUTO</a:t>
            </a:r>
            <a:endParaRPr lang="es-CL" sz="1200" dirty="0"/>
          </a:p>
        </p:txBody>
      </p:sp>
      <p:sp>
        <p:nvSpPr>
          <p:cNvPr id="61" name="Shape 57"/>
          <p:cNvSpPr/>
          <p:nvPr/>
        </p:nvSpPr>
        <p:spPr>
          <a:xfrm>
            <a:off x="6903720" y="3730752"/>
            <a:ext cx="473933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6940296" y="327355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hacer nada</a:t>
            </a:r>
            <a:endParaRPr lang="es-CL" sz="1700" dirty="0"/>
          </a:p>
          <a:p>
            <a:pPr indent="0" marL="0">
              <a:lnSpc>
                <a:spcPct val="90000"/>
              </a:lnSpc>
              <a:buNone/>
            </a:pPr>
            <a:r>
              <a:rPr lang="es-CL" alt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$0 · no ahorra</a:t>
            </a:r>
            <a:endParaRPr lang="es-CL" sz="1700" dirty="0"/>
          </a:p>
        </p:txBody>
      </p:sp>
      <p:sp>
        <p:nvSpPr>
          <p:cNvPr id="63" name="Shape 59"/>
          <p:cNvSpPr/>
          <p:nvPr/>
        </p:nvSpPr>
        <p:spPr>
          <a:xfrm>
            <a:off x="9436608" y="3429000"/>
            <a:ext cx="146304" cy="146304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64" name="Shape 60"/>
          <p:cNvSpPr/>
          <p:nvPr/>
        </p:nvSpPr>
        <p:spPr>
          <a:xfrm>
            <a:off x="6903720" y="4224528"/>
            <a:ext cx="473933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940296" y="3730752"/>
            <a:ext cx="2514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Conversión a gas</a:t>
            </a:r>
            <a:endParaRPr lang="es-CL" sz="1700" dirty="0"/>
          </a:p>
          <a:p>
            <a:pPr indent="0" marL="0">
              <a:lnSpc>
                <a:spcPct val="90000"/>
              </a:lnSpc>
              <a:buNone/>
            </a:pPr>
            <a:r>
              <a:rPr lang="es-CL" alt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$0,9–1,8 M · hasta 7 años</a:t>
            </a:r>
            <a:endParaRPr lang="es-CL" sz="1700" dirty="0"/>
          </a:p>
        </p:txBody>
      </p:sp>
      <p:sp>
        <p:nvSpPr>
          <p:cNvPr id="66" name="Shape 62"/>
          <p:cNvSpPr/>
          <p:nvPr/>
        </p:nvSpPr>
        <p:spPr>
          <a:xfrm>
            <a:off x="9582022" y="3922776"/>
            <a:ext cx="72262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67" name="Shape 63"/>
          <p:cNvSpPr/>
          <p:nvPr/>
        </p:nvSpPr>
        <p:spPr>
          <a:xfrm>
            <a:off x="9508870" y="3904488"/>
            <a:ext cx="146304" cy="146304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68" name="Image 2" descr="/home/user/lumine/fase-3/generador/assets/brill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032504"/>
            <a:ext cx="5287975" cy="1060704"/>
          </a:xfrm>
          <a:prstGeom prst="rect">
            <a:avLst/>
          </a:prstGeom>
        </p:spPr>
      </p:pic>
      <p:sp>
        <p:nvSpPr>
          <p:cNvPr id="69" name="Shape 64"/>
          <p:cNvSpPr/>
          <p:nvPr/>
        </p:nvSpPr>
        <p:spPr>
          <a:xfrm>
            <a:off x="6830568" y="4242816"/>
            <a:ext cx="4812487" cy="640080"/>
          </a:xfrm>
          <a:prstGeom prst="rect">
            <a:avLst/>
          </a:prstGeom>
          <a:solidFill>
            <a:srgbClr val="0B1A2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6940296" y="4224528"/>
            <a:ext cx="2514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s-CL" altLang="en-US" sz="17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Lumine</a:t>
            </a:r>
            <a:endParaRPr lang="es-CL" sz="1700" dirty="0"/>
          </a:p>
          <a:p>
            <a:pPr indent="0" marL="0">
              <a:lnSpc>
                <a:spcPct val="90000"/>
              </a:lnSpc>
              <a:buNone/>
            </a:pPr>
            <a:r>
              <a:rPr lang="es-CL" altLang="en-US" sz="15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$4,3–5,0 M</a:t>
            </a:r>
            <a:endParaRPr lang="es-CL" sz="1700" dirty="0"/>
          </a:p>
          <a:p>
            <a:pPr indent="0" marL="0">
              <a:lnSpc>
                <a:spcPct val="90000"/>
              </a:lnSpc>
              <a:buNone/>
            </a:pPr>
            <a:r>
              <a:rPr lang="es-CL" altLang="en-US" sz="15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sin límite de edad</a:t>
            </a:r>
            <a:endParaRPr lang="es-CL" sz="1700" dirty="0"/>
          </a:p>
        </p:txBody>
      </p:sp>
      <p:sp>
        <p:nvSpPr>
          <p:cNvPr id="71" name="Shape 66"/>
          <p:cNvSpPr/>
          <p:nvPr/>
        </p:nvSpPr>
        <p:spPr>
          <a:xfrm>
            <a:off x="9854210" y="4507992"/>
            <a:ext cx="56204" cy="1097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2" name="Shape 67"/>
          <p:cNvSpPr/>
          <p:nvPr/>
        </p:nvSpPr>
        <p:spPr>
          <a:xfrm>
            <a:off x="9781058" y="4489704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3" name="Text 68"/>
          <p:cNvSpPr txBox="1"/>
          <p:nvPr/>
        </p:nvSpPr>
        <p:spPr>
          <a:xfrm>
            <a:off x="6903720" y="4956048"/>
            <a:ext cx="4739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CAMBIA DE AUTO</a:t>
            </a:r>
            <a:endParaRPr lang="es-CL" sz="1200" dirty="0"/>
          </a:p>
        </p:txBody>
      </p:sp>
      <p:sp>
        <p:nvSpPr>
          <p:cNvPr id="74" name="Shape 69"/>
          <p:cNvSpPr/>
          <p:nvPr/>
        </p:nvSpPr>
        <p:spPr>
          <a:xfrm>
            <a:off x="6903720" y="5669280"/>
            <a:ext cx="473933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75" name="Text 70"/>
          <p:cNvSpPr txBox="1"/>
          <p:nvPr/>
        </p:nvSpPr>
        <p:spPr>
          <a:xfrm>
            <a:off x="6940296" y="52120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Híbrido usado</a:t>
            </a:r>
            <a:endParaRPr lang="es-CL" sz="1700" dirty="0"/>
          </a:p>
          <a:p>
            <a:pPr indent="0" marL="0">
              <a:lnSpc>
                <a:spcPct val="90000"/>
              </a:lnSpc>
              <a:buNone/>
            </a:pPr>
            <a:r>
              <a:rPr lang="es-CL" alt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$9,5–13 M</a:t>
            </a:r>
            <a:endParaRPr lang="es-CL" sz="1700" dirty="0"/>
          </a:p>
        </p:txBody>
      </p:sp>
      <p:sp>
        <p:nvSpPr>
          <p:cNvPr id="76" name="Shape 71"/>
          <p:cNvSpPr/>
          <p:nvPr/>
        </p:nvSpPr>
        <p:spPr>
          <a:xfrm>
            <a:off x="10272528" y="5385816"/>
            <a:ext cx="281020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77" name="Shape 72"/>
          <p:cNvSpPr/>
          <p:nvPr/>
        </p:nvSpPr>
        <p:spPr>
          <a:xfrm>
            <a:off x="10199376" y="5367528"/>
            <a:ext cx="146304" cy="146304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78" name="Shape 73"/>
          <p:cNvSpPr/>
          <p:nvPr/>
        </p:nvSpPr>
        <p:spPr>
          <a:xfrm>
            <a:off x="6903720" y="6126480"/>
            <a:ext cx="473933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79" name="Text 74"/>
          <p:cNvSpPr txBox="1"/>
          <p:nvPr/>
        </p:nvSpPr>
        <p:spPr>
          <a:xfrm>
            <a:off x="6940296" y="56692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Eléctrico nuevo</a:t>
            </a:r>
            <a:endParaRPr lang="es-CL" sz="1700" dirty="0"/>
          </a:p>
          <a:p>
            <a:pPr indent="0" marL="0">
              <a:lnSpc>
                <a:spcPct val="90000"/>
              </a:lnSpc>
              <a:buNone/>
            </a:pPr>
            <a:r>
              <a:rPr lang="es-CL" alt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desde $14 M</a:t>
            </a:r>
            <a:endParaRPr lang="es-CL" sz="1700" dirty="0"/>
          </a:p>
        </p:txBody>
      </p:sp>
      <p:sp>
        <p:nvSpPr>
          <p:cNvPr id="80" name="Shape 75"/>
          <p:cNvSpPr/>
          <p:nvPr/>
        </p:nvSpPr>
        <p:spPr>
          <a:xfrm>
            <a:off x="10633036" y="5843016"/>
            <a:ext cx="964299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81" name="Shape 76"/>
          <p:cNvSpPr/>
          <p:nvPr/>
        </p:nvSpPr>
        <p:spPr>
          <a:xfrm>
            <a:off x="10559884" y="5824728"/>
            <a:ext cx="146304" cy="146304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04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PRODUCTO Y PRECIO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UN MISMO AUTO,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dos alternativas.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elaboración propia (Informe Fase 3, Tablas N° 5 y 6; Anexos N° 2 y 9). Ahorros simulados, no medidos en autos chilenos.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3291840" cy="38404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95728"/>
            <a:ext cx="3291840" cy="5486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4672" y="2578608"/>
            <a:ext cx="2779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ESENCIAL</a:t>
            </a:r>
            <a:endParaRPr lang="es-CL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816352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$4.290.000</a:t>
            </a:r>
            <a:endParaRPr lang="es-CL" sz="4400" dirty="0"/>
          </a:p>
        </p:txBody>
      </p:sp>
      <p:sp>
        <p:nvSpPr>
          <p:cNvPr id="9" name="Shape 7"/>
          <p:cNvSpPr/>
          <p:nvPr/>
        </p:nvSpPr>
        <p:spPr>
          <a:xfrm>
            <a:off x="804672" y="3493008"/>
            <a:ext cx="2680208" cy="310896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ysDot"/>
          </a:ln>
        </p:spPr>
      </p:sp>
      <p:sp>
        <p:nvSpPr>
          <p:cNvPr id="10" name="Text 8"/>
          <p:cNvSpPr txBox="1"/>
          <p:nvPr/>
        </p:nvSpPr>
        <p:spPr>
          <a:xfrm>
            <a:off x="914400" y="3493008"/>
            <a:ext cx="2460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REFERENCIA · CON IVA</a:t>
            </a:r>
            <a:endParaRPr lang="es-CL" sz="1400" dirty="0"/>
          </a:p>
        </p:txBody>
      </p:sp>
      <p:sp>
        <p:nvSpPr>
          <p:cNvPr id="11" name="Shape 9"/>
          <p:cNvSpPr/>
          <p:nvPr/>
        </p:nvSpPr>
        <p:spPr>
          <a:xfrm>
            <a:off x="804672" y="3913632"/>
            <a:ext cx="2779776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398678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AHORRO MÁXIMO SIMULADO</a:t>
            </a:r>
            <a:endParaRPr lang="es-CL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4206240"/>
            <a:ext cx="2779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hasta </a:t>
            </a:r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15%</a:t>
            </a:r>
            <a:pPr indent="0" marL="0">
              <a:buNone/>
            </a:pPr>
            <a:r>
              <a:rPr lang="es-CL" altLang="en-US" sz="1800" b="1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en ciudad</a:t>
            </a:r>
            <a:endParaRPr lang="es-CL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" y="4754880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AHORRO MEDIANO · COLECTIVO</a:t>
            </a:r>
            <a:endParaRPr lang="es-CL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4974336"/>
            <a:ext cx="2779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$117.069</a:t>
            </a:r>
            <a:pPr indent="0" marL="0">
              <a:buNone/>
            </a:pPr>
            <a:r>
              <a:rPr lang="es-CL" altLang="en-US" sz="2000" b="1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al mes</a:t>
            </a:r>
            <a:endParaRPr lang="es-CL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" y="5504688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MESES PARA RECUPERAR</a:t>
            </a:r>
            <a:endParaRPr lang="es-CL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04672" y="5724144"/>
            <a:ext cx="1389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36,6</a:t>
            </a:r>
            <a:endParaRPr lang="es-CL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" y="6035040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colectivo</a:t>
            </a:r>
            <a:endParaRPr lang="es-CL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194560" y="5724144"/>
            <a:ext cx="1389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28,9</a:t>
            </a:r>
            <a:endParaRPr lang="es-CL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6035040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aplicación</a:t>
            </a:r>
            <a:endParaRPr lang="es-CL" sz="1400" dirty="0"/>
          </a:p>
        </p:txBody>
      </p:sp>
      <p:pic>
        <p:nvPicPr>
          <p:cNvPr id="21" name="Image 0" descr="/home/user/lumine/fase-3/generador/assets/bril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856" y="1938528"/>
            <a:ext cx="4754880" cy="475488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4151376" y="2395728"/>
            <a:ext cx="3291840" cy="3840480"/>
          </a:xfrm>
          <a:prstGeom prst="rect">
            <a:avLst/>
          </a:prstGeom>
          <a:solidFill>
            <a:srgbClr val="0B1A2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151376" y="2395728"/>
            <a:ext cx="3291840" cy="5486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4" name="Shape 21"/>
          <p:cNvSpPr/>
          <p:nvPr/>
        </p:nvSpPr>
        <p:spPr>
          <a:xfrm>
            <a:off x="4096512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096512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342632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98080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096512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096512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342632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498080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407408" y="2578608"/>
            <a:ext cx="2779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PLUS</a:t>
            </a:r>
            <a:endParaRPr lang="es-CL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4407408" y="2816352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$4.990.000</a:t>
            </a:r>
            <a:endParaRPr lang="es-CL" sz="4400" dirty="0"/>
          </a:p>
        </p:txBody>
      </p:sp>
      <p:sp>
        <p:nvSpPr>
          <p:cNvPr id="34" name="Shape 31"/>
          <p:cNvSpPr/>
          <p:nvPr/>
        </p:nvSpPr>
        <p:spPr>
          <a:xfrm>
            <a:off x="4407408" y="3493008"/>
            <a:ext cx="2680208" cy="310896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ysDot"/>
          </a:ln>
        </p:spPr>
      </p:sp>
      <p:sp>
        <p:nvSpPr>
          <p:cNvPr id="35" name="Text 32"/>
          <p:cNvSpPr txBox="1"/>
          <p:nvPr/>
        </p:nvSpPr>
        <p:spPr>
          <a:xfrm>
            <a:off x="4517136" y="3493008"/>
            <a:ext cx="2460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REFERENCIA · CON IVA</a:t>
            </a:r>
            <a:endParaRPr lang="es-CL" sz="1400" dirty="0"/>
          </a:p>
        </p:txBody>
      </p:sp>
      <p:sp>
        <p:nvSpPr>
          <p:cNvPr id="36" name="Shape 33"/>
          <p:cNvSpPr/>
          <p:nvPr/>
        </p:nvSpPr>
        <p:spPr>
          <a:xfrm>
            <a:off x="4407408" y="3913632"/>
            <a:ext cx="2779776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07408" y="398678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AHORRO MÁXIMO SIMULADO</a:t>
            </a:r>
            <a:endParaRPr lang="es-CL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4407408" y="4206240"/>
            <a:ext cx="2779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hasta </a:t>
            </a:r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20%</a:t>
            </a:r>
            <a:pPr indent="0" marL="0">
              <a:buNone/>
            </a:pPr>
            <a:r>
              <a:rPr lang="es-CL" altLang="en-US" sz="1800" b="1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en ciudad</a:t>
            </a:r>
            <a:endParaRPr lang="es-CL" sz="3600" dirty="0"/>
          </a:p>
        </p:txBody>
      </p:sp>
      <p:sp>
        <p:nvSpPr>
          <p:cNvPr id="39" name="Text 36"/>
          <p:cNvSpPr txBox="1"/>
          <p:nvPr/>
        </p:nvSpPr>
        <p:spPr>
          <a:xfrm>
            <a:off x="4407408" y="4754880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AHORRO MEDIANO · COLECTIVO</a:t>
            </a:r>
            <a:endParaRPr lang="es-CL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4407408" y="4974336"/>
            <a:ext cx="2779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$145.327</a:t>
            </a:r>
            <a:pPr indent="0" marL="0">
              <a:buNone/>
            </a:pPr>
            <a:r>
              <a:rPr lang="es-CL" altLang="en-US" sz="2000" b="1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al mes</a:t>
            </a:r>
            <a:endParaRPr lang="es-CL" sz="3200" dirty="0"/>
          </a:p>
        </p:txBody>
      </p:sp>
      <p:sp>
        <p:nvSpPr>
          <p:cNvPr id="41" name="Text 38"/>
          <p:cNvSpPr txBox="1"/>
          <p:nvPr/>
        </p:nvSpPr>
        <p:spPr>
          <a:xfrm>
            <a:off x="4407408" y="5504688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MESES PARA RECUPERAR</a:t>
            </a:r>
            <a:endParaRPr lang="es-CL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4407408" y="5724144"/>
            <a:ext cx="1389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34,3</a:t>
            </a:r>
            <a:endParaRPr lang="es-CL" sz="2600" dirty="0"/>
          </a:p>
        </p:txBody>
      </p:sp>
      <p:sp>
        <p:nvSpPr>
          <p:cNvPr id="43" name="Text 40"/>
          <p:cNvSpPr txBox="1"/>
          <p:nvPr/>
        </p:nvSpPr>
        <p:spPr>
          <a:xfrm>
            <a:off x="4407408" y="6035040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colectivo</a:t>
            </a:r>
            <a:endParaRPr lang="es-CL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797296" y="5724144"/>
            <a:ext cx="1389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27,5</a:t>
            </a:r>
            <a:endParaRPr lang="es-CL" sz="2600" dirty="0"/>
          </a:p>
        </p:txBody>
      </p:sp>
      <p:sp>
        <p:nvSpPr>
          <p:cNvPr id="45" name="Text 42"/>
          <p:cNvSpPr txBox="1"/>
          <p:nvPr/>
        </p:nvSpPr>
        <p:spPr>
          <a:xfrm>
            <a:off x="5797296" y="6035040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aplicación</a:t>
            </a:r>
            <a:endParaRPr lang="es-CL" sz="1400" dirty="0"/>
          </a:p>
        </p:txBody>
      </p:sp>
      <p:pic>
        <p:nvPicPr>
          <p:cNvPr id="46" name="Image 1" descr="Kit Lumine: batería bajo el piso y tracción eléctrica en el eje trasero (ilustración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76" y="2395728"/>
            <a:ext cx="3834079" cy="3246120"/>
          </a:xfrm>
          <a:prstGeom prst="rect">
            <a:avLst/>
          </a:prstGeom>
        </p:spPr>
      </p:pic>
      <p:sp>
        <p:nvSpPr>
          <p:cNvPr id="47" name="Shape 43"/>
          <p:cNvSpPr/>
          <p:nvPr/>
        </p:nvSpPr>
        <p:spPr>
          <a:xfrm>
            <a:off x="7808976" y="2395728"/>
            <a:ext cx="3834079" cy="3246120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7936992" y="2505456"/>
            <a:ext cx="35780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ILUSTRACIÓN DEL KIT</a:t>
            </a:r>
            <a:endParaRPr lang="es-CL" sz="1100" dirty="0"/>
          </a:p>
        </p:txBody>
      </p:sp>
      <p:sp>
        <p:nvSpPr>
          <p:cNvPr id="49" name="Text 45"/>
          <p:cNvSpPr txBox="1"/>
          <p:nvPr/>
        </p:nvSpPr>
        <p:spPr>
          <a:xfrm>
            <a:off x="7936992" y="5184648"/>
            <a:ext cx="3578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Misma estructura; cambia la potencia de los motores.</a:t>
            </a:r>
            <a:endParaRPr lang="es-CL" sz="1500" dirty="0"/>
          </a:p>
        </p:txBody>
      </p:sp>
      <p:sp>
        <p:nvSpPr>
          <p:cNvPr id="50" name="Shape 46"/>
          <p:cNvSpPr/>
          <p:nvPr/>
        </p:nvSpPr>
        <p:spPr>
          <a:xfrm>
            <a:off x="7808976" y="5751576"/>
            <a:ext cx="3834079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808976" y="5806440"/>
            <a:ext cx="3834079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Plus cuesta $700.000 más (16%) </a:t>
            </a:r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y ahorra 24% más.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05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DEMANDA Y PRONÓSTICO DE VENTAS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LA DEMANDA DETERMINA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el crecimiento.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INE (2025); Centro UC en Emol (2026); Descubre (2026); Massiani y Gohs (2015); elaboración propia (Tabla N° 10, Anexo N° 4).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DEMANDA POTENCIAL · SEGMENTO LABORAL RM</a:t>
            </a:r>
            <a:endParaRPr lang="es-C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88336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162.780</a:t>
            </a:r>
            <a:endParaRPr lang="es-CL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697480" y="2724912"/>
            <a:ext cx="32154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vehículos de colectivos, taxis y aplicaciones</a:t>
            </a:r>
            <a:endParaRPr lang="es-C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278728" y="2395728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ADOPCIÓN AL AÑO 5 · BASS</a:t>
            </a:r>
            <a:endParaRPr lang="es-CL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278728" y="2688336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11,1%</a:t>
            </a:r>
            <a:endParaRPr lang="es-CL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8427568" y="2724912"/>
            <a:ext cx="32154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del segmento: bajo el 16% de los primeros adoptantes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10156647" y="2340864"/>
            <a:ext cx="14864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10266375" y="2340864"/>
            <a:ext cx="126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ESTIMACIÓN</a:t>
            </a:r>
            <a:endParaRPr lang="es-CL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41071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204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VEHÍCULOS POR AÑO</a:t>
            </a:r>
            <a:endParaRPr lang="es-CL" sz="1600" dirty="0"/>
          </a:p>
        </p:txBody>
      </p:sp>
      <p:sp>
        <p:nvSpPr>
          <p:cNvPr id="15" name="Shape 13"/>
          <p:cNvSpPr/>
          <p:nvPr/>
        </p:nvSpPr>
        <p:spPr>
          <a:xfrm>
            <a:off x="2926080" y="3593592"/>
            <a:ext cx="201168" cy="201168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18688" y="3520440"/>
            <a:ext cx="1964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Demanda atendible</a:t>
            </a:r>
            <a:endParaRPr lang="es-CL" sz="1500" dirty="0"/>
          </a:p>
        </p:txBody>
      </p:sp>
      <p:sp>
        <p:nvSpPr>
          <p:cNvPr id="17" name="Shape 15"/>
          <p:cNvSpPr/>
          <p:nvPr/>
        </p:nvSpPr>
        <p:spPr>
          <a:xfrm>
            <a:off x="5274183" y="3593592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566791" y="3520440"/>
            <a:ext cx="36404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Instalaciones propias (capacidad)</a:t>
            </a:r>
            <a:endParaRPr lang="es-CL" sz="1500" dirty="0"/>
          </a:p>
        </p:txBody>
      </p:sp>
      <p:sp>
        <p:nvSpPr>
          <p:cNvPr id="19" name="Shape 17"/>
          <p:cNvSpPr/>
          <p:nvPr/>
        </p:nvSpPr>
        <p:spPr>
          <a:xfrm>
            <a:off x="9298686" y="3593592"/>
            <a:ext cx="201168" cy="20116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91294" y="352044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Kits a la red (terceros)</a:t>
            </a:r>
            <a:endParaRPr lang="es-CL" sz="1500" dirty="0"/>
          </a:p>
        </p:txBody>
      </p:sp>
      <p:graphicFrame>
        <p:nvGraphicFramePr>
          <p:cNvPr id="21" name="Pronóstico de ventas por año" descr=""/>
          <p:cNvGraphicFramePr/>
          <p:nvPr/>
        </p:nvGraphicFramePr>
        <p:xfrm>
          <a:off x="457200" y="3904488"/>
          <a:ext cx="11277295" cy="1993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48640" y="5907024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límite es físico: </a:t>
            </a:r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68 vehículos en espera el año 1; desde el año 2 los atiende la red.</a:t>
            </a:r>
            <a:endParaRPr lang="es-CL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06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MIX Y PRESUPUESTO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CÓMO LLEGAMOS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al cliente.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§3.1.6 y §3.1.8, Tablas N° 8 y 11). Montos netos de IVA.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96896"/>
            <a:ext cx="10728655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414016"/>
            <a:ext cx="365760" cy="36576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8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1800" dirty="0"/>
          </a:p>
        </p:txBody>
      </p:sp>
      <p:sp>
        <p:nvSpPr>
          <p:cNvPr id="8" name="Shape 6"/>
          <p:cNvSpPr/>
          <p:nvPr/>
        </p:nvSpPr>
        <p:spPr>
          <a:xfrm>
            <a:off x="2842184" y="2596896"/>
            <a:ext cx="475488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548640" y="2889504"/>
            <a:ext cx="256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ESTIMADOR DIGITAL</a:t>
            </a:r>
            <a:endParaRPr lang="es-CL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163824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Calcula su ahorro</a:t>
            </a:r>
            <a:endParaRPr lang="es-CL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547872"/>
            <a:ext cx="24764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Avisos, QR y referidos llevan a la web.</a:t>
            </a:r>
            <a:endParaRPr lang="es-CL" sz="1600" dirty="0"/>
          </a:p>
        </p:txBody>
      </p:sp>
      <p:sp>
        <p:nvSpPr>
          <p:cNvPr id="12" name="Shape 10"/>
          <p:cNvSpPr/>
          <p:nvPr/>
        </p:nvSpPr>
        <p:spPr>
          <a:xfrm>
            <a:off x="3390824" y="2414016"/>
            <a:ext cx="365760" cy="36576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90824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1800" dirty="0"/>
          </a:p>
        </p:txBody>
      </p:sp>
      <p:sp>
        <p:nvSpPr>
          <p:cNvPr id="14" name="Shape 12"/>
          <p:cNvSpPr/>
          <p:nvPr/>
        </p:nvSpPr>
        <p:spPr>
          <a:xfrm>
            <a:off x="5684368" y="2596896"/>
            <a:ext cx="475488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3390824" y="2889504"/>
            <a:ext cx="256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ASESORÍA</a:t>
            </a:r>
            <a:endParaRPr lang="es-CL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390824" y="3163824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Decide con datos</a:t>
            </a:r>
            <a:endParaRPr lang="es-CL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3390824" y="3547872"/>
            <a:ext cx="24764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Puede medir su consumo una semana.</a:t>
            </a:r>
            <a:endParaRPr lang="es-CL" sz="1600" dirty="0"/>
          </a:p>
        </p:txBody>
      </p:sp>
      <p:sp>
        <p:nvSpPr>
          <p:cNvPr id="18" name="Shape 16"/>
          <p:cNvSpPr/>
          <p:nvPr/>
        </p:nvSpPr>
        <p:spPr>
          <a:xfrm>
            <a:off x="6233008" y="2414016"/>
            <a:ext cx="365760" cy="36576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3300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1800" dirty="0"/>
          </a:p>
        </p:txBody>
      </p:sp>
      <p:sp>
        <p:nvSpPr>
          <p:cNvPr id="20" name="Shape 18"/>
          <p:cNvSpPr/>
          <p:nvPr/>
        </p:nvSpPr>
        <p:spPr>
          <a:xfrm>
            <a:off x="8526551" y="2596896"/>
            <a:ext cx="475488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233008" y="2889504"/>
            <a:ext cx="256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TALLER</a:t>
            </a:r>
            <a:endParaRPr lang="es-CL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33008" y="3163824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Instala y certifica</a:t>
            </a:r>
            <a:endParaRPr lang="es-CL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233008" y="3547872"/>
            <a:ext cx="24764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Una jornada; RM propia y red en regiones.</a:t>
            </a:r>
            <a:endParaRPr lang="es-CL" sz="1600" dirty="0"/>
          </a:p>
        </p:txBody>
      </p:sp>
      <p:sp>
        <p:nvSpPr>
          <p:cNvPr id="24" name="Shape 22"/>
          <p:cNvSpPr/>
          <p:nvPr/>
        </p:nvSpPr>
        <p:spPr>
          <a:xfrm>
            <a:off x="9075191" y="2414016"/>
            <a:ext cx="365760" cy="36576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075191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075191" y="2889504"/>
            <a:ext cx="256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SEGUIMIENTO</a:t>
            </a:r>
            <a:endParaRPr lang="es-CL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075191" y="3163824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Comprueba el ahorro</a:t>
            </a:r>
            <a:endParaRPr lang="es-CL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9075191" y="3547872"/>
            <a:ext cx="24764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Informe mensual y garantía de 3 años.</a:t>
            </a:r>
            <a:endParaRPr lang="es-CL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4206240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297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PRESUPUESTO · MILLONES DE $</a:t>
            </a:r>
            <a:endParaRPr lang="es-CL" sz="1400" dirty="0"/>
          </a:p>
        </p:txBody>
      </p:sp>
      <p:sp>
        <p:nvSpPr>
          <p:cNvPr id="31" name="Shape 29"/>
          <p:cNvSpPr/>
          <p:nvPr/>
        </p:nvSpPr>
        <p:spPr>
          <a:xfrm>
            <a:off x="3840480" y="4334256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133088" y="4261104"/>
            <a:ext cx="17545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Clientes piloto</a:t>
            </a:r>
            <a:endParaRPr lang="es-CL" sz="1500" dirty="0"/>
          </a:p>
        </p:txBody>
      </p:sp>
      <p:sp>
        <p:nvSpPr>
          <p:cNvPr id="33" name="Shape 31"/>
          <p:cNvSpPr/>
          <p:nvPr/>
        </p:nvSpPr>
        <p:spPr>
          <a:xfrm>
            <a:off x="5924169" y="4334256"/>
            <a:ext cx="201168" cy="201168"/>
          </a:xfrm>
          <a:prstGeom prst="rect">
            <a:avLst/>
          </a:prstGeom>
          <a:solidFill>
            <a:srgbClr val="A9B1B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216777" y="4261104"/>
            <a:ext cx="15449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Pauta digital</a:t>
            </a:r>
            <a:endParaRPr lang="es-CL" sz="1500" dirty="0"/>
          </a:p>
        </p:txBody>
      </p:sp>
      <p:sp>
        <p:nvSpPr>
          <p:cNvPr id="35" name="Shape 33"/>
          <p:cNvSpPr/>
          <p:nvPr/>
        </p:nvSpPr>
        <p:spPr>
          <a:xfrm>
            <a:off x="7798308" y="4334256"/>
            <a:ext cx="201168" cy="201168"/>
          </a:xfrm>
          <a:prstGeom prst="rect">
            <a:avLst/>
          </a:prstGeom>
          <a:solidFill>
            <a:srgbClr val="6B757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90916" y="4261104"/>
            <a:ext cx="12306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Comisiones</a:t>
            </a:r>
            <a:endParaRPr lang="es-CL" sz="1500" dirty="0"/>
          </a:p>
        </p:txBody>
      </p:sp>
      <p:sp>
        <p:nvSpPr>
          <p:cNvPr id="37" name="Shape 35"/>
          <p:cNvSpPr/>
          <p:nvPr/>
        </p:nvSpPr>
        <p:spPr>
          <a:xfrm>
            <a:off x="9358122" y="4334256"/>
            <a:ext cx="201168" cy="201168"/>
          </a:xfrm>
          <a:prstGeom prst="rect">
            <a:avLst/>
          </a:prstGeom>
          <a:solidFill>
            <a:srgbClr val="3A414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650730" y="4261104"/>
            <a:ext cx="7067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Otras</a:t>
            </a:r>
            <a:endParaRPr lang="es-CL" sz="1500" dirty="0"/>
          </a:p>
        </p:txBody>
      </p:sp>
      <p:graphicFrame>
        <p:nvGraphicFramePr>
          <p:cNvPr id="39" name="Presupuesto de marketing por partida" descr=""/>
          <p:cNvGraphicFramePr/>
          <p:nvPr/>
        </p:nvGraphicFramePr>
        <p:xfrm>
          <a:off x="457200" y="4626864"/>
          <a:ext cx="7040880" cy="16093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Text 37"/>
          <p:cNvSpPr txBox="1"/>
          <p:nvPr/>
        </p:nvSpPr>
        <p:spPr>
          <a:xfrm>
            <a:off x="7909560" y="4681728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$80,9 M</a:t>
            </a:r>
            <a:endParaRPr lang="es-CL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9555480" y="4681728"/>
            <a:ext cx="20875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año 1 · 6,8% de los ingresos</a:t>
            </a:r>
            <a:endParaRPr lang="es-CL" sz="1600" dirty="0"/>
          </a:p>
        </p:txBody>
      </p:sp>
      <p:sp>
        <p:nvSpPr>
          <p:cNvPr id="42" name="Shape 39"/>
          <p:cNvSpPr/>
          <p:nvPr/>
        </p:nvSpPr>
        <p:spPr>
          <a:xfrm>
            <a:off x="7909560" y="5212080"/>
            <a:ext cx="373349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909560" y="5212080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$575 M</a:t>
            </a:r>
            <a:endParaRPr lang="es-CL" sz="3000" dirty="0"/>
          </a:p>
        </p:txBody>
      </p:sp>
      <p:sp>
        <p:nvSpPr>
          <p:cNvPr id="44" name="Text 41"/>
          <p:cNvSpPr txBox="1"/>
          <p:nvPr/>
        </p:nvSpPr>
        <p:spPr>
          <a:xfrm>
            <a:off x="9555480" y="5212080"/>
            <a:ext cx="20875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en cinco años</a:t>
            </a:r>
            <a:endParaRPr lang="es-CL" sz="1600" dirty="0"/>
          </a:p>
        </p:txBody>
      </p:sp>
      <p:sp>
        <p:nvSpPr>
          <p:cNvPr id="45" name="Shape 42"/>
          <p:cNvSpPr/>
          <p:nvPr/>
        </p:nvSpPr>
        <p:spPr>
          <a:xfrm>
            <a:off x="7909560" y="5742432"/>
            <a:ext cx="373349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909560" y="5742432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1,5%</a:t>
            </a:r>
            <a:endParaRPr lang="es-CL" sz="3000" dirty="0"/>
          </a:p>
        </p:txBody>
      </p:sp>
      <p:sp>
        <p:nvSpPr>
          <p:cNvPr id="47" name="Text 44"/>
          <p:cNvSpPr txBox="1"/>
          <p:nvPr/>
        </p:nvSpPr>
        <p:spPr>
          <a:xfrm>
            <a:off x="9555480" y="5742432"/>
            <a:ext cx="20875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 los ingresos al año 5 (2,3% el año 2)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07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RECURSOS HUMANOS · ESTRUCTURA Y DOTACIÓN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DE 13 A 56 PERSONAS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en cinco años.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borrador de reglamento MTT (2021); elaboración propia (Informe Fase 3, Figura N° 3 y Tabla N° 12).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PERSONAS AL CIERRE DE CADA AÑO</a:t>
            </a:r>
            <a:endParaRPr lang="es-CL" sz="1600" dirty="0"/>
          </a:p>
        </p:txBody>
      </p:sp>
      <p:graphicFrame>
        <p:nvGraphicFramePr>
          <p:cNvPr id="6" name="Dotación al cierre de cada año" descr=""/>
          <p:cNvGraphicFramePr/>
          <p:nvPr/>
        </p:nvGraphicFramePr>
        <p:xfrm>
          <a:off x="457200" y="2761488"/>
          <a:ext cx="55321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446520" y="2395728"/>
            <a:ext cx="5196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ORGANIGRAMA · AL ABRIR Y AL AÑO 5</a:t>
            </a:r>
            <a:endParaRPr lang="es-CL" sz="1600" dirty="0"/>
          </a:p>
        </p:txBody>
      </p:sp>
      <p:sp>
        <p:nvSpPr>
          <p:cNvPr id="8" name="Shape 5"/>
          <p:cNvSpPr/>
          <p:nvPr/>
        </p:nvSpPr>
        <p:spPr>
          <a:xfrm>
            <a:off x="6446520" y="2761488"/>
            <a:ext cx="5196535" cy="4572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391656" y="27066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391656" y="2706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42471" y="27066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697919" y="2706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91656" y="327355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391656" y="311810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542471" y="327355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697919" y="311810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46520" y="2761488"/>
            <a:ext cx="5196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Gerencia General</a:t>
            </a:r>
            <a:endParaRPr lang="es-CL" sz="1800" dirty="0"/>
          </a:p>
        </p:txBody>
      </p:sp>
      <p:sp>
        <p:nvSpPr>
          <p:cNvPr id="18" name="Shape 15"/>
          <p:cNvSpPr/>
          <p:nvPr/>
        </p:nvSpPr>
        <p:spPr>
          <a:xfrm>
            <a:off x="6629400" y="3218688"/>
            <a:ext cx="0" cy="2770632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629400" y="3566160"/>
            <a:ext cx="228600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58000" y="3364992"/>
            <a:ext cx="4785055" cy="40233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995160" y="3364992"/>
            <a:ext cx="33220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Responsable Técnico</a:t>
            </a:r>
            <a:endParaRPr lang="es-CL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0180015" y="3364992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2400" dirty="0"/>
          </a:p>
        </p:txBody>
      </p:sp>
      <p:sp>
        <p:nvSpPr>
          <p:cNvPr id="23" name="Shape 20"/>
          <p:cNvSpPr/>
          <p:nvPr/>
        </p:nvSpPr>
        <p:spPr>
          <a:xfrm>
            <a:off x="10737799" y="3566160"/>
            <a:ext cx="25603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11048695" y="3364992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2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2400" dirty="0"/>
          </a:p>
        </p:txBody>
      </p:sp>
      <p:sp>
        <p:nvSpPr>
          <p:cNvPr id="25" name="Shape 22"/>
          <p:cNvSpPr/>
          <p:nvPr/>
        </p:nvSpPr>
        <p:spPr>
          <a:xfrm>
            <a:off x="7040880" y="3767328"/>
            <a:ext cx="0" cy="28346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040880" y="4050792"/>
            <a:ext cx="228600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pic>
        <p:nvPicPr>
          <p:cNvPr id="27" name="Image 0" descr="/home/user/lumine/fase-3/generador/assets/bril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657600"/>
            <a:ext cx="4922215" cy="786384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>
            <a:off x="7269480" y="3849624"/>
            <a:ext cx="4373575" cy="402336"/>
          </a:xfrm>
          <a:prstGeom prst="rect">
            <a:avLst/>
          </a:prstGeom>
          <a:solidFill>
            <a:srgbClr val="0B1A2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406640" y="3849624"/>
            <a:ext cx="2910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Técnicos en dúos</a:t>
            </a:r>
            <a:endParaRPr lang="es-CL" sz="1600" dirty="0"/>
          </a:p>
        </p:txBody>
      </p:sp>
      <p:sp>
        <p:nvSpPr>
          <p:cNvPr id="30" name="Text 26"/>
          <p:cNvSpPr txBox="1"/>
          <p:nvPr/>
        </p:nvSpPr>
        <p:spPr>
          <a:xfrm>
            <a:off x="10180015" y="3849624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2400" dirty="0"/>
          </a:p>
        </p:txBody>
      </p:sp>
      <p:sp>
        <p:nvSpPr>
          <p:cNvPr id="31" name="Shape 27"/>
          <p:cNvSpPr/>
          <p:nvPr/>
        </p:nvSpPr>
        <p:spPr>
          <a:xfrm>
            <a:off x="10737799" y="4050792"/>
            <a:ext cx="25603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2" name="Text 28"/>
          <p:cNvSpPr txBox="1"/>
          <p:nvPr/>
        </p:nvSpPr>
        <p:spPr>
          <a:xfrm>
            <a:off x="11048695" y="3849624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2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</a:t>
            </a:r>
            <a:endParaRPr lang="es-CL" sz="2400" dirty="0"/>
          </a:p>
        </p:txBody>
      </p:sp>
      <p:sp>
        <p:nvSpPr>
          <p:cNvPr id="33" name="Shape 29"/>
          <p:cNvSpPr/>
          <p:nvPr/>
        </p:nvSpPr>
        <p:spPr>
          <a:xfrm>
            <a:off x="6629400" y="4535424"/>
            <a:ext cx="228600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858000" y="4334256"/>
            <a:ext cx="4785055" cy="40233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995160" y="4334256"/>
            <a:ext cx="33220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Ingeniería de Calibración</a:t>
            </a:r>
            <a:endParaRPr lang="es-CL" sz="1600" dirty="0"/>
          </a:p>
        </p:txBody>
      </p:sp>
      <p:sp>
        <p:nvSpPr>
          <p:cNvPr id="36" name="Text 32"/>
          <p:cNvSpPr txBox="1"/>
          <p:nvPr/>
        </p:nvSpPr>
        <p:spPr>
          <a:xfrm>
            <a:off x="10180015" y="433425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2400" dirty="0"/>
          </a:p>
        </p:txBody>
      </p:sp>
      <p:sp>
        <p:nvSpPr>
          <p:cNvPr id="37" name="Shape 33"/>
          <p:cNvSpPr/>
          <p:nvPr/>
        </p:nvSpPr>
        <p:spPr>
          <a:xfrm>
            <a:off x="10737799" y="4535424"/>
            <a:ext cx="25603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11048695" y="433425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2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2400" dirty="0"/>
          </a:p>
        </p:txBody>
      </p:sp>
      <p:sp>
        <p:nvSpPr>
          <p:cNvPr id="39" name="Shape 35"/>
          <p:cNvSpPr/>
          <p:nvPr/>
        </p:nvSpPr>
        <p:spPr>
          <a:xfrm>
            <a:off x="6629400" y="5020056"/>
            <a:ext cx="228600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858000" y="4818888"/>
            <a:ext cx="4785055" cy="40233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995160" y="4818888"/>
            <a:ext cx="33220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Comercial y Postventa</a:t>
            </a:r>
            <a:endParaRPr lang="es-CL" sz="1600" dirty="0"/>
          </a:p>
        </p:txBody>
      </p:sp>
      <p:sp>
        <p:nvSpPr>
          <p:cNvPr id="42" name="Text 38"/>
          <p:cNvSpPr txBox="1"/>
          <p:nvPr/>
        </p:nvSpPr>
        <p:spPr>
          <a:xfrm>
            <a:off x="10180015" y="4818888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2400" dirty="0"/>
          </a:p>
        </p:txBody>
      </p:sp>
      <p:sp>
        <p:nvSpPr>
          <p:cNvPr id="43" name="Shape 39"/>
          <p:cNvSpPr/>
          <p:nvPr/>
        </p:nvSpPr>
        <p:spPr>
          <a:xfrm>
            <a:off x="10737799" y="5020056"/>
            <a:ext cx="25603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4" name="Text 40"/>
          <p:cNvSpPr txBox="1"/>
          <p:nvPr/>
        </p:nvSpPr>
        <p:spPr>
          <a:xfrm>
            <a:off x="11048695" y="4818888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2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2400" dirty="0"/>
          </a:p>
        </p:txBody>
      </p:sp>
      <p:sp>
        <p:nvSpPr>
          <p:cNvPr id="45" name="Shape 41"/>
          <p:cNvSpPr/>
          <p:nvPr/>
        </p:nvSpPr>
        <p:spPr>
          <a:xfrm>
            <a:off x="6629400" y="5504688"/>
            <a:ext cx="228600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6858000" y="5303520"/>
            <a:ext cx="4785055" cy="402336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47" name="Text 43"/>
          <p:cNvSpPr txBox="1"/>
          <p:nvPr/>
        </p:nvSpPr>
        <p:spPr>
          <a:xfrm>
            <a:off x="6995160" y="5303520"/>
            <a:ext cx="33220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Comercial de Empresas</a:t>
            </a:r>
            <a:pPr indent="0" marL="0">
              <a:buNone/>
            </a:pPr>
            <a:r>
              <a:rPr lang="es-CL" altLang="en-US" sz="1300" b="1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· mes 46</a:t>
            </a:r>
            <a:endParaRPr lang="es-CL" sz="1600" dirty="0"/>
          </a:p>
        </p:txBody>
      </p:sp>
      <p:sp>
        <p:nvSpPr>
          <p:cNvPr id="48" name="Text 44"/>
          <p:cNvSpPr txBox="1"/>
          <p:nvPr/>
        </p:nvSpPr>
        <p:spPr>
          <a:xfrm>
            <a:off x="10180015" y="5303520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</a:t>
            </a:r>
            <a:endParaRPr lang="es-CL" sz="2400" dirty="0"/>
          </a:p>
        </p:txBody>
      </p:sp>
      <p:sp>
        <p:nvSpPr>
          <p:cNvPr id="49" name="Shape 45"/>
          <p:cNvSpPr/>
          <p:nvPr/>
        </p:nvSpPr>
        <p:spPr>
          <a:xfrm>
            <a:off x="10737799" y="5504688"/>
            <a:ext cx="25603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0" name="Text 46"/>
          <p:cNvSpPr txBox="1"/>
          <p:nvPr/>
        </p:nvSpPr>
        <p:spPr>
          <a:xfrm>
            <a:off x="11048695" y="5303520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2400" dirty="0"/>
          </a:p>
        </p:txBody>
      </p:sp>
      <p:sp>
        <p:nvSpPr>
          <p:cNvPr id="51" name="Shape 47"/>
          <p:cNvSpPr/>
          <p:nvPr/>
        </p:nvSpPr>
        <p:spPr>
          <a:xfrm>
            <a:off x="6629400" y="5989320"/>
            <a:ext cx="228600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6858000" y="5788152"/>
            <a:ext cx="4785055" cy="40233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995160" y="5788152"/>
            <a:ext cx="33220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Administración y Personas</a:t>
            </a:r>
            <a:endParaRPr lang="es-CL" sz="1600" dirty="0"/>
          </a:p>
        </p:txBody>
      </p:sp>
      <p:sp>
        <p:nvSpPr>
          <p:cNvPr id="54" name="Text 50"/>
          <p:cNvSpPr txBox="1"/>
          <p:nvPr/>
        </p:nvSpPr>
        <p:spPr>
          <a:xfrm>
            <a:off x="10225735" y="57881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08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RECURSOS HUMANOS · FORMACIÓN, RENTAS Y NÓMINA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LUMINE HABILITA: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técnicos formados en casa.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Ley N° 21.735; Ley N° 16.744; Ley N° 19.728; elaboración propia (Informe Fase 3, Tablas N° 14 a 16 y Anexo N° 7).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RUTA DE N1 A N4 · RENTA BRUTA MENSUAL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630168"/>
            <a:ext cx="1696212" cy="21031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3630168"/>
            <a:ext cx="1696212" cy="457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3813048"/>
            <a:ext cx="658368" cy="40233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3813048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N1</a:t>
            </a:r>
            <a:endParaRPr lang="es-CL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306824"/>
            <a:ext cx="1476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1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Aprende</a:t>
            </a:r>
            <a:endParaRPr lang="es-CL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690872"/>
            <a:ext cx="1421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 meses de formación</a:t>
            </a:r>
            <a:endParaRPr lang="es-CL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166360"/>
            <a:ext cx="14218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$750 mil</a:t>
            </a:r>
            <a:endParaRPr lang="es-CL" sz="3200" dirty="0"/>
          </a:p>
        </p:txBody>
      </p:sp>
      <p:sp>
        <p:nvSpPr>
          <p:cNvPr id="13" name="Shape 11"/>
          <p:cNvSpPr/>
          <p:nvPr/>
        </p:nvSpPr>
        <p:spPr>
          <a:xfrm>
            <a:off x="2391156" y="3264408"/>
            <a:ext cx="1696212" cy="246888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91156" y="3264408"/>
            <a:ext cx="1696212" cy="457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5" name="Shape 13"/>
          <p:cNvSpPr/>
          <p:nvPr/>
        </p:nvSpPr>
        <p:spPr>
          <a:xfrm>
            <a:off x="2555748" y="3447288"/>
            <a:ext cx="658368" cy="40233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555748" y="3447288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N2</a:t>
            </a:r>
            <a:endParaRPr lang="es-CL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2555748" y="3941064"/>
            <a:ext cx="1476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1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Instala</a:t>
            </a:r>
            <a:endParaRPr lang="es-CL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2555748" y="4325112"/>
            <a:ext cx="1421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 meses supervisado</a:t>
            </a:r>
            <a:endParaRPr lang="es-CL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555748" y="5166360"/>
            <a:ext cx="14218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$850 mil</a:t>
            </a:r>
            <a:endParaRPr lang="es-CL" sz="3200" dirty="0"/>
          </a:p>
        </p:txBody>
      </p:sp>
      <p:sp>
        <p:nvSpPr>
          <p:cNvPr id="20" name="Shape 18"/>
          <p:cNvSpPr/>
          <p:nvPr/>
        </p:nvSpPr>
        <p:spPr>
          <a:xfrm>
            <a:off x="4233672" y="2898648"/>
            <a:ext cx="1696212" cy="283464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33672" y="2898648"/>
            <a:ext cx="1696212" cy="457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2" name="Shape 20"/>
          <p:cNvSpPr/>
          <p:nvPr/>
        </p:nvSpPr>
        <p:spPr>
          <a:xfrm>
            <a:off x="4398264" y="3081528"/>
            <a:ext cx="658368" cy="40233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398264" y="3081528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N3</a:t>
            </a:r>
            <a:endParaRPr lang="es-CL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4398264" y="3575304"/>
            <a:ext cx="1476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1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Autónomo</a:t>
            </a:r>
            <a:endParaRPr lang="es-CL" sz="2100" dirty="0"/>
          </a:p>
        </p:txBody>
      </p:sp>
      <p:sp>
        <p:nvSpPr>
          <p:cNvPr id="25" name="Text 23"/>
          <p:cNvSpPr txBox="1"/>
          <p:nvPr/>
        </p:nvSpPr>
        <p:spPr>
          <a:xfrm>
            <a:off x="4398264" y="3959352"/>
            <a:ext cx="1421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90 días autónomo</a:t>
            </a:r>
            <a:endParaRPr lang="es-CL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398264" y="5166360"/>
            <a:ext cx="14218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$1,0 M</a:t>
            </a:r>
            <a:endParaRPr lang="es-CL" sz="3200" dirty="0"/>
          </a:p>
        </p:txBody>
      </p:sp>
      <p:pic>
        <p:nvPicPr>
          <p:cNvPr id="27" name="Image 0" descr="/home/user/lumine/fase-3/generador/assets/bril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8988" y="2212848"/>
            <a:ext cx="2610612" cy="3840480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6076188" y="2532888"/>
            <a:ext cx="1696212" cy="32004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21324" y="24780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021324" y="24780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71816" y="24780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827264" y="24780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021324" y="578815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21324" y="563270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671816" y="578815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827264" y="563270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076188" y="2532888"/>
            <a:ext cx="1696212" cy="457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8" name="Shape 35"/>
          <p:cNvSpPr/>
          <p:nvPr/>
        </p:nvSpPr>
        <p:spPr>
          <a:xfrm>
            <a:off x="6240780" y="2715768"/>
            <a:ext cx="658368" cy="40233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240780" y="2715768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N4</a:t>
            </a:r>
            <a:endParaRPr lang="es-CL" sz="2000" dirty="0"/>
          </a:p>
        </p:txBody>
      </p:sp>
      <p:sp>
        <p:nvSpPr>
          <p:cNvPr id="40" name="Text 37"/>
          <p:cNvSpPr txBox="1"/>
          <p:nvPr/>
        </p:nvSpPr>
        <p:spPr>
          <a:xfrm>
            <a:off x="6240780" y="3209544"/>
            <a:ext cx="1476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1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Forma</a:t>
            </a:r>
            <a:endParaRPr lang="es-CL" sz="2100" dirty="0"/>
          </a:p>
        </p:txBody>
      </p:sp>
      <p:sp>
        <p:nvSpPr>
          <p:cNvPr id="41" name="Text 38"/>
          <p:cNvSpPr txBox="1"/>
          <p:nvPr/>
        </p:nvSpPr>
        <p:spPr>
          <a:xfrm>
            <a:off x="6240780" y="3593592"/>
            <a:ext cx="1421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forma y valida a otros</a:t>
            </a:r>
            <a:endParaRPr lang="es-CL" sz="1600" dirty="0"/>
          </a:p>
        </p:txBody>
      </p:sp>
      <p:sp>
        <p:nvSpPr>
          <p:cNvPr id="42" name="Text 39"/>
          <p:cNvSpPr txBox="1"/>
          <p:nvPr/>
        </p:nvSpPr>
        <p:spPr>
          <a:xfrm>
            <a:off x="6240780" y="5166360"/>
            <a:ext cx="14218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$1,15 M</a:t>
            </a:r>
            <a:endParaRPr lang="es-CL" sz="3200" dirty="0"/>
          </a:p>
        </p:txBody>
      </p:sp>
      <p:sp>
        <p:nvSpPr>
          <p:cNvPr id="43" name="Text 40"/>
          <p:cNvSpPr txBox="1"/>
          <p:nvPr/>
        </p:nvSpPr>
        <p:spPr>
          <a:xfrm>
            <a:off x="548640" y="5824728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Del N1 al N4 en unos ocho meses, </a:t>
            </a:r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 bono por nivel.</a:t>
            </a:r>
            <a:endParaRPr lang="es-CL" sz="1800" dirty="0"/>
          </a:p>
        </p:txBody>
      </p:sp>
      <p:sp>
        <p:nvSpPr>
          <p:cNvPr id="44" name="Shape 41"/>
          <p:cNvSpPr/>
          <p:nvPr/>
        </p:nvSpPr>
        <p:spPr>
          <a:xfrm>
            <a:off x="8183880" y="2395728"/>
            <a:ext cx="345917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183880" y="24688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39</a:t>
            </a:r>
            <a:endParaRPr lang="es-CL" sz="3800" dirty="0"/>
          </a:p>
        </p:txBody>
      </p:sp>
      <p:sp>
        <p:nvSpPr>
          <p:cNvPr id="46" name="Text 43"/>
          <p:cNvSpPr txBox="1"/>
          <p:nvPr/>
        </p:nvSpPr>
        <p:spPr>
          <a:xfrm>
            <a:off x="8183880" y="30358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competencias</a:t>
            </a:r>
            <a:endParaRPr lang="es-CL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9646920" y="246888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3800" dirty="0"/>
          </a:p>
        </p:txBody>
      </p:sp>
      <p:sp>
        <p:nvSpPr>
          <p:cNvPr id="48" name="Text 45"/>
          <p:cNvSpPr txBox="1"/>
          <p:nvPr/>
        </p:nvSpPr>
        <p:spPr>
          <a:xfrm>
            <a:off x="9646920" y="30358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niveles</a:t>
            </a:r>
            <a:endParaRPr lang="es-CL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10561320" y="2468880"/>
            <a:ext cx="1081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392</a:t>
            </a:r>
            <a:endParaRPr lang="es-CL" sz="3800" dirty="0"/>
          </a:p>
        </p:txBody>
      </p:sp>
      <p:sp>
        <p:nvSpPr>
          <p:cNvPr id="50" name="Text 47"/>
          <p:cNvSpPr txBox="1"/>
          <p:nvPr/>
        </p:nvSpPr>
        <p:spPr>
          <a:xfrm>
            <a:off x="10561320" y="3035808"/>
            <a:ext cx="1081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horas</a:t>
            </a:r>
            <a:endParaRPr lang="es-CL" sz="1500" dirty="0"/>
          </a:p>
        </p:txBody>
      </p:sp>
      <p:sp>
        <p:nvSpPr>
          <p:cNvPr id="51" name="Shape 48"/>
          <p:cNvSpPr/>
          <p:nvPr/>
        </p:nvSpPr>
        <p:spPr>
          <a:xfrm>
            <a:off x="8183880" y="3529584"/>
            <a:ext cx="345917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183880" y="3602736"/>
            <a:ext cx="34591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NÓMINA TOTAL · MILLONES DE $</a:t>
            </a:r>
            <a:endParaRPr lang="es-CL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8375904" y="389534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152</a:t>
            </a:r>
            <a:endParaRPr lang="es-CL" sz="3400" dirty="0"/>
          </a:p>
        </p:txBody>
      </p:sp>
      <p:sp>
        <p:nvSpPr>
          <p:cNvPr id="54" name="Shape 51"/>
          <p:cNvSpPr/>
          <p:nvPr/>
        </p:nvSpPr>
        <p:spPr>
          <a:xfrm>
            <a:off x="9436608" y="4169664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5" name="Text 52"/>
          <p:cNvSpPr txBox="1"/>
          <p:nvPr/>
        </p:nvSpPr>
        <p:spPr>
          <a:xfrm>
            <a:off x="9820656" y="389534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755</a:t>
            </a:r>
            <a:endParaRPr lang="es-CL" sz="3400" dirty="0"/>
          </a:p>
        </p:txBody>
      </p:sp>
      <p:sp>
        <p:nvSpPr>
          <p:cNvPr id="56" name="Text 53"/>
          <p:cNvSpPr txBox="1"/>
          <p:nvPr/>
        </p:nvSpPr>
        <p:spPr>
          <a:xfrm>
            <a:off x="8183880" y="44622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del año 1 al año 5</a:t>
            </a:r>
            <a:endParaRPr lang="es-CL" sz="1500" dirty="0"/>
          </a:p>
        </p:txBody>
      </p:sp>
      <p:sp>
        <p:nvSpPr>
          <p:cNvPr id="57" name="Shape 54"/>
          <p:cNvSpPr/>
          <p:nvPr/>
        </p:nvSpPr>
        <p:spPr>
          <a:xfrm>
            <a:off x="10095687" y="4443984"/>
            <a:ext cx="1547368" cy="27432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ysDot"/>
          </a:ln>
        </p:spPr>
      </p:sp>
      <p:sp>
        <p:nvSpPr>
          <p:cNvPr id="58" name="Text 55"/>
          <p:cNvSpPr txBox="1"/>
          <p:nvPr/>
        </p:nvSpPr>
        <p:spPr>
          <a:xfrm>
            <a:off x="10205415" y="4443984"/>
            <a:ext cx="132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SIN REAJUSTES</a:t>
            </a:r>
            <a:endParaRPr lang="es-CL" sz="1100" dirty="0"/>
          </a:p>
        </p:txBody>
      </p:sp>
      <p:sp>
        <p:nvSpPr>
          <p:cNvPr id="59" name="Shape 56"/>
          <p:cNvSpPr/>
          <p:nvPr/>
        </p:nvSpPr>
        <p:spPr>
          <a:xfrm>
            <a:off x="8183880" y="4901184"/>
            <a:ext cx="345917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8183880" y="4974336"/>
            <a:ext cx="34591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NÓMINA POR INSTALACIÓN</a:t>
            </a:r>
            <a:endParaRPr lang="es-CL" sz="1300" dirty="0"/>
          </a:p>
        </p:txBody>
      </p:sp>
      <p:sp>
        <p:nvSpPr>
          <p:cNvPr id="61" name="Text 58"/>
          <p:cNvSpPr txBox="1"/>
          <p:nvPr/>
        </p:nvSpPr>
        <p:spPr>
          <a:xfrm>
            <a:off x="8276692" y="526694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$508 mil</a:t>
            </a:r>
            <a:endParaRPr lang="es-CL" sz="3000" dirty="0"/>
          </a:p>
        </p:txBody>
      </p:sp>
      <p:sp>
        <p:nvSpPr>
          <p:cNvPr id="62" name="Shape 59"/>
          <p:cNvSpPr/>
          <p:nvPr/>
        </p:nvSpPr>
        <p:spPr>
          <a:xfrm>
            <a:off x="9748876" y="5541264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63" name="Text 60"/>
          <p:cNvSpPr txBox="1"/>
          <p:nvPr/>
        </p:nvSpPr>
        <p:spPr>
          <a:xfrm>
            <a:off x="10132924" y="526694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$253 mil</a:t>
            </a:r>
            <a:endParaRPr lang="es-CL" sz="3000" dirty="0"/>
          </a:p>
        </p:txBody>
      </p:sp>
      <p:sp>
        <p:nvSpPr>
          <p:cNvPr id="64" name="Text 61"/>
          <p:cNvSpPr txBox="1"/>
          <p:nvPr/>
        </p:nvSpPr>
        <p:spPr>
          <a:xfrm>
            <a:off x="8183880" y="5833872"/>
            <a:ext cx="34591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del año 1 al 4; el año 5 sube a $265 mil con el tercer taller.</a:t>
            </a:r>
            <a:endParaRPr lang="es-CL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09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OPERACIONES · FLUJO Y PUNTOS DE CONTROL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DE LA COTIZACIÓN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a la postventa.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borrador de reglamento MTT (2021), arts. 11 a 18; elaboración propia (Informe Fase 3, Figura N° 4, Tabla N° 17 y Anexo N° 8). Tiempos estimados. Imágenes ilustrativas.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3401568"/>
            <a:ext cx="10728655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pic>
        <p:nvPicPr>
          <p:cNvPr id="6" name="Image 0" descr="Cotización en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95728"/>
            <a:ext cx="2057949" cy="731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2395728"/>
            <a:ext cx="2057949" cy="731520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3218688"/>
            <a:ext cx="365760" cy="36576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218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1800" dirty="0"/>
          </a:p>
        </p:txBody>
      </p:sp>
      <p:sp>
        <p:nvSpPr>
          <p:cNvPr id="10" name="Shape 7"/>
          <p:cNvSpPr/>
          <p:nvPr/>
        </p:nvSpPr>
        <p:spPr>
          <a:xfrm>
            <a:off x="2332269" y="3401568"/>
            <a:ext cx="40233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548640" y="3675888"/>
            <a:ext cx="20579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CAPTACIÓN</a:t>
            </a:r>
            <a:endParaRPr lang="es-CL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913632"/>
            <a:ext cx="20579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Cotiza en la web</a:t>
            </a:r>
            <a:endParaRPr lang="es-CL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315968"/>
            <a:ext cx="1750568" cy="27432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315968"/>
            <a:ext cx="175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CON EL CLIENTE</a:t>
            </a:r>
            <a:endParaRPr lang="es-CL" sz="1200" dirty="0"/>
          </a:p>
        </p:txBody>
      </p:sp>
      <p:pic>
        <p:nvPicPr>
          <p:cNvPr id="15" name="Image 1" descr="Diagnóstico con telemetrí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757" y="2395728"/>
            <a:ext cx="2057949" cy="73152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2807757" y="2395728"/>
            <a:ext cx="2057949" cy="731520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07757" y="3218688"/>
            <a:ext cx="365760" cy="36576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807757" y="3218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1800" dirty="0"/>
          </a:p>
        </p:txBody>
      </p:sp>
      <p:sp>
        <p:nvSpPr>
          <p:cNvPr id="19" name="Shape 15"/>
          <p:cNvSpPr/>
          <p:nvPr/>
        </p:nvSpPr>
        <p:spPr>
          <a:xfrm>
            <a:off x="4591385" y="3401568"/>
            <a:ext cx="40233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2807757" y="3675888"/>
            <a:ext cx="20579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ASESORÍA</a:t>
            </a:r>
            <a:endParaRPr lang="es-CL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2807757" y="3913632"/>
            <a:ext cx="20579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cliente decide</a:t>
            </a:r>
            <a:endParaRPr lang="es-CL" sz="1800" dirty="0"/>
          </a:p>
        </p:txBody>
      </p:sp>
      <p:sp>
        <p:nvSpPr>
          <p:cNvPr id="22" name="Shape 18"/>
          <p:cNvSpPr/>
          <p:nvPr/>
        </p:nvSpPr>
        <p:spPr>
          <a:xfrm>
            <a:off x="2807757" y="4315968"/>
            <a:ext cx="1750568" cy="27432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807757" y="4315968"/>
            <a:ext cx="175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CON EL CLIENTE</a:t>
            </a:r>
            <a:endParaRPr lang="es-CL" sz="1200" dirty="0"/>
          </a:p>
        </p:txBody>
      </p:sp>
      <p:pic>
        <p:nvPicPr>
          <p:cNvPr id="24" name="Image 2" descr="Dúo de técnicos instalando el ki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6873" y="2395728"/>
            <a:ext cx="2057949" cy="73152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5066873" y="2395728"/>
            <a:ext cx="2057949" cy="731520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066873" y="3218688"/>
            <a:ext cx="365760" cy="36576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5066873" y="3218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8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1800" dirty="0"/>
          </a:p>
        </p:txBody>
      </p:sp>
      <p:sp>
        <p:nvSpPr>
          <p:cNvPr id="28" name="Shape 23"/>
          <p:cNvSpPr/>
          <p:nvPr/>
        </p:nvSpPr>
        <p:spPr>
          <a:xfrm>
            <a:off x="6850502" y="3401568"/>
            <a:ext cx="40233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9" name="Text 24"/>
          <p:cNvSpPr txBox="1"/>
          <p:nvPr/>
        </p:nvSpPr>
        <p:spPr>
          <a:xfrm>
            <a:off x="5066873" y="3675888"/>
            <a:ext cx="20579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TALLER</a:t>
            </a:r>
            <a:endParaRPr lang="es-CL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5066873" y="3913632"/>
            <a:ext cx="20579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Una jornada</a:t>
            </a:r>
            <a:endParaRPr lang="es-CL" sz="1800" dirty="0"/>
          </a:p>
        </p:txBody>
      </p:sp>
      <p:sp>
        <p:nvSpPr>
          <p:cNvPr id="31" name="Shape 26"/>
          <p:cNvSpPr/>
          <p:nvPr/>
        </p:nvSpPr>
        <p:spPr>
          <a:xfrm>
            <a:off x="5066873" y="4315968"/>
            <a:ext cx="1021588" cy="27432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066873" y="4315968"/>
            <a:ext cx="1021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TÉCNICA</a:t>
            </a:r>
            <a:endParaRPr lang="es-CL" sz="1200" dirty="0"/>
          </a:p>
        </p:txBody>
      </p:sp>
      <p:pic>
        <p:nvPicPr>
          <p:cNvPr id="33" name="Image 3" descr="Entrega del auto certificad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5990" y="2395728"/>
            <a:ext cx="2057949" cy="731520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7325990" y="2395728"/>
            <a:ext cx="2057949" cy="731520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325990" y="3218688"/>
            <a:ext cx="365760" cy="36576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7325990" y="3218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1800" dirty="0"/>
          </a:p>
        </p:txBody>
      </p:sp>
      <p:sp>
        <p:nvSpPr>
          <p:cNvPr id="37" name="Shape 31"/>
          <p:cNvSpPr/>
          <p:nvPr/>
        </p:nvSpPr>
        <p:spPr>
          <a:xfrm>
            <a:off x="9109619" y="3401568"/>
            <a:ext cx="40233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8" name="Text 32"/>
          <p:cNvSpPr txBox="1"/>
          <p:nvPr/>
        </p:nvSpPr>
        <p:spPr>
          <a:xfrm>
            <a:off x="7325990" y="3675888"/>
            <a:ext cx="20579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CERTIFICACIÓN</a:t>
            </a:r>
            <a:endParaRPr lang="es-CL" sz="1300" dirty="0"/>
          </a:p>
        </p:txBody>
      </p:sp>
      <p:sp>
        <p:nvSpPr>
          <p:cNvPr id="39" name="Text 33"/>
          <p:cNvSpPr txBox="1"/>
          <p:nvPr/>
        </p:nvSpPr>
        <p:spPr>
          <a:xfrm>
            <a:off x="7325990" y="3913632"/>
            <a:ext cx="20579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Sale certificado</a:t>
            </a:r>
            <a:endParaRPr lang="es-CL" sz="1800" dirty="0"/>
          </a:p>
        </p:txBody>
      </p:sp>
      <p:sp>
        <p:nvSpPr>
          <p:cNvPr id="40" name="Shape 34"/>
          <p:cNvSpPr/>
          <p:nvPr/>
        </p:nvSpPr>
        <p:spPr>
          <a:xfrm>
            <a:off x="7325990" y="4315968"/>
            <a:ext cx="1021588" cy="27432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7325990" y="4315968"/>
            <a:ext cx="1021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TÉCNICA</a:t>
            </a:r>
            <a:endParaRPr lang="es-CL" sz="1200" dirty="0"/>
          </a:p>
        </p:txBody>
      </p:sp>
      <p:pic>
        <p:nvPicPr>
          <p:cNvPr id="42" name="Image 4" descr="Centro de control que mide el ahorr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5107" y="2395728"/>
            <a:ext cx="2057949" cy="731520"/>
          </a:xfrm>
          <a:prstGeom prst="rect">
            <a:avLst/>
          </a:prstGeom>
        </p:spPr>
      </p:pic>
      <p:sp>
        <p:nvSpPr>
          <p:cNvPr id="43" name="Shape 36"/>
          <p:cNvSpPr/>
          <p:nvPr/>
        </p:nvSpPr>
        <p:spPr>
          <a:xfrm>
            <a:off x="9585107" y="2395728"/>
            <a:ext cx="2057949" cy="731520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9585107" y="3218688"/>
            <a:ext cx="365760" cy="36576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9585107" y="3218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</a:t>
            </a:r>
            <a:endParaRPr lang="es-CL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9585107" y="3675888"/>
            <a:ext cx="20579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POSTVENTA</a:t>
            </a:r>
            <a:endParaRPr lang="es-CL" sz="1300" dirty="0"/>
          </a:p>
        </p:txBody>
      </p:sp>
      <p:sp>
        <p:nvSpPr>
          <p:cNvPr id="47" name="Text 40"/>
          <p:cNvSpPr txBox="1"/>
          <p:nvPr/>
        </p:nvSpPr>
        <p:spPr>
          <a:xfrm>
            <a:off x="9585107" y="3913632"/>
            <a:ext cx="20579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Ahorro medido</a:t>
            </a:r>
            <a:endParaRPr lang="es-CL" sz="1800" dirty="0"/>
          </a:p>
        </p:txBody>
      </p:sp>
      <p:sp>
        <p:nvSpPr>
          <p:cNvPr id="48" name="Shape 41"/>
          <p:cNvSpPr/>
          <p:nvPr/>
        </p:nvSpPr>
        <p:spPr>
          <a:xfrm>
            <a:off x="9585107" y="4315968"/>
            <a:ext cx="1750568" cy="27432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9585107" y="4315968"/>
            <a:ext cx="175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CON EL CLIENTE</a:t>
            </a:r>
            <a:endParaRPr lang="es-CL" sz="1200" dirty="0"/>
          </a:p>
        </p:txBody>
      </p:sp>
      <p:sp>
        <p:nvSpPr>
          <p:cNvPr id="50" name="Shape 43"/>
          <p:cNvSpPr/>
          <p:nvPr/>
        </p:nvSpPr>
        <p:spPr>
          <a:xfrm>
            <a:off x="548640" y="4736592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548640" y="479145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REGLA · EL NEGOCIO MIDE Y RECOMIENDA; LA DECISIÓN DE INSTALAR ES DEL CLIENTE</a:t>
            </a:r>
            <a:endParaRPr lang="es-CL" sz="1300" dirty="0"/>
          </a:p>
        </p:txBody>
      </p:sp>
      <p:pic>
        <p:nvPicPr>
          <p:cNvPr id="52" name="Image 5" descr="/home/user/lumine/fase-3/generador/assets/brill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" y="4928616"/>
            <a:ext cx="2743200" cy="1280160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548640" y="5102352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5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8,4 h</a:t>
            </a:r>
            <a:endParaRPr lang="es-CL" sz="5600" dirty="0"/>
          </a:p>
        </p:txBody>
      </p:sp>
      <p:sp>
        <p:nvSpPr>
          <p:cNvPr id="54" name="Text 46"/>
          <p:cNvSpPr txBox="1"/>
          <p:nvPr/>
        </p:nvSpPr>
        <p:spPr>
          <a:xfrm>
            <a:off x="548640" y="58704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jornada estimada</a:t>
            </a:r>
            <a:endParaRPr lang="es-CL" sz="1500" dirty="0"/>
          </a:p>
        </p:txBody>
      </p:sp>
      <p:sp>
        <p:nvSpPr>
          <p:cNvPr id="55" name="Text 47"/>
          <p:cNvSpPr txBox="1"/>
          <p:nvPr/>
        </p:nvSpPr>
        <p:spPr>
          <a:xfrm>
            <a:off x="3200400" y="51572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CUATRO CONTROLES · SI FALLA, SE DETIENE</a:t>
            </a:r>
            <a:endParaRPr lang="es-CL" sz="1300" dirty="0"/>
          </a:p>
        </p:txBody>
      </p:sp>
      <p:sp>
        <p:nvSpPr>
          <p:cNvPr id="56" name="Shape 48"/>
          <p:cNvSpPr/>
          <p:nvPr/>
        </p:nvSpPr>
        <p:spPr>
          <a:xfrm>
            <a:off x="9267647" y="5120640"/>
            <a:ext cx="2375408" cy="292608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57" name="Text 49"/>
          <p:cNvSpPr txBox="1"/>
          <p:nvPr/>
        </p:nvSpPr>
        <p:spPr>
          <a:xfrm>
            <a:off x="9377375" y="5120640"/>
            <a:ext cx="2155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ESTIMACIÓN · TIEMPOS</a:t>
            </a:r>
            <a:endParaRPr lang="es-CL" sz="1200" dirty="0"/>
          </a:p>
        </p:txBody>
      </p:sp>
      <p:sp>
        <p:nvSpPr>
          <p:cNvPr id="58" name="Shape 50"/>
          <p:cNvSpPr/>
          <p:nvPr/>
        </p:nvSpPr>
        <p:spPr>
          <a:xfrm>
            <a:off x="3200400" y="5504688"/>
            <a:ext cx="1973504" cy="603504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9" name="Shape 51"/>
          <p:cNvSpPr/>
          <p:nvPr/>
        </p:nvSpPr>
        <p:spPr>
          <a:xfrm>
            <a:off x="3200400" y="5504688"/>
            <a:ext cx="54864" cy="60350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0" name="Text 52"/>
          <p:cNvSpPr txBox="1"/>
          <p:nvPr/>
        </p:nvSpPr>
        <p:spPr>
          <a:xfrm>
            <a:off x="3310128" y="5504688"/>
            <a:ext cx="182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¿Vehículo apto?</a:t>
            </a:r>
            <a:endParaRPr lang="es-CL" sz="1600" dirty="0"/>
          </a:p>
        </p:txBody>
      </p:sp>
      <p:sp>
        <p:nvSpPr>
          <p:cNvPr id="61" name="Shape 53"/>
          <p:cNvSpPr/>
          <p:nvPr/>
        </p:nvSpPr>
        <p:spPr>
          <a:xfrm>
            <a:off x="5192192" y="5806440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62" name="Shape 54"/>
          <p:cNvSpPr/>
          <p:nvPr/>
        </p:nvSpPr>
        <p:spPr>
          <a:xfrm>
            <a:off x="5356784" y="5504688"/>
            <a:ext cx="1973504" cy="603504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63" name="Shape 55"/>
          <p:cNvSpPr/>
          <p:nvPr/>
        </p:nvSpPr>
        <p:spPr>
          <a:xfrm>
            <a:off x="5356784" y="5504688"/>
            <a:ext cx="54864" cy="60350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4" name="Text 56"/>
          <p:cNvSpPr txBox="1"/>
          <p:nvPr/>
        </p:nvSpPr>
        <p:spPr>
          <a:xfrm>
            <a:off x="5466512" y="5504688"/>
            <a:ext cx="182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¿Masa y ejes?</a:t>
            </a:r>
            <a:endParaRPr lang="es-CL" sz="1600" dirty="0"/>
          </a:p>
        </p:txBody>
      </p:sp>
      <p:sp>
        <p:nvSpPr>
          <p:cNvPr id="65" name="Shape 57"/>
          <p:cNvSpPr/>
          <p:nvPr/>
        </p:nvSpPr>
        <p:spPr>
          <a:xfrm>
            <a:off x="7348576" y="5806440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66" name="Shape 58"/>
          <p:cNvSpPr/>
          <p:nvPr/>
        </p:nvSpPr>
        <p:spPr>
          <a:xfrm>
            <a:off x="7513168" y="5504688"/>
            <a:ext cx="1973504" cy="603504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67" name="Shape 59"/>
          <p:cNvSpPr/>
          <p:nvPr/>
        </p:nvSpPr>
        <p:spPr>
          <a:xfrm>
            <a:off x="7513168" y="5504688"/>
            <a:ext cx="54864" cy="60350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8" name="Text 60"/>
          <p:cNvSpPr txBox="1"/>
          <p:nvPr/>
        </p:nvSpPr>
        <p:spPr>
          <a:xfrm>
            <a:off x="7622896" y="5504688"/>
            <a:ext cx="182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¿Aislación?</a:t>
            </a:r>
            <a:endParaRPr lang="es-CL" sz="1600" dirty="0"/>
          </a:p>
        </p:txBody>
      </p:sp>
      <p:sp>
        <p:nvSpPr>
          <p:cNvPr id="69" name="Shape 61"/>
          <p:cNvSpPr/>
          <p:nvPr/>
        </p:nvSpPr>
        <p:spPr>
          <a:xfrm>
            <a:off x="9504959" y="5806440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70" name="Shape 62"/>
          <p:cNvSpPr/>
          <p:nvPr/>
        </p:nvSpPr>
        <p:spPr>
          <a:xfrm>
            <a:off x="9669551" y="5504688"/>
            <a:ext cx="1973504" cy="603504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1" name="Shape 63"/>
          <p:cNvSpPr/>
          <p:nvPr/>
        </p:nvSpPr>
        <p:spPr>
          <a:xfrm>
            <a:off x="9669551" y="5504688"/>
            <a:ext cx="54864" cy="60350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2" name="Text 64"/>
          <p:cNvSpPr txBox="1"/>
          <p:nvPr/>
        </p:nvSpPr>
        <p:spPr>
          <a:xfrm>
            <a:off x="9779279" y="5504688"/>
            <a:ext cx="182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¿Dinamómetro?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10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OPERACIONES · CRONOGRAMA Y GATILLOS DE CAPACIDAD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ESCALAR SIN ADELANTARSE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a la demanda.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Figura N° 5, §3.1.7 y §3.2.1). Mes 1 = enero de 2027 (supuesto).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4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Mes 1 = enero de 2027 (supuesto)</a:t>
            </a:r>
            <a:endParaRPr lang="es-CL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239572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2026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892040" y="239572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1 · 2027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4892040" y="2724912"/>
            <a:ext cx="0" cy="2505456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86600" y="2395728"/>
            <a:ext cx="11391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2</a:t>
            </a:r>
            <a:endParaRPr lang="es-CL" sz="1600" dirty="0"/>
          </a:p>
        </p:txBody>
      </p:sp>
      <p:sp>
        <p:nvSpPr>
          <p:cNvPr id="10" name="Shape 8"/>
          <p:cNvSpPr/>
          <p:nvPr/>
        </p:nvSpPr>
        <p:spPr>
          <a:xfrm>
            <a:off x="7086600" y="2724912"/>
            <a:ext cx="0" cy="250545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5714" y="2395728"/>
            <a:ext cx="11391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3</a:t>
            </a:r>
            <a:endParaRPr lang="es-CL" sz="1600" dirty="0"/>
          </a:p>
        </p:txBody>
      </p:sp>
      <p:sp>
        <p:nvSpPr>
          <p:cNvPr id="12" name="Shape 10"/>
          <p:cNvSpPr/>
          <p:nvPr/>
        </p:nvSpPr>
        <p:spPr>
          <a:xfrm>
            <a:off x="8225714" y="2724912"/>
            <a:ext cx="0" cy="250545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64828" y="2395728"/>
            <a:ext cx="11391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4</a:t>
            </a:r>
            <a:endParaRPr lang="es-CL" sz="1600" dirty="0"/>
          </a:p>
        </p:txBody>
      </p:sp>
      <p:sp>
        <p:nvSpPr>
          <p:cNvPr id="14" name="Shape 12"/>
          <p:cNvSpPr/>
          <p:nvPr/>
        </p:nvSpPr>
        <p:spPr>
          <a:xfrm>
            <a:off x="9364828" y="2724912"/>
            <a:ext cx="0" cy="250545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03941" y="2395728"/>
            <a:ext cx="11391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5</a:t>
            </a:r>
            <a:endParaRPr lang="es-CL" sz="1600" dirty="0"/>
          </a:p>
        </p:txBody>
      </p:sp>
      <p:sp>
        <p:nvSpPr>
          <p:cNvPr id="16" name="Shape 14"/>
          <p:cNvSpPr/>
          <p:nvPr/>
        </p:nvSpPr>
        <p:spPr>
          <a:xfrm>
            <a:off x="10503941" y="2724912"/>
            <a:ext cx="0" cy="250545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" y="3611880"/>
            <a:ext cx="11240719" cy="338328"/>
          </a:xfrm>
          <a:prstGeom prst="rect">
            <a:avLst/>
          </a:prstGeom>
          <a:solidFill>
            <a:srgbClr val="0B1A22"/>
          </a:solidFill>
          <a:ln w="12700">
            <a:solidFill>
              <a:schemeClr val="tx1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548640" y="2798064"/>
            <a:ext cx="2834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Preparación y permisos</a:t>
            </a:r>
            <a:endParaRPr lang="es-CL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319125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191256"/>
            <a:ext cx="2834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Homologación y primer dúo</a:t>
            </a:r>
            <a:endParaRPr lang="es-CL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584448"/>
            <a:ext cx="2834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Reglamento Ley N° 21.793</a:t>
            </a:r>
            <a:endParaRPr lang="es-CL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977640"/>
            <a:ext cx="2834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Formación y dúos del taller 1</a:t>
            </a:r>
            <a:endParaRPr lang="es-CL" sz="1700" dirty="0"/>
          </a:p>
        </p:txBody>
      </p:sp>
      <p:sp>
        <p:nvSpPr>
          <p:cNvPr id="23" name="Shape 21"/>
          <p:cNvSpPr/>
          <p:nvPr/>
        </p:nvSpPr>
        <p:spPr>
          <a:xfrm>
            <a:off x="548640" y="4370832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4370832"/>
            <a:ext cx="2834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Apertura de talleres propios</a:t>
            </a:r>
            <a:endParaRPr lang="es-CL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4764024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4764024"/>
            <a:ext cx="2834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Red de talleres</a:t>
            </a:r>
            <a:endParaRPr lang="es-CL" sz="1700" dirty="0"/>
          </a:p>
        </p:txBody>
      </p:sp>
      <p:sp>
        <p:nvSpPr>
          <p:cNvPr id="27" name="Shape 25"/>
          <p:cNvSpPr/>
          <p:nvPr/>
        </p:nvSpPr>
        <p:spPr>
          <a:xfrm>
            <a:off x="3566160" y="2889504"/>
            <a:ext cx="1325880" cy="21031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Shape 26"/>
          <p:cNvSpPr/>
          <p:nvPr/>
        </p:nvSpPr>
        <p:spPr>
          <a:xfrm>
            <a:off x="3897630" y="3282696"/>
            <a:ext cx="994410" cy="21031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9" name="Shape 27"/>
          <p:cNvSpPr/>
          <p:nvPr/>
        </p:nvSpPr>
        <p:spPr>
          <a:xfrm>
            <a:off x="4055364" y="3607308"/>
            <a:ext cx="347472" cy="347472"/>
          </a:xfrm>
          <a:prstGeom prst="star5">
            <a:avLst/>
          </a:prstGeom>
          <a:solidFill>
            <a:schemeClr val="tx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03420" y="3584448"/>
            <a:ext cx="70481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CONDICIÓN EXTERNA PENDIENTE · vigente antes de vender</a:t>
            </a:r>
            <a:endParaRPr lang="es-CL" sz="1700" dirty="0"/>
          </a:p>
        </p:txBody>
      </p:sp>
      <p:sp>
        <p:nvSpPr>
          <p:cNvPr id="31" name="Shape 29"/>
          <p:cNvSpPr/>
          <p:nvPr/>
        </p:nvSpPr>
        <p:spPr>
          <a:xfrm>
            <a:off x="5440680" y="4069080"/>
            <a:ext cx="365760" cy="210312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32" name="Shape 30"/>
          <p:cNvSpPr/>
          <p:nvPr/>
        </p:nvSpPr>
        <p:spPr>
          <a:xfrm>
            <a:off x="6537960" y="4069080"/>
            <a:ext cx="365760" cy="210312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4069080"/>
            <a:ext cx="277806" cy="210312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34" name="Shape 32"/>
          <p:cNvSpPr/>
          <p:nvPr/>
        </p:nvSpPr>
        <p:spPr>
          <a:xfrm>
            <a:off x="7371378" y="4069080"/>
            <a:ext cx="189852" cy="210312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35" name="Shape 33"/>
          <p:cNvSpPr/>
          <p:nvPr/>
        </p:nvSpPr>
        <p:spPr>
          <a:xfrm>
            <a:off x="7561231" y="4069080"/>
            <a:ext cx="189852" cy="210312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36" name="Shape 34"/>
          <p:cNvSpPr/>
          <p:nvPr/>
        </p:nvSpPr>
        <p:spPr>
          <a:xfrm>
            <a:off x="4764024" y="4046220"/>
            <a:ext cx="256032" cy="256032"/>
          </a:xfrm>
          <a:prstGeom prst="diamond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78424" y="4046220"/>
            <a:ext cx="256032" cy="256032"/>
          </a:xfrm>
          <a:prstGeom prst="diamond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75704" y="4046220"/>
            <a:ext cx="256032" cy="256032"/>
          </a:xfrm>
          <a:prstGeom prst="diamond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53510" y="4046220"/>
            <a:ext cx="256032" cy="256032"/>
          </a:xfrm>
          <a:prstGeom prst="diamond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33215" y="4046220"/>
            <a:ext cx="256032" cy="256032"/>
          </a:xfrm>
          <a:prstGeom prst="diamond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623067" y="4046220"/>
            <a:ext cx="256032" cy="256032"/>
          </a:xfrm>
          <a:prstGeom prst="diamond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979683" y="3977640"/>
            <a:ext cx="31089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dúos 1 a 6 · meses 1 a 20</a:t>
            </a:r>
            <a:endParaRPr lang="es-CL" sz="1700" dirty="0"/>
          </a:p>
        </p:txBody>
      </p:sp>
      <p:sp>
        <p:nvSpPr>
          <p:cNvPr id="43" name="Shape 41"/>
          <p:cNvSpPr/>
          <p:nvPr/>
        </p:nvSpPr>
        <p:spPr>
          <a:xfrm>
            <a:off x="7940935" y="4462272"/>
            <a:ext cx="284778" cy="210312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44" name="Shape 42"/>
          <p:cNvSpPr/>
          <p:nvPr/>
        </p:nvSpPr>
        <p:spPr>
          <a:xfrm>
            <a:off x="10219163" y="4462272"/>
            <a:ext cx="284778" cy="210312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45" name="Shape 43"/>
          <p:cNvSpPr/>
          <p:nvPr/>
        </p:nvSpPr>
        <p:spPr>
          <a:xfrm>
            <a:off x="4764024" y="4439412"/>
            <a:ext cx="256032" cy="256032"/>
          </a:xfrm>
          <a:prstGeom prst="diamond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074920" y="4370832"/>
            <a:ext cx="1188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 1</a:t>
            </a:r>
            <a:endParaRPr lang="es-CL" sz="1700" dirty="0"/>
          </a:p>
        </p:txBody>
      </p:sp>
      <p:sp>
        <p:nvSpPr>
          <p:cNvPr id="47" name="Shape 45"/>
          <p:cNvSpPr/>
          <p:nvPr/>
        </p:nvSpPr>
        <p:spPr>
          <a:xfrm>
            <a:off x="8097698" y="4439412"/>
            <a:ext cx="256032" cy="256032"/>
          </a:xfrm>
          <a:prstGeom prst="diamond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408594" y="4370832"/>
            <a:ext cx="1188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 2</a:t>
            </a:r>
            <a:endParaRPr lang="es-CL" sz="1700" dirty="0"/>
          </a:p>
        </p:txBody>
      </p:sp>
      <p:sp>
        <p:nvSpPr>
          <p:cNvPr id="49" name="Shape 47"/>
          <p:cNvSpPr/>
          <p:nvPr/>
        </p:nvSpPr>
        <p:spPr>
          <a:xfrm>
            <a:off x="10375925" y="4439412"/>
            <a:ext cx="256032" cy="256032"/>
          </a:xfrm>
          <a:prstGeom prst="diamond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0686821" y="4370832"/>
            <a:ext cx="1188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 3</a:t>
            </a:r>
            <a:endParaRPr lang="es-CL" sz="1700" dirty="0"/>
          </a:p>
        </p:txBody>
      </p:sp>
      <p:sp>
        <p:nvSpPr>
          <p:cNvPr id="51" name="Shape 49"/>
          <p:cNvSpPr/>
          <p:nvPr/>
        </p:nvSpPr>
        <p:spPr>
          <a:xfrm>
            <a:off x="7086600" y="4855464"/>
            <a:ext cx="4556455" cy="21031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539914" y="4764024"/>
            <a:ext cx="5669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2400" dirty="0"/>
          </a:p>
        </p:txBody>
      </p:sp>
      <p:sp>
        <p:nvSpPr>
          <p:cNvPr id="53" name="Text 51"/>
          <p:cNvSpPr txBox="1"/>
          <p:nvPr/>
        </p:nvSpPr>
        <p:spPr>
          <a:xfrm>
            <a:off x="8679028" y="4764024"/>
            <a:ext cx="5669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</a:t>
            </a:r>
            <a:endParaRPr lang="es-CL" sz="2400" dirty="0"/>
          </a:p>
        </p:txBody>
      </p:sp>
      <p:sp>
        <p:nvSpPr>
          <p:cNvPr id="54" name="Text 52"/>
          <p:cNvSpPr txBox="1"/>
          <p:nvPr/>
        </p:nvSpPr>
        <p:spPr>
          <a:xfrm>
            <a:off x="9818141" y="4764024"/>
            <a:ext cx="5669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20</a:t>
            </a:r>
            <a:endParaRPr lang="es-CL" sz="2400" dirty="0"/>
          </a:p>
        </p:txBody>
      </p:sp>
      <p:sp>
        <p:nvSpPr>
          <p:cNvPr id="55" name="Text 53"/>
          <p:cNvSpPr txBox="1"/>
          <p:nvPr/>
        </p:nvSpPr>
        <p:spPr>
          <a:xfrm>
            <a:off x="10957255" y="4764024"/>
            <a:ext cx="5669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42</a:t>
            </a:r>
            <a:endParaRPr lang="es-CL" sz="2400" dirty="0"/>
          </a:p>
        </p:txBody>
      </p:sp>
      <p:sp>
        <p:nvSpPr>
          <p:cNvPr id="56" name="Shape 54"/>
          <p:cNvSpPr/>
          <p:nvPr/>
        </p:nvSpPr>
        <p:spPr>
          <a:xfrm>
            <a:off x="548640" y="515721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285232"/>
            <a:ext cx="219456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859536" y="5212080"/>
            <a:ext cx="9555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Actividad</a:t>
            </a:r>
            <a:endParaRPr lang="es-CL" sz="1600" dirty="0"/>
          </a:p>
        </p:txBody>
      </p:sp>
      <p:sp>
        <p:nvSpPr>
          <p:cNvPr id="59" name="Shape 57"/>
          <p:cNvSpPr/>
          <p:nvPr/>
        </p:nvSpPr>
        <p:spPr>
          <a:xfrm>
            <a:off x="2107692" y="5285232"/>
            <a:ext cx="219456" cy="219456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2418588" y="52120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Formación de dúo</a:t>
            </a:r>
            <a:endParaRPr lang="es-CL" sz="1600" dirty="0"/>
          </a:p>
        </p:txBody>
      </p:sp>
      <p:sp>
        <p:nvSpPr>
          <p:cNvPr id="61" name="Shape 59"/>
          <p:cNvSpPr/>
          <p:nvPr/>
        </p:nvSpPr>
        <p:spPr>
          <a:xfrm>
            <a:off x="4338828" y="5285232"/>
            <a:ext cx="219456" cy="219456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49724" y="5212080"/>
            <a:ext cx="11475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Preapertura</a:t>
            </a:r>
            <a:endParaRPr lang="es-CL" sz="1600" dirty="0"/>
          </a:p>
        </p:txBody>
      </p:sp>
      <p:sp>
        <p:nvSpPr>
          <p:cNvPr id="63" name="Shape 61"/>
          <p:cNvSpPr/>
          <p:nvPr/>
        </p:nvSpPr>
        <p:spPr>
          <a:xfrm>
            <a:off x="6089904" y="5285232"/>
            <a:ext cx="219456" cy="219456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400800" y="52120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Apertura o dúo nuevo</a:t>
            </a:r>
            <a:endParaRPr lang="es-CL" sz="1600" dirty="0"/>
          </a:p>
        </p:txBody>
      </p:sp>
      <p:sp>
        <p:nvSpPr>
          <p:cNvPr id="65" name="Shape 63"/>
          <p:cNvSpPr/>
          <p:nvPr/>
        </p:nvSpPr>
        <p:spPr>
          <a:xfrm>
            <a:off x="8705088" y="5285232"/>
            <a:ext cx="219456" cy="219456"/>
          </a:xfrm>
          <a:prstGeom prst="star5">
            <a:avLst/>
          </a:prstGeom>
          <a:solidFill>
            <a:schemeClr val="tx1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9015984" y="5212080"/>
            <a:ext cx="17236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Condición externa</a:t>
            </a:r>
            <a:endParaRPr lang="es-CL" sz="1600" dirty="0"/>
          </a:p>
        </p:txBody>
      </p:sp>
      <p:sp>
        <p:nvSpPr>
          <p:cNvPr id="67" name="Shape 65"/>
          <p:cNvSpPr/>
          <p:nvPr/>
        </p:nvSpPr>
        <p:spPr>
          <a:xfrm>
            <a:off x="548640" y="5632704"/>
            <a:ext cx="11094415" cy="603504"/>
          </a:xfrm>
          <a:prstGeom prst="rect">
            <a:avLst/>
          </a:prstGeom>
          <a:solidFill>
            <a:srgbClr val="0B1A2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93776" y="557784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93776" y="557784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1542471" y="557784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1697919" y="557784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93776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93776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1542471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1697919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777240" y="5632704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GATILLO</a:t>
            </a:r>
            <a:endParaRPr lang="es-CL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1965960" y="5632704"/>
            <a:ext cx="94484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Demanda sobre el 80% de la capacidad dos meses seguidos: </a:t>
            </a:r>
            <a:pPr indent="0" marL="0">
              <a:buNone/>
            </a:pPr>
            <a:r>
              <a:rPr lang="es-CL" altLang="en-US" sz="17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entra un dúo. Con seis dúos, abre el siguiente taller.</a:t>
            </a:r>
            <a:endParaRPr lang="es-CL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OPERACIONES · INVERSIÓN, RESULTADO Y RIESGO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LOS NÚMEROS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del crecimiento.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Dynojet Research (2016); Importadora JAK (2026); elaboración propia (Informe Fase 3, Tablas N° 18 a 21). Dólar base $965,71.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RESULTADO REFERENCIAL POR LÍNEA · MILLONES DE $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798064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724912"/>
            <a:ext cx="197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Talleres propios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3040888" y="2798064"/>
            <a:ext cx="201168" cy="201168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33496" y="2724912"/>
            <a:ext cx="185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Red de talleres</a:t>
            </a:r>
            <a:endParaRPr lang="es-CL" sz="1600" dirty="0"/>
          </a:p>
        </p:txBody>
      </p:sp>
      <p:graphicFrame>
        <p:nvGraphicFramePr>
          <p:cNvPr id="10" name="Resultado referencial por línea de negocio" descr=""/>
          <p:cNvGraphicFramePr/>
          <p:nvPr/>
        </p:nvGraphicFramePr>
        <p:xfrm>
          <a:off x="457200" y="3090672"/>
          <a:ext cx="6217920" cy="270662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888736"/>
            <a:ext cx="5395468" cy="310896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12" name="Text 9"/>
          <p:cNvSpPr txBox="1"/>
          <p:nvPr/>
        </p:nvSpPr>
        <p:spPr>
          <a:xfrm>
            <a:off x="658368" y="5888736"/>
            <a:ext cx="51760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PROYECCIÓN REFERENCIAL · 60% PLUS · SIN IMPUESTOS</a:t>
            </a:r>
            <a:endParaRPr lang="es-CL" sz="1200" dirty="0"/>
          </a:p>
        </p:txBody>
      </p:sp>
      <p:sp>
        <p:nvSpPr>
          <p:cNvPr id="13" name="Shape 10"/>
          <p:cNvSpPr/>
          <p:nvPr/>
        </p:nvSpPr>
        <p:spPr>
          <a:xfrm>
            <a:off x="7086600" y="2395728"/>
            <a:ext cx="21410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86600" y="2468880"/>
            <a:ext cx="21410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INVERSIÓN POR LOCAL</a:t>
            </a:r>
            <a:endParaRPr lang="es-CL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086600" y="2724912"/>
            <a:ext cx="21410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$81 M</a:t>
            </a:r>
            <a:endParaRPr lang="es-CL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7086600" y="3273552"/>
            <a:ext cx="21410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casi la mitad, el dinamómetro</a:t>
            </a:r>
            <a:endParaRPr lang="es-CL" sz="1500" dirty="0"/>
          </a:p>
        </p:txBody>
      </p:sp>
      <p:sp>
        <p:nvSpPr>
          <p:cNvPr id="17" name="Shape 14"/>
          <p:cNvSpPr/>
          <p:nvPr/>
        </p:nvSpPr>
        <p:spPr>
          <a:xfrm>
            <a:off x="9501988" y="2395728"/>
            <a:ext cx="21410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501988" y="2468880"/>
            <a:ext cx="21410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GASTO OPERACIONAL</a:t>
            </a:r>
            <a:endParaRPr lang="es-CL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501988" y="2724912"/>
            <a:ext cx="21410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$9.606 M</a:t>
            </a:r>
            <a:endParaRPr lang="es-CL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9501988" y="3273552"/>
            <a:ext cx="21410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al año 5; el kit es más del 90%</a:t>
            </a:r>
            <a:endParaRPr lang="es-CL" sz="1500" dirty="0"/>
          </a:p>
        </p:txBody>
      </p:sp>
      <p:sp>
        <p:nvSpPr>
          <p:cNvPr id="21" name="Shape 18"/>
          <p:cNvSpPr/>
          <p:nvPr/>
        </p:nvSpPr>
        <p:spPr>
          <a:xfrm>
            <a:off x="7086600" y="3877056"/>
            <a:ext cx="4556455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086600" y="3950208"/>
            <a:ext cx="4556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MARGEN PROPIO AL AÑO 5 · DÓLAR</a:t>
            </a:r>
            <a:endParaRPr lang="es-CL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427939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Dólar −10%</a:t>
            </a:r>
            <a:endParaRPr lang="es-CL" sz="1700" dirty="0"/>
          </a:p>
        </p:txBody>
      </p:sp>
      <p:sp>
        <p:nvSpPr>
          <p:cNvPr id="24" name="Shape 21"/>
          <p:cNvSpPr/>
          <p:nvPr/>
        </p:nvSpPr>
        <p:spPr>
          <a:xfrm>
            <a:off x="8412480" y="4434840"/>
            <a:ext cx="1143000" cy="256032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9628632" y="427939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1.647</a:t>
            </a:r>
            <a:endParaRPr lang="es-CL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10317175" y="427939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14,6%</a:t>
            </a:r>
            <a:endParaRPr lang="es-CL" sz="3000" dirty="0"/>
          </a:p>
        </p:txBody>
      </p:sp>
      <p:sp>
        <p:nvSpPr>
          <p:cNvPr id="27" name="Text 24"/>
          <p:cNvSpPr txBox="1"/>
          <p:nvPr/>
        </p:nvSpPr>
        <p:spPr>
          <a:xfrm>
            <a:off x="7086600" y="484632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Base</a:t>
            </a:r>
            <a:endParaRPr lang="es-CL" sz="1700" dirty="0"/>
          </a:p>
        </p:txBody>
      </p:sp>
      <p:sp>
        <p:nvSpPr>
          <p:cNvPr id="28" name="Shape 25"/>
          <p:cNvSpPr/>
          <p:nvPr/>
        </p:nvSpPr>
        <p:spPr>
          <a:xfrm>
            <a:off x="8412480" y="5001768"/>
            <a:ext cx="603738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089370" y="484632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870</a:t>
            </a:r>
            <a:endParaRPr lang="es-CL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10317175" y="484632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7,7%</a:t>
            </a:r>
            <a:endParaRPr lang="es-CL" sz="3400" dirty="0"/>
          </a:p>
        </p:txBody>
      </p:sp>
      <p:sp>
        <p:nvSpPr>
          <p:cNvPr id="31" name="Text 28"/>
          <p:cNvSpPr txBox="1"/>
          <p:nvPr/>
        </p:nvSpPr>
        <p:spPr>
          <a:xfrm>
            <a:off x="7086600" y="541324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Dólar +10%</a:t>
            </a:r>
            <a:endParaRPr lang="es-CL" sz="1700" dirty="0"/>
          </a:p>
        </p:txBody>
      </p:sp>
      <p:sp>
        <p:nvSpPr>
          <p:cNvPr id="32" name="Shape 29"/>
          <p:cNvSpPr/>
          <p:nvPr/>
        </p:nvSpPr>
        <p:spPr>
          <a:xfrm>
            <a:off x="8412480" y="5568696"/>
            <a:ext cx="64475" cy="256032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550107" y="541324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93</a:t>
            </a:r>
            <a:endParaRPr lang="es-CL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10317175" y="541324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0,8%</a:t>
            </a:r>
            <a:endParaRPr lang="es-CL" sz="4400" dirty="0"/>
          </a:p>
        </p:txBody>
      </p:sp>
      <p:sp>
        <p:nvSpPr>
          <p:cNvPr id="35" name="Text 32"/>
          <p:cNvSpPr txBox="1"/>
          <p:nvPr/>
        </p:nvSpPr>
        <p:spPr>
          <a:xfrm>
            <a:off x="7086600" y="6016752"/>
            <a:ext cx="45564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Red: cerca de 10%. </a:t>
            </a:r>
            <a:pPr indent="0" marL="0">
              <a:buNone/>
            </a:pPr>
            <a:r>
              <a:rPr lang="es-CL" alt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82% del kit se paga en dólares.</a:t>
            </a:r>
            <a:endParaRPr lang="es-CL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12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CONCLUSIONES DEL CAPÍTULO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TRES PLANES, UN GATILLO;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dos preguntas abiertas.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con base en Informe Fase 3 (§3.4 y Figura N° 6).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3515258" cy="2359152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596896"/>
            <a:ext cx="548640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59689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01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596896"/>
            <a:ext cx="24636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OPORTUNIDAD</a:t>
            </a:r>
            <a:endParaRPr lang="es-CL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35808"/>
            <a:ext cx="305805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367 &gt; 299</a:t>
            </a:r>
            <a:endParaRPr lang="es-CL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822192"/>
            <a:ext cx="310377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demanda atendible supera la capacidad desde el año 1.</a:t>
            </a:r>
            <a:endParaRPr lang="es-CL" sz="1800" dirty="0"/>
          </a:p>
        </p:txBody>
      </p:sp>
      <p:sp>
        <p:nvSpPr>
          <p:cNvPr id="11" name="Shape 9"/>
          <p:cNvSpPr/>
          <p:nvPr/>
        </p:nvSpPr>
        <p:spPr>
          <a:xfrm>
            <a:off x="4338218" y="2395728"/>
            <a:ext cx="3515258" cy="2359152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66818" y="2596896"/>
            <a:ext cx="548640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66818" y="259689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02</a:t>
            </a:r>
            <a:endParaRPr lang="es-CL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252618" y="2596896"/>
            <a:ext cx="24636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VENTAJA</a:t>
            </a:r>
            <a:endParaRPr lang="es-CL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66818" y="3035808"/>
            <a:ext cx="305805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Biblioteca</a:t>
            </a:r>
            <a:endParaRPr lang="es-CL" sz="4800" dirty="0"/>
          </a:p>
        </p:txBody>
      </p:sp>
      <p:sp>
        <p:nvSpPr>
          <p:cNvPr id="16" name="Text 14"/>
          <p:cNvSpPr txBox="1"/>
          <p:nvPr/>
        </p:nvSpPr>
        <p:spPr>
          <a:xfrm>
            <a:off x="4566818" y="3822192"/>
            <a:ext cx="310377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 calibraciones: crece con cada instalación y es difícil de copiar.</a:t>
            </a:r>
            <a:endParaRPr lang="es-CL" sz="1800" dirty="0"/>
          </a:p>
        </p:txBody>
      </p:sp>
      <p:pic>
        <p:nvPicPr>
          <p:cNvPr id="17" name="Image 0" descr="/home/user/lumine/fase-3/generador/assets/bril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157" y="2011680"/>
            <a:ext cx="4612538" cy="3127248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127797" y="2395728"/>
            <a:ext cx="3515258" cy="2359152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72933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72933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072933" y="48097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072933" y="46542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1542471" y="48097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1697919" y="46542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356397" y="2596896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356397" y="259689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03</a:t>
            </a:r>
            <a:endParaRPr lang="es-CL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9042197" y="2596896"/>
            <a:ext cx="24636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CRECIMIENTO</a:t>
            </a:r>
            <a:endParaRPr lang="es-CL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8356397" y="3035808"/>
            <a:ext cx="305805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5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80%</a:t>
            </a:r>
            <a:endParaRPr lang="es-CL" sz="5600" dirty="0"/>
          </a:p>
        </p:txBody>
      </p:sp>
      <p:sp>
        <p:nvSpPr>
          <p:cNvPr id="31" name="Text 28"/>
          <p:cNvSpPr txBox="1"/>
          <p:nvPr/>
        </p:nvSpPr>
        <p:spPr>
          <a:xfrm>
            <a:off x="8356397" y="3822192"/>
            <a:ext cx="310377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 la capacidad: el gatillo que suma dúos, personas y talleres.</a:t>
            </a:r>
            <a:endParaRPr lang="es-CL" sz="1800" dirty="0"/>
          </a:p>
        </p:txBody>
      </p:sp>
      <p:sp>
        <p:nvSpPr>
          <p:cNvPr id="32" name="Shape 29"/>
          <p:cNvSpPr/>
          <p:nvPr/>
        </p:nvSpPr>
        <p:spPr>
          <a:xfrm>
            <a:off x="548640" y="4864608"/>
            <a:ext cx="11094415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9743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DOS PREGUNTAS PENDIENTES</a:t>
            </a:r>
            <a:endParaRPr lang="es-CL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5285232"/>
            <a:ext cx="5364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REGULACIÓN</a:t>
            </a:r>
            <a:endParaRPr lang="es-CL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541264"/>
            <a:ext cx="53643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i="1" dirty="0">
                <a:solidFill>
                  <a:schemeClr val="tx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¿El reglamento admitirá el kit, y desde cuándo?</a:t>
            </a:r>
            <a:endParaRPr lang="es-CL" sz="2400" dirty="0"/>
          </a:p>
        </p:txBody>
      </p:sp>
      <p:sp>
        <p:nvSpPr>
          <p:cNvPr id="36" name="Text 33"/>
          <p:cNvSpPr txBox="1"/>
          <p:nvPr/>
        </p:nvSpPr>
        <p:spPr>
          <a:xfrm>
            <a:off x="6278728" y="5285232"/>
            <a:ext cx="5364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VALIDACIÓN COMERCIAL</a:t>
            </a:r>
            <a:endParaRPr lang="es-CL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6278728" y="5541264"/>
            <a:ext cx="53643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i="1" dirty="0">
                <a:solidFill>
                  <a:schemeClr val="tx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¿El ahorro medido confirma los precios?</a:t>
            </a:r>
            <a:endParaRPr lang="es-CL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60120"/>
            <a:ext cx="11094415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50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TRES PLANES.</a:t>
            </a:r>
            <a:endParaRPr lang="es-CL" sz="5000" dirty="0"/>
          </a:p>
          <a:p>
            <a:pPr indent="0" marL="0">
              <a:lnSpc>
                <a:spcPct val="95000"/>
              </a:lnSpc>
              <a:buNone/>
            </a:pPr>
            <a:r>
              <a:rPr lang="es-CL" altLang="en-US" sz="5000" dirty="0">
                <a:solidFill>
                  <a:schemeClr val="accent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UN MISMO GATILLO.</a:t>
            </a:r>
            <a:endParaRPr lang="es-CL" sz="5000" dirty="0"/>
          </a:p>
        </p:txBody>
      </p:sp>
      <p:sp>
        <p:nvSpPr>
          <p:cNvPr id="3" name="Shape 1"/>
          <p:cNvSpPr/>
          <p:nvPr/>
        </p:nvSpPr>
        <p:spPr>
          <a:xfrm>
            <a:off x="548640" y="2670048"/>
            <a:ext cx="822960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779776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GRACIAS  ·  ¿PREGUNTAS?</a:t>
            </a:r>
            <a:endParaRPr lang="es-CL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6473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ILUSTRACIÓN DEL KIT</a:t>
            </a:r>
            <a:endParaRPr lang="es-CL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MATERIAL DE APOYO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ANEXO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para preguntas.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Las fuentes de cada tema están al pie de su diapositiva.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se presenta: se hace clic en el tema y se salta directo.</a:t>
            </a:r>
            <a:endParaRPr lang="es-CL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8529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5351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5351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</a:t>
            </a:r>
            <a:endParaRPr lang="es-CL" sz="1600" dirty="0"/>
          </a:p>
        </p:txBody>
      </p:sp>
      <p:sp>
        <p:nvSpPr>
          <p:cNvPr id="9" name="Text 7">
            <a:hlinkClick r:id="rId2" tooltip="Ir a Hipótesis de la investigación" action="ppaction://hlinksldjump"/>
          </p:cNvPr>
          <p:cNvSpPr txBox="1"/>
          <p:nvPr/>
        </p:nvSpPr>
        <p:spPr>
          <a:xfrm>
            <a:off x="1243584" y="285292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2" action="ppaction://hlinksldjump" tooltip="Ir a Hipótesis de la investig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Hipótesis de la investigación</a:t>
            </a:r>
            <a:endParaRPr lang="en-US" sz="2000" dirty="0"/>
          </a:p>
        </p:txBody>
      </p:sp>
      <p:sp>
        <p:nvSpPr>
          <p:cNvPr id="10" name="Text 8">
            <a:hlinkClick r:id="rId3" tooltip="Ir a Hipótesis de la investigación" action="ppaction://hlinksldjump"/>
          </p:cNvPr>
          <p:cNvSpPr txBox="1"/>
          <p:nvPr/>
        </p:nvSpPr>
        <p:spPr>
          <a:xfrm>
            <a:off x="5021428" y="2852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3" action="ppaction://hlinksldjump" tooltip="Ir a Hipótesis de la investig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16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40156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50215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50215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A2</a:t>
            </a:r>
            <a:endParaRPr lang="es-CL" sz="1600" dirty="0"/>
          </a:p>
        </p:txBody>
      </p:sp>
      <p:sp>
        <p:nvSpPr>
          <p:cNvPr id="14" name="Text 12">
            <a:hlinkClick r:id="rId4" tooltip="Ir a Dudas del cliente y respaldo" action="ppaction://hlinksldjump"/>
          </p:cNvPr>
          <p:cNvSpPr txBox="1"/>
          <p:nvPr/>
        </p:nvSpPr>
        <p:spPr>
          <a:xfrm>
            <a:off x="1243584" y="340156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4" action="ppaction://hlinksldjump" tooltip="Ir a Dudas del cliente y respal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Dudas del cliente y respaldo</a:t>
            </a:r>
            <a:endParaRPr lang="en-US" sz="2000" dirty="0"/>
          </a:p>
        </p:txBody>
      </p:sp>
      <p:sp>
        <p:nvSpPr>
          <p:cNvPr id="15" name="Text 13">
            <a:hlinkClick r:id="rId5" tooltip="Ir a Dudas del cliente y respaldo" action="ppaction://hlinksldjump"/>
          </p:cNvPr>
          <p:cNvSpPr txBox="1"/>
          <p:nvPr/>
        </p:nvSpPr>
        <p:spPr>
          <a:xfrm>
            <a:off x="5021428" y="340156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5" action="ppaction://hlinksldjump" tooltip="Ir a Dudas del cliente y respal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17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95020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05079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05079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A3</a:t>
            </a:r>
            <a:endParaRPr lang="es-CL" sz="1600" dirty="0"/>
          </a:p>
        </p:txBody>
      </p:sp>
      <p:sp>
        <p:nvSpPr>
          <p:cNvPr id="19" name="Text 17">
            <a:hlinkClick r:id="rId6" tooltip="Ir a Mezcla de marketing" action="ppaction://hlinksldjump"/>
          </p:cNvPr>
          <p:cNvSpPr txBox="1"/>
          <p:nvPr/>
        </p:nvSpPr>
        <p:spPr>
          <a:xfrm>
            <a:off x="1243584" y="395020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6" action="ppaction://hlinksldjump" tooltip="Ir a Mezcla de marke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Mezcla de marketing</a:t>
            </a:r>
            <a:endParaRPr lang="en-US" sz="2000" dirty="0"/>
          </a:p>
        </p:txBody>
      </p:sp>
      <p:sp>
        <p:nvSpPr>
          <p:cNvPr id="20" name="Text 18">
            <a:hlinkClick r:id="rId7" tooltip="Ir a Mezcla de marketing" action="ppaction://hlinksldjump"/>
          </p:cNvPr>
          <p:cNvSpPr txBox="1"/>
          <p:nvPr/>
        </p:nvSpPr>
        <p:spPr>
          <a:xfrm>
            <a:off x="5021428" y="395020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7" action="ppaction://hlinksldjump" tooltip="Ir a Mezcla de marke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18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49884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59943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5994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A4</a:t>
            </a:r>
            <a:endParaRPr lang="es-CL" sz="1600" dirty="0"/>
          </a:p>
        </p:txBody>
      </p:sp>
      <p:sp>
        <p:nvSpPr>
          <p:cNvPr id="24" name="Text 22">
            <a:hlinkClick r:id="rId8" tooltip="Ir a Cobros a la red de talleres" action="ppaction://hlinksldjump"/>
          </p:cNvPr>
          <p:cNvSpPr txBox="1"/>
          <p:nvPr/>
        </p:nvSpPr>
        <p:spPr>
          <a:xfrm>
            <a:off x="1243584" y="449884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8" action="ppaction://hlinksldjump" tooltip="Ir a Cobros a la red de taller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Cobros a la red de talleres</a:t>
            </a:r>
            <a:endParaRPr lang="en-US" sz="2000" dirty="0"/>
          </a:p>
        </p:txBody>
      </p:sp>
      <p:sp>
        <p:nvSpPr>
          <p:cNvPr id="25" name="Text 23">
            <a:hlinkClick r:id="rId9" tooltip="Ir a Cobros a la red de talleres" action="ppaction://hlinksldjump"/>
          </p:cNvPr>
          <p:cNvSpPr txBox="1"/>
          <p:nvPr/>
        </p:nvSpPr>
        <p:spPr>
          <a:xfrm>
            <a:off x="5021428" y="44988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9" action="ppaction://hlinksldjump" tooltip="Ir a Cobros a la red de taller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19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504748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514807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514807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A5</a:t>
            </a:r>
            <a:endParaRPr lang="es-CL" sz="1600" dirty="0"/>
          </a:p>
        </p:txBody>
      </p:sp>
      <p:sp>
        <p:nvSpPr>
          <p:cNvPr id="29" name="Text 27">
            <a:hlinkClick r:id="rId10" tooltip="Ir a Tamaño del mercado y adopción" action="ppaction://hlinksldjump"/>
          </p:cNvPr>
          <p:cNvSpPr txBox="1"/>
          <p:nvPr/>
        </p:nvSpPr>
        <p:spPr>
          <a:xfrm>
            <a:off x="1243584" y="504748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10" action="ppaction://hlinksldjump" tooltip="Ir a Tamaño del mercado y adop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Tamaño del mercado y adopción</a:t>
            </a:r>
            <a:endParaRPr lang="en-US" sz="2000" dirty="0"/>
          </a:p>
        </p:txBody>
      </p:sp>
      <p:sp>
        <p:nvSpPr>
          <p:cNvPr id="30" name="Text 28">
            <a:hlinkClick r:id="rId11" tooltip="Ir a Tamaño del mercado y adopción" action="ppaction://hlinksldjump"/>
          </p:cNvPr>
          <p:cNvSpPr txBox="1"/>
          <p:nvPr/>
        </p:nvSpPr>
        <p:spPr>
          <a:xfrm>
            <a:off x="5021428" y="50474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1" action="ppaction://hlinksldjump" tooltip="Ir a Tamaño del mercado y adop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20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48640" y="55961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569671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" y="569671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A6</a:t>
            </a:r>
            <a:endParaRPr lang="es-CL" sz="1600" dirty="0"/>
          </a:p>
        </p:txBody>
      </p:sp>
      <p:sp>
        <p:nvSpPr>
          <p:cNvPr id="34" name="Text 32">
            <a:hlinkClick r:id="rId12" tooltip="Ir a Perfiles de cargo" action="ppaction://hlinksldjump"/>
          </p:cNvPr>
          <p:cNvSpPr txBox="1"/>
          <p:nvPr/>
        </p:nvSpPr>
        <p:spPr>
          <a:xfrm>
            <a:off x="1243584" y="559612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12" action="ppaction://hlinksldjump" tooltip="Ir a Perfiles de carg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Perfiles de cargo</a:t>
            </a:r>
            <a:endParaRPr lang="en-US" sz="2000" dirty="0"/>
          </a:p>
        </p:txBody>
      </p:sp>
      <p:sp>
        <p:nvSpPr>
          <p:cNvPr id="35" name="Text 33">
            <a:hlinkClick r:id="rId13" tooltip="Ir a Perfiles de cargo" action="ppaction://hlinksldjump"/>
          </p:cNvPr>
          <p:cNvSpPr txBox="1"/>
          <p:nvPr/>
        </p:nvSpPr>
        <p:spPr>
          <a:xfrm>
            <a:off x="5021428" y="55961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3" action="ppaction://hlinksldjump" tooltip="Ir a Perfiles de carg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21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548640" y="614476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55868" y="28529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55868" y="295351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255868" y="295351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A7</a:t>
            </a:r>
            <a:endParaRPr lang="es-CL" sz="1600" dirty="0"/>
          </a:p>
        </p:txBody>
      </p:sp>
      <p:sp>
        <p:nvSpPr>
          <p:cNvPr id="40" name="Text 38">
            <a:hlinkClick r:id="rId14" tooltip="Ir a Rentas, bonos y nómina" action="ppaction://hlinksldjump"/>
          </p:cNvPr>
          <p:cNvSpPr txBox="1"/>
          <p:nvPr/>
        </p:nvSpPr>
        <p:spPr>
          <a:xfrm>
            <a:off x="6950812" y="285292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14" action="ppaction://hlinksldjump" tooltip="Ir a Rentas, bonos y nómin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Rentas, bonos y nómina</a:t>
            </a:r>
            <a:endParaRPr lang="en-US" sz="2000" dirty="0"/>
          </a:p>
        </p:txBody>
      </p:sp>
      <p:sp>
        <p:nvSpPr>
          <p:cNvPr id="41" name="Text 39">
            <a:hlinkClick r:id="rId15" tooltip="Ir a Rentas, bonos y nómina" action="ppaction://hlinksldjump"/>
          </p:cNvPr>
          <p:cNvSpPr txBox="1"/>
          <p:nvPr/>
        </p:nvSpPr>
        <p:spPr>
          <a:xfrm>
            <a:off x="10728655" y="2852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5" action="ppaction://hlinksldjump" tooltip="Ir a Rentas, bonos y nómin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22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255868" y="340156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255868" y="350215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255868" y="350215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A8</a:t>
            </a:r>
            <a:endParaRPr lang="es-CL" sz="1600" dirty="0"/>
          </a:p>
        </p:txBody>
      </p:sp>
      <p:sp>
        <p:nvSpPr>
          <p:cNvPr id="45" name="Text 43">
            <a:hlinkClick r:id="rId16" tooltip="Ir a Jornada de instalación" action="ppaction://hlinksldjump"/>
          </p:cNvPr>
          <p:cNvSpPr txBox="1"/>
          <p:nvPr/>
        </p:nvSpPr>
        <p:spPr>
          <a:xfrm>
            <a:off x="6950812" y="340156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16" action="ppaction://hlinksldjump" tooltip="Ir a Jornada de instal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Jornada de instalación</a:t>
            </a:r>
            <a:endParaRPr lang="en-US" sz="2000" dirty="0"/>
          </a:p>
        </p:txBody>
      </p:sp>
      <p:sp>
        <p:nvSpPr>
          <p:cNvPr id="46" name="Text 44">
            <a:hlinkClick r:id="rId17" tooltip="Ir a Jornada de instalación" action="ppaction://hlinksldjump"/>
          </p:cNvPr>
          <p:cNvSpPr txBox="1"/>
          <p:nvPr/>
        </p:nvSpPr>
        <p:spPr>
          <a:xfrm>
            <a:off x="10728655" y="340156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7" action="ppaction://hlinksldjump" tooltip="Ir a Jornada de instal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23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255868" y="395020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55868" y="405079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255868" y="405079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A9</a:t>
            </a:r>
            <a:endParaRPr lang="es-CL" sz="1600" dirty="0"/>
          </a:p>
        </p:txBody>
      </p:sp>
      <p:sp>
        <p:nvSpPr>
          <p:cNvPr id="50" name="Text 48">
            <a:hlinkClick r:id="rId18" tooltip="Ir a Inversión y gasto operacional" action="ppaction://hlinksldjump"/>
          </p:cNvPr>
          <p:cNvSpPr txBox="1"/>
          <p:nvPr/>
        </p:nvSpPr>
        <p:spPr>
          <a:xfrm>
            <a:off x="6950812" y="395020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18" action="ppaction://hlinksldjump" tooltip="Ir a Inversión y gasto operaciona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Inversión y gasto operacional</a:t>
            </a:r>
            <a:endParaRPr lang="en-US" sz="2000" dirty="0"/>
          </a:p>
        </p:txBody>
      </p:sp>
      <p:sp>
        <p:nvSpPr>
          <p:cNvPr id="51" name="Text 49">
            <a:hlinkClick r:id="rId19" tooltip="Ir a Inversión y gasto operacional" action="ppaction://hlinksldjump"/>
          </p:cNvPr>
          <p:cNvSpPr txBox="1"/>
          <p:nvPr/>
        </p:nvSpPr>
        <p:spPr>
          <a:xfrm>
            <a:off x="10728655" y="395020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9" action="ppaction://hlinksldjump" tooltip="Ir a Inversión y gasto operaciona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24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6255868" y="449884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55868" y="459943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255868" y="45994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A10</a:t>
            </a:r>
            <a:endParaRPr lang="es-CL" sz="1600" dirty="0"/>
          </a:p>
        </p:txBody>
      </p:sp>
      <p:sp>
        <p:nvSpPr>
          <p:cNvPr id="55" name="Text 53">
            <a:hlinkClick r:id="rId20" tooltip="Ir a Sensibilidad del resultado" action="ppaction://hlinksldjump"/>
          </p:cNvPr>
          <p:cNvSpPr txBox="1"/>
          <p:nvPr/>
        </p:nvSpPr>
        <p:spPr>
          <a:xfrm>
            <a:off x="6950812" y="449884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20" action="ppaction://hlinksldjump" tooltip="Ir a Sensibilidad del resulta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Sensibilidad del resultado</a:t>
            </a:r>
            <a:endParaRPr lang="en-US" sz="2000" dirty="0"/>
          </a:p>
        </p:txBody>
      </p:sp>
      <p:sp>
        <p:nvSpPr>
          <p:cNvPr id="56" name="Text 54">
            <a:hlinkClick r:id="rId21" tooltip="Ir a Sensibilidad del resultado" action="ppaction://hlinksldjump"/>
          </p:cNvPr>
          <p:cNvSpPr txBox="1"/>
          <p:nvPr/>
        </p:nvSpPr>
        <p:spPr>
          <a:xfrm>
            <a:off x="10728655" y="44988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21" action="ppaction://hlinksldjump" tooltip="Ir a Sensibilidad del resulta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25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6255868" y="504748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255868" y="514807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255868" y="514807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A11</a:t>
            </a:r>
            <a:endParaRPr lang="es-CL" sz="1600" dirty="0"/>
          </a:p>
        </p:txBody>
      </p:sp>
      <p:sp>
        <p:nvSpPr>
          <p:cNvPr id="60" name="Text 58">
            <a:hlinkClick r:id="rId22" tooltip="Ir a Carta Gantt detallada" action="ppaction://hlinksldjump"/>
          </p:cNvPr>
          <p:cNvSpPr txBox="1"/>
          <p:nvPr/>
        </p:nvSpPr>
        <p:spPr>
          <a:xfrm>
            <a:off x="6950812" y="504748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22" action="ppaction://hlinksldjump" tooltip="Ir a Carta Gantt detalla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Carta Gantt detallada</a:t>
            </a:r>
            <a:endParaRPr lang="en-US" sz="2000" dirty="0"/>
          </a:p>
        </p:txBody>
      </p:sp>
      <p:sp>
        <p:nvSpPr>
          <p:cNvPr id="61" name="Text 59">
            <a:hlinkClick r:id="rId23" tooltip="Ir a Carta Gantt detallada" action="ppaction://hlinksldjump"/>
          </p:cNvPr>
          <p:cNvSpPr txBox="1"/>
          <p:nvPr/>
        </p:nvSpPr>
        <p:spPr>
          <a:xfrm>
            <a:off x="10728655" y="50474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23" action="ppaction://hlinksldjump" tooltip="Ir a Carta Gantt detalla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26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6255868" y="55961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INVESTIGACIÓN DE MERCADO · HIPÓTESIS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SEIS HIPÓTESIS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y su prueba.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3). Significancia de 5%.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3957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HIPÓTESIS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945575" y="23957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PRUEBA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871216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71216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H1</a:t>
            </a:r>
            <a:endParaRPr lang="es-CL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761488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uso laboral tiene más intención de compra que el particular.</a:t>
            </a:r>
            <a:endParaRPr lang="es-CL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945575" y="276148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Z DOS PROPORCIONES</a:t>
            </a:r>
            <a:endParaRPr lang="es-CL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32841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438144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438144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H2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3328416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intención no cambia con la edad ni el género.</a:t>
            </a:r>
            <a:endParaRPr lang="es-CL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945575" y="3328416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CHI-CUADRADO</a:t>
            </a:r>
            <a:endParaRPr lang="es-CL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389534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005072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005072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H3</a:t>
            </a:r>
            <a:endParaRPr lang="es-CL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95344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ahorro predomina, pero la mayoría valora otro motivo.</a:t>
            </a:r>
            <a:endParaRPr lang="es-CL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945575" y="3895344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Z UNA PROPORCIÓN</a:t>
            </a:r>
            <a:endParaRPr lang="es-CL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446227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572000"/>
            <a:ext cx="621792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4572000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H4</a:t>
            </a:r>
            <a:endParaRPr lang="es-CL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4462272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barrera principal es la confianza, no el precio.</a:t>
            </a:r>
            <a:endParaRPr lang="es-CL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8945575" y="446227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Z UNA PROPORCIÓN</a:t>
            </a:r>
            <a:endParaRPr lang="es-CL" sz="1600" dirty="0"/>
          </a:p>
        </p:txBody>
      </p:sp>
      <p:sp>
        <p:nvSpPr>
          <p:cNvPr id="28" name="Shape 26"/>
          <p:cNvSpPr/>
          <p:nvPr/>
        </p:nvSpPr>
        <p:spPr>
          <a:xfrm>
            <a:off x="548640" y="502920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5138928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5138928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H5</a:t>
            </a:r>
            <a:endParaRPr lang="es-CL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029200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Los respaldos externos dan más confianza que el taller.</a:t>
            </a:r>
            <a:endParaRPr lang="es-CL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8945575" y="502920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 RELACIONADAS</a:t>
            </a:r>
            <a:endParaRPr lang="es-CL" sz="1600" dirty="0"/>
          </a:p>
        </p:txBody>
      </p:sp>
      <p:sp>
        <p:nvSpPr>
          <p:cNvPr id="33" name="Shape 31"/>
          <p:cNvSpPr/>
          <p:nvPr/>
        </p:nvSpPr>
        <p:spPr>
          <a:xfrm>
            <a:off x="548640" y="559612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5705856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5705856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H6</a:t>
            </a:r>
            <a:endParaRPr lang="es-CL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1371600" y="5596128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 prefiere hibridar antes que gas, cambiar de auto o nada.</a:t>
            </a:r>
            <a:endParaRPr lang="es-CL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8945575" y="559612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Z UNA PROPORCIÓN</a:t>
            </a:r>
            <a:endParaRPr lang="es-CL" sz="1600" dirty="0"/>
          </a:p>
        </p:txBody>
      </p:sp>
      <p:sp>
        <p:nvSpPr>
          <p:cNvPr id="38" name="Shape 36"/>
          <p:cNvSpPr/>
          <p:nvPr/>
        </p:nvSpPr>
        <p:spPr>
          <a:xfrm>
            <a:off x="548640" y="616305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A2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POSICIONAMIENTO · DUDAS DEL CLIENTE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CUATRO DUDAS,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cuatro respaldos.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Ley N° 19.496; borrador de reglamento MTT (2021); elaboración propia (Informe Fase 3, Tabla N° 4).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95728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395728"/>
            <a:ext cx="21488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¿Funciona?</a:t>
            </a:r>
            <a:endParaRPr lang="es-CL" sz="2400" dirty="0"/>
          </a:p>
        </p:txBody>
      </p:sp>
      <p:sp>
        <p:nvSpPr>
          <p:cNvPr id="8" name="Shape 6"/>
          <p:cNvSpPr/>
          <p:nvPr/>
        </p:nvSpPr>
        <p:spPr>
          <a:xfrm>
            <a:off x="777240" y="3346704"/>
            <a:ext cx="1125728" cy="310896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886968" y="3346704"/>
            <a:ext cx="90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SIMULADO</a:t>
            </a:r>
            <a:endParaRPr lang="es-CL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52374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Hasta 20% menos bencina en ciudad.</a:t>
            </a:r>
            <a:endParaRPr lang="es-CL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316382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Estimador con intervalo y telemetría.</a:t>
            </a:r>
            <a:endParaRPr lang="es-CL" sz="2000" dirty="0"/>
          </a:p>
        </p:txBody>
      </p:sp>
      <p:sp>
        <p:nvSpPr>
          <p:cNvPr id="12" name="Shape 10"/>
          <p:cNvSpPr/>
          <p:nvPr/>
        </p:nvSpPr>
        <p:spPr>
          <a:xfrm>
            <a:off x="6205576" y="2395728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4176" y="2395728"/>
            <a:ext cx="214884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¿Daña mi auto?</a:t>
            </a:r>
            <a:endParaRPr lang="es-CL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674456" y="252374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toca el motor ni la transmisión.</a:t>
            </a:r>
            <a:endParaRPr lang="es-CL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674456" y="316382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 conservan el circuito de freno y el ABS.</a:t>
            </a:r>
            <a:endParaRPr lang="es-CL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3986784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986784"/>
            <a:ext cx="21488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¿Pasa la revisión?</a:t>
            </a:r>
            <a:endParaRPr lang="es-CL" sz="2400" dirty="0"/>
          </a:p>
        </p:txBody>
      </p:sp>
      <p:sp>
        <p:nvSpPr>
          <p:cNvPr id="18" name="Shape 16"/>
          <p:cNvSpPr/>
          <p:nvPr/>
        </p:nvSpPr>
        <p:spPr>
          <a:xfrm>
            <a:off x="777240" y="4937760"/>
            <a:ext cx="1646428" cy="310896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86968" y="4937760"/>
            <a:ext cx="14269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POR CONFIRMAR</a:t>
            </a:r>
            <a:endParaRPr lang="es-CL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411480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Sale del taller con certificado.</a:t>
            </a:r>
            <a:endParaRPr lang="es-CL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475488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 firma el Responsable Técnico.</a:t>
            </a:r>
            <a:endParaRPr lang="es-CL" sz="2000" dirty="0"/>
          </a:p>
        </p:txBody>
      </p:sp>
      <p:sp>
        <p:nvSpPr>
          <p:cNvPr id="22" name="Shape 20"/>
          <p:cNvSpPr/>
          <p:nvPr/>
        </p:nvSpPr>
        <p:spPr>
          <a:xfrm>
            <a:off x="6205576" y="3986784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34176" y="3986784"/>
            <a:ext cx="214884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¿Se enchufa?</a:t>
            </a:r>
            <a:endParaRPr lang="es-CL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8674456" y="411480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No.</a:t>
            </a:r>
            <a:endParaRPr lang="es-CL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8674456" y="475488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batería se carga al frenar.</a:t>
            </a:r>
            <a:endParaRPr lang="es-CL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5229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LO QUE LA MARCA NO PROMETE</a:t>
            </a:r>
            <a:endParaRPr lang="es-CL" sz="1600" dirty="0"/>
          </a:p>
        </p:txBody>
      </p:sp>
      <p:sp>
        <p:nvSpPr>
          <p:cNvPr id="27" name="Shape 25"/>
          <p:cNvSpPr/>
          <p:nvPr/>
        </p:nvSpPr>
        <p:spPr>
          <a:xfrm>
            <a:off x="548640" y="5852160"/>
            <a:ext cx="220268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1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658368" y="5852160"/>
            <a:ext cx="198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«CERO EMISIONES»</a:t>
            </a:r>
            <a:endParaRPr lang="es-CL" sz="1400" dirty="0"/>
          </a:p>
        </p:txBody>
      </p:sp>
      <p:sp>
        <p:nvSpPr>
          <p:cNvPr id="29" name="Shape 27"/>
          <p:cNvSpPr/>
          <p:nvPr/>
        </p:nvSpPr>
        <p:spPr>
          <a:xfrm>
            <a:off x="2952496" y="5852160"/>
            <a:ext cx="232206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1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3062224" y="5852160"/>
            <a:ext cx="21026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«20% GARANTIZADO»</a:t>
            </a:r>
            <a:endParaRPr lang="es-CL" sz="1400" dirty="0"/>
          </a:p>
        </p:txBody>
      </p:sp>
      <p:sp>
        <p:nvSpPr>
          <p:cNvPr id="31" name="Shape 29"/>
          <p:cNvSpPr/>
          <p:nvPr/>
        </p:nvSpPr>
        <p:spPr>
          <a:xfrm>
            <a:off x="5475732" y="5852160"/>
            <a:ext cx="172516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1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5585460" y="5852160"/>
            <a:ext cx="1505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«HOMOLOGADO»</a:t>
            </a:r>
            <a:endParaRPr lang="es-CL" sz="1400" dirty="0"/>
          </a:p>
        </p:txBody>
      </p:sp>
      <p:sp>
        <p:nvSpPr>
          <p:cNvPr id="33" name="Shape 31"/>
          <p:cNvSpPr/>
          <p:nvPr/>
        </p:nvSpPr>
        <p:spPr>
          <a:xfrm>
            <a:off x="7402068" y="5852160"/>
            <a:ext cx="303834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1"/>
            </a:solidFill>
            <a:prstDash val="dash"/>
          </a:ln>
        </p:spPr>
      </p:sp>
      <p:sp>
        <p:nvSpPr>
          <p:cNvPr id="34" name="Text 32"/>
          <p:cNvSpPr txBox="1"/>
          <p:nvPr/>
        </p:nvSpPr>
        <p:spPr>
          <a:xfrm>
            <a:off x="7511796" y="5852160"/>
            <a:ext cx="28188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EXENCIÓN DE RESTRICCIÓN</a:t>
            </a:r>
            <a:endParaRPr lang="es-CL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A3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MIX DE MARKETING · RESUMEN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DOS LÍNEAS,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una misma mezcla.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8).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606040" y="239572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CLIENTE FINAL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261708" y="239572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RED DE TALLERES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77977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77977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PRODUCTO</a:t>
            </a:r>
            <a:endParaRPr lang="es-CL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277977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Kit Esencial o Plus en una jornada</a:t>
            </a:r>
            <a:endParaRPr lang="es-CL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261708" y="277977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Licencia, kits y certificación</a:t>
            </a:r>
            <a:endParaRPr lang="es-CL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341985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41985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PRECIO</a:t>
            </a:r>
            <a:endParaRPr lang="es-CL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606040" y="341985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$4,29 M y $4,99 M con IVA</a:t>
            </a:r>
            <a:endParaRPr lang="es-CL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261708" y="341985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Entrada y cobros recurrentes</a:t>
            </a:r>
            <a:endParaRPr lang="es-CL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05993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5993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PLAZA</a:t>
            </a:r>
            <a:endParaRPr lang="es-CL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606040" y="405993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Web y talleres propios en la RM</a:t>
            </a:r>
            <a:endParaRPr lang="es-CL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261708" y="405993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Talleres con exclusividad comunal</a:t>
            </a:r>
            <a:endParaRPr lang="es-CL" sz="2000" dirty="0"/>
          </a:p>
        </p:txBody>
      </p:sp>
      <p:sp>
        <p:nvSpPr>
          <p:cNvPr id="20" name="Shape 18"/>
          <p:cNvSpPr/>
          <p:nvPr/>
        </p:nvSpPr>
        <p:spPr>
          <a:xfrm>
            <a:off x="548640" y="470001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70001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PROMOCIÓN</a:t>
            </a:r>
            <a:endParaRPr lang="es-CL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2606040" y="470001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Estimador, pilotos y referidos</a:t>
            </a:r>
            <a:endParaRPr lang="es-CL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261708" y="470001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Visitas, ferias y casos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548640" y="534009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34009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PERSONAS</a:t>
            </a:r>
            <a:endParaRPr lang="es-CL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2606040" y="534009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Dúos con un N3 o N4</a:t>
            </a:r>
            <a:endParaRPr lang="es-CL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7261708" y="534009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Técnicos validados por Lumine</a:t>
            </a:r>
            <a:endParaRPr lang="es-CL" sz="2000" dirty="0"/>
          </a:p>
        </p:txBody>
      </p:sp>
      <p:sp>
        <p:nvSpPr>
          <p:cNvPr id="28" name="Shape 26"/>
          <p:cNvSpPr/>
          <p:nvPr/>
        </p:nvSpPr>
        <p:spPr>
          <a:xfrm>
            <a:off x="548640" y="598017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A4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MIX · PRECIO PARA LA RED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INGRESO RECURRENTE: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el 96% del margen al año 5.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7). Montos netos; sin tarifas públicas de redes de talleres en Chile.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95728"/>
            <a:ext cx="2602154" cy="2743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ENTRADA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$7,14 M</a:t>
            </a:r>
            <a:endParaRPr lang="es-CL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una vez</a:t>
            </a:r>
            <a:endParaRPr lang="es-CL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Exclusividad comunal y formación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3379394" y="2395728"/>
            <a:ext cx="2602154" cy="27432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24530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24530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8096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6412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24530" y="51937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24530" y="50383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80964" y="51937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36412" y="50383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80562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KIT CON LICENCIA</a:t>
            </a:r>
            <a:endParaRPr lang="es-CL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580562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$3,81 M</a:t>
            </a:r>
            <a:endParaRPr lang="es-CL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3580562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por instalación</a:t>
            </a:r>
            <a:endParaRPr lang="es-CL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3580562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Plus; Esencial, $3,33 M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6210148" y="2395728"/>
            <a:ext cx="2602154" cy="2743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1316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CERTIFICACIÓN</a:t>
            </a:r>
            <a:endParaRPr lang="es-CL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411316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$2,4 M</a:t>
            </a:r>
            <a:endParaRPr lang="es-CL" sz="4400" dirty="0"/>
          </a:p>
        </p:txBody>
      </p:sp>
      <p:sp>
        <p:nvSpPr>
          <p:cNvPr id="27" name="Text 25"/>
          <p:cNvSpPr txBox="1"/>
          <p:nvPr/>
        </p:nvSpPr>
        <p:spPr>
          <a:xfrm>
            <a:off x="6411316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cada año</a:t>
            </a:r>
            <a:endParaRPr lang="es-CL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411316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Desde el segundo año</a:t>
            </a:r>
            <a:endParaRPr lang="es-CL" sz="2000" dirty="0"/>
          </a:p>
        </p:txBody>
      </p:sp>
      <p:sp>
        <p:nvSpPr>
          <p:cNvPr id="29" name="Shape 27"/>
          <p:cNvSpPr/>
          <p:nvPr/>
        </p:nvSpPr>
        <p:spPr>
          <a:xfrm>
            <a:off x="9040901" y="2395728"/>
            <a:ext cx="2602154" cy="2743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42069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HABILITA</a:t>
            </a:r>
            <a:endParaRPr lang="es-CL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242069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$35 mil</a:t>
            </a:r>
            <a:endParaRPr lang="es-CL" sz="4400" dirty="0"/>
          </a:p>
        </p:txBody>
      </p:sp>
      <p:sp>
        <p:nvSpPr>
          <p:cNvPr id="32" name="Text 30"/>
          <p:cNvSpPr txBox="1"/>
          <p:nvPr/>
        </p:nvSpPr>
        <p:spPr>
          <a:xfrm>
            <a:off x="9242069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al mes por técnico</a:t>
            </a:r>
            <a:endParaRPr lang="es-CL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9242069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Formación y validación</a:t>
            </a:r>
            <a:endParaRPr lang="es-CL" sz="2000" dirty="0"/>
          </a:p>
        </p:txBody>
      </p:sp>
      <p:sp>
        <p:nvSpPr>
          <p:cNvPr id="34" name="Shape 32"/>
          <p:cNvSpPr/>
          <p:nvPr/>
        </p:nvSpPr>
        <p:spPr>
          <a:xfrm>
            <a:off x="548640" y="5303520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5376672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42 talleres y 7.773 kits al año 5, </a:t>
            </a:r>
            <a:pPr indent="0" marL="0">
              <a:buNone/>
            </a:pPr>
            <a:r>
              <a:rPr lang="es-CL" altLang="en-US" sz="24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sin activos fijos.</a:t>
            </a:r>
            <a:endParaRPr lang="es-CL" sz="2400" dirty="0"/>
          </a:p>
        </p:txBody>
      </p:sp>
      <p:sp>
        <p:nvSpPr>
          <p:cNvPr id="36" name="Shape 34"/>
          <p:cNvSpPr/>
          <p:nvPr/>
        </p:nvSpPr>
        <p:spPr>
          <a:xfrm>
            <a:off x="548640" y="5870448"/>
            <a:ext cx="626160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ysDot"/>
          </a:ln>
        </p:spPr>
      </p:sp>
      <p:sp>
        <p:nvSpPr>
          <p:cNvPr id="37" name="Text 35"/>
          <p:cNvSpPr txBox="1"/>
          <p:nvPr/>
        </p:nvSpPr>
        <p:spPr>
          <a:xfrm>
            <a:off x="658368" y="5870448"/>
            <a:ext cx="6042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MONTOS NETOS · A VALIDAR CON LOS PRIMEROS TALLERES</a:t>
            </a:r>
            <a:endParaRPr lang="es-CL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A5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DEMANDA · MERCADO Y ADOPCIÓN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162.780 VEHÍCULOS DE TECHO;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11,1% adoptado al año 5.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INE (2025); Centro UC en Emol (2026); Descubre (2026); Fielbaum y Tirachini (2021); Massiani y Gohs (2015).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95728"/>
            <a:ext cx="45720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487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TAM · CHILE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79776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4.409.729</a:t>
            </a:r>
            <a:endParaRPr lang="es-CL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779776"/>
            <a:ext cx="2194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autos y taxis a combustión</a:t>
            </a:r>
            <a:endParaRPr lang="es-CL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45720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749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SAM · RM</a:t>
            </a:r>
            <a:endParaRPr lang="es-CL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041648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1.685.930</a:t>
            </a:r>
            <a:endParaRPr lang="es-CL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4041648"/>
            <a:ext cx="2194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 que atiende el taller propio</a:t>
            </a:r>
            <a:endParaRPr lang="es-CL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4919472"/>
            <a:ext cx="457200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50109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SEGMENTO LABORAL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03520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162.780</a:t>
            </a:r>
            <a:endParaRPr lang="es-CL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5303520"/>
            <a:ext cx="2194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colectivos, taxis y aplicaciones</a:t>
            </a:r>
            <a:endParaRPr lang="es-CL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532120" y="2395728"/>
            <a:ext cx="6110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ADOPCIÓN ACUMULADA · MODELO DE BASS</a:t>
            </a:r>
            <a:endParaRPr lang="es-CL" sz="1600" dirty="0"/>
          </a:p>
        </p:txBody>
      </p:sp>
      <p:sp>
        <p:nvSpPr>
          <p:cNvPr id="19" name="Shape 17"/>
          <p:cNvSpPr/>
          <p:nvPr/>
        </p:nvSpPr>
        <p:spPr>
          <a:xfrm>
            <a:off x="10156647" y="2761488"/>
            <a:ext cx="14864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0266375" y="2761488"/>
            <a:ext cx="126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ESTIMACIÓN</a:t>
            </a:r>
            <a:endParaRPr lang="es-CL" sz="1400" dirty="0"/>
          </a:p>
        </p:txBody>
      </p:sp>
      <p:graphicFrame>
        <p:nvGraphicFramePr>
          <p:cNvPr id="21" name="Adopción acumulada del segmento laboral" descr=""/>
          <p:cNvGraphicFramePr/>
          <p:nvPr/>
        </p:nvGraphicFramePr>
        <p:xfrm>
          <a:off x="5440680" y="3172968"/>
          <a:ext cx="6202375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532120" y="5596128"/>
            <a:ext cx="6110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Aun si solo el 40% del segmento adoptara, la demanda cubre el año 5.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A6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RECURSOS HUMANOS · PERFILES DE CARGO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CADA CARGO RESPONDE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por un resultado crítico.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13).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2257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22576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Gerente General</a:t>
            </a:r>
            <a:endParaRPr lang="es-C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251960" y="2322576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Autoriza cada paso de crecimiento si la caja lo cubre.</a:t>
            </a:r>
            <a:endParaRPr lang="es-CL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43200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Responsable Técnico</a:t>
            </a:r>
            <a:endParaRPr lang="es-CL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2743200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Arma los dúos, valida ascensos y firma cada auto.</a:t>
            </a:r>
            <a:endParaRPr lang="es-CL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316382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16382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Ingeniería de Calibración</a:t>
            </a:r>
            <a:endParaRPr lang="es-CL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251960" y="3163824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Certifica cada modelo y cuida que el ahorro real calce.</a:t>
            </a:r>
            <a:endParaRPr lang="es-CL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58444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84448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Comercial y Postventa</a:t>
            </a:r>
            <a:endParaRPr lang="es-CL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3584448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Convierte cotizaciones sin prometer de más.</a:t>
            </a:r>
            <a:endParaRPr lang="es-CL" sz="2000" dirty="0"/>
          </a:p>
        </p:txBody>
      </p:sp>
      <p:sp>
        <p:nvSpPr>
          <p:cNvPr id="18" name="Shape 16"/>
          <p:cNvSpPr/>
          <p:nvPr/>
        </p:nvSpPr>
        <p:spPr>
          <a:xfrm>
            <a:off x="548640" y="400507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005072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Administración y Personas</a:t>
            </a:r>
            <a:endParaRPr lang="es-CL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4251960" y="4005072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Que ningún auto espere un kit; sueldos al día.</a:t>
            </a:r>
            <a:endParaRPr lang="es-CL" sz="2000" dirty="0"/>
          </a:p>
        </p:txBody>
      </p:sp>
      <p:sp>
        <p:nvSpPr>
          <p:cNvPr id="21" name="Shape 19"/>
          <p:cNvSpPr/>
          <p:nvPr/>
        </p:nvSpPr>
        <p:spPr>
          <a:xfrm>
            <a:off x="548640" y="442569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425696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Técnico Instalador</a:t>
            </a:r>
            <a:endParaRPr lang="es-CL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251960" y="4425696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Instala según el procedimiento y las cinco reglas de oro.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548640" y="484632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846320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Comercial de Empresas</a:t>
            </a:r>
            <a:endParaRPr lang="es-CL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4251960" y="4846320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Suma solo talleres que cumplan el reglamento.</a:t>
            </a:r>
            <a:endParaRPr lang="es-CL" sz="2000" dirty="0"/>
          </a:p>
        </p:txBody>
      </p:sp>
      <p:sp>
        <p:nvSpPr>
          <p:cNvPr id="27" name="Shape 25"/>
          <p:cNvSpPr/>
          <p:nvPr/>
        </p:nvSpPr>
        <p:spPr>
          <a:xfrm>
            <a:off x="548640" y="526694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526694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Asistente de Postventa</a:t>
            </a:r>
            <a:endParaRPr lang="es-CL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5266944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Que ninguna mantención ni garantía se pierda.</a:t>
            </a:r>
            <a:endParaRPr lang="es-CL" sz="2000" dirty="0"/>
          </a:p>
        </p:txBody>
      </p:sp>
      <p:sp>
        <p:nvSpPr>
          <p:cNvPr id="30" name="Shape 28"/>
          <p:cNvSpPr/>
          <p:nvPr/>
        </p:nvSpPr>
        <p:spPr>
          <a:xfrm>
            <a:off x="548640" y="568756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5687568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Asistente de Administración</a:t>
            </a:r>
            <a:endParaRPr lang="es-CL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4251960" y="5687568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Despacha kits y baterías con su trazabilidad.</a:t>
            </a:r>
            <a:endParaRPr lang="es-CL" sz="2000" dirty="0"/>
          </a:p>
        </p:txBody>
      </p:sp>
      <p:sp>
        <p:nvSpPr>
          <p:cNvPr id="33" name="Shape 31"/>
          <p:cNvSpPr/>
          <p:nvPr/>
        </p:nvSpPr>
        <p:spPr>
          <a:xfrm>
            <a:off x="548640" y="610819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A7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RECURSOS HUMANOS · COMPENSACIONES Y NÓMINA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EL SUPERIOR GANA MÁS;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entre áreas decide la escasez.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ChileTrabajos (2026); Indeed Chile (2026); MiFuturo (2026); Ley N° 21.830; elaboración propia (Informe Fase 3, Tablas N° 14 a 16).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RENTA BRUTA MENSUAL · MILES DE PESOS</a:t>
            </a:r>
            <a:endParaRPr lang="es-CL" sz="1600" dirty="0"/>
          </a:p>
        </p:txBody>
      </p:sp>
      <p:graphicFrame>
        <p:nvGraphicFramePr>
          <p:cNvPr id="7" name="Renta bruta mensual por cargo" descr=""/>
          <p:cNvGraphicFramePr/>
          <p:nvPr/>
        </p:nvGraphicFramePr>
        <p:xfrm>
          <a:off x="457200" y="2724912"/>
          <a:ext cx="7543800" cy="29992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779008"/>
            <a:ext cx="7452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5833872"/>
            <a:ext cx="7452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Nómina por instalación, años 1 a 5 (miles de $): </a:t>
            </a:r>
            <a:pPr indent="0" marL="0">
              <a:buNone/>
            </a:pPr>
            <a:r>
              <a:rPr lang="es-CL" altLang="en-US" sz="16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508 · 306 · 257 · 253 · 265</a:t>
            </a:r>
            <a:endParaRPr lang="es-CL" sz="1600" dirty="0"/>
          </a:p>
        </p:txBody>
      </p:sp>
      <p:sp>
        <p:nvSpPr>
          <p:cNvPr id="10" name="Shape 7"/>
          <p:cNvSpPr/>
          <p:nvPr/>
        </p:nvSpPr>
        <p:spPr>
          <a:xfrm>
            <a:off x="8385048" y="2395728"/>
            <a:ext cx="3258007" cy="384048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3301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33018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330184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30184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542471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1697919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13648" y="2578608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BONO POR NIVEL</a:t>
            </a:r>
            <a:endParaRPr lang="es-CL" sz="1600" dirty="0"/>
          </a:p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VALIDADO</a:t>
            </a:r>
            <a:endParaRPr lang="es-CL" sz="1600" dirty="0"/>
          </a:p>
        </p:txBody>
      </p:sp>
      <p:sp>
        <p:nvSpPr>
          <p:cNvPr id="20" name="Shape 17"/>
          <p:cNvSpPr/>
          <p:nvPr/>
        </p:nvSpPr>
        <p:spPr>
          <a:xfrm>
            <a:off x="8613648" y="3218688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13648" y="3328416"/>
            <a:ext cx="603504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613648" y="3328416"/>
            <a:ext cx="60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N2</a:t>
            </a:r>
            <a:endParaRPr lang="es-CL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299448" y="3218688"/>
            <a:ext cx="21150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$200 mil</a:t>
            </a:r>
            <a:endParaRPr lang="es-CL" sz="3000" dirty="0"/>
          </a:p>
        </p:txBody>
      </p:sp>
      <p:sp>
        <p:nvSpPr>
          <p:cNvPr id="24" name="Shape 21"/>
          <p:cNvSpPr/>
          <p:nvPr/>
        </p:nvSpPr>
        <p:spPr>
          <a:xfrm>
            <a:off x="8613648" y="3785616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13648" y="3895344"/>
            <a:ext cx="603504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613648" y="3895344"/>
            <a:ext cx="60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N3</a:t>
            </a:r>
            <a:endParaRPr lang="es-CL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299448" y="3785616"/>
            <a:ext cx="21150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$300 mil</a:t>
            </a:r>
            <a:endParaRPr lang="es-CL" sz="3000" dirty="0"/>
          </a:p>
        </p:txBody>
      </p:sp>
      <p:sp>
        <p:nvSpPr>
          <p:cNvPr id="28" name="Shape 25"/>
          <p:cNvSpPr/>
          <p:nvPr/>
        </p:nvSpPr>
        <p:spPr>
          <a:xfrm>
            <a:off x="8613648" y="4352544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13648" y="4462272"/>
            <a:ext cx="603504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613648" y="4462272"/>
            <a:ext cx="60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N4</a:t>
            </a:r>
            <a:endParaRPr lang="es-CL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9299448" y="4352544"/>
            <a:ext cx="21150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$350 mil</a:t>
            </a:r>
            <a:endParaRPr lang="es-CL" sz="3000" dirty="0"/>
          </a:p>
        </p:txBody>
      </p:sp>
      <p:sp>
        <p:nvSpPr>
          <p:cNvPr id="32" name="Shape 29"/>
          <p:cNvSpPr/>
          <p:nvPr/>
        </p:nvSpPr>
        <p:spPr>
          <a:xfrm>
            <a:off x="8613648" y="4919472"/>
            <a:ext cx="2800807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613648" y="491947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Total</a:t>
            </a:r>
            <a:endParaRPr lang="es-CL" sz="2200" dirty="0"/>
          </a:p>
        </p:txBody>
      </p:sp>
      <p:sp>
        <p:nvSpPr>
          <p:cNvPr id="34" name="Text 31"/>
          <p:cNvSpPr txBox="1"/>
          <p:nvPr/>
        </p:nvSpPr>
        <p:spPr>
          <a:xfrm>
            <a:off x="9299448" y="4919472"/>
            <a:ext cx="211500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$850 mil</a:t>
            </a:r>
            <a:endParaRPr lang="es-CL" sz="3600" dirty="0"/>
          </a:p>
        </p:txBody>
      </p:sp>
      <p:sp>
        <p:nvSpPr>
          <p:cNvPr id="35" name="Text 32"/>
          <p:cNvSpPr txBox="1"/>
          <p:nvPr/>
        </p:nvSpPr>
        <p:spPr>
          <a:xfrm>
            <a:off x="8613648" y="5577840"/>
            <a:ext cx="28465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Los comerciales suman comisión.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A8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OPERACIONES · JORNADA DE INSTALACIÓN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UN VEHÍCULO POR JORNADA: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8,4 horas.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borrador de reglamento MTT (2021), arts. 11 y 12; elaboración propia (Informe Fase 3, Anexo N° 8). Tiempos estimados.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HORAS POR BLOQUE · DÚO CON UN N3</a:t>
            </a:r>
            <a:endParaRPr lang="es-CL" sz="1600" dirty="0"/>
          </a:p>
        </p:txBody>
      </p:sp>
      <p:sp>
        <p:nvSpPr>
          <p:cNvPr id="7" name="Shape 5"/>
          <p:cNvSpPr/>
          <p:nvPr/>
        </p:nvSpPr>
        <p:spPr>
          <a:xfrm>
            <a:off x="8962847" y="2350008"/>
            <a:ext cx="26802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9072575" y="2350008"/>
            <a:ext cx="246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ESTIMACIÓN · TIEMPOS</a:t>
            </a:r>
            <a:endParaRPr lang="es-CL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779776"/>
            <a:ext cx="491729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779776"/>
            <a:ext cx="52830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0,4</a:t>
            </a:r>
            <a:endParaRPr lang="es-CL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529584"/>
            <a:ext cx="528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</a:t>
            </a:r>
            <a:endParaRPr lang="es-CL" sz="1600" dirty="0"/>
          </a:p>
        </p:txBody>
      </p:sp>
      <p:sp>
        <p:nvSpPr>
          <p:cNvPr id="12" name="Shape 10"/>
          <p:cNvSpPr/>
          <p:nvPr/>
        </p:nvSpPr>
        <p:spPr>
          <a:xfrm>
            <a:off x="1095233" y="2779776"/>
            <a:ext cx="491729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76945" y="2779776"/>
            <a:ext cx="52830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0,4</a:t>
            </a:r>
            <a:endParaRPr lang="es-CL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076945" y="3529584"/>
            <a:ext cx="528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2</a:t>
            </a:r>
            <a:endParaRPr lang="es-CL" sz="1600" dirty="0"/>
          </a:p>
        </p:txBody>
      </p:sp>
      <p:sp>
        <p:nvSpPr>
          <p:cNvPr id="15" name="Shape 13"/>
          <p:cNvSpPr/>
          <p:nvPr/>
        </p:nvSpPr>
        <p:spPr>
          <a:xfrm>
            <a:off x="1623539" y="2779776"/>
            <a:ext cx="4321944" cy="7132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605251" y="2779776"/>
            <a:ext cx="435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3,3</a:t>
            </a:r>
            <a:endParaRPr lang="es-CL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605251" y="3529584"/>
            <a:ext cx="435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3</a:t>
            </a:r>
            <a:endParaRPr lang="es-CL" sz="1600" dirty="0"/>
          </a:p>
        </p:txBody>
      </p:sp>
      <p:sp>
        <p:nvSpPr>
          <p:cNvPr id="18" name="Shape 16"/>
          <p:cNvSpPr/>
          <p:nvPr/>
        </p:nvSpPr>
        <p:spPr>
          <a:xfrm>
            <a:off x="5982059" y="2779776"/>
            <a:ext cx="2340799" cy="7132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63771" y="2779776"/>
            <a:ext cx="23773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1,8</a:t>
            </a:r>
            <a:endParaRPr lang="es-CL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5963771" y="3529584"/>
            <a:ext cx="2377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4</a:t>
            </a:r>
            <a:endParaRPr lang="es-CL" sz="1600" dirty="0"/>
          </a:p>
        </p:txBody>
      </p:sp>
      <p:sp>
        <p:nvSpPr>
          <p:cNvPr id="21" name="Shape 19"/>
          <p:cNvSpPr/>
          <p:nvPr/>
        </p:nvSpPr>
        <p:spPr>
          <a:xfrm>
            <a:off x="8359434" y="2779776"/>
            <a:ext cx="1020035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41146" y="2779776"/>
            <a:ext cx="10566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</a:t>
            </a:r>
            <a:endParaRPr lang="es-CL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8341146" y="3529584"/>
            <a:ext cx="10566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5</a:t>
            </a:r>
            <a:endParaRPr lang="es-CL" sz="1600" dirty="0"/>
          </a:p>
        </p:txBody>
      </p:sp>
      <p:sp>
        <p:nvSpPr>
          <p:cNvPr id="24" name="Shape 22"/>
          <p:cNvSpPr/>
          <p:nvPr/>
        </p:nvSpPr>
        <p:spPr>
          <a:xfrm>
            <a:off x="9416045" y="2779776"/>
            <a:ext cx="1284188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397757" y="2779776"/>
            <a:ext cx="13207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1,0</a:t>
            </a:r>
            <a:endParaRPr lang="es-CL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9397757" y="3529584"/>
            <a:ext cx="132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6</a:t>
            </a:r>
            <a:endParaRPr lang="es-CL" sz="1600" dirty="0"/>
          </a:p>
        </p:txBody>
      </p:sp>
      <p:sp>
        <p:nvSpPr>
          <p:cNvPr id="27" name="Shape 25"/>
          <p:cNvSpPr/>
          <p:nvPr/>
        </p:nvSpPr>
        <p:spPr>
          <a:xfrm>
            <a:off x="10736809" y="2779776"/>
            <a:ext cx="887959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18521" y="2779776"/>
            <a:ext cx="924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0,7</a:t>
            </a:r>
            <a:endParaRPr lang="es-CL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10718521" y="3529584"/>
            <a:ext cx="924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7</a:t>
            </a:r>
            <a:endParaRPr lang="es-CL" sz="1600" dirty="0"/>
          </a:p>
        </p:txBody>
      </p:sp>
      <p:sp>
        <p:nvSpPr>
          <p:cNvPr id="30" name="Shape 28"/>
          <p:cNvSpPr/>
          <p:nvPr/>
        </p:nvSpPr>
        <p:spPr>
          <a:xfrm>
            <a:off x="548640" y="389534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</a:t>
            </a:r>
            <a:endParaRPr lang="es-CL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024128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Seguridad</a:t>
            </a:r>
            <a:endParaRPr lang="es-CL" sz="2000" dirty="0"/>
          </a:p>
        </p:txBody>
      </p:sp>
      <p:sp>
        <p:nvSpPr>
          <p:cNvPr id="33" name="Shape 31"/>
          <p:cNvSpPr/>
          <p:nvPr/>
        </p:nvSpPr>
        <p:spPr>
          <a:xfrm>
            <a:off x="3322244" y="389534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322244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2</a:t>
            </a:r>
            <a:endParaRPr lang="es-CL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3797732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Recepción</a:t>
            </a:r>
            <a:endParaRPr lang="es-CL" sz="2000" dirty="0"/>
          </a:p>
        </p:txBody>
      </p:sp>
      <p:sp>
        <p:nvSpPr>
          <p:cNvPr id="36" name="Shape 34"/>
          <p:cNvSpPr/>
          <p:nvPr/>
        </p:nvSpPr>
        <p:spPr>
          <a:xfrm>
            <a:off x="6095848" y="3895344"/>
            <a:ext cx="365760" cy="3108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095848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3</a:t>
            </a:r>
            <a:endParaRPr lang="es-CL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571336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Montaje y pesaje</a:t>
            </a:r>
            <a:endParaRPr lang="es-CL" sz="2000" dirty="0"/>
          </a:p>
        </p:txBody>
      </p:sp>
      <p:sp>
        <p:nvSpPr>
          <p:cNvPr id="39" name="Shape 37"/>
          <p:cNvSpPr/>
          <p:nvPr/>
        </p:nvSpPr>
        <p:spPr>
          <a:xfrm>
            <a:off x="8869451" y="3895344"/>
            <a:ext cx="365760" cy="3108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869451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4</a:t>
            </a:r>
            <a:endParaRPr lang="es-CL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9344939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Integración</a:t>
            </a:r>
            <a:endParaRPr lang="es-CL" sz="2000" dirty="0"/>
          </a:p>
        </p:txBody>
      </p:sp>
      <p:sp>
        <p:nvSpPr>
          <p:cNvPr id="42" name="Shape 40"/>
          <p:cNvSpPr/>
          <p:nvPr/>
        </p:nvSpPr>
        <p:spPr>
          <a:xfrm>
            <a:off x="548640" y="426110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" y="42611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5</a:t>
            </a:r>
            <a:endParaRPr lang="es-CL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1024128" y="424281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Calibración</a:t>
            </a:r>
            <a:endParaRPr lang="es-CL" sz="2000" dirty="0"/>
          </a:p>
        </p:txBody>
      </p:sp>
      <p:sp>
        <p:nvSpPr>
          <p:cNvPr id="45" name="Shape 43"/>
          <p:cNvSpPr/>
          <p:nvPr/>
        </p:nvSpPr>
        <p:spPr>
          <a:xfrm>
            <a:off x="3322244" y="426110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322244" y="42611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6</a:t>
            </a:r>
            <a:endParaRPr lang="es-CL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797732" y="424281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Pruebas</a:t>
            </a:r>
            <a:endParaRPr lang="es-CL" sz="2000" dirty="0"/>
          </a:p>
        </p:txBody>
      </p:sp>
      <p:sp>
        <p:nvSpPr>
          <p:cNvPr id="48" name="Shape 46"/>
          <p:cNvSpPr/>
          <p:nvPr/>
        </p:nvSpPr>
        <p:spPr>
          <a:xfrm>
            <a:off x="6095848" y="426110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095848" y="42611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7</a:t>
            </a:r>
            <a:endParaRPr lang="es-CL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6571336" y="424281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Cierre</a:t>
            </a:r>
            <a:endParaRPr lang="es-CL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" y="466344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Montaje e integración concentran 5,1 de las 8,4 horas.</a:t>
            </a:r>
            <a:endParaRPr lang="es-CL" sz="2200" dirty="0"/>
          </a:p>
        </p:txBody>
      </p:sp>
      <p:sp>
        <p:nvSpPr>
          <p:cNvPr id="52" name="Shape 50"/>
          <p:cNvSpPr/>
          <p:nvPr/>
        </p:nvSpPr>
        <p:spPr>
          <a:xfrm>
            <a:off x="548640" y="5175504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52669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CUATRO CONTROLES · SI FALLA, SE DETIENE</a:t>
            </a:r>
            <a:endParaRPr lang="es-CL" sz="1600" dirty="0"/>
          </a:p>
        </p:txBody>
      </p:sp>
      <p:sp>
        <p:nvSpPr>
          <p:cNvPr id="54" name="Shape 52"/>
          <p:cNvSpPr/>
          <p:nvPr/>
        </p:nvSpPr>
        <p:spPr>
          <a:xfrm>
            <a:off x="548640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5596128"/>
            <a:ext cx="64008" cy="6400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77240" y="5596128"/>
            <a:ext cx="23438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¿Vehículo apto?</a:t>
            </a:r>
            <a:endParaRPr lang="es-CL" sz="2000" dirty="0"/>
          </a:p>
        </p:txBody>
      </p:sp>
      <p:sp>
        <p:nvSpPr>
          <p:cNvPr id="57" name="Shape 55"/>
          <p:cNvSpPr/>
          <p:nvPr/>
        </p:nvSpPr>
        <p:spPr>
          <a:xfrm>
            <a:off x="3367964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367964" y="5596128"/>
            <a:ext cx="64008" cy="6400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596564" y="5596128"/>
            <a:ext cx="23438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¿Masa y ejes?</a:t>
            </a:r>
            <a:endParaRPr lang="es-CL" sz="2000" dirty="0"/>
          </a:p>
        </p:txBody>
      </p:sp>
      <p:sp>
        <p:nvSpPr>
          <p:cNvPr id="60" name="Shape 58"/>
          <p:cNvSpPr/>
          <p:nvPr/>
        </p:nvSpPr>
        <p:spPr>
          <a:xfrm>
            <a:off x="6187288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187288" y="5596128"/>
            <a:ext cx="64008" cy="6400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415888" y="5596128"/>
            <a:ext cx="23438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¿Aislación?</a:t>
            </a:r>
            <a:endParaRPr lang="es-CL" sz="2000" dirty="0"/>
          </a:p>
        </p:txBody>
      </p:sp>
      <p:sp>
        <p:nvSpPr>
          <p:cNvPr id="63" name="Shape 61"/>
          <p:cNvSpPr/>
          <p:nvPr/>
        </p:nvSpPr>
        <p:spPr>
          <a:xfrm>
            <a:off x="9006611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006611" y="5596128"/>
            <a:ext cx="64008" cy="6400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235211" y="5596128"/>
            <a:ext cx="23438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¿Dinamómetro?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A9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OPERACIONES · INVERSIÓN Y GASTO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LA INVERSIÓN SIGUE AL GATILLO;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el gasto, al kit.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Dynojet Research (2016); Importadora JAK (2026); elaboración propia (Informe Fase 3, Tablas N° 18 y 19).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INVERSIÓN · MILLONES DE $</a:t>
            </a:r>
            <a:endParaRPr lang="es-CL" sz="1600" dirty="0"/>
          </a:p>
        </p:txBody>
      </p:sp>
      <p:graphicFrame>
        <p:nvGraphicFramePr>
          <p:cNvPr id="7" name="Inversión en equipamiento por año" descr=""/>
          <p:cNvGraphicFramePr/>
          <p:nvPr/>
        </p:nvGraphicFramePr>
        <p:xfrm>
          <a:off x="457200" y="2724912"/>
          <a:ext cx="54100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779008"/>
            <a:ext cx="531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 local nuevo en los años 1, 3 y 5.</a:t>
            </a:r>
            <a:endParaRPr lang="es-CL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324448" y="2395728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GASTO OPERACIONAL · MILLONES DE $</a:t>
            </a:r>
            <a:endParaRPr lang="es-CL" sz="1600" dirty="0"/>
          </a:p>
        </p:txBody>
      </p:sp>
      <p:graphicFrame>
        <p:nvGraphicFramePr>
          <p:cNvPr id="10" name="Gasto operacional por año" descr=""/>
          <p:cNvGraphicFramePr/>
          <p:nvPr/>
        </p:nvGraphicFramePr>
        <p:xfrm>
          <a:off x="6233008" y="2724912"/>
          <a:ext cx="54100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324448" y="5779008"/>
            <a:ext cx="531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kit es más del 90% de cada año.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A10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OPERACIONES · SENSIBILIDAD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EL DÓLAR PESA MÁS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que el precio y la mezcla.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21). Dólar base $965,71.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RESULTADO PROPIO AL AÑO 5 · MILLONES DE $</a:t>
            </a:r>
            <a:endParaRPr lang="es-CL" sz="1600" dirty="0"/>
          </a:p>
        </p:txBody>
      </p:sp>
      <p:graphicFrame>
        <p:nvGraphicFramePr>
          <p:cNvPr id="7" name="Sensibilidad del resultado al quinto año" descr=""/>
          <p:cNvGraphicFramePr/>
          <p:nvPr/>
        </p:nvGraphicFramePr>
        <p:xfrm>
          <a:off x="457200" y="2724912"/>
          <a:ext cx="7543800" cy="351129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5"/>
          <p:cNvSpPr/>
          <p:nvPr/>
        </p:nvSpPr>
        <p:spPr>
          <a:xfrm>
            <a:off x="8385048" y="2395728"/>
            <a:ext cx="3258007" cy="25146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301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33018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330184" y="49651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330184" y="48097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542471" y="49651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697919" y="48097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13648" y="2596896"/>
            <a:ext cx="28922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MARGEN SOBRE VENTAS</a:t>
            </a:r>
            <a:endParaRPr lang="es-CL" sz="1600" dirty="0"/>
          </a:p>
        </p:txBody>
      </p:sp>
      <p:sp>
        <p:nvSpPr>
          <p:cNvPr id="18" name="Shape 15"/>
          <p:cNvSpPr/>
          <p:nvPr/>
        </p:nvSpPr>
        <p:spPr>
          <a:xfrm>
            <a:off x="8613648" y="2999232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13648" y="2999232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Base</a:t>
            </a:r>
            <a:endParaRPr lang="es-CL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10213848" y="2999232"/>
            <a:ext cx="120060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7,7%</a:t>
            </a:r>
            <a:endParaRPr lang="es-CL" sz="3000" dirty="0"/>
          </a:p>
        </p:txBody>
      </p:sp>
      <p:sp>
        <p:nvSpPr>
          <p:cNvPr id="21" name="Shape 18"/>
          <p:cNvSpPr/>
          <p:nvPr/>
        </p:nvSpPr>
        <p:spPr>
          <a:xfrm>
            <a:off x="8613648" y="3602736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13648" y="3602736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Dólar +10%</a:t>
            </a:r>
            <a:endParaRPr lang="es-CL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10213848" y="3602736"/>
            <a:ext cx="120060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0,8%</a:t>
            </a:r>
            <a:endParaRPr lang="es-CL" sz="3600" dirty="0"/>
          </a:p>
        </p:txBody>
      </p:sp>
      <p:sp>
        <p:nvSpPr>
          <p:cNvPr id="24" name="Shape 21"/>
          <p:cNvSpPr/>
          <p:nvPr/>
        </p:nvSpPr>
        <p:spPr>
          <a:xfrm>
            <a:off x="8613648" y="4206240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613648" y="4206240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Dólar −10%</a:t>
            </a:r>
            <a:endParaRPr lang="es-CL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10213848" y="4206240"/>
            <a:ext cx="120060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14,6%</a:t>
            </a:r>
            <a:endParaRPr lang="es-CL" sz="3000" dirty="0"/>
          </a:p>
        </p:txBody>
      </p:sp>
      <p:sp>
        <p:nvSpPr>
          <p:cNvPr id="27" name="Text 24"/>
          <p:cNvSpPr txBox="1"/>
          <p:nvPr/>
        </p:nvSpPr>
        <p:spPr>
          <a:xfrm>
            <a:off x="8385048" y="5120640"/>
            <a:ext cx="32580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82% del costo del kit está en dólares: el plan financiero evaluará coberturas.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OPERACIONES · CARTA GANTT DE IMPLEMENTACIÓN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CARTA GANTT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completa.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Figura N° 5). Mes 1 = enero de 2027 (supuesto).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2395728"/>
            <a:ext cx="7904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2026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265204" y="2395728"/>
            <a:ext cx="3161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1 · 2027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4265204" y="2724912"/>
            <a:ext cx="0" cy="3054096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27140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2</a:t>
            </a:r>
            <a:endParaRPr lang="es-CL" sz="1600" dirty="0"/>
          </a:p>
        </p:txBody>
      </p:sp>
      <p:sp>
        <p:nvSpPr>
          <p:cNvPr id="10" name="Shape 8"/>
          <p:cNvSpPr/>
          <p:nvPr/>
        </p:nvSpPr>
        <p:spPr>
          <a:xfrm>
            <a:off x="7427140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81119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3</a:t>
            </a:r>
            <a:endParaRPr lang="es-CL" sz="1600" dirty="0"/>
          </a:p>
        </p:txBody>
      </p:sp>
      <p:sp>
        <p:nvSpPr>
          <p:cNvPr id="12" name="Shape 10"/>
          <p:cNvSpPr/>
          <p:nvPr/>
        </p:nvSpPr>
        <p:spPr>
          <a:xfrm>
            <a:off x="8481119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35098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4</a:t>
            </a:r>
            <a:endParaRPr lang="es-CL" sz="1600" dirty="0"/>
          </a:p>
        </p:txBody>
      </p:sp>
      <p:sp>
        <p:nvSpPr>
          <p:cNvPr id="14" name="Shape 12"/>
          <p:cNvSpPr/>
          <p:nvPr/>
        </p:nvSpPr>
        <p:spPr>
          <a:xfrm>
            <a:off x="9535098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89076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5</a:t>
            </a:r>
            <a:endParaRPr lang="es-CL" sz="1600" dirty="0"/>
          </a:p>
        </p:txBody>
      </p:sp>
      <p:sp>
        <p:nvSpPr>
          <p:cNvPr id="16" name="Shape 14"/>
          <p:cNvSpPr/>
          <p:nvPr/>
        </p:nvSpPr>
        <p:spPr>
          <a:xfrm>
            <a:off x="10589076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2779776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Investigación y permisos</a:t>
            </a:r>
            <a:endParaRPr lang="es-CL" sz="1700" dirty="0"/>
          </a:p>
        </p:txBody>
      </p:sp>
      <p:sp>
        <p:nvSpPr>
          <p:cNvPr id="18" name="Shape 16"/>
          <p:cNvSpPr/>
          <p:nvPr/>
        </p:nvSpPr>
        <p:spPr>
          <a:xfrm>
            <a:off x="3474720" y="2843784"/>
            <a:ext cx="790484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320040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20040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Homologación y primer dúo</a:t>
            </a:r>
            <a:endParaRPr lang="es-CL" sz="1700" dirty="0"/>
          </a:p>
        </p:txBody>
      </p:sp>
      <p:sp>
        <p:nvSpPr>
          <p:cNvPr id="21" name="Shape 19"/>
          <p:cNvSpPr/>
          <p:nvPr/>
        </p:nvSpPr>
        <p:spPr>
          <a:xfrm>
            <a:off x="3738215" y="3264408"/>
            <a:ext cx="526989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621024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621024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Reglamento Ley 21.793</a:t>
            </a:r>
            <a:endParaRPr lang="es-CL" sz="1700" dirty="0"/>
          </a:p>
        </p:txBody>
      </p:sp>
      <p:sp>
        <p:nvSpPr>
          <p:cNvPr id="24" name="Shape 22"/>
          <p:cNvSpPr/>
          <p:nvPr/>
        </p:nvSpPr>
        <p:spPr>
          <a:xfrm>
            <a:off x="3978009" y="3675888"/>
            <a:ext cx="310896" cy="310896"/>
          </a:xfrm>
          <a:prstGeom prst="star5">
            <a:avLst/>
          </a:prstGeom>
          <a:solidFill>
            <a:schemeClr val="tx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389489" y="3621024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debe estar vigente antes de vender</a:t>
            </a:r>
            <a:endParaRPr lang="es-CL" sz="1800" dirty="0"/>
          </a:p>
        </p:txBody>
      </p:sp>
      <p:sp>
        <p:nvSpPr>
          <p:cNvPr id="26" name="Shape 24"/>
          <p:cNvSpPr/>
          <p:nvPr/>
        </p:nvSpPr>
        <p:spPr>
          <a:xfrm>
            <a:off x="548640" y="404164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4041648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 1: dúos 1 a 6</a:t>
            </a:r>
            <a:endParaRPr lang="es-CL" sz="1700" dirty="0"/>
          </a:p>
        </p:txBody>
      </p:sp>
      <p:sp>
        <p:nvSpPr>
          <p:cNvPr id="28" name="Shape 26"/>
          <p:cNvSpPr/>
          <p:nvPr/>
        </p:nvSpPr>
        <p:spPr>
          <a:xfrm>
            <a:off x="5055688" y="4105656"/>
            <a:ext cx="526989" cy="29260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29" name="Shape 27"/>
          <p:cNvSpPr/>
          <p:nvPr/>
        </p:nvSpPr>
        <p:spPr>
          <a:xfrm>
            <a:off x="6636656" y="4105656"/>
            <a:ext cx="526989" cy="29260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30" name="Shape 28"/>
          <p:cNvSpPr/>
          <p:nvPr/>
        </p:nvSpPr>
        <p:spPr>
          <a:xfrm>
            <a:off x="7163646" y="4105656"/>
            <a:ext cx="351326" cy="29260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31" name="Shape 29"/>
          <p:cNvSpPr/>
          <p:nvPr/>
        </p:nvSpPr>
        <p:spPr>
          <a:xfrm>
            <a:off x="7690635" y="4105656"/>
            <a:ext cx="175663" cy="29260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32" name="Shape 30"/>
          <p:cNvSpPr/>
          <p:nvPr/>
        </p:nvSpPr>
        <p:spPr>
          <a:xfrm>
            <a:off x="7866298" y="4105656"/>
            <a:ext cx="175663" cy="29260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33" name="Shape 31"/>
          <p:cNvSpPr/>
          <p:nvPr/>
        </p:nvSpPr>
        <p:spPr>
          <a:xfrm>
            <a:off x="4146332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338356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</a:t>
            </a:r>
            <a:endParaRPr lang="es-CL" sz="1600" dirty="0"/>
          </a:p>
        </p:txBody>
      </p:sp>
      <p:sp>
        <p:nvSpPr>
          <p:cNvPr id="35" name="Shape 33"/>
          <p:cNvSpPr/>
          <p:nvPr/>
        </p:nvSpPr>
        <p:spPr>
          <a:xfrm>
            <a:off x="5463805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55829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2</a:t>
            </a:r>
            <a:endParaRPr lang="es-CL" sz="1600" dirty="0"/>
          </a:p>
        </p:txBody>
      </p:sp>
      <p:sp>
        <p:nvSpPr>
          <p:cNvPr id="37" name="Shape 35"/>
          <p:cNvSpPr/>
          <p:nvPr/>
        </p:nvSpPr>
        <p:spPr>
          <a:xfrm>
            <a:off x="7044774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36798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3</a:t>
            </a:r>
            <a:endParaRPr lang="es-CL" sz="1600" dirty="0"/>
          </a:p>
        </p:txBody>
      </p:sp>
      <p:sp>
        <p:nvSpPr>
          <p:cNvPr id="39" name="Shape 37"/>
          <p:cNvSpPr/>
          <p:nvPr/>
        </p:nvSpPr>
        <p:spPr>
          <a:xfrm>
            <a:off x="7396100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8124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4</a:t>
            </a:r>
            <a:endParaRPr lang="es-CL" sz="1600" dirty="0"/>
          </a:p>
        </p:txBody>
      </p:sp>
      <p:sp>
        <p:nvSpPr>
          <p:cNvPr id="41" name="Shape 39"/>
          <p:cNvSpPr/>
          <p:nvPr/>
        </p:nvSpPr>
        <p:spPr>
          <a:xfrm>
            <a:off x="7747426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939450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5</a:t>
            </a:r>
            <a:endParaRPr lang="es-CL" sz="1600" dirty="0"/>
          </a:p>
        </p:txBody>
      </p:sp>
      <p:sp>
        <p:nvSpPr>
          <p:cNvPr id="43" name="Shape 41"/>
          <p:cNvSpPr/>
          <p:nvPr/>
        </p:nvSpPr>
        <p:spPr>
          <a:xfrm>
            <a:off x="7923089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115113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6</a:t>
            </a:r>
            <a:endParaRPr lang="es-CL" sz="1600" dirty="0"/>
          </a:p>
        </p:txBody>
      </p:sp>
      <p:sp>
        <p:nvSpPr>
          <p:cNvPr id="45" name="Shape 43"/>
          <p:cNvSpPr/>
          <p:nvPr/>
        </p:nvSpPr>
        <p:spPr>
          <a:xfrm>
            <a:off x="548640" y="4462272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48640" y="4462272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Calibración de modelos</a:t>
            </a:r>
            <a:endParaRPr lang="es-CL" sz="1700" dirty="0"/>
          </a:p>
        </p:txBody>
      </p:sp>
      <p:sp>
        <p:nvSpPr>
          <p:cNvPr id="47" name="Shape 45"/>
          <p:cNvSpPr/>
          <p:nvPr/>
        </p:nvSpPr>
        <p:spPr>
          <a:xfrm>
            <a:off x="4265204" y="4526280"/>
            <a:ext cx="3161936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65204" y="4462272"/>
            <a:ext cx="3161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dos al mes</a:t>
            </a:r>
            <a:endParaRPr lang="es-CL" sz="1600" dirty="0"/>
          </a:p>
        </p:txBody>
      </p:sp>
      <p:sp>
        <p:nvSpPr>
          <p:cNvPr id="49" name="Shape 47"/>
          <p:cNvSpPr/>
          <p:nvPr/>
        </p:nvSpPr>
        <p:spPr>
          <a:xfrm>
            <a:off x="7427140" y="4526280"/>
            <a:ext cx="4215915" cy="29260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7427140" y="4462272"/>
            <a:ext cx="42159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uno al mes</a:t>
            </a:r>
            <a:endParaRPr lang="es-CL" sz="1600" dirty="0"/>
          </a:p>
        </p:txBody>
      </p:sp>
      <p:sp>
        <p:nvSpPr>
          <p:cNvPr id="51" name="Shape 49"/>
          <p:cNvSpPr/>
          <p:nvPr/>
        </p:nvSpPr>
        <p:spPr>
          <a:xfrm>
            <a:off x="548640" y="488289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48640" y="4882896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Red de talleres</a:t>
            </a:r>
            <a:endParaRPr lang="es-CL" sz="1700" dirty="0"/>
          </a:p>
        </p:txBody>
      </p:sp>
      <p:sp>
        <p:nvSpPr>
          <p:cNvPr id="53" name="Shape 51"/>
          <p:cNvSpPr/>
          <p:nvPr/>
        </p:nvSpPr>
        <p:spPr>
          <a:xfrm>
            <a:off x="7427140" y="4946904"/>
            <a:ext cx="4215915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914191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2000" dirty="0"/>
          </a:p>
        </p:txBody>
      </p:sp>
      <p:sp>
        <p:nvSpPr>
          <p:cNvPr id="55" name="Text 53"/>
          <p:cNvSpPr txBox="1"/>
          <p:nvPr/>
        </p:nvSpPr>
        <p:spPr>
          <a:xfrm>
            <a:off x="8968170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</a:t>
            </a:r>
            <a:endParaRPr lang="es-CL" sz="2000" dirty="0"/>
          </a:p>
        </p:txBody>
      </p:sp>
      <p:sp>
        <p:nvSpPr>
          <p:cNvPr id="56" name="Text 54"/>
          <p:cNvSpPr txBox="1"/>
          <p:nvPr/>
        </p:nvSpPr>
        <p:spPr>
          <a:xfrm>
            <a:off x="10022148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20</a:t>
            </a:r>
            <a:endParaRPr lang="es-CL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11076127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42</a:t>
            </a:r>
            <a:endParaRPr lang="es-CL" sz="2000" dirty="0"/>
          </a:p>
        </p:txBody>
      </p:sp>
      <p:sp>
        <p:nvSpPr>
          <p:cNvPr id="58" name="Shape 56"/>
          <p:cNvSpPr/>
          <p:nvPr/>
        </p:nvSpPr>
        <p:spPr>
          <a:xfrm>
            <a:off x="548640" y="530352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30352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Talleres 2 y 3</a:t>
            </a:r>
            <a:endParaRPr lang="es-CL" sz="1700" dirty="0"/>
          </a:p>
        </p:txBody>
      </p:sp>
      <p:sp>
        <p:nvSpPr>
          <p:cNvPr id="60" name="Shape 58"/>
          <p:cNvSpPr/>
          <p:nvPr/>
        </p:nvSpPr>
        <p:spPr>
          <a:xfrm>
            <a:off x="8217624" y="5367528"/>
            <a:ext cx="263495" cy="292608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61" name="Shape 59"/>
          <p:cNvSpPr/>
          <p:nvPr/>
        </p:nvSpPr>
        <p:spPr>
          <a:xfrm>
            <a:off x="8481119" y="5367528"/>
            <a:ext cx="1053979" cy="29260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481119" y="5303520"/>
            <a:ext cx="105397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 2</a:t>
            </a:r>
            <a:endParaRPr lang="es-CL" sz="1600" dirty="0"/>
          </a:p>
        </p:txBody>
      </p:sp>
      <p:sp>
        <p:nvSpPr>
          <p:cNvPr id="63" name="Shape 61"/>
          <p:cNvSpPr/>
          <p:nvPr/>
        </p:nvSpPr>
        <p:spPr>
          <a:xfrm>
            <a:off x="10325582" y="5367528"/>
            <a:ext cx="263495" cy="292608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64" name="Shape 62"/>
          <p:cNvSpPr/>
          <p:nvPr/>
        </p:nvSpPr>
        <p:spPr>
          <a:xfrm>
            <a:off x="10589076" y="5367528"/>
            <a:ext cx="1053979" cy="29260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0589076" y="5303520"/>
            <a:ext cx="105397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 3</a:t>
            </a:r>
            <a:endParaRPr lang="es-CL" sz="1600" dirty="0"/>
          </a:p>
        </p:txBody>
      </p:sp>
      <p:sp>
        <p:nvSpPr>
          <p:cNvPr id="66" name="Shape 64"/>
          <p:cNvSpPr/>
          <p:nvPr/>
        </p:nvSpPr>
        <p:spPr>
          <a:xfrm>
            <a:off x="8362247" y="5394960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470204" y="5394960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925312"/>
            <a:ext cx="219456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59536" y="5852160"/>
            <a:ext cx="20372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Actividad principal</a:t>
            </a:r>
            <a:endParaRPr lang="es-CL" sz="1600" dirty="0"/>
          </a:p>
        </p:txBody>
      </p:sp>
      <p:sp>
        <p:nvSpPr>
          <p:cNvPr id="70" name="Shape 68"/>
          <p:cNvSpPr/>
          <p:nvPr/>
        </p:nvSpPr>
        <p:spPr>
          <a:xfrm>
            <a:off x="3171139" y="5925312"/>
            <a:ext cx="219456" cy="219456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3482035" y="5852160"/>
            <a:ext cx="10131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Operación</a:t>
            </a:r>
            <a:endParaRPr lang="es-CL" sz="1600" dirty="0"/>
          </a:p>
        </p:txBody>
      </p:sp>
      <p:sp>
        <p:nvSpPr>
          <p:cNvPr id="72" name="Shape 70"/>
          <p:cNvSpPr/>
          <p:nvPr/>
        </p:nvSpPr>
        <p:spPr>
          <a:xfrm>
            <a:off x="4769510" y="5925312"/>
            <a:ext cx="219456" cy="219456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080406" y="5852160"/>
            <a:ext cx="22421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Preapertura de taller</a:t>
            </a:r>
            <a:endParaRPr lang="es-CL" sz="1600" dirty="0"/>
          </a:p>
        </p:txBody>
      </p:sp>
      <p:sp>
        <p:nvSpPr>
          <p:cNvPr id="74" name="Shape 72"/>
          <p:cNvSpPr/>
          <p:nvPr/>
        </p:nvSpPr>
        <p:spPr>
          <a:xfrm>
            <a:off x="7596835" y="5925312"/>
            <a:ext cx="219456" cy="219456"/>
          </a:xfrm>
          <a:prstGeom prst="diamond">
            <a:avLst/>
          </a:prstGeom>
          <a:solidFill>
            <a:schemeClr val="tx1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7907731" y="5852160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Apertura o dúo nuevo</a:t>
            </a:r>
            <a:endParaRPr lang="es-CL" sz="1600" dirty="0"/>
          </a:p>
        </p:txBody>
      </p:sp>
      <p:sp>
        <p:nvSpPr>
          <p:cNvPr id="76" name="Shape 74"/>
          <p:cNvSpPr/>
          <p:nvPr/>
        </p:nvSpPr>
        <p:spPr>
          <a:xfrm>
            <a:off x="10321747" y="5925312"/>
            <a:ext cx="219456" cy="219456"/>
          </a:xfrm>
          <a:prstGeom prst="star5">
            <a:avLst/>
          </a:prstGeom>
          <a:solidFill>
            <a:schemeClr val="tx1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10632643" y="5852160"/>
            <a:ext cx="1320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Hito crítico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mine">
  <a:themeElements>
    <a:clrScheme name="Lumine">
      <a:dk1>
        <a:srgbClr val="ECECEC"/>
      </a:dk1>
      <a:lt1>
        <a:srgbClr val="020304"/>
      </a:lt1>
      <a:dk2>
        <a:srgbClr val="8B9598"/>
      </a:dk2>
      <a:lt2>
        <a:srgbClr val="0A0D0F"/>
      </a:lt2>
      <a:accent1>
        <a:srgbClr val="22B8F0"/>
      </a:accent1>
      <a:accent2>
        <a:srgbClr val="8B9598"/>
      </a:accent2>
      <a:accent3>
        <a:srgbClr val="4A5257"/>
      </a:accent3>
      <a:accent4>
        <a:srgbClr val="ECECEC"/>
      </a:accent4>
      <a:accent5>
        <a:srgbClr val="2E3438"/>
      </a:accent5>
      <a:accent6>
        <a:srgbClr val="101417"/>
      </a:accent6>
      <a:hlink>
        <a:srgbClr val="22B8F0"/>
      </a:hlink>
      <a:folHlink>
        <a:srgbClr val="0A6F9E"/>
      </a:folHlink>
    </a:clrScheme>
    <a:fontScheme name="Lumine">
      <a:majorFont>
        <a:latin typeface="Michrom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chiv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Lumine Motors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Fase 3 · Plan de Marketing, Operaciones y Recursos Humanos · Lumine Motors</dc:title>
  <dc:subject>Integrador II: Taller de Empresas · ICMA 1001 · Grupo 1</dc:subject>
  <dc:creator>Diego Alarcón, Benjamín Torres y Lukas Verdugo</dc:creator>
  <cp:lastModifiedBy>Diego Alarcón, Benjamín Torres y Lukas Verdugo</cp:lastModifiedBy>
  <cp:revision>1</cp:revision>
  <dcterms:created xsi:type="dcterms:W3CDTF">2026-10-18T00:41:13Z</dcterms:created>
  <dcterms:modified xsi:type="dcterms:W3CDTF">2026-10-18T00:41:13Z</dcterms:modified>
</cp:coreProperties>
</file>