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8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9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2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embeddedFontLst>
    <p:embeddedFont>
      <p:font typeface="Michroma" charset="0"/>
      <p:regular r:id="rIdFuente1"/>
    </p:embeddedFont>
    <p:embeddedFont>
      <p:font typeface="Archivo Condensed" charset="0"/>
      <p:regular r:id="rIdFuente2"/>
      <p:bold r:id="rIdFuente3"/>
    </p:embeddedFont>
    <p:embeddedFont>
      <p:font typeface="Archivo" charset="0"/>
      <p:regular r:id="rIdFuente4"/>
      <p:bold r:id="rIdFuente5"/>
    </p:embeddedFont>
    <p:embeddedFont>
      <p:font typeface="Archivo SemiCondensed Medium" charset="0"/>
      <p:regular r:id="rIdFuente6"/>
      <p:bold r:id="rIdFuente7"/>
    </p:embeddedFont>
    <p:embeddedFont>
      <p:font typeface="Archivo Expanded Light" charset="0"/>
      <p:regular r:id="rIdFuente8"/>
      <p:italic r:id="rIdFuente9"/>
    </p:embeddedFont>
    <p:embeddedFont>
      <p:font typeface="Archivo Expanded ExtraBold" charset="0"/>
      <p:regular r:id="rIdFuente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4d8ed791-05a7-ef74-9db5-4511d61ce75f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 · Benjamín Torres" id="{c9a56b6a-6d7f-4540-399a-3aa2e627c549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3 · Lukas Verdugo" id="{56d6758c-4830-de4e-6a2a-15e6043f46f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nexo" id="{c3914e2d-11e5-7ae7-c205-16f0e2bfda2d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Fuente1" Type="http://schemas.openxmlformats.org/officeDocument/2006/relationships/font" Target="fonts/font1.fntdata"/><Relationship Id="rIdFuente2" Type="http://schemas.openxmlformats.org/officeDocument/2006/relationships/font" Target="fonts/font2.fntdata"/><Relationship Id="rIdFuente3" Type="http://schemas.openxmlformats.org/officeDocument/2006/relationships/font" Target="fonts/font3.fntdata"/><Relationship Id="rIdFuente4" Type="http://schemas.openxmlformats.org/officeDocument/2006/relationships/font" Target="fonts/font4.fntdata"/><Relationship Id="rIdFuente5" Type="http://schemas.openxmlformats.org/officeDocument/2006/relationships/font" Target="fonts/font5.fntdata"/><Relationship Id="rIdFuente6" Type="http://schemas.openxmlformats.org/officeDocument/2006/relationships/font" Target="fonts/font6.fntdata"/><Relationship Id="rIdFuente7" Type="http://schemas.openxmlformats.org/officeDocument/2006/relationships/font" Target="fonts/font7.fntdata"/><Relationship Id="rIdFuente8" Type="http://schemas.openxmlformats.org/officeDocument/2006/relationships/font" Target="fonts/font8.fntdata"/><Relationship Id="rIdFuente9" Type="http://schemas.openxmlformats.org/officeDocument/2006/relationships/font" Target="fonts/font9.fntdata"/><Relationship Id="rIdFuente10" Type="http://schemas.openxmlformats.org/officeDocument/2006/relationships/font" Target="fonts/font10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Esencial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36.6</c:v>
                </c:pt>
                <c:pt idx="1">
                  <c:v>28.9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Plus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34.3</c:v>
                </c:pt>
                <c:pt idx="1">
                  <c:v>27.5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4A52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7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
$80,9 M</c:v>
                  </c:pt>
                  <c:pt idx="1">
                    <c:v>Año 2
$80,0 M</c:v>
                  </c:pt>
                  <c:pt idx="2">
                    <c:v>Año 3
$116,3 M</c:v>
                  </c:pt>
                  <c:pt idx="3">
                    <c:v>Año 4
$134,3 M</c:v>
                  </c:pt>
                  <c:pt idx="4">
                    <c:v>Año 5
$163,7 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A9B1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
$80,9 M</c:v>
                  </c:pt>
                  <c:pt idx="1">
                    <c:v>Año 2
$80,0 M</c:v>
                  </c:pt>
                  <c:pt idx="2">
                    <c:v>Año 3
$116,3 M</c:v>
                  </c:pt>
                  <c:pt idx="3">
                    <c:v>Año 4
$134,3 M</c:v>
                  </c:pt>
                  <c:pt idx="4">
                    <c:v>Año 5
$163,7 M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6B75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
$80,9 M</c:v>
                  </c:pt>
                  <c:pt idx="1">
                    <c:v>Año 2
$80,0 M</c:v>
                  </c:pt>
                  <c:pt idx="2">
                    <c:v>Año 3
$116,3 M</c:v>
                  </c:pt>
                  <c:pt idx="3">
                    <c:v>Año 4
$134,3 M</c:v>
                  </c:pt>
                  <c:pt idx="4">
                    <c:v>Año 5
$163,7 M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</c:v>
                </c:pt>
              </c:strCache>
            </c:strRef>
          </c:tx>
          <c:spPr>
            <a:solidFill>
              <a:srgbClr val="3A41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
$80,9 M</c:v>
                  </c:pt>
                  <c:pt idx="1">
                    <c:v>Año 2
$80,0 M</c:v>
                  </c:pt>
                  <c:pt idx="2">
                    <c:v>Año 3
$116,3 M</c:v>
                  </c:pt>
                  <c:pt idx="3">
                    <c:v>Año 4
$134,3 M</c:v>
                  </c:pt>
                  <c:pt idx="4">
                    <c:v>Año 5
$163,7 M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Dotación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13</c:v>
                </c:pt>
                <c:pt idx="2">
                  <c:v>21</c:v>
                </c:pt>
                <c:pt idx="3">
                  <c:v>33</c:v>
                </c:pt>
                <c:pt idx="4">
                  <c:v>40</c:v>
                </c:pt>
                <c:pt idx="5">
                  <c:v>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por instalación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</c:v>
                </c:pt>
                <c:pt idx="1">
                  <c:v>306</c:v>
                </c:pt>
                <c:pt idx="2">
                  <c:v>257</c:v>
                </c:pt>
                <c:pt idx="3">
                  <c:v>253</c:v>
                </c:pt>
                <c:pt idx="4">
                  <c:v>265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Talleres propios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de talleres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−#,##0;;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50"/>
          <c:min val="-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8100" cap="flat">
              <a:solidFill>
                <a:srgbClr val="22B8F0"/>
              </a:solidFill>
              <a:prstDash val="dash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1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</c:v>
                  </c:pt>
                  <c:pt idx="6">
                    <c:v>Comercial</c:v>
                  </c:pt>
                  <c:pt idx="7">
                    <c:v>Técnico N1</c:v>
                  </c:pt>
                  <c:pt idx="8">
                    <c:v>Asistentes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750</c:v>
                </c:pt>
                <c:pt idx="8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;;&quot;—&quot;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;;&quot;—&quot;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operacional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1064.1</c:v>
                </c:pt>
                <c:pt idx="1">
                  <c:v>2945.4</c:v>
                </c:pt>
                <c:pt idx="2">
                  <c:v>5657.9</c:v>
                </c:pt>
                <c:pt idx="3">
                  <c:v>7623.5</c:v>
                </c:pt>
                <c:pt idx="4">
                  <c:v>9605.8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CECE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30 s
Buenos días. Somos Diego Alarcón, Benjamín Torres y Lukas Verdugo, y les presentamos el capítulo tres de Lumine Motors: los planes de marketing, recursos humanos y operaciones. Los tres comparten un mismo gatillo, así que un cambio en la demanda mueve el plan completo. Yo parto con los objetivos y el mercado, Benjamín sigue con la estrategia comercial y Lukas cierra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Transición sin texto: se pasa directo a los objetivos.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El objetivo general es que en cinco años Lumine sea la referencia de la hibridación de posventa en Chile, con tres talleres propios en la Región Metropolitana y una red certificada en todas las regiones. Las metas del primer año siguen al cliente: instalar al menos 299 vehículos, publicar tres casos con ahorro medido en nueve meses, llegar a 80% de clientes satisfechos y a 15% de clientes por recomendación. La meta de cotizaciones está por confirmar, porque depende de la tasa de conversión que mida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edad, su ingreso ni la antigüedad de su auto, sino por tener un vehículo compatible: liviano, a combustión y con tracción delantera, porque el kit va en el eje trasero. De las cuatro variables, la decisiva es la conductual: la intensidad y el tipo de uso fijan en cuánto tiempo el ahorro paga la inversión. Por eso entramos por el uso laboral de alta intensidad: colectivos, taxis y aplicaciones.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Nada de esto se le ha preguntado aún a un conductor, así que la investigación es mixta y secuencial: primero entrevistas a cuatro expertos y a cinco perfiles de clientes, después una encuesta por cuotas a 150 personas, con 100 como mínimo. Como no es aleatoria, los resultados serán indicativos. Pone a prueba seis hipótesis; por ejemplo, que la barrera principal es la confianza y no el precio. Hasta ahora hicimos la entrevista en profundidad; el resto está por realizar.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50 s
En la matriz de Ansoff, Lumine entra por desarrollo de producto: el mercado existe, porque los conductores ya buscan gastar menos, pero la hibridación aditiva no tiene oferta en Chile. En el año 2 viene la penetración y, antes de lo habitual, la diversificación relacionada: vender patrones de calibración, kits y certificación a otros talleres, porque la exclusividad de la calibración se agota con el tiempo. En el año 3 llega el desarrollo de mercado. Y nuestra ventaja competitiva, sostenible en el tiempo, es la biblioteca de calibraciones por modelo: crece con cada instalación y es lo más difícil de copiar.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Este mapa ordena las alternativas por inversión y por lo que exigen al conductor. El híbrido usado y el eléctrico nuevo obligan a cambiar de auto y cuestan sobre 9 millones. La conversión a gas es barata, pero tiene límite de antigüedad. No hacer nada no cuesta, pero tampoco ahorra. Lumine queda sola en el espacio vacío: gastar menos sin cambiar de auto y sin límite de antigüedad. El concepto: el mismo auto, ahora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En el mix de marketing, el cliente conoce su ahorro antes de pagar y lo comprueba después. El kit tiene dos versiones. Esencial cuesta 4.290.000 pesos con IVA y promete hasta 15% menos bencina; Plus cuesta 4.990.000 y hasta 20%. Plus vale 16% más, pero ahorra 24% más al colectivo, así que cada punto de ahorro sale más barato, y el colectivo recupera la inversión en 34 meses.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red: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El presupuesto de marketing se arma por objetivo y tarea, no como un porcentaje de ventas que aún no existen. El primer año invierte 80,9 millones de pesos, el 6,8% de los ingresos propios, porque concentra el lanzamiento y 25 clientes piloto con 50% de descuento a cambio de su caso medido. Desde el segundo año baja a 2,3% de los ingresos, y desde el tercero la partida mayor son las comisiones, que siguen a las instalaciones. En cinco años, el marketing suma 575 millones.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Transición sin texto: se pasa directo a la estructura.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30 s
Para atender esa demanda, la estructura es funcional y sin mandos intermedios: cinco áreas que responden a la Gerencia General. La estructura no cambia con el crecimiento; cambia cuántas personas hay en cada cargo, y nadie se contrata antes de que la carga lo justifique. Ingeniería de Calibración depende de la Gerencia y no del taller, porque la biblioteca sostiene la ventaja.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15 s
Así el equipo pasa de 13 personas al cierre del primer año a 56 al quinto, y casi dos de cada tres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Gracias, Benjamín. El oficio escasea en Chile, así que los técnicos se forman en casa con Lumine Habilita: 39 competencias, cuatro niveles y 392 horas. Con formación intensiva, un técnico nuevo llega al nivel 4 en unos ocho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La nómina sube de 152 a 755 millones en cinco años, pero el costo por instalación cae a la mitad, de 508 mil pesos a 253 mil en el cuarto año, porque los cargos fijos se reparten en más autos.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Transición sin texto: se pasa directo al flujo operacional.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El flujo sigue a un vehículo desde la cotización hasta el fin de vida de la batería, en cinco etapas. Una regla lo atraviesa: el negocio mide y recomienda, pero la decisión de instalar es siempre del cliente. Solo se detiene por razones técnicas.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15 s
La instalación toma una jornada de 8,4 horas con cuatro puntos de control, y el límite de capacidad son las horas de los dúos: un dinamómetro por local alcanza incluso para seis dúos.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2027. En los tres meses previos se homologa el primer modelo y se forma el primer dúo. Pero el eslabón crítico es externo: el reglamento de la Ley 21.793 sigue pendiente, y sin él no hay certificado ni venta legal. Los dúos entran según la demanda, del segundo en el mes 6 al sexto en el mes 20;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Cada local con seis puestos requiere 81 millones de inversión, casi la mitad en el dinamómetro, y el kit explica más del 90% del gasto operacional. Con los tres presupuestos, la línea propia pierde 130 millones en el lanzamiento y gana desde el segundo año, hasta un margen de 7,7%. La red rinde cerca de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10 s
El riesgo mayor es el dólar: un alza de 10% casi borra el resultado propio del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Para cerrar, tres conclusiones. Primero, la oportunidad existe: desde el primer año hay más demanda que capacidad. Segundo, hay espacio competitivo: somos la única alternativa que ahorra sin cambiar de auto, y la red vende la calibración mientras sigue siendo exclusiva. Tercero, los tres planes se mueven con un mismo gatillo, la demanda sobre el 80% de la capacidad, y cada línea gana desde el segundo año.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Queda en pantalla mientras responden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 y bono único por nivel validado (Tabla N°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A11 · Solo si preguntan.
La Carta Gantt completa (Figura N° 5): preparación, entrada de cada dúo, calibración de modelos, preapertura y apertura de los talleres 2 y 3, y crecimiento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IERRE-image-2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98448"/>
            <a:ext cx="10058400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5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ERTUR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INTEGRADOR II · ICMA 1001 · GRUPO 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png"/><Relationship Id="rId5" Type="http://schemas.openxmlformats.org/officeDocument/2006/relationships/image" Target="../media/image-17-5.jpg"/><Relationship Id="rId6" Type="http://schemas.openxmlformats.org/officeDocument/2006/relationships/image" Target="../media/image-17-6.jpg"/><Relationship Id="rId7" Type="http://schemas.openxmlformats.org/officeDocument/2006/relationships/image" Target="../media/image-17-7.jp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5.xml"/><Relationship Id="rId3" Type="http://schemas.openxmlformats.org/officeDocument/2006/relationships/slide" Target="slide25.xml"/><Relationship Id="rId4" Type="http://schemas.openxmlformats.org/officeDocument/2006/relationships/slide" Target="slide26.xml"/><Relationship Id="rId5" Type="http://schemas.openxmlformats.org/officeDocument/2006/relationships/slide" Target="slide26.xml"/><Relationship Id="rId6" Type="http://schemas.openxmlformats.org/officeDocument/2006/relationships/slide" Target="slide27.xml"/><Relationship Id="rId7" Type="http://schemas.openxmlformats.org/officeDocument/2006/relationships/slide" Target="slide27.xml"/><Relationship Id="rId8" Type="http://schemas.openxmlformats.org/officeDocument/2006/relationships/slide" Target="slide28.xml"/><Relationship Id="rId9" Type="http://schemas.openxmlformats.org/officeDocument/2006/relationships/slide" Target="slide28.xml"/><Relationship Id="rId10" Type="http://schemas.openxmlformats.org/officeDocument/2006/relationships/slide" Target="slide29.xml"/><Relationship Id="rId11" Type="http://schemas.openxmlformats.org/officeDocument/2006/relationships/slide" Target="slide29.xml"/><Relationship Id="rId12" Type="http://schemas.openxmlformats.org/officeDocument/2006/relationships/slide" Target="slide30.xml"/><Relationship Id="rId13" Type="http://schemas.openxmlformats.org/officeDocument/2006/relationships/slide" Target="slide30.xml"/><Relationship Id="rId14" Type="http://schemas.openxmlformats.org/officeDocument/2006/relationships/slide" Target="slide31.xml"/><Relationship Id="rId15" Type="http://schemas.openxmlformats.org/officeDocument/2006/relationships/slide" Target="slide31.xml"/><Relationship Id="rId16" Type="http://schemas.openxmlformats.org/officeDocument/2006/relationships/slide" Target="slide32.xml"/><Relationship Id="rId17" Type="http://schemas.openxmlformats.org/officeDocument/2006/relationships/slide" Target="slide32.xml"/><Relationship Id="rId18" Type="http://schemas.openxmlformats.org/officeDocument/2006/relationships/slide" Target="slide33.xml"/><Relationship Id="rId19" Type="http://schemas.openxmlformats.org/officeDocument/2006/relationships/slide" Target="slide33.xml"/><Relationship Id="rId20" Type="http://schemas.openxmlformats.org/officeDocument/2006/relationships/slide" Target="slide34.xml"/><Relationship Id="rId21" Type="http://schemas.openxmlformats.org/officeDocument/2006/relationships/slide" Target="slide34.xml"/><Relationship Id="rId22" Type="http://schemas.openxmlformats.org/officeDocument/2006/relationships/slide" Target="slide35.xml"/><Relationship Id="rId23" Type="http://schemas.openxmlformats.org/officeDocument/2006/relationships/slide" Target="slide35.xml"/><Relationship Id="rId1" Type="http://schemas.openxmlformats.org/officeDocument/2006/relationships/image" Target="../media/Slide-24-image-1.jpeg"/><Relationship Id="rId24" Type="http://schemas.openxmlformats.org/officeDocument/2006/relationships/slideLayout" Target="../slideLayouts/slideLayout5.xml"/><Relationship Id="rId2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UNAB · OCTUBRE 2026</a:t>
            </a:r>
            <a:endParaRPr lang="es-CL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FASE 3 · CAPÍTULO III</a:t>
            </a:r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·  PLAN DE MARKETING, OPERACIONES Y RECURSOS HUMANOS</a:t>
            </a:r>
            <a:endParaRPr lang="es-CL" sz="14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298448"/>
            <a:ext cx="10058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LUMINE MOTORS</a:t>
            </a:r>
            <a:endParaRPr lang="en-US" sz="58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reconversión híbrida.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72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TU MISMO AUTO, AHORA HÍBRIDO</a:t>
            </a:r>
            <a:endParaRPr lang="es-CL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01568"/>
            <a:ext cx="3246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 que hibrida autos a combustión de tracción delantera para gastar menos bencina sin cambiar de auto.</a:t>
            </a:r>
            <a:endParaRPr lang="es-CL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956048"/>
            <a:ext cx="109728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102352"/>
            <a:ext cx="3429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Integrador II · ICMA 1001 · Grupo 1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Universidad Andrés Bello · Facultad de Economía y Negocios · Ingeniería Comercial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Profesor: Roberto Brito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Diego Alarcón · Benjamín Torres · Lukas Verdugo</a:t>
            </a:r>
            <a:endParaRPr lang="es-CL" sz="1200" dirty="0"/>
          </a:p>
        </p:txBody>
      </p:sp>
      <p:sp>
        <p:nvSpPr>
          <p:cNvPr id="9" name="Shape 7"/>
          <p:cNvSpPr/>
          <p:nvPr/>
        </p:nvSpPr>
        <p:spPr>
          <a:xfrm>
            <a:off x="5010912" y="6163056"/>
            <a:ext cx="429768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10912" y="4608576"/>
            <a:ext cx="0" cy="1554480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956048" y="4489704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7890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0507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MOTOR ORIGINAL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intacto</a:t>
            </a:r>
            <a:endParaRPr lang="es-CL" sz="1200" dirty="0"/>
          </a:p>
        </p:txBody>
      </p:sp>
      <p:sp>
        <p:nvSpPr>
          <p:cNvPr id="14" name="Shape 12"/>
          <p:cNvSpPr/>
          <p:nvPr/>
        </p:nvSpPr>
        <p:spPr>
          <a:xfrm>
            <a:off x="6931152" y="5166360"/>
            <a:ext cx="0" cy="996696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6876288" y="5047488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9914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2531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BATERÍA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bajo el piso</a:t>
            </a:r>
            <a:endParaRPr lang="es-CL" sz="1200" dirty="0"/>
          </a:p>
        </p:txBody>
      </p:sp>
      <p:sp>
        <p:nvSpPr>
          <p:cNvPr id="18" name="Shape 16"/>
          <p:cNvSpPr/>
          <p:nvPr/>
        </p:nvSpPr>
        <p:spPr>
          <a:xfrm>
            <a:off x="9308592" y="5102352"/>
            <a:ext cx="0" cy="1060704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19" name="Shape 17"/>
          <p:cNvSpPr/>
          <p:nvPr/>
        </p:nvSpPr>
        <p:spPr>
          <a:xfrm>
            <a:off x="9253728" y="4983480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7658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275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TRACCIÓN ELÉCTRICA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eje trasero</a:t>
            </a:r>
            <a:endParaRPr lang="es-CL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899855" y="640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/  03   ·   PLAN</a:t>
            </a:r>
            <a:endParaRPr lang="es-CL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MARKETING</a:t>
            </a:r>
            <a:endParaRPr lang="es-CL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28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entender el mercado</a:t>
            </a:r>
            <a:endParaRPr lang="es-CL" sz="2800" dirty="0"/>
          </a:p>
          <a:p>
            <a:pPr indent="0" marL="0">
              <a:lnSpc>
                <a:spcPct val="95000"/>
              </a:lnSpc>
              <a:buNone/>
            </a:pPr>
            <a:r>
              <a:rPr lang="es-CL" altLang="en-US" sz="28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antes de acelerar.</a:t>
            </a:r>
            <a:endParaRPr lang="es-CL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82296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46227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Objetivos y segmentación</a:t>
            </a:r>
            <a:endParaRPr lang="es-CL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0974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Investigación y estrategia</a:t>
            </a:r>
            <a:endParaRPr lang="es-CL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572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Precio, demanda y presupuesto</a:t>
            </a:r>
            <a:endParaRPr lang="es-CL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OBJETIVOS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299 VEHÍCULOS EL PRIMER AÑO,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la referencia al quinto.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con base en Informe Fase 3 (§3.1.1, Tablas N° 1 y 10).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META DEL PRIMER AÑO</a:t>
            </a:r>
            <a:endParaRPr lang="es-CL" sz="1600" dirty="0"/>
          </a:p>
        </p:txBody>
      </p:sp>
      <p:pic>
        <p:nvPicPr>
          <p:cNvPr id="6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40" y="2359152"/>
            <a:ext cx="3383280" cy="17190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670048"/>
            <a:ext cx="3611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941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instalaciones propias</a:t>
            </a:r>
            <a:endParaRPr lang="es-CL" sz="22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36118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61104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1664208" y="4261104"/>
            <a:ext cx="2496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casos con ahorro medido en nueve meses</a:t>
            </a:r>
            <a:endParaRPr lang="es-CL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4901184"/>
            <a:ext cx="36118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937760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1664208" y="4937760"/>
            <a:ext cx="2496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clientes satisfechos</a:t>
            </a:r>
            <a:endParaRPr lang="es-CL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5577840"/>
            <a:ext cx="36118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561441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1664208" y="5614416"/>
            <a:ext cx="2496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llega por recomendación</a:t>
            </a:r>
            <a:endParaRPr lang="es-CL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709160" y="2395728"/>
            <a:ext cx="6933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INSTALACIONES PROPIAS POR AÑO</a:t>
            </a:r>
            <a:endParaRPr lang="es-CL" sz="1600" dirty="0"/>
          </a:p>
        </p:txBody>
      </p:sp>
      <p:sp>
        <p:nvSpPr>
          <p:cNvPr id="19" name="Shape 16"/>
          <p:cNvSpPr/>
          <p:nvPr/>
        </p:nvSpPr>
        <p:spPr>
          <a:xfrm>
            <a:off x="4709160" y="2944368"/>
            <a:ext cx="45720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76088" y="2761488"/>
            <a:ext cx="63669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Meta a cinco años: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 la referencia de la hibridación de posventa en Chile.</a:t>
            </a:r>
            <a:endParaRPr lang="es-CL" sz="1800" dirty="0"/>
          </a:p>
        </p:txBody>
      </p:sp>
      <p:graphicFrame>
        <p:nvGraphicFramePr>
          <p:cNvPr id="21" name="Instalaciones propias por año" descr=""/>
          <p:cNvGraphicFramePr/>
          <p:nvPr/>
        </p:nvGraphicFramePr>
        <p:xfrm>
          <a:off x="4617720" y="3264408"/>
          <a:ext cx="7025335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SEGMENTACIÓN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CLIENTE SE DEFINE POR SU AUTO,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no por su edad.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Condición: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 liviano, a combustión y con tracción delantera.</a:t>
            </a:r>
            <a:endParaRPr lang="es-CL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2533574" cy="228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163824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GEOGRÁFICA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74720"/>
            <a:ext cx="25335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51376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parque está en la Región Metropolitana (RM)</a:t>
            </a:r>
            <a:endParaRPr lang="es-CL" sz="1800" dirty="0"/>
          </a:p>
        </p:txBody>
      </p:sp>
      <p:sp>
        <p:nvSpPr>
          <p:cNvPr id="10" name="Shape 8"/>
          <p:cNvSpPr/>
          <p:nvPr/>
        </p:nvSpPr>
        <p:spPr>
          <a:xfrm>
            <a:off x="3402254" y="3017520"/>
            <a:ext cx="2533574" cy="228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02254" y="3163824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DEMOGRÁFICA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02254" y="3474720"/>
            <a:ext cx="25335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3402254" y="4151376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usa, decide, paga o influye</a:t>
            </a:r>
            <a:endParaRPr lang="es-CL" sz="1800" dirty="0"/>
          </a:p>
        </p:txBody>
      </p:sp>
      <p:sp>
        <p:nvSpPr>
          <p:cNvPr id="14" name="Shape 12"/>
          <p:cNvSpPr/>
          <p:nvPr/>
        </p:nvSpPr>
        <p:spPr>
          <a:xfrm>
            <a:off x="6255868" y="3017520"/>
            <a:ext cx="2533574" cy="228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55868" y="3163824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PSICOGRÁFICA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55868" y="3474720"/>
            <a:ext cx="25335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255868" y="4151376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ahorro es uno de ellos</a:t>
            </a:r>
            <a:endParaRPr lang="es-CL" sz="1800" dirty="0"/>
          </a:p>
        </p:txBody>
      </p:sp>
      <p:sp>
        <p:nvSpPr>
          <p:cNvPr id="18" name="Shape 16"/>
          <p:cNvSpPr/>
          <p:nvPr/>
        </p:nvSpPr>
        <p:spPr>
          <a:xfrm>
            <a:off x="9109481" y="3017520"/>
            <a:ext cx="2533574" cy="45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09481" y="3163824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CONDUCTUAL</a:t>
            </a:r>
            <a:endParaRPr lang="es-CL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109481" y="3474720"/>
            <a:ext cx="25335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ejes</a:t>
            </a:r>
            <a:endParaRPr lang="es-CL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9109481" y="4151376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intensidad de uso es la que manda</a:t>
            </a:r>
            <a:endParaRPr lang="es-CL" sz="1800" dirty="0"/>
          </a:p>
        </p:txBody>
      </p:sp>
      <p:pic>
        <p:nvPicPr>
          <p:cNvPr id="22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4800600"/>
            <a:ext cx="12008815" cy="17556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48640" y="5120640"/>
            <a:ext cx="11094415" cy="1115568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3776" y="50657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3776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542471" y="50657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697919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93776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3776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03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PUNTO DE ENTRADA · USO LABORAL INTENSIVO</a:t>
            </a:r>
            <a:endParaRPr lang="es-CL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5596128"/>
            <a:ext cx="7619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Colectivos, taxis y aplicaciones en la RM</a:t>
            </a:r>
            <a:endParaRPr lang="es-CL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8625535" y="52120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4400" dirty="0"/>
          </a:p>
        </p:txBody>
      </p:sp>
      <p:sp>
        <p:nvSpPr>
          <p:cNvPr id="35" name="Text 32"/>
          <p:cNvSpPr txBox="1"/>
          <p:nvPr/>
        </p:nvSpPr>
        <p:spPr>
          <a:xfrm>
            <a:off x="8625535" y="58521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vehículos en el segmento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INVESTIGACIÓN DE MERCADO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antes de fijar el precio.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§3.1.3, Tablas N° 2 y 3). Muestra no probabilística: resultados indicativos.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505456"/>
            <a:ext cx="8412251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57784" y="2414016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Profundidad</a:t>
            </a:r>
            <a:endParaRPr lang="es-CL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conductor de aplicaciones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681728"/>
            <a:ext cx="1367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58368" y="4681728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REALIZADA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3331388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22244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2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322244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Expertos</a:t>
            </a:r>
            <a:endParaRPr lang="es-CL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expertos del rubro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3322244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31972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0" name="Shape 18"/>
          <p:cNvSpPr/>
          <p:nvPr/>
        </p:nvSpPr>
        <p:spPr>
          <a:xfrm>
            <a:off x="6104992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95848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3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Clientes</a:t>
            </a:r>
            <a:endParaRPr lang="es-CL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095848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48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perfiles de cliente</a:t>
            </a:r>
            <a:endParaRPr lang="es-CL" sz="2000" dirty="0"/>
          </a:p>
        </p:txBody>
      </p:sp>
      <p:sp>
        <p:nvSpPr>
          <p:cNvPr id="25" name="Shape 23"/>
          <p:cNvSpPr/>
          <p:nvPr/>
        </p:nvSpPr>
        <p:spPr>
          <a:xfrm>
            <a:off x="6095848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05576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7" name="Shape 25"/>
          <p:cNvSpPr/>
          <p:nvPr/>
        </p:nvSpPr>
        <p:spPr>
          <a:xfrm>
            <a:off x="8878595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69451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4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69451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Encuesta</a:t>
            </a:r>
            <a:endParaRPr lang="es-CL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8869451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4800" dirty="0"/>
          </a:p>
        </p:txBody>
      </p:sp>
      <p:sp>
        <p:nvSpPr>
          <p:cNvPr id="31" name="Text 29"/>
          <p:cNvSpPr txBox="1"/>
          <p:nvPr/>
        </p:nvSpPr>
        <p:spPr>
          <a:xfrm>
            <a:off x="8869451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encuestas por cuotas</a:t>
            </a:r>
            <a:endParaRPr lang="es-CL" sz="2000" dirty="0"/>
          </a:p>
        </p:txBody>
      </p:sp>
      <p:sp>
        <p:nvSpPr>
          <p:cNvPr id="32" name="Shape 30"/>
          <p:cNvSpPr/>
          <p:nvPr/>
        </p:nvSpPr>
        <p:spPr>
          <a:xfrm>
            <a:off x="8869451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79179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513892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248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H4 · LA HIPÓTESIS QUE MÁS DECIDE</a:t>
            </a:r>
            <a:endParaRPr lang="es-CL" sz="1600" dirty="0"/>
          </a:p>
        </p:txBody>
      </p:sp>
      <p:sp>
        <p:nvSpPr>
          <p:cNvPr id="36" name="Shape 34"/>
          <p:cNvSpPr/>
          <p:nvPr/>
        </p:nvSpPr>
        <p:spPr>
          <a:xfrm>
            <a:off x="8365947" y="5212080"/>
            <a:ext cx="32771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475675" y="5212080"/>
            <a:ext cx="30576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HIPÓTESIS · POR COMPROBAR</a:t>
            </a:r>
            <a:endParaRPr lang="es-CL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5412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«La barrera es la confianza, no el precio.»</a:t>
            </a:r>
            <a:endParaRPr lang="es-CL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8138160" y="5632704"/>
            <a:ext cx="3504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Muestra por cuotas: resultados indicativos (±8% con 150 casos).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MATRIZ DE ANSOFF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PRODUCTO NUEVO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 un mercado que ya existe.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Ansoff (1965); elaboración propia (Informe Fase 3, §3.1.4, §3.1.5.4, §3.2.1 y Figura N° 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395728"/>
            <a:ext cx="3451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 EXISTENTE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640580" y="2395728"/>
            <a:ext cx="3451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 NUEVO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-54864" y="3483864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MERCADO EXISTENTE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54864" y="518464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MERCADO NUEVO</a:t>
            </a:r>
            <a:endParaRPr lang="es-CL" sz="1600" dirty="0"/>
          </a:p>
        </p:txBody>
      </p:sp>
      <p:pic>
        <p:nvPicPr>
          <p:cNvPr id="9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2084832"/>
            <a:ext cx="5280660" cy="316382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640580" y="2816352"/>
            <a:ext cx="3451860" cy="1700784"/>
          </a:xfrm>
          <a:prstGeom prst="rect">
            <a:avLst/>
          </a:prstGeom>
          <a:solidFill>
            <a:srgbClr val="0B1A22">
              <a:alpha val="85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640580" y="28163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40580" y="281635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936992" y="28163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2440" y="281635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40580" y="45171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40580" y="43616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36992" y="45171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92440" y="43616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95444" y="4572000"/>
            <a:ext cx="3342132" cy="159105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1188720" y="4517136"/>
            <a:ext cx="690372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640580" y="2816352"/>
            <a:ext cx="0" cy="3401568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88720" y="2816352"/>
            <a:ext cx="0" cy="340156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88720" y="6217920"/>
            <a:ext cx="6903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60620" y="3136392"/>
            <a:ext cx="493776" cy="49377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960620" y="31363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5600700" y="299923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ENTRADA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600700" y="3273552"/>
            <a:ext cx="22174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Desarrollo de producto</a:t>
            </a:r>
            <a:endParaRPr lang="es-CL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5600700" y="3950208"/>
            <a:ext cx="2217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oferta en Chile</a:t>
            </a:r>
            <a:endParaRPr lang="es-CL" sz="1800" dirty="0"/>
          </a:p>
        </p:txBody>
      </p:sp>
      <p:sp>
        <p:nvSpPr>
          <p:cNvPr id="29" name="Shape 26"/>
          <p:cNvSpPr/>
          <p:nvPr/>
        </p:nvSpPr>
        <p:spPr>
          <a:xfrm>
            <a:off x="3826764" y="3136392"/>
            <a:ext cx="493776" cy="49377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826764" y="31363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1463040" y="299923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463040" y="3273552"/>
            <a:ext cx="22174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Penetración</a:t>
            </a:r>
            <a:endParaRPr lang="es-CL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3657600"/>
            <a:ext cx="2217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Más clientes, mismo mercado</a:t>
            </a:r>
            <a:endParaRPr lang="es-CL" sz="1800" dirty="0"/>
          </a:p>
        </p:txBody>
      </p:sp>
      <p:sp>
        <p:nvSpPr>
          <p:cNvPr id="34" name="Shape 31"/>
          <p:cNvSpPr/>
          <p:nvPr/>
        </p:nvSpPr>
        <p:spPr>
          <a:xfrm>
            <a:off x="4960620" y="4837176"/>
            <a:ext cx="493776" cy="49377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60620" y="483717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5600700" y="4700016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DESDE EL AÑO 2</a:t>
            </a:r>
            <a:endParaRPr lang="es-CL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600700" y="4974336"/>
            <a:ext cx="22174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Diversificación</a:t>
            </a:r>
            <a:endParaRPr lang="es-CL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5600700" y="5358384"/>
            <a:ext cx="2217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 y kits para talleres</a:t>
            </a:r>
            <a:endParaRPr lang="es-CL" sz="1800" dirty="0"/>
          </a:p>
        </p:txBody>
      </p:sp>
      <p:sp>
        <p:nvSpPr>
          <p:cNvPr id="39" name="Shape 36"/>
          <p:cNvSpPr/>
          <p:nvPr/>
        </p:nvSpPr>
        <p:spPr>
          <a:xfrm>
            <a:off x="3826764" y="4837176"/>
            <a:ext cx="493776" cy="49377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826764" y="483717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2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4700016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1463040" y="4974336"/>
            <a:ext cx="22174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Desarrollo de mercado</a:t>
            </a:r>
            <a:endParaRPr lang="es-CL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1463040" y="5650992"/>
            <a:ext cx="2217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Flotas y regiones</a:t>
            </a:r>
            <a:endParaRPr lang="es-CL" sz="1800" dirty="0"/>
          </a:p>
        </p:txBody>
      </p:sp>
      <p:sp>
        <p:nvSpPr>
          <p:cNvPr id="44" name="Shape 41"/>
          <p:cNvSpPr/>
          <p:nvPr/>
        </p:nvSpPr>
        <p:spPr>
          <a:xfrm>
            <a:off x="4914900" y="3383280"/>
            <a:ext cx="-53035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4073652" y="3675888"/>
            <a:ext cx="0" cy="10972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5207508" y="3675888"/>
            <a:ext cx="0" cy="10972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pic>
        <p:nvPicPr>
          <p:cNvPr id="47" name="Image 1" descr="Unidad de control del kit (imagen ilustrativ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395728"/>
            <a:ext cx="3139135" cy="868680"/>
          </a:xfrm>
          <a:prstGeom prst="rect">
            <a:avLst/>
          </a:prstGeom>
        </p:spPr>
      </p:pic>
      <p:sp>
        <p:nvSpPr>
          <p:cNvPr id="48" name="Shape 44"/>
          <p:cNvSpPr/>
          <p:nvPr/>
        </p:nvSpPr>
        <p:spPr>
          <a:xfrm>
            <a:off x="8503920" y="2395728"/>
            <a:ext cx="3139135" cy="86868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613648" y="2990088"/>
            <a:ext cx="2919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IMAGEN ILUSTRATIVA</a:t>
            </a:r>
            <a:endParaRPr lang="es-CL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8503920" y="3401568"/>
            <a:ext cx="31391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VENTAJA COMPETITIVA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SOSTENIBLE</a:t>
            </a:r>
            <a:endParaRPr lang="es-CL" sz="1600" dirty="0"/>
          </a:p>
        </p:txBody>
      </p:sp>
      <p:sp>
        <p:nvSpPr>
          <p:cNvPr id="51" name="Text 47"/>
          <p:cNvSpPr txBox="1"/>
          <p:nvPr/>
        </p:nvSpPr>
        <p:spPr>
          <a:xfrm>
            <a:off x="8503920" y="3968496"/>
            <a:ext cx="313913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biblioteca de calibraciones</a:t>
            </a:r>
            <a:endParaRPr lang="es-CL" sz="2600" dirty="0"/>
          </a:p>
        </p:txBody>
      </p:sp>
      <p:sp>
        <p:nvSpPr>
          <p:cNvPr id="52" name="Text 48"/>
          <p:cNvSpPr txBox="1"/>
          <p:nvPr/>
        </p:nvSpPr>
        <p:spPr>
          <a:xfrm>
            <a:off x="8503920" y="4773168"/>
            <a:ext cx="3139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Crece con cada instalación y es lo más difícil de copiar.</a:t>
            </a:r>
            <a:endParaRPr lang="es-CL" sz="1800" dirty="0"/>
          </a:p>
        </p:txBody>
      </p:sp>
      <p:sp>
        <p:nvSpPr>
          <p:cNvPr id="53" name="Shape 49"/>
          <p:cNvSpPr/>
          <p:nvPr/>
        </p:nvSpPr>
        <p:spPr>
          <a:xfrm>
            <a:off x="8503920" y="5413248"/>
            <a:ext cx="3139135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503920" y="5486400"/>
            <a:ext cx="3139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eso la red parte en el año 2: se vende mientras es exclusiva.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POSICIONAMIENTO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ESPACIO VACÍO: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ahorrar sin cambiar de auto.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KMcheck (2026); Autofact (2026); Mercado Libre (2026); Abastible (2026); Gasco (s.f.); BioBioChile (2026); elaboración propia (Anexo N° 2).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3154680" y="2852928"/>
            <a:ext cx="8488375" cy="1261872"/>
          </a:xfrm>
          <a:prstGeom prst="rect">
            <a:avLst/>
          </a:prstGeom>
          <a:solidFill>
            <a:srgbClr val="0B1A2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852928"/>
            <a:ext cx="2423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límite de edad</a:t>
            </a:r>
            <a:endParaRPr lang="es-CL" sz="2000" dirty="0"/>
          </a:p>
        </p:txBody>
      </p:sp>
      <p:sp>
        <p:nvSpPr>
          <p:cNvPr id="7" name="Shape 5"/>
          <p:cNvSpPr/>
          <p:nvPr/>
        </p:nvSpPr>
        <p:spPr>
          <a:xfrm>
            <a:off x="3154680" y="4114800"/>
            <a:ext cx="8488375" cy="78638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114800"/>
            <a:ext cx="2423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 límite de edad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3154680" y="4901184"/>
            <a:ext cx="8488375" cy="96926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901184"/>
            <a:ext cx="2423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Cambia de auto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07027" y="2395728"/>
            <a:ext cx="7336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4416755" y="2395728"/>
            <a:ext cx="7116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LUMINE: PRECIO DE REFERENCIA Y AHORRO SIMULADO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3154680" y="5888736"/>
            <a:ext cx="848837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943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INICIAL</a:t>
            </a:r>
            <a:endParaRPr lang="es-CL" sz="1400" dirty="0"/>
          </a:p>
        </p:txBody>
      </p:sp>
      <p:sp>
        <p:nvSpPr>
          <p:cNvPr id="15" name="Shape 13"/>
          <p:cNvSpPr/>
          <p:nvPr/>
        </p:nvSpPr>
        <p:spPr>
          <a:xfrm>
            <a:off x="3657600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08960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$0</a:t>
            </a:r>
            <a:endParaRPr lang="es-CL" sz="1600" dirty="0"/>
          </a:p>
        </p:txBody>
      </p:sp>
      <p:sp>
        <p:nvSpPr>
          <p:cNvPr id="17" name="Shape 15"/>
          <p:cNvSpPr/>
          <p:nvPr/>
        </p:nvSpPr>
        <p:spPr>
          <a:xfrm>
            <a:off x="5158095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09455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$5 M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6658590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09950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$10 M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8159086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10446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$15 M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9659581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10941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$20 M</a:t>
            </a:r>
            <a:endParaRPr lang="es-CL" sz="1600" dirty="0"/>
          </a:p>
        </p:txBody>
      </p:sp>
      <p:sp>
        <p:nvSpPr>
          <p:cNvPr id="25" name="Shape 23"/>
          <p:cNvSpPr/>
          <p:nvPr/>
        </p:nvSpPr>
        <p:spPr>
          <a:xfrm>
            <a:off x="11160076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11436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$25 M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4407848" y="2944368"/>
            <a:ext cx="7125480" cy="1078992"/>
          </a:xfrm>
          <a:prstGeom prst="rect">
            <a:avLst/>
          </a:prstGeom>
          <a:solidFill>
            <a:srgbClr val="0B1A22">
              <a:alpha val="0"/>
            </a:srgbClr>
          </a:solidFill>
          <a:ln w="12700">
            <a:solidFill>
              <a:schemeClr val="accent1"/>
            </a:solidFill>
            <a:prstDash val="sysDot"/>
          </a:ln>
        </p:spPr>
      </p:sp>
      <p:sp>
        <p:nvSpPr>
          <p:cNvPr id="28" name="Text 26"/>
          <p:cNvSpPr txBox="1"/>
          <p:nvPr/>
        </p:nvSpPr>
        <p:spPr>
          <a:xfrm>
            <a:off x="9104512" y="2944368"/>
            <a:ext cx="2309943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Espacio hoy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oferta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3566160" y="3072384"/>
            <a:ext cx="182880" cy="1828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0" y="3310128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hacer nada</a:t>
            </a:r>
            <a:endParaRPr lang="es-CL" sz="1600" dirty="0"/>
          </a:p>
        </p:txBody>
      </p:sp>
      <p:sp>
        <p:nvSpPr>
          <p:cNvPr id="31" name="Shape 29"/>
          <p:cNvSpPr/>
          <p:nvPr/>
        </p:nvSpPr>
        <p:spPr>
          <a:xfrm>
            <a:off x="4945025" y="3182112"/>
            <a:ext cx="210069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2" name="Shape 30"/>
          <p:cNvSpPr/>
          <p:nvPr/>
        </p:nvSpPr>
        <p:spPr>
          <a:xfrm>
            <a:off x="4835297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Shape 31"/>
          <p:cNvSpPr/>
          <p:nvPr/>
        </p:nvSpPr>
        <p:spPr>
          <a:xfrm>
            <a:off x="5045366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232" y="2679192"/>
            <a:ext cx="3657600" cy="1609344"/>
          </a:xfrm>
          <a:prstGeom prst="rect">
            <a:avLst/>
          </a:prstGeom>
        </p:spPr>
      </p:pic>
      <p:sp>
        <p:nvSpPr>
          <p:cNvPr id="35" name="Shape 32"/>
          <p:cNvSpPr/>
          <p:nvPr/>
        </p:nvSpPr>
        <p:spPr>
          <a:xfrm>
            <a:off x="6178432" y="2999232"/>
            <a:ext cx="2743200" cy="96926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123568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23568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821048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976496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123568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123568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821048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976496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69872" y="307238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LUMINE</a:t>
            </a:r>
            <a:endParaRPr lang="es-CL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6269872" y="34564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$4,3–5,0 M</a:t>
            </a:r>
            <a:endParaRPr lang="es-CL" sz="3000" dirty="0"/>
          </a:p>
        </p:txBody>
      </p:sp>
      <p:sp>
        <p:nvSpPr>
          <p:cNvPr id="46" name="Shape 43"/>
          <p:cNvSpPr/>
          <p:nvPr/>
        </p:nvSpPr>
        <p:spPr>
          <a:xfrm>
            <a:off x="3927689" y="4663440"/>
            <a:ext cx="270089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3836249" y="41879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Gas 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$0,9–1,8 M · solo autos de hasta 7 años</a:t>
            </a:r>
            <a:endParaRPr lang="es-CL" sz="2000" dirty="0"/>
          </a:p>
        </p:txBody>
      </p:sp>
      <p:sp>
        <p:nvSpPr>
          <p:cNvPr id="48" name="Shape 45"/>
          <p:cNvSpPr/>
          <p:nvPr/>
        </p:nvSpPr>
        <p:spPr>
          <a:xfrm>
            <a:off x="6508541" y="5129784"/>
            <a:ext cx="1050347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9" name="Shape 46"/>
          <p:cNvSpPr/>
          <p:nvPr/>
        </p:nvSpPr>
        <p:spPr>
          <a:xfrm>
            <a:off x="6426245" y="5102352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246120" y="4974336"/>
            <a:ext cx="3079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Híbrido usado  </a:t>
            </a:r>
            <a:pPr algn="r"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$9,5–13 M</a:t>
            </a:r>
            <a:endParaRPr lang="es-CL" sz="1800" dirty="0"/>
          </a:p>
        </p:txBody>
      </p:sp>
      <p:sp>
        <p:nvSpPr>
          <p:cNvPr id="51" name="Shape 48"/>
          <p:cNvSpPr/>
          <p:nvPr/>
        </p:nvSpPr>
        <p:spPr>
          <a:xfrm>
            <a:off x="7855986" y="5559552"/>
            <a:ext cx="360419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2" name="Shape 49"/>
          <p:cNvSpPr/>
          <p:nvPr/>
        </p:nvSpPr>
        <p:spPr>
          <a:xfrm>
            <a:off x="7773690" y="5532120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3246120" y="5404104"/>
            <a:ext cx="44269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Eléctrico nuevo  </a:t>
            </a:r>
            <a:pPr algn="r"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desde $14 M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MIX: PRODUCTO Y PRECIO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PLUS CUESTA 16</a:t>
            </a:r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Expanded ExtraBold" pitchFamily="34" charset="0"/>
                <a:ea typeface="Archivo Expanded ExtraBold" pitchFamily="34" charset="-122"/>
                <a:cs typeface="Archivo Expanded ExtraBold" pitchFamily="34" charset="-120"/>
              </a:rPr>
              <a:t>%</a:t>
            </a:r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 MÁS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y ahorra 24% más.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elaboración propia (Informe Fase 3, Tablas N° 5 y 6; Anexos N° 2 y 9); Banco Central de Chile (2026), tasa de consumo.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401568" cy="373075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95728"/>
            <a:ext cx="3401568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33472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ESENCIAL</a:t>
            </a:r>
            <a:endParaRPr lang="es-CL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4436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4800" dirty="0"/>
          </a:p>
        </p:txBody>
      </p:sp>
      <p:sp>
        <p:nvSpPr>
          <p:cNvPr id="9" name="Shape 7"/>
          <p:cNvSpPr/>
          <p:nvPr/>
        </p:nvSpPr>
        <p:spPr>
          <a:xfrm>
            <a:off x="822960" y="369417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10" name="Text 8"/>
          <p:cNvSpPr txBox="1"/>
          <p:nvPr/>
        </p:nvSpPr>
        <p:spPr>
          <a:xfrm>
            <a:off x="932688" y="369417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224528"/>
            <a:ext cx="28529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3525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MÁXIMO EN CIUDAD</a:t>
            </a:r>
            <a:endParaRPr lang="es-CL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5902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</a:t>
            </a:r>
            <a:pPr indent="0" marL="0">
              <a:buNone/>
            </a:pPr>
            <a:r>
              <a:rPr lang="es-CL" altLang="en-US" sz="4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2669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DE UN COLECTIVO</a:t>
            </a:r>
            <a:endParaRPr lang="es-CL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504688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$117.069</a:t>
            </a:r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al mes</a:t>
            </a:r>
            <a:endParaRPr lang="es-CL" sz="3600" dirty="0"/>
          </a:p>
        </p:txBody>
      </p:sp>
      <p:pic>
        <p:nvPicPr>
          <p:cNvPr id="16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847088"/>
            <a:ext cx="5047488" cy="482803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279392" y="2395728"/>
            <a:ext cx="3401568" cy="3730752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79392" y="2395728"/>
            <a:ext cx="3401568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Shape 16"/>
          <p:cNvSpPr/>
          <p:nvPr/>
        </p:nvSpPr>
        <p:spPr>
          <a:xfrm>
            <a:off x="4224528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24528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8037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3582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24528" y="61813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24528" y="60258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80376" y="61813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35824" y="60258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53712" y="2633472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PLUS</a:t>
            </a:r>
            <a:endParaRPr lang="es-CL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4553712" y="294436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4800" dirty="0"/>
          </a:p>
        </p:txBody>
      </p:sp>
      <p:sp>
        <p:nvSpPr>
          <p:cNvPr id="29" name="Shape 26"/>
          <p:cNvSpPr/>
          <p:nvPr/>
        </p:nvSpPr>
        <p:spPr>
          <a:xfrm>
            <a:off x="4553712" y="369417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30" name="Text 27"/>
          <p:cNvSpPr txBox="1"/>
          <p:nvPr/>
        </p:nvSpPr>
        <p:spPr>
          <a:xfrm>
            <a:off x="4663440" y="369417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31" name="Shape 28"/>
          <p:cNvSpPr/>
          <p:nvPr/>
        </p:nvSpPr>
        <p:spPr>
          <a:xfrm>
            <a:off x="4553712" y="4224528"/>
            <a:ext cx="28529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553712" y="43525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MÁXIMO EN CIUDAD</a:t>
            </a:r>
            <a:endParaRPr lang="es-CL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553712" y="45902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</a:t>
            </a:r>
            <a:pPr indent="0" marL="0">
              <a:buNone/>
            </a:pPr>
            <a:r>
              <a:rPr lang="es-CL" altLang="en-US" sz="4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20%</a:t>
            </a:r>
            <a:endParaRPr lang="es-CL" sz="4000" dirty="0"/>
          </a:p>
        </p:txBody>
      </p:sp>
      <p:sp>
        <p:nvSpPr>
          <p:cNvPr id="34" name="Text 31"/>
          <p:cNvSpPr txBox="1"/>
          <p:nvPr/>
        </p:nvSpPr>
        <p:spPr>
          <a:xfrm>
            <a:off x="4553712" y="52669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DE UN COLECTIVO</a:t>
            </a:r>
            <a:endParaRPr lang="es-CL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553712" y="5504688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$145.327</a:t>
            </a:r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al mes</a:t>
            </a:r>
            <a:endParaRPr lang="es-CL" sz="3600" dirty="0"/>
          </a:p>
        </p:txBody>
      </p:sp>
      <p:sp>
        <p:nvSpPr>
          <p:cNvPr id="36" name="Text 33"/>
          <p:cNvSpPr txBox="1"/>
          <p:nvPr/>
        </p:nvSpPr>
        <p:spPr>
          <a:xfrm>
            <a:off x="8138160" y="2395728"/>
            <a:ext cx="3504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MESES PARA RECUPERAR LA INVERSIÓN</a:t>
            </a:r>
            <a:endParaRPr lang="es-CL" sz="1600" dirty="0"/>
          </a:p>
        </p:txBody>
      </p:sp>
      <p:sp>
        <p:nvSpPr>
          <p:cNvPr id="37" name="Shape 34"/>
          <p:cNvSpPr/>
          <p:nvPr/>
        </p:nvSpPr>
        <p:spPr>
          <a:xfrm>
            <a:off x="8138160" y="3054096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430768" y="2980944"/>
            <a:ext cx="107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Esencial</a:t>
            </a:r>
            <a:endParaRPr lang="es-CL" sz="1600" dirty="0"/>
          </a:p>
        </p:txBody>
      </p:sp>
      <p:sp>
        <p:nvSpPr>
          <p:cNvPr id="39" name="Shape 36"/>
          <p:cNvSpPr/>
          <p:nvPr/>
        </p:nvSpPr>
        <p:spPr>
          <a:xfrm>
            <a:off x="9736328" y="3054096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028936" y="2980944"/>
            <a:ext cx="62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</a:t>
            </a:r>
            <a:endParaRPr lang="es-CL" sz="1600" dirty="0"/>
          </a:p>
        </p:txBody>
      </p:sp>
      <p:graphicFrame>
        <p:nvGraphicFramePr>
          <p:cNvPr id="41" name="Meses para recuperar la inversión por versión" descr=""/>
          <p:cNvGraphicFramePr/>
          <p:nvPr/>
        </p:nvGraphicFramePr>
        <p:xfrm>
          <a:off x="8046720" y="3328416"/>
          <a:ext cx="3596335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2" name="Shape 38"/>
          <p:cNvSpPr/>
          <p:nvPr/>
        </p:nvSpPr>
        <p:spPr>
          <a:xfrm>
            <a:off x="8138160" y="4956048"/>
            <a:ext cx="279958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43" name="Text 39"/>
          <p:cNvSpPr txBox="1"/>
          <p:nvPr/>
        </p:nvSpPr>
        <p:spPr>
          <a:xfrm>
            <a:off x="8247888" y="4956048"/>
            <a:ext cx="25801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SIMULADO</a:t>
            </a:r>
            <a:endParaRPr lang="es-CL" sz="1400" dirty="0"/>
          </a:p>
        </p:txBody>
      </p:sp>
      <p:sp>
        <p:nvSpPr>
          <p:cNvPr id="44" name="Shape 40"/>
          <p:cNvSpPr/>
          <p:nvPr/>
        </p:nvSpPr>
        <p:spPr>
          <a:xfrm>
            <a:off x="8138160" y="5413248"/>
            <a:ext cx="3504895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138160" y="5486400"/>
            <a:ext cx="3504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 cuesta $700.000 más,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pero cada punto de ahorro sale más barato.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DEMANDA Y PRONÓSTICO DE VENTAS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MÁS DEMANDA QUE CAPACIDAD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desde el año 1.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SEGMENTO LABORAL · RM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vehículos de colectivos, taxis y aplicaciones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ADOPCIÓN AL AÑO 5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11,1%</a:t>
            </a:r>
            <a:endParaRPr lang="es-CL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427568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segmento: bajo el 16% de los primeros adoptantes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0156647" y="2340864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266375" y="2340864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204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VEHÍCULOS POR AÑO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593592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38728" y="3520440"/>
            <a:ext cx="208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Demanda atendible</a:t>
            </a:r>
            <a:endParaRPr lang="es-CL" sz="1600" dirty="0"/>
          </a:p>
        </p:txBody>
      </p:sp>
      <p:sp>
        <p:nvSpPr>
          <p:cNvPr id="17" name="Shape 15"/>
          <p:cNvSpPr/>
          <p:nvPr/>
        </p:nvSpPr>
        <p:spPr>
          <a:xfrm>
            <a:off x="5804408" y="359359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97016" y="3520440"/>
            <a:ext cx="252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Instalaciones propias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8809736" y="3593592"/>
            <a:ext cx="201168" cy="20116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02344" y="3520440"/>
            <a:ext cx="286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Kits a la red (terceros)</a:t>
            </a:r>
            <a:endParaRPr lang="es-CL" sz="1600" dirty="0"/>
          </a:p>
        </p:txBody>
      </p:sp>
      <p:graphicFrame>
        <p:nvGraphicFramePr>
          <p:cNvPr id="21" name="Pronóstico de ventas por año" descr=""/>
          <p:cNvGraphicFramePr/>
          <p:nvPr/>
        </p:nvGraphicFramePr>
        <p:xfrm>
          <a:off x="457200" y="3904488"/>
          <a:ext cx="11277295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48640" y="590702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límite es físico: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68 vehículos en espera el año 1; desde el año 2 los atiende la red.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$80,9 MILLONES EL PRIMER AÑO: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6,8% de los ingresos.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11). Montos netos de 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MILLONES DE PESOS NETOS POR AÑO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Clientes piloto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810256" y="2816352"/>
            <a:ext cx="201168" cy="201168"/>
          </a:xfrm>
          <a:prstGeom prst="rect">
            <a:avLst/>
          </a:prstGeom>
          <a:solidFill>
            <a:srgbClr val="A9B1B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102864" y="274320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Pauta digital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4848352" y="2816352"/>
            <a:ext cx="201168" cy="201168"/>
          </a:xfrm>
          <a:prstGeom prst="rect">
            <a:avLst/>
          </a:prstGeom>
          <a:solidFill>
            <a:srgbClr val="6B757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0960" y="2743200"/>
            <a:ext cx="130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Comisiones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6551168" y="2816352"/>
            <a:ext cx="201168" cy="201168"/>
          </a:xfrm>
          <a:prstGeom prst="rect">
            <a:avLst/>
          </a:prstGeom>
          <a:solidFill>
            <a:srgbClr val="3A41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3776" y="2743200"/>
            <a:ext cx="74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Otras</a:t>
            </a:r>
            <a:endParaRPr lang="es-CL" sz="1600" dirty="0"/>
          </a:p>
        </p:txBody>
      </p:sp>
      <p:graphicFrame>
        <p:nvGraphicFramePr>
          <p:cNvPr id="14" name="Presupuesto de marketing por partida" descr=""/>
          <p:cNvGraphicFramePr/>
          <p:nvPr/>
        </p:nvGraphicFramePr>
        <p:xfrm>
          <a:off x="457200" y="3127248"/>
          <a:ext cx="7543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13648" y="2596896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EN CINCO AÑOS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2907792"/>
            <a:ext cx="2800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$575 M</a:t>
            </a:r>
            <a:endParaRPr lang="es-CL" sz="4800" dirty="0"/>
          </a:p>
        </p:txBody>
      </p:sp>
      <p:sp>
        <p:nvSpPr>
          <p:cNvPr id="26" name="Shape 23"/>
          <p:cNvSpPr/>
          <p:nvPr/>
        </p:nvSpPr>
        <p:spPr>
          <a:xfrm>
            <a:off x="8613648" y="376732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13648" y="3895344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% DE LOS INGRESOS PROPIOS</a:t>
            </a:r>
            <a:endParaRPr lang="es-CL" sz="1600" dirty="0"/>
          </a:p>
        </p:txBody>
      </p:sp>
      <p:sp>
        <p:nvSpPr>
          <p:cNvPr id="28" name="Shape 25"/>
          <p:cNvSpPr/>
          <p:nvPr/>
        </p:nvSpPr>
        <p:spPr>
          <a:xfrm>
            <a:off x="8613648" y="451713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613648" y="45171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Año 1</a:t>
            </a:r>
            <a:endParaRPr lang="es-CL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9848088" y="451713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6,8%</a:t>
            </a:r>
            <a:endParaRPr lang="es-CL" sz="3200" dirty="0"/>
          </a:p>
        </p:txBody>
      </p:sp>
      <p:sp>
        <p:nvSpPr>
          <p:cNvPr id="31" name="Shape 28"/>
          <p:cNvSpPr/>
          <p:nvPr/>
        </p:nvSpPr>
        <p:spPr>
          <a:xfrm>
            <a:off x="8613648" y="506577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13648" y="50657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Año 2</a:t>
            </a:r>
            <a:endParaRPr lang="es-CL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848088" y="506577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2,3%</a:t>
            </a:r>
            <a:endParaRPr lang="es-CL" sz="3200" dirty="0"/>
          </a:p>
        </p:txBody>
      </p:sp>
      <p:sp>
        <p:nvSpPr>
          <p:cNvPr id="34" name="Shape 31"/>
          <p:cNvSpPr/>
          <p:nvPr/>
        </p:nvSpPr>
        <p:spPr>
          <a:xfrm>
            <a:off x="8613648" y="561441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13648" y="56144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Año 5</a:t>
            </a:r>
            <a:endParaRPr lang="es-CL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848088" y="561441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/  03   ·   PLAN</a:t>
            </a:r>
            <a:endParaRPr lang="es-CL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RECURSOS</a:t>
            </a:r>
            <a:endParaRPr lang="es-CL" sz="5800" dirty="0"/>
          </a:p>
          <a:p>
            <a:pPr indent="0" marL="0">
              <a:lnSpc>
                <a:spcPct val="88000"/>
              </a:lnSpc>
              <a:buNone/>
            </a:pPr>
            <a:r>
              <a:rPr lang="es-CL" alt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HUMANOS</a:t>
            </a:r>
            <a:endParaRPr lang="es-CL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28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la tecnología necesita</a:t>
            </a:r>
            <a:endParaRPr lang="es-CL" sz="2800" dirty="0"/>
          </a:p>
          <a:p>
            <a:pPr indent="0" marL="0">
              <a:lnSpc>
                <a:spcPct val="95000"/>
              </a:lnSpc>
              <a:buNone/>
            </a:pPr>
            <a:r>
              <a:rPr lang="es-CL" altLang="en-US" sz="28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quien sepa instalarla.</a:t>
            </a:r>
            <a:endParaRPr lang="es-CL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2296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8523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Estructura y dotación</a:t>
            </a:r>
            <a:endParaRPr lang="es-CL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6327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Lumine Habilita</a:t>
            </a:r>
            <a:endParaRPr lang="es-CL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8017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Nómina</a:t>
            </a:r>
            <a:endParaRPr lang="es-CL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OPERACIÓN PROYECTADA · 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ESTRUCTURA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CRECE EL NÚMERO DE PERSONAS,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no la estructura.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ORGANIGRAMA · PERSONAS AL ABRIR Y AL AÑO 5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7299655" y="2450592"/>
            <a:ext cx="365760" cy="201168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56855" y="23957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abrir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9037015" y="2450592"/>
            <a:ext cx="365760" cy="201168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9494215" y="23957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suma después</a:t>
            </a:r>
            <a:endParaRPr lang="es-CL" sz="1600" dirty="0"/>
          </a:p>
        </p:txBody>
      </p:sp>
      <p:pic>
        <p:nvPicPr>
          <p:cNvPr id="10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728" y="2532888"/>
            <a:ext cx="4206240" cy="129844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449928" y="2852928"/>
            <a:ext cx="3291840" cy="65836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95064" y="27980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95064" y="27980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41184" y="27980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96632" y="27980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95064" y="35661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95064" y="34107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41184" y="35661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96632" y="34107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9928" y="28529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Gerencia General</a:t>
            </a:r>
            <a:endParaRPr lang="es-CL" sz="2200" dirty="0"/>
          </a:p>
        </p:txBody>
      </p:sp>
      <p:sp>
        <p:nvSpPr>
          <p:cNvPr id="21" name="Shape 18"/>
          <p:cNvSpPr/>
          <p:nvPr/>
        </p:nvSpPr>
        <p:spPr>
          <a:xfrm>
            <a:off x="6095848" y="3511296"/>
            <a:ext cx="0" cy="2286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577614" y="3739896"/>
            <a:ext cx="9036467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577614" y="3739896"/>
            <a:ext cx="0" cy="2286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536466" y="3698748"/>
            <a:ext cx="82296" cy="8229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5" name="Shape 22"/>
          <p:cNvSpPr/>
          <p:nvPr/>
        </p:nvSpPr>
        <p:spPr>
          <a:xfrm>
            <a:off x="548640" y="3968496"/>
            <a:ext cx="205794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" y="4059936"/>
            <a:ext cx="187506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Responsable Técnico</a:t>
            </a:r>
            <a:endParaRPr lang="es-CL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26638" y="473659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8" name="Shape 25"/>
          <p:cNvSpPr/>
          <p:nvPr/>
        </p:nvSpPr>
        <p:spPr>
          <a:xfrm>
            <a:off x="1413022" y="49743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1797070" y="473659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3000" dirty="0"/>
          </a:p>
        </p:txBody>
      </p:sp>
      <p:sp>
        <p:nvSpPr>
          <p:cNvPr id="30" name="Shape 27"/>
          <p:cNvSpPr/>
          <p:nvPr/>
        </p:nvSpPr>
        <p:spPr>
          <a:xfrm>
            <a:off x="3836731" y="3739896"/>
            <a:ext cx="0" cy="2286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795583" y="3698748"/>
            <a:ext cx="82296" cy="8229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2" name="Shape 29"/>
          <p:cNvSpPr/>
          <p:nvPr/>
        </p:nvSpPr>
        <p:spPr>
          <a:xfrm>
            <a:off x="2807757" y="3968496"/>
            <a:ext cx="205794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899197" y="4059936"/>
            <a:ext cx="187506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Ingeniería de Calibración</a:t>
            </a:r>
            <a:endParaRPr lang="es-CL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2885755" y="473659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35" name="Shape 32"/>
          <p:cNvSpPr/>
          <p:nvPr/>
        </p:nvSpPr>
        <p:spPr>
          <a:xfrm>
            <a:off x="3672139" y="49743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6" name="Text 33"/>
          <p:cNvSpPr txBox="1"/>
          <p:nvPr/>
        </p:nvSpPr>
        <p:spPr>
          <a:xfrm>
            <a:off x="4056187" y="473659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7" name="Shape 34"/>
          <p:cNvSpPr/>
          <p:nvPr/>
        </p:nvSpPr>
        <p:spPr>
          <a:xfrm>
            <a:off x="6095848" y="3739896"/>
            <a:ext cx="0" cy="2286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054700" y="3698748"/>
            <a:ext cx="82296" cy="8229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9" name="Shape 36"/>
          <p:cNvSpPr/>
          <p:nvPr/>
        </p:nvSpPr>
        <p:spPr>
          <a:xfrm>
            <a:off x="5066873" y="3968496"/>
            <a:ext cx="205794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158313" y="4059936"/>
            <a:ext cx="187506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y Postventa</a:t>
            </a:r>
            <a:endParaRPr lang="es-CL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5144872" y="473659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42" name="Shape 39"/>
          <p:cNvSpPr/>
          <p:nvPr/>
        </p:nvSpPr>
        <p:spPr>
          <a:xfrm>
            <a:off x="5931256" y="49743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6315304" y="473659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44" name="Shape 41"/>
          <p:cNvSpPr/>
          <p:nvPr/>
        </p:nvSpPr>
        <p:spPr>
          <a:xfrm>
            <a:off x="8354964" y="3739896"/>
            <a:ext cx="0" cy="2286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13816" y="3698748"/>
            <a:ext cx="82296" cy="8229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6" name="Shape 43"/>
          <p:cNvSpPr/>
          <p:nvPr/>
        </p:nvSpPr>
        <p:spPr>
          <a:xfrm>
            <a:off x="7325990" y="3968496"/>
            <a:ext cx="205794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417430" y="4059936"/>
            <a:ext cx="187506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de Empresas</a:t>
            </a:r>
            <a:endParaRPr lang="es-CL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7403988" y="473659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</a:t>
            </a:r>
            <a:endParaRPr lang="es-CL" sz="3000" dirty="0"/>
          </a:p>
        </p:txBody>
      </p:sp>
      <p:sp>
        <p:nvSpPr>
          <p:cNvPr id="49" name="Shape 46"/>
          <p:cNvSpPr/>
          <p:nvPr/>
        </p:nvSpPr>
        <p:spPr>
          <a:xfrm>
            <a:off x="8190372" y="49743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0" name="Text 47"/>
          <p:cNvSpPr txBox="1"/>
          <p:nvPr/>
        </p:nvSpPr>
        <p:spPr>
          <a:xfrm>
            <a:off x="8574420" y="473659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000" dirty="0"/>
          </a:p>
        </p:txBody>
      </p:sp>
      <p:sp>
        <p:nvSpPr>
          <p:cNvPr id="51" name="Shape 48"/>
          <p:cNvSpPr/>
          <p:nvPr/>
        </p:nvSpPr>
        <p:spPr>
          <a:xfrm>
            <a:off x="10614081" y="3739896"/>
            <a:ext cx="0" cy="2286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572933" y="3698748"/>
            <a:ext cx="82296" cy="8229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3" name="Shape 50"/>
          <p:cNvSpPr/>
          <p:nvPr/>
        </p:nvSpPr>
        <p:spPr>
          <a:xfrm>
            <a:off x="9585107" y="3968496"/>
            <a:ext cx="205794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676547" y="4059936"/>
            <a:ext cx="187506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Administración y Personas</a:t>
            </a:r>
            <a:endParaRPr lang="es-CL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9585107" y="4736592"/>
            <a:ext cx="205794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56" name="Shape 53"/>
          <p:cNvSpPr/>
          <p:nvPr/>
        </p:nvSpPr>
        <p:spPr>
          <a:xfrm>
            <a:off x="1577614" y="5294376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8640" y="5532120"/>
            <a:ext cx="4317065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31520" y="553212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 en dúos</a:t>
            </a:r>
            <a:endParaRPr lang="es-CL" sz="2200" dirty="0"/>
          </a:p>
        </p:txBody>
      </p:sp>
      <p:sp>
        <p:nvSpPr>
          <p:cNvPr id="59" name="Text 56"/>
          <p:cNvSpPr txBox="1"/>
          <p:nvPr/>
        </p:nvSpPr>
        <p:spPr>
          <a:xfrm>
            <a:off x="2680289" y="5586984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600" dirty="0"/>
          </a:p>
        </p:txBody>
      </p:sp>
      <p:sp>
        <p:nvSpPr>
          <p:cNvPr id="60" name="Shape 57"/>
          <p:cNvSpPr/>
          <p:nvPr/>
        </p:nvSpPr>
        <p:spPr>
          <a:xfrm>
            <a:off x="3558113" y="5833872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1" name="Text 58"/>
          <p:cNvSpPr txBox="1"/>
          <p:nvPr/>
        </p:nvSpPr>
        <p:spPr>
          <a:xfrm>
            <a:off x="3942161" y="5586984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endParaRPr lang="es-CL" sz="3600" dirty="0"/>
          </a:p>
        </p:txBody>
      </p:sp>
      <p:sp>
        <p:nvSpPr>
          <p:cNvPr id="62" name="Text 59"/>
          <p:cNvSpPr txBox="1"/>
          <p:nvPr/>
        </p:nvSpPr>
        <p:spPr>
          <a:xfrm>
            <a:off x="5231465" y="5532120"/>
            <a:ext cx="64115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Cinco áreas bajo la Gerencia, sin mandos intermedios.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DOTACIÓN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DE 13 A 56 PERSONAS EN CINCO AÑOS;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casi dos de cada tres son técnicos.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(2021); elaboración propia (Informe Fase 3, Figura N° 3 y Tabla N° 12). Imágenes ilustrativas de la operación proyectada.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 AL CIERRE DE CADA AÑO</a:t>
            </a:r>
            <a:endParaRPr lang="es-CL" sz="1600" dirty="0"/>
          </a:p>
        </p:txBody>
      </p:sp>
      <p:graphicFrame>
        <p:nvGraphicFramePr>
          <p:cNvPr id="6" name="Dotación al cierre de cada año" descr=""/>
          <p:cNvGraphicFramePr/>
          <p:nvPr/>
        </p:nvGraphicFramePr>
        <p:xfrm>
          <a:off x="457200" y="2761488"/>
          <a:ext cx="74980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7" name="Image 0" descr="Equipo de técnicos de Lumine (operación proyectada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395728"/>
            <a:ext cx="3276295" cy="10515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2395728"/>
            <a:ext cx="3276295" cy="105156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366760" y="3602736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TÉCNICOS AL AÑO 5</a:t>
            </a:r>
            <a:endParaRPr lang="es-CL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3840480"/>
            <a:ext cx="3276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  de 56 personas</a:t>
            </a:r>
            <a:endParaRPr lang="es-CL" sz="2000" dirty="0"/>
          </a:p>
        </p:txBody>
      </p:sp>
      <p:sp>
        <p:nvSpPr>
          <p:cNvPr id="11" name="Shape 7"/>
          <p:cNvSpPr/>
          <p:nvPr/>
        </p:nvSpPr>
        <p:spPr>
          <a:xfrm>
            <a:off x="8366760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hape 8"/>
          <p:cNvSpPr/>
          <p:nvPr/>
        </p:nvSpPr>
        <p:spPr>
          <a:xfrm>
            <a:off x="8607529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hape 9"/>
          <p:cNvSpPr/>
          <p:nvPr/>
        </p:nvSpPr>
        <p:spPr>
          <a:xfrm>
            <a:off x="8848297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hape 10"/>
          <p:cNvSpPr/>
          <p:nvPr/>
        </p:nvSpPr>
        <p:spPr>
          <a:xfrm>
            <a:off x="9089066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hape 11"/>
          <p:cNvSpPr/>
          <p:nvPr/>
        </p:nvSpPr>
        <p:spPr>
          <a:xfrm>
            <a:off x="9329834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hape 12"/>
          <p:cNvSpPr/>
          <p:nvPr/>
        </p:nvSpPr>
        <p:spPr>
          <a:xfrm>
            <a:off x="9570603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Shape 13"/>
          <p:cNvSpPr/>
          <p:nvPr/>
        </p:nvSpPr>
        <p:spPr>
          <a:xfrm>
            <a:off x="9811371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hape 14"/>
          <p:cNvSpPr/>
          <p:nvPr/>
        </p:nvSpPr>
        <p:spPr>
          <a:xfrm>
            <a:off x="10052140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hape 15"/>
          <p:cNvSpPr/>
          <p:nvPr/>
        </p:nvSpPr>
        <p:spPr>
          <a:xfrm>
            <a:off x="10292908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Shape 16"/>
          <p:cNvSpPr/>
          <p:nvPr/>
        </p:nvSpPr>
        <p:spPr>
          <a:xfrm>
            <a:off x="10533677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Shape 17"/>
          <p:cNvSpPr/>
          <p:nvPr/>
        </p:nvSpPr>
        <p:spPr>
          <a:xfrm>
            <a:off x="10774446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hape 18"/>
          <p:cNvSpPr/>
          <p:nvPr/>
        </p:nvSpPr>
        <p:spPr>
          <a:xfrm>
            <a:off x="11015214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Shape 19"/>
          <p:cNvSpPr/>
          <p:nvPr/>
        </p:nvSpPr>
        <p:spPr>
          <a:xfrm>
            <a:off x="11255983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Shape 20"/>
          <p:cNvSpPr/>
          <p:nvPr/>
        </p:nvSpPr>
        <p:spPr>
          <a:xfrm>
            <a:off x="11496751" y="475488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Shape 21"/>
          <p:cNvSpPr/>
          <p:nvPr/>
        </p:nvSpPr>
        <p:spPr>
          <a:xfrm>
            <a:off x="8366760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Shape 22"/>
          <p:cNvSpPr/>
          <p:nvPr/>
        </p:nvSpPr>
        <p:spPr>
          <a:xfrm>
            <a:off x="8607529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Shape 23"/>
          <p:cNvSpPr/>
          <p:nvPr/>
        </p:nvSpPr>
        <p:spPr>
          <a:xfrm>
            <a:off x="8848297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Shape 24"/>
          <p:cNvSpPr/>
          <p:nvPr/>
        </p:nvSpPr>
        <p:spPr>
          <a:xfrm>
            <a:off x="9089066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Shape 25"/>
          <p:cNvSpPr/>
          <p:nvPr/>
        </p:nvSpPr>
        <p:spPr>
          <a:xfrm>
            <a:off x="9329834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Shape 26"/>
          <p:cNvSpPr/>
          <p:nvPr/>
        </p:nvSpPr>
        <p:spPr>
          <a:xfrm>
            <a:off x="9570603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Shape 27"/>
          <p:cNvSpPr/>
          <p:nvPr/>
        </p:nvSpPr>
        <p:spPr>
          <a:xfrm>
            <a:off x="9811371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Shape 28"/>
          <p:cNvSpPr/>
          <p:nvPr/>
        </p:nvSpPr>
        <p:spPr>
          <a:xfrm>
            <a:off x="10052140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Shape 29"/>
          <p:cNvSpPr/>
          <p:nvPr/>
        </p:nvSpPr>
        <p:spPr>
          <a:xfrm>
            <a:off x="10292908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Shape 30"/>
          <p:cNvSpPr/>
          <p:nvPr/>
        </p:nvSpPr>
        <p:spPr>
          <a:xfrm>
            <a:off x="10533677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Shape 31"/>
          <p:cNvSpPr/>
          <p:nvPr/>
        </p:nvSpPr>
        <p:spPr>
          <a:xfrm>
            <a:off x="10774446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Shape 32"/>
          <p:cNvSpPr/>
          <p:nvPr/>
        </p:nvSpPr>
        <p:spPr>
          <a:xfrm>
            <a:off x="11015214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7" name="Shape 33"/>
          <p:cNvSpPr/>
          <p:nvPr/>
        </p:nvSpPr>
        <p:spPr>
          <a:xfrm>
            <a:off x="11255983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8" name="Shape 34"/>
          <p:cNvSpPr/>
          <p:nvPr/>
        </p:nvSpPr>
        <p:spPr>
          <a:xfrm>
            <a:off x="11496751" y="4974336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Shape 35"/>
          <p:cNvSpPr/>
          <p:nvPr/>
        </p:nvSpPr>
        <p:spPr>
          <a:xfrm>
            <a:off x="8366760" y="5193792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Shape 36"/>
          <p:cNvSpPr/>
          <p:nvPr/>
        </p:nvSpPr>
        <p:spPr>
          <a:xfrm>
            <a:off x="8607529" y="5193792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Shape 37"/>
          <p:cNvSpPr/>
          <p:nvPr/>
        </p:nvSpPr>
        <p:spPr>
          <a:xfrm>
            <a:off x="8848297" y="5193792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2" name="Shape 38"/>
          <p:cNvSpPr/>
          <p:nvPr/>
        </p:nvSpPr>
        <p:spPr>
          <a:xfrm>
            <a:off x="9089066" y="5193792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3" name="Shape 39"/>
          <p:cNvSpPr/>
          <p:nvPr/>
        </p:nvSpPr>
        <p:spPr>
          <a:xfrm>
            <a:off x="9329834" y="5193792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4" name="Shape 40"/>
          <p:cNvSpPr/>
          <p:nvPr/>
        </p:nvSpPr>
        <p:spPr>
          <a:xfrm>
            <a:off x="9570603" y="5193792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Shape 41"/>
          <p:cNvSpPr/>
          <p:nvPr/>
        </p:nvSpPr>
        <p:spPr>
          <a:xfrm>
            <a:off x="9811371" y="5193792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6" name="Shape 42"/>
          <p:cNvSpPr/>
          <p:nvPr/>
        </p:nvSpPr>
        <p:spPr>
          <a:xfrm>
            <a:off x="10052140" y="5193792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7" name="Shape 43"/>
          <p:cNvSpPr/>
          <p:nvPr/>
        </p:nvSpPr>
        <p:spPr>
          <a:xfrm>
            <a:off x="10292908" y="5193792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8" name="Shape 44"/>
          <p:cNvSpPr/>
          <p:nvPr/>
        </p:nvSpPr>
        <p:spPr>
          <a:xfrm>
            <a:off x="10533677" y="5193792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9" name="Shape 45"/>
          <p:cNvSpPr/>
          <p:nvPr/>
        </p:nvSpPr>
        <p:spPr>
          <a:xfrm>
            <a:off x="10774446" y="5193792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0" name="Shape 46"/>
          <p:cNvSpPr/>
          <p:nvPr/>
        </p:nvSpPr>
        <p:spPr>
          <a:xfrm>
            <a:off x="11015214" y="5193792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1" name="Shape 47"/>
          <p:cNvSpPr/>
          <p:nvPr/>
        </p:nvSpPr>
        <p:spPr>
          <a:xfrm>
            <a:off x="11255983" y="5193792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2" name="Shape 48"/>
          <p:cNvSpPr/>
          <p:nvPr/>
        </p:nvSpPr>
        <p:spPr>
          <a:xfrm>
            <a:off x="11496751" y="5193792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3" name="Shape 49"/>
          <p:cNvSpPr/>
          <p:nvPr/>
        </p:nvSpPr>
        <p:spPr>
          <a:xfrm>
            <a:off x="8366760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4" name="Shape 50"/>
          <p:cNvSpPr/>
          <p:nvPr/>
        </p:nvSpPr>
        <p:spPr>
          <a:xfrm>
            <a:off x="8607529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5" name="Shape 51"/>
          <p:cNvSpPr/>
          <p:nvPr/>
        </p:nvSpPr>
        <p:spPr>
          <a:xfrm>
            <a:off x="8848297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6" name="Shape 52"/>
          <p:cNvSpPr/>
          <p:nvPr/>
        </p:nvSpPr>
        <p:spPr>
          <a:xfrm>
            <a:off x="9089066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7" name="Shape 53"/>
          <p:cNvSpPr/>
          <p:nvPr/>
        </p:nvSpPr>
        <p:spPr>
          <a:xfrm>
            <a:off x="9329834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8" name="Shape 54"/>
          <p:cNvSpPr/>
          <p:nvPr/>
        </p:nvSpPr>
        <p:spPr>
          <a:xfrm>
            <a:off x="9570603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9" name="Shape 55"/>
          <p:cNvSpPr/>
          <p:nvPr/>
        </p:nvSpPr>
        <p:spPr>
          <a:xfrm>
            <a:off x="9811371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0" name="Shape 56"/>
          <p:cNvSpPr/>
          <p:nvPr/>
        </p:nvSpPr>
        <p:spPr>
          <a:xfrm>
            <a:off x="10052140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1" name="Shape 57"/>
          <p:cNvSpPr/>
          <p:nvPr/>
        </p:nvSpPr>
        <p:spPr>
          <a:xfrm>
            <a:off x="10292908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2" name="Shape 58"/>
          <p:cNvSpPr/>
          <p:nvPr/>
        </p:nvSpPr>
        <p:spPr>
          <a:xfrm>
            <a:off x="10533677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3" name="Shape 59"/>
          <p:cNvSpPr/>
          <p:nvPr/>
        </p:nvSpPr>
        <p:spPr>
          <a:xfrm>
            <a:off x="10774446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4" name="Shape 60"/>
          <p:cNvSpPr/>
          <p:nvPr/>
        </p:nvSpPr>
        <p:spPr>
          <a:xfrm>
            <a:off x="11015214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5" name="Shape 61"/>
          <p:cNvSpPr/>
          <p:nvPr/>
        </p:nvSpPr>
        <p:spPr>
          <a:xfrm>
            <a:off x="11255983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6" name="Shape 62"/>
          <p:cNvSpPr/>
          <p:nvPr/>
        </p:nvSpPr>
        <p:spPr>
          <a:xfrm>
            <a:off x="11496751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8366760" y="570585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Nadie se contrata antes de que la carga lo justifique.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POLÍTICA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TÉCNICOS FORMADOS EN CASA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con Lumine Habilita.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RUTA DE N1 A N4 · RENTA BRUTA MENSUAL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630168"/>
            <a:ext cx="1844802" cy="2103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630168"/>
            <a:ext cx="184480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3813048"/>
            <a:ext cx="658368" cy="40233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381304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N1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306824"/>
            <a:ext cx="15704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Aprende</a:t>
            </a:r>
            <a:endParaRPr lang="es-CL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690872"/>
            <a:ext cx="1570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 meses de formación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166360"/>
            <a:ext cx="157048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 mil</a:t>
            </a:r>
            <a:endParaRPr lang="es-CL" sz="3200" dirty="0"/>
          </a:p>
        </p:txBody>
      </p:sp>
      <p:sp>
        <p:nvSpPr>
          <p:cNvPr id="13" name="Shape 11"/>
          <p:cNvSpPr/>
          <p:nvPr/>
        </p:nvSpPr>
        <p:spPr>
          <a:xfrm>
            <a:off x="2539746" y="3264408"/>
            <a:ext cx="1844802" cy="24688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39746" y="3264408"/>
            <a:ext cx="184480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5" name="Shape 13"/>
          <p:cNvSpPr/>
          <p:nvPr/>
        </p:nvSpPr>
        <p:spPr>
          <a:xfrm>
            <a:off x="2704338" y="3447288"/>
            <a:ext cx="658368" cy="40233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04338" y="344728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N2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704338" y="3941064"/>
            <a:ext cx="15704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</a:t>
            </a:r>
            <a:endParaRPr lang="es-CL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2704338" y="4325112"/>
            <a:ext cx="1570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 meses supervisado</a:t>
            </a:r>
            <a:endParaRPr lang="es-CL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704338" y="5166360"/>
            <a:ext cx="157048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200" dirty="0"/>
          </a:p>
        </p:txBody>
      </p:sp>
      <p:sp>
        <p:nvSpPr>
          <p:cNvPr id="20" name="Shape 18"/>
          <p:cNvSpPr/>
          <p:nvPr/>
        </p:nvSpPr>
        <p:spPr>
          <a:xfrm>
            <a:off x="4530852" y="2898648"/>
            <a:ext cx="1844802" cy="28346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30852" y="2898648"/>
            <a:ext cx="184480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2" name="Shape 20"/>
          <p:cNvSpPr/>
          <p:nvPr/>
        </p:nvSpPr>
        <p:spPr>
          <a:xfrm>
            <a:off x="4695444" y="3081528"/>
            <a:ext cx="658368" cy="40233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95444" y="308152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N3</a:t>
            </a:r>
            <a:endParaRPr lang="es-CL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695444" y="3575304"/>
            <a:ext cx="15704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Autónomo</a:t>
            </a:r>
            <a:endParaRPr lang="es-CL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4695444" y="3959352"/>
            <a:ext cx="1570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90 días autónomo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95444" y="5166360"/>
            <a:ext cx="157048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$1,0 M</a:t>
            </a:r>
            <a:endParaRPr lang="es-CL" sz="3200" dirty="0"/>
          </a:p>
        </p:txBody>
      </p:sp>
      <p:pic>
        <p:nvPicPr>
          <p:cNvPr id="27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758" y="2212848"/>
            <a:ext cx="2759202" cy="38404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521958" y="2532888"/>
            <a:ext cx="1844802" cy="32004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67094" y="24780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67094" y="24780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66176" y="24780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421624" y="24780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67094" y="57881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7094" y="56327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66176" y="57881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421624" y="56327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521958" y="2532888"/>
            <a:ext cx="1844802" cy="45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Shape 35"/>
          <p:cNvSpPr/>
          <p:nvPr/>
        </p:nvSpPr>
        <p:spPr>
          <a:xfrm>
            <a:off x="6686550" y="2715768"/>
            <a:ext cx="658368" cy="40233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686550" y="271576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N4</a:t>
            </a:r>
            <a:endParaRPr lang="es-CL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6686550" y="3209544"/>
            <a:ext cx="15704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</a:t>
            </a:r>
            <a:endParaRPr lang="es-CL" sz="2400" dirty="0"/>
          </a:p>
        </p:txBody>
      </p:sp>
      <p:sp>
        <p:nvSpPr>
          <p:cNvPr id="41" name="Text 38"/>
          <p:cNvSpPr txBox="1"/>
          <p:nvPr/>
        </p:nvSpPr>
        <p:spPr>
          <a:xfrm>
            <a:off x="6686550" y="3593592"/>
            <a:ext cx="1570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 y valida a otros</a:t>
            </a:r>
            <a:endParaRPr lang="es-CL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6686550" y="5166360"/>
            <a:ext cx="157048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$1,15 M</a:t>
            </a:r>
            <a:endParaRPr lang="es-CL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582472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N1 al N4 en unos ocho meses,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 bono por nivel validado.</a:t>
            </a:r>
            <a:endParaRPr lang="es-CL" sz="2000" dirty="0"/>
          </a:p>
        </p:txBody>
      </p:sp>
      <p:sp>
        <p:nvSpPr>
          <p:cNvPr id="44" name="Shape 41"/>
          <p:cNvSpPr/>
          <p:nvPr/>
        </p:nvSpPr>
        <p:spPr>
          <a:xfrm>
            <a:off x="8778240" y="2779776"/>
            <a:ext cx="28648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78240" y="2852928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</a:t>
            </a:r>
            <a:endParaRPr lang="es-CL" sz="4800" dirty="0"/>
          </a:p>
        </p:txBody>
      </p:sp>
      <p:sp>
        <p:nvSpPr>
          <p:cNvPr id="46" name="Text 43"/>
          <p:cNvSpPr txBox="1"/>
          <p:nvPr/>
        </p:nvSpPr>
        <p:spPr>
          <a:xfrm>
            <a:off x="8778240" y="3493008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competencias</a:t>
            </a:r>
            <a:endParaRPr lang="es-CL" sz="2000" dirty="0"/>
          </a:p>
        </p:txBody>
      </p:sp>
      <p:sp>
        <p:nvSpPr>
          <p:cNvPr id="47" name="Shape 44"/>
          <p:cNvSpPr/>
          <p:nvPr/>
        </p:nvSpPr>
        <p:spPr>
          <a:xfrm>
            <a:off x="8778240" y="3931920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778240" y="4005072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49" name="Text 46"/>
          <p:cNvSpPr txBox="1"/>
          <p:nvPr/>
        </p:nvSpPr>
        <p:spPr>
          <a:xfrm>
            <a:off x="8778240" y="4645152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niveles</a:t>
            </a:r>
            <a:endParaRPr lang="es-CL" sz="2000" dirty="0"/>
          </a:p>
        </p:txBody>
      </p:sp>
      <p:sp>
        <p:nvSpPr>
          <p:cNvPr id="50" name="Shape 47"/>
          <p:cNvSpPr/>
          <p:nvPr/>
        </p:nvSpPr>
        <p:spPr>
          <a:xfrm>
            <a:off x="8778240" y="5084064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778240" y="5157216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392</a:t>
            </a:r>
            <a:endParaRPr lang="es-CL" sz="4800" dirty="0"/>
          </a:p>
        </p:txBody>
      </p:sp>
      <p:sp>
        <p:nvSpPr>
          <p:cNvPr id="52" name="Text 49"/>
          <p:cNvSpPr txBox="1"/>
          <p:nvPr/>
        </p:nvSpPr>
        <p:spPr>
          <a:xfrm>
            <a:off x="8778240" y="5797296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horas si se cursa todo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LOS CARGOS FIJOS SE REPARTEN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 más instalaciones.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NÓMINA POR INSTALACIÓN · MILES DE $</a:t>
            </a:r>
            <a:endParaRPr lang="es-CL" sz="1600" dirty="0"/>
          </a:p>
        </p:txBody>
      </p:sp>
      <p:graphicFrame>
        <p:nvGraphicFramePr>
          <p:cNvPr id="6" name="Costo de nómina por instalación propia" descr=""/>
          <p:cNvGraphicFramePr/>
          <p:nvPr/>
        </p:nvGraphicFramePr>
        <p:xfrm>
          <a:off x="457200" y="2761488"/>
          <a:ext cx="75438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52160"/>
            <a:ext cx="31577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8" name="Text 5"/>
          <p:cNvSpPr txBox="1"/>
          <p:nvPr/>
        </p:nvSpPr>
        <p:spPr>
          <a:xfrm>
            <a:off x="658368" y="5852160"/>
            <a:ext cx="2938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SUPUESTO · SIN REAJUSTES</a:t>
            </a:r>
            <a:endParaRPr lang="es-CL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5815584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año 5 sube: el tercer taller parte con un dúo.</a:t>
            </a:r>
            <a:endParaRPr lang="es-CL" sz="1600" dirty="0"/>
          </a:p>
        </p:txBody>
      </p:sp>
      <p:sp>
        <p:nvSpPr>
          <p:cNvPr id="10" name="Shape 7"/>
          <p:cNvSpPr/>
          <p:nvPr/>
        </p:nvSpPr>
        <p:spPr>
          <a:xfrm>
            <a:off x="8385048" y="2395728"/>
            <a:ext cx="3258007" cy="22860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30184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0184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542471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697919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NÓMINA TOTAL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MILLONES DE $</a:t>
            </a:r>
            <a:endParaRPr lang="es-CL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14436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152</a:t>
            </a:r>
            <a:endParaRPr lang="es-CL" sz="4400" dirty="0"/>
          </a:p>
        </p:txBody>
      </p:sp>
      <p:sp>
        <p:nvSpPr>
          <p:cNvPr id="21" name="Shape 18"/>
          <p:cNvSpPr/>
          <p:nvPr/>
        </p:nvSpPr>
        <p:spPr>
          <a:xfrm>
            <a:off x="9849460" y="36027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10233508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755</a:t>
            </a:r>
            <a:endParaRPr lang="es-CL" sz="4400" dirty="0"/>
          </a:p>
        </p:txBody>
      </p:sp>
      <p:sp>
        <p:nvSpPr>
          <p:cNvPr id="23" name="Text 20"/>
          <p:cNvSpPr txBox="1"/>
          <p:nvPr/>
        </p:nvSpPr>
        <p:spPr>
          <a:xfrm>
            <a:off x="8613648" y="4078224"/>
            <a:ext cx="2800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año 1 al año 5</a:t>
            </a:r>
            <a:endParaRPr lang="es-CL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385048" y="4956048"/>
            <a:ext cx="32580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$508 mil a $253 mil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instalación entre el año 1 y el año 4.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/  03   ·   PLAN</a:t>
            </a:r>
            <a:endParaRPr lang="es-CL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OPERACIONES</a:t>
            </a:r>
            <a:endParaRPr lang="es-CL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28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precisión en cada instalación.</a:t>
            </a:r>
            <a:endParaRPr lang="es-CL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82296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00507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Flujo y puntos de control</a:t>
            </a:r>
            <a:endParaRPr lang="es-CL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5254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Cronograma</a:t>
            </a:r>
            <a:endParaRPr lang="es-CL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000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Resultados y riesgo cambiario</a:t>
            </a:r>
            <a:endParaRPr lang="es-CL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OPERACIÓN PROYECTADA · 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FLUJO OPERACIONAL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NEGOCIO MIDE Y RECOMIENDA;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cliente decide.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a 18; elaboración propia (Informe Fase 3, Figura N° 4 y Tabla N° 17). Imágenes ilustrativas de la operación proyectada.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3754861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pic>
        <p:nvPicPr>
          <p:cNvPr id="6" name="Image 0" descr="Cotización en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95728"/>
            <a:ext cx="2028688" cy="102994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2395728"/>
            <a:ext cx="2028688" cy="1029949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" y="3553693"/>
            <a:ext cx="402336" cy="40233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" y="355369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000" dirty="0"/>
          </a:p>
        </p:txBody>
      </p:sp>
      <p:sp>
        <p:nvSpPr>
          <p:cNvPr id="10" name="Shape 7"/>
          <p:cNvSpPr/>
          <p:nvPr/>
        </p:nvSpPr>
        <p:spPr>
          <a:xfrm>
            <a:off x="2284720" y="3754861"/>
            <a:ext cx="42062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548640" y="4084045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CAPTACIÓN</a:t>
            </a:r>
            <a:endParaRPr lang="es-CL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58365"/>
            <a:ext cx="2028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Cotiza en la web</a:t>
            </a:r>
            <a:endParaRPr lang="es-CL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998445"/>
            <a:ext cx="19829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estimador da ahorro y plazo.</a:t>
            </a:r>
            <a:endParaRPr lang="es-CL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852160"/>
            <a:ext cx="185724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852160"/>
            <a:ext cx="185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 EL CLIENTE</a:t>
            </a:r>
            <a:endParaRPr lang="es-CL" sz="1300" dirty="0"/>
          </a:p>
        </p:txBody>
      </p:sp>
      <p:pic>
        <p:nvPicPr>
          <p:cNvPr id="16" name="Image 1" descr="Diagnóstico con telemetrí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072" y="2395728"/>
            <a:ext cx="2028688" cy="1029949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2815072" y="2395728"/>
            <a:ext cx="2028688" cy="1029949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833360" y="3553693"/>
            <a:ext cx="402336" cy="40233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833360" y="355369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000" dirty="0"/>
          </a:p>
        </p:txBody>
      </p:sp>
      <p:sp>
        <p:nvSpPr>
          <p:cNvPr id="20" name="Shape 16"/>
          <p:cNvSpPr/>
          <p:nvPr/>
        </p:nvSpPr>
        <p:spPr>
          <a:xfrm>
            <a:off x="4551152" y="3754861"/>
            <a:ext cx="42062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2815072" y="4084045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ASESORÍA</a:t>
            </a:r>
            <a:endParaRPr lang="es-CL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2815072" y="4358365"/>
            <a:ext cx="2028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cliente decide</a:t>
            </a:r>
            <a:endParaRPr lang="es-CL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2815072" y="4998445"/>
            <a:ext cx="19829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Puede medir una semana antes.</a:t>
            </a:r>
            <a:endParaRPr lang="es-CL" sz="1800" dirty="0"/>
          </a:p>
        </p:txBody>
      </p:sp>
      <p:sp>
        <p:nvSpPr>
          <p:cNvPr id="24" name="Shape 20"/>
          <p:cNvSpPr/>
          <p:nvPr/>
        </p:nvSpPr>
        <p:spPr>
          <a:xfrm>
            <a:off x="2815072" y="5852160"/>
            <a:ext cx="185724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815072" y="5852160"/>
            <a:ext cx="185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 EL CLIENTE</a:t>
            </a:r>
            <a:endParaRPr lang="es-CL" sz="1300" dirty="0"/>
          </a:p>
        </p:txBody>
      </p:sp>
      <p:pic>
        <p:nvPicPr>
          <p:cNvPr id="26" name="Image 2" descr="/home/user/lumine/fase-3/generador/assets/bril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5744" y="2139696"/>
            <a:ext cx="2760208" cy="4352544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4971776" y="2286000"/>
            <a:ext cx="2248144" cy="3931920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916912" y="22311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916912" y="22311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119336" y="22311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274784" y="22311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4916912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4916912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19336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74784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pic>
        <p:nvPicPr>
          <p:cNvPr id="36" name="Image 3" descr="Dúo de técnicos instalando el ki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1504" y="2395728"/>
            <a:ext cx="2028688" cy="1029949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5081504" y="2395728"/>
            <a:ext cx="2028688" cy="1029949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099792" y="3553693"/>
            <a:ext cx="402336" cy="40233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5099792" y="355369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40" name="Shape 34"/>
          <p:cNvSpPr/>
          <p:nvPr/>
        </p:nvSpPr>
        <p:spPr>
          <a:xfrm>
            <a:off x="6817584" y="3754861"/>
            <a:ext cx="42062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Text 35"/>
          <p:cNvSpPr txBox="1"/>
          <p:nvPr/>
        </p:nvSpPr>
        <p:spPr>
          <a:xfrm>
            <a:off x="5081504" y="4084045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TALLER</a:t>
            </a:r>
            <a:endParaRPr lang="es-CL" sz="1600" dirty="0"/>
          </a:p>
        </p:txBody>
      </p:sp>
      <p:sp>
        <p:nvSpPr>
          <p:cNvPr id="42" name="Text 36"/>
          <p:cNvSpPr txBox="1"/>
          <p:nvPr/>
        </p:nvSpPr>
        <p:spPr>
          <a:xfrm>
            <a:off x="5081504" y="4358365"/>
            <a:ext cx="2028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jornada</a:t>
            </a:r>
            <a:endParaRPr lang="es-CL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5081504" y="4998445"/>
            <a:ext cx="19829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8,4 horas y cuatro controles.</a:t>
            </a:r>
            <a:endParaRPr lang="es-CL" sz="1800" dirty="0"/>
          </a:p>
        </p:txBody>
      </p:sp>
      <p:sp>
        <p:nvSpPr>
          <p:cNvPr id="44" name="Shape 38"/>
          <p:cNvSpPr/>
          <p:nvPr/>
        </p:nvSpPr>
        <p:spPr>
          <a:xfrm>
            <a:off x="5081504" y="5852160"/>
            <a:ext cx="107492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5081504" y="5852160"/>
            <a:ext cx="1074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TÉCNICA</a:t>
            </a:r>
            <a:endParaRPr lang="es-CL" sz="1300" dirty="0"/>
          </a:p>
        </p:txBody>
      </p:sp>
      <p:pic>
        <p:nvPicPr>
          <p:cNvPr id="46" name="Image 4" descr="Entrega del auto certifica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7936" y="2395728"/>
            <a:ext cx="2028688" cy="1029949"/>
          </a:xfrm>
          <a:prstGeom prst="rect">
            <a:avLst/>
          </a:prstGeom>
        </p:spPr>
      </p:pic>
      <p:sp>
        <p:nvSpPr>
          <p:cNvPr id="47" name="Shape 40"/>
          <p:cNvSpPr/>
          <p:nvPr/>
        </p:nvSpPr>
        <p:spPr>
          <a:xfrm>
            <a:off x="7347936" y="2395728"/>
            <a:ext cx="2028688" cy="1029949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7366224" y="3553693"/>
            <a:ext cx="402336" cy="40233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7366224" y="355369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2000" dirty="0"/>
          </a:p>
        </p:txBody>
      </p:sp>
      <p:sp>
        <p:nvSpPr>
          <p:cNvPr id="50" name="Shape 43"/>
          <p:cNvSpPr/>
          <p:nvPr/>
        </p:nvSpPr>
        <p:spPr>
          <a:xfrm>
            <a:off x="9084015" y="3754861"/>
            <a:ext cx="42062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1" name="Text 44"/>
          <p:cNvSpPr txBox="1"/>
          <p:nvPr/>
        </p:nvSpPr>
        <p:spPr>
          <a:xfrm>
            <a:off x="7347936" y="4084045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52" name="Text 45"/>
          <p:cNvSpPr txBox="1"/>
          <p:nvPr/>
        </p:nvSpPr>
        <p:spPr>
          <a:xfrm>
            <a:off x="7347936" y="4358365"/>
            <a:ext cx="2028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Sale certificado</a:t>
            </a:r>
            <a:endParaRPr lang="es-CL" sz="2000" dirty="0"/>
          </a:p>
        </p:txBody>
      </p:sp>
      <p:sp>
        <p:nvSpPr>
          <p:cNvPr id="53" name="Text 46"/>
          <p:cNvSpPr txBox="1"/>
          <p:nvPr/>
        </p:nvSpPr>
        <p:spPr>
          <a:xfrm>
            <a:off x="7347936" y="4998445"/>
            <a:ext cx="19829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Firma del Responsable Técnico.</a:t>
            </a:r>
            <a:endParaRPr lang="es-CL" sz="1800" dirty="0"/>
          </a:p>
        </p:txBody>
      </p:sp>
      <p:sp>
        <p:nvSpPr>
          <p:cNvPr id="54" name="Shape 47"/>
          <p:cNvSpPr/>
          <p:nvPr/>
        </p:nvSpPr>
        <p:spPr>
          <a:xfrm>
            <a:off x="7347936" y="5852160"/>
            <a:ext cx="107492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7347936" y="5852160"/>
            <a:ext cx="1074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TÉCNICA</a:t>
            </a:r>
            <a:endParaRPr lang="es-CL" sz="1300" dirty="0"/>
          </a:p>
        </p:txBody>
      </p:sp>
      <p:pic>
        <p:nvPicPr>
          <p:cNvPr id="56" name="Image 5" descr="Centro de control que mide el ahorr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4367" y="2395728"/>
            <a:ext cx="2028688" cy="1029949"/>
          </a:xfrm>
          <a:prstGeom prst="rect">
            <a:avLst/>
          </a:prstGeom>
        </p:spPr>
      </p:pic>
      <p:sp>
        <p:nvSpPr>
          <p:cNvPr id="57" name="Shape 49"/>
          <p:cNvSpPr/>
          <p:nvPr/>
        </p:nvSpPr>
        <p:spPr>
          <a:xfrm>
            <a:off x="9614367" y="2395728"/>
            <a:ext cx="2028688" cy="1029949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0"/>
          <p:cNvSpPr/>
          <p:nvPr/>
        </p:nvSpPr>
        <p:spPr>
          <a:xfrm>
            <a:off x="9632655" y="3553693"/>
            <a:ext cx="402336" cy="40233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9632655" y="355369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2000" dirty="0"/>
          </a:p>
        </p:txBody>
      </p:sp>
      <p:sp>
        <p:nvSpPr>
          <p:cNvPr id="60" name="Text 52"/>
          <p:cNvSpPr txBox="1"/>
          <p:nvPr/>
        </p:nvSpPr>
        <p:spPr>
          <a:xfrm>
            <a:off x="9614367" y="4084045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POSTVENTA</a:t>
            </a:r>
            <a:endParaRPr lang="es-CL" sz="1600" dirty="0"/>
          </a:p>
        </p:txBody>
      </p:sp>
      <p:sp>
        <p:nvSpPr>
          <p:cNvPr id="61" name="Text 53"/>
          <p:cNvSpPr txBox="1"/>
          <p:nvPr/>
        </p:nvSpPr>
        <p:spPr>
          <a:xfrm>
            <a:off x="9614367" y="4358365"/>
            <a:ext cx="2028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Ahorro medido</a:t>
            </a:r>
            <a:endParaRPr lang="es-CL" sz="2000" dirty="0"/>
          </a:p>
        </p:txBody>
      </p:sp>
      <p:sp>
        <p:nvSpPr>
          <p:cNvPr id="62" name="Text 54"/>
          <p:cNvSpPr txBox="1"/>
          <p:nvPr/>
        </p:nvSpPr>
        <p:spPr>
          <a:xfrm>
            <a:off x="9614367" y="4998445"/>
            <a:ext cx="19829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Informe a los tres meses.</a:t>
            </a:r>
            <a:endParaRPr lang="es-CL" sz="1800" dirty="0"/>
          </a:p>
        </p:txBody>
      </p:sp>
      <p:sp>
        <p:nvSpPr>
          <p:cNvPr id="63" name="Shape 55"/>
          <p:cNvSpPr/>
          <p:nvPr/>
        </p:nvSpPr>
        <p:spPr>
          <a:xfrm>
            <a:off x="9614367" y="5852160"/>
            <a:ext cx="185724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9614367" y="5852160"/>
            <a:ext cx="185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 EL CLIENTE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PUNTOS DE CONTROL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UNA JORNADA DE 8,4 HORAS,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cuatro controles.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a 18; elaboración propia (Informe Fase 3, Figura N° 4, Tabla N° 17 y Anexo N° 8). Tiempos estimados. Imágenes ilustrativas de la operación proyectada.</a:t>
            </a:r>
            <a:endParaRPr lang="es-CL" sz="1100" dirty="0"/>
          </a:p>
        </p:txBody>
      </p:sp>
      <p:pic>
        <p:nvPicPr>
          <p:cNvPr id="5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8840"/>
            <a:ext cx="3291840" cy="1499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322576"/>
            <a:ext cx="3017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8,4 h</a:t>
            </a:r>
            <a:endParaRPr lang="es-CL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2395728"/>
            <a:ext cx="42062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vehículo por jornada</a:t>
            </a:r>
            <a:endParaRPr lang="es-CL" sz="2200" dirty="0"/>
          </a:p>
          <a:p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 con un técnico de nivel 3.</a:t>
            </a:r>
            <a:endParaRPr lang="es-CL" sz="2200" dirty="0"/>
          </a:p>
        </p:txBody>
      </p:sp>
      <p:pic>
        <p:nvPicPr>
          <p:cNvPr id="8" name="Image 1" descr="Auto con el kit en el banco de prueb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215" y="2395728"/>
            <a:ext cx="3291840" cy="914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351215" y="2395728"/>
            <a:ext cx="3291840" cy="91440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33101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JORNADA ESTIMADA · SIETE BLOQUES (DETALLE EN A8)</a:t>
            </a:r>
            <a:endParaRPr lang="es-CL" sz="1400" dirty="0"/>
          </a:p>
        </p:txBody>
      </p:sp>
      <p:sp>
        <p:nvSpPr>
          <p:cNvPr id="11" name="Shape 7"/>
          <p:cNvSpPr/>
          <p:nvPr/>
        </p:nvSpPr>
        <p:spPr>
          <a:xfrm>
            <a:off x="566928" y="3621024"/>
            <a:ext cx="49172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48640" y="3621024"/>
            <a:ext cx="528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1600" dirty="0"/>
          </a:p>
        </p:txBody>
      </p:sp>
      <p:sp>
        <p:nvSpPr>
          <p:cNvPr id="13" name="Shape 9"/>
          <p:cNvSpPr/>
          <p:nvPr/>
        </p:nvSpPr>
        <p:spPr>
          <a:xfrm>
            <a:off x="1095233" y="3621024"/>
            <a:ext cx="49172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076945" y="3621024"/>
            <a:ext cx="528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1600" dirty="0"/>
          </a:p>
        </p:txBody>
      </p:sp>
      <p:sp>
        <p:nvSpPr>
          <p:cNvPr id="15" name="Shape 11"/>
          <p:cNvSpPr/>
          <p:nvPr/>
        </p:nvSpPr>
        <p:spPr>
          <a:xfrm>
            <a:off x="1623539" y="3621024"/>
            <a:ext cx="432194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605251" y="3621024"/>
            <a:ext cx="435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1605251" y="4114800"/>
            <a:ext cx="4358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MONTAJE Y PESAJE</a:t>
            </a:r>
            <a:endParaRPr lang="es-CL" sz="1300" dirty="0"/>
          </a:p>
        </p:txBody>
      </p:sp>
      <p:sp>
        <p:nvSpPr>
          <p:cNvPr id="18" name="Shape 14"/>
          <p:cNvSpPr/>
          <p:nvPr/>
        </p:nvSpPr>
        <p:spPr>
          <a:xfrm>
            <a:off x="5982059" y="3621024"/>
            <a:ext cx="2340799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963771" y="3621024"/>
            <a:ext cx="2377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5963771" y="4114800"/>
            <a:ext cx="2377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INTEGRACIÓN</a:t>
            </a:r>
            <a:endParaRPr lang="es-CL" sz="1300" dirty="0"/>
          </a:p>
        </p:txBody>
      </p:sp>
      <p:sp>
        <p:nvSpPr>
          <p:cNvPr id="21" name="Shape 17"/>
          <p:cNvSpPr/>
          <p:nvPr/>
        </p:nvSpPr>
        <p:spPr>
          <a:xfrm>
            <a:off x="8359434" y="3621024"/>
            <a:ext cx="1020035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341146" y="3621024"/>
            <a:ext cx="10566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2000" dirty="0"/>
          </a:p>
        </p:txBody>
      </p:sp>
      <p:sp>
        <p:nvSpPr>
          <p:cNvPr id="23" name="Shape 19"/>
          <p:cNvSpPr/>
          <p:nvPr/>
        </p:nvSpPr>
        <p:spPr>
          <a:xfrm>
            <a:off x="9416045" y="3621024"/>
            <a:ext cx="1284188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9397757" y="3621024"/>
            <a:ext cx="13207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2000" dirty="0"/>
          </a:p>
        </p:txBody>
      </p:sp>
      <p:sp>
        <p:nvSpPr>
          <p:cNvPr id="25" name="Shape 21"/>
          <p:cNvSpPr/>
          <p:nvPr/>
        </p:nvSpPr>
        <p:spPr>
          <a:xfrm>
            <a:off x="10736809" y="3621024"/>
            <a:ext cx="88795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0718521" y="3621024"/>
            <a:ext cx="924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2000" dirty="0"/>
          </a:p>
        </p:txBody>
      </p:sp>
      <p:sp>
        <p:nvSpPr>
          <p:cNvPr id="27" name="Shape 23"/>
          <p:cNvSpPr/>
          <p:nvPr/>
        </p:nvSpPr>
        <p:spPr>
          <a:xfrm>
            <a:off x="548640" y="440740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449884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CUATRO VERIFICACIONES DEL PROCEDIMIENTO · SI FALLA, SE DETIENE</a:t>
            </a:r>
            <a:endParaRPr lang="es-CL" sz="1600" dirty="0"/>
          </a:p>
        </p:txBody>
      </p:sp>
      <p:sp>
        <p:nvSpPr>
          <p:cNvPr id="29" name="Shape 25"/>
          <p:cNvSpPr/>
          <p:nvPr/>
        </p:nvSpPr>
        <p:spPr>
          <a:xfrm>
            <a:off x="8962847" y="4462272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9072575" y="4462272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31" name="Shape 27"/>
          <p:cNvSpPr/>
          <p:nvPr/>
        </p:nvSpPr>
        <p:spPr>
          <a:xfrm>
            <a:off x="548640" y="4846320"/>
            <a:ext cx="2622728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76656" y="4992624"/>
            <a:ext cx="45720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76656" y="49926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endParaRPr lang="es-CL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1243584" y="4846320"/>
            <a:ext cx="187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¿Vehículo apto?</a:t>
            </a:r>
            <a:endParaRPr lang="es-CL" sz="1800" dirty="0"/>
          </a:p>
        </p:txBody>
      </p:sp>
      <p:sp>
        <p:nvSpPr>
          <p:cNvPr id="35" name="Shape 31"/>
          <p:cNvSpPr/>
          <p:nvPr/>
        </p:nvSpPr>
        <p:spPr>
          <a:xfrm>
            <a:off x="3198800" y="516636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6" name="Shape 32"/>
          <p:cNvSpPr/>
          <p:nvPr/>
        </p:nvSpPr>
        <p:spPr>
          <a:xfrm>
            <a:off x="3372536" y="4846320"/>
            <a:ext cx="2622728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500552" y="4992624"/>
            <a:ext cx="45720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3500552" y="49926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endParaRPr lang="es-CL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4067480" y="4846320"/>
            <a:ext cx="187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¿Masa y ejes?</a:t>
            </a:r>
            <a:endParaRPr lang="es-CL" sz="1800" dirty="0"/>
          </a:p>
        </p:txBody>
      </p:sp>
      <p:sp>
        <p:nvSpPr>
          <p:cNvPr id="40" name="Shape 36"/>
          <p:cNvSpPr/>
          <p:nvPr/>
        </p:nvSpPr>
        <p:spPr>
          <a:xfrm>
            <a:off x="6022696" y="516636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6196432" y="4846320"/>
            <a:ext cx="2622728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324448" y="4992624"/>
            <a:ext cx="45720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6324448" y="49926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endParaRPr lang="es-CL" sz="1600" dirty="0"/>
          </a:p>
        </p:txBody>
      </p:sp>
      <p:sp>
        <p:nvSpPr>
          <p:cNvPr id="44" name="Text 40"/>
          <p:cNvSpPr txBox="1"/>
          <p:nvPr/>
        </p:nvSpPr>
        <p:spPr>
          <a:xfrm>
            <a:off x="6891376" y="4846320"/>
            <a:ext cx="187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¿Aislación?</a:t>
            </a:r>
            <a:endParaRPr lang="es-CL" sz="1800" dirty="0"/>
          </a:p>
        </p:txBody>
      </p:sp>
      <p:sp>
        <p:nvSpPr>
          <p:cNvPr id="45" name="Shape 41"/>
          <p:cNvSpPr/>
          <p:nvPr/>
        </p:nvSpPr>
        <p:spPr>
          <a:xfrm>
            <a:off x="8846591" y="516636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9020327" y="4846320"/>
            <a:ext cx="2622728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148343" y="4992624"/>
            <a:ext cx="45720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9148343" y="49926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04</a:t>
            </a:r>
            <a:endParaRPr lang="es-CL" sz="1600" dirty="0"/>
          </a:p>
        </p:txBody>
      </p:sp>
      <p:sp>
        <p:nvSpPr>
          <p:cNvPr id="49" name="Text 45"/>
          <p:cNvSpPr txBox="1"/>
          <p:nvPr/>
        </p:nvSpPr>
        <p:spPr>
          <a:xfrm>
            <a:off x="9715271" y="4846320"/>
            <a:ext cx="187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¿Dinamómetro?</a:t>
            </a:r>
            <a:endParaRPr lang="es-CL" sz="1800" dirty="0"/>
          </a:p>
        </p:txBody>
      </p:sp>
      <p:sp>
        <p:nvSpPr>
          <p:cNvPr id="50" name="Text 46"/>
          <p:cNvSpPr txBox="1"/>
          <p:nvPr/>
        </p:nvSpPr>
        <p:spPr>
          <a:xfrm>
            <a:off x="548640" y="557784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límite de capacidad son las horas de los dúos: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dinamómetro por local basta, incluso con seis dúos.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CRONOGRAMA DE IMPLEMENTACIÓN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ABRIR EN ENERO DE 2027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depende de un reglamento.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3957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2026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92040" y="23957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4892040" y="2724912"/>
            <a:ext cx="0" cy="2724912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86600" y="2395728"/>
            <a:ext cx="11391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7086600" y="2724912"/>
            <a:ext cx="0" cy="2724912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5714" y="2395728"/>
            <a:ext cx="11391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8225714" y="2724912"/>
            <a:ext cx="0" cy="2724912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64828" y="2395728"/>
            <a:ext cx="11391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9364828" y="2724912"/>
            <a:ext cx="0" cy="2724912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03941" y="2395728"/>
            <a:ext cx="11391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0503941" y="2724912"/>
            <a:ext cx="0" cy="2724912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3685032"/>
            <a:ext cx="11240719" cy="374904"/>
          </a:xfrm>
          <a:prstGeom prst="rect">
            <a:avLst/>
          </a:prstGeom>
          <a:solidFill>
            <a:srgbClr val="0B1A22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548640" y="2798064"/>
            <a:ext cx="2834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Preparación y permisos</a:t>
            </a:r>
            <a:endParaRPr lang="es-CL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322783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227832"/>
            <a:ext cx="2834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657600"/>
            <a:ext cx="2834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Reglamento Ley N° 21.793</a:t>
            </a:r>
            <a:endParaRPr lang="es-CL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87368"/>
            <a:ext cx="2834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Formación y dúos del taller 1</a:t>
            </a:r>
            <a:endParaRPr lang="es-CL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51713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517136"/>
            <a:ext cx="2834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Apertura de talleres propios</a:t>
            </a:r>
            <a:endParaRPr lang="es-CL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494690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46904"/>
            <a:ext cx="2834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26" name="Shape 24"/>
          <p:cNvSpPr/>
          <p:nvPr/>
        </p:nvSpPr>
        <p:spPr>
          <a:xfrm>
            <a:off x="3566160" y="2889504"/>
            <a:ext cx="132588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Shape 25"/>
          <p:cNvSpPr/>
          <p:nvPr/>
        </p:nvSpPr>
        <p:spPr>
          <a:xfrm>
            <a:off x="3897630" y="3319272"/>
            <a:ext cx="99441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Shape 26"/>
          <p:cNvSpPr/>
          <p:nvPr/>
        </p:nvSpPr>
        <p:spPr>
          <a:xfrm>
            <a:off x="4055364" y="3698748"/>
            <a:ext cx="347472" cy="347472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03420" y="3657600"/>
            <a:ext cx="704819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CONDICIÓN EXTERNA PENDIENTE · vigente antes de vender</a:t>
            </a:r>
            <a:endParaRPr lang="es-CL" sz="1700" dirty="0"/>
          </a:p>
        </p:txBody>
      </p:sp>
      <p:sp>
        <p:nvSpPr>
          <p:cNvPr id="30" name="Shape 28"/>
          <p:cNvSpPr/>
          <p:nvPr/>
        </p:nvSpPr>
        <p:spPr>
          <a:xfrm>
            <a:off x="5440680" y="4178808"/>
            <a:ext cx="365760" cy="24688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1" name="Shape 29"/>
          <p:cNvSpPr/>
          <p:nvPr/>
        </p:nvSpPr>
        <p:spPr>
          <a:xfrm>
            <a:off x="6537960" y="4178808"/>
            <a:ext cx="365760" cy="24688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2" name="Shape 30"/>
          <p:cNvSpPr/>
          <p:nvPr/>
        </p:nvSpPr>
        <p:spPr>
          <a:xfrm>
            <a:off x="6903720" y="4178808"/>
            <a:ext cx="277806" cy="24688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3" name="Shape 31"/>
          <p:cNvSpPr/>
          <p:nvPr/>
        </p:nvSpPr>
        <p:spPr>
          <a:xfrm>
            <a:off x="7371378" y="4178808"/>
            <a:ext cx="189852" cy="24688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4" name="Shape 32"/>
          <p:cNvSpPr/>
          <p:nvPr/>
        </p:nvSpPr>
        <p:spPr>
          <a:xfrm>
            <a:off x="7561231" y="4178808"/>
            <a:ext cx="189852" cy="24688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5" name="Shape 33"/>
          <p:cNvSpPr/>
          <p:nvPr/>
        </p:nvSpPr>
        <p:spPr>
          <a:xfrm>
            <a:off x="4764024" y="4174236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78424" y="4174236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75704" y="4174236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53510" y="4174236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433215" y="4174236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23067" y="4174236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79683" y="4087368"/>
            <a:ext cx="3108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dúos 1 a 6 · meses 1 a 20</a:t>
            </a:r>
            <a:endParaRPr lang="es-CL" sz="1700" dirty="0"/>
          </a:p>
        </p:txBody>
      </p:sp>
      <p:sp>
        <p:nvSpPr>
          <p:cNvPr id="42" name="Shape 40"/>
          <p:cNvSpPr/>
          <p:nvPr/>
        </p:nvSpPr>
        <p:spPr>
          <a:xfrm>
            <a:off x="7940935" y="4608576"/>
            <a:ext cx="284778" cy="24688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43" name="Shape 41"/>
          <p:cNvSpPr/>
          <p:nvPr/>
        </p:nvSpPr>
        <p:spPr>
          <a:xfrm>
            <a:off x="10219163" y="4608576"/>
            <a:ext cx="284778" cy="24688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44" name="Shape 42"/>
          <p:cNvSpPr/>
          <p:nvPr/>
        </p:nvSpPr>
        <p:spPr>
          <a:xfrm>
            <a:off x="4764024" y="4604004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74920" y="4517136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1</a:t>
            </a:r>
            <a:endParaRPr lang="es-CL" sz="1700" dirty="0"/>
          </a:p>
        </p:txBody>
      </p:sp>
      <p:sp>
        <p:nvSpPr>
          <p:cNvPr id="46" name="Shape 44"/>
          <p:cNvSpPr/>
          <p:nvPr/>
        </p:nvSpPr>
        <p:spPr>
          <a:xfrm>
            <a:off x="8097698" y="4604004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408594" y="4517136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2</a:t>
            </a:r>
            <a:endParaRPr lang="es-CL" sz="1700" dirty="0"/>
          </a:p>
        </p:txBody>
      </p:sp>
      <p:sp>
        <p:nvSpPr>
          <p:cNvPr id="48" name="Shape 46"/>
          <p:cNvSpPr/>
          <p:nvPr/>
        </p:nvSpPr>
        <p:spPr>
          <a:xfrm>
            <a:off x="10375925" y="4604004"/>
            <a:ext cx="256032" cy="256032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686821" y="4517136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3</a:t>
            </a:r>
            <a:endParaRPr lang="es-CL" sz="1700" dirty="0"/>
          </a:p>
        </p:txBody>
      </p:sp>
      <p:sp>
        <p:nvSpPr>
          <p:cNvPr id="50" name="Shape 48"/>
          <p:cNvSpPr/>
          <p:nvPr/>
        </p:nvSpPr>
        <p:spPr>
          <a:xfrm>
            <a:off x="7086600" y="5038344"/>
            <a:ext cx="4556455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539914" y="4946904"/>
            <a:ext cx="5669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400" dirty="0"/>
          </a:p>
        </p:txBody>
      </p:sp>
      <p:sp>
        <p:nvSpPr>
          <p:cNvPr id="52" name="Text 50"/>
          <p:cNvSpPr txBox="1"/>
          <p:nvPr/>
        </p:nvSpPr>
        <p:spPr>
          <a:xfrm>
            <a:off x="8679028" y="4946904"/>
            <a:ext cx="5669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9818141" y="4946904"/>
            <a:ext cx="5669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400" dirty="0"/>
          </a:p>
        </p:txBody>
      </p:sp>
      <p:sp>
        <p:nvSpPr>
          <p:cNvPr id="54" name="Text 52"/>
          <p:cNvSpPr txBox="1"/>
          <p:nvPr/>
        </p:nvSpPr>
        <p:spPr>
          <a:xfrm>
            <a:off x="10957255" y="4946904"/>
            <a:ext cx="5669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400" dirty="0"/>
          </a:p>
        </p:txBody>
      </p:sp>
      <p:sp>
        <p:nvSpPr>
          <p:cNvPr id="55" name="Shape 53"/>
          <p:cNvSpPr/>
          <p:nvPr/>
        </p:nvSpPr>
        <p:spPr>
          <a:xfrm>
            <a:off x="548640" y="53766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555955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59536" y="5486400"/>
            <a:ext cx="955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Actividad</a:t>
            </a:r>
            <a:endParaRPr lang="es-CL" sz="1600" dirty="0"/>
          </a:p>
        </p:txBody>
      </p:sp>
      <p:sp>
        <p:nvSpPr>
          <p:cNvPr id="58" name="Shape 56"/>
          <p:cNvSpPr/>
          <p:nvPr/>
        </p:nvSpPr>
        <p:spPr>
          <a:xfrm>
            <a:off x="2107692" y="5559552"/>
            <a:ext cx="219456" cy="219456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2418588" y="54864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Formación de dúo</a:t>
            </a:r>
            <a:endParaRPr lang="es-CL" sz="1600" dirty="0"/>
          </a:p>
        </p:txBody>
      </p:sp>
      <p:sp>
        <p:nvSpPr>
          <p:cNvPr id="60" name="Shape 58"/>
          <p:cNvSpPr/>
          <p:nvPr/>
        </p:nvSpPr>
        <p:spPr>
          <a:xfrm>
            <a:off x="4338828" y="5559552"/>
            <a:ext cx="219456" cy="219456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649724" y="5486400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Preapertura</a:t>
            </a:r>
            <a:endParaRPr lang="es-CL" sz="1600" dirty="0"/>
          </a:p>
        </p:txBody>
      </p:sp>
      <p:sp>
        <p:nvSpPr>
          <p:cNvPr id="62" name="Shape 60"/>
          <p:cNvSpPr/>
          <p:nvPr/>
        </p:nvSpPr>
        <p:spPr>
          <a:xfrm>
            <a:off x="6089904" y="5559552"/>
            <a:ext cx="219456" cy="21945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00800" y="5486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64" name="Shape 62"/>
          <p:cNvSpPr/>
          <p:nvPr/>
        </p:nvSpPr>
        <p:spPr>
          <a:xfrm>
            <a:off x="8705088" y="5559552"/>
            <a:ext cx="219456" cy="219456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015984" y="5486400"/>
            <a:ext cx="1723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Condición externa</a:t>
            </a:r>
            <a:endParaRPr lang="es-CL" sz="1600" dirty="0"/>
          </a:p>
        </p:txBody>
      </p:sp>
      <p:sp>
        <p:nvSpPr>
          <p:cNvPr id="66" name="Shape 64"/>
          <p:cNvSpPr/>
          <p:nvPr/>
        </p:nvSpPr>
        <p:spPr>
          <a:xfrm>
            <a:off x="548640" y="5888736"/>
            <a:ext cx="3868928" cy="292608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67" name="Text 65"/>
          <p:cNvSpPr txBox="1"/>
          <p:nvPr/>
        </p:nvSpPr>
        <p:spPr>
          <a:xfrm>
            <a:off x="658368" y="5888736"/>
            <a:ext cx="364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SUPUESTO · MES 1 = ENERO DE 2027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PRESUPUESTO Y RESULTADO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RESULTADO POSITIVO PROYECTADO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desde el año 2 en ambas líneas.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Dynojet Research (2016); Importadora JAK (2026); elaboración propia (Informe Fase 3, Tablas N° 18 a 21).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REFERENCIAL POR LÍNEA · MILLONES DE PESOS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97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propios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3040888" y="2816352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33496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600" dirty="0"/>
          </a:p>
        </p:txBody>
      </p:sp>
      <p:graphicFrame>
        <p:nvGraphicFramePr>
          <p:cNvPr id="10" name="Resultado referencial por línea de negocio" descr=""/>
          <p:cNvGraphicFramePr/>
          <p:nvPr/>
        </p:nvGraphicFramePr>
        <p:xfrm>
          <a:off x="457200" y="3127248"/>
          <a:ext cx="7543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852160"/>
            <a:ext cx="61422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658368" y="5852160"/>
            <a:ext cx="59227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PROYECCIÓN REFERENCIAL · 60% PLUS · SIN IMPUESTOS</a:t>
            </a:r>
            <a:endParaRPr lang="es-CL" sz="1400" dirty="0"/>
          </a:p>
        </p:txBody>
      </p:sp>
      <p:sp>
        <p:nvSpPr>
          <p:cNvPr id="13" name="Shape 10"/>
          <p:cNvSpPr/>
          <p:nvPr/>
        </p:nvSpPr>
        <p:spPr>
          <a:xfrm>
            <a:off x="8385048" y="2395728"/>
            <a:ext cx="3258007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13648" y="25786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POR LOCAL</a:t>
            </a:r>
            <a:endParaRPr lang="es-CL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13648" y="2852928"/>
            <a:ext cx="28008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 M</a:t>
            </a:r>
            <a:endParaRPr lang="es-CL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8613648" y="3529584"/>
            <a:ext cx="2892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casi la mitad, el dinamómetro</a:t>
            </a:r>
            <a:endParaRPr lang="es-CL" sz="2000" dirty="0"/>
          </a:p>
        </p:txBody>
      </p:sp>
      <p:sp>
        <p:nvSpPr>
          <p:cNvPr id="17" name="Shape 14"/>
          <p:cNvSpPr/>
          <p:nvPr/>
        </p:nvSpPr>
        <p:spPr>
          <a:xfrm>
            <a:off x="8385048" y="4453128"/>
            <a:ext cx="3258007" cy="17830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30184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30184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542471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697919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13648" y="4636008"/>
            <a:ext cx="2892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 · AÑO 5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613648" y="502005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propios</a:t>
            </a:r>
            <a:endParaRPr lang="es-CL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0442448" y="5020056"/>
            <a:ext cx="97200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200" dirty="0"/>
          </a:p>
        </p:txBody>
      </p:sp>
      <p:sp>
        <p:nvSpPr>
          <p:cNvPr id="29" name="Shape 26"/>
          <p:cNvSpPr/>
          <p:nvPr/>
        </p:nvSpPr>
        <p:spPr>
          <a:xfrm>
            <a:off x="8613648" y="564184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13648" y="5641848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</a:t>
            </a:r>
            <a:endParaRPr lang="es-CL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5641848"/>
            <a:ext cx="206928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cerca de 10%</a:t>
            </a:r>
            <a:endParaRPr lang="es-CL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SENSIBILIDAD CAMBIARIA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RIESGO ES EL DÓLAR: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un alza de 10% casi borra el resultado.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PROPIO AL AÑO 5 · MILLONES DE $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448495" y="23957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16352"/>
            <a:ext cx="2148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−10%</a:t>
            </a:r>
            <a:endParaRPr lang="es-CL" sz="2400" dirty="0"/>
          </a:p>
        </p:txBody>
      </p:sp>
      <p:sp>
        <p:nvSpPr>
          <p:cNvPr id="9" name="Shape 7"/>
          <p:cNvSpPr/>
          <p:nvPr/>
        </p:nvSpPr>
        <p:spPr>
          <a:xfrm>
            <a:off x="2880360" y="3035808"/>
            <a:ext cx="5120640" cy="5486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65592" y="2816352"/>
            <a:ext cx="1463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1.647</a:t>
            </a:r>
            <a:endParaRPr lang="es-CL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265615" y="2816352"/>
            <a:ext cx="2377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40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03904"/>
            <a:ext cx="2148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Base</a:t>
            </a:r>
            <a:endParaRPr lang="es-CL" sz="2400" dirty="0"/>
          </a:p>
        </p:txBody>
      </p:sp>
      <p:sp>
        <p:nvSpPr>
          <p:cNvPr id="14" name="Shape 12"/>
          <p:cNvSpPr/>
          <p:nvPr/>
        </p:nvSpPr>
        <p:spPr>
          <a:xfrm>
            <a:off x="2880360" y="4023360"/>
            <a:ext cx="2704745" cy="5486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49697" y="3803904"/>
            <a:ext cx="1463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870</a:t>
            </a:r>
            <a:endParaRPr lang="es-CL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65615" y="3803904"/>
            <a:ext cx="2377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4000" dirty="0"/>
          </a:p>
        </p:txBody>
      </p:sp>
      <p:sp>
        <p:nvSpPr>
          <p:cNvPr id="17" name="Shape 15"/>
          <p:cNvSpPr/>
          <p:nvPr/>
        </p:nvSpPr>
        <p:spPr>
          <a:xfrm>
            <a:off x="548640" y="479145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791456"/>
            <a:ext cx="2148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+10%</a:t>
            </a:r>
            <a:endParaRPr lang="es-CL" sz="2400" dirty="0"/>
          </a:p>
        </p:txBody>
      </p:sp>
      <p:sp>
        <p:nvSpPr>
          <p:cNvPr id="19" name="Shape 17"/>
          <p:cNvSpPr/>
          <p:nvPr/>
        </p:nvSpPr>
        <p:spPr>
          <a:xfrm>
            <a:off x="2880360" y="5010912"/>
            <a:ext cx="288850" cy="5486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33802" y="4791456"/>
            <a:ext cx="1463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93</a:t>
            </a:r>
            <a:endParaRPr lang="es-CL" sz="3600" dirty="0"/>
          </a:p>
        </p:txBody>
      </p:sp>
      <p:sp>
        <p:nvSpPr>
          <p:cNvPr id="21" name="Shape 19"/>
          <p:cNvSpPr/>
          <p:nvPr/>
        </p:nvSpPr>
        <p:spPr>
          <a:xfrm>
            <a:off x="4312210" y="5111496"/>
            <a:ext cx="100888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4421938" y="5111496"/>
            <a:ext cx="78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RIESGO</a:t>
            </a:r>
            <a:endParaRPr lang="es-CL" sz="1400" dirty="0"/>
          </a:p>
        </p:txBody>
      </p:sp>
      <p:pic>
        <p:nvPicPr>
          <p:cNvPr id="23" name="Image 0" descr="/home/user/lumine/fase-3/generador/assets/bri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5615" y="4672584"/>
            <a:ext cx="2743200" cy="12252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9265615" y="4791456"/>
            <a:ext cx="2377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6000" dirty="0"/>
          </a:p>
        </p:txBody>
      </p:sp>
      <p:sp>
        <p:nvSpPr>
          <p:cNvPr id="25" name="Shape 22"/>
          <p:cNvSpPr/>
          <p:nvPr/>
        </p:nvSpPr>
        <p:spPr>
          <a:xfrm>
            <a:off x="548640" y="577900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82% del costo del kit está en dólares: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plan financiero evaluará coberturas.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CONCLUSIONES DEL CAPÍTULO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TRES PLANES, UN GATILLO;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dos preguntas abiertas.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con base en Informe Fase 3 (§3.4 y Figura N° 6).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515258" cy="235915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OPORTUNIDAD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35808"/>
            <a:ext cx="30580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22192"/>
            <a:ext cx="3103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demanda atendible supera la capacidad desde el año 1.</a:t>
            </a:r>
            <a:endParaRPr lang="es-CL" sz="1800" dirty="0"/>
          </a:p>
        </p:txBody>
      </p:sp>
      <p:sp>
        <p:nvSpPr>
          <p:cNvPr id="11" name="Shape 9"/>
          <p:cNvSpPr/>
          <p:nvPr/>
        </p:nvSpPr>
        <p:spPr>
          <a:xfrm>
            <a:off x="4338218" y="2395728"/>
            <a:ext cx="3515258" cy="235915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52618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VENTAJA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3035808"/>
            <a:ext cx="30580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Biblioteca</a:t>
            </a:r>
            <a:endParaRPr lang="es-CL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822192"/>
            <a:ext cx="3103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calibraciones: crece con cada instalación y es difícil de copiar.</a:t>
            </a:r>
            <a:endParaRPr lang="es-CL" sz="1800" dirty="0"/>
          </a:p>
        </p:txBody>
      </p:sp>
      <p:pic>
        <p:nvPicPr>
          <p:cNvPr id="17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57" y="2011680"/>
            <a:ext cx="4612538" cy="312724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127797" y="2395728"/>
            <a:ext cx="3515258" cy="235915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72933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72933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72933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72933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542471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697919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endParaRPr lang="es-CL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042197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CRECIMIENTO</a:t>
            </a:r>
            <a:endParaRPr lang="es-CL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8356397" y="3035808"/>
            <a:ext cx="30580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5600" dirty="0"/>
          </a:p>
        </p:txBody>
      </p:sp>
      <p:sp>
        <p:nvSpPr>
          <p:cNvPr id="31" name="Text 28"/>
          <p:cNvSpPr txBox="1"/>
          <p:nvPr/>
        </p:nvSpPr>
        <p:spPr>
          <a:xfrm>
            <a:off x="8356397" y="3822192"/>
            <a:ext cx="3103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la capacidad: el gatillo que suma dúos, personas y talleres.</a:t>
            </a:r>
            <a:endParaRPr lang="es-CL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4864608"/>
            <a:ext cx="1109441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9743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DOS PREGUNTAS PENDIENTES</a:t>
            </a:r>
            <a:endParaRPr lang="es-CL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285232"/>
            <a:ext cx="5364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REGULACIÓN</a:t>
            </a:r>
            <a:endParaRPr lang="es-CL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541264"/>
            <a:ext cx="536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¿El reglamento admitirá el kit, y desde cuándo?</a:t>
            </a:r>
            <a:endParaRPr lang="es-CL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6278728" y="5285232"/>
            <a:ext cx="5364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VALIDACIÓN COMERCIAL</a:t>
            </a:r>
            <a:endParaRPr lang="es-CL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278728" y="5541264"/>
            <a:ext cx="536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¿El ahorro medido confirma los precios?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1109441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50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TRES PLANES.</a:t>
            </a:r>
            <a:endParaRPr lang="es-CL" sz="5000" dirty="0"/>
          </a:p>
          <a:p>
            <a:pPr indent="0" marL="0">
              <a:lnSpc>
                <a:spcPct val="95000"/>
              </a:lnSpc>
              <a:buNone/>
            </a:pPr>
            <a:r>
              <a:rPr lang="es-CL" altLang="en-US" sz="5000" dirty="0">
                <a:solidFill>
                  <a:schemeClr val="accent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MISMO GATILLO.</a:t>
            </a:r>
            <a:endParaRPr lang="es-CL" sz="5000" dirty="0"/>
          </a:p>
        </p:txBody>
      </p:sp>
      <p:sp>
        <p:nvSpPr>
          <p:cNvPr id="3" name="Shape 1"/>
          <p:cNvSpPr/>
          <p:nvPr/>
        </p:nvSpPr>
        <p:spPr>
          <a:xfrm>
            <a:off x="548640" y="2670048"/>
            <a:ext cx="82296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7977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GRACIAS  ·  ¿PREGUNTAS?</a:t>
            </a:r>
            <a:endParaRPr lang="es-C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6473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MATERIAL DE APOYO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ANEXO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para preguntas.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Las fuentes de cada tema están al pie de su diapositiva.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se presenta: se hace clic en el tema y se salta directo.</a:t>
            </a:r>
            <a:endParaRPr lang="es-CL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</a:t>
            </a:r>
            <a:endParaRPr lang="es-CL" sz="1600" dirty="0"/>
          </a:p>
        </p:txBody>
      </p:sp>
      <p:sp>
        <p:nvSpPr>
          <p:cNvPr id="9" name="Text 7">
            <a:hlinkClick r:id="rId2" tooltip="Ir a Hipótesis de la investigación" action="ppaction://hlinksldjump"/>
          </p:cNvPr>
          <p:cNvSpPr txBox="1"/>
          <p:nvPr/>
        </p:nvSpPr>
        <p:spPr>
          <a:xfrm>
            <a:off x="1243584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2000" dirty="0"/>
          </a:p>
        </p:txBody>
      </p:sp>
      <p:sp>
        <p:nvSpPr>
          <p:cNvPr id="10" name="Text 8">
            <a:hlinkClick r:id="rId3" tooltip="Ir a Hipótesis de la investigación" action="ppaction://hlinksldjump"/>
          </p:cNvPr>
          <p:cNvSpPr txBox="1"/>
          <p:nvPr/>
        </p:nvSpPr>
        <p:spPr>
          <a:xfrm>
            <a:off x="5021428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3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A2</a:t>
            </a:r>
            <a:endParaRPr lang="es-CL" sz="1600" dirty="0"/>
          </a:p>
        </p:txBody>
      </p:sp>
      <p:sp>
        <p:nvSpPr>
          <p:cNvPr id="14" name="Text 12">
            <a:hlinkClick r:id="rId4" tooltip="Ir a Dudas del cliente y respaldo" action="ppaction://hlinksldjump"/>
          </p:cNvPr>
          <p:cNvSpPr txBox="1"/>
          <p:nvPr/>
        </p:nvSpPr>
        <p:spPr>
          <a:xfrm>
            <a:off x="1243584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2000" dirty="0"/>
          </a:p>
        </p:txBody>
      </p:sp>
      <p:sp>
        <p:nvSpPr>
          <p:cNvPr id="15" name="Text 13">
            <a:hlinkClick r:id="rId5" tooltip="Ir a Dudas del cliente y respaldo" action="ppaction://hlinksldjump"/>
          </p:cNvPr>
          <p:cNvSpPr txBox="1"/>
          <p:nvPr/>
        </p:nvSpPr>
        <p:spPr>
          <a:xfrm>
            <a:off x="5021428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5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A3</a:t>
            </a:r>
            <a:endParaRPr lang="es-CL" sz="1600" dirty="0"/>
          </a:p>
        </p:txBody>
      </p:sp>
      <p:sp>
        <p:nvSpPr>
          <p:cNvPr id="19" name="Text 17">
            <a:hlinkClick r:id="rId6" tooltip="Ir a Mezcla de marketing" action="ppaction://hlinksldjump"/>
          </p:cNvPr>
          <p:cNvSpPr txBox="1"/>
          <p:nvPr/>
        </p:nvSpPr>
        <p:spPr>
          <a:xfrm>
            <a:off x="1243584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2000" dirty="0"/>
          </a:p>
        </p:txBody>
      </p:sp>
      <p:sp>
        <p:nvSpPr>
          <p:cNvPr id="20" name="Text 18">
            <a:hlinkClick r:id="rId7" tooltip="Ir a Mezcla de marketing" action="ppaction://hlinksldjump"/>
          </p:cNvPr>
          <p:cNvSpPr txBox="1"/>
          <p:nvPr/>
        </p:nvSpPr>
        <p:spPr>
          <a:xfrm>
            <a:off x="5021428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7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A4</a:t>
            </a:r>
            <a:endParaRPr lang="es-CL" sz="1600" dirty="0"/>
          </a:p>
        </p:txBody>
      </p:sp>
      <p:sp>
        <p:nvSpPr>
          <p:cNvPr id="24" name="Text 22">
            <a:hlinkClick r:id="rId8" tooltip="Ir a Cobros a la red de talleres" action="ppaction://hlinksldjump"/>
          </p:cNvPr>
          <p:cNvSpPr txBox="1"/>
          <p:nvPr/>
        </p:nvSpPr>
        <p:spPr>
          <a:xfrm>
            <a:off x="1243584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2000" dirty="0"/>
          </a:p>
        </p:txBody>
      </p:sp>
      <p:sp>
        <p:nvSpPr>
          <p:cNvPr id="25" name="Text 23">
            <a:hlinkClick r:id="rId9" tooltip="Ir a Cobros a la red de talleres" action="ppaction://hlinksldjump"/>
          </p:cNvPr>
          <p:cNvSpPr txBox="1"/>
          <p:nvPr/>
        </p:nvSpPr>
        <p:spPr>
          <a:xfrm>
            <a:off x="5021428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9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28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A5</a:t>
            </a:r>
            <a:endParaRPr lang="es-CL" sz="1600" dirty="0"/>
          </a:p>
        </p:txBody>
      </p:sp>
      <p:sp>
        <p:nvSpPr>
          <p:cNvPr id="29" name="Text 27">
            <a:hlinkClick r:id="rId10" tooltip="Ir a Tamaño del mercado y adopción" action="ppaction://hlinksldjump"/>
          </p:cNvPr>
          <p:cNvSpPr txBox="1"/>
          <p:nvPr/>
        </p:nvSpPr>
        <p:spPr>
          <a:xfrm>
            <a:off x="1243584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2000" dirty="0"/>
          </a:p>
        </p:txBody>
      </p:sp>
      <p:sp>
        <p:nvSpPr>
          <p:cNvPr id="30" name="Text 28">
            <a:hlinkClick r:id="rId11" tooltip="Ir a Tamaño del mercado y adopción" action="ppaction://hlinksldjump"/>
          </p:cNvPr>
          <p:cNvSpPr txBox="1"/>
          <p:nvPr/>
        </p:nvSpPr>
        <p:spPr>
          <a:xfrm>
            <a:off x="5021428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1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29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A6</a:t>
            </a:r>
            <a:endParaRPr lang="es-CL" sz="1600" dirty="0"/>
          </a:p>
        </p:txBody>
      </p:sp>
      <p:sp>
        <p:nvSpPr>
          <p:cNvPr id="34" name="Text 32">
            <a:hlinkClick r:id="rId12" tooltip="Ir a Perfiles de cargo" action="ppaction://hlinksldjump"/>
          </p:cNvPr>
          <p:cNvSpPr txBox="1"/>
          <p:nvPr/>
        </p:nvSpPr>
        <p:spPr>
          <a:xfrm>
            <a:off x="1243584" y="55961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2000" dirty="0"/>
          </a:p>
        </p:txBody>
      </p:sp>
      <p:sp>
        <p:nvSpPr>
          <p:cNvPr id="35" name="Text 33">
            <a:hlinkClick r:id="rId13" tooltip="Ir a Perfiles de cargo" action="ppaction://hlinksldjump"/>
          </p:cNvPr>
          <p:cNvSpPr txBox="1"/>
          <p:nvPr/>
        </p:nvSpPr>
        <p:spPr>
          <a:xfrm>
            <a:off x="5021428" y="55961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3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61447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55868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A7</a:t>
            </a:r>
            <a:endParaRPr lang="es-CL" sz="1600" dirty="0"/>
          </a:p>
        </p:txBody>
      </p:sp>
      <p:sp>
        <p:nvSpPr>
          <p:cNvPr id="40" name="Text 38">
            <a:hlinkClick r:id="rId14" tooltip="Ir a Rentas y bonos por nivel" action="ppaction://hlinksldjump"/>
          </p:cNvPr>
          <p:cNvSpPr txBox="1"/>
          <p:nvPr/>
        </p:nvSpPr>
        <p:spPr>
          <a:xfrm>
            <a:off x="6950812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4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 y bonos por nivel</a:t>
            </a:r>
            <a:endParaRPr lang="en-US" sz="2000" dirty="0"/>
          </a:p>
        </p:txBody>
      </p:sp>
      <p:sp>
        <p:nvSpPr>
          <p:cNvPr id="41" name="Text 39">
            <a:hlinkClick r:id="rId15" tooltip="Ir a Rentas y bonos por nivel" action="ppaction://hlinksldjump"/>
          </p:cNvPr>
          <p:cNvSpPr txBox="1"/>
          <p:nvPr/>
        </p:nvSpPr>
        <p:spPr>
          <a:xfrm>
            <a:off x="10728655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5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255868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A8</a:t>
            </a:r>
            <a:endParaRPr lang="es-CL" sz="1600" dirty="0"/>
          </a:p>
        </p:txBody>
      </p:sp>
      <p:sp>
        <p:nvSpPr>
          <p:cNvPr id="45" name="Text 43">
            <a:hlinkClick r:id="rId16" tooltip="Ir a Jornada de instalación" action="ppaction://hlinksldjump"/>
          </p:cNvPr>
          <p:cNvSpPr txBox="1"/>
          <p:nvPr/>
        </p:nvSpPr>
        <p:spPr>
          <a:xfrm>
            <a:off x="6950812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2000" dirty="0"/>
          </a:p>
        </p:txBody>
      </p:sp>
      <p:sp>
        <p:nvSpPr>
          <p:cNvPr id="46" name="Text 44">
            <a:hlinkClick r:id="rId17" tooltip="Ir a Jornada de instalación" action="ppaction://hlinksldjump"/>
          </p:cNvPr>
          <p:cNvSpPr txBox="1"/>
          <p:nvPr/>
        </p:nvSpPr>
        <p:spPr>
          <a:xfrm>
            <a:off x="10728655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7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32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55868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A9</a:t>
            </a:r>
            <a:endParaRPr lang="es-CL" sz="1600" dirty="0"/>
          </a:p>
        </p:txBody>
      </p:sp>
      <p:sp>
        <p:nvSpPr>
          <p:cNvPr id="50" name="Text 48">
            <a:hlinkClick r:id="rId18" tooltip="Ir a Inversión y gasto operacional" action="ppaction://hlinksldjump"/>
          </p:cNvPr>
          <p:cNvSpPr txBox="1"/>
          <p:nvPr/>
        </p:nvSpPr>
        <p:spPr>
          <a:xfrm>
            <a:off x="6950812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2000" dirty="0"/>
          </a:p>
        </p:txBody>
      </p:sp>
      <p:sp>
        <p:nvSpPr>
          <p:cNvPr id="51" name="Text 49">
            <a:hlinkClick r:id="rId19" tooltip="Ir a Inversión y gasto operacional" action="ppaction://hlinksldjump"/>
          </p:cNvPr>
          <p:cNvSpPr txBox="1"/>
          <p:nvPr/>
        </p:nvSpPr>
        <p:spPr>
          <a:xfrm>
            <a:off x="10728655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9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255868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A10</a:t>
            </a:r>
            <a:endParaRPr lang="es-CL" sz="1600" dirty="0"/>
          </a:p>
        </p:txBody>
      </p:sp>
      <p:sp>
        <p:nvSpPr>
          <p:cNvPr id="55" name="Text 53">
            <a:hlinkClick r:id="rId20" tooltip="Ir a Sensibilidad del resultado" action="ppaction://hlinksldjump"/>
          </p:cNvPr>
          <p:cNvSpPr txBox="1"/>
          <p:nvPr/>
        </p:nvSpPr>
        <p:spPr>
          <a:xfrm>
            <a:off x="6950812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2000" dirty="0"/>
          </a:p>
        </p:txBody>
      </p:sp>
      <p:sp>
        <p:nvSpPr>
          <p:cNvPr id="56" name="Text 54">
            <a:hlinkClick r:id="rId21" tooltip="Ir a Sensibilidad del resultado" action="ppaction://hlinksldjump"/>
          </p:cNvPr>
          <p:cNvSpPr txBox="1"/>
          <p:nvPr/>
        </p:nvSpPr>
        <p:spPr>
          <a:xfrm>
            <a:off x="10728655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1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34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255868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A11</a:t>
            </a:r>
            <a:endParaRPr lang="es-CL" sz="1600" dirty="0"/>
          </a:p>
        </p:txBody>
      </p:sp>
      <p:sp>
        <p:nvSpPr>
          <p:cNvPr id="60" name="Text 58">
            <a:hlinkClick r:id="rId22" tooltip="Ir a Carta Gantt detallada" action="ppaction://hlinksldjump"/>
          </p:cNvPr>
          <p:cNvSpPr txBox="1"/>
          <p:nvPr/>
        </p:nvSpPr>
        <p:spPr>
          <a:xfrm>
            <a:off x="6950812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2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Carta Gantt detallada</a:t>
            </a:r>
            <a:endParaRPr lang="en-US" sz="2000" dirty="0"/>
          </a:p>
        </p:txBody>
      </p:sp>
      <p:sp>
        <p:nvSpPr>
          <p:cNvPr id="61" name="Text 59">
            <a:hlinkClick r:id="rId23" tooltip="Ir a Carta Gantt detallada" action="ppaction://hlinksldjump"/>
          </p:cNvPr>
          <p:cNvSpPr txBox="1"/>
          <p:nvPr/>
        </p:nvSpPr>
        <p:spPr>
          <a:xfrm>
            <a:off x="10728655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3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35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255868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INVESTIGACIÓN DE MERCADO · HIPÓTESIS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y su prueba.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3). Significancia de 5%.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HIPÓTESIS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45575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PRUEBA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H1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6148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uso laboral tiene más intención de compra que el particular.</a:t>
            </a:r>
            <a:endParaRPr lang="es-CL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45575" y="276148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DOS PROPORCIONES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28416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intención no cambia con la edad ni el género.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945575" y="332841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CHI-CUADRADO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953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H3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95344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ahorro predomina, pero la mayoría valora otro motivo.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945575" y="389534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H4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462272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barrera principal es la confianza, no el precio.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945575" y="446227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H5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29200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respaldos externos dan más confianza que el taller.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8945575" y="50292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 RELACIONADAS</a:t>
            </a:r>
            <a:endParaRPr lang="es-CL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5961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H6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559612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prefiere hibridar antes que gas, cambiar de auto o nada.</a:t>
            </a:r>
            <a:endParaRPr lang="es-CL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945575" y="559612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548640" y="61630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POSICIONAMIENTO · DUDAS DEL CLIENTE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CUATRO DUDAS,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cuatro respaldos.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19.496; borrador de reglamento MTT (2021); elaboración propia (Informe Fase 3, Tabla N° 4).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95728"/>
            <a:ext cx="2148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¿Funciona?</a:t>
            </a:r>
            <a:endParaRPr lang="es-CL" sz="2400" dirty="0"/>
          </a:p>
        </p:txBody>
      </p:sp>
      <p:sp>
        <p:nvSpPr>
          <p:cNvPr id="8" name="Shape 6"/>
          <p:cNvSpPr/>
          <p:nvPr/>
        </p:nvSpPr>
        <p:spPr>
          <a:xfrm>
            <a:off x="777240" y="3346704"/>
            <a:ext cx="112572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86968" y="3346704"/>
            <a:ext cx="90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SIMULADO</a:t>
            </a:r>
            <a:endParaRPr lang="es-CL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20% menos bencina en ciudad.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 con intervalo y telemetría.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6205576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2395728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¿Daña mi auto?</a:t>
            </a:r>
            <a:endParaRPr lang="es-CL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74456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toca el motor ni la transmisión.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674456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conservan el circuito de freno y el ABS.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86784"/>
            <a:ext cx="2148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¿Pasa la revisión?</a:t>
            </a:r>
            <a:endParaRPr lang="es-CL" sz="2400" dirty="0"/>
          </a:p>
        </p:txBody>
      </p:sp>
      <p:sp>
        <p:nvSpPr>
          <p:cNvPr id="18" name="Shape 16"/>
          <p:cNvSpPr/>
          <p:nvPr/>
        </p:nvSpPr>
        <p:spPr>
          <a:xfrm>
            <a:off x="777240" y="4937760"/>
            <a:ext cx="164642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6968" y="4937760"/>
            <a:ext cx="14269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CONFIRMAR</a:t>
            </a:r>
            <a:endParaRPr lang="es-CL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Sale del taller con certificado.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 firma el Responsable Técnico.</a:t>
            </a:r>
            <a:endParaRPr lang="es-CL" sz="2000" dirty="0"/>
          </a:p>
        </p:txBody>
      </p:sp>
      <p:sp>
        <p:nvSpPr>
          <p:cNvPr id="22" name="Shape 20"/>
          <p:cNvSpPr/>
          <p:nvPr/>
        </p:nvSpPr>
        <p:spPr>
          <a:xfrm>
            <a:off x="6205576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4176" y="3986784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¿Se enchufa?</a:t>
            </a:r>
            <a:endParaRPr lang="es-CL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8674456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No.</a:t>
            </a:r>
            <a:endParaRPr lang="es-CL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674456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batería se carga al frenar.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5229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LO QUE LA MARCA NO PROMETE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5852160"/>
            <a:ext cx="220268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658368" y="5852160"/>
            <a:ext cx="198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«CERO EMISIONES»</a:t>
            </a:r>
            <a:endParaRPr lang="es-CL" sz="1400" dirty="0"/>
          </a:p>
        </p:txBody>
      </p:sp>
      <p:sp>
        <p:nvSpPr>
          <p:cNvPr id="29" name="Shape 27"/>
          <p:cNvSpPr/>
          <p:nvPr/>
        </p:nvSpPr>
        <p:spPr>
          <a:xfrm>
            <a:off x="2952496" y="5852160"/>
            <a:ext cx="23220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3062224" y="5852160"/>
            <a:ext cx="21026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«20% GARANTIZADO»</a:t>
            </a:r>
            <a:endParaRPr lang="es-CL" sz="1400" dirty="0"/>
          </a:p>
        </p:txBody>
      </p:sp>
      <p:sp>
        <p:nvSpPr>
          <p:cNvPr id="31" name="Shape 29"/>
          <p:cNvSpPr/>
          <p:nvPr/>
        </p:nvSpPr>
        <p:spPr>
          <a:xfrm>
            <a:off x="5475732" y="5852160"/>
            <a:ext cx="17251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5585460" y="5852160"/>
            <a:ext cx="1505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«HOMOLOGADO»</a:t>
            </a:r>
            <a:endParaRPr lang="es-CL" sz="1400" dirty="0"/>
          </a:p>
        </p:txBody>
      </p:sp>
      <p:sp>
        <p:nvSpPr>
          <p:cNvPr id="33" name="Shape 31"/>
          <p:cNvSpPr/>
          <p:nvPr/>
        </p:nvSpPr>
        <p:spPr>
          <a:xfrm>
            <a:off x="7402068" y="5852160"/>
            <a:ext cx="303834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7511796" y="5852160"/>
            <a:ext cx="2818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EXENCIÓN DE RESTRICCIÓN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MIX DE MARKETING · RESUMEN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DOS LÍNEAS,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una misma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8).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CLIENTE FINAL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61708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RED DE TALLERES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797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 Esencial o Plus en una jornada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Licencia, kits y certificación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985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PRECIO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$4,29 M y $4,99 M con IVA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261708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Entrada y cobros recurrentes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993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PLAZA</a:t>
            </a:r>
            <a:endParaRPr lang="es-CL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Web y talleres propios en la RM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261708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con exclusividad comunal</a:t>
            </a:r>
            <a:endParaRPr lang="es-CL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0001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PROMOCIÓN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Estimador, pilotos y referidos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61708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Visitas, ferias y casos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4009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06040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Dúos con un N3 o N4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261708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 validados por Lumine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9801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MIX · PRECIO PARA LA RED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INGRESO RECURRENTE: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96% del margen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7). Montos netos; sin tarifas públicas de redes de talleres en Chile.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ENTRADA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$7,14 M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vez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Exclusividad comunal y formación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3379394" y="2395728"/>
            <a:ext cx="2602154" cy="2743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24530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2453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8096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64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4530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4530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0964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6412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0562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KIT CON LICENCIA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80562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$3,81 M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3580562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instalación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80562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Plus; Esencial, $3,33 M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10148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1316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11316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$2,4 M</a:t>
            </a:r>
            <a:endParaRPr lang="es-CL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6411316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 año</a:t>
            </a:r>
            <a:endParaRPr lang="es-CL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11316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Desde el segundo año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9040901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2069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HABILITA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242069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 mil</a:t>
            </a:r>
            <a:endParaRPr lang="es-CL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42069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mes por técnico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242069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Formación y validación</a:t>
            </a:r>
            <a:endParaRPr lang="es-CL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7667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42 talleres y 7.773 kits al año 5,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activos fijos.</a:t>
            </a:r>
            <a:endParaRPr lang="es-CL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5870448"/>
            <a:ext cx="626160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37" name="Text 35"/>
          <p:cNvSpPr txBox="1"/>
          <p:nvPr/>
        </p:nvSpPr>
        <p:spPr>
          <a:xfrm>
            <a:off x="658368" y="5870448"/>
            <a:ext cx="6042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MONTOS NETOS · A VALIDAR CON LOS PRIMEROS TALLERES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DEMANDA · MERCADO Y ADOPCIÓN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162.780 VEHÍCULOS DE TECHO;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11,1% adoptado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Centro UC en Emol (2026); Descubre (2026); Fielbaum y Tirachini (2021); Massiani y Gohs (2015).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TAM · CHILE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9776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779776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autos y taxis a combustión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SAM · RM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4041648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 que atiende el taller propio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919472"/>
            <a:ext cx="457200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010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SEGMENTO LABORAL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5303520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colectivos, taxis y aplicaciones</a:t>
            </a:r>
            <a:endParaRPr lang="es-CL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2395728"/>
            <a:ext cx="6110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ADOPCIÓN ACUMULADA · MODELO DE BASS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10156647" y="2761488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0266375" y="2761488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</a:t>
            </a:r>
            <a:endParaRPr lang="es-CL" sz="1400" dirty="0"/>
          </a:p>
        </p:txBody>
      </p:sp>
      <p:graphicFrame>
        <p:nvGraphicFramePr>
          <p:cNvPr id="21" name="Adopción acumulada del segmento laboral" descr=""/>
          <p:cNvGraphicFramePr/>
          <p:nvPr/>
        </p:nvGraphicFramePr>
        <p:xfrm>
          <a:off x="5440680" y="3172968"/>
          <a:ext cx="6202375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532120" y="5596128"/>
            <a:ext cx="6110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Aun si solo el 40% del segmento adoptara, la demanda cubre el año 5.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RECURSOS HUMANOS · PERFILES DE CARGO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CADA CARGO RESPONDE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por un resultado crítico.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13).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2257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Gerente General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32257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Autoriza cada paso de crecimiento si la caja lo cubre.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4320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74320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Arma los dúos, valida ascensos y firma cada auto.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638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Ingeniería de Calibración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16382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Certifica cada modelo y cuida que el ahorro real calce.</a:t>
            </a:r>
            <a:endParaRPr lang="es-CL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58444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Convierte cotizaciones sin prometer de más.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0050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0507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Administración y Personas</a:t>
            </a:r>
            <a:endParaRPr lang="es-CL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4005072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 ningún auto espere un kit; sueldos al día.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4256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 Instalador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42569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 según el procedimiento y las cinco reglas de oro.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84632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84632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Suma solo talleres que cumplan el reglamento.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26694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Asistente de Postventa</a:t>
            </a:r>
            <a:endParaRPr lang="es-CL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526694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 ninguna mantención ni garantía se pierda.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6875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6875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Asistente de Administración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568756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Despacha kits y baterías con su trazabilidad.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548640" y="61081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RECURSOS HUMANOS · COMPENSACIONES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SUPERIOR GANA MÁS;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entre áreas decide la escasez.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ChileTrabajos (2026); Indeed Chile (2026); MiFuturo (2026); Ley N° 21.830; elaboración propia (Tablas N° 14 y 15).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RENTA BRUTA MENSUAL · MILES DE PESOS</a:t>
            </a:r>
            <a:endParaRPr lang="es-CL" sz="16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BONO POR NIVEL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VALIDADO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321868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N2</a:t>
            </a:r>
            <a:endParaRPr lang="es-CL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299448" y="3218688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 mil</a:t>
            </a:r>
            <a:endParaRPr lang="es-CL" sz="3000" dirty="0"/>
          </a:p>
        </p:txBody>
      </p:sp>
      <p:sp>
        <p:nvSpPr>
          <p:cNvPr id="22" name="Shape 19"/>
          <p:cNvSpPr/>
          <p:nvPr/>
        </p:nvSpPr>
        <p:spPr>
          <a:xfrm>
            <a:off x="8613648" y="378561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N3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99448" y="3785616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 mil</a:t>
            </a:r>
            <a:endParaRPr lang="es-CL" sz="3000" dirty="0"/>
          </a:p>
        </p:txBody>
      </p:sp>
      <p:sp>
        <p:nvSpPr>
          <p:cNvPr id="26" name="Shape 23"/>
          <p:cNvSpPr/>
          <p:nvPr/>
        </p:nvSpPr>
        <p:spPr>
          <a:xfrm>
            <a:off x="8613648" y="4352544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N4</a:t>
            </a:r>
            <a:endParaRPr lang="es-CL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299448" y="4352544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 mil</a:t>
            </a:r>
            <a:endParaRPr lang="es-CL" sz="3000" dirty="0"/>
          </a:p>
        </p:txBody>
      </p:sp>
      <p:sp>
        <p:nvSpPr>
          <p:cNvPr id="30" name="Shape 27"/>
          <p:cNvSpPr/>
          <p:nvPr/>
        </p:nvSpPr>
        <p:spPr>
          <a:xfrm>
            <a:off x="8613648" y="4919472"/>
            <a:ext cx="2800807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13648" y="491947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Total</a:t>
            </a:r>
            <a:endParaRPr lang="es-CL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9299448" y="4919472"/>
            <a:ext cx="2115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6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577840"/>
            <a:ext cx="28465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comerciales suman comisión.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JORNADA DE INSTALACIÓN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VEHÍCULO POR JORNADA: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8,4 horas.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y 12; elaboración propia (Informe Fase 3, Anexo N° 8). Tiempos estimados.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HORAS POR BLOQUE · DÚO CON UN N3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8962847" y="2350008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350008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1095233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76945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076945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623539" y="2779776"/>
            <a:ext cx="4321944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05251" y="2779776"/>
            <a:ext cx="435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605251" y="3529584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982059" y="2779776"/>
            <a:ext cx="2340799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63771" y="2779776"/>
            <a:ext cx="23773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963771" y="3529584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8359434" y="2779776"/>
            <a:ext cx="1020035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41146" y="2779776"/>
            <a:ext cx="10566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341146" y="3529584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9416045" y="2779776"/>
            <a:ext cx="1284188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97757" y="2779776"/>
            <a:ext cx="13207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97757" y="3529584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10736809" y="2779776"/>
            <a:ext cx="88795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18521" y="2779776"/>
            <a:ext cx="924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10718521" y="3529584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Seguridad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3797732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Recepción</a:t>
            </a:r>
            <a:endParaRPr lang="es-CL" sz="2000" dirty="0"/>
          </a:p>
        </p:txBody>
      </p:sp>
      <p:sp>
        <p:nvSpPr>
          <p:cNvPr id="36" name="Shape 34"/>
          <p:cNvSpPr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571336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Montaje y pesaje</a:t>
            </a:r>
            <a:endParaRPr lang="es-CL" sz="2000" dirty="0"/>
          </a:p>
        </p:txBody>
      </p:sp>
      <p:sp>
        <p:nvSpPr>
          <p:cNvPr id="39" name="Shape 37"/>
          <p:cNvSpPr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344939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Integración</a:t>
            </a:r>
            <a:endParaRPr lang="es-CL" sz="2000" dirty="0"/>
          </a:p>
        </p:txBody>
      </p:sp>
      <p:sp>
        <p:nvSpPr>
          <p:cNvPr id="42" name="Shape 40"/>
          <p:cNvSpPr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45" name="Shape 43"/>
          <p:cNvSpPr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797732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Pruebas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6571336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Cierre</a:t>
            </a:r>
            <a:endParaRPr lang="es-CL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663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Montaje e integración concentran 5,1 de las 8,4 horas.</a:t>
            </a:r>
            <a:endParaRPr lang="es-CL" sz="2200" dirty="0"/>
          </a:p>
        </p:txBody>
      </p:sp>
      <p:sp>
        <p:nvSpPr>
          <p:cNvPr id="52" name="Shape 50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2669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54" name="Shape 52"/>
          <p:cNvSpPr/>
          <p:nvPr/>
        </p:nvSpPr>
        <p:spPr>
          <a:xfrm>
            <a:off x="548640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77240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¿Vehículo apto?</a:t>
            </a:r>
            <a:endParaRPr lang="es-CL" sz="2000" dirty="0"/>
          </a:p>
        </p:txBody>
      </p:sp>
      <p:sp>
        <p:nvSpPr>
          <p:cNvPr id="57" name="Shape 55"/>
          <p:cNvSpPr/>
          <p:nvPr/>
        </p:nvSpPr>
        <p:spPr>
          <a:xfrm>
            <a:off x="3367964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67964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96564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¿Masa y ejes?</a:t>
            </a:r>
            <a:endParaRPr lang="es-CL" sz="2000" dirty="0"/>
          </a:p>
        </p:txBody>
      </p:sp>
      <p:sp>
        <p:nvSpPr>
          <p:cNvPr id="60" name="Shape 58"/>
          <p:cNvSpPr/>
          <p:nvPr/>
        </p:nvSpPr>
        <p:spPr>
          <a:xfrm>
            <a:off x="6187288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87288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415888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¿Aislación?</a:t>
            </a:r>
            <a:endParaRPr lang="es-CL" sz="2000" dirty="0"/>
          </a:p>
        </p:txBody>
      </p:sp>
      <p:sp>
        <p:nvSpPr>
          <p:cNvPr id="63" name="Shape 61"/>
          <p:cNvSpPr/>
          <p:nvPr/>
        </p:nvSpPr>
        <p:spPr>
          <a:xfrm>
            <a:off x="9006611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006611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235211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¿Dinamómetro?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INVERSIÓN Y GASTO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LA INVERSIÓN SIGUE AL GATILLO;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gasto, al kit.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Dynojet Research (2016); Importadora JAK (2026); elaboración propia (Informe Fase 3, Tablas N° 18 y 19).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· MILLONES DE $</a:t>
            </a:r>
            <a:endParaRPr lang="es-CL" sz="16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local nuevo en los años 1, 3 y 5.</a:t>
            </a:r>
            <a:endParaRPr lang="es-CL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GASTO OPERACIONAL · MILLONES DE $</a:t>
            </a:r>
            <a:endParaRPr lang="es-CL" sz="16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324448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kit es más del 90% de cada año.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SENSIBILIDAD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DÓLAR PESA MÁS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que el precio y la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PROPIO AL AÑO 5 · MILLONES DE $</a:t>
            </a:r>
            <a:endParaRPr lang="es-CL" sz="16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25146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96896"/>
            <a:ext cx="2892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 SOBRE VENTAS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2999232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99923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Base</a:t>
            </a:r>
            <a:endParaRPr lang="es-CL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0213848" y="2999232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21" name="Shape 18"/>
          <p:cNvSpPr/>
          <p:nvPr/>
        </p:nvSpPr>
        <p:spPr>
          <a:xfrm>
            <a:off x="8613648" y="360273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36027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+10%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0213848" y="3602736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600" dirty="0"/>
          </a:p>
        </p:txBody>
      </p:sp>
      <p:sp>
        <p:nvSpPr>
          <p:cNvPr id="24" name="Shape 21"/>
          <p:cNvSpPr/>
          <p:nvPr/>
        </p:nvSpPr>
        <p:spPr>
          <a:xfrm>
            <a:off x="8613648" y="4206240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613648" y="420624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−10%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213848" y="4206240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385048" y="5120640"/>
            <a:ext cx="32580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82% del costo del kit está en dólares: el plan financiero evaluará coberturas.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CARTA GANTT DE IMPLEMENTACIÓN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CARTA GANTT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completa.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395728"/>
            <a:ext cx="790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2026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65204" y="2395728"/>
            <a:ext cx="3161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4265204" y="2724912"/>
            <a:ext cx="0" cy="30540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27140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7427140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81119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8481119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35098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9535098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89076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10589076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77977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Investigación y permisos</a:t>
            </a:r>
            <a:endParaRPr lang="es-CL" sz="1700" dirty="0"/>
          </a:p>
        </p:txBody>
      </p:sp>
      <p:sp>
        <p:nvSpPr>
          <p:cNvPr id="18" name="Shape 16"/>
          <p:cNvSpPr/>
          <p:nvPr/>
        </p:nvSpPr>
        <p:spPr>
          <a:xfrm>
            <a:off x="3474720" y="2843784"/>
            <a:ext cx="790484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20040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2004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1" name="Shape 19"/>
          <p:cNvSpPr/>
          <p:nvPr/>
        </p:nvSpPr>
        <p:spPr>
          <a:xfrm>
            <a:off x="3738215" y="3264408"/>
            <a:ext cx="526989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6210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62102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Reglamento Ley 21.793</a:t>
            </a:r>
            <a:endParaRPr lang="es-CL" sz="1700" dirty="0"/>
          </a:p>
        </p:txBody>
      </p:sp>
      <p:sp>
        <p:nvSpPr>
          <p:cNvPr id="24" name="Shape 22"/>
          <p:cNvSpPr/>
          <p:nvPr/>
        </p:nvSpPr>
        <p:spPr>
          <a:xfrm>
            <a:off x="3978009" y="3675888"/>
            <a:ext cx="310896" cy="310896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9489" y="36210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debe estar vigente antes de vender</a:t>
            </a:r>
            <a:endParaRPr lang="es-CL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40416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041648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1: dúos 1 a 6</a:t>
            </a:r>
            <a:endParaRPr lang="es-CL" sz="1700" dirty="0"/>
          </a:p>
        </p:txBody>
      </p:sp>
      <p:sp>
        <p:nvSpPr>
          <p:cNvPr id="28" name="Shape 26"/>
          <p:cNvSpPr/>
          <p:nvPr/>
        </p:nvSpPr>
        <p:spPr>
          <a:xfrm>
            <a:off x="5055688" y="4105656"/>
            <a:ext cx="52698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29" name="Shape 27"/>
          <p:cNvSpPr/>
          <p:nvPr/>
        </p:nvSpPr>
        <p:spPr>
          <a:xfrm>
            <a:off x="6636656" y="4105656"/>
            <a:ext cx="52698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0" name="Shape 28"/>
          <p:cNvSpPr/>
          <p:nvPr/>
        </p:nvSpPr>
        <p:spPr>
          <a:xfrm>
            <a:off x="7163646" y="4105656"/>
            <a:ext cx="351326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1" name="Shape 29"/>
          <p:cNvSpPr/>
          <p:nvPr/>
        </p:nvSpPr>
        <p:spPr>
          <a:xfrm>
            <a:off x="7690635" y="4105656"/>
            <a:ext cx="175663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2" name="Shape 30"/>
          <p:cNvSpPr/>
          <p:nvPr/>
        </p:nvSpPr>
        <p:spPr>
          <a:xfrm>
            <a:off x="7866298" y="4105656"/>
            <a:ext cx="175663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6332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38356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35" name="Shape 33"/>
          <p:cNvSpPr/>
          <p:nvPr/>
        </p:nvSpPr>
        <p:spPr>
          <a:xfrm>
            <a:off x="5463805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55829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37" name="Shape 35"/>
          <p:cNvSpPr/>
          <p:nvPr/>
        </p:nvSpPr>
        <p:spPr>
          <a:xfrm>
            <a:off x="7044774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36798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39" name="Shape 37"/>
          <p:cNvSpPr/>
          <p:nvPr/>
        </p:nvSpPr>
        <p:spPr>
          <a:xfrm>
            <a:off x="7396100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8124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Shape 39"/>
          <p:cNvSpPr/>
          <p:nvPr/>
        </p:nvSpPr>
        <p:spPr>
          <a:xfrm>
            <a:off x="7747426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39450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43" name="Shape 41"/>
          <p:cNvSpPr/>
          <p:nvPr/>
        </p:nvSpPr>
        <p:spPr>
          <a:xfrm>
            <a:off x="7923089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15113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45" name="Shape 43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46227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 de modelos</a:t>
            </a:r>
            <a:endParaRPr lang="es-CL" sz="1700" dirty="0"/>
          </a:p>
        </p:txBody>
      </p:sp>
      <p:sp>
        <p:nvSpPr>
          <p:cNvPr id="47" name="Shape 45"/>
          <p:cNvSpPr/>
          <p:nvPr/>
        </p:nvSpPr>
        <p:spPr>
          <a:xfrm>
            <a:off x="4265204" y="4526280"/>
            <a:ext cx="3161936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65204" y="4462272"/>
            <a:ext cx="3161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dos al mes</a:t>
            </a:r>
            <a:endParaRPr lang="es-CL" sz="1600" dirty="0"/>
          </a:p>
        </p:txBody>
      </p:sp>
      <p:sp>
        <p:nvSpPr>
          <p:cNvPr id="49" name="Shape 47"/>
          <p:cNvSpPr/>
          <p:nvPr/>
        </p:nvSpPr>
        <p:spPr>
          <a:xfrm>
            <a:off x="7427140" y="4526280"/>
            <a:ext cx="4215915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427140" y="4462272"/>
            <a:ext cx="42159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uno al mes</a:t>
            </a:r>
            <a:endParaRPr lang="es-CL" sz="1600" dirty="0"/>
          </a:p>
        </p:txBody>
      </p:sp>
      <p:sp>
        <p:nvSpPr>
          <p:cNvPr id="51" name="Shape 49"/>
          <p:cNvSpPr/>
          <p:nvPr/>
        </p:nvSpPr>
        <p:spPr>
          <a:xfrm>
            <a:off x="548640" y="48828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882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53" name="Shape 51"/>
          <p:cNvSpPr/>
          <p:nvPr/>
        </p:nvSpPr>
        <p:spPr>
          <a:xfrm>
            <a:off x="7427140" y="4946904"/>
            <a:ext cx="4215915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914191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8968170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10022148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11076127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000" dirty="0"/>
          </a:p>
        </p:txBody>
      </p:sp>
      <p:sp>
        <p:nvSpPr>
          <p:cNvPr id="58" name="Shape 56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303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2 y 3</a:t>
            </a:r>
            <a:endParaRPr lang="es-CL" sz="1700" dirty="0"/>
          </a:p>
        </p:txBody>
      </p:sp>
      <p:sp>
        <p:nvSpPr>
          <p:cNvPr id="60" name="Shape 58"/>
          <p:cNvSpPr/>
          <p:nvPr/>
        </p:nvSpPr>
        <p:spPr>
          <a:xfrm>
            <a:off x="8217624" y="5367528"/>
            <a:ext cx="263495" cy="29260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1119" y="5367528"/>
            <a:ext cx="105397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81119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2</a:t>
            </a:r>
            <a:endParaRPr lang="es-CL" sz="1600" dirty="0"/>
          </a:p>
        </p:txBody>
      </p:sp>
      <p:sp>
        <p:nvSpPr>
          <p:cNvPr id="63" name="Shape 61"/>
          <p:cNvSpPr/>
          <p:nvPr/>
        </p:nvSpPr>
        <p:spPr>
          <a:xfrm>
            <a:off x="10325582" y="5367528"/>
            <a:ext cx="263495" cy="29260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64" name="Shape 62"/>
          <p:cNvSpPr/>
          <p:nvPr/>
        </p:nvSpPr>
        <p:spPr>
          <a:xfrm>
            <a:off x="10589076" y="5367528"/>
            <a:ext cx="105397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589076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3</a:t>
            </a:r>
            <a:endParaRPr lang="es-CL" sz="1600" dirty="0"/>
          </a:p>
        </p:txBody>
      </p:sp>
      <p:sp>
        <p:nvSpPr>
          <p:cNvPr id="66" name="Shape 64"/>
          <p:cNvSpPr/>
          <p:nvPr/>
        </p:nvSpPr>
        <p:spPr>
          <a:xfrm>
            <a:off x="8362247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70204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92531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9536" y="5852160"/>
            <a:ext cx="2037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Actividad principal</a:t>
            </a:r>
            <a:endParaRPr lang="es-CL" sz="1600" dirty="0"/>
          </a:p>
        </p:txBody>
      </p:sp>
      <p:sp>
        <p:nvSpPr>
          <p:cNvPr id="70" name="Shape 68"/>
          <p:cNvSpPr/>
          <p:nvPr/>
        </p:nvSpPr>
        <p:spPr>
          <a:xfrm>
            <a:off x="3171139" y="5925312"/>
            <a:ext cx="219456" cy="219456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82035" y="585216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Operación</a:t>
            </a:r>
            <a:endParaRPr lang="es-CL" sz="1600" dirty="0"/>
          </a:p>
        </p:txBody>
      </p:sp>
      <p:sp>
        <p:nvSpPr>
          <p:cNvPr id="72" name="Shape 70"/>
          <p:cNvSpPr/>
          <p:nvPr/>
        </p:nvSpPr>
        <p:spPr>
          <a:xfrm>
            <a:off x="4769510" y="5925312"/>
            <a:ext cx="219456" cy="219456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80406" y="5852160"/>
            <a:ext cx="2242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Preapertura de taller</a:t>
            </a:r>
            <a:endParaRPr lang="es-CL" sz="1600" dirty="0"/>
          </a:p>
        </p:txBody>
      </p:sp>
      <p:sp>
        <p:nvSpPr>
          <p:cNvPr id="74" name="Shape 72"/>
          <p:cNvSpPr/>
          <p:nvPr/>
        </p:nvSpPr>
        <p:spPr>
          <a:xfrm>
            <a:off x="7596835" y="5925312"/>
            <a:ext cx="219456" cy="219456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7907731" y="58521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76" name="Shape 74"/>
          <p:cNvSpPr/>
          <p:nvPr/>
        </p:nvSpPr>
        <p:spPr>
          <a:xfrm>
            <a:off x="10321747" y="5925312"/>
            <a:ext cx="219456" cy="219456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32643" y="5852160"/>
            <a:ext cx="1320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Hito crítico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8B9598"/>
      </a:accent2>
      <a:accent3>
        <a:srgbClr val="4A5257"/>
      </a:accent3>
      <a:accent4>
        <a:srgbClr val="ECECEC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Michr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2026-10-18T00:00:51Z</dcterms:created>
  <dcterms:modified xsi:type="dcterms:W3CDTF">2026-10-18T00:00:51Z</dcterms:modified>
</cp:coreProperties>
</file>