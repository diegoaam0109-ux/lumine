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7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8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1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Diego Alarcón" id="{a25e49c0-de99-bd72-0a6a-54d4dc5f6f47}">
          <p14:sldIdLst>
            <p14:sldId id="256"/>
            <p14:sldId id="257"/>
            <p14:sldId id="258"/>
            <p14:sldId id="259"/>
            <p14:sldId id="260"/>
          </p14:sldIdLst>
        </p14:section>
        <p14:section name="2 · Benjamín Torres" id="{6aacca77-0c53-fb60-4426-21c4c6097de6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3 · Lukas Verdugo" id="{7c5cb7cf-7ad2-10f2-dd1c-5a1799e2af73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Anexo" id="{80cf21f3-6990-c861-eb01-63fddd801d1a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Esencial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Colectivo</c:v>
                  </c:pt>
                  <c:pt idx="1">
                    <c:v>Aplicación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36.6</c:v>
                </c:pt>
                <c:pt idx="1">
                  <c:v>28.9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Plus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Colectivo</c:v>
                  </c:pt>
                  <c:pt idx="1">
                    <c:v>Aplicación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34.3</c:v>
                </c:pt>
                <c:pt idx="1">
                  <c:v>27.5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26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atendible</c:v>
                </c:pt>
              </c:strCache>
            </c:strRef>
          </c:tx>
          <c:spPr>
            <a:solidFill>
              <a:srgbClr val="2E34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367</c:v>
                </c:pt>
                <c:pt idx="1">
                  <c:v>990</c:v>
                </c:pt>
                <c:pt idx="2">
                  <c:v>1971</c:v>
                </c:pt>
                <c:pt idx="3">
                  <c:v>3835</c:v>
                </c:pt>
                <c:pt idx="4">
                  <c:v>7137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Instalaciones propias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299</c:v>
                </c:pt>
                <c:pt idx="1">
                  <c:v>869</c:v>
                </c:pt>
                <c:pt idx="2">
                  <c:v>1674</c:v>
                </c:pt>
                <c:pt idx="3">
                  <c:v>2268</c:v>
                </c:pt>
                <c:pt idx="4">
                  <c:v>2851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Kits a la red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365</c:v>
                </c:pt>
                <c:pt idx="2">
                  <c:v>1074</c:v>
                </c:pt>
                <c:pt idx="3">
                  <c:v>3287</c:v>
                </c:pt>
                <c:pt idx="4">
                  <c:v>7773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7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9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piloto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[&lt;13]&quot;&quot;;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020304"/>
                    </a:solidFill>
                    <a:latin typeface="Archivo Condense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49.47</c:v>
                </c:pt>
                <c:pt idx="1">
                  <c:v>23.75</c:v>
                </c:pt>
                <c:pt idx="2">
                  <c:v>23.75</c:v>
                </c:pt>
                <c:pt idx="3">
                  <c:v>23.75</c:v>
                </c:pt>
                <c:pt idx="4">
                  <c:v>23.75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Pauta digital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[&lt;13]&quot;&quot;;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020304"/>
                    </a:solidFill>
                    <a:latin typeface="Archivo Condense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14.4</c:v>
                </c:pt>
                <c:pt idx="1">
                  <c:v>18</c:v>
                </c:pt>
                <c:pt idx="2">
                  <c:v>24</c:v>
                </c:pt>
                <c:pt idx="3">
                  <c:v>24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Comisiones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[&lt;13]&quot;&quot;;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020304"/>
                    </a:solidFill>
                    <a:latin typeface="Archivo Condense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4.92</c:v>
                </c:pt>
                <c:pt idx="1">
                  <c:v>15.58</c:v>
                </c:pt>
                <c:pt idx="2">
                  <c:v>30.3</c:v>
                </c:pt>
                <c:pt idx="3">
                  <c:v>42.45</c:v>
                </c:pt>
                <c:pt idx="4">
                  <c:v>56.98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Otras</c:v>
                </c:pt>
              </c:strCache>
            </c:strRef>
          </c:tx>
          <c:spPr>
            <a:solidFill>
              <a:srgbClr val="2E3438"/>
            </a:solidFill>
            <a:effectLst/>
          </c:spPr>
          <c:invertIfNegative val="0"/>
          <c:dLbls>
            <c:numFmt formatCode="[&lt;13]&quot;&quot;;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020304"/>
                    </a:solidFill>
                    <a:latin typeface="Archivo Condense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12.15</c:v>
                </c:pt>
                <c:pt idx="1">
                  <c:v>22.65</c:v>
                </c:pt>
                <c:pt idx="2">
                  <c:v>38.22</c:v>
                </c:pt>
                <c:pt idx="3">
                  <c:v>44.14</c:v>
                </c:pt>
                <c:pt idx="4">
                  <c:v>52.96</c:v>
                </c:pt>
              </c:numCache>
            </c:numRef>
          </c:val>
        </c:ser>
        <c:dLbls>
          <c:numFmt formatCode="[&lt;13]&quot;&quot;;0" sourceLinked="0"/>
          <c:txPr>
            <a:bodyPr/>
            <a:lstStyle/>
            <a:p>
              <a:pPr>
                <a:defRPr b="1" i="0" strike="noStrike" sz="1800" u="none">
                  <a:solidFill>
                    <a:srgbClr val="020304"/>
                  </a:solidFill>
                  <a:latin typeface="Archivo Condense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Dotación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Pre</c:v>
                  </c:pt>
                  <c:pt idx="1">
                    <c:v>Año 1</c:v>
                  </c:pt>
                  <c:pt idx="2">
                    <c:v>Año 2</c:v>
                  </c:pt>
                  <c:pt idx="3">
                    <c:v>Año 3</c:v>
                  </c:pt>
                  <c:pt idx="4">
                    <c:v>Año 4</c:v>
                  </c:pt>
                  <c:pt idx="5">
                    <c:v>Año 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13</c:v>
                </c:pt>
                <c:pt idx="2">
                  <c:v>21</c:v>
                </c:pt>
                <c:pt idx="3">
                  <c:v>33</c:v>
                </c:pt>
                <c:pt idx="4">
                  <c:v>40</c:v>
                </c:pt>
                <c:pt idx="5">
                  <c:v>56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26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Costo por instalación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508</c:v>
                </c:pt>
                <c:pt idx="1">
                  <c:v>306</c:v>
                </c:pt>
                <c:pt idx="2">
                  <c:v>257</c:v>
                </c:pt>
                <c:pt idx="3">
                  <c:v>253</c:v>
                </c:pt>
                <c:pt idx="4">
                  <c:v>265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26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Línea propia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;−#,##0;;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-130.2</c:v>
                </c:pt>
                <c:pt idx="1">
                  <c:v>159.9</c:v>
                </c:pt>
                <c:pt idx="2">
                  <c:v>444.8</c:v>
                </c:pt>
                <c:pt idx="3">
                  <c:v>694.7</c:v>
                </c:pt>
                <c:pt idx="4">
                  <c:v>869.9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 de talleres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#,##0;−#,##0;;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142.1</c:v>
                </c:pt>
                <c:pt idx="2">
                  <c:v>415.2</c:v>
                </c:pt>
                <c:pt idx="3">
                  <c:v>1233.2</c:v>
                </c:pt>
                <c:pt idx="4">
                  <c:v>2889.5</c:v>
                </c:pt>
              </c:numCache>
            </c:numRef>
          </c:val>
        </c:ser>
        <c:dLbls>
          <c:numFmt formatCode="#,##0;−#,##0;;" sourceLinked="0"/>
          <c:txPr>
            <a:bodyPr/>
            <a:lstStyle/>
            <a:p>
              <a:pPr>
                <a:defRPr b="1" i="0" strike="noStrike" sz="18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50"/>
          <c:min val="-7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Adopción acumulada</c:v>
                </c:pt>
              </c:strCache>
            </c:strRef>
          </c:tx>
          <c:spPr>
            <a:solidFill>
              <a:srgbClr val="22B8F0"/>
            </a:solidFill>
            <a:ln w="38100" cap="flat">
              <a:solidFill>
                <a:srgbClr val="22B8F0"/>
              </a:solidFill>
              <a:prstDash val="solid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1"/>
            <c:spPr>
              <a:solidFill>
                <a:srgbClr val="22B8F0"/>
              </a:solidFill>
              <a:ln w="9525" cap="flat">
                <a:solidFill>
                  <a:srgbClr val="22B8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0.0038</c:v>
                </c:pt>
                <c:pt idx="1">
                  <c:v>0.0114</c:v>
                </c:pt>
                <c:pt idx="2">
                  <c:v>0.0265</c:v>
                </c:pt>
                <c:pt idx="3">
                  <c:v>0.056</c:v>
                </c:pt>
                <c:pt idx="4">
                  <c:v>0.1108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Renta bruta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Gerente General</c:v>
                  </c:pt>
                  <c:pt idx="1">
                    <c:v>Responsable Técnico</c:v>
                  </c:pt>
                  <c:pt idx="2">
                    <c:v>Calibración</c:v>
                  </c:pt>
                  <c:pt idx="3">
                    <c:v>Técnico N4</c:v>
                  </c:pt>
                  <c:pt idx="4">
                    <c:v>Técnico N3</c:v>
                  </c:pt>
                  <c:pt idx="5">
                    <c:v>Administración</c:v>
                  </c:pt>
                  <c:pt idx="6">
                    <c:v>Comercial</c:v>
                  </c:pt>
                  <c:pt idx="7">
                    <c:v>Técnico N1</c:v>
                  </c:pt>
                  <c:pt idx="8">
                    <c:v>Asistentes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2000</c:v>
                </c:pt>
                <c:pt idx="1">
                  <c:v>1800</c:v>
                </c:pt>
                <c:pt idx="2">
                  <c:v>1700</c:v>
                </c:pt>
                <c:pt idx="3">
                  <c:v>1150</c:v>
                </c:pt>
                <c:pt idx="4">
                  <c:v>1000</c:v>
                </c:pt>
                <c:pt idx="5">
                  <c:v>900</c:v>
                </c:pt>
                <c:pt idx="6">
                  <c:v>850</c:v>
                </c:pt>
                <c:pt idx="7">
                  <c:v>750</c:v>
                </c:pt>
                <c:pt idx="8">
                  <c:v>692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8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Figtre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Inversión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;;&quot;—&quot;" sourceLinked="0"/>
            <c:txPr>
              <a:bodyPr/>
              <a:lstStyle/>
              <a:p>
                <a:pPr>
                  <a:defRPr b="1" i="0" strike="noStrike" sz="22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71.2</c:v>
                </c:pt>
                <c:pt idx="1">
                  <c:v>10.1</c:v>
                </c:pt>
                <c:pt idx="2">
                  <c:v>81.3</c:v>
                </c:pt>
                <c:pt idx="3">
                  <c:v>0</c:v>
                </c:pt>
                <c:pt idx="4">
                  <c:v>81.3</c:v>
                </c:pt>
              </c:numCache>
            </c:numRef>
          </c:val>
        </c:ser>
        <c:dLbls>
          <c:numFmt formatCode="0;;&quot;—&quot;" sourceLinked="0"/>
          <c:txPr>
            <a:bodyPr/>
            <a:lstStyle/>
            <a:p>
              <a:pPr>
                <a:defRPr b="1" i="0" strike="noStrike" sz="22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Gasto operacional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2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1064.1</c:v>
                </c:pt>
                <c:pt idx="1">
                  <c:v>2945.4</c:v>
                </c:pt>
                <c:pt idx="2">
                  <c:v>5657.9</c:v>
                </c:pt>
                <c:pt idx="3">
                  <c:v>7623.5</c:v>
                </c:pt>
                <c:pt idx="4">
                  <c:v>9605.8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2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2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87171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Dólar −10%</c:v>
                  </c:pt>
                  <c:pt idx="1">
                    <c:v>Precio +5%</c:v>
                  </c:pt>
                  <c:pt idx="2">
                    <c:v>Plus 80%</c:v>
                  </c:pt>
                  <c:pt idx="3">
                    <c:v>Base</c:v>
                  </c:pt>
                  <c:pt idx="4">
                    <c:v>Plus 40%</c:v>
                  </c:pt>
                  <c:pt idx="5">
                    <c:v>Precio −5%</c:v>
                  </c:pt>
                  <c:pt idx="6">
                    <c:v>Dólar +10%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1646.9</c:v>
                </c:pt>
                <c:pt idx="1">
                  <c:v>1433</c:v>
                </c:pt>
                <c:pt idx="2">
                  <c:v>993.7</c:v>
                </c:pt>
                <c:pt idx="3">
                  <c:v>869.9</c:v>
                </c:pt>
                <c:pt idx="4">
                  <c:v>746.1</c:v>
                </c:pt>
                <c:pt idx="5">
                  <c:v>306.9</c:v>
                </c:pt>
                <c:pt idx="6">
                  <c:v>92.9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7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30 s
Buenos días. Somos Diego Alarcón, Benjamín Torres y Lukas Verdugo, y les presentamos el capítulo tres de Lumine Motors: los planes de marketing, recursos humanos y operaciones. Los tres comparten un mismo gatillo, así que un cambio en la demanda mueve el plan completo. Yo parto con los objetivos y el mercado, Benjamín sigue con la estrategia comercial y Lukas cierra con las personas y las operaciones.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40 s
El objetivo general es que en cinco años Lumine sea la referencia de la hibridación de posventa en Chile, con tres talleres propios en la Región Metropolitana y una red certificada en todas las regiones. Las metas del primer año siguen al cliente: instalar al menos 299 vehículos, publicar tres casos con ahorro medido en nueve meses, llegar a 80% de clientes satisfechos y a 15% de clientes por recomendación. La meta de cotizaciones está por confirmar, porque depende de la tasa de conversión que mida la investigación.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35 s
¿A quién le vendemos? El cliente no se define por su edad, su ingreso ni la antigüedad de su auto, sino por tener un vehículo compatible: liviano, a combustión y con tracción delantera, porque el kit va en el eje trasero. De las cuatro variables, la decisiva es la conductual: la intensidad y el tipo de uso fijan en cuánto tiempo el ahorro paga la inversión. Por eso entramos por el uso laboral de alta intensidad: colectivos, taxis y aplicaciones.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35 s
Nada de esto se le ha preguntado aún a un conductor, así que la investigación es mixta y secuencial: primero entrevistas a cuatro expertos y a cinco perfiles de clientes, después una encuesta por cuotas a 150 personas, con 100 como mínimo. Como no es aleatoria, los resultados serán indicativos. Pone a prueba seis hipótesis; por ejemplo, que la barrera principal es la confianza y no el precio. Hasta ahora hicimos la entrevista exploratoria; el resto está por realizar.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50 s
En la matriz de Ansoff, Lumine entra por desarrollo de producto: el mercado existe, porque los conductores ya buscan gastar menos, pero la hibridación aditiva no tiene oferta en Chile. En el año 2 viene la penetración y, antes de lo habitual, la diversificación relacionada: vender patrones de calibración, kits y certificación a otros talleres, porque la exclusividad de la calibración se agota con el tiempo. En el año 3 llega el desarrollo de mercado. Y nuestra ventaja competitiva, sostenible en el tiempo, es la biblioteca de calibraciones por modelo: crece con cada instalación y es lo más difícil de copiar. Le paso la palabra a Benjamín.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Gracias, Diego. Este mapa ordena las alternativas por inversión y por lo que exigen al conductor. El híbrido usado y el eléctrico nuevo obligan a cambiar de auto y cuestan sobre 9 millones. La conversión a gas es barata, pero tiene límite de antigüedad. No hacer nada no cuesta, pero tampoco ahorra. Lumine queda sola en el espacio vacío: gastar menos sin cambiar de auto y sin límite de antigüedad. El concepto: el mismo auto, ahora híbrido.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En el mix de marketing, el cliente conoce su ahorro antes de pagar y lo comprueba después. El kit tiene dos versiones. Esencial cuesta 4.290.000 pesos con IVA y promete hasta 15% menos bencina; Plus cuesta 4.990.000 y hasta 20%. Plus vale 16% más, pero ahorra 24% más al colectivo, así que cada punto de ahorro sale más barato, y el colectivo recupera la inversión en 34 meses. Son precios de referencia que la encuesta debe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El segmento laboral de la Región Metropolitana suma 162.780 vehículos. Con el modelo de Bass, la adopción llega a 11,1% al quinto año, por debajo del 16% de los primeros adoptantes. Pero el pronóstico es el menor entre demanda y capacidad, y desde el primer año la demanda atendible supera lo que podemos instalar: 299 vehículos el primer año y 2.851 al quinto. Lo que no alcanzamos a instalar lo atiende la red: 7.773 kits al quinto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40 s
El presupuesto de marketing se arma por objetivo y tarea, no como un porcentaje de ventas que aún no existen. El primer año invierte 80,9 millones de pesos, el 6,8% de los ingresos propios, porque concentra el lanzamiento y 25 clientes piloto con 50% de descuento a cambio de su caso medido. Desde el segundo año baja a 2,3% de los ingresos, y desde el tercero la partida mayor son las comisiones, que siguen a las instalaciones. En cinco años, el marketing suma 575 millones.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30 s
Para atender esa demanda, la estructura es funcional y sin mandos intermedios: cinco áreas que responden a la Gerencia General. La estructura no cambia con el crecimiento; cambia cuántas personas hay en cada cargo, y nadie se contrata antes de que la carga lo justifique. Ingeniería de Calibración depende de la Gerencia y no del taller, porque la biblioteca sostiene la ventaja.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15 s
Así el equipo pasa de 13 personas al cierre del primer año a 56 al quinto, y casi dos de cada tres son técnicos. Lukas sigue con las personas y las operaciones.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20 s
Gracias, Benjamín. El oficio escasea en Chile, así que los técnicos se forman en casa con Lumine Habilita: 39 competencias, cuatro niveles y 392 horas. Con formación intensiva, un técnico nuevo llega al nivel 4 en unos ocho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20 s
La nómina sube de 152 a 755 millones en cinco años, pero el costo por instalación cae a la mitad, de 508 mil pesos a 253 mil en el cuarto año, porque los cargos fijos se reparten en más autos.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20 s
El flujo sigue a un vehículo desde la cotización hasta el fin de vida de la batería, en cinco etapas. Una regla lo atraviesa: el negocio mide y recomienda, pero la decisión de instalar es siempre del cliente. Solo se detiene por razones técnicas.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15 s
La instalación toma una jornada de 8,4 horas con cuatro puntos de control, y el límite de capacidad son las horas de los dúos: un dinamómetro por local alcanza incluso para seis dúos.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40 s
La Carta Gantt apunta a abrir en enero de 2027. En los tres meses previos se homologa el primer modelo y se forma el primer dúo. Pero el eslabón crítico es externo: el reglamento de la Ley 21.793 sigue pendiente, y sin él no hay certificado ni venta legal. Los dúos entran según la demanda, del segundo en el mes 6 al sexto en el mes 20; el segundo taller abre en el mes 25, el tercero en el 49, y la red crece de 3 a 42 talleres.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25 s
Cada local con seis puestos requiere 81 millones de inversión, casi la mitad en el dinamómetro, y el kit explica más del 90% del gasto operacional. Con los tres presupuestos, la línea propia pierde 130 millones en el lanzamiento y gana desde el segundo año, hasta un margen de 7,7%. La red rinde cerca de 10%.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10 s
El riesgo mayor es el dólar: un alza de 10% casi borra el resultado propio del quinto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45 s
Para cerrar, tres conclusiones. Primero, la oportunidad existe: desde el primer año hay más demanda que capacidad. Segundo, hay espacio competitivo: somos la única alternativa que ahorra sin cambiar de auto, y la red vende la calibración mientras sigue siendo exclusiva. Tercero, los tres planes se mueven con un mismo gatillo, la demanda sobre el 80% de la capacidad, y cada línea gana desde el segundo año. Quedan dos preguntas: si el reglamento admitirá el kit y desde cuándo, y si el ahorro medido y la encuesta confirman los precios. Muchas gracias;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· No se presenta. Cada tema tiene un enlace a su diapositiva; cada diapositiva del anexo tiene un enlace de vuelta a este índice.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 · Solo si preguntan.
Las seis hipótesis con su prueba estadística (Tabla N° 3); significancia de 5%, resultados indicativos por la muestra por cuotas.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A2 · Solo si preguntan.
¿Funciona?, ¿daña mi auto?, ¿pasa la revisión técnica?, ¿hay que enchufarlo? (Tabla N° 4) y los límites de la promesa.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A3 · Solo si preguntan.
Las siete variables para el cliente final y para la red certificada (Tabla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A4 · Solo si preguntan.
Paquete de entrada, kit con licencia, certificación anual y suscripción a Habilita (Tabla N°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A5 · Solo si preguntan.
TAM, SAM y segmento laboral (Tabla N° 9) y la curva de Bass con su respaldo (Anexo 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A6 · Solo si preguntan.
Dependencia y responsabilidad crítica de cada cargo (Tabla N°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A7 · Solo si preguntan.
Renta bruta mensual por cargo frente al mercado (Tabla N° 14) y bono único por nivel validado (Tabla N°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A8 · Solo si preguntan.
Los siete bloques de la jornada de 8,4 horas y sus cuatro puntos de control (Anexo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A9 · Solo si preguntan.
Inversión en equipamiento por año (Tabla N° 18) y gasto operacional de la línea propia (Tabla N°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A10 · Solo si preguntan.
Resultado de la línea propia al quinto año con dólar, proporción de Plus y precio (Tabla N°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A11 · Solo si preguntan.
La Carta Gantt completa (Figura N° 5): preparación, entrada de cada dúo, calibración de modelos, preapertura y apertura de los talleres 2 y 3, y crecimiento de la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PORTADA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11094415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lnSpc>
                <a:spcPct val="86000"/>
              </a:lnSpc>
              <a:buNone/>
              <a:defRPr lang="en-US" sz="6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ctr" indent="0" marL="0">
              <a:lnSpc>
                <a:spcPct val="86000"/>
              </a:lnSpc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0" y="365760"/>
            <a:ext cx="5973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INTEGRADOR II · ICMA 1001 · GRUPO 1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86000"/>
              </a:lnSpc>
              <a:buNone/>
              <a:def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l" indent="0" marL="0">
              <a:lnSpc>
                <a:spcPct val="86000"/>
              </a:lnSpc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1.xml"/><Relationship Id="rId2" Type="http://schemas.openxmlformats.org/officeDocument/2006/relationships/slide" Target="slide21.xml"/><Relationship Id="rId3" Type="http://schemas.openxmlformats.org/officeDocument/2006/relationships/slide" Target="slide22.xml"/><Relationship Id="rId4" Type="http://schemas.openxmlformats.org/officeDocument/2006/relationships/slide" Target="slide22.xml"/><Relationship Id="rId5" Type="http://schemas.openxmlformats.org/officeDocument/2006/relationships/slide" Target="slide23.xml"/><Relationship Id="rId6" Type="http://schemas.openxmlformats.org/officeDocument/2006/relationships/slide" Target="slide23.xml"/><Relationship Id="rId7" Type="http://schemas.openxmlformats.org/officeDocument/2006/relationships/slide" Target="slide24.xml"/><Relationship Id="rId8" Type="http://schemas.openxmlformats.org/officeDocument/2006/relationships/slide" Target="slide24.xml"/><Relationship Id="rId9" Type="http://schemas.openxmlformats.org/officeDocument/2006/relationships/slide" Target="slide25.xml"/><Relationship Id="rId10" Type="http://schemas.openxmlformats.org/officeDocument/2006/relationships/slide" Target="slide25.xml"/><Relationship Id="rId11" Type="http://schemas.openxmlformats.org/officeDocument/2006/relationships/slide" Target="slide26.xml"/><Relationship Id="rId12" Type="http://schemas.openxmlformats.org/officeDocument/2006/relationships/slide" Target="slide26.xml"/><Relationship Id="rId13" Type="http://schemas.openxmlformats.org/officeDocument/2006/relationships/slide" Target="slide27.xml"/><Relationship Id="rId14" Type="http://schemas.openxmlformats.org/officeDocument/2006/relationships/slide" Target="slide27.xml"/><Relationship Id="rId15" Type="http://schemas.openxmlformats.org/officeDocument/2006/relationships/slide" Target="slide28.xml"/><Relationship Id="rId16" Type="http://schemas.openxmlformats.org/officeDocument/2006/relationships/slide" Target="slide28.xml"/><Relationship Id="rId17" Type="http://schemas.openxmlformats.org/officeDocument/2006/relationships/slide" Target="slide29.xml"/><Relationship Id="rId18" Type="http://schemas.openxmlformats.org/officeDocument/2006/relationships/slide" Target="slide29.xml"/><Relationship Id="rId19" Type="http://schemas.openxmlformats.org/officeDocument/2006/relationships/slide" Target="slide30.xml"/><Relationship Id="rId20" Type="http://schemas.openxmlformats.org/officeDocument/2006/relationships/slide" Target="slide30.xml"/><Relationship Id="rId21" Type="http://schemas.openxmlformats.org/officeDocument/2006/relationships/slide" Target="slide31.xml"/><Relationship Id="rId22" Type="http://schemas.openxmlformats.org/officeDocument/2006/relationships/slide" Target="slide31.xml"/><Relationship Id="rId23" Type="http://schemas.openxmlformats.org/officeDocument/2006/relationships/slideLayout" Target="../slideLayouts/slideLayout3.xml"/><Relationship Id="rId2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0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0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0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0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0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0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0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0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0.xml"/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0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0" y="365760"/>
            <a:ext cx="5059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UNAB · OCTUBRE 2026</a:t>
            </a:r>
            <a:endParaRPr lang="es-CL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4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Fase 3 · Capítulo III: Plan de Marketing, Operaciones y Recursos Humanos</a:t>
            </a:r>
            <a:endParaRPr lang="es-CL" sz="24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371600"/>
            <a:ext cx="1109441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6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LUMINE MOTORS</a:t>
            </a:r>
            <a:endParaRPr lang="en-US" sz="600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76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reconversión híbrida.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200400"/>
            <a:ext cx="9631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 que hibrida autos a combustión de tracción delantera para gastar menos bencina sin cambiar de auto.</a:t>
            </a:r>
            <a:endParaRPr lang="es-CL" sz="2200" dirty="0"/>
          </a:p>
        </p:txBody>
      </p:sp>
      <p:pic>
        <p:nvPicPr>
          <p:cNvPr id="6" name="Image 0" descr="Plano del kit Lumine: auto en vista lateral con el motor eléctrico en el eje trase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2728" y="4005072"/>
            <a:ext cx="4206240" cy="12969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539496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5486400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UNIVERSIDAD</a:t>
            </a:r>
            <a:endParaRPr lang="es-CL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705856"/>
            <a:ext cx="10957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Universidad Andrés Bello · Facultad de Economía y Negocios · Ingeniería Comercial</a:t>
            </a:r>
            <a:endParaRPr lang="es-CL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899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CURSO</a:t>
            </a:r>
            <a:endParaRPr lang="es-CL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309360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Integrador II: Taller de Empresas · ICMA 1001</a:t>
            </a:r>
            <a:endParaRPr lang="es-CL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60899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GRUPO</a:t>
            </a:r>
            <a:endParaRPr lang="es-CL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630936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</a:t>
            </a:r>
            <a:endParaRPr lang="es-CL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608990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PROFESOR</a:t>
            </a:r>
            <a:endParaRPr lang="es-CL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394960" y="63093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Roberto Brito</a:t>
            </a:r>
            <a:endParaRPr lang="es-CL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6089904"/>
            <a:ext cx="4647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INTEGRANTES</a:t>
            </a:r>
            <a:endParaRPr lang="es-CL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95160" y="6309360"/>
            <a:ext cx="4510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Diego Alarcón · Benjamín Torres · Lukas Verdugo</a:t>
            </a:r>
            <a:endParaRPr lang="es-CL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OBJETIVOS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299 VEHÍCULOS EL PRIMER AÑO,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 referencia al quinto.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con base en Informe Fase 3 (§3.1.1, Tablas N° 1 y 10).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 cinco años: 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ser la referencia de la hibridación de posventa en Chile.</a:t>
            </a:r>
            <a:endParaRPr lang="es-CL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992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METAS DEL PRIMER AÑO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9798507" y="2999232"/>
            <a:ext cx="184454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08235" y="2999232"/>
            <a:ext cx="1625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CONFIRMAR</a:t>
            </a:r>
            <a:endParaRPr lang="es-CL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43627" y="29992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COTIZACIONES DIGITALES: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456432"/>
            <a:ext cx="2567864" cy="129844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" y="34015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34015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15920" y="34015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1368" y="34015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3776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3776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15920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71368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511296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299</a:t>
            </a:r>
            <a:endParaRPr lang="es-CL" sz="4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151376"/>
            <a:ext cx="220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instalaciones</a:t>
            </a:r>
            <a:endParaRPr lang="es-CL" sz="2000" dirty="0"/>
          </a:p>
        </p:txBody>
      </p:sp>
      <p:sp>
        <p:nvSpPr>
          <p:cNvPr id="21" name="Shape 19"/>
          <p:cNvSpPr/>
          <p:nvPr/>
        </p:nvSpPr>
        <p:spPr>
          <a:xfrm>
            <a:off x="3390824" y="3456432"/>
            <a:ext cx="2567864" cy="12984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19424" y="3511296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4800" dirty="0"/>
          </a:p>
        </p:txBody>
      </p:sp>
      <p:sp>
        <p:nvSpPr>
          <p:cNvPr id="23" name="Text 21"/>
          <p:cNvSpPr txBox="1"/>
          <p:nvPr/>
        </p:nvSpPr>
        <p:spPr>
          <a:xfrm>
            <a:off x="3619424" y="4151376"/>
            <a:ext cx="220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casos con ahorro medido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6233008" y="3456432"/>
            <a:ext cx="2567864" cy="12984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1608" y="3511296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4800" dirty="0"/>
          </a:p>
        </p:txBody>
      </p:sp>
      <p:sp>
        <p:nvSpPr>
          <p:cNvPr id="26" name="Text 24"/>
          <p:cNvSpPr txBox="1"/>
          <p:nvPr/>
        </p:nvSpPr>
        <p:spPr>
          <a:xfrm>
            <a:off x="6461608" y="4151376"/>
            <a:ext cx="220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clientes satisfechos</a:t>
            </a:r>
            <a:endParaRPr lang="es-CL" sz="2000" dirty="0"/>
          </a:p>
        </p:txBody>
      </p:sp>
      <p:sp>
        <p:nvSpPr>
          <p:cNvPr id="27" name="Shape 25"/>
          <p:cNvSpPr/>
          <p:nvPr/>
        </p:nvSpPr>
        <p:spPr>
          <a:xfrm>
            <a:off x="9075191" y="3456432"/>
            <a:ext cx="2567864" cy="12984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303791" y="3511296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15%</a:t>
            </a:r>
            <a:endParaRPr lang="es-CL" sz="4800" dirty="0"/>
          </a:p>
        </p:txBody>
      </p:sp>
      <p:sp>
        <p:nvSpPr>
          <p:cNvPr id="29" name="Text 27"/>
          <p:cNvSpPr txBox="1"/>
          <p:nvPr/>
        </p:nvSpPr>
        <p:spPr>
          <a:xfrm>
            <a:off x="9303791" y="4151376"/>
            <a:ext cx="220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llega por recomendación</a:t>
            </a:r>
            <a:endParaRPr lang="es-CL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9194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INSTALACIONES PROPIAS POR AÑO</a:t>
            </a:r>
            <a:endParaRPr lang="es-CL" sz="1600" dirty="0"/>
          </a:p>
        </p:txBody>
      </p:sp>
      <p:sp>
        <p:nvSpPr>
          <p:cNvPr id="31" name="Shape 29"/>
          <p:cNvSpPr/>
          <p:nvPr/>
        </p:nvSpPr>
        <p:spPr>
          <a:xfrm>
            <a:off x="8604707" y="4919472"/>
            <a:ext cx="303834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8714435" y="4919472"/>
            <a:ext cx="28188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· PRONÓSTICO</a:t>
            </a:r>
            <a:endParaRPr lang="es-CL" sz="1400" dirty="0"/>
          </a:p>
        </p:txBody>
      </p:sp>
      <p:sp>
        <p:nvSpPr>
          <p:cNvPr id="33" name="Shape 31"/>
          <p:cNvSpPr/>
          <p:nvPr/>
        </p:nvSpPr>
        <p:spPr>
          <a:xfrm>
            <a:off x="731520" y="5742432"/>
            <a:ext cx="10728655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9224" y="5660136"/>
            <a:ext cx="164592" cy="164592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39496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</a:t>
            </a:r>
            <a:endParaRPr lang="es-CL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299</a:t>
            </a:r>
            <a:endParaRPr lang="es-CL" sz="3000" dirty="0"/>
          </a:p>
        </p:txBody>
      </p:sp>
      <p:sp>
        <p:nvSpPr>
          <p:cNvPr id="37" name="Shape 35"/>
          <p:cNvSpPr/>
          <p:nvPr/>
        </p:nvSpPr>
        <p:spPr>
          <a:xfrm>
            <a:off x="3331388" y="5660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316404" y="53949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2316404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869</a:t>
            </a:r>
            <a:endParaRPr lang="es-CL" sz="3000" dirty="0"/>
          </a:p>
        </p:txBody>
      </p:sp>
      <p:sp>
        <p:nvSpPr>
          <p:cNvPr id="40" name="Shape 38"/>
          <p:cNvSpPr/>
          <p:nvPr/>
        </p:nvSpPr>
        <p:spPr>
          <a:xfrm>
            <a:off x="6013552" y="5660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998568" y="53949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4998568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1.674</a:t>
            </a:r>
            <a:endParaRPr lang="es-CL" sz="3000" dirty="0"/>
          </a:p>
        </p:txBody>
      </p:sp>
      <p:sp>
        <p:nvSpPr>
          <p:cNvPr id="43" name="Shape 41"/>
          <p:cNvSpPr/>
          <p:nvPr/>
        </p:nvSpPr>
        <p:spPr>
          <a:xfrm>
            <a:off x="8695715" y="5660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680731" y="53949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4</a:t>
            </a:r>
            <a:endParaRPr lang="es-CL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7680731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2.268</a:t>
            </a:r>
            <a:endParaRPr lang="es-CL" sz="3000" dirty="0"/>
          </a:p>
        </p:txBody>
      </p:sp>
      <p:sp>
        <p:nvSpPr>
          <p:cNvPr id="46" name="Shape 44"/>
          <p:cNvSpPr/>
          <p:nvPr/>
        </p:nvSpPr>
        <p:spPr>
          <a:xfrm>
            <a:off x="11377879" y="5660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448495" y="539496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5</a:t>
            </a:r>
            <a:endParaRPr lang="es-CL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9448495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2.851</a:t>
            </a:r>
            <a:endParaRPr lang="es-CL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SEGMENTACIÓN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CLIENTE SE DEFINE POR SU AUTO,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por su edad.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(2025), parque de vehículos 2024; SII (2025); Fielbaum y Tirachini (2021); elaboración propia (Informe Fase 3, §3.1.2).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Condición: 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 liviano, a combustión y con tracción delantera.</a:t>
            </a:r>
            <a:endParaRPr lang="es-CL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2567864" cy="2331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3090672"/>
            <a:ext cx="2165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GEOGRÁFICA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401568"/>
            <a:ext cx="2165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36,8%</a:t>
            </a:r>
            <a:endParaRPr lang="es-CL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041648"/>
            <a:ext cx="2238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parque, en la Región Metropolitana (RM)</a:t>
            </a:r>
            <a:endParaRPr lang="es-CL" sz="2000" dirty="0"/>
          </a:p>
        </p:txBody>
      </p:sp>
      <p:sp>
        <p:nvSpPr>
          <p:cNvPr id="10" name="Shape 8"/>
          <p:cNvSpPr/>
          <p:nvPr/>
        </p:nvSpPr>
        <p:spPr>
          <a:xfrm>
            <a:off x="3390824" y="2926080"/>
            <a:ext cx="2567864" cy="2331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91992" y="3090672"/>
            <a:ext cx="2165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DEMOGRÁFICA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91992" y="3401568"/>
            <a:ext cx="2165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 roles</a:t>
            </a:r>
            <a:endParaRPr lang="es-CL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3591992" y="4041648"/>
            <a:ext cx="2238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usa, decide, paga o influye</a:t>
            </a:r>
            <a:endParaRPr lang="es-CL" sz="2000" dirty="0"/>
          </a:p>
        </p:txBody>
      </p:sp>
      <p:sp>
        <p:nvSpPr>
          <p:cNvPr id="14" name="Shape 12"/>
          <p:cNvSpPr/>
          <p:nvPr/>
        </p:nvSpPr>
        <p:spPr>
          <a:xfrm>
            <a:off x="6233008" y="2926080"/>
            <a:ext cx="2567864" cy="2331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34176" y="3090672"/>
            <a:ext cx="2165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PSICOGRÁFICA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34176" y="3401568"/>
            <a:ext cx="2165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 motivos</a:t>
            </a:r>
            <a:endParaRPr lang="es-CL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6434176" y="4041648"/>
            <a:ext cx="2238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ahorro es uno de ellos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9075191" y="2926080"/>
            <a:ext cx="2567864" cy="233172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20327" y="28712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20327" y="2871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542471" y="28712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97919" y="2871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20327" y="53126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20327" y="5157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542471" y="53126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697919" y="5157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76359" y="3090672"/>
            <a:ext cx="2165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CONDUCTUAL</a:t>
            </a:r>
            <a:endParaRPr lang="es-CL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276359" y="3401568"/>
            <a:ext cx="2165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 ejes</a:t>
            </a:r>
            <a:endParaRPr lang="es-CL" sz="4400" dirty="0"/>
          </a:p>
        </p:txBody>
      </p:sp>
      <p:sp>
        <p:nvSpPr>
          <p:cNvPr id="29" name="Text 27"/>
          <p:cNvSpPr txBox="1"/>
          <p:nvPr/>
        </p:nvSpPr>
        <p:spPr>
          <a:xfrm>
            <a:off x="9276359" y="4041648"/>
            <a:ext cx="2238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intensidad de uso es la que manda</a:t>
            </a:r>
            <a:endParaRPr lang="es-CL" sz="2000" dirty="0"/>
          </a:p>
        </p:txBody>
      </p:sp>
      <p:sp>
        <p:nvSpPr>
          <p:cNvPr id="30" name="Shape 28"/>
          <p:cNvSpPr/>
          <p:nvPr/>
        </p:nvSpPr>
        <p:spPr>
          <a:xfrm>
            <a:off x="548640" y="5358384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5449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PUNTO DE ENTRADA</a:t>
            </a:r>
            <a:endParaRPr lang="es-CL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Uso laboral intensivo en la RM: colectivos, taxis y aplicaciones.</a:t>
            </a:r>
            <a:endParaRPr lang="es-CL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INVESTIGACIÓN DE MERCADO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SEIS HIPÓTESIS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antes de fijar el precio.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§3.1.3, Tablas N° 2 y 3). Muestra no probabilística: resultados indicativos.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2505456"/>
            <a:ext cx="8412251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505456"/>
            <a:ext cx="91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" y="2414016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ETAPA 1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80944"/>
            <a:ext cx="259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Exploratoria</a:t>
            </a:r>
            <a:endParaRPr lang="es-CL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37413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023360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conductor de aplicaciones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4645152"/>
            <a:ext cx="136702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58368" y="4645152"/>
            <a:ext cx="11475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REALIZADA</a:t>
            </a:r>
            <a:endParaRPr lang="es-CL" sz="1400" dirty="0"/>
          </a:p>
        </p:txBody>
      </p:sp>
      <p:sp>
        <p:nvSpPr>
          <p:cNvPr id="14" name="Shape 12"/>
          <p:cNvSpPr/>
          <p:nvPr/>
        </p:nvSpPr>
        <p:spPr>
          <a:xfrm>
            <a:off x="3331388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322244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ETAPA 2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322244" y="2980944"/>
            <a:ext cx="259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Expertos</a:t>
            </a:r>
            <a:endParaRPr lang="es-CL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3322244" y="337413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3322244" y="4023360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expertos del rubro</a:t>
            </a:r>
            <a:endParaRPr lang="es-CL" sz="2000" dirty="0"/>
          </a:p>
        </p:txBody>
      </p:sp>
      <p:sp>
        <p:nvSpPr>
          <p:cNvPr id="19" name="Shape 17"/>
          <p:cNvSpPr/>
          <p:nvPr/>
        </p:nvSpPr>
        <p:spPr>
          <a:xfrm>
            <a:off x="3322244" y="4645152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31972" y="4645152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21" name="Shape 19"/>
          <p:cNvSpPr/>
          <p:nvPr/>
        </p:nvSpPr>
        <p:spPr>
          <a:xfrm>
            <a:off x="6104992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5848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ETAPA 3</a:t>
            </a:r>
            <a:endParaRPr lang="es-CL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095848" y="2980944"/>
            <a:ext cx="259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Clientes</a:t>
            </a:r>
            <a:endParaRPr lang="es-CL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095848" y="337413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</a:t>
            </a:r>
            <a:endParaRPr lang="es-CL" sz="4800" dirty="0"/>
          </a:p>
        </p:txBody>
      </p:sp>
      <p:sp>
        <p:nvSpPr>
          <p:cNvPr id="25" name="Text 23"/>
          <p:cNvSpPr txBox="1"/>
          <p:nvPr/>
        </p:nvSpPr>
        <p:spPr>
          <a:xfrm>
            <a:off x="6095848" y="4023360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perfiles de cliente</a:t>
            </a:r>
            <a:endParaRPr lang="es-CL" sz="2000" dirty="0"/>
          </a:p>
        </p:txBody>
      </p:sp>
      <p:sp>
        <p:nvSpPr>
          <p:cNvPr id="26" name="Shape 24"/>
          <p:cNvSpPr/>
          <p:nvPr/>
        </p:nvSpPr>
        <p:spPr>
          <a:xfrm>
            <a:off x="6095848" y="4645152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05576" y="4645152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28" name="Shape 26"/>
          <p:cNvSpPr/>
          <p:nvPr/>
        </p:nvSpPr>
        <p:spPr>
          <a:xfrm>
            <a:off x="8878595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869451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ETAPA 4</a:t>
            </a:r>
            <a:endParaRPr lang="es-CL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869451" y="2980944"/>
            <a:ext cx="259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Encuesta</a:t>
            </a:r>
            <a:endParaRPr lang="es-CL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869451" y="337413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150</a:t>
            </a:r>
            <a:endParaRPr lang="es-CL" sz="4800" dirty="0"/>
          </a:p>
        </p:txBody>
      </p:sp>
      <p:sp>
        <p:nvSpPr>
          <p:cNvPr id="32" name="Text 30"/>
          <p:cNvSpPr txBox="1"/>
          <p:nvPr/>
        </p:nvSpPr>
        <p:spPr>
          <a:xfrm>
            <a:off x="8869451" y="4023360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encuestas por cuotas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8869451" y="4645152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79179" y="4645152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5138928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2486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 HIPÓTESIS QUE MÁS DECIDE</a:t>
            </a:r>
            <a:endParaRPr lang="es-CL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54126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«La barrera es la confianza, no el precio.»</a:t>
            </a:r>
            <a:endParaRPr lang="es-CL" sz="3400" dirty="0"/>
          </a:p>
        </p:txBody>
      </p:sp>
      <p:sp>
        <p:nvSpPr>
          <p:cNvPr id="38" name="Text 36"/>
          <p:cNvSpPr txBox="1"/>
          <p:nvPr/>
        </p:nvSpPr>
        <p:spPr>
          <a:xfrm>
            <a:off x="8138160" y="5522976"/>
            <a:ext cx="3504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Muestra por cuotas: resultados indicativos (±8% con 150 casos).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MATRIZ DE ANSOFF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 PRODUCTO NUEVO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 un mercado que ya existe.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Ansoff (1965); elaboración propia (Informe Fase 3, §3.1.4, §3.1.5.4, §3.2.1 y Figura N° 1).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2395728"/>
            <a:ext cx="33512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 EXISTENTE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850892" y="2395728"/>
            <a:ext cx="33512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 NUEVO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 rot="16200000">
            <a:off x="64008" y="3291840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</a:t>
            </a:r>
            <a:endParaRPr lang="es-CL" sz="1600" dirty="0"/>
          </a:p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EXISTENTE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 rot="16200000">
            <a:off x="64008" y="5175504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</a:t>
            </a:r>
            <a:endParaRPr lang="es-CL" sz="1600" dirty="0"/>
          </a:p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NUEVO</a:t>
            </a:r>
            <a:endParaRPr lang="es-CL" sz="1600" dirty="0"/>
          </a:p>
        </p:txBody>
      </p:sp>
      <p:sp>
        <p:nvSpPr>
          <p:cNvPr id="9" name="Shape 7"/>
          <p:cNvSpPr/>
          <p:nvPr/>
        </p:nvSpPr>
        <p:spPr>
          <a:xfrm>
            <a:off x="1115568" y="2798064"/>
            <a:ext cx="3351276" cy="15361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16736" y="2944368"/>
            <a:ext cx="2948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16736" y="3255264"/>
            <a:ext cx="2985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Penetración</a:t>
            </a:r>
            <a:endParaRPr lang="es-CL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316736" y="3675888"/>
            <a:ext cx="29855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Más clientes, mismo mercado</a:t>
            </a:r>
            <a:endParaRPr lang="es-CL" sz="2000" dirty="0"/>
          </a:p>
        </p:txBody>
      </p:sp>
      <p:sp>
        <p:nvSpPr>
          <p:cNvPr id="13" name="Shape 11"/>
          <p:cNvSpPr/>
          <p:nvPr/>
        </p:nvSpPr>
        <p:spPr>
          <a:xfrm>
            <a:off x="4850892" y="2798064"/>
            <a:ext cx="3351276" cy="1536192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96028" y="27432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96028" y="27432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01584" y="27432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27432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6028" y="438912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96028" y="42336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01584" y="438912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57032" y="42336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52060" y="2944368"/>
            <a:ext cx="2948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 · ENTRADA</a:t>
            </a:r>
            <a:endParaRPr lang="es-CL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052060" y="3255264"/>
            <a:ext cx="2985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Desarrollo de producto</a:t>
            </a:r>
            <a:endParaRPr lang="es-CL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052060" y="3675888"/>
            <a:ext cx="29855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oferta en Chile</a:t>
            </a:r>
            <a:endParaRPr lang="es-CL" sz="2000" dirty="0"/>
          </a:p>
        </p:txBody>
      </p:sp>
      <p:sp>
        <p:nvSpPr>
          <p:cNvPr id="25" name="Shape 23"/>
          <p:cNvSpPr/>
          <p:nvPr/>
        </p:nvSpPr>
        <p:spPr>
          <a:xfrm>
            <a:off x="1115568" y="4681728"/>
            <a:ext cx="3351276" cy="15361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316736" y="4828032"/>
            <a:ext cx="2948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316736" y="5138928"/>
            <a:ext cx="2985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Desarrollo de mercado</a:t>
            </a:r>
            <a:endParaRPr lang="es-CL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1316736" y="5559552"/>
            <a:ext cx="29855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Flotas y regiones</a:t>
            </a:r>
            <a:endParaRPr lang="es-CL" sz="2000" dirty="0"/>
          </a:p>
        </p:txBody>
      </p:sp>
      <p:sp>
        <p:nvSpPr>
          <p:cNvPr id="29" name="Shape 27"/>
          <p:cNvSpPr/>
          <p:nvPr/>
        </p:nvSpPr>
        <p:spPr>
          <a:xfrm>
            <a:off x="4850892" y="4681728"/>
            <a:ext cx="3351276" cy="1536192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5052060" y="4828032"/>
            <a:ext cx="2948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DESDE EL AÑO 2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052060" y="5138928"/>
            <a:ext cx="2985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Diversificación</a:t>
            </a:r>
            <a:endParaRPr lang="es-CL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5052060" y="5559552"/>
            <a:ext cx="29855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 y kits para talleres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4805172" y="3566160"/>
            <a:ext cx="-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527048" y="4379976"/>
            <a:ext cx="0" cy="256032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790688" y="4379976"/>
            <a:ext cx="0" cy="256032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531352" y="2395728"/>
            <a:ext cx="3111703" cy="3822192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76488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76488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476488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476488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542471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697919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759952" y="2596896"/>
            <a:ext cx="26545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VENTAJA COMPETITIVA</a:t>
            </a:r>
            <a:endParaRPr lang="es-CL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8759952" y="2962656"/>
            <a:ext cx="27002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biblioteca de calibraciones</a:t>
            </a:r>
            <a:endParaRPr lang="es-CL" sz="2600" dirty="0"/>
          </a:p>
        </p:txBody>
      </p:sp>
      <p:sp>
        <p:nvSpPr>
          <p:cNvPr id="47" name="Text 45"/>
          <p:cNvSpPr txBox="1"/>
          <p:nvPr/>
        </p:nvSpPr>
        <p:spPr>
          <a:xfrm>
            <a:off x="8759952" y="3858768"/>
            <a:ext cx="27002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Sostenible: crece con cada instalación y es lo más difícil de copiar.</a:t>
            </a:r>
            <a:endParaRPr lang="es-CL" sz="2000" dirty="0"/>
          </a:p>
        </p:txBody>
      </p:sp>
      <p:sp>
        <p:nvSpPr>
          <p:cNvPr id="48" name="Shape 46"/>
          <p:cNvSpPr/>
          <p:nvPr/>
        </p:nvSpPr>
        <p:spPr>
          <a:xfrm>
            <a:off x="8759952" y="4882896"/>
            <a:ext cx="2654503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759952" y="5010912"/>
            <a:ext cx="27002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Por eso la red parte en el año 2: se vende mientras es exclusiva.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POSICIONAMIENTO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ESPACIO VACÍO: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ahorrar sin cambiar de auto.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KMcheck (2026); Autofact (2026); Mercado Libre (2026); Abastible (2026); Gasco (s.f.); BioBioChile (2026); elaboración propia (Anexo N° 2).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3154680" y="2852928"/>
            <a:ext cx="8488375" cy="1261872"/>
          </a:xfrm>
          <a:prstGeom prst="rect">
            <a:avLst/>
          </a:prstGeom>
          <a:solidFill>
            <a:srgbClr val="0B1A2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852928"/>
            <a:ext cx="2423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Conserva su auto</a:t>
            </a:r>
            <a:endParaRPr lang="es-CL" sz="2000" dirty="0"/>
          </a:p>
          <a:p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límite de edad</a:t>
            </a:r>
            <a:endParaRPr lang="es-CL" sz="2000" dirty="0"/>
          </a:p>
        </p:txBody>
      </p:sp>
      <p:sp>
        <p:nvSpPr>
          <p:cNvPr id="7" name="Shape 5"/>
          <p:cNvSpPr/>
          <p:nvPr/>
        </p:nvSpPr>
        <p:spPr>
          <a:xfrm>
            <a:off x="3154680" y="4114800"/>
            <a:ext cx="8488375" cy="786384"/>
          </a:xfrm>
          <a:prstGeom prst="rect">
            <a:avLst/>
          </a:prstGeom>
          <a:solidFill>
            <a:schemeClr val="bg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4114800"/>
            <a:ext cx="2423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Conserva su auto</a:t>
            </a:r>
            <a:endParaRPr lang="es-CL" sz="2000" dirty="0"/>
          </a:p>
          <a:p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 límite de edad</a:t>
            </a:r>
            <a:endParaRPr lang="es-CL" sz="2000" dirty="0"/>
          </a:p>
        </p:txBody>
      </p:sp>
      <p:sp>
        <p:nvSpPr>
          <p:cNvPr id="9" name="Shape 7"/>
          <p:cNvSpPr/>
          <p:nvPr/>
        </p:nvSpPr>
        <p:spPr>
          <a:xfrm>
            <a:off x="3154680" y="4901184"/>
            <a:ext cx="8488375" cy="969264"/>
          </a:xfrm>
          <a:prstGeom prst="rect">
            <a:avLst/>
          </a:prstGeom>
          <a:solidFill>
            <a:schemeClr val="bg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4901184"/>
            <a:ext cx="2423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Cambia de auto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4307027" y="2395728"/>
            <a:ext cx="733602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4416755" y="2395728"/>
            <a:ext cx="71165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· LUMINE: PRECIO DE REFERENCIA Y AHORRO SIMULADO</a:t>
            </a:r>
            <a:endParaRPr lang="es-CL" sz="1400" dirty="0"/>
          </a:p>
        </p:txBody>
      </p:sp>
      <p:sp>
        <p:nvSpPr>
          <p:cNvPr id="13" name="Shape 11"/>
          <p:cNvSpPr/>
          <p:nvPr/>
        </p:nvSpPr>
        <p:spPr>
          <a:xfrm>
            <a:off x="3154680" y="5888736"/>
            <a:ext cx="8488375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11880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63240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</a:t>
            </a:r>
            <a:endParaRPr lang="es-CL" sz="1600" dirty="0"/>
          </a:p>
        </p:txBody>
      </p:sp>
      <p:sp>
        <p:nvSpPr>
          <p:cNvPr id="16" name="Shape 14"/>
          <p:cNvSpPr/>
          <p:nvPr/>
        </p:nvSpPr>
        <p:spPr>
          <a:xfrm>
            <a:off x="5449083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00443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 M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8441033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92393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 M</a:t>
            </a:r>
            <a:endParaRPr lang="es-CL" sz="1600" dirty="0"/>
          </a:p>
        </p:txBody>
      </p:sp>
      <p:sp>
        <p:nvSpPr>
          <p:cNvPr id="20" name="Shape 18"/>
          <p:cNvSpPr/>
          <p:nvPr/>
        </p:nvSpPr>
        <p:spPr>
          <a:xfrm>
            <a:off x="9729596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0956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$10 M</a:t>
            </a:r>
            <a:endParaRPr lang="es-CL" sz="1600" dirty="0"/>
          </a:p>
        </p:txBody>
      </p:sp>
      <p:sp>
        <p:nvSpPr>
          <p:cNvPr id="22" name="Shape 20"/>
          <p:cNvSpPr/>
          <p:nvPr/>
        </p:nvSpPr>
        <p:spPr>
          <a:xfrm>
            <a:off x="11018159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469519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$20 M</a:t>
            </a:r>
            <a:endParaRPr lang="es-CL" sz="1600" dirty="0"/>
          </a:p>
        </p:txBody>
      </p:sp>
      <p:sp>
        <p:nvSpPr>
          <p:cNvPr id="24" name="Shape 22"/>
          <p:cNvSpPr/>
          <p:nvPr/>
        </p:nvSpPr>
        <p:spPr>
          <a:xfrm>
            <a:off x="4560413" y="2962656"/>
            <a:ext cx="4558493" cy="1042416"/>
          </a:xfrm>
          <a:prstGeom prst="rect">
            <a:avLst/>
          </a:prstGeom>
          <a:solidFill>
            <a:srgbClr val="0B1A22">
              <a:alpha val="0"/>
            </a:srgbClr>
          </a:solidFill>
          <a:ln w="12700">
            <a:solidFill>
              <a:schemeClr val="accent1"/>
            </a:solidFill>
            <a:prstDash val="sysDot"/>
          </a:ln>
        </p:spPr>
      </p:sp>
      <p:sp>
        <p:nvSpPr>
          <p:cNvPr id="25" name="Text 23"/>
          <p:cNvSpPr txBox="1"/>
          <p:nvPr/>
        </p:nvSpPr>
        <p:spPr>
          <a:xfrm>
            <a:off x="4725005" y="35478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Espacio hoy sin oferta</a:t>
            </a:r>
            <a:endParaRPr lang="es-CL" sz="2000" dirty="0"/>
          </a:p>
        </p:txBody>
      </p:sp>
      <p:sp>
        <p:nvSpPr>
          <p:cNvPr id="26" name="Shape 24"/>
          <p:cNvSpPr/>
          <p:nvPr/>
        </p:nvSpPr>
        <p:spPr>
          <a:xfrm>
            <a:off x="3520440" y="3072384"/>
            <a:ext cx="182880" cy="1828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54680" y="3310128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hacer nada</a:t>
            </a:r>
            <a:endParaRPr lang="es-CL" sz="1600" dirty="0"/>
          </a:p>
        </p:txBody>
      </p:sp>
      <p:sp>
        <p:nvSpPr>
          <p:cNvPr id="28" name="Shape 26"/>
          <p:cNvSpPr/>
          <p:nvPr/>
        </p:nvSpPr>
        <p:spPr>
          <a:xfrm>
            <a:off x="8156325" y="3182112"/>
            <a:ext cx="280987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Shape 27"/>
          <p:cNvSpPr/>
          <p:nvPr/>
        </p:nvSpPr>
        <p:spPr>
          <a:xfrm>
            <a:off x="8046597" y="3127248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Shape 28"/>
          <p:cNvSpPr/>
          <p:nvPr/>
        </p:nvSpPr>
        <p:spPr>
          <a:xfrm>
            <a:off x="8327584" y="3127248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Shape 29"/>
          <p:cNvSpPr/>
          <p:nvPr/>
        </p:nvSpPr>
        <p:spPr>
          <a:xfrm>
            <a:off x="9360675" y="2999232"/>
            <a:ext cx="2145220" cy="969264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05811" y="29443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305811" y="29443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405311" y="29443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560759" y="29443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305811" y="402336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05811" y="38679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405311" y="402336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560759" y="38679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52115" y="3072384"/>
            <a:ext cx="1962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LUMINE</a:t>
            </a:r>
            <a:endParaRPr lang="es-CL" sz="2200" dirty="0"/>
          </a:p>
        </p:txBody>
      </p:sp>
      <p:sp>
        <p:nvSpPr>
          <p:cNvPr id="41" name="Text 39"/>
          <p:cNvSpPr txBox="1"/>
          <p:nvPr/>
        </p:nvSpPr>
        <p:spPr>
          <a:xfrm>
            <a:off x="9452115" y="3456432"/>
            <a:ext cx="1962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$4,3–5,0 M</a:t>
            </a:r>
            <a:endParaRPr lang="es-CL" sz="3000" dirty="0"/>
          </a:p>
        </p:txBody>
      </p:sp>
      <p:sp>
        <p:nvSpPr>
          <p:cNvPr id="42" name="Shape 40"/>
          <p:cNvSpPr/>
          <p:nvPr/>
        </p:nvSpPr>
        <p:spPr>
          <a:xfrm>
            <a:off x="5253217" y="4663440"/>
            <a:ext cx="1288563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161777" y="418795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Gas  </a:t>
            </a:r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$0,9–1,8 M · solo autos de hasta 7 años</a:t>
            </a:r>
            <a:endParaRPr lang="es-CL" sz="2000" dirty="0"/>
          </a:p>
        </p:txBody>
      </p:sp>
      <p:sp>
        <p:nvSpPr>
          <p:cNvPr id="44" name="Shape 42"/>
          <p:cNvSpPr/>
          <p:nvPr/>
        </p:nvSpPr>
        <p:spPr>
          <a:xfrm>
            <a:off x="9634242" y="5129784"/>
            <a:ext cx="583090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5" name="Shape 43"/>
          <p:cNvSpPr/>
          <p:nvPr/>
        </p:nvSpPr>
        <p:spPr>
          <a:xfrm>
            <a:off x="9551946" y="5102352"/>
            <a:ext cx="164592" cy="16459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62242" y="4974336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Híbrido usado  </a:t>
            </a:r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$9,5–13 M</a:t>
            </a:r>
            <a:endParaRPr lang="es-CL" sz="2000" dirty="0"/>
          </a:p>
        </p:txBody>
      </p:sp>
      <p:sp>
        <p:nvSpPr>
          <p:cNvPr id="47" name="Shape 45"/>
          <p:cNvSpPr/>
          <p:nvPr/>
        </p:nvSpPr>
        <p:spPr>
          <a:xfrm>
            <a:off x="10353771" y="5559552"/>
            <a:ext cx="1152124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271475" y="5532120"/>
            <a:ext cx="164592" cy="16459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781771" y="5404104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Eléctrico nuevo  </a:t>
            </a:r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desde $14 M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MIX: PRODUCTO Y PRECIO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PLUS CUESTA 16% MÁS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ahorra 24% más.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elaboración propia (Informe Fase 3, Tablas N° 5 y 6; Anexos N° 2 y 9); Banco Central de Chile (2026), tasa de consumo.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3127248" cy="26700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578608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ESENCIAL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98648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$4.290.000</a:t>
            </a:r>
            <a:endParaRPr lang="es-CL" sz="4400" dirty="0"/>
          </a:p>
        </p:txBody>
      </p:sp>
      <p:sp>
        <p:nvSpPr>
          <p:cNvPr id="8" name="Shape 6"/>
          <p:cNvSpPr/>
          <p:nvPr/>
        </p:nvSpPr>
        <p:spPr>
          <a:xfrm>
            <a:off x="777240" y="3602736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9" name="Text 7"/>
          <p:cNvSpPr txBox="1"/>
          <p:nvPr/>
        </p:nvSpPr>
        <p:spPr>
          <a:xfrm>
            <a:off x="886968" y="3602736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REFERENCIA · CON IVA</a:t>
            </a:r>
            <a:endParaRPr lang="es-CL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4169664"/>
            <a:ext cx="267004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27024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15%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de ahorro</a:t>
            </a:r>
            <a:endParaRPr lang="es-CL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66344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$117.069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al mes</a:t>
            </a:r>
            <a:endParaRPr lang="es-CL" sz="2200" dirty="0"/>
          </a:p>
        </p:txBody>
      </p:sp>
      <p:sp>
        <p:nvSpPr>
          <p:cNvPr id="13" name="Shape 11"/>
          <p:cNvSpPr/>
          <p:nvPr/>
        </p:nvSpPr>
        <p:spPr>
          <a:xfrm>
            <a:off x="3931920" y="2395728"/>
            <a:ext cx="3127248" cy="267004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77056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77056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85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14032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77056" y="512064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77056" y="496519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58584" y="512064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14032" y="496519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60520" y="2578608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PLUS</a:t>
            </a:r>
            <a:endParaRPr lang="es-CL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160520" y="2898648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$4.990.000</a:t>
            </a:r>
            <a:endParaRPr lang="es-CL" sz="4400" dirty="0"/>
          </a:p>
        </p:txBody>
      </p:sp>
      <p:sp>
        <p:nvSpPr>
          <p:cNvPr id="24" name="Shape 22"/>
          <p:cNvSpPr/>
          <p:nvPr/>
        </p:nvSpPr>
        <p:spPr>
          <a:xfrm>
            <a:off x="4160520" y="3602736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25" name="Text 23"/>
          <p:cNvSpPr txBox="1"/>
          <p:nvPr/>
        </p:nvSpPr>
        <p:spPr>
          <a:xfrm>
            <a:off x="4270248" y="3602736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REFERENCIA · CON IVA</a:t>
            </a:r>
            <a:endParaRPr lang="es-CL" sz="1400" dirty="0"/>
          </a:p>
        </p:txBody>
      </p:sp>
      <p:sp>
        <p:nvSpPr>
          <p:cNvPr id="26" name="Shape 24"/>
          <p:cNvSpPr/>
          <p:nvPr/>
        </p:nvSpPr>
        <p:spPr>
          <a:xfrm>
            <a:off x="4160520" y="4169664"/>
            <a:ext cx="267004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60520" y="427024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20%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de ahorro</a:t>
            </a:r>
            <a:endParaRPr lang="es-CL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4160520" y="466344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$145.327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al mes</a:t>
            </a:r>
            <a:endParaRPr lang="es-CL" sz="22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44709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658368" y="5212080"/>
            <a:ext cx="4251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· AHORRO DE UN COLECTIVO</a:t>
            </a:r>
            <a:endParaRPr lang="es-CL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16368" y="2395728"/>
            <a:ext cx="412668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MESES PARA RECUPERAR LA INVERSIÓN</a:t>
            </a:r>
            <a:endParaRPr lang="es-CL" sz="1600" dirty="0"/>
          </a:p>
        </p:txBody>
      </p:sp>
      <p:sp>
        <p:nvSpPr>
          <p:cNvPr id="32" name="Shape 30"/>
          <p:cNvSpPr/>
          <p:nvPr/>
        </p:nvSpPr>
        <p:spPr>
          <a:xfrm>
            <a:off x="7516368" y="3072384"/>
            <a:ext cx="201168" cy="20116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808976" y="2999232"/>
            <a:ext cx="107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Esencial</a:t>
            </a:r>
            <a:endParaRPr lang="es-CL" sz="1600" dirty="0"/>
          </a:p>
        </p:txBody>
      </p:sp>
      <p:sp>
        <p:nvSpPr>
          <p:cNvPr id="34" name="Shape 32"/>
          <p:cNvSpPr/>
          <p:nvPr/>
        </p:nvSpPr>
        <p:spPr>
          <a:xfrm>
            <a:off x="9114536" y="3072384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407144" y="2999232"/>
            <a:ext cx="62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Plus</a:t>
            </a:r>
            <a:endParaRPr lang="es-CL" sz="1600" dirty="0"/>
          </a:p>
        </p:txBody>
      </p:sp>
      <p:graphicFrame>
        <p:nvGraphicFramePr>
          <p:cNvPr id="36" name="Meses para recuperar la inversión por versión" descr=""/>
          <p:cNvGraphicFramePr/>
          <p:nvPr/>
        </p:nvGraphicFramePr>
        <p:xfrm>
          <a:off x="7424928" y="3383280"/>
          <a:ext cx="4218127" cy="21579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7" name="Shape 34"/>
          <p:cNvSpPr/>
          <p:nvPr/>
        </p:nvSpPr>
        <p:spPr>
          <a:xfrm>
            <a:off x="548640" y="5614416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705856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Plus cuesta $700.000 más, </a:t>
            </a:r>
            <a:pPr indent="0" marL="0">
              <a:buNone/>
            </a:pPr>
            <a:r>
              <a:rPr lang="es-CL" altLang="en-US" sz="24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pero cada punto de ahorro sale más barato.</a:t>
            </a:r>
            <a:endParaRPr lang="es-CL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DEMANDA Y PRONÓSTICO DE VENTAS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MÁS DEMANDA QUE CAPACIDAD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desde el año 1.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(2025); Centro UC en Emol (2026); Descubre (2026); Massiani y Gohs (2015); elaboración propia (Tabla N° 10, Anexo N° 4).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SEGMENTO LABORAL · RM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8833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2724912"/>
            <a:ext cx="321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vehículos de colectivos, taxis y aplicaciones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278728" y="2395728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ADOPCIÓN AL AÑO 5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278728" y="268833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11,1%</a:t>
            </a:r>
            <a:endParaRPr lang="es-CL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427568" y="2724912"/>
            <a:ext cx="321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segmento: bajo el 16% de los primeros adoptantes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10156647" y="2340864"/>
            <a:ext cx="14864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10266375" y="2340864"/>
            <a:ext cx="126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</a:t>
            </a:r>
            <a:endParaRPr lang="es-CL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1071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204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VEHÍCULOS POR AÑO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3246120" y="3593592"/>
            <a:ext cx="201168" cy="201168"/>
          </a:xfrm>
          <a:prstGeom prst="rect">
            <a:avLst/>
          </a:prstGeom>
          <a:solidFill>
            <a:srgbClr val="2E343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38728" y="3520440"/>
            <a:ext cx="208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Demanda atendible</a:t>
            </a:r>
            <a:endParaRPr lang="es-CL" sz="1600" dirty="0"/>
          </a:p>
        </p:txBody>
      </p:sp>
      <p:sp>
        <p:nvSpPr>
          <p:cNvPr id="17" name="Shape 15"/>
          <p:cNvSpPr/>
          <p:nvPr/>
        </p:nvSpPr>
        <p:spPr>
          <a:xfrm>
            <a:off x="5850128" y="3593592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42736" y="3520440"/>
            <a:ext cx="252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Instalaciones propias</a:t>
            </a:r>
            <a:endParaRPr lang="es-CL" sz="1600" dirty="0"/>
          </a:p>
        </p:txBody>
      </p:sp>
      <p:sp>
        <p:nvSpPr>
          <p:cNvPr id="19" name="Shape 17"/>
          <p:cNvSpPr/>
          <p:nvPr/>
        </p:nvSpPr>
        <p:spPr>
          <a:xfrm>
            <a:off x="8901176" y="3593592"/>
            <a:ext cx="201168" cy="201168"/>
          </a:xfrm>
          <a:prstGeom prst="rect">
            <a:avLst/>
          </a:prstGeom>
          <a:solidFill>
            <a:srgbClr val="0A6F9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93784" y="3520440"/>
            <a:ext cx="163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Kits a la red</a:t>
            </a:r>
            <a:endParaRPr lang="es-CL" sz="1600" dirty="0"/>
          </a:p>
        </p:txBody>
      </p:sp>
      <p:graphicFrame>
        <p:nvGraphicFramePr>
          <p:cNvPr id="21" name="Pronóstico de ventas por año" descr=""/>
          <p:cNvGraphicFramePr/>
          <p:nvPr/>
        </p:nvGraphicFramePr>
        <p:xfrm>
          <a:off x="457200" y="3904488"/>
          <a:ext cx="11277295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48640" y="592531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límite es físico: </a:t>
            </a:r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 y espacio. Lo demás lo atiende la red.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PRESUPUESTO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$80,9 MILLONES EL PRIMER AÑO: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6,8% de los ingresos.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11). Montos netos de IVA.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MILLONES DE PESOS NETOS POR AÑO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16352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743200"/>
            <a:ext cx="185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Clientes piloto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2810256" y="2816352"/>
            <a:ext cx="201168" cy="201168"/>
          </a:xfrm>
          <a:prstGeom prst="rect">
            <a:avLst/>
          </a:prstGeom>
          <a:solidFill>
            <a:srgbClr val="0A6F9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102864" y="2743200"/>
            <a:ext cx="163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Pauta digital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4848352" y="2816352"/>
            <a:ext cx="201168" cy="20116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40960" y="2743200"/>
            <a:ext cx="130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Comisiones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6551168" y="2816352"/>
            <a:ext cx="201168" cy="201168"/>
          </a:xfrm>
          <a:prstGeom prst="rect">
            <a:avLst/>
          </a:prstGeom>
          <a:solidFill>
            <a:srgbClr val="2E343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43776" y="2743200"/>
            <a:ext cx="74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Otras</a:t>
            </a:r>
            <a:endParaRPr lang="es-CL" sz="1600" dirty="0"/>
          </a:p>
        </p:txBody>
      </p:sp>
      <p:graphicFrame>
        <p:nvGraphicFramePr>
          <p:cNvPr id="14" name="Presupuesto de marketing por partida" descr=""/>
          <p:cNvGraphicFramePr/>
          <p:nvPr/>
        </p:nvGraphicFramePr>
        <p:xfrm>
          <a:off x="457200" y="3127248"/>
          <a:ext cx="75438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8385048" y="2395728"/>
            <a:ext cx="3258007" cy="38404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330184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330184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13648" y="2596896"/>
            <a:ext cx="28008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 CINCO AÑOS</a:t>
            </a:r>
            <a:endParaRPr lang="es-CL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613648" y="2907792"/>
            <a:ext cx="2800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$575 M</a:t>
            </a:r>
            <a:endParaRPr lang="es-CL" sz="4800" dirty="0"/>
          </a:p>
        </p:txBody>
      </p:sp>
      <p:sp>
        <p:nvSpPr>
          <p:cNvPr id="26" name="Shape 23"/>
          <p:cNvSpPr/>
          <p:nvPr/>
        </p:nvSpPr>
        <p:spPr>
          <a:xfrm>
            <a:off x="8613648" y="3767328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13648" y="3895344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% DE LOS INGRESOS PROPIOS</a:t>
            </a:r>
            <a:endParaRPr lang="es-CL" sz="1600" dirty="0"/>
          </a:p>
        </p:txBody>
      </p:sp>
      <p:sp>
        <p:nvSpPr>
          <p:cNvPr id="28" name="Shape 25"/>
          <p:cNvSpPr/>
          <p:nvPr/>
        </p:nvSpPr>
        <p:spPr>
          <a:xfrm>
            <a:off x="8613648" y="4517136"/>
            <a:ext cx="2800807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613648" y="451713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1</a:t>
            </a:r>
            <a:endParaRPr lang="es-CL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9848088" y="4517136"/>
            <a:ext cx="15663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6,8%</a:t>
            </a:r>
            <a:endParaRPr lang="es-CL" sz="3200" dirty="0"/>
          </a:p>
        </p:txBody>
      </p:sp>
      <p:sp>
        <p:nvSpPr>
          <p:cNvPr id="31" name="Shape 28"/>
          <p:cNvSpPr/>
          <p:nvPr/>
        </p:nvSpPr>
        <p:spPr>
          <a:xfrm>
            <a:off x="8613648" y="5065776"/>
            <a:ext cx="2800807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13648" y="50657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2</a:t>
            </a:r>
            <a:endParaRPr lang="es-CL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9848088" y="5065776"/>
            <a:ext cx="15663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2,3%</a:t>
            </a:r>
            <a:endParaRPr lang="es-CL" sz="3200" dirty="0"/>
          </a:p>
        </p:txBody>
      </p:sp>
      <p:sp>
        <p:nvSpPr>
          <p:cNvPr id="34" name="Shape 31"/>
          <p:cNvSpPr/>
          <p:nvPr/>
        </p:nvSpPr>
        <p:spPr>
          <a:xfrm>
            <a:off x="8613648" y="5614416"/>
            <a:ext cx="2800807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13648" y="561441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5</a:t>
            </a:r>
            <a:endParaRPr lang="es-CL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9848088" y="5614416"/>
            <a:ext cx="15663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1,5%</a:t>
            </a:r>
            <a:endParaRPr lang="es-CL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ESTRUCTURA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CRECE EL NÚMERO DE PERSONAS,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la estructura.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(2021); elaboración propia (Informe Fase 3, Figura N° 3 y Tabla N° 12).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ORGANIGRAMA · PERSONAS AL ABRIR Y AL AÑO 5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4358488" y="2798064"/>
            <a:ext cx="3474720" cy="603504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03624" y="27432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03624" y="27432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32624" y="27432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88072" y="27432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3624" y="34564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3624" y="33009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32624" y="34564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8072" y="33009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58488" y="2798064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 General</a:t>
            </a:r>
            <a:endParaRPr lang="es-CL" sz="2200" dirty="0"/>
          </a:p>
        </p:txBody>
      </p:sp>
      <p:sp>
        <p:nvSpPr>
          <p:cNvPr id="16" name="Shape 14"/>
          <p:cNvSpPr/>
          <p:nvPr/>
        </p:nvSpPr>
        <p:spPr>
          <a:xfrm>
            <a:off x="6095848" y="3401568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4930" y="3602736"/>
            <a:ext cx="9021836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4930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03904"/>
            <a:ext cx="2072579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Responsable Técnico</a:t>
            </a:r>
            <a:endParaRPr lang="es-CL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33954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22" name="Shape 20"/>
          <p:cNvSpPr/>
          <p:nvPr/>
        </p:nvSpPr>
        <p:spPr>
          <a:xfrm>
            <a:off x="1420338" y="479145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1804386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3000" dirty="0"/>
          </a:p>
        </p:txBody>
      </p:sp>
      <p:sp>
        <p:nvSpPr>
          <p:cNvPr id="24" name="Shape 22"/>
          <p:cNvSpPr/>
          <p:nvPr/>
        </p:nvSpPr>
        <p:spPr>
          <a:xfrm>
            <a:off x="3840389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04099" y="3803904"/>
            <a:ext cx="2072579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895539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2889413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28" name="Shape 26"/>
          <p:cNvSpPr/>
          <p:nvPr/>
        </p:nvSpPr>
        <p:spPr>
          <a:xfrm>
            <a:off x="3675797" y="479145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059845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3000" dirty="0"/>
          </a:p>
        </p:txBody>
      </p:sp>
      <p:sp>
        <p:nvSpPr>
          <p:cNvPr id="30" name="Shape 28"/>
          <p:cNvSpPr/>
          <p:nvPr/>
        </p:nvSpPr>
        <p:spPr>
          <a:xfrm>
            <a:off x="6095848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59558" y="3803904"/>
            <a:ext cx="2072579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50998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y Postventa</a:t>
            </a:r>
            <a:endParaRPr lang="es-CL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5144872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34" name="Shape 32"/>
          <p:cNvSpPr/>
          <p:nvPr/>
        </p:nvSpPr>
        <p:spPr>
          <a:xfrm>
            <a:off x="5931256" y="479145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6315304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3000" dirty="0"/>
          </a:p>
        </p:txBody>
      </p:sp>
      <p:sp>
        <p:nvSpPr>
          <p:cNvPr id="36" name="Shape 34"/>
          <p:cNvSpPr/>
          <p:nvPr/>
        </p:nvSpPr>
        <p:spPr>
          <a:xfrm>
            <a:off x="8351307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15017" y="3803904"/>
            <a:ext cx="2072579" cy="1325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7406457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de Empresas</a:t>
            </a:r>
            <a:endParaRPr lang="es-CL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7400331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</a:t>
            </a:r>
            <a:endParaRPr lang="es-CL" sz="3000" dirty="0"/>
          </a:p>
        </p:txBody>
      </p:sp>
      <p:sp>
        <p:nvSpPr>
          <p:cNvPr id="40" name="Shape 38"/>
          <p:cNvSpPr/>
          <p:nvPr/>
        </p:nvSpPr>
        <p:spPr>
          <a:xfrm>
            <a:off x="8186715" y="479145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8570763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3000" dirty="0"/>
          </a:p>
        </p:txBody>
      </p:sp>
      <p:sp>
        <p:nvSpPr>
          <p:cNvPr id="42" name="Shape 40"/>
          <p:cNvSpPr/>
          <p:nvPr/>
        </p:nvSpPr>
        <p:spPr>
          <a:xfrm>
            <a:off x="10606766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570476" y="3803904"/>
            <a:ext cx="2072579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661916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Administración</a:t>
            </a:r>
            <a:endParaRPr lang="es-CL" sz="2000" dirty="0"/>
          </a:p>
        </p:txBody>
      </p:sp>
      <p:sp>
        <p:nvSpPr>
          <p:cNvPr id="45" name="Text 43"/>
          <p:cNvSpPr txBox="1"/>
          <p:nvPr/>
        </p:nvSpPr>
        <p:spPr>
          <a:xfrm>
            <a:off x="9570476" y="4553712"/>
            <a:ext cx="207257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46" name="Shape 44"/>
          <p:cNvSpPr/>
          <p:nvPr/>
        </p:nvSpPr>
        <p:spPr>
          <a:xfrm>
            <a:off x="1584930" y="5129784"/>
            <a:ext cx="0" cy="23774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48640" y="5367528"/>
            <a:ext cx="4328038" cy="6217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31520" y="536752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</a:t>
            </a:r>
            <a:endParaRPr lang="es-CL" sz="2200" dirty="0"/>
          </a:p>
        </p:txBody>
      </p:sp>
      <p:sp>
        <p:nvSpPr>
          <p:cNvPr id="49" name="Text 47"/>
          <p:cNvSpPr txBox="1"/>
          <p:nvPr/>
        </p:nvSpPr>
        <p:spPr>
          <a:xfrm>
            <a:off x="2691262" y="542239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6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3600" dirty="0"/>
          </a:p>
        </p:txBody>
      </p:sp>
      <p:sp>
        <p:nvSpPr>
          <p:cNvPr id="50" name="Shape 48"/>
          <p:cNvSpPr/>
          <p:nvPr/>
        </p:nvSpPr>
        <p:spPr>
          <a:xfrm>
            <a:off x="3569086" y="5678424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3953134" y="542239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</a:t>
            </a:r>
            <a:endParaRPr lang="es-CL" sz="3600" dirty="0"/>
          </a:p>
        </p:txBody>
      </p:sp>
      <p:sp>
        <p:nvSpPr>
          <p:cNvPr id="52" name="Shape 50"/>
          <p:cNvSpPr/>
          <p:nvPr/>
        </p:nvSpPr>
        <p:spPr>
          <a:xfrm>
            <a:off x="5242438" y="5513832"/>
            <a:ext cx="548640" cy="36576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5928238" y="5367528"/>
            <a:ext cx="571481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Punteado: se suma después de abrir.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DOTACIÓN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DE 13 A 56 PERSONAS EN CINCO AÑOS;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casi dos de cada tres son técnicos.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(2021); elaboración propia (Informe Fase 3, Figura N° 3 y Tabla N° 12).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PERSONAS AL CIERRE DE CADA AÑO</a:t>
            </a:r>
            <a:endParaRPr lang="es-CL" sz="1600" dirty="0"/>
          </a:p>
        </p:txBody>
      </p:sp>
      <p:graphicFrame>
        <p:nvGraphicFramePr>
          <p:cNvPr id="6" name="Dotación al cierre de cada año" descr=""/>
          <p:cNvGraphicFramePr/>
          <p:nvPr/>
        </p:nvGraphicFramePr>
        <p:xfrm>
          <a:off x="457200" y="2761488"/>
          <a:ext cx="7772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641080" y="2395728"/>
            <a:ext cx="3001975" cy="214884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586216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586216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586216" y="45994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86216" y="44439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42471" y="45994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697919" y="44439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869680" y="2596896"/>
            <a:ext cx="2544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TÉCNICOS AL AÑO 5</a:t>
            </a:r>
            <a:endParaRPr lang="es-CL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2944368"/>
            <a:ext cx="2544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</a:t>
            </a:r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  de 56</a:t>
            </a:r>
            <a:endParaRPr lang="es-CL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869680" y="3767328"/>
            <a:ext cx="2544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personas del equipo</a:t>
            </a:r>
            <a:endParaRPr lang="es-CL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641080" y="4773168"/>
            <a:ext cx="3001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Nadie se contrata antes de que la carga lo justifique.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POLÍTICA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TÉCNICOS FORMADOS EN CASA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 Lumine Habilita.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Ley N° 21.735; Ley N° 16.744; Ley N° 19.728; elaboración propia (Informe Fase 3, Tablas N° 14 a 16 y Anexo N° 7).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LUMINE HABILITA · RENTA BRUTA MENSUAL POR NIVEL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4069080"/>
            <a:ext cx="1844802" cy="1600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4251960"/>
            <a:ext cx="658368" cy="42062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4251960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N1</a:t>
            </a:r>
            <a:endParaRPr lang="es-C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4782312"/>
            <a:ext cx="15704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Aprende</a:t>
            </a:r>
            <a:endParaRPr lang="es-CL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5029200"/>
            <a:ext cx="15704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$750 mil</a:t>
            </a:r>
            <a:endParaRPr lang="es-CL" sz="3200" dirty="0"/>
          </a:p>
        </p:txBody>
      </p:sp>
      <p:sp>
        <p:nvSpPr>
          <p:cNvPr id="11" name="Shape 9"/>
          <p:cNvSpPr/>
          <p:nvPr/>
        </p:nvSpPr>
        <p:spPr>
          <a:xfrm>
            <a:off x="2539746" y="3611880"/>
            <a:ext cx="1844802" cy="20574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04338" y="3794760"/>
            <a:ext cx="658368" cy="42062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704338" y="3794760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N2</a:t>
            </a:r>
            <a:endParaRPr lang="es-CL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2704338" y="4325112"/>
            <a:ext cx="15704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Instala</a:t>
            </a:r>
            <a:endParaRPr lang="es-CL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2704338" y="5029200"/>
            <a:ext cx="15704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 mil</a:t>
            </a:r>
            <a:endParaRPr lang="es-CL" sz="3200" dirty="0"/>
          </a:p>
        </p:txBody>
      </p:sp>
      <p:sp>
        <p:nvSpPr>
          <p:cNvPr id="16" name="Shape 14"/>
          <p:cNvSpPr/>
          <p:nvPr/>
        </p:nvSpPr>
        <p:spPr>
          <a:xfrm>
            <a:off x="4530852" y="3154680"/>
            <a:ext cx="1844802" cy="25146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95444" y="3337560"/>
            <a:ext cx="658368" cy="42062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95444" y="3337560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N3</a:t>
            </a:r>
            <a:endParaRPr lang="es-CL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4695444" y="3867912"/>
            <a:ext cx="15704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Autónomo</a:t>
            </a:r>
            <a:endParaRPr lang="es-CL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4695444" y="5029200"/>
            <a:ext cx="15704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$1,0 M</a:t>
            </a:r>
            <a:endParaRPr lang="es-CL" sz="3200" dirty="0"/>
          </a:p>
        </p:txBody>
      </p:sp>
      <p:sp>
        <p:nvSpPr>
          <p:cNvPr id="21" name="Shape 19"/>
          <p:cNvSpPr/>
          <p:nvPr/>
        </p:nvSpPr>
        <p:spPr>
          <a:xfrm>
            <a:off x="6521958" y="2697480"/>
            <a:ext cx="1844802" cy="29718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67094" y="26426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67094" y="2642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66176" y="26426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21624" y="2642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7094" y="57241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67094" y="55686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66176" y="57241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21624" y="55686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86550" y="2880360"/>
            <a:ext cx="658368" cy="42062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686550" y="2880360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N4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6686550" y="3410712"/>
            <a:ext cx="15704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Forma</a:t>
            </a:r>
            <a:endParaRPr lang="es-CL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6686550" y="5029200"/>
            <a:ext cx="15704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$1,15 M</a:t>
            </a:r>
            <a:endParaRPr lang="es-CL" sz="3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797296"/>
            <a:ext cx="7818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N1 al N4 en unos ocho meses, con bono por nivel.</a:t>
            </a:r>
            <a:endParaRPr lang="es-CL" sz="2200" dirty="0"/>
          </a:p>
        </p:txBody>
      </p:sp>
      <p:sp>
        <p:nvSpPr>
          <p:cNvPr id="35" name="Shape 33"/>
          <p:cNvSpPr/>
          <p:nvPr/>
        </p:nvSpPr>
        <p:spPr>
          <a:xfrm>
            <a:off x="8778240" y="2779776"/>
            <a:ext cx="28648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778240" y="2852928"/>
            <a:ext cx="2864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39</a:t>
            </a:r>
            <a:endParaRPr lang="es-CL" sz="4800" dirty="0"/>
          </a:p>
        </p:txBody>
      </p:sp>
      <p:sp>
        <p:nvSpPr>
          <p:cNvPr id="37" name="Text 35"/>
          <p:cNvSpPr txBox="1"/>
          <p:nvPr/>
        </p:nvSpPr>
        <p:spPr>
          <a:xfrm>
            <a:off x="8778240" y="3493008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competencias</a:t>
            </a:r>
            <a:endParaRPr lang="es-CL" sz="2000" dirty="0"/>
          </a:p>
        </p:txBody>
      </p:sp>
      <p:sp>
        <p:nvSpPr>
          <p:cNvPr id="38" name="Shape 36"/>
          <p:cNvSpPr/>
          <p:nvPr/>
        </p:nvSpPr>
        <p:spPr>
          <a:xfrm>
            <a:off x="8778240" y="3931920"/>
            <a:ext cx="28648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778240" y="4005072"/>
            <a:ext cx="2864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4800" dirty="0"/>
          </a:p>
        </p:txBody>
      </p:sp>
      <p:sp>
        <p:nvSpPr>
          <p:cNvPr id="40" name="Text 38"/>
          <p:cNvSpPr txBox="1"/>
          <p:nvPr/>
        </p:nvSpPr>
        <p:spPr>
          <a:xfrm>
            <a:off x="8778240" y="4645152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niveles</a:t>
            </a:r>
            <a:endParaRPr lang="es-CL" sz="2000" dirty="0"/>
          </a:p>
        </p:txBody>
      </p:sp>
      <p:sp>
        <p:nvSpPr>
          <p:cNvPr id="41" name="Shape 39"/>
          <p:cNvSpPr/>
          <p:nvPr/>
        </p:nvSpPr>
        <p:spPr>
          <a:xfrm>
            <a:off x="8778240" y="5084064"/>
            <a:ext cx="28648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78240" y="5157216"/>
            <a:ext cx="2864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392</a:t>
            </a:r>
            <a:endParaRPr lang="es-CL" sz="4800" dirty="0"/>
          </a:p>
        </p:txBody>
      </p:sp>
      <p:sp>
        <p:nvSpPr>
          <p:cNvPr id="43" name="Text 41"/>
          <p:cNvSpPr txBox="1"/>
          <p:nvPr/>
        </p:nvSpPr>
        <p:spPr>
          <a:xfrm>
            <a:off x="8778240" y="5797296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horas de formación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PRESUPUESTO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NÓMINA POR INSTALACIÓN: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costo a la mitad.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Ley N° 21.735; Ley N° 16.744; Ley N° 19.728; elaboración propia (Informe Fase 3, Tablas N° 14 a 16 y Anexo N° 7).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NÓMINA POR INSTALACIÓN · MILES DE $</a:t>
            </a:r>
            <a:endParaRPr lang="es-CL" sz="1600" dirty="0"/>
          </a:p>
        </p:txBody>
      </p:sp>
      <p:graphicFrame>
        <p:nvGraphicFramePr>
          <p:cNvPr id="6" name="Costo de nómina por instalación propia" descr=""/>
          <p:cNvGraphicFramePr/>
          <p:nvPr/>
        </p:nvGraphicFramePr>
        <p:xfrm>
          <a:off x="457200" y="2761488"/>
          <a:ext cx="754380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852160"/>
            <a:ext cx="315772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8" name="Text 5"/>
          <p:cNvSpPr txBox="1"/>
          <p:nvPr/>
        </p:nvSpPr>
        <p:spPr>
          <a:xfrm>
            <a:off x="658368" y="5852160"/>
            <a:ext cx="2938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SUPUESTO · SIN REAJUSTES</a:t>
            </a:r>
            <a:endParaRPr lang="es-CL" sz="1400" dirty="0"/>
          </a:p>
        </p:txBody>
      </p:sp>
      <p:sp>
        <p:nvSpPr>
          <p:cNvPr id="9" name="Shape 6"/>
          <p:cNvSpPr/>
          <p:nvPr/>
        </p:nvSpPr>
        <p:spPr>
          <a:xfrm>
            <a:off x="8385048" y="2395728"/>
            <a:ext cx="3258007" cy="22860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0184" y="47365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330184" y="45811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542471" y="47365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697919" y="45811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13648" y="257860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NÓMINA TOTAL</a:t>
            </a:r>
            <a:endParaRPr lang="es-CL" sz="1600" dirty="0"/>
          </a:p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MILLONES DE $</a:t>
            </a:r>
            <a:endParaRPr lang="es-CL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514436" y="3236976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4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152</a:t>
            </a:r>
            <a:endParaRPr lang="es-CL" sz="4400" dirty="0"/>
          </a:p>
        </p:txBody>
      </p:sp>
      <p:sp>
        <p:nvSpPr>
          <p:cNvPr id="20" name="Shape 17"/>
          <p:cNvSpPr/>
          <p:nvPr/>
        </p:nvSpPr>
        <p:spPr>
          <a:xfrm>
            <a:off x="9849460" y="360273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10233508" y="3236976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755</a:t>
            </a:r>
            <a:endParaRPr lang="es-CL" sz="4400" dirty="0"/>
          </a:p>
        </p:txBody>
      </p:sp>
      <p:sp>
        <p:nvSpPr>
          <p:cNvPr id="22" name="Text 19"/>
          <p:cNvSpPr txBox="1"/>
          <p:nvPr/>
        </p:nvSpPr>
        <p:spPr>
          <a:xfrm>
            <a:off x="8613648" y="4078224"/>
            <a:ext cx="28008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año 1 al año 5</a:t>
            </a:r>
            <a:endParaRPr lang="es-CL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385048" y="4956048"/>
            <a:ext cx="325800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Los cargos fijos se reparten en más autos.</a:t>
            </a:r>
            <a:endParaRPr lang="es-CL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FLUJO OPERACIONAL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NEGOCIO MIDE Y RECOMIENDA;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cliente decide.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(2021), arts. 11 a 18; elaboración propia (Informe Fase 3, Figura N° 4 y Tabla N° 17).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832104" y="2761488"/>
            <a:ext cx="0" cy="29260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569464"/>
            <a:ext cx="566928" cy="38404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56946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39572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CAPTACIÓN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239572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Cotiza en la web</a:t>
            </a:r>
            <a:endParaRPr lang="es-CL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452360" y="2395728"/>
            <a:ext cx="4190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estimador da ahorro y plazo.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1417320" y="3127248"/>
            <a:ext cx="102257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300984"/>
            <a:ext cx="566928" cy="38404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30098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12724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ASESORÍA</a:t>
            </a:r>
            <a:endParaRPr lang="es-CL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312724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cliente decide</a:t>
            </a:r>
            <a:endParaRPr lang="es-CL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7452360" y="3127248"/>
            <a:ext cx="4190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Puede medir una semana antes.</a:t>
            </a:r>
            <a:endParaRPr lang="es-CL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3895344"/>
            <a:ext cx="11277295" cy="65836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384048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336" y="384048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33911" y="384048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89359" y="384048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2336" y="460857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2336" y="445312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633911" y="460857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789359" y="445312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032504"/>
            <a:ext cx="566928" cy="38404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403250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385876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TALLER</a:t>
            </a:r>
            <a:endParaRPr lang="es-CL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4297680" y="38587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Una jornada</a:t>
            </a:r>
            <a:endParaRPr lang="es-CL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452360" y="3858768"/>
            <a:ext cx="4190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8,4 horas y cuatro controles.</a:t>
            </a:r>
            <a:endParaRPr lang="es-CL" sz="2000" dirty="0"/>
          </a:p>
        </p:txBody>
      </p:sp>
      <p:sp>
        <p:nvSpPr>
          <p:cNvPr id="31" name="Shape 29"/>
          <p:cNvSpPr/>
          <p:nvPr/>
        </p:nvSpPr>
        <p:spPr>
          <a:xfrm>
            <a:off x="1417320" y="4590288"/>
            <a:ext cx="102257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764024"/>
            <a:ext cx="566928" cy="38404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476402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s-CL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1417320" y="459028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CERTIFICACIÓN</a:t>
            </a:r>
            <a:endParaRPr lang="es-CL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4297680" y="459028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 certificado</a:t>
            </a:r>
            <a:endParaRPr lang="es-CL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7452360" y="4590288"/>
            <a:ext cx="4190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Firma del Responsable Técnico.</a:t>
            </a:r>
            <a:endParaRPr lang="es-CL" sz="2000" dirty="0"/>
          </a:p>
        </p:txBody>
      </p:sp>
      <p:sp>
        <p:nvSpPr>
          <p:cNvPr id="37" name="Shape 35"/>
          <p:cNvSpPr/>
          <p:nvPr/>
        </p:nvSpPr>
        <p:spPr>
          <a:xfrm>
            <a:off x="1417320" y="5321808"/>
            <a:ext cx="102257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5495544"/>
            <a:ext cx="566928" cy="38404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48640" y="549554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s-CL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1417320" y="532180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POSTVENTA</a:t>
            </a:r>
            <a:endParaRPr lang="es-CL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4297680" y="532180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Ahorro medido</a:t>
            </a:r>
            <a:endParaRPr lang="es-CL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7452360" y="5321808"/>
            <a:ext cx="4190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Informe a los tres meses.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PUNTOS DE CONTROL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UNA JORNADA DE 8,4 HORAS,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cuatro controles.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(2021), arts. 11 a 18; elaboración propia (Informe Fase 3, Figura N° 4, Tabla N° 17 y Anexo N° 8). Tiempos estimados.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8,4 h</a:t>
            </a:r>
            <a:endParaRPr lang="es-CL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2926080" y="2395728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 vehículo por jornada</a:t>
            </a:r>
            <a:endParaRPr lang="es-CL" sz="2200" dirty="0"/>
          </a:p>
          <a:p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Dúo con un técnico de nivel 3.</a:t>
            </a:r>
            <a:endParaRPr lang="es-CL" sz="2200" dirty="0"/>
          </a:p>
        </p:txBody>
      </p:sp>
      <p:sp>
        <p:nvSpPr>
          <p:cNvPr id="7" name="Shape 5"/>
          <p:cNvSpPr/>
          <p:nvPr/>
        </p:nvSpPr>
        <p:spPr>
          <a:xfrm>
            <a:off x="8962847" y="2615184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9072575" y="2615184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· TIEMPOS</a:t>
            </a:r>
            <a:endParaRPr lang="es-CL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52958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CUATRO CONTROLES · SI FALLA, SE DETIENE</a:t>
            </a:r>
            <a:endParaRPr lang="es-CL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2622728" cy="10515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4114800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114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498848"/>
            <a:ext cx="2302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¿Vehículo apto?</a:t>
            </a:r>
            <a:endParaRPr lang="es-CL" sz="2400" dirty="0"/>
          </a:p>
        </p:txBody>
      </p:sp>
      <p:sp>
        <p:nvSpPr>
          <p:cNvPr id="15" name="Shape 13"/>
          <p:cNvSpPr/>
          <p:nvPr/>
        </p:nvSpPr>
        <p:spPr>
          <a:xfrm>
            <a:off x="3198800" y="445770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372536" y="3931920"/>
            <a:ext cx="2622728" cy="10515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55416" y="4114800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55416" y="4114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555416" y="4498848"/>
            <a:ext cx="2302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¿Masa y ejes?</a:t>
            </a:r>
            <a:endParaRPr lang="es-CL" sz="2400" dirty="0"/>
          </a:p>
        </p:txBody>
      </p:sp>
      <p:sp>
        <p:nvSpPr>
          <p:cNvPr id="20" name="Shape 18"/>
          <p:cNvSpPr/>
          <p:nvPr/>
        </p:nvSpPr>
        <p:spPr>
          <a:xfrm>
            <a:off x="6022696" y="445770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96432" y="3931920"/>
            <a:ext cx="2622728" cy="10515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9312" y="4114800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79312" y="4114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379312" y="4498848"/>
            <a:ext cx="2302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¿Aislación?</a:t>
            </a:r>
            <a:endParaRPr lang="es-CL" sz="2400" dirty="0"/>
          </a:p>
        </p:txBody>
      </p:sp>
      <p:sp>
        <p:nvSpPr>
          <p:cNvPr id="25" name="Shape 23"/>
          <p:cNvSpPr/>
          <p:nvPr/>
        </p:nvSpPr>
        <p:spPr>
          <a:xfrm>
            <a:off x="8846591" y="445770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020327" y="3931920"/>
            <a:ext cx="2622728" cy="10515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03207" y="4114800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203207" y="4114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s-CL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203207" y="4498848"/>
            <a:ext cx="2302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¿Dinamómetro?</a:t>
            </a:r>
            <a:endParaRPr lang="es-CL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2578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límite de capacidad son las horas de los dúos.</a:t>
            </a:r>
            <a:endParaRPr lang="es-CL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69671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 dinamómetro por local basta, incluso con seis dúos.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CRONOGRAMA DE IMPLEMENTACIÓN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ABRIR EN ENERO DE 2027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depende de un reglamento.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Figura N° 5). Mes 1 = enero de 2027 (supuesto).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37560" y="23957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239572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 · 2027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2743200"/>
            <a:ext cx="0" cy="298094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0" y="2395728"/>
            <a:ext cx="1196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1600" dirty="0"/>
          </a:p>
        </p:txBody>
      </p:sp>
      <p:sp>
        <p:nvSpPr>
          <p:cNvPr id="9" name="Shape 7"/>
          <p:cNvSpPr/>
          <p:nvPr/>
        </p:nvSpPr>
        <p:spPr>
          <a:xfrm>
            <a:off x="6858000" y="2743200"/>
            <a:ext cx="0" cy="298094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54264" y="2395728"/>
            <a:ext cx="1196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1600" dirty="0"/>
          </a:p>
        </p:txBody>
      </p:sp>
      <p:sp>
        <p:nvSpPr>
          <p:cNvPr id="11" name="Shape 9"/>
          <p:cNvSpPr/>
          <p:nvPr/>
        </p:nvSpPr>
        <p:spPr>
          <a:xfrm>
            <a:off x="8054264" y="2743200"/>
            <a:ext cx="0" cy="298094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50528" y="2395728"/>
            <a:ext cx="1196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4</a:t>
            </a:r>
            <a:endParaRPr lang="es-CL" sz="1600" dirty="0"/>
          </a:p>
        </p:txBody>
      </p:sp>
      <p:sp>
        <p:nvSpPr>
          <p:cNvPr id="13" name="Shape 11"/>
          <p:cNvSpPr/>
          <p:nvPr/>
        </p:nvSpPr>
        <p:spPr>
          <a:xfrm>
            <a:off x="9250528" y="2743200"/>
            <a:ext cx="0" cy="298094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46791" y="2395728"/>
            <a:ext cx="1196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5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10446791" y="2743200"/>
            <a:ext cx="0" cy="298094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81635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Permisos, homologación y primer dúo</a:t>
            </a:r>
            <a:endParaRPr lang="es-CL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338328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38328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b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Reglamento Ley 21.793</a:t>
            </a:r>
            <a:endParaRPr lang="es-CL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395020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95020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Talleres propios</a:t>
            </a:r>
            <a:endParaRPr lang="es-CL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51713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51713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Dúos del taller 1</a:t>
            </a:r>
            <a:endParaRPr lang="es-CL" sz="1800" dirty="0"/>
          </a:p>
        </p:txBody>
      </p:sp>
      <p:sp>
        <p:nvSpPr>
          <p:cNvPr id="23" name="Shape 21"/>
          <p:cNvSpPr/>
          <p:nvPr/>
        </p:nvSpPr>
        <p:spPr>
          <a:xfrm>
            <a:off x="548640" y="508406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508406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Red de talleres</a:t>
            </a:r>
            <a:endParaRPr lang="es-CL" sz="1800" dirty="0"/>
          </a:p>
        </p:txBody>
      </p:sp>
      <p:sp>
        <p:nvSpPr>
          <p:cNvPr id="25" name="Shape 23"/>
          <p:cNvSpPr/>
          <p:nvPr/>
        </p:nvSpPr>
        <p:spPr>
          <a:xfrm>
            <a:off x="3337560" y="2907792"/>
            <a:ext cx="1325880" cy="38404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Shape 24"/>
          <p:cNvSpPr/>
          <p:nvPr/>
        </p:nvSpPr>
        <p:spPr>
          <a:xfrm>
            <a:off x="4149090" y="3483864"/>
            <a:ext cx="365760" cy="365760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24578" y="338328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debe estar vigente antes de vender</a:t>
            </a:r>
            <a:endParaRPr lang="es-CL" sz="2000" dirty="0"/>
          </a:p>
        </p:txBody>
      </p:sp>
      <p:sp>
        <p:nvSpPr>
          <p:cNvPr id="28" name="Shape 26"/>
          <p:cNvSpPr/>
          <p:nvPr/>
        </p:nvSpPr>
        <p:spPr>
          <a:xfrm>
            <a:off x="4526280" y="4096512"/>
            <a:ext cx="274320" cy="274320"/>
          </a:xfrm>
          <a:prstGeom prst="diamond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46320" y="395020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1</a:t>
            </a:r>
            <a:endParaRPr lang="es-CL" sz="1800" dirty="0"/>
          </a:p>
        </p:txBody>
      </p:sp>
      <p:sp>
        <p:nvSpPr>
          <p:cNvPr id="30" name="Shape 28"/>
          <p:cNvSpPr/>
          <p:nvPr/>
        </p:nvSpPr>
        <p:spPr>
          <a:xfrm>
            <a:off x="7917104" y="4096512"/>
            <a:ext cx="274320" cy="274320"/>
          </a:xfrm>
          <a:prstGeom prst="diamond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37144" y="395020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2</a:t>
            </a:r>
            <a:endParaRPr lang="es-CL" sz="1800" dirty="0"/>
          </a:p>
        </p:txBody>
      </p:sp>
      <p:sp>
        <p:nvSpPr>
          <p:cNvPr id="32" name="Shape 30"/>
          <p:cNvSpPr/>
          <p:nvPr/>
        </p:nvSpPr>
        <p:spPr>
          <a:xfrm>
            <a:off x="10309631" y="4096512"/>
            <a:ext cx="274320" cy="274320"/>
          </a:xfrm>
          <a:prstGeom prst="diamond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29671" y="395020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3</a:t>
            </a:r>
            <a:endParaRPr lang="es-CL" sz="1800" dirty="0"/>
          </a:p>
        </p:txBody>
      </p:sp>
      <p:sp>
        <p:nvSpPr>
          <p:cNvPr id="34" name="Shape 32"/>
          <p:cNvSpPr/>
          <p:nvPr/>
        </p:nvSpPr>
        <p:spPr>
          <a:xfrm>
            <a:off x="4663440" y="4608576"/>
            <a:ext cx="2892381" cy="38404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663440" y="4517136"/>
            <a:ext cx="28923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dúo 1 al 6 · meses 1 a 20</a:t>
            </a:r>
            <a:endParaRPr lang="es-CL" sz="1600" dirty="0"/>
          </a:p>
        </p:txBody>
      </p:sp>
      <p:sp>
        <p:nvSpPr>
          <p:cNvPr id="36" name="Shape 34"/>
          <p:cNvSpPr/>
          <p:nvPr/>
        </p:nvSpPr>
        <p:spPr>
          <a:xfrm>
            <a:off x="6858000" y="5175504"/>
            <a:ext cx="4785055" cy="38404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368464" y="5084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600" dirty="0"/>
          </a:p>
        </p:txBody>
      </p:sp>
      <p:sp>
        <p:nvSpPr>
          <p:cNvPr id="38" name="Text 36"/>
          <p:cNvSpPr txBox="1"/>
          <p:nvPr/>
        </p:nvSpPr>
        <p:spPr>
          <a:xfrm>
            <a:off x="8564728" y="5084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</a:t>
            </a:r>
            <a:endParaRPr lang="es-CL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9760991" y="5084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20</a:t>
            </a:r>
            <a:endParaRPr lang="es-CL" sz="2600" dirty="0"/>
          </a:p>
        </p:txBody>
      </p:sp>
      <p:sp>
        <p:nvSpPr>
          <p:cNvPr id="40" name="Text 38"/>
          <p:cNvSpPr txBox="1"/>
          <p:nvPr/>
        </p:nvSpPr>
        <p:spPr>
          <a:xfrm>
            <a:off x="10957255" y="5084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42</a:t>
            </a:r>
            <a:endParaRPr lang="es-CL" sz="2600" dirty="0"/>
          </a:p>
        </p:txBody>
      </p:sp>
      <p:sp>
        <p:nvSpPr>
          <p:cNvPr id="41" name="Shape 39"/>
          <p:cNvSpPr/>
          <p:nvPr/>
        </p:nvSpPr>
        <p:spPr>
          <a:xfrm>
            <a:off x="548640" y="5797296"/>
            <a:ext cx="41127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42" name="Text 40"/>
          <p:cNvSpPr txBox="1"/>
          <p:nvPr/>
        </p:nvSpPr>
        <p:spPr>
          <a:xfrm>
            <a:off x="658368" y="5797296"/>
            <a:ext cx="389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SUPUESTO · MES 1 = ENERO DE 2027</a:t>
            </a:r>
            <a:endParaRPr lang="es-CL" sz="1400" dirty="0"/>
          </a:p>
        </p:txBody>
      </p:sp>
      <p:sp>
        <p:nvSpPr>
          <p:cNvPr id="43" name="Shape 41"/>
          <p:cNvSpPr/>
          <p:nvPr/>
        </p:nvSpPr>
        <p:spPr>
          <a:xfrm>
            <a:off x="7530287" y="5797296"/>
            <a:ext cx="41127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640015" y="5797296"/>
            <a:ext cx="389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CONDICIÓN PENDIENTE · REGLAMENTO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PRESUPUESTO Y RESULTADO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GANANCIA DESDE EL AÑO 2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 las dos líneas.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Dynojet Research (2016); Importadora JAK (2026); elaboración propia (Informe Fase 3, Tablas N° 18 a 21).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POR LÍNEA · MILLONES DE PESOS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16352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743200"/>
            <a:ext cx="152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Línea propia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2593848" y="2816352"/>
            <a:ext cx="201168" cy="201168"/>
          </a:xfrm>
          <a:prstGeom prst="rect">
            <a:avLst/>
          </a:prstGeom>
          <a:solidFill>
            <a:srgbClr val="0A6F9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6456" y="2743200"/>
            <a:ext cx="185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Red de talleres</a:t>
            </a:r>
            <a:endParaRPr lang="es-CL" sz="1600" dirty="0"/>
          </a:p>
        </p:txBody>
      </p:sp>
      <p:graphicFrame>
        <p:nvGraphicFramePr>
          <p:cNvPr id="10" name="Resultado referencial por línea de negocio" descr=""/>
          <p:cNvGraphicFramePr/>
          <p:nvPr/>
        </p:nvGraphicFramePr>
        <p:xfrm>
          <a:off x="457200" y="3127248"/>
          <a:ext cx="75438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852160"/>
            <a:ext cx="542594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12" name="Text 9"/>
          <p:cNvSpPr txBox="1"/>
          <p:nvPr/>
        </p:nvSpPr>
        <p:spPr>
          <a:xfrm>
            <a:off x="658368" y="5852160"/>
            <a:ext cx="52064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SUPUESTO · 60% PLUS · RESULTADO REFERENCIAL</a:t>
            </a:r>
            <a:endParaRPr lang="es-CL" sz="1400" dirty="0"/>
          </a:p>
        </p:txBody>
      </p:sp>
      <p:sp>
        <p:nvSpPr>
          <p:cNvPr id="13" name="Shape 10"/>
          <p:cNvSpPr/>
          <p:nvPr/>
        </p:nvSpPr>
        <p:spPr>
          <a:xfrm>
            <a:off x="8385048" y="2395728"/>
            <a:ext cx="3258007" cy="18745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13648" y="2578608"/>
            <a:ext cx="28008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INVERSIÓN POR LOCAL</a:t>
            </a:r>
            <a:endParaRPr lang="es-CL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13648" y="2852928"/>
            <a:ext cx="28008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$81 M</a:t>
            </a:r>
            <a:endParaRPr lang="es-CL" sz="4800" dirty="0"/>
          </a:p>
        </p:txBody>
      </p:sp>
      <p:sp>
        <p:nvSpPr>
          <p:cNvPr id="16" name="Text 13"/>
          <p:cNvSpPr txBox="1"/>
          <p:nvPr/>
        </p:nvSpPr>
        <p:spPr>
          <a:xfrm>
            <a:off x="8613648" y="3529584"/>
            <a:ext cx="28922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casi la mitad, el dinamómetro</a:t>
            </a:r>
            <a:endParaRPr lang="es-CL" sz="2000" dirty="0"/>
          </a:p>
        </p:txBody>
      </p:sp>
      <p:sp>
        <p:nvSpPr>
          <p:cNvPr id="17" name="Shape 14"/>
          <p:cNvSpPr/>
          <p:nvPr/>
        </p:nvSpPr>
        <p:spPr>
          <a:xfrm>
            <a:off x="8385048" y="4453128"/>
            <a:ext cx="3258007" cy="17830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330184" y="4398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30184" y="43982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542471" y="4398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697919" y="43982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330184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30184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13648" y="4636008"/>
            <a:ext cx="28008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MARGEN AL AÑO 5</a:t>
            </a:r>
            <a:endParaRPr lang="es-CL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613648" y="502005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Línea propia</a:t>
            </a:r>
            <a:endParaRPr lang="es-CL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0442448" y="5020056"/>
            <a:ext cx="97200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200" dirty="0"/>
          </a:p>
        </p:txBody>
      </p:sp>
      <p:sp>
        <p:nvSpPr>
          <p:cNvPr id="29" name="Shape 26"/>
          <p:cNvSpPr/>
          <p:nvPr/>
        </p:nvSpPr>
        <p:spPr>
          <a:xfrm>
            <a:off x="8613648" y="5641848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13648" y="5641848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Red</a:t>
            </a:r>
            <a:endParaRPr lang="es-CL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9345168" y="5641848"/>
            <a:ext cx="206928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cerca de 10%</a:t>
            </a:r>
            <a:endParaRPr lang="es-CL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SENSIBILIDAD CAMBIARIA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RIESGO ES EL DÓLAR: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un alza de 10% casi borra el resultado.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21). Dólar base $965,71.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PROPIO AL AÑO 5 · MILLONES DE $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88575" y="23957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MARGEN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5292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5292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−10%</a:t>
            </a:r>
            <a:endParaRPr lang="es-CL" sz="2400" dirty="0"/>
          </a:p>
        </p:txBody>
      </p:sp>
      <p:sp>
        <p:nvSpPr>
          <p:cNvPr id="9" name="Shape 7"/>
          <p:cNvSpPr/>
          <p:nvPr/>
        </p:nvSpPr>
        <p:spPr>
          <a:xfrm>
            <a:off x="2880360" y="3054096"/>
            <a:ext cx="5486400" cy="55778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31352" y="2852928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1.647</a:t>
            </a:r>
            <a:endParaRPr lang="es-CL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10088575" y="2852928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14,6%</a:t>
            </a:r>
            <a:endParaRPr lang="es-CL" sz="3000" dirty="0"/>
          </a:p>
        </p:txBody>
      </p:sp>
      <p:sp>
        <p:nvSpPr>
          <p:cNvPr id="12" name="Shape 10"/>
          <p:cNvSpPr/>
          <p:nvPr/>
        </p:nvSpPr>
        <p:spPr>
          <a:xfrm>
            <a:off x="548640" y="381304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1304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Base</a:t>
            </a:r>
            <a:endParaRPr lang="es-CL" sz="2400" dirty="0"/>
          </a:p>
        </p:txBody>
      </p:sp>
      <p:sp>
        <p:nvSpPr>
          <p:cNvPr id="14" name="Shape 12"/>
          <p:cNvSpPr/>
          <p:nvPr/>
        </p:nvSpPr>
        <p:spPr>
          <a:xfrm>
            <a:off x="2880360" y="4014216"/>
            <a:ext cx="2897941" cy="55778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2893" y="3813048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870</a:t>
            </a:r>
            <a:endParaRPr lang="es-CL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10088575" y="3813048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000" dirty="0"/>
          </a:p>
        </p:txBody>
      </p:sp>
      <p:sp>
        <p:nvSpPr>
          <p:cNvPr id="17" name="Shape 15"/>
          <p:cNvSpPr/>
          <p:nvPr/>
        </p:nvSpPr>
        <p:spPr>
          <a:xfrm>
            <a:off x="548640" y="477316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77316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accent4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+10%</a:t>
            </a:r>
            <a:endParaRPr lang="es-CL" sz="2400" dirty="0"/>
          </a:p>
        </p:txBody>
      </p:sp>
      <p:sp>
        <p:nvSpPr>
          <p:cNvPr id="19" name="Shape 17"/>
          <p:cNvSpPr/>
          <p:nvPr/>
        </p:nvSpPr>
        <p:spPr>
          <a:xfrm>
            <a:off x="2880360" y="4974336"/>
            <a:ext cx="309482" cy="55778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354434" y="4773168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93</a:t>
            </a:r>
            <a:endParaRPr lang="es-CL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10088575" y="4773168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0,8%</a:t>
            </a:r>
            <a:endParaRPr lang="es-CL" sz="3000" dirty="0"/>
          </a:p>
        </p:txBody>
      </p:sp>
      <p:sp>
        <p:nvSpPr>
          <p:cNvPr id="22" name="Shape 20"/>
          <p:cNvSpPr/>
          <p:nvPr/>
        </p:nvSpPr>
        <p:spPr>
          <a:xfrm>
            <a:off x="548640" y="573328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934456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82% del costo del kit está en dólares: 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plan financiero evaluará coberturas.</a:t>
            </a:r>
            <a:endParaRPr lang="es-CL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CONCLUSIONES DEL CAPÍTULO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TRES CONCLUSIONES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dos preguntas por resolver.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con base en Informe Fase 3 (§3.4 y Figura N° 6).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3515258" cy="239572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596896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OPORTUNIDAD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54096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367 &gt; 299</a:t>
            </a:r>
            <a:endParaRPr lang="es-CL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840480"/>
            <a:ext cx="3103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Más demanda que capacidad desde el año 1.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4338218" y="2395728"/>
            <a:ext cx="3515258" cy="239572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6818" y="2596896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66818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252618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VENTAJA</a:t>
            </a:r>
            <a:endParaRPr lang="es-CL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66818" y="3054096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Biblioteca</a:t>
            </a:r>
            <a:endParaRPr lang="es-CL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4566818" y="3840480"/>
            <a:ext cx="3103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Ahorra sin cambiar de auto y es difícil de copiar.</a:t>
            </a:r>
            <a:endParaRPr lang="es-CL" sz="2000" dirty="0"/>
          </a:p>
        </p:txBody>
      </p:sp>
      <p:sp>
        <p:nvSpPr>
          <p:cNvPr id="17" name="Shape 15"/>
          <p:cNvSpPr/>
          <p:nvPr/>
        </p:nvSpPr>
        <p:spPr>
          <a:xfrm>
            <a:off x="8127797" y="2395728"/>
            <a:ext cx="3515258" cy="239572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72933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72933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72933" y="484632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72933" y="46908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542471" y="484632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697919" y="46908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56397" y="2596896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56397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042197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TRES PLANES, UN MISMO GATILLO</a:t>
            </a:r>
            <a:endParaRPr lang="es-CL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356397" y="3054096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4800" dirty="0"/>
          </a:p>
        </p:txBody>
      </p:sp>
      <p:sp>
        <p:nvSpPr>
          <p:cNvPr id="30" name="Text 28"/>
          <p:cNvSpPr txBox="1"/>
          <p:nvPr/>
        </p:nvSpPr>
        <p:spPr>
          <a:xfrm>
            <a:off x="8356397" y="3840480"/>
            <a:ext cx="3103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 capacidad: suma dúos, personas y talleres.</a:t>
            </a:r>
            <a:endParaRPr lang="es-CL" sz="2000" dirty="0"/>
          </a:p>
        </p:txBody>
      </p:sp>
      <p:sp>
        <p:nvSpPr>
          <p:cNvPr id="31" name="Shape 29"/>
          <p:cNvSpPr/>
          <p:nvPr/>
        </p:nvSpPr>
        <p:spPr>
          <a:xfrm>
            <a:off x="548640" y="4919472"/>
            <a:ext cx="11094415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RESOLVER</a:t>
            </a:r>
            <a:endParaRPr lang="es-CL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358384"/>
            <a:ext cx="5364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8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¿El reglamento admitirá el kit, y desde cuándo?</a:t>
            </a:r>
            <a:endParaRPr lang="es-CL" sz="2800" dirty="0"/>
          </a:p>
        </p:txBody>
      </p:sp>
      <p:sp>
        <p:nvSpPr>
          <p:cNvPr id="34" name="Text 32"/>
          <p:cNvSpPr txBox="1"/>
          <p:nvPr/>
        </p:nvSpPr>
        <p:spPr>
          <a:xfrm>
            <a:off x="6278728" y="5358384"/>
            <a:ext cx="5364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8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¿El ahorro medido confirma los precios?</a:t>
            </a:r>
            <a:endParaRPr lang="es-CL" sz="2800" dirty="0"/>
          </a:p>
        </p:txBody>
      </p:sp>
      <p:sp>
        <p:nvSpPr>
          <p:cNvPr id="35" name="Text 33"/>
          <p:cNvSpPr txBox="1"/>
          <p:nvPr/>
        </p:nvSpPr>
        <p:spPr>
          <a:xfrm>
            <a:off x="7436815" y="5029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GRACIAS · ¿PREGUNTAS?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MATERIAL DE APOYO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ANEXO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para preguntas.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Las fuentes de cada tema están al pie de su diapositiva.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se presenta: se hace clic en el tema y se salta directo.</a:t>
            </a:r>
            <a:endParaRPr lang="es-CL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8529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535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535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</a:t>
            </a:r>
            <a:endParaRPr lang="es-CL" sz="1600" dirty="0"/>
          </a:p>
        </p:txBody>
      </p:sp>
      <p:sp>
        <p:nvSpPr>
          <p:cNvPr id="9" name="Text 7">
            <a:hlinkClick r:id="rId1" tooltip="Ir a Hipótesis de la investigación" action="ppaction://hlinksldjump"/>
          </p:cNvPr>
          <p:cNvSpPr txBox="1"/>
          <p:nvPr/>
        </p:nvSpPr>
        <p:spPr>
          <a:xfrm>
            <a:off x="1243584" y="28529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Hipótesis de la investigación</a:t>
            </a:r>
            <a:endParaRPr lang="en-US" sz="2000" dirty="0"/>
          </a:p>
        </p:txBody>
      </p:sp>
      <p:sp>
        <p:nvSpPr>
          <p:cNvPr id="10" name="Text 8">
            <a:hlinkClick r:id="rId2" tooltip="Ir a Hipótesis de la investigación" action="ppaction://hlinksldjump"/>
          </p:cNvPr>
          <p:cNvSpPr txBox="1"/>
          <p:nvPr/>
        </p:nvSpPr>
        <p:spPr>
          <a:xfrm>
            <a:off x="5021428" y="2852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4015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50215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50215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A2</a:t>
            </a:r>
            <a:endParaRPr lang="es-CL" sz="1600" dirty="0"/>
          </a:p>
        </p:txBody>
      </p:sp>
      <p:sp>
        <p:nvSpPr>
          <p:cNvPr id="14" name="Text 12">
            <a:hlinkClick r:id="rId3" tooltip="Ir a Dudas del cliente y respaldo" action="ppaction://hlinksldjump"/>
          </p:cNvPr>
          <p:cNvSpPr txBox="1"/>
          <p:nvPr/>
        </p:nvSpPr>
        <p:spPr>
          <a:xfrm>
            <a:off x="1243584" y="340156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3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Dudas del cliente y respaldo</a:t>
            </a:r>
            <a:endParaRPr lang="en-US" sz="2000" dirty="0"/>
          </a:p>
        </p:txBody>
      </p:sp>
      <p:sp>
        <p:nvSpPr>
          <p:cNvPr id="15" name="Text 13">
            <a:hlinkClick r:id="rId4" tooltip="Ir a Dudas del cliente y respaldo" action="ppaction://hlinksldjump"/>
          </p:cNvPr>
          <p:cNvSpPr txBox="1"/>
          <p:nvPr/>
        </p:nvSpPr>
        <p:spPr>
          <a:xfrm>
            <a:off x="5021428" y="34015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95020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05079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05079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A3</a:t>
            </a:r>
            <a:endParaRPr lang="es-CL" sz="1600" dirty="0"/>
          </a:p>
        </p:txBody>
      </p:sp>
      <p:sp>
        <p:nvSpPr>
          <p:cNvPr id="19" name="Text 17">
            <a:hlinkClick r:id="rId5" tooltip="Ir a Mezcla de marketing" action="ppaction://hlinksldjump"/>
          </p:cNvPr>
          <p:cNvSpPr txBox="1"/>
          <p:nvPr/>
        </p:nvSpPr>
        <p:spPr>
          <a:xfrm>
            <a:off x="1243584" y="395020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5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Mezcla de marketing</a:t>
            </a:r>
            <a:endParaRPr lang="en-US" sz="2000" dirty="0"/>
          </a:p>
        </p:txBody>
      </p:sp>
      <p:sp>
        <p:nvSpPr>
          <p:cNvPr id="20" name="Text 18">
            <a:hlinkClick r:id="rId6" tooltip="Ir a Mezcla de marketing" action="ppaction://hlinksldjump"/>
          </p:cNvPr>
          <p:cNvSpPr txBox="1"/>
          <p:nvPr/>
        </p:nvSpPr>
        <p:spPr>
          <a:xfrm>
            <a:off x="5021428" y="39502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6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49884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59943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5994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A4</a:t>
            </a:r>
            <a:endParaRPr lang="es-CL" sz="1600" dirty="0"/>
          </a:p>
        </p:txBody>
      </p:sp>
      <p:sp>
        <p:nvSpPr>
          <p:cNvPr id="24" name="Text 22">
            <a:hlinkClick r:id="rId7" tooltip="Ir a Cobros a la red de talleres" action="ppaction://hlinksldjump"/>
          </p:cNvPr>
          <p:cNvSpPr txBox="1"/>
          <p:nvPr/>
        </p:nvSpPr>
        <p:spPr>
          <a:xfrm>
            <a:off x="1243584" y="449884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7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Cobros a la red de talleres</a:t>
            </a:r>
            <a:endParaRPr lang="en-US" sz="2000" dirty="0"/>
          </a:p>
        </p:txBody>
      </p:sp>
      <p:sp>
        <p:nvSpPr>
          <p:cNvPr id="25" name="Text 23">
            <a:hlinkClick r:id="rId8" tooltip="Ir a Cobros a la red de talleres" action="ppaction://hlinksldjump"/>
          </p:cNvPr>
          <p:cNvSpPr txBox="1"/>
          <p:nvPr/>
        </p:nvSpPr>
        <p:spPr>
          <a:xfrm>
            <a:off x="5021428" y="44988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8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24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504748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514807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514807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A5</a:t>
            </a:r>
            <a:endParaRPr lang="es-CL" sz="1600" dirty="0"/>
          </a:p>
        </p:txBody>
      </p:sp>
      <p:sp>
        <p:nvSpPr>
          <p:cNvPr id="29" name="Text 27">
            <a:hlinkClick r:id="rId9" tooltip="Ir a Tamaño del mercado y adopción" action="ppaction://hlinksldjump"/>
          </p:cNvPr>
          <p:cNvSpPr txBox="1"/>
          <p:nvPr/>
        </p:nvSpPr>
        <p:spPr>
          <a:xfrm>
            <a:off x="1243584" y="504748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9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Tamaño del mercado y adopción</a:t>
            </a:r>
            <a:endParaRPr lang="en-US" sz="2000" dirty="0"/>
          </a:p>
        </p:txBody>
      </p:sp>
      <p:sp>
        <p:nvSpPr>
          <p:cNvPr id="30" name="Text 28">
            <a:hlinkClick r:id="rId10" tooltip="Ir a Tamaño del mercado y adopción" action="ppaction://hlinksldjump"/>
          </p:cNvPr>
          <p:cNvSpPr txBox="1"/>
          <p:nvPr/>
        </p:nvSpPr>
        <p:spPr>
          <a:xfrm>
            <a:off x="5021428" y="50474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0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48640" y="55961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56967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56967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A6</a:t>
            </a:r>
            <a:endParaRPr lang="es-CL" sz="1600" dirty="0"/>
          </a:p>
        </p:txBody>
      </p:sp>
      <p:sp>
        <p:nvSpPr>
          <p:cNvPr id="34" name="Text 32">
            <a:hlinkClick r:id="rId11" tooltip="Ir a Perfiles de cargo" action="ppaction://hlinksldjump"/>
          </p:cNvPr>
          <p:cNvSpPr txBox="1"/>
          <p:nvPr/>
        </p:nvSpPr>
        <p:spPr>
          <a:xfrm>
            <a:off x="1243584" y="55961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1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Perfiles de cargo</a:t>
            </a:r>
            <a:endParaRPr lang="en-US" sz="2000" dirty="0"/>
          </a:p>
        </p:txBody>
      </p:sp>
      <p:sp>
        <p:nvSpPr>
          <p:cNvPr id="35" name="Text 33">
            <a:hlinkClick r:id="rId12" tooltip="Ir a Perfiles de cargo" action="ppaction://hlinksldjump"/>
          </p:cNvPr>
          <p:cNvSpPr txBox="1"/>
          <p:nvPr/>
        </p:nvSpPr>
        <p:spPr>
          <a:xfrm>
            <a:off x="5021428" y="55961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2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26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48640" y="61447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55868" y="28529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55868" y="29535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255868" y="29535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A7</a:t>
            </a:r>
            <a:endParaRPr lang="es-CL" sz="1600" dirty="0"/>
          </a:p>
        </p:txBody>
      </p:sp>
      <p:sp>
        <p:nvSpPr>
          <p:cNvPr id="40" name="Text 38">
            <a:hlinkClick r:id="rId13" tooltip="Ir a Rentas y bonos por nivel" action="ppaction://hlinksldjump"/>
          </p:cNvPr>
          <p:cNvSpPr txBox="1"/>
          <p:nvPr/>
        </p:nvSpPr>
        <p:spPr>
          <a:xfrm>
            <a:off x="6950812" y="28529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3" action="ppaction://hlinksldjump" tooltip="Ir a Rentas y bonos por niv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Rentas y bonos por nivel</a:t>
            </a:r>
            <a:endParaRPr lang="en-US" sz="2000" dirty="0"/>
          </a:p>
        </p:txBody>
      </p:sp>
      <p:sp>
        <p:nvSpPr>
          <p:cNvPr id="41" name="Text 39">
            <a:hlinkClick r:id="rId14" tooltip="Ir a Rentas y bonos por nivel" action="ppaction://hlinksldjump"/>
          </p:cNvPr>
          <p:cNvSpPr txBox="1"/>
          <p:nvPr/>
        </p:nvSpPr>
        <p:spPr>
          <a:xfrm>
            <a:off x="10728655" y="2852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4" action="ppaction://hlinksldjump" tooltip="Ir a Rentas y bonos por niv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27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255868" y="34015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55868" y="350215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255868" y="350215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A8</a:t>
            </a:r>
            <a:endParaRPr lang="es-CL" sz="1600" dirty="0"/>
          </a:p>
        </p:txBody>
      </p:sp>
      <p:sp>
        <p:nvSpPr>
          <p:cNvPr id="45" name="Text 43">
            <a:hlinkClick r:id="rId15" tooltip="Ir a Jornada de instalación" action="ppaction://hlinksldjump"/>
          </p:cNvPr>
          <p:cNvSpPr txBox="1"/>
          <p:nvPr/>
        </p:nvSpPr>
        <p:spPr>
          <a:xfrm>
            <a:off x="6950812" y="340156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5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Jornada de instalación</a:t>
            </a:r>
            <a:endParaRPr lang="en-US" sz="2000" dirty="0"/>
          </a:p>
        </p:txBody>
      </p:sp>
      <p:sp>
        <p:nvSpPr>
          <p:cNvPr id="46" name="Text 44">
            <a:hlinkClick r:id="rId16" tooltip="Ir a Jornada de instalación" action="ppaction://hlinksldjump"/>
          </p:cNvPr>
          <p:cNvSpPr txBox="1"/>
          <p:nvPr/>
        </p:nvSpPr>
        <p:spPr>
          <a:xfrm>
            <a:off x="10728655" y="34015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6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28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255868" y="395020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55868" y="405079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255868" y="405079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A9</a:t>
            </a:r>
            <a:endParaRPr lang="es-CL" sz="1600" dirty="0"/>
          </a:p>
        </p:txBody>
      </p:sp>
      <p:sp>
        <p:nvSpPr>
          <p:cNvPr id="50" name="Text 48">
            <a:hlinkClick r:id="rId17" tooltip="Ir a Inversión y gasto operacional" action="ppaction://hlinksldjump"/>
          </p:cNvPr>
          <p:cNvSpPr txBox="1"/>
          <p:nvPr/>
        </p:nvSpPr>
        <p:spPr>
          <a:xfrm>
            <a:off x="6950812" y="395020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7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Inversión y gasto operacional</a:t>
            </a:r>
            <a:endParaRPr lang="en-US" sz="2000" dirty="0"/>
          </a:p>
        </p:txBody>
      </p:sp>
      <p:sp>
        <p:nvSpPr>
          <p:cNvPr id="51" name="Text 49">
            <a:hlinkClick r:id="rId18" tooltip="Ir a Inversión y gasto operacional" action="ppaction://hlinksldjump"/>
          </p:cNvPr>
          <p:cNvSpPr txBox="1"/>
          <p:nvPr/>
        </p:nvSpPr>
        <p:spPr>
          <a:xfrm>
            <a:off x="10728655" y="39502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8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29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6255868" y="449884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55868" y="459943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55868" y="45994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A10</a:t>
            </a:r>
            <a:endParaRPr lang="es-CL" sz="1600" dirty="0"/>
          </a:p>
        </p:txBody>
      </p:sp>
      <p:sp>
        <p:nvSpPr>
          <p:cNvPr id="55" name="Text 53">
            <a:hlinkClick r:id="rId19" tooltip="Ir a Sensibilidad del resultado" action="ppaction://hlinksldjump"/>
          </p:cNvPr>
          <p:cNvSpPr txBox="1"/>
          <p:nvPr/>
        </p:nvSpPr>
        <p:spPr>
          <a:xfrm>
            <a:off x="6950812" y="449884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9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Sensibilidad del resultado</a:t>
            </a:r>
            <a:endParaRPr lang="en-US" sz="2000" dirty="0"/>
          </a:p>
        </p:txBody>
      </p:sp>
      <p:sp>
        <p:nvSpPr>
          <p:cNvPr id="56" name="Text 54">
            <a:hlinkClick r:id="rId20" tooltip="Ir a Sensibilidad del resultado" action="ppaction://hlinksldjump"/>
          </p:cNvPr>
          <p:cNvSpPr txBox="1"/>
          <p:nvPr/>
        </p:nvSpPr>
        <p:spPr>
          <a:xfrm>
            <a:off x="10728655" y="44988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0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30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6255868" y="504748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55868" y="514807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255868" y="514807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A11</a:t>
            </a:r>
            <a:endParaRPr lang="es-CL" sz="1600" dirty="0"/>
          </a:p>
        </p:txBody>
      </p:sp>
      <p:sp>
        <p:nvSpPr>
          <p:cNvPr id="60" name="Text 58">
            <a:hlinkClick r:id="rId21" tooltip="Ir a Carta Gantt detallada" action="ppaction://hlinksldjump"/>
          </p:cNvPr>
          <p:cNvSpPr txBox="1"/>
          <p:nvPr/>
        </p:nvSpPr>
        <p:spPr>
          <a:xfrm>
            <a:off x="6950812" y="504748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21" action="ppaction://hlinksldjump" tooltip="Ir a Carta Gantt detalla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Carta Gantt detallada</a:t>
            </a:r>
            <a:endParaRPr lang="en-US" sz="2000" dirty="0"/>
          </a:p>
        </p:txBody>
      </p:sp>
      <p:sp>
        <p:nvSpPr>
          <p:cNvPr id="61" name="Text 59">
            <a:hlinkClick r:id="rId22" tooltip="Ir a Carta Gantt detallada" action="ppaction://hlinksldjump"/>
          </p:cNvPr>
          <p:cNvSpPr txBox="1"/>
          <p:nvPr/>
        </p:nvSpPr>
        <p:spPr>
          <a:xfrm>
            <a:off x="10728655" y="50474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2" action="ppaction://hlinksldjump" tooltip="Ir a Carta Gantt detalla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31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6255868" y="55961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INVESTIGACIÓN DE MERCADO · HIPÓTESIS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SEIS HIPÓTESIS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su prueba.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3). Significancia de 5%.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HIPÓTESIS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945575" y="23957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PRUEBA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871216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71216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H1</a:t>
            </a:r>
            <a:endParaRPr lang="es-CL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761488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uso laboral tiene más intención de compra que el particular.</a:t>
            </a:r>
            <a:endParaRPr lang="es-CL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945575" y="276148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DOS PROPORCIONES</a:t>
            </a:r>
            <a:endParaRPr lang="es-CL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32841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438144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43814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H2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328416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intención no cambia con la edad ni el género.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945575" y="332841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CHI-CUADRADO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389534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005072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005072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H3</a:t>
            </a:r>
            <a:endParaRPr lang="es-CL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95344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ahorro predomina, pero la mayoría valora otro motivo.</a:t>
            </a:r>
            <a:endParaRPr lang="es-CL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945575" y="3895344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46227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572000"/>
            <a:ext cx="621792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4572000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H4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462272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barrera principal es la confianza, no el precio.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945575" y="446227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28" name="Shape 26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5138928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5138928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H5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029200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Los respaldos externos dan más confianza que el taller.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8945575" y="502920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 RELACIONADAS</a:t>
            </a:r>
            <a:endParaRPr lang="es-CL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559612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705856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705856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H6</a:t>
            </a:r>
            <a:endParaRPr lang="es-CL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371600" y="5596128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prefiere hibridar antes que gas, cambiar de auto o nada.</a:t>
            </a:r>
            <a:endParaRPr lang="es-CL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8945575" y="559612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38" name="Shape 36"/>
          <p:cNvSpPr/>
          <p:nvPr/>
        </p:nvSpPr>
        <p:spPr>
          <a:xfrm>
            <a:off x="548640" y="616305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POSICIONAMIENTO · DUDAS DEL CLIENTE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CUATRO DUDAS,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cuatro respaldos.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Ley N° 19.496; borrador de reglamento MTT (2021); elaboración propia (Informe Fase 3, Tabla N° 4).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395728"/>
            <a:ext cx="21031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¿Funciona?</a:t>
            </a:r>
            <a:endParaRPr lang="es-CL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252374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20% menos bencina en ciudad.</a:t>
            </a:r>
            <a:endParaRPr lang="es-C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316382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Estimador con intervalo y telemetría.</a:t>
            </a:r>
            <a:endParaRPr lang="es-CL" sz="2000" dirty="0"/>
          </a:p>
        </p:txBody>
      </p:sp>
      <p:sp>
        <p:nvSpPr>
          <p:cNvPr id="10" name="Shape 8"/>
          <p:cNvSpPr/>
          <p:nvPr/>
        </p:nvSpPr>
        <p:spPr>
          <a:xfrm>
            <a:off x="6205576" y="2395728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34176" y="2395728"/>
            <a:ext cx="21031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¿Daña mi auto?</a:t>
            </a:r>
            <a:endParaRPr lang="es-CL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74456" y="252374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toca el motor ni la transmisión.</a:t>
            </a:r>
            <a:endParaRPr lang="es-CL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674456" y="316382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conservan el circuito de freno y el ABS.</a:t>
            </a:r>
            <a:endParaRPr lang="es-CL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3986784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986784"/>
            <a:ext cx="21031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¿Pasa la revisión?</a:t>
            </a:r>
            <a:endParaRPr lang="es-CL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411480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 del taller con certificado.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475488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 firma el Responsable Técnico.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6205576" y="3986784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34176" y="3986784"/>
            <a:ext cx="21031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¿Se enchufa?</a:t>
            </a:r>
            <a:endParaRPr lang="es-CL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674456" y="411480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No.</a:t>
            </a:r>
            <a:endParaRPr lang="es-CL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674456" y="475488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batería se carga al frenar.</a:t>
            </a:r>
            <a:endParaRPr lang="es-CL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5229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 QUE LA MARCA NO PROMETE</a:t>
            </a:r>
            <a:endParaRPr lang="es-CL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5852160"/>
            <a:ext cx="220268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658368" y="5852160"/>
            <a:ext cx="198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«CERO EMISIONES»</a:t>
            </a:r>
            <a:endParaRPr lang="es-CL" sz="1400" dirty="0"/>
          </a:p>
        </p:txBody>
      </p:sp>
      <p:sp>
        <p:nvSpPr>
          <p:cNvPr id="25" name="Shape 23"/>
          <p:cNvSpPr/>
          <p:nvPr/>
        </p:nvSpPr>
        <p:spPr>
          <a:xfrm>
            <a:off x="2952496" y="5852160"/>
            <a:ext cx="232206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3062224" y="5852160"/>
            <a:ext cx="21026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«20% GARANTIZADO»</a:t>
            </a:r>
            <a:endParaRPr lang="es-CL" sz="1400" dirty="0"/>
          </a:p>
        </p:txBody>
      </p:sp>
      <p:sp>
        <p:nvSpPr>
          <p:cNvPr id="27" name="Shape 25"/>
          <p:cNvSpPr/>
          <p:nvPr/>
        </p:nvSpPr>
        <p:spPr>
          <a:xfrm>
            <a:off x="5475732" y="5852160"/>
            <a:ext cx="172516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5585460" y="5852160"/>
            <a:ext cx="1505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«HOMOLOGADO»</a:t>
            </a:r>
            <a:endParaRPr lang="es-CL" sz="1400" dirty="0"/>
          </a:p>
        </p:txBody>
      </p:sp>
      <p:sp>
        <p:nvSpPr>
          <p:cNvPr id="29" name="Shape 27"/>
          <p:cNvSpPr/>
          <p:nvPr/>
        </p:nvSpPr>
        <p:spPr>
          <a:xfrm>
            <a:off x="7402068" y="5852160"/>
            <a:ext cx="303834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7511796" y="5852160"/>
            <a:ext cx="2818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EXENCIÓN DE RESTRICCIÓN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MIX DE MARKETING · RESUMEN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DOS LÍNEAS,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una misma mezcla.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8).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239572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CLIENTE FINAL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261708" y="239572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DE TALLERES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797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77977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</a:t>
            </a:r>
            <a:endParaRPr lang="es-CL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77977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 Esencial o Plus en una jornada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61708" y="277977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Licencia, kits y certificación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41985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41985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PRECIO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606040" y="341985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$4,29 M y $4,99 M con IVA</a:t>
            </a:r>
            <a:endParaRPr lang="es-CL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261708" y="341985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Entrada y cobros recurrentes</a:t>
            </a:r>
            <a:endParaRPr lang="es-CL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05993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5993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PLAZA</a:t>
            </a:r>
            <a:endParaRPr lang="es-CL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405993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Web y talleres propios en la RM</a:t>
            </a:r>
            <a:endParaRPr lang="es-CL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261708" y="405993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Talleres con exclusividad comunal</a:t>
            </a:r>
            <a:endParaRPr lang="es-CL" sz="2000" dirty="0"/>
          </a:p>
        </p:txBody>
      </p:sp>
      <p:sp>
        <p:nvSpPr>
          <p:cNvPr id="20" name="Shape 18"/>
          <p:cNvSpPr/>
          <p:nvPr/>
        </p:nvSpPr>
        <p:spPr>
          <a:xfrm>
            <a:off x="548640" y="470001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70001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PROMOCIÓN</a:t>
            </a:r>
            <a:endParaRPr lang="es-CL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470001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Estimador, pilotos y referidos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261708" y="470001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Visitas, ferias y casos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534009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34009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PERSONAS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2606040" y="534009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Dúos con un N3 o N4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261708" y="534009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 validados por Lumine</a:t>
            </a:r>
            <a:endParaRPr lang="es-CL" sz="2000" dirty="0"/>
          </a:p>
        </p:txBody>
      </p:sp>
      <p:sp>
        <p:nvSpPr>
          <p:cNvPr id="28" name="Shape 26"/>
          <p:cNvSpPr/>
          <p:nvPr/>
        </p:nvSpPr>
        <p:spPr>
          <a:xfrm>
            <a:off x="548640" y="59801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MIX · PRECIO PARA LA RED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INGRESO RECURRENTE: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96% del margen al año 5.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7). Montos netos; sin tarifas públicas de redes de talleres en Chile.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ENTRADA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$7,14 M</a:t>
            </a:r>
            <a:endParaRPr lang="es-CL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una vez</a:t>
            </a:r>
            <a:endParaRPr lang="es-CL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Exclusividad comunal y formación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3379394" y="2395728"/>
            <a:ext cx="2602154" cy="27432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24530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24530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8096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6412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24530" y="51937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4530" y="50383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80964" y="51937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6412" y="50383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80562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KIT CON LICENCIA</a:t>
            </a:r>
            <a:endParaRPr lang="es-CL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580562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$3,81 M</a:t>
            </a:r>
            <a:endParaRPr lang="es-CL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3580562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por instalación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3580562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Plus; Esencial, $3,33 M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6210148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1316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CERTIFICACIÓN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11316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$2,4 M</a:t>
            </a:r>
            <a:endParaRPr lang="es-CL" sz="4400" dirty="0"/>
          </a:p>
        </p:txBody>
      </p:sp>
      <p:sp>
        <p:nvSpPr>
          <p:cNvPr id="27" name="Text 25"/>
          <p:cNvSpPr txBox="1"/>
          <p:nvPr/>
        </p:nvSpPr>
        <p:spPr>
          <a:xfrm>
            <a:off x="6411316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cada año</a:t>
            </a:r>
            <a:endParaRPr lang="es-CL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411316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Desde el segundo año</a:t>
            </a:r>
            <a:endParaRPr lang="es-CL" sz="2000" dirty="0"/>
          </a:p>
        </p:txBody>
      </p:sp>
      <p:sp>
        <p:nvSpPr>
          <p:cNvPr id="29" name="Shape 27"/>
          <p:cNvSpPr/>
          <p:nvPr/>
        </p:nvSpPr>
        <p:spPr>
          <a:xfrm>
            <a:off x="9040901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42069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HABILITA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242069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 mil</a:t>
            </a:r>
            <a:endParaRPr lang="es-CL" sz="4400" dirty="0"/>
          </a:p>
        </p:txBody>
      </p:sp>
      <p:sp>
        <p:nvSpPr>
          <p:cNvPr id="32" name="Text 30"/>
          <p:cNvSpPr txBox="1"/>
          <p:nvPr/>
        </p:nvSpPr>
        <p:spPr>
          <a:xfrm>
            <a:off x="9242069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 mes por técnico</a:t>
            </a:r>
            <a:endParaRPr lang="es-CL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9242069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Formación y validación</a:t>
            </a:r>
            <a:endParaRPr lang="es-CL" sz="2000" dirty="0"/>
          </a:p>
        </p:txBody>
      </p:sp>
      <p:sp>
        <p:nvSpPr>
          <p:cNvPr id="34" name="Shape 32"/>
          <p:cNvSpPr/>
          <p:nvPr/>
        </p:nvSpPr>
        <p:spPr>
          <a:xfrm>
            <a:off x="548640" y="5303520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376672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42 talleres y 7.773 kits al año 5, </a:t>
            </a:r>
            <a:pPr indent="0" marL="0">
              <a:buNone/>
            </a:pPr>
            <a:r>
              <a:rPr lang="es-CL" altLang="en-US" sz="24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activos fijos.</a:t>
            </a:r>
            <a:endParaRPr lang="es-CL" sz="2400" dirty="0"/>
          </a:p>
        </p:txBody>
      </p:sp>
      <p:sp>
        <p:nvSpPr>
          <p:cNvPr id="36" name="Shape 34"/>
          <p:cNvSpPr/>
          <p:nvPr/>
        </p:nvSpPr>
        <p:spPr>
          <a:xfrm>
            <a:off x="548640" y="5870448"/>
            <a:ext cx="626160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37" name="Text 35"/>
          <p:cNvSpPr txBox="1"/>
          <p:nvPr/>
        </p:nvSpPr>
        <p:spPr>
          <a:xfrm>
            <a:off x="658368" y="5870448"/>
            <a:ext cx="6042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MONTOS NETOS · A VALIDAR CON LOS PRIMEROS TALLERES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DEMANDA · MERCADO Y ADOPCIÓN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162.780 VEHÍCULOS DE TECHO;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11,1% adoptado al año 5.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(2025); Centro UC en Emol (2026); Descubre (2026); Fielbaum y Tirachini (2021); Massiani y Gohs (2015).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45720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87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 · CHILE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9776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4.409.729</a:t>
            </a:r>
            <a:endParaRPr lang="es-CL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779776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autos y taxis a combustión</a:t>
            </a:r>
            <a:endParaRPr lang="es-CL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5720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749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SAM · RM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41648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1.685.930</a:t>
            </a:r>
            <a:endParaRPr lang="es-CL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4041648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 que atiende el taller propio</a:t>
            </a:r>
            <a:endParaRPr lang="es-CL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4919472"/>
            <a:ext cx="457200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50109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SEGMENTO LABORAL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03520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5303520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colectivos, taxis y aplicaciones</a:t>
            </a:r>
            <a:endParaRPr lang="es-CL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532120" y="2395728"/>
            <a:ext cx="6110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ADOPCIÓN ACUMULADA · MODELO DE BASS</a:t>
            </a:r>
            <a:endParaRPr lang="es-CL" sz="1600" dirty="0"/>
          </a:p>
        </p:txBody>
      </p:sp>
      <p:sp>
        <p:nvSpPr>
          <p:cNvPr id="19" name="Shape 17"/>
          <p:cNvSpPr/>
          <p:nvPr/>
        </p:nvSpPr>
        <p:spPr>
          <a:xfrm>
            <a:off x="10156647" y="2761488"/>
            <a:ext cx="14864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0266375" y="2761488"/>
            <a:ext cx="126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</a:t>
            </a:r>
            <a:endParaRPr lang="es-CL" sz="1400" dirty="0"/>
          </a:p>
        </p:txBody>
      </p:sp>
      <p:graphicFrame>
        <p:nvGraphicFramePr>
          <p:cNvPr id="21" name="Adopción acumulada del segmento laboral" descr=""/>
          <p:cNvGraphicFramePr/>
          <p:nvPr/>
        </p:nvGraphicFramePr>
        <p:xfrm>
          <a:off x="5440680" y="3172968"/>
          <a:ext cx="6202375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532120" y="5596128"/>
            <a:ext cx="6110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Aun si solo el 40% del segmento adoptara, la demanda cubre el año 5.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RECURSOS HUMANOS · PERFILES DE CARGO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CADA CARGO RESPONDE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por un resultado crítico.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13).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225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2257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Gerente General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251960" y="2322576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Autoriza cada paso de crecimiento si la caja lo cubre.</a:t>
            </a:r>
            <a:endParaRPr lang="es-CL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4320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Responsable Técnico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2743200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Arma los dúos, valida ascensos y firma cada auto.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16382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6382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Ingeniería de Calibración</a:t>
            </a:r>
            <a:endParaRPr lang="es-CL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251960" y="3163824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Certifica cada modelo y cuida que el ahorro real calce.</a:t>
            </a:r>
            <a:endParaRPr lang="es-CL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58444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8444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y Postventa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3584448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Convierte cotizaciones sin prometer de más.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400507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005072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Administración y Personas</a:t>
            </a:r>
            <a:endParaRPr lang="es-CL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4251960" y="4005072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Que ningún auto espere un kit; sueldos al día.</a:t>
            </a:r>
            <a:endParaRPr lang="es-CL" sz="2000" dirty="0"/>
          </a:p>
        </p:txBody>
      </p:sp>
      <p:sp>
        <p:nvSpPr>
          <p:cNvPr id="21" name="Shape 19"/>
          <p:cNvSpPr/>
          <p:nvPr/>
        </p:nvSpPr>
        <p:spPr>
          <a:xfrm>
            <a:off x="548640" y="442569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42569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 Instalador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4425696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Instala según el procedimiento y las cinco reglas de oro.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84632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de Empresas</a:t>
            </a:r>
            <a:endParaRPr lang="es-CL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4846320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Suma solo talleres que cumplan el reglamento.</a:t>
            </a:r>
            <a:endParaRPr lang="es-CL" sz="2000" dirty="0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526694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Asistente de Postventa</a:t>
            </a:r>
            <a:endParaRPr lang="es-CL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5266944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Que ninguna mantención ni garantía se pierda.</a:t>
            </a:r>
            <a:endParaRPr lang="es-CL" sz="2000" dirty="0"/>
          </a:p>
        </p:txBody>
      </p:sp>
      <p:sp>
        <p:nvSpPr>
          <p:cNvPr id="30" name="Shape 28"/>
          <p:cNvSpPr/>
          <p:nvPr/>
        </p:nvSpPr>
        <p:spPr>
          <a:xfrm>
            <a:off x="548640" y="568756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568756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Asistente de Administración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4251960" y="5687568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Despacha kits y baterías con su trazabilidad.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548640" y="610819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RECURSOS HUMANOS · COMPENSACIONES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SUPERIOR GANA MÁS;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entre áreas decide la escasez.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ChileTrabajos (2026); Indeed Chile (2026); MiFuturo (2026); Ley N° 21.830; elaboración propia (Tablas N° 14 y 15).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 BRUTA MENSUAL · MILES DE PESOS</a:t>
            </a:r>
            <a:endParaRPr lang="es-CL" sz="1600" dirty="0"/>
          </a:p>
        </p:txBody>
      </p:sp>
      <p:graphicFrame>
        <p:nvGraphicFramePr>
          <p:cNvPr id="7" name="Renta bruta mensual por cargo" descr=""/>
          <p:cNvGraphicFramePr/>
          <p:nvPr/>
        </p:nvGraphicFramePr>
        <p:xfrm>
          <a:off x="457200" y="2724912"/>
          <a:ext cx="7543800" cy="35112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5"/>
          <p:cNvSpPr/>
          <p:nvPr/>
        </p:nvSpPr>
        <p:spPr>
          <a:xfrm>
            <a:off x="8385048" y="2395728"/>
            <a:ext cx="3258007" cy="38404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30184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0184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13648" y="257860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BONO POR NIVEL</a:t>
            </a:r>
            <a:endParaRPr lang="es-CL" sz="1600" dirty="0"/>
          </a:p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VALIDADO</a:t>
            </a:r>
            <a:endParaRPr lang="es-CL" sz="1600" dirty="0"/>
          </a:p>
        </p:txBody>
      </p:sp>
      <p:sp>
        <p:nvSpPr>
          <p:cNvPr id="18" name="Shape 15"/>
          <p:cNvSpPr/>
          <p:nvPr/>
        </p:nvSpPr>
        <p:spPr>
          <a:xfrm>
            <a:off x="8613648" y="3218688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13648" y="3328416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613648" y="3328416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N2</a:t>
            </a:r>
            <a:endParaRPr lang="es-CL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9299448" y="3218688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$200 mil</a:t>
            </a:r>
            <a:endParaRPr lang="es-CL" sz="3000" dirty="0"/>
          </a:p>
        </p:txBody>
      </p:sp>
      <p:sp>
        <p:nvSpPr>
          <p:cNvPr id="22" name="Shape 19"/>
          <p:cNvSpPr/>
          <p:nvPr/>
        </p:nvSpPr>
        <p:spPr>
          <a:xfrm>
            <a:off x="8613648" y="3785616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13648" y="3895344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613648" y="3895344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N3</a:t>
            </a:r>
            <a:endParaRPr lang="es-CL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9299448" y="3785616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$300 mil</a:t>
            </a:r>
            <a:endParaRPr lang="es-CL" sz="3000" dirty="0"/>
          </a:p>
        </p:txBody>
      </p:sp>
      <p:sp>
        <p:nvSpPr>
          <p:cNvPr id="26" name="Shape 23"/>
          <p:cNvSpPr/>
          <p:nvPr/>
        </p:nvSpPr>
        <p:spPr>
          <a:xfrm>
            <a:off x="8613648" y="4352544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13648" y="4462272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613648" y="4462272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N4</a:t>
            </a:r>
            <a:endParaRPr lang="es-CL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9299448" y="4352544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$350 mil</a:t>
            </a:r>
            <a:endParaRPr lang="es-CL" sz="3000" dirty="0"/>
          </a:p>
        </p:txBody>
      </p:sp>
      <p:sp>
        <p:nvSpPr>
          <p:cNvPr id="30" name="Shape 27"/>
          <p:cNvSpPr/>
          <p:nvPr/>
        </p:nvSpPr>
        <p:spPr>
          <a:xfrm>
            <a:off x="8613648" y="4919472"/>
            <a:ext cx="2800807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13648" y="491947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Total</a:t>
            </a:r>
            <a:endParaRPr lang="es-CL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9299448" y="4919472"/>
            <a:ext cx="21150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 mil</a:t>
            </a:r>
            <a:endParaRPr lang="es-CL" sz="3600" dirty="0"/>
          </a:p>
        </p:txBody>
      </p:sp>
      <p:sp>
        <p:nvSpPr>
          <p:cNvPr id="33" name="Text 30"/>
          <p:cNvSpPr txBox="1"/>
          <p:nvPr/>
        </p:nvSpPr>
        <p:spPr>
          <a:xfrm>
            <a:off x="8613648" y="5577840"/>
            <a:ext cx="28465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Los comerciales suman comisión.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JORNADA DE INSTALACIÓN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 VEHÍCULO POR JORNADA: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8,4 horas.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(2021), arts. 11 y 12; elaboración propia (Informe Fase 3, Anexo N° 8). Tiempos estimados.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HORAS POR BLOQUE · DÚO CON UN N3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8962847" y="2350008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9072575" y="2350008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· TIEMPOS</a:t>
            </a:r>
            <a:endParaRPr lang="es-CL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79776"/>
            <a:ext cx="49172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79776"/>
            <a:ext cx="52830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529584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1095233" y="2779776"/>
            <a:ext cx="49172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76945" y="2779776"/>
            <a:ext cx="52830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076945" y="3529584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1623539" y="2779776"/>
            <a:ext cx="4321944" cy="7132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605251" y="2779776"/>
            <a:ext cx="435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3,3</a:t>
            </a:r>
            <a:endParaRPr lang="es-CL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605251" y="3529584"/>
            <a:ext cx="435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5982059" y="2779776"/>
            <a:ext cx="2340799" cy="7132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63771" y="2779776"/>
            <a:ext cx="23773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1,8</a:t>
            </a:r>
            <a:endParaRPr lang="es-CL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5963771" y="3529584"/>
            <a:ext cx="2377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1600" dirty="0"/>
          </a:p>
        </p:txBody>
      </p:sp>
      <p:sp>
        <p:nvSpPr>
          <p:cNvPr id="21" name="Shape 19"/>
          <p:cNvSpPr/>
          <p:nvPr/>
        </p:nvSpPr>
        <p:spPr>
          <a:xfrm>
            <a:off x="8359434" y="2779776"/>
            <a:ext cx="1020035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41146" y="2779776"/>
            <a:ext cx="10566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</a:t>
            </a:r>
            <a:endParaRPr lang="es-CL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8341146" y="3529584"/>
            <a:ext cx="10566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1600" dirty="0"/>
          </a:p>
        </p:txBody>
      </p:sp>
      <p:sp>
        <p:nvSpPr>
          <p:cNvPr id="24" name="Shape 22"/>
          <p:cNvSpPr/>
          <p:nvPr/>
        </p:nvSpPr>
        <p:spPr>
          <a:xfrm>
            <a:off x="9416045" y="2779776"/>
            <a:ext cx="1284188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97757" y="2779776"/>
            <a:ext cx="13207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1,0</a:t>
            </a:r>
            <a:endParaRPr lang="es-CL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397757" y="3529584"/>
            <a:ext cx="132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1600" dirty="0"/>
          </a:p>
        </p:txBody>
      </p:sp>
      <p:sp>
        <p:nvSpPr>
          <p:cNvPr id="27" name="Shape 25"/>
          <p:cNvSpPr/>
          <p:nvPr/>
        </p:nvSpPr>
        <p:spPr>
          <a:xfrm>
            <a:off x="10736809" y="2779776"/>
            <a:ext cx="88795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18521" y="2779776"/>
            <a:ext cx="924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0,7</a:t>
            </a:r>
            <a:endParaRPr lang="es-CL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10718521" y="3529584"/>
            <a:ext cx="924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</a:t>
            </a:r>
            <a:endParaRPr lang="es-CL" sz="1600" dirty="0"/>
          </a:p>
        </p:txBody>
      </p:sp>
      <p:sp>
        <p:nvSpPr>
          <p:cNvPr id="30" name="Shape 28"/>
          <p:cNvSpPr/>
          <p:nvPr/>
        </p:nvSpPr>
        <p:spPr>
          <a:xfrm>
            <a:off x="548640" y="389534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s-CL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Seguridad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3322244" y="389534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322244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3797732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Recepción</a:t>
            </a:r>
            <a:endParaRPr lang="es-CL" sz="2000" dirty="0"/>
          </a:p>
        </p:txBody>
      </p:sp>
      <p:sp>
        <p:nvSpPr>
          <p:cNvPr id="36" name="Shape 34"/>
          <p:cNvSpPr/>
          <p:nvPr/>
        </p:nvSpPr>
        <p:spPr>
          <a:xfrm>
            <a:off x="6095848" y="3895344"/>
            <a:ext cx="365760" cy="3108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095848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571336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Montaje y pesaje</a:t>
            </a:r>
            <a:endParaRPr lang="es-CL" sz="2000" dirty="0"/>
          </a:p>
        </p:txBody>
      </p:sp>
      <p:sp>
        <p:nvSpPr>
          <p:cNvPr id="39" name="Shape 37"/>
          <p:cNvSpPr/>
          <p:nvPr/>
        </p:nvSpPr>
        <p:spPr>
          <a:xfrm>
            <a:off x="8869451" y="3895344"/>
            <a:ext cx="365760" cy="3108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869451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9344939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Integración</a:t>
            </a:r>
            <a:endParaRPr lang="es-CL" sz="2000" dirty="0"/>
          </a:p>
        </p:txBody>
      </p:sp>
      <p:sp>
        <p:nvSpPr>
          <p:cNvPr id="42" name="Shape 40"/>
          <p:cNvSpPr/>
          <p:nvPr/>
        </p:nvSpPr>
        <p:spPr>
          <a:xfrm>
            <a:off x="548640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024128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</a:t>
            </a:r>
            <a:endParaRPr lang="es-CL" sz="2000" dirty="0"/>
          </a:p>
        </p:txBody>
      </p:sp>
      <p:sp>
        <p:nvSpPr>
          <p:cNvPr id="45" name="Shape 43"/>
          <p:cNvSpPr/>
          <p:nvPr/>
        </p:nvSpPr>
        <p:spPr>
          <a:xfrm>
            <a:off x="3322244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322244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797732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Pruebas</a:t>
            </a:r>
            <a:endParaRPr lang="es-CL" sz="2000" dirty="0"/>
          </a:p>
        </p:txBody>
      </p:sp>
      <p:sp>
        <p:nvSpPr>
          <p:cNvPr id="48" name="Shape 46"/>
          <p:cNvSpPr/>
          <p:nvPr/>
        </p:nvSpPr>
        <p:spPr>
          <a:xfrm>
            <a:off x="6095848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095848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</a:t>
            </a:r>
            <a:endParaRPr lang="es-CL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6571336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Cierre</a:t>
            </a:r>
            <a:endParaRPr lang="es-CL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466344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Montaje e integración concentran 5,1 de las 8,4 horas.</a:t>
            </a:r>
            <a:endParaRPr lang="es-CL" sz="2200" dirty="0"/>
          </a:p>
        </p:txBody>
      </p:sp>
      <p:sp>
        <p:nvSpPr>
          <p:cNvPr id="52" name="Shape 50"/>
          <p:cNvSpPr/>
          <p:nvPr/>
        </p:nvSpPr>
        <p:spPr>
          <a:xfrm>
            <a:off x="548640" y="5175504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2669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CUATRO CONTROLES · SI FALLA, SE DETIENE</a:t>
            </a:r>
            <a:endParaRPr lang="es-CL" sz="1600" dirty="0"/>
          </a:p>
        </p:txBody>
      </p:sp>
      <p:sp>
        <p:nvSpPr>
          <p:cNvPr id="54" name="Shape 52"/>
          <p:cNvSpPr/>
          <p:nvPr/>
        </p:nvSpPr>
        <p:spPr>
          <a:xfrm>
            <a:off x="548640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1520" y="5769864"/>
            <a:ext cx="292608" cy="292608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1143000" y="5596128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¿Vehículo apto?</a:t>
            </a:r>
            <a:endParaRPr lang="es-CL" sz="2000" dirty="0"/>
          </a:p>
        </p:txBody>
      </p:sp>
      <p:sp>
        <p:nvSpPr>
          <p:cNvPr id="57" name="Shape 55"/>
          <p:cNvSpPr/>
          <p:nvPr/>
        </p:nvSpPr>
        <p:spPr>
          <a:xfrm>
            <a:off x="3367964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550844" y="5769864"/>
            <a:ext cx="292608" cy="292608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62324" y="5596128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¿Masa y ejes?</a:t>
            </a:r>
            <a:endParaRPr lang="es-CL" sz="2000" dirty="0"/>
          </a:p>
        </p:txBody>
      </p:sp>
      <p:sp>
        <p:nvSpPr>
          <p:cNvPr id="60" name="Shape 58"/>
          <p:cNvSpPr/>
          <p:nvPr/>
        </p:nvSpPr>
        <p:spPr>
          <a:xfrm>
            <a:off x="6187288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370168" y="5769864"/>
            <a:ext cx="292608" cy="292608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781648" y="5596128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¿Aislación?</a:t>
            </a:r>
            <a:endParaRPr lang="es-CL" sz="2000" dirty="0"/>
          </a:p>
        </p:txBody>
      </p:sp>
      <p:sp>
        <p:nvSpPr>
          <p:cNvPr id="63" name="Shape 61"/>
          <p:cNvSpPr/>
          <p:nvPr/>
        </p:nvSpPr>
        <p:spPr>
          <a:xfrm>
            <a:off x="9006611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189491" y="5769864"/>
            <a:ext cx="292608" cy="292608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600971" y="5596128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¿Dinamómetro?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A9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INVERSIÓN Y GASTO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LA INVERSIÓN SIGUE AL GATILLO;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gasto, al kit.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Dynojet Research (2016); Importadora JAK (2026); elaboración propia (Informe Fase 3, Tablas N° 18 y 19).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INVERSIÓN · MILLONES DE $</a:t>
            </a:r>
            <a:endParaRPr lang="es-CL" sz="1600" dirty="0"/>
          </a:p>
        </p:txBody>
      </p:sp>
      <p:graphicFrame>
        <p:nvGraphicFramePr>
          <p:cNvPr id="7" name="Inversión en equipamiento por año" descr=""/>
          <p:cNvGraphicFramePr/>
          <p:nvPr/>
        </p:nvGraphicFramePr>
        <p:xfrm>
          <a:off x="457200" y="2724912"/>
          <a:ext cx="54100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779008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 local nuevo en los años 1, 3 y 5.</a:t>
            </a:r>
            <a:endParaRPr lang="es-CL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239572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GASTO OPERACIONAL · MILLONES DE $</a:t>
            </a:r>
            <a:endParaRPr lang="es-CL" sz="1600" dirty="0"/>
          </a:p>
        </p:txBody>
      </p:sp>
      <p:graphicFrame>
        <p:nvGraphicFramePr>
          <p:cNvPr id="10" name="Gasto operacional por año" descr=""/>
          <p:cNvGraphicFramePr/>
          <p:nvPr/>
        </p:nvGraphicFramePr>
        <p:xfrm>
          <a:off x="6233008" y="2724912"/>
          <a:ext cx="54100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324448" y="5779008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kit es más del 90% de cada año.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A10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SENSIBILIDAD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DÓLAR PESA MÁS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que el precio y la mezcla.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21). Dólar base $965,71.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PROPIO AL AÑO 5 · MILLONES DE $</a:t>
            </a:r>
            <a:endParaRPr lang="es-CL" sz="1600" dirty="0"/>
          </a:p>
        </p:txBody>
      </p:sp>
      <p:graphicFrame>
        <p:nvGraphicFramePr>
          <p:cNvPr id="7" name="Sensibilidad del resultado al quinto año" descr=""/>
          <p:cNvGraphicFramePr/>
          <p:nvPr/>
        </p:nvGraphicFramePr>
        <p:xfrm>
          <a:off x="457200" y="2724912"/>
          <a:ext cx="7543800" cy="35112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5"/>
          <p:cNvSpPr/>
          <p:nvPr/>
        </p:nvSpPr>
        <p:spPr>
          <a:xfrm>
            <a:off x="8385048" y="2395728"/>
            <a:ext cx="3258007" cy="25146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30184" y="49651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0184" y="48097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542471" y="49651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697919" y="48097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13648" y="2596896"/>
            <a:ext cx="2892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MARGEN SOBRE VENTAS</a:t>
            </a:r>
            <a:endParaRPr lang="es-CL" sz="1600" dirty="0"/>
          </a:p>
        </p:txBody>
      </p:sp>
      <p:sp>
        <p:nvSpPr>
          <p:cNvPr id="18" name="Shape 15"/>
          <p:cNvSpPr/>
          <p:nvPr/>
        </p:nvSpPr>
        <p:spPr>
          <a:xfrm>
            <a:off x="8613648" y="2999232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13648" y="2999232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Base</a:t>
            </a:r>
            <a:endParaRPr lang="es-CL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0213848" y="2999232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000" dirty="0"/>
          </a:p>
        </p:txBody>
      </p:sp>
      <p:sp>
        <p:nvSpPr>
          <p:cNvPr id="21" name="Shape 18"/>
          <p:cNvSpPr/>
          <p:nvPr/>
        </p:nvSpPr>
        <p:spPr>
          <a:xfrm>
            <a:off x="8613648" y="3602736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13648" y="3602736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+10%</a:t>
            </a:r>
            <a:endParaRPr lang="es-CL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0213848" y="3602736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0,8%</a:t>
            </a:r>
            <a:endParaRPr lang="es-CL" sz="3000" dirty="0"/>
          </a:p>
        </p:txBody>
      </p:sp>
      <p:sp>
        <p:nvSpPr>
          <p:cNvPr id="24" name="Shape 21"/>
          <p:cNvSpPr/>
          <p:nvPr/>
        </p:nvSpPr>
        <p:spPr>
          <a:xfrm>
            <a:off x="8613648" y="4206240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613648" y="420624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−10%</a:t>
            </a:r>
            <a:endParaRPr lang="es-CL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10213848" y="4206240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14,6%</a:t>
            </a:r>
            <a:endParaRPr lang="es-CL" sz="3000" dirty="0"/>
          </a:p>
        </p:txBody>
      </p:sp>
      <p:sp>
        <p:nvSpPr>
          <p:cNvPr id="27" name="Text 24"/>
          <p:cNvSpPr txBox="1"/>
          <p:nvPr/>
        </p:nvSpPr>
        <p:spPr>
          <a:xfrm>
            <a:off x="8385048" y="5120640"/>
            <a:ext cx="32580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82% del costo del kit está en dólares: el plan financiero evaluará coberturas.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CARTA GANTT DE IMPLEMENTACIÓN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CARTA GANTT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completa.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Figura N° 5). Mes 1 = enero de 2027 (supuesto).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395728"/>
            <a:ext cx="7904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65204" y="2395728"/>
            <a:ext cx="3161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 · 2027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4265204" y="2724912"/>
            <a:ext cx="0" cy="3054096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27140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7427140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81119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8481119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35098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4</a:t>
            </a:r>
            <a:endParaRPr lang="es-CL" sz="1600" dirty="0"/>
          </a:p>
        </p:txBody>
      </p:sp>
      <p:sp>
        <p:nvSpPr>
          <p:cNvPr id="14" name="Shape 12"/>
          <p:cNvSpPr/>
          <p:nvPr/>
        </p:nvSpPr>
        <p:spPr>
          <a:xfrm>
            <a:off x="9535098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89076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5</a:t>
            </a:r>
            <a:endParaRPr lang="es-CL" sz="1600" dirty="0"/>
          </a:p>
        </p:txBody>
      </p:sp>
      <p:sp>
        <p:nvSpPr>
          <p:cNvPr id="16" name="Shape 14"/>
          <p:cNvSpPr/>
          <p:nvPr/>
        </p:nvSpPr>
        <p:spPr>
          <a:xfrm>
            <a:off x="10589076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779776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Investigación y permisos</a:t>
            </a:r>
            <a:endParaRPr lang="es-CL" sz="1700" dirty="0"/>
          </a:p>
        </p:txBody>
      </p:sp>
      <p:sp>
        <p:nvSpPr>
          <p:cNvPr id="18" name="Shape 16"/>
          <p:cNvSpPr/>
          <p:nvPr/>
        </p:nvSpPr>
        <p:spPr>
          <a:xfrm>
            <a:off x="3474720" y="2843784"/>
            <a:ext cx="790484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320040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20040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Homologación y primer dúo</a:t>
            </a:r>
            <a:endParaRPr lang="es-CL" sz="1700" dirty="0"/>
          </a:p>
        </p:txBody>
      </p:sp>
      <p:sp>
        <p:nvSpPr>
          <p:cNvPr id="21" name="Shape 19"/>
          <p:cNvSpPr/>
          <p:nvPr/>
        </p:nvSpPr>
        <p:spPr>
          <a:xfrm>
            <a:off x="3738215" y="3264408"/>
            <a:ext cx="526989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62102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621024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Reglamento Ley 21.793</a:t>
            </a:r>
            <a:endParaRPr lang="es-CL" sz="1700" dirty="0"/>
          </a:p>
        </p:txBody>
      </p:sp>
      <p:sp>
        <p:nvSpPr>
          <p:cNvPr id="24" name="Shape 22"/>
          <p:cNvSpPr/>
          <p:nvPr/>
        </p:nvSpPr>
        <p:spPr>
          <a:xfrm>
            <a:off x="3978009" y="3675888"/>
            <a:ext cx="310896" cy="310896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389489" y="3621024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debe estar vigente antes de vender</a:t>
            </a:r>
            <a:endParaRPr lang="es-CL" sz="1800" dirty="0"/>
          </a:p>
        </p:txBody>
      </p:sp>
      <p:sp>
        <p:nvSpPr>
          <p:cNvPr id="26" name="Shape 24"/>
          <p:cNvSpPr/>
          <p:nvPr/>
        </p:nvSpPr>
        <p:spPr>
          <a:xfrm>
            <a:off x="548640" y="404164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4041648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1: dúos 1 a 6</a:t>
            </a:r>
            <a:endParaRPr lang="es-CL" sz="1700" dirty="0"/>
          </a:p>
        </p:txBody>
      </p:sp>
      <p:sp>
        <p:nvSpPr>
          <p:cNvPr id="28" name="Shape 26"/>
          <p:cNvSpPr/>
          <p:nvPr/>
        </p:nvSpPr>
        <p:spPr>
          <a:xfrm>
            <a:off x="5055688" y="4105656"/>
            <a:ext cx="526989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29" name="Shape 27"/>
          <p:cNvSpPr/>
          <p:nvPr/>
        </p:nvSpPr>
        <p:spPr>
          <a:xfrm>
            <a:off x="6636656" y="4105656"/>
            <a:ext cx="526989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0" name="Shape 28"/>
          <p:cNvSpPr/>
          <p:nvPr/>
        </p:nvSpPr>
        <p:spPr>
          <a:xfrm>
            <a:off x="7163646" y="4105656"/>
            <a:ext cx="351326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1" name="Shape 29"/>
          <p:cNvSpPr/>
          <p:nvPr/>
        </p:nvSpPr>
        <p:spPr>
          <a:xfrm>
            <a:off x="7690635" y="4105656"/>
            <a:ext cx="175663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2" name="Shape 30"/>
          <p:cNvSpPr/>
          <p:nvPr/>
        </p:nvSpPr>
        <p:spPr>
          <a:xfrm>
            <a:off x="7866298" y="4105656"/>
            <a:ext cx="175663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3" name="Shape 31"/>
          <p:cNvSpPr/>
          <p:nvPr/>
        </p:nvSpPr>
        <p:spPr>
          <a:xfrm>
            <a:off x="4146332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338356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s-CL" sz="1600" dirty="0"/>
          </a:p>
        </p:txBody>
      </p:sp>
      <p:sp>
        <p:nvSpPr>
          <p:cNvPr id="35" name="Shape 33"/>
          <p:cNvSpPr/>
          <p:nvPr/>
        </p:nvSpPr>
        <p:spPr>
          <a:xfrm>
            <a:off x="5463805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55829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1600" dirty="0"/>
          </a:p>
        </p:txBody>
      </p:sp>
      <p:sp>
        <p:nvSpPr>
          <p:cNvPr id="37" name="Shape 35"/>
          <p:cNvSpPr/>
          <p:nvPr/>
        </p:nvSpPr>
        <p:spPr>
          <a:xfrm>
            <a:off x="7044774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36798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1600" dirty="0"/>
          </a:p>
        </p:txBody>
      </p:sp>
      <p:sp>
        <p:nvSpPr>
          <p:cNvPr id="39" name="Shape 37"/>
          <p:cNvSpPr/>
          <p:nvPr/>
        </p:nvSpPr>
        <p:spPr>
          <a:xfrm>
            <a:off x="7396100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8124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1600" dirty="0"/>
          </a:p>
        </p:txBody>
      </p:sp>
      <p:sp>
        <p:nvSpPr>
          <p:cNvPr id="41" name="Shape 39"/>
          <p:cNvSpPr/>
          <p:nvPr/>
        </p:nvSpPr>
        <p:spPr>
          <a:xfrm>
            <a:off x="7747426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939450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1600" dirty="0"/>
          </a:p>
        </p:txBody>
      </p:sp>
      <p:sp>
        <p:nvSpPr>
          <p:cNvPr id="43" name="Shape 41"/>
          <p:cNvSpPr/>
          <p:nvPr/>
        </p:nvSpPr>
        <p:spPr>
          <a:xfrm>
            <a:off x="7923089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115113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1600" dirty="0"/>
          </a:p>
        </p:txBody>
      </p:sp>
      <p:sp>
        <p:nvSpPr>
          <p:cNvPr id="45" name="Shape 43"/>
          <p:cNvSpPr/>
          <p:nvPr/>
        </p:nvSpPr>
        <p:spPr>
          <a:xfrm>
            <a:off x="548640" y="446227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8640" y="446227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 de modelos</a:t>
            </a:r>
            <a:endParaRPr lang="es-CL" sz="1700" dirty="0"/>
          </a:p>
        </p:txBody>
      </p:sp>
      <p:sp>
        <p:nvSpPr>
          <p:cNvPr id="47" name="Shape 45"/>
          <p:cNvSpPr/>
          <p:nvPr/>
        </p:nvSpPr>
        <p:spPr>
          <a:xfrm>
            <a:off x="4265204" y="4526280"/>
            <a:ext cx="3161936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65204" y="4462272"/>
            <a:ext cx="3161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dos al mes</a:t>
            </a:r>
            <a:endParaRPr lang="es-CL" sz="1600" dirty="0"/>
          </a:p>
        </p:txBody>
      </p:sp>
      <p:sp>
        <p:nvSpPr>
          <p:cNvPr id="49" name="Shape 47"/>
          <p:cNvSpPr/>
          <p:nvPr/>
        </p:nvSpPr>
        <p:spPr>
          <a:xfrm>
            <a:off x="7427140" y="4526280"/>
            <a:ext cx="4215915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7427140" y="4462272"/>
            <a:ext cx="42159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uno al mes</a:t>
            </a:r>
            <a:endParaRPr lang="es-CL" sz="1600" dirty="0"/>
          </a:p>
        </p:txBody>
      </p:sp>
      <p:sp>
        <p:nvSpPr>
          <p:cNvPr id="51" name="Shape 49"/>
          <p:cNvSpPr/>
          <p:nvPr/>
        </p:nvSpPr>
        <p:spPr>
          <a:xfrm>
            <a:off x="548640" y="488289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48640" y="4882896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Red de talleres</a:t>
            </a:r>
            <a:endParaRPr lang="es-CL" sz="1700" dirty="0"/>
          </a:p>
        </p:txBody>
      </p:sp>
      <p:sp>
        <p:nvSpPr>
          <p:cNvPr id="53" name="Shape 51"/>
          <p:cNvSpPr/>
          <p:nvPr/>
        </p:nvSpPr>
        <p:spPr>
          <a:xfrm>
            <a:off x="7427140" y="4946904"/>
            <a:ext cx="4215915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914191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000" dirty="0"/>
          </a:p>
        </p:txBody>
      </p:sp>
      <p:sp>
        <p:nvSpPr>
          <p:cNvPr id="55" name="Text 53"/>
          <p:cNvSpPr txBox="1"/>
          <p:nvPr/>
        </p:nvSpPr>
        <p:spPr>
          <a:xfrm>
            <a:off x="8968170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</a:t>
            </a:r>
            <a:endParaRPr lang="es-CL" sz="2000" dirty="0"/>
          </a:p>
        </p:txBody>
      </p:sp>
      <p:sp>
        <p:nvSpPr>
          <p:cNvPr id="56" name="Text 54"/>
          <p:cNvSpPr txBox="1"/>
          <p:nvPr/>
        </p:nvSpPr>
        <p:spPr>
          <a:xfrm>
            <a:off x="10022148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20</a:t>
            </a:r>
            <a:endParaRPr lang="es-CL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11076127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42</a:t>
            </a:r>
            <a:endParaRPr lang="es-CL" sz="2000" dirty="0"/>
          </a:p>
        </p:txBody>
      </p:sp>
      <p:sp>
        <p:nvSpPr>
          <p:cNvPr id="58" name="Shape 56"/>
          <p:cNvSpPr/>
          <p:nvPr/>
        </p:nvSpPr>
        <p:spPr>
          <a:xfrm>
            <a:off x="548640" y="530352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30352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Talleres 2 y 3</a:t>
            </a:r>
            <a:endParaRPr lang="es-CL" sz="1700" dirty="0"/>
          </a:p>
        </p:txBody>
      </p:sp>
      <p:sp>
        <p:nvSpPr>
          <p:cNvPr id="60" name="Shape 58"/>
          <p:cNvSpPr/>
          <p:nvPr/>
        </p:nvSpPr>
        <p:spPr>
          <a:xfrm>
            <a:off x="8217624" y="5367528"/>
            <a:ext cx="263495" cy="29260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1" name="Shape 59"/>
          <p:cNvSpPr/>
          <p:nvPr/>
        </p:nvSpPr>
        <p:spPr>
          <a:xfrm>
            <a:off x="8481119" y="5367528"/>
            <a:ext cx="1053979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481119" y="5303520"/>
            <a:ext cx="10539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2</a:t>
            </a:r>
            <a:endParaRPr lang="es-CL" sz="1600" dirty="0"/>
          </a:p>
        </p:txBody>
      </p:sp>
      <p:sp>
        <p:nvSpPr>
          <p:cNvPr id="63" name="Shape 61"/>
          <p:cNvSpPr/>
          <p:nvPr/>
        </p:nvSpPr>
        <p:spPr>
          <a:xfrm>
            <a:off x="10325582" y="5367528"/>
            <a:ext cx="263495" cy="29260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4" name="Shape 62"/>
          <p:cNvSpPr/>
          <p:nvPr/>
        </p:nvSpPr>
        <p:spPr>
          <a:xfrm>
            <a:off x="10589076" y="5367528"/>
            <a:ext cx="1053979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589076" y="5303520"/>
            <a:ext cx="10539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3</a:t>
            </a:r>
            <a:endParaRPr lang="es-CL" sz="1600" dirty="0"/>
          </a:p>
        </p:txBody>
      </p:sp>
      <p:sp>
        <p:nvSpPr>
          <p:cNvPr id="66" name="Shape 64"/>
          <p:cNvSpPr/>
          <p:nvPr/>
        </p:nvSpPr>
        <p:spPr>
          <a:xfrm>
            <a:off x="8362247" y="5394960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470204" y="5394960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925312"/>
            <a:ext cx="219456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59536" y="5852160"/>
            <a:ext cx="2037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Actividad principal</a:t>
            </a:r>
            <a:endParaRPr lang="es-CL" sz="1600" dirty="0"/>
          </a:p>
        </p:txBody>
      </p:sp>
      <p:sp>
        <p:nvSpPr>
          <p:cNvPr id="70" name="Shape 68"/>
          <p:cNvSpPr/>
          <p:nvPr/>
        </p:nvSpPr>
        <p:spPr>
          <a:xfrm>
            <a:off x="3171139" y="5925312"/>
            <a:ext cx="219456" cy="219456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482035" y="5852160"/>
            <a:ext cx="10131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Operación</a:t>
            </a:r>
            <a:endParaRPr lang="es-CL" sz="1600" dirty="0"/>
          </a:p>
        </p:txBody>
      </p:sp>
      <p:sp>
        <p:nvSpPr>
          <p:cNvPr id="72" name="Shape 70"/>
          <p:cNvSpPr/>
          <p:nvPr/>
        </p:nvSpPr>
        <p:spPr>
          <a:xfrm>
            <a:off x="4769510" y="5925312"/>
            <a:ext cx="219456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080406" y="5852160"/>
            <a:ext cx="2242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Preapertura de taller</a:t>
            </a:r>
            <a:endParaRPr lang="es-CL" sz="1600" dirty="0"/>
          </a:p>
        </p:txBody>
      </p:sp>
      <p:sp>
        <p:nvSpPr>
          <p:cNvPr id="74" name="Shape 72"/>
          <p:cNvSpPr/>
          <p:nvPr/>
        </p:nvSpPr>
        <p:spPr>
          <a:xfrm>
            <a:off x="7596835" y="5925312"/>
            <a:ext cx="219456" cy="219456"/>
          </a:xfrm>
          <a:prstGeom prst="diamond">
            <a:avLst/>
          </a:prstGeom>
          <a:solidFill>
            <a:schemeClr val="tx1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7907731" y="585216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Apertura o dúo nuevo</a:t>
            </a:r>
            <a:endParaRPr lang="es-CL" sz="1600" dirty="0"/>
          </a:p>
        </p:txBody>
      </p:sp>
      <p:sp>
        <p:nvSpPr>
          <p:cNvPr id="76" name="Shape 74"/>
          <p:cNvSpPr/>
          <p:nvPr/>
        </p:nvSpPr>
        <p:spPr>
          <a:xfrm>
            <a:off x="10321747" y="5925312"/>
            <a:ext cx="219456" cy="219456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10632643" y="5852160"/>
            <a:ext cx="1320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Hito crítico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mine">
  <a:themeElements>
    <a:clrScheme name="Lumine">
      <a:dk1>
        <a:srgbClr val="ECECEC"/>
      </a:dk1>
      <a:lt1>
        <a:srgbClr val="020304"/>
      </a:lt1>
      <a:dk2>
        <a:srgbClr val="8B9598"/>
      </a:dk2>
      <a:lt2>
        <a:srgbClr val="0A0D0F"/>
      </a:lt2>
      <a:accent1>
        <a:srgbClr val="22B8F0"/>
      </a:accent1>
      <a:accent2>
        <a:srgbClr val="4ADE80"/>
      </a:accent2>
      <a:accent3>
        <a:srgbClr val="F5B94A"/>
      </a:accent3>
      <a:accent4>
        <a:srgbClr val="F87171"/>
      </a:accent4>
      <a:accent5>
        <a:srgbClr val="2E3438"/>
      </a:accent5>
      <a:accent6>
        <a:srgbClr val="101417"/>
      </a:accent6>
      <a:hlink>
        <a:srgbClr val="22B8F0"/>
      </a:hlink>
      <a:folHlink>
        <a:srgbClr val="0A6F9E"/>
      </a:folHlink>
    </a:clrScheme>
    <a:fontScheme name="Lumine">
      <a:majorFont>
        <a:latin typeface="Archivo SemiExpanded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igtre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Lumine Motors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Fase 3 · Plan de Marketing, Operaciones y Recursos Humanos · Lumine Motors</dc:title>
  <dc:subject>Integrador II: Taller de Empresas · ICMA 1001 · Grupo 1</dc:subject>
  <dc:creator>Diego Alarcón, Benjamín Torres y Lukas Verdugo</dc:creator>
  <cp:lastModifiedBy>Diego Alarcón, Benjamín Torres y Lukas Verdugo</cp:lastModifiedBy>
  <cp:revision>1</cp:revision>
  <dcterms:created xsi:type="dcterms:W3CDTF">2026-10-17T21:04:10Z</dcterms:created>
  <dcterms:modified xsi:type="dcterms:W3CDTF">2026-10-17T21:04:10Z</dcterms:modified>
</cp:coreProperties>
</file>