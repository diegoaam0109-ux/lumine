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0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embeddedFontLst>
    <p:embeddedFont>
      <p:font typeface="Michroma" charset="0"/>
      <p:regular r:id="rIdFuente1"/>
    </p:embeddedFont>
    <p:embeddedFont>
      <p:font typeface="Archivo Condensed" charset="0"/>
      <p:regular r:id="rIdFuente2"/>
      <p:bold r:id="rIdFuente3"/>
    </p:embeddedFont>
    <p:embeddedFont>
      <p:font typeface="Archivo" charset="0"/>
      <p:regular r:id="rIdFuente4"/>
      <p:bold r:id="rIdFuente5"/>
    </p:embeddedFont>
    <p:embeddedFont>
      <p:font typeface="Archivo SemiCondensed Medium" charset="0"/>
      <p:regular r:id="rIdFuente6"/>
      <p:bold r:id="rIdFuente7"/>
    </p:embeddedFont>
    <p:embeddedFont>
      <p:font typeface="Archivo Expanded Light" charset="0"/>
      <p:regular r:id="rIdFuente8"/>
      <p:italic r:id="rIdFuente9"/>
    </p:embeddedFont>
    <p:embeddedFont>
      <p:font typeface="Archivo Expanded ExtraBold" charset="0"/>
      <p:regular r:id="rIdFuente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Diego Alarcón" id="{2a5c9128-afce-8591-5d90-898f4070f109}">
          <p14:sldIdLst>
            <p14:sldId id="256"/>
            <p14:sldId id="257"/>
            <p14:sldId id="258"/>
            <p14:sldId id="259"/>
          </p14:sldIdLst>
        </p14:section>
        <p14:section name="2 · Benjamín Torres" id="{3d28d10f-4c0c-757a-e182-c6529e6c823a}">
          <p14:sldIdLst>
            <p14:sldId id="260"/>
            <p14:sldId id="261"/>
            <p14:sldId id="262"/>
            <p14:sldId id="263"/>
            <p14:sldId id="264"/>
          </p14:sldIdLst>
        </p14:section>
        <p14:section name="3 · Lukas Verdugo" id="{249418f4-45c8-3da0-97c1-347e350356b1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Anexo" id="{0c2963be-4d1c-1721-018e-d93a8e295490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Fuente1" Type="http://schemas.openxmlformats.org/officeDocument/2006/relationships/font" Target="fonts/font1.fntdata"/><Relationship Id="rIdFuente2" Type="http://schemas.openxmlformats.org/officeDocument/2006/relationships/font" Target="fonts/font2.fntdata"/><Relationship Id="rIdFuente3" Type="http://schemas.openxmlformats.org/officeDocument/2006/relationships/font" Target="fonts/font3.fntdata"/><Relationship Id="rIdFuente4" Type="http://schemas.openxmlformats.org/officeDocument/2006/relationships/font" Target="fonts/font4.fntdata"/><Relationship Id="rIdFuente5" Type="http://schemas.openxmlformats.org/officeDocument/2006/relationships/font" Target="fonts/font5.fntdata"/><Relationship Id="rIdFuente6" Type="http://schemas.openxmlformats.org/officeDocument/2006/relationships/font" Target="fonts/font6.fntdata"/><Relationship Id="rIdFuente7" Type="http://schemas.openxmlformats.org/officeDocument/2006/relationships/font" Target="fonts/font7.fntdata"/><Relationship Id="rIdFuente8" Type="http://schemas.openxmlformats.org/officeDocument/2006/relationships/font" Target="fonts/font8.fntdata"/><Relationship Id="rIdFuente9" Type="http://schemas.openxmlformats.org/officeDocument/2006/relationships/font" Target="fonts/font9.fntdata"/><Relationship Id="rIdFuente10" Type="http://schemas.openxmlformats.org/officeDocument/2006/relationships/font" Target="fonts/font10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piloto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 · 80,9</c:v>
                  </c:pt>
                  <c:pt idx="1">
                    <c:v>Año 2 · 80,0</c:v>
                  </c:pt>
                  <c:pt idx="2">
                    <c:v>Año 3 · 116,3</c:v>
                  </c:pt>
                  <c:pt idx="3">
                    <c:v>Año 4 · 134,3</c:v>
                  </c:pt>
                  <c:pt idx="4">
                    <c:v>Año 5 · 163,7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49.47</c:v>
                </c:pt>
                <c:pt idx="1">
                  <c:v>23.75</c:v>
                </c:pt>
                <c:pt idx="2">
                  <c:v>23.75</c:v>
                </c:pt>
                <c:pt idx="3">
                  <c:v>23.75</c:v>
                </c:pt>
                <c:pt idx="4">
                  <c:v>23.75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A9B1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 · 80,9</c:v>
                  </c:pt>
                  <c:pt idx="1">
                    <c:v>Año 2 · 80,0</c:v>
                  </c:pt>
                  <c:pt idx="2">
                    <c:v>Año 3 · 116,3</c:v>
                  </c:pt>
                  <c:pt idx="3">
                    <c:v>Año 4 · 134,3</c:v>
                  </c:pt>
                  <c:pt idx="4">
                    <c:v>Año 5 · 163,7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14.4</c:v>
                </c:pt>
                <c:pt idx="1">
                  <c:v>18</c:v>
                </c:pt>
                <c:pt idx="2">
                  <c:v>24</c:v>
                </c:pt>
                <c:pt idx="3">
                  <c:v>24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Comisiones</c:v>
                </c:pt>
              </c:strCache>
            </c:strRef>
          </c:tx>
          <c:spPr>
            <a:solidFill>
              <a:srgbClr val="6B75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 · 80,9</c:v>
                  </c:pt>
                  <c:pt idx="1">
                    <c:v>Año 2 · 80,0</c:v>
                  </c:pt>
                  <c:pt idx="2">
                    <c:v>Año 3 · 116,3</c:v>
                  </c:pt>
                  <c:pt idx="3">
                    <c:v>Año 4 · 134,3</c:v>
                  </c:pt>
                  <c:pt idx="4">
                    <c:v>Año 5 · 163,7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4.92</c:v>
                </c:pt>
                <c:pt idx="1">
                  <c:v>15.58</c:v>
                </c:pt>
                <c:pt idx="2">
                  <c:v>30.3</c:v>
                </c:pt>
                <c:pt idx="3">
                  <c:v>42.45</c:v>
                </c:pt>
                <c:pt idx="4">
                  <c:v>56.98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Otras</c:v>
                </c:pt>
              </c:strCache>
            </c:strRef>
          </c:tx>
          <c:spPr>
            <a:solidFill>
              <a:srgbClr val="3A41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 · 80,9</c:v>
                  </c:pt>
                  <c:pt idx="1">
                    <c:v>Año 2 · 80,0</c:v>
                  </c:pt>
                  <c:pt idx="2">
                    <c:v>Año 3 · 116,3</c:v>
                  </c:pt>
                  <c:pt idx="3">
                    <c:v>Año 4 · 134,3</c:v>
                  </c:pt>
                  <c:pt idx="4">
                    <c:v>Año 5 · 163,7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12.15</c:v>
                </c:pt>
                <c:pt idx="1">
                  <c:v>22.65</c:v>
                </c:pt>
                <c:pt idx="2">
                  <c:v>38.22</c:v>
                </c:pt>
                <c:pt idx="3">
                  <c:v>44.14</c:v>
                </c:pt>
                <c:pt idx="4">
                  <c:v>52.96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Dotación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4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Pre</c:v>
                  </c:pt>
                  <c:pt idx="1">
                    <c:v>Año 1</c:v>
                  </c:pt>
                  <c:pt idx="2">
                    <c:v>Año 2</c:v>
                  </c:pt>
                  <c:pt idx="3">
                    <c:v>Año 3</c:v>
                  </c:pt>
                  <c:pt idx="4">
                    <c:v>Año 4</c:v>
                  </c:pt>
                  <c:pt idx="5">
                    <c:v>Año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13</c:v>
                </c:pt>
                <c:pt idx="2">
                  <c:v>21</c:v>
                </c:pt>
                <c:pt idx="3">
                  <c:v>33</c:v>
                </c:pt>
                <c:pt idx="4">
                  <c:v>40</c:v>
                </c:pt>
                <c:pt idx="5">
                  <c:v>56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4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Inversión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;;&quot;—&quot;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71.2</c:v>
                </c:pt>
                <c:pt idx="1">
                  <c:v>10.1</c:v>
                </c:pt>
                <c:pt idx="2">
                  <c:v>81.3</c:v>
                </c:pt>
                <c:pt idx="3">
                  <c:v>0</c:v>
                </c:pt>
                <c:pt idx="4">
                  <c:v>81.3</c:v>
                </c:pt>
              </c:numCache>
            </c:numRef>
          </c:val>
        </c:ser>
        <c:dLbls>
          <c:numFmt formatCode="0;;&quot;—&quot;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operacional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1064.1</c:v>
                </c:pt>
                <c:pt idx="1">
                  <c:v>2945.4</c:v>
                </c:pt>
                <c:pt idx="2">
                  <c:v>5657.9</c:v>
                </c:pt>
                <c:pt idx="3">
                  <c:v>7623.5</c:v>
                </c:pt>
                <c:pt idx="4">
                  <c:v>9605.8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Adopción acumulada</c:v>
                </c:pt>
              </c:strCache>
            </c:strRef>
          </c:tx>
          <c:spPr>
            <a:solidFill>
              <a:srgbClr val="22B8F0"/>
            </a:solidFill>
            <a:ln w="38100" cap="flat">
              <a:solidFill>
                <a:srgbClr val="22B8F0"/>
              </a:solidFill>
              <a:prstDash val="dash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1"/>
            <c:spPr>
              <a:solidFill>
                <a:srgbClr val="22B8F0"/>
              </a:solidFill>
              <a:ln w="9525" cap="flat">
                <a:solidFill>
                  <a:srgbClr val="22B8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0.0038</c:v>
                </c:pt>
                <c:pt idx="1">
                  <c:v>0.0114</c:v>
                </c:pt>
                <c:pt idx="2">
                  <c:v>0.0265</c:v>
                </c:pt>
                <c:pt idx="3">
                  <c:v>0.056</c:v>
                </c:pt>
                <c:pt idx="4">
                  <c:v>0.1108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Kits a la red</c:v>
                </c:pt>
              </c:strCache>
            </c:strRef>
          </c:tx>
          <c:spPr>
            <a:solidFill>
              <a:srgbClr val="4A52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365</c:v>
                </c:pt>
                <c:pt idx="2">
                  <c:v>1074</c:v>
                </c:pt>
                <c:pt idx="3">
                  <c:v>3287</c:v>
                </c:pt>
                <c:pt idx="4">
                  <c:v>7773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Renta bruta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Gerente General</c:v>
                  </c:pt>
                  <c:pt idx="1">
                    <c:v>Responsable Técnico</c:v>
                  </c:pt>
                  <c:pt idx="2">
                    <c:v>Calibración</c:v>
                  </c:pt>
                  <c:pt idx="3">
                    <c:v>Técnico N4</c:v>
                  </c:pt>
                  <c:pt idx="4">
                    <c:v>Técnico N3</c:v>
                  </c:pt>
                  <c:pt idx="5">
                    <c:v>Administración</c:v>
                  </c:pt>
                  <c:pt idx="6">
                    <c:v>Comercial</c:v>
                  </c:pt>
                  <c:pt idx="7">
                    <c:v>Técnico N1</c:v>
                  </c:pt>
                  <c:pt idx="8">
                    <c:v>Asistentes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2000</c:v>
                </c:pt>
                <c:pt idx="1">
                  <c:v>1800</c:v>
                </c:pt>
                <c:pt idx="2">
                  <c:v>1700</c:v>
                </c:pt>
                <c:pt idx="3">
                  <c:v>1150</c:v>
                </c:pt>
                <c:pt idx="4">
                  <c:v>1000</c:v>
                </c:pt>
                <c:pt idx="5">
                  <c:v>900</c:v>
                </c:pt>
                <c:pt idx="6">
                  <c:v>850</c:v>
                </c:pt>
                <c:pt idx="7">
                  <c:v>750</c:v>
                </c:pt>
                <c:pt idx="8">
                  <c:v>692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Talleres propios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-130.2</c:v>
                </c:pt>
                <c:pt idx="1">
                  <c:v>159.9</c:v>
                </c:pt>
                <c:pt idx="2">
                  <c:v>444.8</c:v>
                </c:pt>
                <c:pt idx="3">
                  <c:v>694.7</c:v>
                </c:pt>
                <c:pt idx="4">
                  <c:v>869.9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de talleres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142.1</c:v>
                </c:pt>
                <c:pt idx="2">
                  <c:v>415.2</c:v>
                </c:pt>
                <c:pt idx="3">
                  <c:v>1233.2</c:v>
                </c:pt>
                <c:pt idx="4">
                  <c:v>2889.5</c:v>
                </c:pt>
              </c:numCache>
            </c:numRef>
          </c:val>
        </c:ser>
        <c:dLbls>
          <c:numFmt formatCode="#,##0;−#,##0;;" sourceLinked="0"/>
          <c:txPr>
            <a:bodyPr/>
            <a:lstStyle/>
            <a:p>
              <a:pPr>
                <a:defRPr b="1" i="0" strike="noStrike" sz="1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50"/>
          <c:min val="-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CECE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Dólar −10%</c:v>
                  </c:pt>
                  <c:pt idx="1">
                    <c:v>Precio +5%</c:v>
                  </c:pt>
                  <c:pt idx="2">
                    <c:v>Plus 80%</c:v>
                  </c:pt>
                  <c:pt idx="3">
                    <c:v>Base</c:v>
                  </c:pt>
                  <c:pt idx="4">
                    <c:v>Plus 40%</c:v>
                  </c:pt>
                  <c:pt idx="5">
                    <c:v>Precio −5%</c:v>
                  </c:pt>
                  <c:pt idx="6">
                    <c:v>Dólar +10%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1646.9</c:v>
                </c:pt>
                <c:pt idx="1">
                  <c:v>1433</c:v>
                </c:pt>
                <c:pt idx="2">
                  <c:v>993.7</c:v>
                </c:pt>
                <c:pt idx="3">
                  <c:v>869.9</c:v>
                </c:pt>
                <c:pt idx="4">
                  <c:v>746.1</c:v>
                </c:pt>
                <c:pt idx="5">
                  <c:v>306.9</c:v>
                </c:pt>
                <c:pt idx="6">
                  <c:v>92.9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25 s
Buenos días. Somos Diego Alarcón, Benjamín Torres y Lukas Verdugo. En las fases anteriores presentamos Lumine Motors: un kit que suma tracción eléctrica en el eje trasero de autos a combustión, sin tocar el motor original. Esta fase responde cómo se lleva a la práctica: cómo vendemos, con quiénes y cómo operamos.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20 s
Nuestro objetivo general es ser, en cinco años, la referencia de la hibridación de posventa en Chile. Pero el primer año decide el resto: instalar 299 vehículos, publicar tres casos con ahorro medido, llegar a 80% de clientes satisfechos y a 15% por recomendación.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¿A quién le vendemos? El cliente no se define por su edad ni por su ingreso, sino por su auto: liviano, a combustión y de tracción delantera, porque el kit va en el eje trasero. De las cuatro variables, la que decide es la conductual: mientras más se usa el auto, antes se paga el kit. Por eso entramos por el uso laboral de la Región Metropolitana: colectivos, taxis y aplicaciones, 162.780 vehículos.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50 s
Todo esto todavía es un supuesto, así que antes de vender validamos. Ya hicimos una entrevista exploratoria a un conductor de aplicaciones; ahora vienen tres etapas. Cuatro expertos, del Estado, la academia, la industria y un taller de híbridos, dirán si la propuesta es aceptable. Cinco entrevistas en profundidad cubrirán cada perfil de cliente. Y una encuesta por cuotas a 150 personas medirá la intención de compra y el precio; como no es aleatoria, sus resultados serán indicativos. La encuesta prueba seis hipótesis, y la que más decide es esta: que la barrera es la confianza y no el precio. Benjamín sigue con la estrategia.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Gracias, Diego. En la matriz de Ansoff entramos por desarrollo de producto: los conductores ya quieren gastar menos, pero la hibridación aditiva no tiene oferta en Chile. Desde el año 2 sumamos penetración y vendemos calibraciones y kits a otros talleres, porque nuestra ventaja competitiva sostenible, la biblioteca de calibraciones, vale más mientras es exclusiva. En el tercero llegan flotas y regiones. En el mapa, Lumine es la única forma de ahorrar sin cambiar de auto y sin límite de antigüedad.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25 s
Hay dos versiones con la misma estructura. Esencial cuesta 4,29 millones con IVA y promete hasta 15% menos bencina en ciudad; Plus, 4,99 millones y hasta 20%. Plus cuesta 16% más, pero ahorra 24% más, por eso la recomendamos. Son ahorros simulados y precios que la encuesta debe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40 s
Las siete P se ordenan en una sola promesa: el cliente conoce su ahorro antes de pagar y lo comprueba después. Llega por la web y el estimador, se instala en nuestro taller y, en regiones, en la red. Paga al contado o en cuotas con convenio, y la promoción parte con clientes piloto y casos medidos. La confianza la dan las personas, el proceso y la evidencia: un dúo con un técnico avanzado, la decisión siempre en manos del cliente y un informe mensual de ahorro.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25 s
¿Cuánto vamos a vender? Con el modelo de Bass, el 11,1% del segmento adopta el kit al quinto año. Pero desde el primer año hay más demanda que capacidad, así que el pronóstico lo pone el taller: 299 vehículos el primer año y 2.851 el quinto. La diferencia la atiende la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20 s
El presupuesto se arma por objetivo y tarea. El primer año son 80,9 millones, y la mayor parte va a 25 clientes piloto, que pagan la mitad a cambio de su caso medido. En cinco años suman 575 millones. Le paso a Lukas.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25 s
Gracias, Benjamín. La estructura es funcional, sin mandos intermedios, y cada cargo responde por un resultado: el Responsable Técnico firma cada auto y Calibración cuida que el ahorro real calce con el estimado. Nadie se contrata antes de que la carga lo justifique: pasamos de 13 a 56 personas, y 36 son técnicos en tres talleres propios.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30 s
Como el oficio escasea, los técnicos se forman en casa con Lumine Habilita: reclutamos, medimos la brecha, capacitamos y validamos por niveles. En unos ocho meses un técnico llega al nivel 4, con un bono por cada nivel. La nómina pasa de 152 a 755 millones, pero por auto baja a la mitad. Y la plataforma ya funciona: pueden probarla con el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La operación sigue al auto en cinco etapas, de la cotización a la postventa, y la decisión de instalar es siempre del cliente. En el taller, un auto por jornada de unas 8,4 horas, con cuatro controles: si uno falla, se detiene.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25 s
Crecemos con un gatillo: dos meses sobre el 80% de la capacidad y entra un dúo; con seis dúos, abre otro taller. Así llegamos a tres talleres propios y a 42 en la red. La condición externa es el reglamento de la Ley 21.793: sin él no hay venta legal.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25 s
La inversión sigue al gatillo: un local nuevo en los años 1, 3 y 5. El gasto crece con las instalaciones y el kit es más del 90%. Como el 82% del kit se paga en dólares, ese es el riesgo mayor: si sube 10%, el margen del quinto año baja de 7,7% a 0,8%.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15 s
En resumen, tres planes que se mueven juntos con un mismo gatillo. Lo que sigue es el plan financiero, que debe responder si la encuesta confirma el precio y cómo nos cubrimos del dólar. Muchas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Queda en pantalla mientras responden las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· No se presenta. Cada tema tiene un enlace a su diapositiva; cada diapositiva del anexo tiene un enlace de vuelta a este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· Solo si preguntan.
Las seis hipótesis con su prueba estadística (Tabla N° 3); significancia de 5%, resultados indicativos por la muestra por cuotas.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· Solo si preguntan.
¿Funciona?, ¿daña mi auto?, ¿pasa la revisión técnica?, ¿hay que enchufarlo? (Tabla N° 4) y los límites de la promesa.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· Solo si preguntan.
Las variables de la mezcla para el cliente final y para la red certificada (Tabla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· Solo si preguntan.
Paquete de entrada, kit con licencia, certificación anual y suscripción a Habilita (Tabla N°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· Solo si preguntan.
TAM, SAM y segmento laboral (Tabla N° 9) y la curva de Bass con su respaldo (Anexo 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· Solo si preguntan.
Demanda atendible, instalaciones propias y kits a la red por año (Tabla N° 10); la red incluye las regiones: al año 5, 4.286 kits en la RM y 3.487 en regiones.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· Solo si preguntan.
Meses para recuperar la inversión por versión y uso, precio por punto de ahorro y cuota del financiamiento (Tabla N° 6 y §3.1.6.2). Responde a «¿quién paga 4 millones?».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A8 · Solo si preguntan.
Dependencia y responsabilidad crítica de cada cargo (Tabla N°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A9 · Solo si preguntan.
Renta bruta mensual por cargo (Tabla N° 14), bono único por nivel validado (Tabla N° 15) y nómina por instalación de cada año (Tabla N°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A10 · Solo si preguntan.
Los siete bloques de la jornada de 8,4 horas y sus cuatro puntos de control (Anexo N° 8). El límite de capacidad son las horas de los dúos: un dinamómetro por local basta, incluso con seis dúos (Tabla N° 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A11 · Solo si preguntan.
Resultado por línea de negocio, inversión por local, gasto del año 5 y margen propio según el dólar (Tablas N° 18 a 21). Proyección referencial, sin impuestos.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A12 · Solo si preguntan.
Resultado de la línea propia al quinto año con dólar, proporción de Plus y precio (Tabla N°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A13 · Solo si preguntan.
La Carta Gantt completa (Figura N° 5): preparación, entrada de cada dúo, calibración de modelos, preapertura y apertura de los talleres 2 y 3, y crecimiento de la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IERRE-image-2.jpe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98448"/>
            <a:ext cx="10058400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58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5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ERTUR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INTEGRADOR II · ICMA 1001 · GRUPO 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6000"/>
              </a:lnSpc>
              <a:buNone/>
              <a:def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defRPr>
            </a:lvl1pPr>
          </a:lstStyle>
          <a:p>
            <a:pPr algn="l" indent="0" marL="0">
              <a:lnSpc>
                <a:spcPct val="86000"/>
              </a:lnSpc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8-image-1.jpe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9-image-1.jpe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3" Type="http://schemas.openxmlformats.org/officeDocument/2006/relationships/slide" Target="slide18.xml"/><Relationship Id="rId4" Type="http://schemas.openxmlformats.org/officeDocument/2006/relationships/slide" Target="slide19.xml"/><Relationship Id="rId5" Type="http://schemas.openxmlformats.org/officeDocument/2006/relationships/slide" Target="slide19.xml"/><Relationship Id="rId6" Type="http://schemas.openxmlformats.org/officeDocument/2006/relationships/slide" Target="slide20.xml"/><Relationship Id="rId7" Type="http://schemas.openxmlformats.org/officeDocument/2006/relationships/slide" Target="slide20.xml"/><Relationship Id="rId8" Type="http://schemas.openxmlformats.org/officeDocument/2006/relationships/slide" Target="slide21.xml"/><Relationship Id="rId9" Type="http://schemas.openxmlformats.org/officeDocument/2006/relationships/slide" Target="slide21.xml"/><Relationship Id="rId10" Type="http://schemas.openxmlformats.org/officeDocument/2006/relationships/slide" Target="slide22.xml"/><Relationship Id="rId11" Type="http://schemas.openxmlformats.org/officeDocument/2006/relationships/slide" Target="slide22.xml"/><Relationship Id="rId12" Type="http://schemas.openxmlformats.org/officeDocument/2006/relationships/slide" Target="slide23.xml"/><Relationship Id="rId13" Type="http://schemas.openxmlformats.org/officeDocument/2006/relationships/slide" Target="slide23.xml"/><Relationship Id="rId14" Type="http://schemas.openxmlformats.org/officeDocument/2006/relationships/slide" Target="slide24.xml"/><Relationship Id="rId15" Type="http://schemas.openxmlformats.org/officeDocument/2006/relationships/slide" Target="slide24.xml"/><Relationship Id="rId16" Type="http://schemas.openxmlformats.org/officeDocument/2006/relationships/slide" Target="slide25.xml"/><Relationship Id="rId17" Type="http://schemas.openxmlformats.org/officeDocument/2006/relationships/slide" Target="slide25.xml"/><Relationship Id="rId18" Type="http://schemas.openxmlformats.org/officeDocument/2006/relationships/slide" Target="slide26.xml"/><Relationship Id="rId19" Type="http://schemas.openxmlformats.org/officeDocument/2006/relationships/slide" Target="slide26.xml"/><Relationship Id="rId20" Type="http://schemas.openxmlformats.org/officeDocument/2006/relationships/slide" Target="slide27.xml"/><Relationship Id="rId21" Type="http://schemas.openxmlformats.org/officeDocument/2006/relationships/slide" Target="slide27.xml"/><Relationship Id="rId22" Type="http://schemas.openxmlformats.org/officeDocument/2006/relationships/slide" Target="slide28.xml"/><Relationship Id="rId23" Type="http://schemas.openxmlformats.org/officeDocument/2006/relationships/slide" Target="slide28.xml"/><Relationship Id="rId24" Type="http://schemas.openxmlformats.org/officeDocument/2006/relationships/slide" Target="slide29.xml"/><Relationship Id="rId25" Type="http://schemas.openxmlformats.org/officeDocument/2006/relationships/slide" Target="slide29.xml"/><Relationship Id="rId26" Type="http://schemas.openxmlformats.org/officeDocument/2006/relationships/slide" Target="slide30.xml"/><Relationship Id="rId27" Type="http://schemas.openxmlformats.org/officeDocument/2006/relationships/slide" Target="slide30.xml"/><Relationship Id="rId1" Type="http://schemas.openxmlformats.org/officeDocument/2006/relationships/image" Target="../media/Slide-17-image-1.jpeg"/><Relationship Id="rId28" Type="http://schemas.openxmlformats.org/officeDocument/2006/relationships/slideLayout" Target="../slideLayouts/slideLayout5.xml"/><Relationship Id="rId2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UNAB · OCTUBRE 2026</a:t>
            </a:r>
            <a:endParaRPr lang="es-CL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CAPÍTULO III</a:t>
            </a:r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·  PLAN DE MARKETING, OPERACIONES Y RECURSOS HUMANOS</a:t>
            </a:r>
            <a:endParaRPr lang="es-CL" sz="14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298448"/>
            <a:ext cx="100584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8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LUMINE MOTORS</a:t>
            </a:r>
            <a:endParaRPr lang="en-US" sz="58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reconversión híbrida · Fase 3</a:t>
            </a:r>
            <a:endParaRPr lang="en-US" sz="5800" dirty="0"/>
          </a:p>
        </p:txBody>
      </p:sp>
      <p:sp>
        <p:nvSpPr>
          <p:cNvPr id="5" name="Shape 3"/>
          <p:cNvSpPr/>
          <p:nvPr/>
        </p:nvSpPr>
        <p:spPr>
          <a:xfrm>
            <a:off x="548640" y="4956048"/>
            <a:ext cx="109728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102352"/>
            <a:ext cx="3429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Integrador II · ICMA 1001 · Grupo 1</a:t>
            </a:r>
            <a:endParaRPr lang="es-CL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Universidad Andrés Bello · Facultad de Economía y Negocios · Ingeniería Comercial</a:t>
            </a:r>
            <a:endParaRPr lang="es-CL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Profesor: Roberto Brito</a:t>
            </a:r>
            <a:endParaRPr lang="es-CL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Diego Alarcón · Benjamín Torres · Lukas Verdugo</a:t>
            </a:r>
            <a:endParaRPr lang="es-CL" sz="1200" dirty="0"/>
          </a:p>
        </p:txBody>
      </p:sp>
      <p:sp>
        <p:nvSpPr>
          <p:cNvPr id="7" name="Shape 5"/>
          <p:cNvSpPr/>
          <p:nvPr/>
        </p:nvSpPr>
        <p:spPr>
          <a:xfrm>
            <a:off x="5010912" y="6163056"/>
            <a:ext cx="429768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10912" y="4608576"/>
            <a:ext cx="0" cy="1554480"/>
          </a:xfrm>
          <a:prstGeom prst="line">
            <a:avLst/>
          </a:prstGeom>
          <a:noFill/>
          <a:ln w="9525">
            <a:solidFill>
              <a:schemeClr val="tx2"/>
            </a:solidFill>
            <a:prstDash val="sysDot"/>
          </a:ln>
        </p:spPr>
      </p:sp>
      <p:sp>
        <p:nvSpPr>
          <p:cNvPr id="9" name="Shape 7"/>
          <p:cNvSpPr/>
          <p:nvPr/>
        </p:nvSpPr>
        <p:spPr>
          <a:xfrm>
            <a:off x="4956048" y="4489704"/>
            <a:ext cx="109728" cy="1097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78908" y="6131052"/>
            <a:ext cx="64008" cy="6400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05072" y="6254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MOTOR ORIGINAL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intacto</a:t>
            </a:r>
            <a:endParaRPr lang="es-CL" sz="1200" dirty="0"/>
          </a:p>
        </p:txBody>
      </p:sp>
      <p:sp>
        <p:nvSpPr>
          <p:cNvPr id="12" name="Shape 10"/>
          <p:cNvSpPr/>
          <p:nvPr/>
        </p:nvSpPr>
        <p:spPr>
          <a:xfrm>
            <a:off x="6931152" y="5166360"/>
            <a:ext cx="0" cy="996696"/>
          </a:xfrm>
          <a:prstGeom prst="line">
            <a:avLst/>
          </a:prstGeom>
          <a:noFill/>
          <a:ln w="9525">
            <a:solidFill>
              <a:schemeClr val="tx2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6876288" y="5047488"/>
            <a:ext cx="109728" cy="1097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99148" y="6131052"/>
            <a:ext cx="64008" cy="6400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25312" y="6254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BATERÍA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bajo el piso</a:t>
            </a:r>
            <a:endParaRPr lang="es-CL" sz="1200" dirty="0"/>
          </a:p>
        </p:txBody>
      </p:sp>
      <p:sp>
        <p:nvSpPr>
          <p:cNvPr id="16" name="Shape 14"/>
          <p:cNvSpPr/>
          <p:nvPr/>
        </p:nvSpPr>
        <p:spPr>
          <a:xfrm>
            <a:off x="9308592" y="5102352"/>
            <a:ext cx="0" cy="1060704"/>
          </a:xfrm>
          <a:prstGeom prst="line">
            <a:avLst/>
          </a:prstGeom>
          <a:noFill/>
          <a:ln w="9525">
            <a:solidFill>
              <a:schemeClr val="tx2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9253728" y="4983480"/>
            <a:ext cx="109728" cy="1097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76588" y="6131052"/>
            <a:ext cx="64008" cy="6400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02752" y="6254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TRACCIÓN ELÉCTRICA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eje trasero</a:t>
            </a:r>
            <a:endParaRPr lang="es-CL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899855" y="640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ILUSTRACIÓN DEL KIT</a:t>
            </a:r>
            <a:endParaRPr lang="es-C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OBJETIVOS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PRIMER AÑO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decide el resto.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con base en Informe Fase 3 (§3.1.1, Tablas N° 1 y 10).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OBJETIVO GENERAL · CINCO AÑOS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2491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Ser la referencia de la hibridación de posventa en Chile.</a:t>
            </a:r>
            <a:endParaRPr lang="es-CL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34670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493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OBJETIVOS ESPECÍFICOS · AÑO 1</a:t>
            </a:r>
            <a:endParaRPr lang="es-CL" sz="1600" dirty="0"/>
          </a:p>
        </p:txBody>
      </p:sp>
      <p:pic>
        <p:nvPicPr>
          <p:cNvPr id="9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1440" y="3730752"/>
            <a:ext cx="3657600" cy="17190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3858768"/>
            <a:ext cx="3383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10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1572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vehículos instalados</a:t>
            </a:r>
            <a:endParaRPr lang="es-CL" sz="2200" dirty="0"/>
          </a:p>
        </p:txBody>
      </p:sp>
      <p:sp>
        <p:nvSpPr>
          <p:cNvPr id="12" name="Shape 9"/>
          <p:cNvSpPr/>
          <p:nvPr/>
        </p:nvSpPr>
        <p:spPr>
          <a:xfrm>
            <a:off x="4297680" y="3968496"/>
            <a:ext cx="0" cy="151790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90288" y="3931920"/>
            <a:ext cx="20826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60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4809744"/>
            <a:ext cx="199125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casos con ahorro medido en nueve meses</a:t>
            </a:r>
            <a:endParaRPr lang="es-CL" sz="2000" dirty="0"/>
          </a:p>
        </p:txBody>
      </p:sp>
      <p:sp>
        <p:nvSpPr>
          <p:cNvPr id="15" name="Shape 12"/>
          <p:cNvSpPr/>
          <p:nvPr/>
        </p:nvSpPr>
        <p:spPr>
          <a:xfrm>
            <a:off x="6746138" y="3968496"/>
            <a:ext cx="0" cy="151790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8746" y="3931920"/>
            <a:ext cx="20826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6000" dirty="0"/>
          </a:p>
        </p:txBody>
      </p:sp>
      <p:sp>
        <p:nvSpPr>
          <p:cNvPr id="17" name="Text 14"/>
          <p:cNvSpPr txBox="1"/>
          <p:nvPr/>
        </p:nvSpPr>
        <p:spPr>
          <a:xfrm>
            <a:off x="7038746" y="4809744"/>
            <a:ext cx="199125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clientes satisfechos</a:t>
            </a:r>
            <a:endParaRPr lang="es-CL" sz="2000" dirty="0"/>
          </a:p>
        </p:txBody>
      </p:sp>
      <p:sp>
        <p:nvSpPr>
          <p:cNvPr id="18" name="Shape 15"/>
          <p:cNvSpPr/>
          <p:nvPr/>
        </p:nvSpPr>
        <p:spPr>
          <a:xfrm>
            <a:off x="9194597" y="3968496"/>
            <a:ext cx="0" cy="151790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87205" y="3931920"/>
            <a:ext cx="208269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6000" dirty="0"/>
          </a:p>
        </p:txBody>
      </p:sp>
      <p:sp>
        <p:nvSpPr>
          <p:cNvPr id="20" name="Text 17"/>
          <p:cNvSpPr txBox="1"/>
          <p:nvPr/>
        </p:nvSpPr>
        <p:spPr>
          <a:xfrm>
            <a:off x="9487205" y="4809744"/>
            <a:ext cx="199125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clientes llega por recomendación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SEGMENTACIÓN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CLIENTE SE DEFINE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por su auto.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(2025), parque de vehículos 2024; SII (2025); Fielbaum y Tirachini (2021); elaboración propia (Informe Fase 3, §3.1.2).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EL AUTO QUE PUEDE LLEVAR EL KIT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79776"/>
            <a:ext cx="1935480" cy="106070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779776"/>
            <a:ext cx="1935480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443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00400"/>
            <a:ext cx="166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Liviano</a:t>
            </a:r>
            <a:endParaRPr lang="es-CL" sz="2100" dirty="0"/>
          </a:p>
        </p:txBody>
      </p:sp>
      <p:sp>
        <p:nvSpPr>
          <p:cNvPr id="10" name="Shape 8"/>
          <p:cNvSpPr/>
          <p:nvPr/>
        </p:nvSpPr>
        <p:spPr>
          <a:xfrm>
            <a:off x="2667000" y="2779776"/>
            <a:ext cx="1935480" cy="106070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67000" y="2779776"/>
            <a:ext cx="1935480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849880" y="29443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endParaRPr lang="es-CL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849880" y="3200400"/>
            <a:ext cx="166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combustión</a:t>
            </a:r>
            <a:endParaRPr lang="es-CL" sz="2100" dirty="0"/>
          </a:p>
        </p:txBody>
      </p:sp>
      <p:sp>
        <p:nvSpPr>
          <p:cNvPr id="14" name="Shape 12"/>
          <p:cNvSpPr/>
          <p:nvPr/>
        </p:nvSpPr>
        <p:spPr>
          <a:xfrm>
            <a:off x="4785360" y="2779776"/>
            <a:ext cx="1935480" cy="106070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5360" y="2779776"/>
            <a:ext cx="1935480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68240" y="294436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endParaRPr lang="es-CL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968240" y="3200400"/>
            <a:ext cx="1661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Tracción delantera</a:t>
            </a:r>
            <a:endParaRPr lang="es-CL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950208"/>
            <a:ext cx="6172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kit va en el eje trasero: por eso manda la tracción.</a:t>
            </a:r>
            <a:endParaRPr lang="es-CL" sz="1700" dirty="0"/>
          </a:p>
        </p:txBody>
      </p:sp>
      <p:pic>
        <p:nvPicPr>
          <p:cNvPr id="19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75688"/>
            <a:ext cx="5425135" cy="2523744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132320" y="2395728"/>
            <a:ext cx="4510735" cy="188366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07745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77456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077456" y="43342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077456" y="417880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542471" y="43342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697919" y="417880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88352" y="257860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PUNTO DE ENTRADA · USO LABORAL</a:t>
            </a:r>
            <a:endParaRPr lang="es-CL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7388352" y="2834640"/>
            <a:ext cx="405353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6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6000" dirty="0"/>
          </a:p>
        </p:txBody>
      </p:sp>
      <p:sp>
        <p:nvSpPr>
          <p:cNvPr id="31" name="Text 28"/>
          <p:cNvSpPr txBox="1"/>
          <p:nvPr/>
        </p:nvSpPr>
        <p:spPr>
          <a:xfrm>
            <a:off x="7388352" y="3694176"/>
            <a:ext cx="4053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colectivos, taxis y aplicaciones en la Región Metropolitana</a:t>
            </a:r>
            <a:endParaRPr lang="es-CL" sz="1700" dirty="0"/>
          </a:p>
        </p:txBody>
      </p:sp>
      <p:sp>
        <p:nvSpPr>
          <p:cNvPr id="32" name="Shape 29"/>
          <p:cNvSpPr/>
          <p:nvPr/>
        </p:nvSpPr>
        <p:spPr>
          <a:xfrm>
            <a:off x="548640" y="4608576"/>
            <a:ext cx="2567864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36592"/>
            <a:ext cx="256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GEOGRÁFICA</a:t>
            </a:r>
            <a:endParaRPr lang="es-CL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029200"/>
            <a:ext cx="256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RM primero</a:t>
            </a:r>
            <a:endParaRPr lang="es-CL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13248"/>
            <a:ext cx="2476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36,8% del parque nacional</a:t>
            </a:r>
            <a:endParaRPr lang="es-CL" sz="1700" dirty="0"/>
          </a:p>
        </p:txBody>
      </p:sp>
      <p:sp>
        <p:nvSpPr>
          <p:cNvPr id="36" name="Shape 33"/>
          <p:cNvSpPr/>
          <p:nvPr/>
        </p:nvSpPr>
        <p:spPr>
          <a:xfrm>
            <a:off x="3390824" y="4608576"/>
            <a:ext cx="2567864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390824" y="4736592"/>
            <a:ext cx="256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DEMOGRÁFICA</a:t>
            </a:r>
            <a:endParaRPr lang="es-CL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390824" y="5029200"/>
            <a:ext cx="256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Cuatro roles</a:t>
            </a:r>
            <a:endParaRPr lang="es-CL" sz="2100" dirty="0"/>
          </a:p>
        </p:txBody>
      </p:sp>
      <p:sp>
        <p:nvSpPr>
          <p:cNvPr id="39" name="Text 36"/>
          <p:cNvSpPr txBox="1"/>
          <p:nvPr/>
        </p:nvSpPr>
        <p:spPr>
          <a:xfrm>
            <a:off x="3390824" y="5413248"/>
            <a:ext cx="2476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usa, decide, paga o influye</a:t>
            </a:r>
            <a:endParaRPr lang="es-CL" sz="1700" dirty="0"/>
          </a:p>
        </p:txBody>
      </p:sp>
      <p:sp>
        <p:nvSpPr>
          <p:cNvPr id="40" name="Shape 37"/>
          <p:cNvSpPr/>
          <p:nvPr/>
        </p:nvSpPr>
        <p:spPr>
          <a:xfrm>
            <a:off x="6233008" y="4608576"/>
            <a:ext cx="2567864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233008" y="4736592"/>
            <a:ext cx="256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PSICOGRÁFICA</a:t>
            </a:r>
            <a:endParaRPr lang="es-CL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233008" y="5029200"/>
            <a:ext cx="256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Cinco motivos</a:t>
            </a:r>
            <a:endParaRPr lang="es-CL" sz="2100" dirty="0"/>
          </a:p>
        </p:txBody>
      </p:sp>
      <p:sp>
        <p:nvSpPr>
          <p:cNvPr id="43" name="Text 40"/>
          <p:cNvSpPr txBox="1"/>
          <p:nvPr/>
        </p:nvSpPr>
        <p:spPr>
          <a:xfrm>
            <a:off x="6233008" y="5413248"/>
            <a:ext cx="2476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solo el ahorro</a:t>
            </a:r>
            <a:endParaRPr lang="es-CL" sz="1700" dirty="0"/>
          </a:p>
        </p:txBody>
      </p:sp>
      <p:sp>
        <p:nvSpPr>
          <p:cNvPr id="44" name="Shape 41"/>
          <p:cNvSpPr/>
          <p:nvPr/>
        </p:nvSpPr>
        <p:spPr>
          <a:xfrm>
            <a:off x="9075191" y="4608576"/>
            <a:ext cx="25678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075191" y="4736592"/>
            <a:ext cx="2567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CONDUCTUAL</a:t>
            </a:r>
            <a:endParaRPr lang="es-CL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9075191" y="5029200"/>
            <a:ext cx="2567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Intensidad de uso</a:t>
            </a:r>
            <a:endParaRPr lang="es-CL" sz="2100" dirty="0"/>
          </a:p>
        </p:txBody>
      </p:sp>
      <p:sp>
        <p:nvSpPr>
          <p:cNvPr id="47" name="Text 44"/>
          <p:cNvSpPr txBox="1"/>
          <p:nvPr/>
        </p:nvSpPr>
        <p:spPr>
          <a:xfrm>
            <a:off x="9075191" y="5413248"/>
            <a:ext cx="2476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decide en cuánto se paga el kit</a:t>
            </a:r>
            <a:endParaRPr lang="es-CL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INVESTIGACIÓN DE MERCADO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VALIDAR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antes de vender.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§3.1.3, Tablas N° 2 y 3). Muestra no probabilística: resultados indicativos.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DISEÑO MIXTO Y SECUENCIAL · DE LO CUALITATIVO A LO CUANTITATIVO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907792"/>
            <a:ext cx="7487717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57784" y="2807208"/>
            <a:ext cx="201168" cy="20116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145536"/>
            <a:ext cx="35152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1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6499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Expertos</a:t>
            </a:r>
            <a:endParaRPr lang="es-CL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03904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25696"/>
            <a:ext cx="34238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Estado, academia, industria y taller</a:t>
            </a:r>
            <a:endParaRPr lang="es-CL" sz="1700" dirty="0"/>
          </a:p>
        </p:txBody>
      </p:sp>
      <p:sp>
        <p:nvSpPr>
          <p:cNvPr id="12" name="Shape 10"/>
          <p:cNvSpPr/>
          <p:nvPr/>
        </p:nvSpPr>
        <p:spPr>
          <a:xfrm>
            <a:off x="4255922" y="2807208"/>
            <a:ext cx="201168" cy="20116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46778" y="3145536"/>
            <a:ext cx="35152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2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246778" y="336499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Clientes</a:t>
            </a:r>
            <a:endParaRPr lang="es-CL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246778" y="3803904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5000" dirty="0"/>
          </a:p>
        </p:txBody>
      </p:sp>
      <p:sp>
        <p:nvSpPr>
          <p:cNvPr id="16" name="Text 14"/>
          <p:cNvSpPr txBox="1"/>
          <p:nvPr/>
        </p:nvSpPr>
        <p:spPr>
          <a:xfrm>
            <a:off x="4246778" y="4425696"/>
            <a:ext cx="34238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 profundidad, una por perfil</a:t>
            </a:r>
            <a:endParaRPr lang="es-CL" sz="1700" dirty="0"/>
          </a:p>
        </p:txBody>
      </p:sp>
      <p:sp>
        <p:nvSpPr>
          <p:cNvPr id="17" name="Shape 15"/>
          <p:cNvSpPr/>
          <p:nvPr/>
        </p:nvSpPr>
        <p:spPr>
          <a:xfrm>
            <a:off x="7954061" y="2807208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44917" y="3145536"/>
            <a:ext cx="35152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3</a:t>
            </a:r>
            <a:endParaRPr lang="es-CL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944917" y="3364992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Encuesta</a:t>
            </a:r>
            <a:endParaRPr lang="es-CL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944917" y="3803904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150</a:t>
            </a:r>
            <a:endParaRPr lang="es-CL" sz="5000" dirty="0"/>
          </a:p>
        </p:txBody>
      </p:sp>
      <p:sp>
        <p:nvSpPr>
          <p:cNvPr id="21" name="Text 19"/>
          <p:cNvSpPr txBox="1"/>
          <p:nvPr/>
        </p:nvSpPr>
        <p:spPr>
          <a:xfrm>
            <a:off x="7944917" y="4425696"/>
            <a:ext cx="34238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personas, muestreo por cuotas</a:t>
            </a:r>
            <a:endParaRPr lang="es-CL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86460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956048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</a:t>
            </a:r>
            <a:endParaRPr lang="es-CL" sz="88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50109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HIPÓTESIS · LA QUE MÁS DECIDE</a:t>
            </a:r>
            <a:endParaRPr lang="es-CL" sz="1600" dirty="0"/>
          </a:p>
        </p:txBody>
      </p:sp>
      <p:sp>
        <p:nvSpPr>
          <p:cNvPr id="25" name="Shape 23"/>
          <p:cNvSpPr/>
          <p:nvPr/>
        </p:nvSpPr>
        <p:spPr>
          <a:xfrm>
            <a:off x="6544767" y="4974336"/>
            <a:ext cx="5098288" cy="329184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654495" y="4974336"/>
            <a:ext cx="4878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MUESTRA POR CUOTAS · RESULTADOS INDICATIVOS</a:t>
            </a:r>
            <a:endParaRPr lang="es-CL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508760" y="5321808"/>
            <a:ext cx="101342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«La barrera es la confianza, no el precio.»</a:t>
            </a:r>
            <a:endParaRPr lang="es-CL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5815584"/>
            <a:ext cx="10134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Las otras cinco miden quién compra primero, los motivos, los respaldos y las alternativas.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ANSOFF Y POSICIONAMIENTO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UNA OPORTUNIDAD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sin oferta en Chile.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Ansoff (1965); KMcheck, Autofact, Mercado Libre y Abastible (2026); Gasco (s.f.); elaboración propia (Informe Fase 3, §3.1.4 y §3.1.5).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3957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 EXISTENTE</a:t>
            </a:r>
            <a:endParaRPr lang="es-CL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23957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 NUEVO</a:t>
            </a:r>
            <a:endParaRPr lang="es-CL" sz="1400" dirty="0"/>
          </a:p>
        </p:txBody>
      </p:sp>
      <p:sp>
        <p:nvSpPr>
          <p:cNvPr id="7" name="Text 5"/>
          <p:cNvSpPr txBox="1"/>
          <p:nvPr/>
        </p:nvSpPr>
        <p:spPr>
          <a:xfrm rot="16200000">
            <a:off x="-114300" y="3461004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MERCADO EXISTENTE</a:t>
            </a:r>
            <a:endParaRPr lang="es-CL" sz="14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-114300" y="5189220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MERCADO NUEVO</a:t>
            </a:r>
            <a:endParaRPr lang="es-CL" sz="1400" dirty="0"/>
          </a:p>
        </p:txBody>
      </p:sp>
      <p:pic>
        <p:nvPicPr>
          <p:cNvPr id="9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2231136"/>
            <a:ext cx="4206240" cy="282549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749040" y="2779776"/>
            <a:ext cx="2743200" cy="1728216"/>
          </a:xfrm>
          <a:prstGeom prst="rect">
            <a:avLst/>
          </a:prstGeom>
          <a:solidFill>
            <a:srgbClr val="0B1A22">
              <a:alpha val="85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3749040" y="27797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749040" y="2779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36792" y="27797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92240" y="2779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749040" y="45079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749040" y="43525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36792" y="45079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92240" y="43525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03904" y="4562856"/>
            <a:ext cx="2633472" cy="1618488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1005840" y="4507992"/>
            <a:ext cx="548640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749040" y="2779776"/>
            <a:ext cx="0" cy="3456432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5840" y="2779776"/>
            <a:ext cx="0" cy="3456432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05840" y="6236208"/>
            <a:ext cx="54864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922776" y="2990088"/>
            <a:ext cx="420624" cy="42062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922776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4498848" y="29260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ENTRADA</a:t>
            </a:r>
            <a:endParaRPr lang="es-CL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4498848" y="3236976"/>
            <a:ext cx="19019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Desarrollo de producto</a:t>
            </a:r>
            <a:endParaRPr lang="es-CL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4498848" y="3950208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oferta en Chile</a:t>
            </a:r>
            <a:endParaRPr lang="es-CL" sz="1700" dirty="0"/>
          </a:p>
        </p:txBody>
      </p:sp>
      <p:sp>
        <p:nvSpPr>
          <p:cNvPr id="29" name="Shape 26"/>
          <p:cNvSpPr/>
          <p:nvPr/>
        </p:nvSpPr>
        <p:spPr>
          <a:xfrm>
            <a:off x="3154680" y="2990088"/>
            <a:ext cx="420624" cy="4206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154680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1152144" y="29260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1152144" y="3236976"/>
            <a:ext cx="19019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Penetración</a:t>
            </a:r>
            <a:endParaRPr lang="es-CL" sz="2000" dirty="0"/>
          </a:p>
        </p:txBody>
      </p:sp>
      <p:sp>
        <p:nvSpPr>
          <p:cNvPr id="33" name="Shape 30"/>
          <p:cNvSpPr/>
          <p:nvPr/>
        </p:nvSpPr>
        <p:spPr>
          <a:xfrm>
            <a:off x="3922776" y="4718304"/>
            <a:ext cx="420624" cy="42062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22776" y="4718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4498848" y="465429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DESDE EL AÑO 2</a:t>
            </a:r>
            <a:endParaRPr lang="es-CL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4498848" y="4965192"/>
            <a:ext cx="19019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Diversificación</a:t>
            </a:r>
            <a:endParaRPr lang="es-CL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4498848" y="5678424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calibraciones y kits para otros talleres</a:t>
            </a:r>
            <a:endParaRPr lang="es-CL" sz="1700" dirty="0"/>
          </a:p>
        </p:txBody>
      </p:sp>
      <p:sp>
        <p:nvSpPr>
          <p:cNvPr id="38" name="Shape 35"/>
          <p:cNvSpPr/>
          <p:nvPr/>
        </p:nvSpPr>
        <p:spPr>
          <a:xfrm>
            <a:off x="3154680" y="4718304"/>
            <a:ext cx="420624" cy="4206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154680" y="4718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1152144" y="465429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152144" y="4965192"/>
            <a:ext cx="19019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Desarrollo de mercado</a:t>
            </a:r>
            <a:endParaRPr lang="es-CL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1152144" y="5678424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flotas y regiones</a:t>
            </a:r>
            <a:endParaRPr lang="es-CL" sz="1700" dirty="0"/>
          </a:p>
        </p:txBody>
      </p:sp>
      <p:sp>
        <p:nvSpPr>
          <p:cNvPr id="43" name="Shape 40"/>
          <p:cNvSpPr/>
          <p:nvPr/>
        </p:nvSpPr>
        <p:spPr>
          <a:xfrm>
            <a:off x="3877056" y="3200400"/>
            <a:ext cx="-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4" name="Shape 41"/>
          <p:cNvSpPr/>
          <p:nvPr/>
        </p:nvSpPr>
        <p:spPr>
          <a:xfrm>
            <a:off x="3364992" y="3456432"/>
            <a:ext cx="0" cy="121615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4133088" y="3456432"/>
            <a:ext cx="0" cy="121615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46" name="Text 43"/>
          <p:cNvSpPr txBox="1"/>
          <p:nvPr/>
        </p:nvSpPr>
        <p:spPr>
          <a:xfrm>
            <a:off x="6949440" y="2395728"/>
            <a:ext cx="4693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AHORRAR SIN CAMBIAR DE AUTO</a:t>
            </a:r>
            <a:endParaRPr lang="es-CL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6949440" y="27066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INICIAL</a:t>
            </a:r>
            <a:endParaRPr lang="es-CL" sz="1200" dirty="0"/>
          </a:p>
        </p:txBody>
      </p:sp>
      <p:sp>
        <p:nvSpPr>
          <p:cNvPr id="48" name="Shape 45"/>
          <p:cNvSpPr/>
          <p:nvPr/>
        </p:nvSpPr>
        <p:spPr>
          <a:xfrm>
            <a:off x="9555480" y="2980944"/>
            <a:ext cx="204185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555480" y="2935224"/>
            <a:ext cx="0" cy="4572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98280" y="270662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$0</a:t>
            </a:r>
            <a:endParaRPr lang="es-CL" sz="1200" dirty="0"/>
          </a:p>
        </p:txBody>
      </p:sp>
      <p:sp>
        <p:nvSpPr>
          <p:cNvPr id="51" name="Shape 48"/>
          <p:cNvSpPr/>
          <p:nvPr/>
        </p:nvSpPr>
        <p:spPr>
          <a:xfrm>
            <a:off x="10340809" y="2935224"/>
            <a:ext cx="0" cy="4572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883609" y="270662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$10 M</a:t>
            </a:r>
            <a:endParaRPr lang="es-CL" sz="1200" dirty="0"/>
          </a:p>
        </p:txBody>
      </p:sp>
      <p:sp>
        <p:nvSpPr>
          <p:cNvPr id="53" name="Shape 50"/>
          <p:cNvSpPr/>
          <p:nvPr/>
        </p:nvSpPr>
        <p:spPr>
          <a:xfrm>
            <a:off x="11126138" y="2935224"/>
            <a:ext cx="0" cy="4572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668938" y="270662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$20 M</a:t>
            </a:r>
            <a:endParaRPr lang="es-CL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6949440" y="3108960"/>
            <a:ext cx="4693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CONSERVA SU AUTO</a:t>
            </a:r>
            <a:endParaRPr lang="es-CL" sz="1200" dirty="0"/>
          </a:p>
        </p:txBody>
      </p:sp>
      <p:sp>
        <p:nvSpPr>
          <p:cNvPr id="56" name="Shape 53"/>
          <p:cNvSpPr/>
          <p:nvPr/>
        </p:nvSpPr>
        <p:spPr>
          <a:xfrm>
            <a:off x="6949440" y="3785616"/>
            <a:ext cx="46936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986016" y="3364992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hacer nada</a:t>
            </a:r>
            <a:endParaRPr lang="es-CL" sz="1800" dirty="0"/>
          </a:p>
        </p:txBody>
      </p:sp>
      <p:sp>
        <p:nvSpPr>
          <p:cNvPr id="58" name="Shape 55"/>
          <p:cNvSpPr/>
          <p:nvPr/>
        </p:nvSpPr>
        <p:spPr>
          <a:xfrm>
            <a:off x="9473184" y="3493008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9" name="Shape 56"/>
          <p:cNvSpPr/>
          <p:nvPr/>
        </p:nvSpPr>
        <p:spPr>
          <a:xfrm>
            <a:off x="6949440" y="4334256"/>
            <a:ext cx="46936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986016" y="378561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Conversión a gas</a:t>
            </a:r>
            <a:endParaRPr lang="es-CL" sz="1800" dirty="0"/>
          </a:p>
          <a:p>
            <a:pPr indent="0" marL="0">
              <a:lnSpc>
                <a:spcPct val="90000"/>
              </a:lnSpc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7 años de antigüedad</a:t>
            </a:r>
            <a:endParaRPr lang="es-CL" sz="1800" dirty="0"/>
          </a:p>
        </p:txBody>
      </p:sp>
      <p:sp>
        <p:nvSpPr>
          <p:cNvPr id="61" name="Shape 58"/>
          <p:cNvSpPr/>
          <p:nvPr/>
        </p:nvSpPr>
        <p:spPr>
          <a:xfrm>
            <a:off x="9626160" y="4005072"/>
            <a:ext cx="70680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2" name="Shape 59"/>
          <p:cNvSpPr/>
          <p:nvPr/>
        </p:nvSpPr>
        <p:spPr>
          <a:xfrm>
            <a:off x="9543864" y="3977640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3" name="Image 1" descr="/home/user/lumine/fase-3/generador/assets/brill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142232"/>
            <a:ext cx="5242255" cy="932688"/>
          </a:xfrm>
          <a:prstGeom prst="rect">
            <a:avLst/>
          </a:prstGeom>
        </p:spPr>
      </p:pic>
      <p:sp>
        <p:nvSpPr>
          <p:cNvPr id="64" name="Shape 60"/>
          <p:cNvSpPr/>
          <p:nvPr/>
        </p:nvSpPr>
        <p:spPr>
          <a:xfrm>
            <a:off x="6876288" y="4352544"/>
            <a:ext cx="4766767" cy="512064"/>
          </a:xfrm>
          <a:prstGeom prst="rect">
            <a:avLst/>
          </a:prstGeom>
          <a:solidFill>
            <a:srgbClr val="0B1A2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986016" y="433425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Lumine</a:t>
            </a:r>
            <a:endParaRPr lang="es-CL" sz="1800" dirty="0"/>
          </a:p>
          <a:p>
            <a:pPr indent="0" marL="0">
              <a:lnSpc>
                <a:spcPct val="90000"/>
              </a:lnSpc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límite de antigüedad</a:t>
            </a:r>
            <a:endParaRPr lang="es-CL" sz="1800" dirty="0"/>
          </a:p>
        </p:txBody>
      </p:sp>
      <p:sp>
        <p:nvSpPr>
          <p:cNvPr id="66" name="Shape 62"/>
          <p:cNvSpPr/>
          <p:nvPr/>
        </p:nvSpPr>
        <p:spPr>
          <a:xfrm>
            <a:off x="9892386" y="4553712"/>
            <a:ext cx="54973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7" name="Shape 63"/>
          <p:cNvSpPr/>
          <p:nvPr/>
        </p:nvSpPr>
        <p:spPr>
          <a:xfrm>
            <a:off x="9810090" y="4526280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6949440" y="4956048"/>
            <a:ext cx="4693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CAMBIA DE AUTO</a:t>
            </a:r>
            <a:endParaRPr lang="es-CL" sz="1200" dirty="0"/>
          </a:p>
        </p:txBody>
      </p:sp>
      <p:sp>
        <p:nvSpPr>
          <p:cNvPr id="69" name="Shape 65"/>
          <p:cNvSpPr/>
          <p:nvPr/>
        </p:nvSpPr>
        <p:spPr>
          <a:xfrm>
            <a:off x="6949440" y="5632704"/>
            <a:ext cx="46936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6986016" y="521208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Híbrido usado</a:t>
            </a:r>
            <a:endParaRPr lang="es-CL" sz="1800" dirty="0"/>
          </a:p>
        </p:txBody>
      </p:sp>
      <p:sp>
        <p:nvSpPr>
          <p:cNvPr id="71" name="Shape 67"/>
          <p:cNvSpPr/>
          <p:nvPr/>
        </p:nvSpPr>
        <p:spPr>
          <a:xfrm>
            <a:off x="10301542" y="5367528"/>
            <a:ext cx="274865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2" name="Shape 68"/>
          <p:cNvSpPr/>
          <p:nvPr/>
        </p:nvSpPr>
        <p:spPr>
          <a:xfrm>
            <a:off x="10219246" y="5340096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73" name="Shape 69"/>
          <p:cNvSpPr/>
          <p:nvPr/>
        </p:nvSpPr>
        <p:spPr>
          <a:xfrm>
            <a:off x="6949440" y="6053328"/>
            <a:ext cx="46936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986016" y="5632704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Eléctrico nuevo</a:t>
            </a:r>
            <a:endParaRPr lang="es-CL" sz="1800" dirty="0"/>
          </a:p>
        </p:txBody>
      </p:sp>
      <p:sp>
        <p:nvSpPr>
          <p:cNvPr id="75" name="Shape 71"/>
          <p:cNvSpPr/>
          <p:nvPr/>
        </p:nvSpPr>
        <p:spPr>
          <a:xfrm>
            <a:off x="10654155" y="5788152"/>
            <a:ext cx="943180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6" name="Shape 72"/>
          <p:cNvSpPr/>
          <p:nvPr/>
        </p:nvSpPr>
        <p:spPr>
          <a:xfrm>
            <a:off x="10571859" y="5760720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PRODUCTO Y PRECIO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MISMO AUTO,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dos alternativas.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elaboración propia (Informe Fase 3, Tablas N° 5 y 6; Anexos N° 2 y 9). Ahorros simulados, no medidos en autos chilenos.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291840" cy="28346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95728"/>
            <a:ext cx="3291840" cy="5486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15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ESENCIAL</a:t>
            </a:r>
            <a:endParaRPr lang="es-CL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4436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$4.290.000</a:t>
            </a:r>
            <a:endParaRPr lang="es-CL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PRECIO DE REFERENCIA · CON IVA</a:t>
            </a:r>
            <a:endParaRPr lang="es-CL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4059936"/>
            <a:ext cx="27432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16966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</a:t>
            </a:r>
            <a:pPr indent="0" marL="0">
              <a:buNone/>
            </a:pPr>
            <a:r>
              <a:rPr lang="es-CL" altLang="en-US" sz="5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5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2803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menos bencina en ciudad</a:t>
            </a:r>
            <a:endParaRPr lang="es-CL" sz="1800" dirty="0"/>
          </a:p>
        </p:txBody>
      </p:sp>
      <p:pic>
        <p:nvPicPr>
          <p:cNvPr id="13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56" y="1938528"/>
            <a:ext cx="4754880" cy="37490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151376" y="2395728"/>
            <a:ext cx="3291840" cy="2834640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151376" y="2395728"/>
            <a:ext cx="3291840" cy="5486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Shape 13"/>
          <p:cNvSpPr/>
          <p:nvPr/>
        </p:nvSpPr>
        <p:spPr>
          <a:xfrm>
            <a:off x="4096512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9651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42632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0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96512" y="52852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96512" y="51297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42632" y="52852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0" y="51297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25696" y="2615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PLUS</a:t>
            </a:r>
            <a:endParaRPr lang="es-CL" sz="1800" dirty="0"/>
          </a:p>
        </p:txBody>
      </p:sp>
      <p:sp>
        <p:nvSpPr>
          <p:cNvPr id="25" name="Shape 22"/>
          <p:cNvSpPr/>
          <p:nvPr/>
        </p:nvSpPr>
        <p:spPr>
          <a:xfrm>
            <a:off x="5568696" y="2578608"/>
            <a:ext cx="1600200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5678424" y="2578608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RECOMENDADO</a:t>
            </a:r>
            <a:endParaRPr lang="es-CL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425696" y="294436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$4.990.000</a:t>
            </a:r>
            <a:endParaRPr lang="es-CL" sz="4600" dirty="0"/>
          </a:p>
        </p:txBody>
      </p:sp>
      <p:sp>
        <p:nvSpPr>
          <p:cNvPr id="28" name="Text 25"/>
          <p:cNvSpPr txBox="1"/>
          <p:nvPr/>
        </p:nvSpPr>
        <p:spPr>
          <a:xfrm>
            <a:off x="442569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PRECIO DE REFERENCIA · CON IVA</a:t>
            </a:r>
            <a:endParaRPr lang="es-CL" sz="1200" dirty="0"/>
          </a:p>
        </p:txBody>
      </p:sp>
      <p:sp>
        <p:nvSpPr>
          <p:cNvPr id="29" name="Shape 26"/>
          <p:cNvSpPr/>
          <p:nvPr/>
        </p:nvSpPr>
        <p:spPr>
          <a:xfrm>
            <a:off x="4425696" y="4059936"/>
            <a:ext cx="27432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25696" y="416966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</a:t>
            </a:r>
            <a:pPr indent="0" marL="0">
              <a:buNone/>
            </a:pPr>
            <a:r>
              <a:rPr lang="es-CL" altLang="en-US" sz="5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20%</a:t>
            </a:r>
            <a:endParaRPr lang="es-CL" sz="5800" dirty="0"/>
          </a:p>
        </p:txBody>
      </p:sp>
      <p:sp>
        <p:nvSpPr>
          <p:cNvPr id="31" name="Text 28"/>
          <p:cNvSpPr txBox="1"/>
          <p:nvPr/>
        </p:nvSpPr>
        <p:spPr>
          <a:xfrm>
            <a:off x="4425696" y="482803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menos bencina en ciudad</a:t>
            </a:r>
            <a:endParaRPr lang="es-CL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376672"/>
            <a:ext cx="6894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Plus: </a:t>
            </a:r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16% más caro, </a:t>
            </a:r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24% más ahorro.</a:t>
            </a:r>
            <a:endParaRPr lang="es-CL" sz="2200" dirty="0"/>
          </a:p>
        </p:txBody>
      </p:sp>
      <p:sp>
        <p:nvSpPr>
          <p:cNvPr id="33" name="Shape 30"/>
          <p:cNvSpPr/>
          <p:nvPr/>
        </p:nvSpPr>
        <p:spPr>
          <a:xfrm>
            <a:off x="548640" y="5888736"/>
            <a:ext cx="6215888" cy="329184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58368" y="5888736"/>
            <a:ext cx="599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AHORROS SIMULADOS · PRECIOS A VALIDAR CON LA ENCUESTA</a:t>
            </a:r>
            <a:endParaRPr lang="es-CL" sz="1300" dirty="0"/>
          </a:p>
        </p:txBody>
      </p:sp>
      <p:pic>
        <p:nvPicPr>
          <p:cNvPr id="35" name="Image 1" descr="Kit Lumine: batería bajo el piso y tracción eléctrica en el eje trasero (ilustración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4696" y="2395728"/>
            <a:ext cx="3788359" cy="3840480"/>
          </a:xfrm>
          <a:prstGeom prst="rect">
            <a:avLst/>
          </a:prstGeom>
        </p:spPr>
      </p:pic>
      <p:sp>
        <p:nvSpPr>
          <p:cNvPr id="36" name="Shape 32"/>
          <p:cNvSpPr/>
          <p:nvPr/>
        </p:nvSpPr>
        <p:spPr>
          <a:xfrm>
            <a:off x="7854696" y="2395728"/>
            <a:ext cx="3788359" cy="384048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01000" y="2523744"/>
            <a:ext cx="35140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ILUSTRACIÓN DEL KIT</a:t>
            </a:r>
            <a:endParaRPr lang="es-CL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8001000" y="5669280"/>
            <a:ext cx="35140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Misma estructura; cambia la potencia de los motores.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MIX DE SERVICIOS (7 P)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AHORRO SE VE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antes de pagar.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§3.1.6 y Tabla N° 8).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2622728" cy="1819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578608"/>
            <a:ext cx="384048" cy="3291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578608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25296" y="2578608"/>
            <a:ext cx="1799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</a:t>
            </a:r>
            <a:endParaRPr lang="es-CL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072384"/>
            <a:ext cx="227525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 Esencial o Plus, certificado en una jornada</a:t>
            </a:r>
            <a:endParaRPr lang="es-CL" sz="1900" dirty="0"/>
          </a:p>
        </p:txBody>
      </p:sp>
      <p:sp>
        <p:nvSpPr>
          <p:cNvPr id="10" name="Shape 8"/>
          <p:cNvSpPr/>
          <p:nvPr/>
        </p:nvSpPr>
        <p:spPr>
          <a:xfrm>
            <a:off x="3372536" y="2395728"/>
            <a:ext cx="2622728" cy="1819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55416" y="2578608"/>
            <a:ext cx="384048" cy="3291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55416" y="2578608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049192" y="2578608"/>
            <a:ext cx="1799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PRECIO</a:t>
            </a:r>
            <a:endParaRPr lang="es-CL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55416" y="3072384"/>
            <a:ext cx="227525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$4,29 M y $4,99 M con IVA; cuotas con convenio</a:t>
            </a:r>
            <a:endParaRPr lang="es-CL" sz="1900" dirty="0"/>
          </a:p>
        </p:txBody>
      </p:sp>
      <p:sp>
        <p:nvSpPr>
          <p:cNvPr id="15" name="Shape 13"/>
          <p:cNvSpPr/>
          <p:nvPr/>
        </p:nvSpPr>
        <p:spPr>
          <a:xfrm>
            <a:off x="6196432" y="2395728"/>
            <a:ext cx="2622728" cy="1819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79312" y="2578608"/>
            <a:ext cx="384048" cy="3291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79312" y="2578608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73088" y="2578608"/>
            <a:ext cx="1799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PLAZA</a:t>
            </a:r>
            <a:endParaRPr lang="es-CL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9312" y="3072384"/>
            <a:ext cx="227525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Web y taller propio en la RM; la red, en regiones</a:t>
            </a:r>
            <a:endParaRPr lang="es-CL" sz="1900" dirty="0"/>
          </a:p>
        </p:txBody>
      </p:sp>
      <p:sp>
        <p:nvSpPr>
          <p:cNvPr id="20" name="Shape 18"/>
          <p:cNvSpPr/>
          <p:nvPr/>
        </p:nvSpPr>
        <p:spPr>
          <a:xfrm>
            <a:off x="9020327" y="2395728"/>
            <a:ext cx="2622728" cy="1819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03207" y="2578608"/>
            <a:ext cx="384048" cy="3291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03207" y="2578608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96983" y="2578608"/>
            <a:ext cx="1799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PROMOCIÓN</a:t>
            </a:r>
            <a:endParaRPr lang="es-CL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203207" y="3072384"/>
            <a:ext cx="227525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Estimador, clientes piloto, casos medidos y referidos</a:t>
            </a:r>
            <a:endParaRPr lang="es-CL" sz="1900" dirty="0"/>
          </a:p>
        </p:txBody>
      </p:sp>
      <p:sp>
        <p:nvSpPr>
          <p:cNvPr id="25" name="Shape 23"/>
          <p:cNvSpPr/>
          <p:nvPr/>
        </p:nvSpPr>
        <p:spPr>
          <a:xfrm>
            <a:off x="548640" y="4416552"/>
            <a:ext cx="2622728" cy="1819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4599432"/>
            <a:ext cx="384048" cy="3291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45994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25296" y="4599432"/>
            <a:ext cx="1799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PERSONAS</a:t>
            </a:r>
            <a:endParaRPr lang="es-CL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093208"/>
            <a:ext cx="227525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dúo con un técnico N3 o N4</a:t>
            </a:r>
            <a:endParaRPr lang="es-CL" sz="1900" dirty="0"/>
          </a:p>
        </p:txBody>
      </p:sp>
      <p:sp>
        <p:nvSpPr>
          <p:cNvPr id="30" name="Shape 28"/>
          <p:cNvSpPr/>
          <p:nvPr/>
        </p:nvSpPr>
        <p:spPr>
          <a:xfrm>
            <a:off x="3372536" y="4416552"/>
            <a:ext cx="2622728" cy="1819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55416" y="4599432"/>
            <a:ext cx="384048" cy="3291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55416" y="45994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4049192" y="4599432"/>
            <a:ext cx="1799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PROCESOS</a:t>
            </a:r>
            <a:endParaRPr lang="es-CL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555416" y="5093208"/>
            <a:ext cx="227525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Cinco etapas; instalar lo decide el cliente</a:t>
            </a:r>
            <a:endParaRPr lang="es-CL" sz="1900" dirty="0"/>
          </a:p>
        </p:txBody>
      </p:sp>
      <p:sp>
        <p:nvSpPr>
          <p:cNvPr id="35" name="Shape 33"/>
          <p:cNvSpPr/>
          <p:nvPr/>
        </p:nvSpPr>
        <p:spPr>
          <a:xfrm>
            <a:off x="6196432" y="4416552"/>
            <a:ext cx="2622728" cy="1819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79312" y="4599432"/>
            <a:ext cx="384048" cy="3291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79312" y="45994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7</a:t>
            </a:r>
            <a:endParaRPr lang="es-CL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873088" y="4599432"/>
            <a:ext cx="1799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EVIDENCIA FÍSICA</a:t>
            </a:r>
            <a:endParaRPr lang="es-CL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79312" y="5093208"/>
            <a:ext cx="227525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Certificado, sello e informe mensual de ahorro</a:t>
            </a:r>
            <a:endParaRPr lang="es-CL" sz="1900" dirty="0"/>
          </a:p>
        </p:txBody>
      </p:sp>
      <p:pic>
        <p:nvPicPr>
          <p:cNvPr id="40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567" y="4160520"/>
            <a:ext cx="3354248" cy="2331720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9020327" y="4416552"/>
            <a:ext cx="2622728" cy="1819656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965463" y="436168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965463" y="436168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1542471" y="436168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1697919" y="436168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965463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965463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221495" y="4599432"/>
            <a:ext cx="2256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UNA SOLA PROMESA</a:t>
            </a:r>
            <a:endParaRPr lang="es-CL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9221495" y="5020056"/>
            <a:ext cx="225696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s-CL" altLang="en-US" sz="19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Conoce su ahorro antes de pagar y lo comprueba después.</a:t>
            </a:r>
            <a:endParaRPr lang="es-CL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DEMANDA Y PRONÓSTICO DE VENTAS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HAY MÁS DEMANDA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que capacidad.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(2025); Centro UC en Emol (2026); Descubre (2026); Massiani y Gohs (2015); elaboración propia (Tabla N° 10, Anexo N° 4).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Modelo de Bass: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11,1% del segmento laboral adopta el kit al año 5.</a:t>
            </a:r>
            <a:endParaRPr lang="es-CL" sz="2000" dirty="0"/>
          </a:p>
        </p:txBody>
      </p:sp>
      <p:sp>
        <p:nvSpPr>
          <p:cNvPr id="6" name="Shape 4"/>
          <p:cNvSpPr/>
          <p:nvPr/>
        </p:nvSpPr>
        <p:spPr>
          <a:xfrm>
            <a:off x="10156647" y="2395728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0266375" y="2395728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</a:t>
            </a:r>
            <a:endParaRPr lang="es-CL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35808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2962656"/>
            <a:ext cx="208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Demanda atendible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3198368" y="3035808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90976" y="2962656"/>
            <a:ext cx="532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Instalaciones propias: el pronóstico de ventas</a:t>
            </a:r>
            <a:endParaRPr lang="es-CL" sz="1600" dirty="0"/>
          </a:p>
        </p:txBody>
      </p:sp>
      <p:graphicFrame>
        <p:nvGraphicFramePr>
          <p:cNvPr id="12" name="Demanda atendible y pronóstico de ventas por año" descr=""/>
          <p:cNvGraphicFramePr/>
          <p:nvPr/>
        </p:nvGraphicFramePr>
        <p:xfrm>
          <a:off x="457200" y="3364992"/>
          <a:ext cx="11277295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" y="5833872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límite es físico: técnicos y espacio.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Desde el año 2, la diferencia la atiende la red de talleres.</a:t>
            </a:r>
            <a:endParaRPr lang="es-C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PRIMER AÑO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se invierte en evidencia.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11). Montos netos de 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OBJETIVO Y TAREA · MILLONES DE $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61488"/>
            <a:ext cx="175450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Clientes piloto</a:t>
            </a:r>
            <a:endParaRPr lang="es-CL" sz="1500" dirty="0"/>
          </a:p>
        </p:txBody>
      </p:sp>
      <p:sp>
        <p:nvSpPr>
          <p:cNvPr id="8" name="Shape 6"/>
          <p:cNvSpPr/>
          <p:nvPr/>
        </p:nvSpPr>
        <p:spPr>
          <a:xfrm>
            <a:off x="2687193" y="2834640"/>
            <a:ext cx="201168" cy="201168"/>
          </a:xfrm>
          <a:prstGeom prst="rect">
            <a:avLst/>
          </a:prstGeom>
          <a:solidFill>
            <a:srgbClr val="A9B1B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79801" y="2761488"/>
            <a:ext cx="1544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Pauta digital</a:t>
            </a:r>
            <a:endParaRPr lang="es-CL" sz="1500" dirty="0"/>
          </a:p>
        </p:txBody>
      </p:sp>
      <p:sp>
        <p:nvSpPr>
          <p:cNvPr id="10" name="Shape 8"/>
          <p:cNvSpPr/>
          <p:nvPr/>
        </p:nvSpPr>
        <p:spPr>
          <a:xfrm>
            <a:off x="4616196" y="2834640"/>
            <a:ext cx="201168" cy="201168"/>
          </a:xfrm>
          <a:prstGeom prst="rect">
            <a:avLst/>
          </a:prstGeom>
          <a:solidFill>
            <a:srgbClr val="6B757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08804" y="2761488"/>
            <a:ext cx="12306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Comisiones</a:t>
            </a:r>
            <a:endParaRPr lang="es-CL" sz="1500" dirty="0"/>
          </a:p>
        </p:txBody>
      </p:sp>
      <p:sp>
        <p:nvSpPr>
          <p:cNvPr id="12" name="Shape 10"/>
          <p:cNvSpPr/>
          <p:nvPr/>
        </p:nvSpPr>
        <p:spPr>
          <a:xfrm>
            <a:off x="6230874" y="2834640"/>
            <a:ext cx="201168" cy="201168"/>
          </a:xfrm>
          <a:prstGeom prst="rect">
            <a:avLst/>
          </a:prstGeom>
          <a:solidFill>
            <a:srgbClr val="3A41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3482" y="2761488"/>
            <a:ext cx="7067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Otras</a:t>
            </a:r>
            <a:endParaRPr lang="es-CL" sz="1500" dirty="0"/>
          </a:p>
        </p:txBody>
      </p:sp>
      <p:graphicFrame>
        <p:nvGraphicFramePr>
          <p:cNvPr id="14" name="Presupuesto de marketing por partida" descr=""/>
          <p:cNvGraphicFramePr/>
          <p:nvPr/>
        </p:nvGraphicFramePr>
        <p:xfrm>
          <a:off x="457200" y="3182112"/>
          <a:ext cx="7406640" cy="30540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15" name="Image 0" descr="/home/user/lumine/fase-3/generador/assets/brill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22576"/>
            <a:ext cx="4053535" cy="179222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321040" y="2395728"/>
            <a:ext cx="3322015" cy="18288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6617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66176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66176" y="42793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266176" y="41239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542471" y="42793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697919" y="41239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49640" y="2560320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</a:t>
            </a:r>
            <a:endParaRPr lang="es-CL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549640" y="2816352"/>
            <a:ext cx="2956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$80,9 M</a:t>
            </a:r>
            <a:endParaRPr lang="es-CL" sz="5200" dirty="0"/>
          </a:p>
        </p:txBody>
      </p:sp>
      <p:sp>
        <p:nvSpPr>
          <p:cNvPr id="27" name="Text 23"/>
          <p:cNvSpPr txBox="1"/>
          <p:nvPr/>
        </p:nvSpPr>
        <p:spPr>
          <a:xfrm>
            <a:off x="8549640" y="3547872"/>
            <a:ext cx="29562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25 clientes piloto a mitad de precio, por su caso medido</a:t>
            </a:r>
            <a:endParaRPr lang="es-CL" sz="1500" dirty="0"/>
          </a:p>
        </p:txBody>
      </p:sp>
      <p:sp>
        <p:nvSpPr>
          <p:cNvPr id="28" name="Shape 24"/>
          <p:cNvSpPr/>
          <p:nvPr/>
        </p:nvSpPr>
        <p:spPr>
          <a:xfrm>
            <a:off x="8321040" y="4498848"/>
            <a:ext cx="33220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321040" y="4626864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CINCO AÑOS</a:t>
            </a:r>
            <a:endParaRPr lang="es-CL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8321040" y="4901184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5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$575 M</a:t>
            </a:r>
            <a:endParaRPr lang="es-CL" sz="5200" dirty="0"/>
          </a:p>
        </p:txBody>
      </p:sp>
      <p:sp>
        <p:nvSpPr>
          <p:cNvPr id="31" name="Text 27"/>
          <p:cNvSpPr txBox="1"/>
          <p:nvPr/>
        </p:nvSpPr>
        <p:spPr>
          <a:xfrm>
            <a:off x="8321040" y="5632704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netos de IVA; desde el año 3 pesan más las comisiones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ESTRUCTURA Y DOTACIÓN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DE 13 A 56 PERSONAS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 cinco años.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(2021); elaboración propia (Informe Fase 3, Figura N° 3 y Tabla N° 12).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PERSONAS AL CIERRE DE CADA AÑO</a:t>
            </a:r>
            <a:endParaRPr lang="es-CL" sz="1600" dirty="0"/>
          </a:p>
        </p:txBody>
      </p:sp>
      <p:graphicFrame>
        <p:nvGraphicFramePr>
          <p:cNvPr id="6" name="Dotación al cierre de cada año" descr=""/>
          <p:cNvGraphicFramePr/>
          <p:nvPr/>
        </p:nvGraphicFramePr>
        <p:xfrm>
          <a:off x="457200" y="2761488"/>
          <a:ext cx="5532120" cy="29443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779008"/>
            <a:ext cx="5623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año 5: 3 talleres propios, 18 dúos, 36 técnicos. </a:t>
            </a:r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red contrata a los suyos.</a:t>
            </a:r>
            <a:endParaRPr lang="es-CL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46520" y="2395728"/>
            <a:ext cx="5196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ORGANIGRAMA · AL ABRIR Y AL AÑO 5</a:t>
            </a:r>
            <a:endParaRPr lang="es-CL" sz="1600" dirty="0"/>
          </a:p>
        </p:txBody>
      </p:sp>
      <p:sp>
        <p:nvSpPr>
          <p:cNvPr id="9" name="Shape 6"/>
          <p:cNvSpPr/>
          <p:nvPr/>
        </p:nvSpPr>
        <p:spPr>
          <a:xfrm>
            <a:off x="6446520" y="2761488"/>
            <a:ext cx="5196535" cy="457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91656" y="27066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91656" y="2706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27066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2706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91656" y="32735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91656" y="311810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32735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311810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2761488"/>
            <a:ext cx="5196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Gerencia General</a:t>
            </a:r>
            <a:endParaRPr lang="es-CL" sz="1800" dirty="0"/>
          </a:p>
        </p:txBody>
      </p:sp>
      <p:sp>
        <p:nvSpPr>
          <p:cNvPr id="19" name="Shape 16"/>
          <p:cNvSpPr/>
          <p:nvPr/>
        </p:nvSpPr>
        <p:spPr>
          <a:xfrm>
            <a:off x="6629400" y="3218688"/>
            <a:ext cx="0" cy="2770632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29400" y="3566160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0" y="3364992"/>
            <a:ext cx="4785055" cy="40233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95160" y="3364992"/>
            <a:ext cx="3322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Responsable Técnico</a:t>
            </a:r>
            <a:endParaRPr lang="es-CL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0180015" y="336499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400" dirty="0"/>
          </a:p>
        </p:txBody>
      </p:sp>
      <p:sp>
        <p:nvSpPr>
          <p:cNvPr id="24" name="Shape 21"/>
          <p:cNvSpPr/>
          <p:nvPr/>
        </p:nvSpPr>
        <p:spPr>
          <a:xfrm>
            <a:off x="10737799" y="3566160"/>
            <a:ext cx="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1048695" y="3364992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400" dirty="0"/>
          </a:p>
        </p:txBody>
      </p:sp>
      <p:sp>
        <p:nvSpPr>
          <p:cNvPr id="26" name="Shape 23"/>
          <p:cNvSpPr/>
          <p:nvPr/>
        </p:nvSpPr>
        <p:spPr>
          <a:xfrm>
            <a:off x="7040880" y="3767328"/>
            <a:ext cx="0" cy="28346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040880" y="4050792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pic>
        <p:nvPicPr>
          <p:cNvPr id="28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3657600"/>
            <a:ext cx="4922215" cy="786384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269480" y="3849624"/>
            <a:ext cx="4373575" cy="402336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406640" y="3849624"/>
            <a:ext cx="2910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Técnicos en dúos</a:t>
            </a:r>
            <a:endParaRPr lang="es-CL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10180015" y="384962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400" dirty="0"/>
          </a:p>
        </p:txBody>
      </p:sp>
      <p:sp>
        <p:nvSpPr>
          <p:cNvPr id="32" name="Shape 28"/>
          <p:cNvSpPr/>
          <p:nvPr/>
        </p:nvSpPr>
        <p:spPr>
          <a:xfrm>
            <a:off x="10737799" y="4050792"/>
            <a:ext cx="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3" name="Text 29"/>
          <p:cNvSpPr txBox="1"/>
          <p:nvPr/>
        </p:nvSpPr>
        <p:spPr>
          <a:xfrm>
            <a:off x="11048695" y="3849624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endParaRPr lang="es-CL" sz="2400" dirty="0"/>
          </a:p>
        </p:txBody>
      </p:sp>
      <p:sp>
        <p:nvSpPr>
          <p:cNvPr id="34" name="Shape 30"/>
          <p:cNvSpPr/>
          <p:nvPr/>
        </p:nvSpPr>
        <p:spPr>
          <a:xfrm>
            <a:off x="6629400" y="4535424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0" y="4334256"/>
            <a:ext cx="4785055" cy="40233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995160" y="4334256"/>
            <a:ext cx="3322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Ingeniería de Calibración</a:t>
            </a:r>
            <a:endParaRPr lang="es-CL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10180015" y="43342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400" dirty="0"/>
          </a:p>
        </p:txBody>
      </p:sp>
      <p:sp>
        <p:nvSpPr>
          <p:cNvPr id="38" name="Shape 34"/>
          <p:cNvSpPr/>
          <p:nvPr/>
        </p:nvSpPr>
        <p:spPr>
          <a:xfrm>
            <a:off x="10737799" y="4535424"/>
            <a:ext cx="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9" name="Text 35"/>
          <p:cNvSpPr txBox="1"/>
          <p:nvPr/>
        </p:nvSpPr>
        <p:spPr>
          <a:xfrm>
            <a:off x="11048695" y="43342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2400" dirty="0"/>
          </a:p>
        </p:txBody>
      </p:sp>
      <p:sp>
        <p:nvSpPr>
          <p:cNvPr id="40" name="Shape 36"/>
          <p:cNvSpPr/>
          <p:nvPr/>
        </p:nvSpPr>
        <p:spPr>
          <a:xfrm>
            <a:off x="6629400" y="5020056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858000" y="4818888"/>
            <a:ext cx="4785055" cy="40233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995160" y="4818888"/>
            <a:ext cx="3322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y Postventa</a:t>
            </a:r>
            <a:endParaRPr lang="es-CL" sz="1600" dirty="0"/>
          </a:p>
        </p:txBody>
      </p:sp>
      <p:sp>
        <p:nvSpPr>
          <p:cNvPr id="43" name="Text 39"/>
          <p:cNvSpPr txBox="1"/>
          <p:nvPr/>
        </p:nvSpPr>
        <p:spPr>
          <a:xfrm>
            <a:off x="10180015" y="4818888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400" dirty="0"/>
          </a:p>
        </p:txBody>
      </p:sp>
      <p:sp>
        <p:nvSpPr>
          <p:cNvPr id="44" name="Shape 40"/>
          <p:cNvSpPr/>
          <p:nvPr/>
        </p:nvSpPr>
        <p:spPr>
          <a:xfrm>
            <a:off x="10737799" y="5020056"/>
            <a:ext cx="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5" name="Text 41"/>
          <p:cNvSpPr txBox="1"/>
          <p:nvPr/>
        </p:nvSpPr>
        <p:spPr>
          <a:xfrm>
            <a:off x="11048695" y="4818888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2400" dirty="0"/>
          </a:p>
        </p:txBody>
      </p:sp>
      <p:sp>
        <p:nvSpPr>
          <p:cNvPr id="46" name="Shape 42"/>
          <p:cNvSpPr/>
          <p:nvPr/>
        </p:nvSpPr>
        <p:spPr>
          <a:xfrm>
            <a:off x="6629400" y="5504688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0" y="5303520"/>
            <a:ext cx="4785055" cy="402336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6995160" y="5303520"/>
            <a:ext cx="3322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de Empresas</a:t>
            </a:r>
            <a:pPr indent="0" marL="0">
              <a:buNone/>
            </a:pPr>
            <a:r>
              <a:rPr lang="es-CL" altLang="en-US" sz="1300" b="1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· mes 46</a:t>
            </a:r>
            <a:endParaRPr lang="es-CL" sz="1600" dirty="0"/>
          </a:p>
        </p:txBody>
      </p:sp>
      <p:sp>
        <p:nvSpPr>
          <p:cNvPr id="49" name="Text 45"/>
          <p:cNvSpPr txBox="1"/>
          <p:nvPr/>
        </p:nvSpPr>
        <p:spPr>
          <a:xfrm>
            <a:off x="10180015" y="530352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</a:t>
            </a:r>
            <a:endParaRPr lang="es-CL" sz="2400" dirty="0"/>
          </a:p>
        </p:txBody>
      </p:sp>
      <p:sp>
        <p:nvSpPr>
          <p:cNvPr id="50" name="Shape 46"/>
          <p:cNvSpPr/>
          <p:nvPr/>
        </p:nvSpPr>
        <p:spPr>
          <a:xfrm>
            <a:off x="10737799" y="5504688"/>
            <a:ext cx="25603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1" name="Text 47"/>
          <p:cNvSpPr txBox="1"/>
          <p:nvPr/>
        </p:nvSpPr>
        <p:spPr>
          <a:xfrm>
            <a:off x="11048695" y="5303520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2400" dirty="0"/>
          </a:p>
        </p:txBody>
      </p:sp>
      <p:sp>
        <p:nvSpPr>
          <p:cNvPr id="52" name="Shape 48"/>
          <p:cNvSpPr/>
          <p:nvPr/>
        </p:nvSpPr>
        <p:spPr>
          <a:xfrm>
            <a:off x="6629400" y="5989320"/>
            <a:ext cx="228600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6858000" y="5788152"/>
            <a:ext cx="4785055" cy="40233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995160" y="5788152"/>
            <a:ext cx="33220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Administración y Personas</a:t>
            </a:r>
            <a:endParaRPr lang="es-CL" sz="1600" dirty="0"/>
          </a:p>
        </p:txBody>
      </p:sp>
      <p:sp>
        <p:nvSpPr>
          <p:cNvPr id="55" name="Text 51"/>
          <p:cNvSpPr txBox="1"/>
          <p:nvPr/>
        </p:nvSpPr>
        <p:spPr>
          <a:xfrm>
            <a:off x="10225735" y="57881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POLÍTICA DE PERSONAS Y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LUMINE HABILITA: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técnicos formados en casa.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Ley N° 21.735; Ley N° 16.744; Ley N° 19.728; elaboración propia (Informe Fase 3, §3.2.3, Tablas N° 14 a 16 y Anexo N° 7). Código QR: demostración de Lumine Habilita.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RUTA DE N1 A N4 · RENTA BRUTA MENSUAL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630168"/>
            <a:ext cx="1696212" cy="21031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630168"/>
            <a:ext cx="1696212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3813048"/>
            <a:ext cx="658368" cy="40233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381304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N1</a:t>
            </a:r>
            <a:endParaRPr lang="es-CL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306824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Aprende</a:t>
            </a:r>
            <a:endParaRPr lang="es-CL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690872"/>
            <a:ext cx="1421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 meses de formación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166360"/>
            <a:ext cx="14218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$750 mil</a:t>
            </a:r>
            <a:endParaRPr lang="es-CL" sz="3200" dirty="0"/>
          </a:p>
        </p:txBody>
      </p:sp>
      <p:sp>
        <p:nvSpPr>
          <p:cNvPr id="13" name="Shape 11"/>
          <p:cNvSpPr/>
          <p:nvPr/>
        </p:nvSpPr>
        <p:spPr>
          <a:xfrm>
            <a:off x="2391156" y="3264408"/>
            <a:ext cx="1696212" cy="246888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91156" y="3264408"/>
            <a:ext cx="1696212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5" name="Shape 13"/>
          <p:cNvSpPr/>
          <p:nvPr/>
        </p:nvSpPr>
        <p:spPr>
          <a:xfrm>
            <a:off x="2555748" y="3447288"/>
            <a:ext cx="658368" cy="40233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555748" y="344728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N2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2555748" y="3941064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</a:t>
            </a:r>
            <a:endParaRPr lang="es-CL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2555748" y="4325112"/>
            <a:ext cx="1421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 meses supervisado</a:t>
            </a:r>
            <a:endParaRPr lang="es-CL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555748" y="5166360"/>
            <a:ext cx="14218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200" dirty="0"/>
          </a:p>
        </p:txBody>
      </p:sp>
      <p:sp>
        <p:nvSpPr>
          <p:cNvPr id="20" name="Shape 18"/>
          <p:cNvSpPr/>
          <p:nvPr/>
        </p:nvSpPr>
        <p:spPr>
          <a:xfrm>
            <a:off x="4233672" y="2898648"/>
            <a:ext cx="1696212" cy="283464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33672" y="2898648"/>
            <a:ext cx="1696212" cy="45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2" name="Shape 20"/>
          <p:cNvSpPr/>
          <p:nvPr/>
        </p:nvSpPr>
        <p:spPr>
          <a:xfrm>
            <a:off x="4398264" y="3081528"/>
            <a:ext cx="658368" cy="40233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98264" y="308152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N3</a:t>
            </a:r>
            <a:endParaRPr lang="es-CL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398264" y="3575304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Autónomo</a:t>
            </a:r>
            <a:endParaRPr lang="es-CL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4398264" y="3959352"/>
            <a:ext cx="1421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90 días de período autónomo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398264" y="5166360"/>
            <a:ext cx="14218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$1,0 M</a:t>
            </a:r>
            <a:endParaRPr lang="es-CL" sz="3200" dirty="0"/>
          </a:p>
        </p:txBody>
      </p:sp>
      <p:pic>
        <p:nvPicPr>
          <p:cNvPr id="27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212848"/>
            <a:ext cx="2610612" cy="384048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076188" y="2532888"/>
            <a:ext cx="1696212" cy="32004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21324" y="24780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21324" y="24780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71816" y="24780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827264" y="24780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021324" y="57881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21324" y="563270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671816" y="578815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827264" y="563270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076188" y="2532888"/>
            <a:ext cx="1696212" cy="45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Shape 35"/>
          <p:cNvSpPr/>
          <p:nvPr/>
        </p:nvSpPr>
        <p:spPr>
          <a:xfrm>
            <a:off x="6240780" y="2715768"/>
            <a:ext cx="658368" cy="40233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6240780" y="271576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N4</a:t>
            </a:r>
            <a:endParaRPr lang="es-CL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6240780" y="3209544"/>
            <a:ext cx="1476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</a:t>
            </a:r>
            <a:endParaRPr lang="es-CL" sz="2100" dirty="0"/>
          </a:p>
        </p:txBody>
      </p:sp>
      <p:sp>
        <p:nvSpPr>
          <p:cNvPr id="41" name="Text 38"/>
          <p:cNvSpPr txBox="1"/>
          <p:nvPr/>
        </p:nvSpPr>
        <p:spPr>
          <a:xfrm>
            <a:off x="6240780" y="3593592"/>
            <a:ext cx="1421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 y valida a otros</a:t>
            </a:r>
            <a:endParaRPr lang="es-CL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6240780" y="5166360"/>
            <a:ext cx="14218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$1,15 M</a:t>
            </a:r>
            <a:endParaRPr lang="es-CL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582472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N1 al N4 en unos ocho meses,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 un bono por nivel validado.</a:t>
            </a:r>
            <a:endParaRPr lang="es-CL" sz="1800" dirty="0"/>
          </a:p>
        </p:txBody>
      </p:sp>
      <p:sp>
        <p:nvSpPr>
          <p:cNvPr id="44" name="Shape 41"/>
          <p:cNvSpPr/>
          <p:nvPr/>
        </p:nvSpPr>
        <p:spPr>
          <a:xfrm>
            <a:off x="8183880" y="2395728"/>
            <a:ext cx="345917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83880" y="24688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</a:t>
            </a:r>
            <a:endParaRPr lang="es-CL" sz="3800" dirty="0"/>
          </a:p>
        </p:txBody>
      </p:sp>
      <p:sp>
        <p:nvSpPr>
          <p:cNvPr id="46" name="Text 43"/>
          <p:cNvSpPr txBox="1"/>
          <p:nvPr/>
        </p:nvSpPr>
        <p:spPr>
          <a:xfrm>
            <a:off x="8183880" y="3035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competencias</a:t>
            </a:r>
            <a:endParaRPr lang="es-CL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9646920" y="246888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800" dirty="0"/>
          </a:p>
        </p:txBody>
      </p:sp>
      <p:sp>
        <p:nvSpPr>
          <p:cNvPr id="48" name="Text 45"/>
          <p:cNvSpPr txBox="1"/>
          <p:nvPr/>
        </p:nvSpPr>
        <p:spPr>
          <a:xfrm>
            <a:off x="9646920" y="30358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niveles</a:t>
            </a:r>
            <a:endParaRPr lang="es-CL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10561320" y="2468880"/>
            <a:ext cx="1081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392</a:t>
            </a:r>
            <a:endParaRPr lang="es-CL" sz="3800" dirty="0"/>
          </a:p>
        </p:txBody>
      </p:sp>
      <p:sp>
        <p:nvSpPr>
          <p:cNvPr id="50" name="Text 47"/>
          <p:cNvSpPr txBox="1"/>
          <p:nvPr/>
        </p:nvSpPr>
        <p:spPr>
          <a:xfrm>
            <a:off x="10561320" y="3035808"/>
            <a:ext cx="1081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horas</a:t>
            </a:r>
            <a:endParaRPr lang="es-CL" sz="1500" dirty="0"/>
          </a:p>
        </p:txBody>
      </p:sp>
      <p:sp>
        <p:nvSpPr>
          <p:cNvPr id="51" name="Shape 48"/>
          <p:cNvSpPr/>
          <p:nvPr/>
        </p:nvSpPr>
        <p:spPr>
          <a:xfrm>
            <a:off x="8183880" y="3511296"/>
            <a:ext cx="345917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183880" y="3584448"/>
            <a:ext cx="3459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NÓMINA · MILLONES DE $ · AÑO 1 Y AÑO 5</a:t>
            </a:r>
            <a:endParaRPr lang="es-CL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8375904" y="385876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152</a:t>
            </a:r>
            <a:endParaRPr lang="es-CL" sz="3600" dirty="0"/>
          </a:p>
        </p:txBody>
      </p:sp>
      <p:sp>
        <p:nvSpPr>
          <p:cNvPr id="54" name="Shape 51"/>
          <p:cNvSpPr/>
          <p:nvPr/>
        </p:nvSpPr>
        <p:spPr>
          <a:xfrm>
            <a:off x="9436608" y="4142232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5" name="Text 52"/>
          <p:cNvSpPr txBox="1"/>
          <p:nvPr/>
        </p:nvSpPr>
        <p:spPr>
          <a:xfrm>
            <a:off x="9820656" y="385876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755</a:t>
            </a:r>
            <a:endParaRPr lang="es-CL" sz="3600" dirty="0"/>
          </a:p>
        </p:txBody>
      </p:sp>
      <p:sp>
        <p:nvSpPr>
          <p:cNvPr id="56" name="Text 53"/>
          <p:cNvSpPr txBox="1"/>
          <p:nvPr/>
        </p:nvSpPr>
        <p:spPr>
          <a:xfrm>
            <a:off x="8183880" y="4443984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auto, baja de $508 mil a $253 mil</a:t>
            </a:r>
            <a:endParaRPr lang="es-CL" sz="1500" dirty="0"/>
          </a:p>
        </p:txBody>
      </p:sp>
      <p:sp>
        <p:nvSpPr>
          <p:cNvPr id="57" name="Shape 54"/>
          <p:cNvSpPr/>
          <p:nvPr/>
        </p:nvSpPr>
        <p:spPr>
          <a:xfrm>
            <a:off x="8183880" y="4809744"/>
            <a:ext cx="345917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58" name="Image 1" descr="Código QR a la demostración de Lumine Habili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919472"/>
            <a:ext cx="1280160" cy="1280160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9646920" y="4992624"/>
            <a:ext cx="1996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YA FUNCIONA</a:t>
            </a:r>
            <a:endParaRPr lang="es-CL" sz="1300" dirty="0"/>
          </a:p>
        </p:txBody>
      </p:sp>
      <p:sp>
        <p:nvSpPr>
          <p:cNvPr id="60" name="Text 56"/>
          <p:cNvSpPr txBox="1"/>
          <p:nvPr/>
        </p:nvSpPr>
        <p:spPr>
          <a:xfrm>
            <a:off x="9646920" y="5266944"/>
            <a:ext cx="199613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Pruébala: Lumine Habilita, versión de demostración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DIAGRAMA DE FLUJO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DE LA COTIZACIÓN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 la postventa.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(2021), arts. 11 a 18; elaboración propia (Informe Fase 3, Figura N° 4, Tabla N° 17 y Anexo N° 8). Tiempos estimados. Imágenes ilustrativas.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4005072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pic>
        <p:nvPicPr>
          <p:cNvPr id="6" name="Image 0" descr="Cotización en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95728"/>
            <a:ext cx="2057949" cy="1298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2395728"/>
            <a:ext cx="2057949" cy="1298448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3813048"/>
            <a:ext cx="384048" cy="384048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1800" dirty="0"/>
          </a:p>
        </p:txBody>
      </p:sp>
      <p:sp>
        <p:nvSpPr>
          <p:cNvPr id="10" name="Shape 7"/>
          <p:cNvSpPr/>
          <p:nvPr/>
        </p:nvSpPr>
        <p:spPr>
          <a:xfrm>
            <a:off x="2332269" y="4005072"/>
            <a:ext cx="40233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548640" y="4297680"/>
            <a:ext cx="205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CAPTACIÓN</a:t>
            </a:r>
            <a:endParaRPr lang="es-CL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553712"/>
            <a:ext cx="2057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Cotiza en la web</a:t>
            </a:r>
            <a:endParaRPr lang="es-CL" sz="1900" dirty="0"/>
          </a:p>
        </p:txBody>
      </p:sp>
      <p:pic>
        <p:nvPicPr>
          <p:cNvPr id="13" name="Image 1" descr="Diagnóstico con telemetrí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757" y="2395728"/>
            <a:ext cx="2057949" cy="12984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2807757" y="2395728"/>
            <a:ext cx="2057949" cy="1298448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807757" y="3813048"/>
            <a:ext cx="384048" cy="384048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807757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1800" dirty="0"/>
          </a:p>
        </p:txBody>
      </p:sp>
      <p:sp>
        <p:nvSpPr>
          <p:cNvPr id="17" name="Shape 13"/>
          <p:cNvSpPr/>
          <p:nvPr/>
        </p:nvSpPr>
        <p:spPr>
          <a:xfrm>
            <a:off x="4591385" y="4005072"/>
            <a:ext cx="40233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2807757" y="4297680"/>
            <a:ext cx="205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ASESORÍA</a:t>
            </a:r>
            <a:endParaRPr lang="es-CL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2807757" y="4553712"/>
            <a:ext cx="2057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cliente decide</a:t>
            </a:r>
            <a:endParaRPr lang="es-CL" sz="1900" dirty="0"/>
          </a:p>
        </p:txBody>
      </p:sp>
      <p:pic>
        <p:nvPicPr>
          <p:cNvPr id="20" name="Image 2" descr="Dúo de técnicos instalando el k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873" y="2395728"/>
            <a:ext cx="2057949" cy="1298448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066873" y="2395728"/>
            <a:ext cx="2057949" cy="1298448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066873" y="3813048"/>
            <a:ext cx="384048" cy="384048"/>
          </a:xfrm>
          <a:prstGeom prst="ellipse">
            <a:avLst/>
          </a:prstGeom>
          <a:solidFill>
            <a:schemeClr val="accent1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066873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1800" dirty="0"/>
          </a:p>
        </p:txBody>
      </p:sp>
      <p:sp>
        <p:nvSpPr>
          <p:cNvPr id="24" name="Shape 19"/>
          <p:cNvSpPr/>
          <p:nvPr/>
        </p:nvSpPr>
        <p:spPr>
          <a:xfrm>
            <a:off x="6850502" y="4005072"/>
            <a:ext cx="40233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Text 20"/>
          <p:cNvSpPr txBox="1"/>
          <p:nvPr/>
        </p:nvSpPr>
        <p:spPr>
          <a:xfrm>
            <a:off x="5066873" y="4297680"/>
            <a:ext cx="205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TALLER</a:t>
            </a:r>
            <a:endParaRPr lang="es-CL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66873" y="4553712"/>
            <a:ext cx="2057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Una jornada</a:t>
            </a:r>
            <a:endParaRPr lang="es-CL" sz="1900" dirty="0"/>
          </a:p>
        </p:txBody>
      </p:sp>
      <p:pic>
        <p:nvPicPr>
          <p:cNvPr id="27" name="Image 3" descr="Entrega del auto certifica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990" y="2395728"/>
            <a:ext cx="2057949" cy="1298448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7325990" y="2395728"/>
            <a:ext cx="2057949" cy="1298448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325990" y="3813048"/>
            <a:ext cx="384048" cy="384048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325990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1800" dirty="0"/>
          </a:p>
        </p:txBody>
      </p:sp>
      <p:sp>
        <p:nvSpPr>
          <p:cNvPr id="31" name="Shape 25"/>
          <p:cNvSpPr/>
          <p:nvPr/>
        </p:nvSpPr>
        <p:spPr>
          <a:xfrm>
            <a:off x="9109619" y="4005072"/>
            <a:ext cx="40233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2" name="Text 26"/>
          <p:cNvSpPr txBox="1"/>
          <p:nvPr/>
        </p:nvSpPr>
        <p:spPr>
          <a:xfrm>
            <a:off x="7325990" y="4297680"/>
            <a:ext cx="205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CERTIFICACIÓN</a:t>
            </a:r>
            <a:endParaRPr lang="es-CL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7325990" y="4553712"/>
            <a:ext cx="2057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Sale certificado</a:t>
            </a:r>
            <a:endParaRPr lang="es-CL" sz="1900" dirty="0"/>
          </a:p>
        </p:txBody>
      </p:sp>
      <p:pic>
        <p:nvPicPr>
          <p:cNvPr id="34" name="Image 4" descr="Centro de control que mide el ahorr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5107" y="2395728"/>
            <a:ext cx="2057949" cy="1298448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585107" y="2395728"/>
            <a:ext cx="2057949" cy="1298448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585107" y="3813048"/>
            <a:ext cx="384048" cy="384048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585107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585107" y="4297680"/>
            <a:ext cx="20579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POSTVENTA</a:t>
            </a:r>
            <a:endParaRPr lang="es-CL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9585107" y="4553712"/>
            <a:ext cx="2057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Ahorro medido</a:t>
            </a:r>
            <a:endParaRPr lang="es-CL" sz="1900" dirty="0"/>
          </a:p>
        </p:txBody>
      </p:sp>
      <p:sp>
        <p:nvSpPr>
          <p:cNvPr id="40" name="Shape 33"/>
          <p:cNvSpPr/>
          <p:nvPr/>
        </p:nvSpPr>
        <p:spPr>
          <a:xfrm>
            <a:off x="548640" y="5056632"/>
            <a:ext cx="201168" cy="201168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accent1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841248" y="499262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 el cliente</a:t>
            </a:r>
            <a:endParaRPr lang="es-CL" sz="1500" dirty="0"/>
          </a:p>
        </p:txBody>
      </p:sp>
      <p:sp>
        <p:nvSpPr>
          <p:cNvPr id="42" name="Shape 35"/>
          <p:cNvSpPr/>
          <p:nvPr/>
        </p:nvSpPr>
        <p:spPr>
          <a:xfrm>
            <a:off x="2743200" y="5056632"/>
            <a:ext cx="201168" cy="201168"/>
          </a:xfrm>
          <a:prstGeom prst="ellipse">
            <a:avLst/>
          </a:prstGeom>
          <a:solidFill>
            <a:schemeClr val="bg1"/>
          </a:solidFill>
          <a:ln w="22225">
            <a:solidFill>
              <a:schemeClr val="tx2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035808" y="499262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Técnica</a:t>
            </a:r>
            <a:endParaRPr lang="es-CL" sz="1500" dirty="0"/>
          </a:p>
        </p:txBody>
      </p:sp>
      <p:sp>
        <p:nvSpPr>
          <p:cNvPr id="44" name="Shape 37"/>
          <p:cNvSpPr/>
          <p:nvPr/>
        </p:nvSpPr>
        <p:spPr>
          <a:xfrm>
            <a:off x="548640" y="544982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48640" y="5541264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8,4 h</a:t>
            </a:r>
            <a:endParaRPr lang="es-CL" sz="4400" dirty="0"/>
          </a:p>
        </p:txBody>
      </p:sp>
      <p:sp>
        <p:nvSpPr>
          <p:cNvPr id="46" name="Shape 39"/>
          <p:cNvSpPr/>
          <p:nvPr/>
        </p:nvSpPr>
        <p:spPr>
          <a:xfrm>
            <a:off x="2697480" y="5596128"/>
            <a:ext cx="2071802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Shape 40"/>
          <p:cNvSpPr/>
          <p:nvPr/>
        </p:nvSpPr>
        <p:spPr>
          <a:xfrm>
            <a:off x="2697480" y="5596128"/>
            <a:ext cx="54864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1"/>
          <p:cNvSpPr txBox="1"/>
          <p:nvPr/>
        </p:nvSpPr>
        <p:spPr>
          <a:xfrm>
            <a:off x="2807208" y="5596128"/>
            <a:ext cx="1925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¿Vehículo apto?</a:t>
            </a:r>
            <a:endParaRPr lang="es-CL" sz="1700" dirty="0"/>
          </a:p>
        </p:txBody>
      </p:sp>
      <p:sp>
        <p:nvSpPr>
          <p:cNvPr id="49" name="Shape 42"/>
          <p:cNvSpPr/>
          <p:nvPr/>
        </p:nvSpPr>
        <p:spPr>
          <a:xfrm>
            <a:off x="4787570" y="5879592"/>
            <a:ext cx="1828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0" name="Shape 43"/>
          <p:cNvSpPr/>
          <p:nvPr/>
        </p:nvSpPr>
        <p:spPr>
          <a:xfrm>
            <a:off x="4988738" y="5596128"/>
            <a:ext cx="2071802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4988738" y="5596128"/>
            <a:ext cx="54864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2" name="Text 45"/>
          <p:cNvSpPr txBox="1"/>
          <p:nvPr/>
        </p:nvSpPr>
        <p:spPr>
          <a:xfrm>
            <a:off x="5098466" y="5596128"/>
            <a:ext cx="1925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¿Masa y ejes?</a:t>
            </a:r>
            <a:endParaRPr lang="es-CL" sz="1700" dirty="0"/>
          </a:p>
        </p:txBody>
      </p:sp>
      <p:sp>
        <p:nvSpPr>
          <p:cNvPr id="53" name="Shape 46"/>
          <p:cNvSpPr/>
          <p:nvPr/>
        </p:nvSpPr>
        <p:spPr>
          <a:xfrm>
            <a:off x="7078828" y="5879592"/>
            <a:ext cx="1828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4" name="Shape 47"/>
          <p:cNvSpPr/>
          <p:nvPr/>
        </p:nvSpPr>
        <p:spPr>
          <a:xfrm>
            <a:off x="7279996" y="5596128"/>
            <a:ext cx="2071802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5" name="Shape 48"/>
          <p:cNvSpPr/>
          <p:nvPr/>
        </p:nvSpPr>
        <p:spPr>
          <a:xfrm>
            <a:off x="7279996" y="5596128"/>
            <a:ext cx="54864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6" name="Text 49"/>
          <p:cNvSpPr txBox="1"/>
          <p:nvPr/>
        </p:nvSpPr>
        <p:spPr>
          <a:xfrm>
            <a:off x="7389724" y="5596128"/>
            <a:ext cx="1925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¿Aislación?</a:t>
            </a:r>
            <a:endParaRPr lang="es-CL" sz="1700" dirty="0"/>
          </a:p>
        </p:txBody>
      </p:sp>
      <p:sp>
        <p:nvSpPr>
          <p:cNvPr id="57" name="Shape 50"/>
          <p:cNvSpPr/>
          <p:nvPr/>
        </p:nvSpPr>
        <p:spPr>
          <a:xfrm>
            <a:off x="9370085" y="5879592"/>
            <a:ext cx="1828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8" name="Shape 51"/>
          <p:cNvSpPr/>
          <p:nvPr/>
        </p:nvSpPr>
        <p:spPr>
          <a:xfrm>
            <a:off x="9571253" y="5596128"/>
            <a:ext cx="2071802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9" name="Shape 52"/>
          <p:cNvSpPr/>
          <p:nvPr/>
        </p:nvSpPr>
        <p:spPr>
          <a:xfrm>
            <a:off x="9571253" y="5596128"/>
            <a:ext cx="54864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0" name="Text 53"/>
          <p:cNvSpPr txBox="1"/>
          <p:nvPr/>
        </p:nvSpPr>
        <p:spPr>
          <a:xfrm>
            <a:off x="9680981" y="5596128"/>
            <a:ext cx="1925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¿Dinamómetro?</a:t>
            </a:r>
            <a:endParaRPr lang="es-CL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CARTA GANTT Y GATILLO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DÚO MÁS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cuando la demanda pasa el 80%.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Figura N° 5, §3.1.7 y §3.2.1). Mes 1 = enero de 2027 (supuesto).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23957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2026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23957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4206240" y="2724912"/>
            <a:ext cx="0" cy="248716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395728"/>
            <a:ext cx="1264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6583680" y="2724912"/>
            <a:ext cx="0" cy="248716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48524" y="2395728"/>
            <a:ext cx="1264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11" name="Shape 9"/>
          <p:cNvSpPr/>
          <p:nvPr/>
        </p:nvSpPr>
        <p:spPr>
          <a:xfrm>
            <a:off x="7848524" y="2724912"/>
            <a:ext cx="0" cy="248716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13368" y="2395728"/>
            <a:ext cx="1264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4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9113368" y="2724912"/>
            <a:ext cx="0" cy="248716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378211" y="2395728"/>
            <a:ext cx="1264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5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0378211" y="2724912"/>
            <a:ext cx="0" cy="248716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9806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Preparación</a:t>
            </a:r>
            <a:endParaRPr lang="es-CL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27355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27355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Reglamento</a:t>
            </a:r>
            <a:endParaRPr lang="es-CL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4904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Dúos en operación</a:t>
            </a:r>
            <a:endParaRPr lang="es-CL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422452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22452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propios</a:t>
            </a:r>
            <a:endParaRPr lang="es-CL" sz="1700" dirty="0"/>
          </a:p>
        </p:txBody>
      </p:sp>
      <p:sp>
        <p:nvSpPr>
          <p:cNvPr id="23" name="Shape 21"/>
          <p:cNvSpPr/>
          <p:nvPr/>
        </p:nvSpPr>
        <p:spPr>
          <a:xfrm>
            <a:off x="548640" y="470001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70001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700" dirty="0"/>
          </a:p>
        </p:txBody>
      </p:sp>
      <p:sp>
        <p:nvSpPr>
          <p:cNvPr id="25" name="Shape 23"/>
          <p:cNvSpPr/>
          <p:nvPr/>
        </p:nvSpPr>
        <p:spPr>
          <a:xfrm>
            <a:off x="3017520" y="2907792"/>
            <a:ext cx="1188720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Shape 24"/>
          <p:cNvSpPr/>
          <p:nvPr/>
        </p:nvSpPr>
        <p:spPr>
          <a:xfrm>
            <a:off x="3726180" y="3328416"/>
            <a:ext cx="365760" cy="365760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83380" y="3273552"/>
            <a:ext cx="73682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Ley N° 21.793: </a:t>
            </a:r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condición externa, vigente antes de vender</a:t>
            </a:r>
            <a:endParaRPr lang="es-CL" sz="1700" dirty="0"/>
          </a:p>
        </p:txBody>
      </p:sp>
      <p:sp>
        <p:nvSpPr>
          <p:cNvPr id="28" name="Shape 26"/>
          <p:cNvSpPr/>
          <p:nvPr/>
        </p:nvSpPr>
        <p:spPr>
          <a:xfrm>
            <a:off x="4242816" y="3840480"/>
            <a:ext cx="2304288" cy="292608"/>
          </a:xfrm>
          <a:prstGeom prst="rect">
            <a:avLst/>
          </a:prstGeom>
          <a:solidFill>
            <a:schemeClr val="accent1">
              <a:alpha val="3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206240" y="374904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400" dirty="0"/>
          </a:p>
        </p:txBody>
      </p:sp>
      <p:sp>
        <p:nvSpPr>
          <p:cNvPr id="30" name="Shape 28"/>
          <p:cNvSpPr/>
          <p:nvPr/>
        </p:nvSpPr>
        <p:spPr>
          <a:xfrm>
            <a:off x="6620256" y="3840480"/>
            <a:ext cx="1191692" cy="292608"/>
          </a:xfrm>
          <a:prstGeom prst="rect">
            <a:avLst/>
          </a:prstGeom>
          <a:solidFill>
            <a:schemeClr val="accent1">
              <a:alpha val="45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0" y="3749040"/>
            <a:ext cx="1264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</a:t>
            </a:r>
            <a:endParaRPr lang="es-CL" sz="2400" dirty="0"/>
          </a:p>
        </p:txBody>
      </p:sp>
      <p:sp>
        <p:nvSpPr>
          <p:cNvPr id="32" name="Shape 30"/>
          <p:cNvSpPr/>
          <p:nvPr/>
        </p:nvSpPr>
        <p:spPr>
          <a:xfrm>
            <a:off x="7885100" y="3840480"/>
            <a:ext cx="1191692" cy="292608"/>
          </a:xfrm>
          <a:prstGeom prst="rect">
            <a:avLst/>
          </a:prstGeom>
          <a:solidFill>
            <a:schemeClr val="accent1">
              <a:alpha val="6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848524" y="3749040"/>
            <a:ext cx="1264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12</a:t>
            </a:r>
            <a:endParaRPr lang="es-CL" sz="2400" dirty="0"/>
          </a:p>
        </p:txBody>
      </p:sp>
      <p:sp>
        <p:nvSpPr>
          <p:cNvPr id="34" name="Shape 32"/>
          <p:cNvSpPr/>
          <p:nvPr/>
        </p:nvSpPr>
        <p:spPr>
          <a:xfrm>
            <a:off x="9149944" y="3840480"/>
            <a:ext cx="1191692" cy="292608"/>
          </a:xfrm>
          <a:prstGeom prst="rect">
            <a:avLst/>
          </a:prstGeom>
          <a:solidFill>
            <a:schemeClr val="accent1">
              <a:alpha val="75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13368" y="3749040"/>
            <a:ext cx="1264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12</a:t>
            </a:r>
            <a:endParaRPr lang="es-CL" sz="2400" dirty="0"/>
          </a:p>
        </p:txBody>
      </p:sp>
      <p:sp>
        <p:nvSpPr>
          <p:cNvPr id="36" name="Shape 34"/>
          <p:cNvSpPr/>
          <p:nvPr/>
        </p:nvSpPr>
        <p:spPr>
          <a:xfrm>
            <a:off x="10414787" y="3840480"/>
            <a:ext cx="1191692" cy="292608"/>
          </a:xfrm>
          <a:prstGeom prst="rect">
            <a:avLst/>
          </a:prstGeom>
          <a:solidFill>
            <a:schemeClr val="accent1">
              <a:alpha val="9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78211" y="3749040"/>
            <a:ext cx="1264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18</a:t>
            </a:r>
            <a:endParaRPr lang="es-CL" sz="2400" dirty="0"/>
          </a:p>
        </p:txBody>
      </p:sp>
      <p:sp>
        <p:nvSpPr>
          <p:cNvPr id="38" name="Shape 36"/>
          <p:cNvSpPr/>
          <p:nvPr/>
        </p:nvSpPr>
        <p:spPr>
          <a:xfrm>
            <a:off x="7532313" y="4334256"/>
            <a:ext cx="316211" cy="256032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39" name="Shape 37"/>
          <p:cNvSpPr/>
          <p:nvPr/>
        </p:nvSpPr>
        <p:spPr>
          <a:xfrm>
            <a:off x="10062000" y="4334256"/>
            <a:ext cx="316211" cy="256032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40" name="Shape 38"/>
          <p:cNvSpPr/>
          <p:nvPr/>
        </p:nvSpPr>
        <p:spPr>
          <a:xfrm>
            <a:off x="4069080" y="4325112"/>
            <a:ext cx="274320" cy="274320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407408" y="422452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1</a:t>
            </a:r>
            <a:endParaRPr lang="es-CL" sz="1700" dirty="0"/>
          </a:p>
        </p:txBody>
      </p:sp>
      <p:sp>
        <p:nvSpPr>
          <p:cNvPr id="42" name="Shape 40"/>
          <p:cNvSpPr/>
          <p:nvPr/>
        </p:nvSpPr>
        <p:spPr>
          <a:xfrm>
            <a:off x="7711364" y="4325112"/>
            <a:ext cx="274320" cy="274320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9692" y="422452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2</a:t>
            </a:r>
            <a:endParaRPr lang="es-CL" sz="1700" dirty="0"/>
          </a:p>
        </p:txBody>
      </p:sp>
      <p:sp>
        <p:nvSpPr>
          <p:cNvPr id="44" name="Shape 42"/>
          <p:cNvSpPr/>
          <p:nvPr/>
        </p:nvSpPr>
        <p:spPr>
          <a:xfrm>
            <a:off x="10241051" y="4325112"/>
            <a:ext cx="274320" cy="274320"/>
          </a:xfrm>
          <a:prstGeom prst="diamond">
            <a:avLst/>
          </a:prstGeom>
          <a:solidFill>
            <a:schemeClr val="accent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579379" y="422452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3</a:t>
            </a:r>
            <a:endParaRPr lang="es-CL" sz="1700" dirty="0"/>
          </a:p>
        </p:txBody>
      </p:sp>
      <p:sp>
        <p:nvSpPr>
          <p:cNvPr id="46" name="Shape 44"/>
          <p:cNvSpPr/>
          <p:nvPr/>
        </p:nvSpPr>
        <p:spPr>
          <a:xfrm>
            <a:off x="6583680" y="4809744"/>
            <a:ext cx="5059375" cy="256032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162724" y="4700016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8427568" y="4700016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9692411" y="4700016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400" dirty="0"/>
          </a:p>
        </p:txBody>
      </p:sp>
      <p:sp>
        <p:nvSpPr>
          <p:cNvPr id="50" name="Text 48"/>
          <p:cNvSpPr txBox="1"/>
          <p:nvPr/>
        </p:nvSpPr>
        <p:spPr>
          <a:xfrm>
            <a:off x="10957255" y="4700016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400" dirty="0"/>
          </a:p>
        </p:txBody>
      </p:sp>
      <p:sp>
        <p:nvSpPr>
          <p:cNvPr id="51" name="Shape 49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523036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MES 1 = ENERO DE 2027 (SUPUESTO) · NÚMEROS AL CIERRE DE CADA AÑO</a:t>
            </a:r>
            <a:endParaRPr lang="es-CL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5596128"/>
            <a:ext cx="11094415" cy="640080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93776" y="5541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3776" y="5541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1542471" y="5541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1697919" y="5541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77240" y="5596128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GATILLO</a:t>
            </a:r>
            <a:endParaRPr lang="es-CL" sz="1600" dirty="0"/>
          </a:p>
        </p:txBody>
      </p:sp>
      <p:sp>
        <p:nvSpPr>
          <p:cNvPr id="63" name="Text 61"/>
          <p:cNvSpPr txBox="1"/>
          <p:nvPr/>
        </p:nvSpPr>
        <p:spPr>
          <a:xfrm>
            <a:off x="1965960" y="5596128"/>
            <a:ext cx="9448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Dos meses sobre el 80%: entra un dúo. </a:t>
            </a:r>
            <a:pPr indent="0" marL="0">
              <a:buNone/>
            </a:pPr>
            <a:r>
              <a:rPr lang="es-CL" altLang="en-US" sz="19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 seis dúos, abre otro taller.</a:t>
            </a:r>
            <a:endParaRPr lang="es-CL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LA INVERSIÓN SIGUE AL GATILLO;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gasto, al kit.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Dynojet Research (2016); Importadora JAK (2026); elaboración propia (Informe Fase 3, Tablas N° 18, 19 y 21). Dólar base $965,71.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EN EQUIPAMIENTO · MILLONES DE $</a:t>
            </a:r>
            <a:endParaRPr lang="es-CL" sz="1600" dirty="0"/>
          </a:p>
        </p:txBody>
      </p:sp>
      <p:graphicFrame>
        <p:nvGraphicFramePr>
          <p:cNvPr id="6" name="Inversión en equipamiento por año" descr=""/>
          <p:cNvGraphicFramePr/>
          <p:nvPr/>
        </p:nvGraphicFramePr>
        <p:xfrm>
          <a:off x="457200" y="2724912"/>
          <a:ext cx="5410048" cy="24323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212080"/>
            <a:ext cx="531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local nuevo en los años 1, 3 y 5.</a:t>
            </a:r>
            <a:endParaRPr lang="es-CL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324448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GASTO OPERACIONAL · MILLONES DE $</a:t>
            </a:r>
            <a:endParaRPr lang="es-CL" sz="1600" dirty="0"/>
          </a:p>
        </p:txBody>
      </p:sp>
      <p:graphicFrame>
        <p:nvGraphicFramePr>
          <p:cNvPr id="9" name="Gasto operacional por año" descr=""/>
          <p:cNvGraphicFramePr/>
          <p:nvPr/>
        </p:nvGraphicFramePr>
        <p:xfrm>
          <a:off x="6233008" y="2724912"/>
          <a:ext cx="5410048" cy="24323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324448" y="5212080"/>
            <a:ext cx="531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kit es más del 90% de cada año.</a:t>
            </a:r>
            <a:endParaRPr lang="es-CL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5522976"/>
            <a:ext cx="11094415" cy="713232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93776" y="546811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93776" y="54681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542471" y="546811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697919" y="54681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93776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5522976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RIESGO</a:t>
            </a:r>
            <a:endParaRPr lang="es-CL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874520" y="5522976"/>
            <a:ext cx="95399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82% del kit se paga en dólares: </a:t>
            </a:r>
            <a:pPr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 el dólar sube 10%, el margen del año 5 cae de 7,7% a 0,8%.</a:t>
            </a:r>
            <a:endParaRPr lang="es-CL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CONCLUSIONES DEL CAPÍTULO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TRES PLANES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que se mueven juntos.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con base en Informe Fase 3 (§3.4 y Figura N° 6).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515258" cy="18288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78608"/>
            <a:ext cx="548640" cy="3291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7860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endParaRPr lang="es-CL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578608"/>
            <a:ext cx="24636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MARKETING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4436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367 &gt; 299</a:t>
            </a:r>
            <a:endParaRPr lang="es-CL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21024"/>
            <a:ext cx="3103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Más demanda que capacidad desde el año 1.</a:t>
            </a:r>
            <a:endParaRPr lang="es-CL" sz="1700" dirty="0"/>
          </a:p>
        </p:txBody>
      </p:sp>
      <p:sp>
        <p:nvSpPr>
          <p:cNvPr id="11" name="Shape 9"/>
          <p:cNvSpPr/>
          <p:nvPr/>
        </p:nvSpPr>
        <p:spPr>
          <a:xfrm>
            <a:off x="4338218" y="2395728"/>
            <a:ext cx="3515258" cy="18288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578608"/>
            <a:ext cx="548640" cy="3291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66818" y="257860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endParaRPr lang="es-CL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52618" y="2578608"/>
            <a:ext cx="24636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6818" y="294436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 meses</a:t>
            </a:r>
            <a:endParaRPr lang="es-CL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4566818" y="3621024"/>
            <a:ext cx="3103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para formar a un técnico N4 en casa.</a:t>
            </a:r>
            <a:endParaRPr lang="es-CL" sz="1700" dirty="0"/>
          </a:p>
        </p:txBody>
      </p:sp>
      <p:sp>
        <p:nvSpPr>
          <p:cNvPr id="17" name="Shape 15"/>
          <p:cNvSpPr/>
          <p:nvPr/>
        </p:nvSpPr>
        <p:spPr>
          <a:xfrm>
            <a:off x="8127797" y="2395728"/>
            <a:ext cx="3515258" cy="18288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56397" y="2578608"/>
            <a:ext cx="548640" cy="32918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56397" y="257860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endParaRPr lang="es-CL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42197" y="2578608"/>
            <a:ext cx="24636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56397" y="294436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8,4 h</a:t>
            </a:r>
            <a:endParaRPr lang="es-CL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8356397" y="3621024"/>
            <a:ext cx="3103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auto, con cuatro controles.</a:t>
            </a:r>
            <a:endParaRPr lang="es-CL" sz="1700" dirty="0"/>
          </a:p>
        </p:txBody>
      </p:sp>
      <p:pic>
        <p:nvPicPr>
          <p:cNvPr id="23" name="Image 0" descr="/home/user/lumine/fase-3/generador/assets/bril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4087368"/>
            <a:ext cx="3657600" cy="1298448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548640" y="4407408"/>
            <a:ext cx="11094415" cy="65836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93776" y="43525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93776" y="43525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542471" y="43525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697919" y="43525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93776" y="51206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3776" y="496519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542471" y="51206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697919" y="496519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44074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800" dirty="0"/>
          </a:p>
        </p:txBody>
      </p:sp>
      <p:sp>
        <p:nvSpPr>
          <p:cNvPr id="34" name="Text 31"/>
          <p:cNvSpPr txBox="1"/>
          <p:nvPr/>
        </p:nvSpPr>
        <p:spPr>
          <a:xfrm>
            <a:off x="2651760" y="4407408"/>
            <a:ext cx="8716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mismo gatillo </a:t>
            </a:r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suma dúos, personas y talleres en los tres planes.</a:t>
            </a:r>
            <a:endParaRPr lang="es-CL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230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LO QUE SIGUE · PLAN FINANCIERO</a:t>
            </a:r>
            <a:endParaRPr lang="es-CL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522976"/>
            <a:ext cx="5364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¿La encuesta confirma el precio?</a:t>
            </a:r>
            <a:endParaRPr lang="es-CL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6278728" y="5522976"/>
            <a:ext cx="5364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¿Cómo nos cubrimos del dólar?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11094415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50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TRES PLANES.</a:t>
            </a:r>
            <a:endParaRPr lang="es-CL" sz="5000" dirty="0"/>
          </a:p>
          <a:p>
            <a:pPr indent="0" marL="0">
              <a:lnSpc>
                <a:spcPct val="95000"/>
              </a:lnSpc>
              <a:buNone/>
            </a:pPr>
            <a:r>
              <a:rPr lang="es-CL" altLang="en-US" sz="5000" dirty="0">
                <a:solidFill>
                  <a:schemeClr val="accent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MISMO GATILLO.</a:t>
            </a:r>
            <a:endParaRPr lang="es-CL" sz="5000" dirty="0"/>
          </a:p>
        </p:txBody>
      </p:sp>
      <p:sp>
        <p:nvSpPr>
          <p:cNvPr id="3" name="Shape 1"/>
          <p:cNvSpPr/>
          <p:nvPr/>
        </p:nvSpPr>
        <p:spPr>
          <a:xfrm>
            <a:off x="548640" y="2670048"/>
            <a:ext cx="82296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7977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8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GRACIAS  ·  ¿PREGUNTAS?</a:t>
            </a:r>
            <a:endParaRPr lang="es-C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99855" y="6473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ILUSTRACIÓN DEL KIT</a:t>
            </a:r>
            <a:endParaRPr lang="es-CL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MATERIAL DE APOYO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ANEXO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para preguntas.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Las fuentes de cada tema están al pie de su diapositiva.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se presenta: se hace clic en el tema y se salta directo.</a:t>
            </a:r>
            <a:endParaRPr lang="es-CL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</a:t>
            </a:r>
            <a:endParaRPr lang="es-CL" sz="1600" dirty="0"/>
          </a:p>
        </p:txBody>
      </p:sp>
      <p:sp>
        <p:nvSpPr>
          <p:cNvPr id="9" name="Text 7">
            <a:hlinkClick r:id="rId2" tooltip="Ir a Hipótesis de la investigación" action="ppaction://hlinksldjump"/>
          </p:cNvPr>
          <p:cNvSpPr txBox="1"/>
          <p:nvPr/>
        </p:nvSpPr>
        <p:spPr>
          <a:xfrm>
            <a:off x="1243584" y="2852928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Hipótesis de la investigación</a:t>
            </a:r>
            <a:endParaRPr lang="en-US" sz="2000" dirty="0"/>
          </a:p>
        </p:txBody>
      </p:sp>
      <p:sp>
        <p:nvSpPr>
          <p:cNvPr id="10" name="Text 8">
            <a:hlinkClick r:id="rId3" tooltip="Ir a Hipótesis de la investigación" action="ppaction://hlinksldjump"/>
          </p:cNvPr>
          <p:cNvSpPr txBox="1"/>
          <p:nvPr/>
        </p:nvSpPr>
        <p:spPr>
          <a:xfrm>
            <a:off x="5021428" y="285292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3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18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429000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4290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A2</a:t>
            </a:r>
            <a:endParaRPr lang="es-CL" sz="1600" dirty="0"/>
          </a:p>
        </p:txBody>
      </p:sp>
      <p:sp>
        <p:nvSpPr>
          <p:cNvPr id="14" name="Text 12">
            <a:hlinkClick r:id="rId4" tooltip="Ir a Dudas del cliente y respaldo" action="ppaction://hlinksldjump"/>
          </p:cNvPr>
          <p:cNvSpPr txBox="1"/>
          <p:nvPr/>
        </p:nvSpPr>
        <p:spPr>
          <a:xfrm>
            <a:off x="1243584" y="3328416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4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Dudas del cliente y respaldo</a:t>
            </a:r>
            <a:endParaRPr lang="en-US" sz="2000" dirty="0"/>
          </a:p>
        </p:txBody>
      </p:sp>
      <p:sp>
        <p:nvSpPr>
          <p:cNvPr id="15" name="Text 13">
            <a:hlinkClick r:id="rId5" tooltip="Ir a Dudas del cliente y respaldo" action="ppaction://hlinksldjump"/>
          </p:cNvPr>
          <p:cNvSpPr txBox="1"/>
          <p:nvPr/>
        </p:nvSpPr>
        <p:spPr>
          <a:xfrm>
            <a:off x="5021428" y="3328416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5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19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803904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904488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904488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A3</a:t>
            </a:r>
            <a:endParaRPr lang="es-CL" sz="1600" dirty="0"/>
          </a:p>
        </p:txBody>
      </p:sp>
      <p:sp>
        <p:nvSpPr>
          <p:cNvPr id="19" name="Text 17">
            <a:hlinkClick r:id="rId6" tooltip="Ir a Mezcla de marketing por línea" action="ppaction://hlinksldjump"/>
          </p:cNvPr>
          <p:cNvSpPr txBox="1"/>
          <p:nvPr/>
        </p:nvSpPr>
        <p:spPr>
          <a:xfrm>
            <a:off x="1243584" y="3803904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6" action="ppaction://hlinksldjump" tooltip="Ir a Mezcla de marketing por líne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Mezcla de marketing por línea</a:t>
            </a:r>
            <a:endParaRPr lang="en-US" sz="2000" dirty="0"/>
          </a:p>
        </p:txBody>
      </p:sp>
      <p:sp>
        <p:nvSpPr>
          <p:cNvPr id="20" name="Text 18">
            <a:hlinkClick r:id="rId7" tooltip="Ir a Mezcla de marketing por línea" action="ppaction://hlinksldjump"/>
          </p:cNvPr>
          <p:cNvSpPr txBox="1"/>
          <p:nvPr/>
        </p:nvSpPr>
        <p:spPr>
          <a:xfrm>
            <a:off x="5021428" y="380390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7" action="ppaction://hlinksldjump" tooltip="Ir a Mezcla de marketing por líne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79392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379976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37997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A4</a:t>
            </a:r>
            <a:endParaRPr lang="es-CL" sz="1600" dirty="0"/>
          </a:p>
        </p:txBody>
      </p:sp>
      <p:sp>
        <p:nvSpPr>
          <p:cNvPr id="24" name="Text 22">
            <a:hlinkClick r:id="rId8" tooltip="Ir a Cobros a la red de talleres" action="ppaction://hlinksldjump"/>
          </p:cNvPr>
          <p:cNvSpPr txBox="1"/>
          <p:nvPr/>
        </p:nvSpPr>
        <p:spPr>
          <a:xfrm>
            <a:off x="1243584" y="4279392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8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Cobros a la red de talleres</a:t>
            </a:r>
            <a:endParaRPr lang="en-US" sz="2000" dirty="0"/>
          </a:p>
        </p:txBody>
      </p:sp>
      <p:sp>
        <p:nvSpPr>
          <p:cNvPr id="25" name="Text 23">
            <a:hlinkClick r:id="rId9" tooltip="Ir a Cobros a la red de talleres" action="ppaction://hlinksldjump"/>
          </p:cNvPr>
          <p:cNvSpPr txBox="1"/>
          <p:nvPr/>
        </p:nvSpPr>
        <p:spPr>
          <a:xfrm>
            <a:off x="5021428" y="42793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9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21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4754880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855464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4855464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A5</a:t>
            </a:r>
            <a:endParaRPr lang="es-CL" sz="1600" dirty="0"/>
          </a:p>
        </p:txBody>
      </p:sp>
      <p:sp>
        <p:nvSpPr>
          <p:cNvPr id="29" name="Text 27">
            <a:hlinkClick r:id="rId10" tooltip="Ir a Tamaño del mercado y adopción" action="ppaction://hlinksldjump"/>
          </p:cNvPr>
          <p:cNvSpPr txBox="1"/>
          <p:nvPr/>
        </p:nvSpPr>
        <p:spPr>
          <a:xfrm>
            <a:off x="1243584" y="4754880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0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Tamaño del mercado y adopción</a:t>
            </a:r>
            <a:endParaRPr lang="en-US" sz="2000" dirty="0"/>
          </a:p>
        </p:txBody>
      </p:sp>
      <p:sp>
        <p:nvSpPr>
          <p:cNvPr id="30" name="Text 28">
            <a:hlinkClick r:id="rId11" tooltip="Ir a Tamaño del mercado y adopción" action="ppaction://hlinksldjump"/>
          </p:cNvPr>
          <p:cNvSpPr txBox="1"/>
          <p:nvPr/>
        </p:nvSpPr>
        <p:spPr>
          <a:xfrm>
            <a:off x="5021428" y="475488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1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22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52303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3309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53309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A6</a:t>
            </a:r>
            <a:endParaRPr lang="es-CL" sz="1600" dirty="0"/>
          </a:p>
        </p:txBody>
      </p:sp>
      <p:sp>
        <p:nvSpPr>
          <p:cNvPr id="34" name="Text 32">
            <a:hlinkClick r:id="rId12" tooltip="Ir a Pronóstico por línea" action="ppaction://hlinksldjump"/>
          </p:cNvPr>
          <p:cNvSpPr txBox="1"/>
          <p:nvPr/>
        </p:nvSpPr>
        <p:spPr>
          <a:xfrm>
            <a:off x="1243584" y="5230368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2" action="ppaction://hlinksldjump" tooltip="Ir a Pronóstico por líne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Pronóstico por línea</a:t>
            </a:r>
            <a:endParaRPr lang="en-US" sz="2000" dirty="0"/>
          </a:p>
        </p:txBody>
      </p:sp>
      <p:sp>
        <p:nvSpPr>
          <p:cNvPr id="35" name="Text 33">
            <a:hlinkClick r:id="rId13" tooltip="Ir a Pronóstico por línea" action="ppaction://hlinksldjump"/>
          </p:cNvPr>
          <p:cNvSpPr txBox="1"/>
          <p:nvPr/>
        </p:nvSpPr>
        <p:spPr>
          <a:xfrm>
            <a:off x="5021428" y="523036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3" action="ppaction://hlinksldjump" tooltip="Ir a Pronóstico por líne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23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5705856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5806440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580644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A7</a:t>
            </a:r>
            <a:endParaRPr lang="es-CL" sz="1600" dirty="0"/>
          </a:p>
        </p:txBody>
      </p:sp>
      <p:sp>
        <p:nvSpPr>
          <p:cNvPr id="39" name="Text 37">
            <a:hlinkClick r:id="rId14" tooltip="Ir a Recuperación y financiamiento" action="ppaction://hlinksldjump"/>
          </p:cNvPr>
          <p:cNvSpPr txBox="1"/>
          <p:nvPr/>
        </p:nvSpPr>
        <p:spPr>
          <a:xfrm>
            <a:off x="1243584" y="5705856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4" action="ppaction://hlinksldjump" tooltip="Ir a Recuperación y financiamient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Recuperación y financiamiento</a:t>
            </a:r>
            <a:endParaRPr lang="en-US" sz="2000" dirty="0"/>
          </a:p>
        </p:txBody>
      </p:sp>
      <p:sp>
        <p:nvSpPr>
          <p:cNvPr id="40" name="Text 38">
            <a:hlinkClick r:id="rId15" tooltip="Ir a Recuperación y financiamiento" action="ppaction://hlinksldjump"/>
          </p:cNvPr>
          <p:cNvSpPr txBox="1"/>
          <p:nvPr/>
        </p:nvSpPr>
        <p:spPr>
          <a:xfrm>
            <a:off x="5021428" y="5705856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5" action="ppaction://hlinksldjump" tooltip="Ir a Recuperación y financiamient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24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48640" y="6181344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55868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A8</a:t>
            </a:r>
            <a:endParaRPr lang="es-CL" sz="1600" dirty="0"/>
          </a:p>
        </p:txBody>
      </p:sp>
      <p:sp>
        <p:nvSpPr>
          <p:cNvPr id="45" name="Text 43">
            <a:hlinkClick r:id="rId16" tooltip="Ir a Perfiles de cargo" action="ppaction://hlinksldjump"/>
          </p:cNvPr>
          <p:cNvSpPr txBox="1"/>
          <p:nvPr/>
        </p:nvSpPr>
        <p:spPr>
          <a:xfrm>
            <a:off x="6950812" y="2852928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6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Perfiles de cargo</a:t>
            </a:r>
            <a:endParaRPr lang="en-US" sz="2000" dirty="0"/>
          </a:p>
        </p:txBody>
      </p:sp>
      <p:sp>
        <p:nvSpPr>
          <p:cNvPr id="46" name="Text 44">
            <a:hlinkClick r:id="rId17" tooltip="Ir a Perfiles de cargo" action="ppaction://hlinksldjump"/>
          </p:cNvPr>
          <p:cNvSpPr txBox="1"/>
          <p:nvPr/>
        </p:nvSpPr>
        <p:spPr>
          <a:xfrm>
            <a:off x="10728655" y="285292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7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25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55868" y="3328416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55868" y="3429000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55868" y="342900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A9</a:t>
            </a:r>
            <a:endParaRPr lang="es-CL" sz="1600" dirty="0"/>
          </a:p>
        </p:txBody>
      </p:sp>
      <p:sp>
        <p:nvSpPr>
          <p:cNvPr id="50" name="Text 48">
            <a:hlinkClick r:id="rId18" tooltip="Ir a Rentas, bonos y nómina" action="ppaction://hlinksldjump"/>
          </p:cNvPr>
          <p:cNvSpPr txBox="1"/>
          <p:nvPr/>
        </p:nvSpPr>
        <p:spPr>
          <a:xfrm>
            <a:off x="6950812" y="3328416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8" action="ppaction://hlinksldjump" tooltip="Ir a Rentas, bonos y nómin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Rentas, bonos y nómina</a:t>
            </a:r>
            <a:endParaRPr lang="en-US" sz="2000" dirty="0"/>
          </a:p>
        </p:txBody>
      </p:sp>
      <p:sp>
        <p:nvSpPr>
          <p:cNvPr id="51" name="Text 49">
            <a:hlinkClick r:id="rId19" tooltip="Ir a Rentas, bonos y nómina" action="ppaction://hlinksldjump"/>
          </p:cNvPr>
          <p:cNvSpPr txBox="1"/>
          <p:nvPr/>
        </p:nvSpPr>
        <p:spPr>
          <a:xfrm>
            <a:off x="10728655" y="3328416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9" action="ppaction://hlinksldjump" tooltip="Ir a Rentas, bonos y nómin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26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255868" y="3803904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55868" y="3904488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55868" y="3904488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A10</a:t>
            </a:r>
            <a:endParaRPr lang="es-CL" sz="1600" dirty="0"/>
          </a:p>
        </p:txBody>
      </p:sp>
      <p:sp>
        <p:nvSpPr>
          <p:cNvPr id="55" name="Text 53">
            <a:hlinkClick r:id="rId20" tooltip="Ir a Jornada de instalación" action="ppaction://hlinksldjump"/>
          </p:cNvPr>
          <p:cNvSpPr txBox="1"/>
          <p:nvPr/>
        </p:nvSpPr>
        <p:spPr>
          <a:xfrm>
            <a:off x="6950812" y="3803904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0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Jornada de instalación</a:t>
            </a:r>
            <a:endParaRPr lang="en-US" sz="2000" dirty="0"/>
          </a:p>
        </p:txBody>
      </p:sp>
      <p:sp>
        <p:nvSpPr>
          <p:cNvPr id="56" name="Text 54">
            <a:hlinkClick r:id="rId21" tooltip="Ir a Jornada de instalación" action="ppaction://hlinksldjump"/>
          </p:cNvPr>
          <p:cNvSpPr txBox="1"/>
          <p:nvPr/>
        </p:nvSpPr>
        <p:spPr>
          <a:xfrm>
            <a:off x="10728655" y="3803904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1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27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255868" y="4279392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55868" y="4379976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255868" y="4379976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A11</a:t>
            </a:r>
            <a:endParaRPr lang="es-CL" sz="1600" dirty="0"/>
          </a:p>
        </p:txBody>
      </p:sp>
      <p:sp>
        <p:nvSpPr>
          <p:cNvPr id="60" name="Text 58">
            <a:hlinkClick r:id="rId22" tooltip="Ir a Resultado referencial por línea" action="ppaction://hlinksldjump"/>
          </p:cNvPr>
          <p:cNvSpPr txBox="1"/>
          <p:nvPr/>
        </p:nvSpPr>
        <p:spPr>
          <a:xfrm>
            <a:off x="6950812" y="4279392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2" action="ppaction://hlinksldjump" tooltip="Ir a Resultado referencial por líne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 referencial por línea</a:t>
            </a:r>
            <a:endParaRPr lang="en-US" sz="2000" dirty="0"/>
          </a:p>
        </p:txBody>
      </p:sp>
      <p:sp>
        <p:nvSpPr>
          <p:cNvPr id="61" name="Text 59">
            <a:hlinkClick r:id="rId23" tooltip="Ir a Resultado referencial por línea" action="ppaction://hlinksldjump"/>
          </p:cNvPr>
          <p:cNvSpPr txBox="1"/>
          <p:nvPr/>
        </p:nvSpPr>
        <p:spPr>
          <a:xfrm>
            <a:off x="10728655" y="42793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3" action="ppaction://hlinksldjump" tooltip="Ir a Resultado referencial por líne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28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6255868" y="4754880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55868" y="4855464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255868" y="4855464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A12</a:t>
            </a:r>
            <a:endParaRPr lang="es-CL" sz="1600" dirty="0"/>
          </a:p>
        </p:txBody>
      </p:sp>
      <p:sp>
        <p:nvSpPr>
          <p:cNvPr id="65" name="Text 63">
            <a:hlinkClick r:id="rId24" tooltip="Ir a Sensibilidad del resultado" action="ppaction://hlinksldjump"/>
          </p:cNvPr>
          <p:cNvSpPr txBox="1"/>
          <p:nvPr/>
        </p:nvSpPr>
        <p:spPr>
          <a:xfrm>
            <a:off x="6950812" y="4754880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4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Sensibilidad del resultado</a:t>
            </a:r>
            <a:endParaRPr lang="en-US" sz="2000" dirty="0"/>
          </a:p>
        </p:txBody>
      </p:sp>
      <p:sp>
        <p:nvSpPr>
          <p:cNvPr id="66" name="Text 64">
            <a:hlinkClick r:id="rId25" tooltip="Ir a Sensibilidad del resultado" action="ppaction://hlinksldjump"/>
          </p:cNvPr>
          <p:cNvSpPr txBox="1"/>
          <p:nvPr/>
        </p:nvSpPr>
        <p:spPr>
          <a:xfrm>
            <a:off x="10728655" y="475488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5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29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6255868" y="52303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55868" y="53309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255868" y="53309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A13</a:t>
            </a:r>
            <a:endParaRPr lang="es-CL" sz="1600" dirty="0"/>
          </a:p>
        </p:txBody>
      </p:sp>
      <p:sp>
        <p:nvSpPr>
          <p:cNvPr id="70" name="Text 68">
            <a:hlinkClick r:id="rId26" tooltip="Ir a Carta Gantt detallada" action="ppaction://hlinksldjump"/>
          </p:cNvPr>
          <p:cNvSpPr txBox="1"/>
          <p:nvPr/>
        </p:nvSpPr>
        <p:spPr>
          <a:xfrm>
            <a:off x="6950812" y="5230368"/>
            <a:ext cx="37778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6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Carta Gantt detallada</a:t>
            </a:r>
            <a:endParaRPr lang="en-US" sz="2000" dirty="0"/>
          </a:p>
        </p:txBody>
      </p:sp>
      <p:sp>
        <p:nvSpPr>
          <p:cNvPr id="71" name="Text 69">
            <a:hlinkClick r:id="rId27" tooltip="Ir a Carta Gantt detallada" action="ppaction://hlinksldjump"/>
          </p:cNvPr>
          <p:cNvSpPr txBox="1"/>
          <p:nvPr/>
        </p:nvSpPr>
        <p:spPr>
          <a:xfrm>
            <a:off x="10728655" y="523036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7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30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255868" y="5705856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INVESTIGACIÓN DE MERCADO · HIPÓTESIS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y su prueba.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3). Significancia de 5%.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HIPÓTESIS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945575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PRUEBA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H1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76148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uso laboral tiene más intención de compra que el particular.</a:t>
            </a:r>
            <a:endParaRPr lang="es-CL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45575" y="276148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DOS PROPORCIONES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28416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intención no cambia con la edad ni el género.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945575" y="332841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CHI-CUADRADO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8953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H3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95344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ahorro predomina, pero la mayoría valora otro motivo.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945575" y="3895344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H4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462272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barrera principal es la confianza, no el precio.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945575" y="446227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H5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029200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Los respaldos externos dan más confianza que el taller.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8945575" y="50292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 RELACIONADAS</a:t>
            </a:r>
            <a:endParaRPr lang="es-CL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5961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H6</a:t>
            </a:r>
            <a:endParaRPr lang="es-CL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71600" y="559612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 prefiere hibridar antes que gas, cambiar de auto o nada.</a:t>
            </a:r>
            <a:endParaRPr lang="es-CL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945575" y="559612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38" name="Shape 36"/>
          <p:cNvSpPr/>
          <p:nvPr/>
        </p:nvSpPr>
        <p:spPr>
          <a:xfrm>
            <a:off x="548640" y="61630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POSICIONAMIENTO · DUDAS DEL CLIENTE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CUATRO DUDAS,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cuatro respaldos.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Ley N° 19.496; borrador de reglamento MTT (2021); elaboración propia (Informe Fase 3, Tabla N° 4).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95728"/>
            <a:ext cx="2148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¿Funciona?</a:t>
            </a:r>
            <a:endParaRPr lang="es-CL" sz="2400" dirty="0"/>
          </a:p>
        </p:txBody>
      </p:sp>
      <p:sp>
        <p:nvSpPr>
          <p:cNvPr id="8" name="Shape 6"/>
          <p:cNvSpPr/>
          <p:nvPr/>
        </p:nvSpPr>
        <p:spPr>
          <a:xfrm>
            <a:off x="777240" y="3346704"/>
            <a:ext cx="112572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886968" y="3346704"/>
            <a:ext cx="90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SIMULADO</a:t>
            </a:r>
            <a:endParaRPr lang="es-CL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20% menos bencina en ciudad.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Estimador con intervalo y telemetría.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6205576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4176" y="2395728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¿Daña mi auto?</a:t>
            </a:r>
            <a:endParaRPr lang="es-CL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674456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toca el motor ni la transmisión.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674456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 conservan el circuito de freno y el ABS.</a:t>
            </a:r>
            <a:endParaRPr lang="es-CL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986784"/>
            <a:ext cx="21488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¿Pasa la revisión?</a:t>
            </a:r>
            <a:endParaRPr lang="es-CL" sz="2400" dirty="0"/>
          </a:p>
        </p:txBody>
      </p:sp>
      <p:sp>
        <p:nvSpPr>
          <p:cNvPr id="18" name="Shape 16"/>
          <p:cNvSpPr/>
          <p:nvPr/>
        </p:nvSpPr>
        <p:spPr>
          <a:xfrm>
            <a:off x="777240" y="4937760"/>
            <a:ext cx="164642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86968" y="4937760"/>
            <a:ext cx="14269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CONFIRMAR</a:t>
            </a:r>
            <a:endParaRPr lang="es-CL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Sale del taller con certificado.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 firma el Responsable Técnico.</a:t>
            </a:r>
            <a:endParaRPr lang="es-CL" sz="2000" dirty="0"/>
          </a:p>
        </p:txBody>
      </p:sp>
      <p:sp>
        <p:nvSpPr>
          <p:cNvPr id="22" name="Shape 20"/>
          <p:cNvSpPr/>
          <p:nvPr/>
        </p:nvSpPr>
        <p:spPr>
          <a:xfrm>
            <a:off x="6205576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34176" y="3986784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¿Se enchufa?</a:t>
            </a:r>
            <a:endParaRPr lang="es-CL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8674456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No.</a:t>
            </a:r>
            <a:endParaRPr lang="es-CL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674456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batería se carga al frenar.</a:t>
            </a:r>
            <a:endParaRPr lang="es-CL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5229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LO QUE LA MARCA NO PROMETE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5852160"/>
            <a:ext cx="220268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658368" y="5852160"/>
            <a:ext cx="198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«CERO EMISIONES»</a:t>
            </a:r>
            <a:endParaRPr lang="es-CL" sz="1400" dirty="0"/>
          </a:p>
        </p:txBody>
      </p:sp>
      <p:sp>
        <p:nvSpPr>
          <p:cNvPr id="29" name="Shape 27"/>
          <p:cNvSpPr/>
          <p:nvPr/>
        </p:nvSpPr>
        <p:spPr>
          <a:xfrm>
            <a:off x="2952496" y="5852160"/>
            <a:ext cx="23220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3062224" y="5852160"/>
            <a:ext cx="21026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«20% GARANTIZADO»</a:t>
            </a:r>
            <a:endParaRPr lang="es-CL" sz="1400" dirty="0"/>
          </a:p>
        </p:txBody>
      </p:sp>
      <p:sp>
        <p:nvSpPr>
          <p:cNvPr id="31" name="Shape 29"/>
          <p:cNvSpPr/>
          <p:nvPr/>
        </p:nvSpPr>
        <p:spPr>
          <a:xfrm>
            <a:off x="5475732" y="5852160"/>
            <a:ext cx="17251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5585460" y="5852160"/>
            <a:ext cx="1505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«HOMOLOGADO»</a:t>
            </a:r>
            <a:endParaRPr lang="es-CL" sz="1400" dirty="0"/>
          </a:p>
        </p:txBody>
      </p:sp>
      <p:sp>
        <p:nvSpPr>
          <p:cNvPr id="33" name="Shape 31"/>
          <p:cNvSpPr/>
          <p:nvPr/>
        </p:nvSpPr>
        <p:spPr>
          <a:xfrm>
            <a:off x="7402068" y="5852160"/>
            <a:ext cx="303834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7511796" y="5852160"/>
            <a:ext cx="2818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EXENCIÓN DE RESTRICCIÓN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MIX DE MARKETING · RESUMEN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DOS LÍNEAS,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una misma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8).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CLIENTE FINAL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61708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RED DE TALLERES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797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7977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 Esencial o Plus en una jornada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Licencia, kits y certificación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4198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1985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PRECIO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06040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$4,29 M y $4,99 M con IVA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261708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Entrada y cobros recurrentes</a:t>
            </a:r>
            <a:endParaRPr lang="es-CL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5993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PLAZA</a:t>
            </a:r>
            <a:endParaRPr lang="es-CL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Web y talleres propios en la RM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261708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con exclusividad comunal</a:t>
            </a:r>
            <a:endParaRPr lang="es-CL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7000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0001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PROMOCIÓN</a:t>
            </a:r>
            <a:endParaRPr lang="es-CL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Estimador, pilotos y referidos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261708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Visitas, ferias y casos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4009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PERSONAS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606040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Dúos con un N3 o N4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261708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Técnicos validados por Lumine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9801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MIX · PRECIO PARA LA RED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INGRESO RECURRENTE: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96% del margen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7). Montos netos; sin tarifas públicas de redes de talleres en Chile.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ENTRADA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$7,14 M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una vez</a:t>
            </a:r>
            <a:endParaRPr lang="es-CL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Exclusividad comunal y formación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3379394" y="2395728"/>
            <a:ext cx="2602154" cy="2743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24530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24530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8096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641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4530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4530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0964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6412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80562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KIT CON LICENCIA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80562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$3,81 M</a:t>
            </a:r>
            <a:endParaRPr lang="es-CL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3580562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instalación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580562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Plus; Esencial, $3,33 M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6210148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1316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11316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$2,4 M</a:t>
            </a:r>
            <a:endParaRPr lang="es-CL" sz="4400" dirty="0"/>
          </a:p>
        </p:txBody>
      </p:sp>
      <p:sp>
        <p:nvSpPr>
          <p:cNvPr id="27" name="Text 25"/>
          <p:cNvSpPr txBox="1"/>
          <p:nvPr/>
        </p:nvSpPr>
        <p:spPr>
          <a:xfrm>
            <a:off x="6411316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 año</a:t>
            </a:r>
            <a:endParaRPr lang="es-CL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411316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Desde el segundo año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9040901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2069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HABILITA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242069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 mil</a:t>
            </a:r>
            <a:endParaRPr lang="es-CL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42069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mes por técnico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9242069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Formación y validación</a:t>
            </a:r>
            <a:endParaRPr lang="es-CL" sz="2000" dirty="0"/>
          </a:p>
        </p:txBody>
      </p:sp>
      <p:sp>
        <p:nvSpPr>
          <p:cNvPr id="34" name="Shape 32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37667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42 talleres y 7.773 kits al año 5,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activos fijos.</a:t>
            </a:r>
            <a:endParaRPr lang="es-CL" sz="2400" dirty="0"/>
          </a:p>
        </p:txBody>
      </p:sp>
      <p:sp>
        <p:nvSpPr>
          <p:cNvPr id="36" name="Shape 34"/>
          <p:cNvSpPr/>
          <p:nvPr/>
        </p:nvSpPr>
        <p:spPr>
          <a:xfrm>
            <a:off x="548640" y="5870448"/>
            <a:ext cx="626160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sysDot"/>
          </a:ln>
        </p:spPr>
      </p:sp>
      <p:sp>
        <p:nvSpPr>
          <p:cNvPr id="37" name="Text 35"/>
          <p:cNvSpPr txBox="1"/>
          <p:nvPr/>
        </p:nvSpPr>
        <p:spPr>
          <a:xfrm>
            <a:off x="658368" y="5870448"/>
            <a:ext cx="6042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MONTOS NETOS · A VALIDAR CON LOS PRIMEROS TALLERES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DEMANDA · MERCADO Y ADOPCIÓN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162.780 VEHÍCULOS DE TECHO;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11,1% adoptado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(2025); Centro UC en Emol (2026); Descubre (2026); Fielbaum y Tirachini (2021); Massiani y Gohs (2015).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TAM · CHILE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9776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4.409.729</a:t>
            </a:r>
            <a:endParaRPr lang="es-CL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779776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autos y taxis a combustión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SAM · RM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4164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1.685.930</a:t>
            </a:r>
            <a:endParaRPr lang="es-CL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4041648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 que atiende el taller propio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919472"/>
            <a:ext cx="457200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0109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SEGMENTO LABORAL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03520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5303520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colectivos, taxis y aplicaciones</a:t>
            </a:r>
            <a:endParaRPr lang="es-CL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2395728"/>
            <a:ext cx="6110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ADOPCIÓN ACUMULADA · MODELO DE BASS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10156647" y="2761488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0266375" y="2761488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</a:t>
            </a:r>
            <a:endParaRPr lang="es-CL" sz="1400" dirty="0"/>
          </a:p>
        </p:txBody>
      </p:sp>
      <p:graphicFrame>
        <p:nvGraphicFramePr>
          <p:cNvPr id="21" name="Adopción acumulada del segmento laboral" descr=""/>
          <p:cNvGraphicFramePr/>
          <p:nvPr/>
        </p:nvGraphicFramePr>
        <p:xfrm>
          <a:off x="5440680" y="3172968"/>
          <a:ext cx="6202375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532120" y="5596128"/>
            <a:ext cx="6110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Aun si solo el 40% del segmento adoptara, la demanda cubre el año 5.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DEMANDA · PRONÓSTICO POR LÍNEA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PRONÓSTICO POR LÍNEA: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talleres propios y red.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(2025); Massiani y Gohs (2015); elaboración propia (Informe Fase 3, Tabla N° 10 y Anexo N° 4).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95728"/>
            <a:ext cx="264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Demanda atendible (RM)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3665728" y="2468880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58336" y="2395728"/>
            <a:ext cx="252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Instalaciones propias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6671056" y="2468880"/>
            <a:ext cx="201168" cy="20116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63664" y="2395728"/>
            <a:ext cx="342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Kits a la red (RM y regiones)</a:t>
            </a:r>
            <a:endParaRPr lang="es-CL" sz="1600" dirty="0"/>
          </a:p>
        </p:txBody>
      </p:sp>
      <p:graphicFrame>
        <p:nvGraphicFramePr>
          <p:cNvPr id="12" name="Pronóstico de ventas por línea" descr=""/>
          <p:cNvGraphicFramePr/>
          <p:nvPr/>
        </p:nvGraphicFramePr>
        <p:xfrm>
          <a:off x="457200" y="2816352"/>
          <a:ext cx="11277295" cy="28712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" y="5779008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red suma regiones: </a:t>
            </a:r>
            <a:pPr indent="0" marL="0">
              <a:buNone/>
            </a:pPr>
            <a:r>
              <a:rPr lang="es-CL" altLang="en-US" sz="18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año 5, 4.286 kits en la RM y 3.487 fuera de ella.</a:t>
            </a:r>
            <a:endParaRPr lang="es-C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PRECIO · RECUPERACIÓN DE LA INVERSIÓN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SE PAGA EN 28 A 37 MESES,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dentro del ciclo del auto.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elaboración propia (Informe Fase 3, Tabla N° 6 y §3.1.6.2); Banco Central de Chile (2026), tasa de consumo.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2395728"/>
            <a:ext cx="312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ESENCIAL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519008" y="2395728"/>
            <a:ext cx="312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PLUS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797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79776"/>
            <a:ext cx="4389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Ahorro mensual del colectivo de referencia</a:t>
            </a:r>
            <a:endParaRPr lang="es-CL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2779776"/>
            <a:ext cx="312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$117.069</a:t>
            </a:r>
            <a:endParaRPr lang="es-CL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519008" y="2779776"/>
            <a:ext cx="312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$145.327</a:t>
            </a:r>
            <a:endParaRPr lang="es-CL" sz="300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73552"/>
            <a:ext cx="4389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Meses para recuperar · colectivo</a:t>
            </a:r>
            <a:endParaRPr lang="es-CL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3273552"/>
            <a:ext cx="312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36,6</a:t>
            </a:r>
            <a:endParaRPr lang="es-CL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519008" y="3273552"/>
            <a:ext cx="312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34,3</a:t>
            </a:r>
            <a:endParaRPr lang="es-CL" sz="3000" dirty="0"/>
          </a:p>
        </p:txBody>
      </p:sp>
      <p:sp>
        <p:nvSpPr>
          <p:cNvPr id="16" name="Shape 14"/>
          <p:cNvSpPr/>
          <p:nvPr/>
        </p:nvSpPr>
        <p:spPr>
          <a:xfrm>
            <a:off x="548640" y="37673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67328"/>
            <a:ext cx="4389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Meses para recuperar · aplicación</a:t>
            </a:r>
            <a:endParaRPr lang="es-CL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767328"/>
            <a:ext cx="312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28,9</a:t>
            </a:r>
            <a:endParaRPr lang="es-CL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519008" y="3767328"/>
            <a:ext cx="312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27,5</a:t>
            </a:r>
            <a:endParaRPr lang="es-CL" sz="3000" dirty="0"/>
          </a:p>
        </p:txBody>
      </p:sp>
      <p:sp>
        <p:nvSpPr>
          <p:cNvPr id="20" name="Shape 18"/>
          <p:cNvSpPr/>
          <p:nvPr/>
        </p:nvSpPr>
        <p:spPr>
          <a:xfrm>
            <a:off x="548640" y="426110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261104"/>
            <a:ext cx="43891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Precio por punto de ahorro del colectivo</a:t>
            </a:r>
            <a:endParaRPr lang="es-CL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4261104"/>
            <a:ext cx="312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$295.862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519008" y="4261104"/>
            <a:ext cx="312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$277.222</a:t>
            </a:r>
            <a:endParaRPr lang="es-CL" sz="3000" dirty="0"/>
          </a:p>
        </p:txBody>
      </p:sp>
      <p:sp>
        <p:nvSpPr>
          <p:cNvPr id="24" name="Shape 22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92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FINANCIAMIENTO · CUOTA DE PLUS</a:t>
            </a:r>
            <a:endParaRPr lang="es-CL" sz="1600" dirty="0"/>
          </a:p>
        </p:txBody>
      </p:sp>
      <p:sp>
        <p:nvSpPr>
          <p:cNvPr id="26" name="Shape 24"/>
          <p:cNvSpPr/>
          <p:nvPr/>
        </p:nvSpPr>
        <p:spPr>
          <a:xfrm>
            <a:off x="6768287" y="4956048"/>
            <a:ext cx="487476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6878015" y="4956048"/>
            <a:ext cx="4655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AHORRO SIMULADO · BENCINA A $1.459 · 10 KM/L</a:t>
            </a:r>
            <a:endParaRPr lang="es-CL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3218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$159.967 al mes </a:t>
            </a:r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48 meses al 25,6% anual de consumo: más que el ahorro del colectivo.</a:t>
            </a:r>
            <a:endParaRPr lang="es-CL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72414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$92.042 al mes </a:t>
            </a:r>
            <a:pPr indent="0" marL="0">
              <a:buNone/>
            </a:pPr>
            <a:r>
              <a:rPr lang="es-CL" altLang="en-US" sz="17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 condiciones como las de BancoEstado a taxis y colectivos (0,82% al mes, 72 cuotas).</a:t>
            </a:r>
            <a:endParaRPr lang="es-CL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RECURSOS HUMANOS · PERFILES DE CARGO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CADA CARGO RESPONDE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por un resultado crítico.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13).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225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2257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Gerente General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32257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Autoriza cada paso de crecimiento si la caja lo cubre.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4320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74320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Arma los dúos, valida ascensos y firma cada auto.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6382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Ingeniería de Calibración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316382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Certifica cada modelo y cuida que el ahorro real calce.</a:t>
            </a:r>
            <a:endParaRPr lang="es-CL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5844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8444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58444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Convierte cotizaciones sin prometer de más.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40050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00507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Administración y Personas</a:t>
            </a:r>
            <a:endParaRPr lang="es-CL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251960" y="4005072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 ningún auto espere un kit; sueldos al día.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548640" y="44256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42569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 Instalador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42569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 según el procedimiento y las cinco reglas de oro.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84632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484632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Suma solo talleres que cumplan el reglamento.</a:t>
            </a:r>
            <a:endParaRPr lang="es-CL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26694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Asistente de Postventa</a:t>
            </a:r>
            <a:endParaRPr lang="es-CL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526694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 ninguna mantención ni garantía se pierda.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68756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6875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Asistente de Administración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568756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Despacha kits y baterías con su trazabilidad.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548640" y="610819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RECURSOS HUMANOS · COMPENSACIONES Y NÓMINA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SUPERIOR GANA MÁS;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entre áreas decide la escasez.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ChileTrabajos (2026); Indeed Chile (2026); MiFuturo (2026); Ley N° 21.830; elaboración propia (Informe Fase 3, Tablas N° 14 a 16).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RENTA BRUTA MENSUAL · MILES DE PESOS</a:t>
            </a:r>
            <a:endParaRPr lang="es-CL" sz="1600" dirty="0"/>
          </a:p>
        </p:txBody>
      </p:sp>
      <p:graphicFrame>
        <p:nvGraphicFramePr>
          <p:cNvPr id="7" name="Renta bruta mensual por cargo" descr=""/>
          <p:cNvGraphicFramePr/>
          <p:nvPr/>
        </p:nvGraphicFramePr>
        <p:xfrm>
          <a:off x="457200" y="2724912"/>
          <a:ext cx="7543800" cy="29992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779008"/>
            <a:ext cx="74523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5833872"/>
            <a:ext cx="7452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Nómina por instalación, años 1 a 5 (miles de $): </a:t>
            </a:r>
            <a:pPr indent="0" marL="0">
              <a:buNone/>
            </a:pPr>
            <a:r>
              <a:rPr lang="es-CL" altLang="en-US" sz="16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508 · 306 · 257 · 253 · 265</a:t>
            </a:r>
            <a:endParaRPr lang="es-CL" sz="1600" dirty="0"/>
          </a:p>
        </p:txBody>
      </p:sp>
      <p:sp>
        <p:nvSpPr>
          <p:cNvPr id="10" name="Shape 7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BONO POR NIVEL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VALIDADO</a:t>
            </a:r>
            <a:endParaRPr lang="es-CL" sz="1600" dirty="0"/>
          </a:p>
        </p:txBody>
      </p:sp>
      <p:sp>
        <p:nvSpPr>
          <p:cNvPr id="20" name="Shape 17"/>
          <p:cNvSpPr/>
          <p:nvPr/>
        </p:nvSpPr>
        <p:spPr>
          <a:xfrm>
            <a:off x="8613648" y="321868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N2</a:t>
            </a:r>
            <a:endParaRPr lang="es-CL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299448" y="3218688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$200 mil</a:t>
            </a:r>
            <a:endParaRPr lang="es-CL" sz="3000" dirty="0"/>
          </a:p>
        </p:txBody>
      </p:sp>
      <p:sp>
        <p:nvSpPr>
          <p:cNvPr id="24" name="Shape 21"/>
          <p:cNvSpPr/>
          <p:nvPr/>
        </p:nvSpPr>
        <p:spPr>
          <a:xfrm>
            <a:off x="8613648" y="378561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N3</a:t>
            </a:r>
            <a:endParaRPr lang="es-CL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299448" y="3785616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$300 mil</a:t>
            </a:r>
            <a:endParaRPr lang="es-CL" sz="3000" dirty="0"/>
          </a:p>
        </p:txBody>
      </p:sp>
      <p:sp>
        <p:nvSpPr>
          <p:cNvPr id="28" name="Shape 25"/>
          <p:cNvSpPr/>
          <p:nvPr/>
        </p:nvSpPr>
        <p:spPr>
          <a:xfrm>
            <a:off x="8613648" y="4352544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N4</a:t>
            </a:r>
            <a:endParaRPr lang="es-CL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9299448" y="4352544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$350 mil</a:t>
            </a:r>
            <a:endParaRPr lang="es-CL" sz="3000" dirty="0"/>
          </a:p>
        </p:txBody>
      </p:sp>
      <p:sp>
        <p:nvSpPr>
          <p:cNvPr id="32" name="Shape 29"/>
          <p:cNvSpPr/>
          <p:nvPr/>
        </p:nvSpPr>
        <p:spPr>
          <a:xfrm>
            <a:off x="8613648" y="4919472"/>
            <a:ext cx="2800807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613648" y="491947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Total</a:t>
            </a:r>
            <a:endParaRPr lang="es-CL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9299448" y="4919472"/>
            <a:ext cx="2115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600" dirty="0"/>
          </a:p>
        </p:txBody>
      </p:sp>
      <p:sp>
        <p:nvSpPr>
          <p:cNvPr id="35" name="Text 32"/>
          <p:cNvSpPr txBox="1"/>
          <p:nvPr/>
        </p:nvSpPr>
        <p:spPr>
          <a:xfrm>
            <a:off x="8613648" y="5577840"/>
            <a:ext cx="28465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Los comerciales suman comisión.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JORNADA DE INSTALACIÓN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VEHÍCULO POR JORNADA: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8,4 horas.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(2021), arts. 11 y 12; elaboración propia (Informe Fase 3, Anexo N° 8). Tiempos estimados.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HORAS POR BLOQUE · DÚO CON UN N3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8962847" y="2350008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072575" y="2350008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1095233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76945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076945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623539" y="2779776"/>
            <a:ext cx="4321944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605251" y="2779776"/>
            <a:ext cx="435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605251" y="3529584"/>
            <a:ext cx="435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982059" y="2779776"/>
            <a:ext cx="2340799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63771" y="2779776"/>
            <a:ext cx="23773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963771" y="3529584"/>
            <a:ext cx="2377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21" name="Shape 19"/>
          <p:cNvSpPr/>
          <p:nvPr/>
        </p:nvSpPr>
        <p:spPr>
          <a:xfrm>
            <a:off x="8359434" y="2779776"/>
            <a:ext cx="1020035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41146" y="2779776"/>
            <a:ext cx="10566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341146" y="3529584"/>
            <a:ext cx="1056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9416045" y="2779776"/>
            <a:ext cx="1284188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97757" y="2779776"/>
            <a:ext cx="13207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397757" y="3529584"/>
            <a:ext cx="132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10736809" y="2779776"/>
            <a:ext cx="88795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18521" y="2779776"/>
            <a:ext cx="924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10718521" y="3529584"/>
            <a:ext cx="924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7</a:t>
            </a:r>
            <a:endParaRPr lang="es-CL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Seguridad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3797732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Recepción</a:t>
            </a:r>
            <a:endParaRPr lang="es-CL" sz="2000" dirty="0"/>
          </a:p>
        </p:txBody>
      </p:sp>
      <p:sp>
        <p:nvSpPr>
          <p:cNvPr id="36" name="Shape 34"/>
          <p:cNvSpPr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571336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Montaje y pesaje</a:t>
            </a:r>
            <a:endParaRPr lang="es-CL" sz="2000" dirty="0"/>
          </a:p>
        </p:txBody>
      </p:sp>
      <p:sp>
        <p:nvSpPr>
          <p:cNvPr id="39" name="Shape 37"/>
          <p:cNvSpPr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344939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Integración</a:t>
            </a:r>
            <a:endParaRPr lang="es-CL" sz="2000" dirty="0"/>
          </a:p>
        </p:txBody>
      </p:sp>
      <p:sp>
        <p:nvSpPr>
          <p:cNvPr id="42" name="Shape 40"/>
          <p:cNvSpPr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45" name="Shape 43"/>
          <p:cNvSpPr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797732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Pruebas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7</a:t>
            </a:r>
            <a:endParaRPr lang="es-CL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6571336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Cierre</a:t>
            </a:r>
            <a:endParaRPr lang="es-CL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46634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Montaje e integración concentran 5,1 de las 8,4 horas.</a:t>
            </a:r>
            <a:endParaRPr lang="es-CL" sz="2200" dirty="0"/>
          </a:p>
        </p:txBody>
      </p:sp>
      <p:sp>
        <p:nvSpPr>
          <p:cNvPr id="52" name="Shape 50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2669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54" name="Shape 52"/>
          <p:cNvSpPr/>
          <p:nvPr/>
        </p:nvSpPr>
        <p:spPr>
          <a:xfrm>
            <a:off x="548640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77240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¿Vehículo apto?</a:t>
            </a:r>
            <a:endParaRPr lang="es-CL" sz="2000" dirty="0"/>
          </a:p>
        </p:txBody>
      </p:sp>
      <p:sp>
        <p:nvSpPr>
          <p:cNvPr id="57" name="Shape 55"/>
          <p:cNvSpPr/>
          <p:nvPr/>
        </p:nvSpPr>
        <p:spPr>
          <a:xfrm>
            <a:off x="3367964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67964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96564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¿Masa y ejes?</a:t>
            </a:r>
            <a:endParaRPr lang="es-CL" sz="2000" dirty="0"/>
          </a:p>
        </p:txBody>
      </p:sp>
      <p:sp>
        <p:nvSpPr>
          <p:cNvPr id="60" name="Shape 58"/>
          <p:cNvSpPr/>
          <p:nvPr/>
        </p:nvSpPr>
        <p:spPr>
          <a:xfrm>
            <a:off x="6187288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87288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415888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¿Aislación?</a:t>
            </a:r>
            <a:endParaRPr lang="es-CL" sz="2000" dirty="0"/>
          </a:p>
        </p:txBody>
      </p:sp>
      <p:sp>
        <p:nvSpPr>
          <p:cNvPr id="63" name="Shape 61"/>
          <p:cNvSpPr/>
          <p:nvPr/>
        </p:nvSpPr>
        <p:spPr>
          <a:xfrm>
            <a:off x="9006611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006611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235211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¿Dinamómetro?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RESULTADO Y RIESGO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RESULTADO REFERENCIAL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por línea de negocio.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Dynojet Research (2016); Importadora JAK (2026); elaboración propia (Informe Fase 3, Tablas N° 18 a 21). Dólar base $965,71.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RESULTADO REFERENCIAL POR LÍNEA · MILLONES DE $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798064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2724912"/>
            <a:ext cx="197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propios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3040888" y="2798064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33496" y="2724912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600" dirty="0"/>
          </a:p>
        </p:txBody>
      </p:sp>
      <p:graphicFrame>
        <p:nvGraphicFramePr>
          <p:cNvPr id="11" name="Resultado referencial por línea de negocio" descr=""/>
          <p:cNvGraphicFramePr/>
          <p:nvPr/>
        </p:nvGraphicFramePr>
        <p:xfrm>
          <a:off x="457200" y="3090672"/>
          <a:ext cx="6217920" cy="270662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5888736"/>
            <a:ext cx="5395468" cy="310896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58368" y="5888736"/>
            <a:ext cx="51760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PROYECCIÓN REFERENCIAL · 60% PLUS · SIN IMPUESTOS</a:t>
            </a:r>
            <a:endParaRPr lang="es-CL" sz="1200" dirty="0"/>
          </a:p>
        </p:txBody>
      </p:sp>
      <p:sp>
        <p:nvSpPr>
          <p:cNvPr id="14" name="Shape 11"/>
          <p:cNvSpPr/>
          <p:nvPr/>
        </p:nvSpPr>
        <p:spPr>
          <a:xfrm>
            <a:off x="7086600" y="2395728"/>
            <a:ext cx="21410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86600" y="2468880"/>
            <a:ext cx="2141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POR LOCAL</a:t>
            </a:r>
            <a:endParaRPr lang="es-CL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86600" y="2724912"/>
            <a:ext cx="21410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$81 M</a:t>
            </a:r>
            <a:endParaRPr lang="es-CL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3273552"/>
            <a:ext cx="2141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casi la mitad, el dinamómetro</a:t>
            </a:r>
            <a:endParaRPr lang="es-CL" sz="1500" dirty="0"/>
          </a:p>
        </p:txBody>
      </p:sp>
      <p:sp>
        <p:nvSpPr>
          <p:cNvPr id="18" name="Shape 15"/>
          <p:cNvSpPr/>
          <p:nvPr/>
        </p:nvSpPr>
        <p:spPr>
          <a:xfrm>
            <a:off x="9501988" y="2395728"/>
            <a:ext cx="21410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501988" y="2468880"/>
            <a:ext cx="2141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GASTO OPERACIONAL</a:t>
            </a:r>
            <a:endParaRPr lang="es-CL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501988" y="2724912"/>
            <a:ext cx="21410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$9.606 M</a:t>
            </a:r>
            <a:endParaRPr lang="es-CL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9501988" y="3273552"/>
            <a:ext cx="2141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año 5; el kit es más del 90%</a:t>
            </a:r>
            <a:endParaRPr lang="es-CL" sz="1500" dirty="0"/>
          </a:p>
        </p:txBody>
      </p:sp>
      <p:sp>
        <p:nvSpPr>
          <p:cNvPr id="22" name="Shape 19"/>
          <p:cNvSpPr/>
          <p:nvPr/>
        </p:nvSpPr>
        <p:spPr>
          <a:xfrm>
            <a:off x="7086600" y="3877056"/>
            <a:ext cx="4556455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86600" y="3950208"/>
            <a:ext cx="4556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MARGEN PROPIO AL AÑO 5 · DÓLAR</a:t>
            </a:r>
            <a:endParaRPr lang="es-CL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427939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−10%</a:t>
            </a:r>
            <a:endParaRPr lang="es-CL" sz="1700" dirty="0"/>
          </a:p>
        </p:txBody>
      </p:sp>
      <p:sp>
        <p:nvSpPr>
          <p:cNvPr id="25" name="Shape 22"/>
          <p:cNvSpPr/>
          <p:nvPr/>
        </p:nvSpPr>
        <p:spPr>
          <a:xfrm>
            <a:off x="8412480" y="4434840"/>
            <a:ext cx="1143000" cy="25603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628632" y="42793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1.647</a:t>
            </a:r>
            <a:endParaRPr lang="es-CL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317175" y="427939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484632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Base</a:t>
            </a:r>
            <a:endParaRPr lang="es-CL" sz="1700" dirty="0"/>
          </a:p>
        </p:txBody>
      </p:sp>
      <p:sp>
        <p:nvSpPr>
          <p:cNvPr id="29" name="Shape 26"/>
          <p:cNvSpPr/>
          <p:nvPr/>
        </p:nvSpPr>
        <p:spPr>
          <a:xfrm>
            <a:off x="8412480" y="5001768"/>
            <a:ext cx="603738" cy="2560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089370" y="484632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870</a:t>
            </a:r>
            <a:endParaRPr lang="es-CL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0317175" y="4846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4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541324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+10%</a:t>
            </a:r>
            <a:endParaRPr lang="es-CL" sz="1700" dirty="0"/>
          </a:p>
        </p:txBody>
      </p:sp>
      <p:sp>
        <p:nvSpPr>
          <p:cNvPr id="33" name="Shape 30"/>
          <p:cNvSpPr/>
          <p:nvPr/>
        </p:nvSpPr>
        <p:spPr>
          <a:xfrm>
            <a:off x="8412480" y="5568696"/>
            <a:ext cx="64475" cy="256032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550107" y="54132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93</a:t>
            </a:r>
            <a:endParaRPr lang="es-CL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10317175" y="541324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4400" dirty="0"/>
          </a:p>
        </p:txBody>
      </p:sp>
      <p:sp>
        <p:nvSpPr>
          <p:cNvPr id="36" name="Text 33"/>
          <p:cNvSpPr txBox="1"/>
          <p:nvPr/>
        </p:nvSpPr>
        <p:spPr>
          <a:xfrm>
            <a:off x="7086600" y="6016752"/>
            <a:ext cx="45564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Red: cerca de 10%. </a:t>
            </a:r>
            <a:pPr indent="0" marL="0">
              <a:buNone/>
            </a:pPr>
            <a:r>
              <a:rPr lang="es-CL" altLang="en-US" sz="15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82% del kit se paga en dólares.</a:t>
            </a:r>
            <a:endParaRPr lang="es-CL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SENSIBILIDAD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DÓLAR PESA MÁS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que el precio y la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RESULTADO PROPIO AL AÑO 5 · MILLONES DE $</a:t>
            </a:r>
            <a:endParaRPr lang="es-CL" sz="1600" dirty="0"/>
          </a:p>
        </p:txBody>
      </p:sp>
      <p:graphicFrame>
        <p:nvGraphicFramePr>
          <p:cNvPr id="7" name="Sensibilidad del resultado al quinto añ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25146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96896"/>
            <a:ext cx="2892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MARGEN SOBRE VENTAS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2999232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13648" y="299923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Base</a:t>
            </a:r>
            <a:endParaRPr lang="es-CL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0213848" y="2999232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21" name="Shape 18"/>
          <p:cNvSpPr/>
          <p:nvPr/>
        </p:nvSpPr>
        <p:spPr>
          <a:xfrm>
            <a:off x="8613648" y="360273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13648" y="360273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+10%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0213848" y="3602736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600" dirty="0"/>
          </a:p>
        </p:txBody>
      </p:sp>
      <p:sp>
        <p:nvSpPr>
          <p:cNvPr id="24" name="Shape 21"/>
          <p:cNvSpPr/>
          <p:nvPr/>
        </p:nvSpPr>
        <p:spPr>
          <a:xfrm>
            <a:off x="8613648" y="4206240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613648" y="420624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−10%</a:t>
            </a:r>
            <a:endParaRPr lang="es-CL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10213848" y="4206240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8385048" y="5120640"/>
            <a:ext cx="32580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82% del costo del kit está en dólares: el plan financiero evaluará coberturas.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CARTA GANTT DE IMPLEMENTACIÓN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CARTA GANTT </a:t>
            </a:r>
            <a:pPr algn="l" indent="0" marL="0">
              <a:lnSpc>
                <a:spcPct val="86000"/>
              </a:lnSpc>
              <a:buNone/>
            </a:pPr>
            <a:r>
              <a:rPr lang="en-US" sz="3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completa.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395728"/>
            <a:ext cx="790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2026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65204" y="2395728"/>
            <a:ext cx="3161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4265204" y="2724912"/>
            <a:ext cx="0" cy="305409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27140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7427140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81119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8481119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35098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4</a:t>
            </a:r>
            <a:endParaRPr lang="es-CL" sz="1600" dirty="0"/>
          </a:p>
        </p:txBody>
      </p:sp>
      <p:sp>
        <p:nvSpPr>
          <p:cNvPr id="14" name="Shape 12"/>
          <p:cNvSpPr/>
          <p:nvPr/>
        </p:nvSpPr>
        <p:spPr>
          <a:xfrm>
            <a:off x="9535098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89076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5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10589076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77977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Investigación y permisos</a:t>
            </a:r>
            <a:endParaRPr lang="es-CL" sz="1700" dirty="0"/>
          </a:p>
        </p:txBody>
      </p:sp>
      <p:sp>
        <p:nvSpPr>
          <p:cNvPr id="18" name="Shape 16"/>
          <p:cNvSpPr/>
          <p:nvPr/>
        </p:nvSpPr>
        <p:spPr>
          <a:xfrm>
            <a:off x="3474720" y="2843784"/>
            <a:ext cx="790484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320040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20040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Homologación y primer dúo</a:t>
            </a:r>
            <a:endParaRPr lang="es-CL" sz="1700" dirty="0"/>
          </a:p>
        </p:txBody>
      </p:sp>
      <p:sp>
        <p:nvSpPr>
          <p:cNvPr id="21" name="Shape 19"/>
          <p:cNvSpPr/>
          <p:nvPr/>
        </p:nvSpPr>
        <p:spPr>
          <a:xfrm>
            <a:off x="3738215" y="3264408"/>
            <a:ext cx="526989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6210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62102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Reglamento Ley 21.793</a:t>
            </a:r>
            <a:endParaRPr lang="es-CL" sz="1700" dirty="0"/>
          </a:p>
        </p:txBody>
      </p:sp>
      <p:sp>
        <p:nvSpPr>
          <p:cNvPr id="24" name="Shape 22"/>
          <p:cNvSpPr/>
          <p:nvPr/>
        </p:nvSpPr>
        <p:spPr>
          <a:xfrm>
            <a:off x="3978009" y="3675888"/>
            <a:ext cx="310896" cy="310896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89489" y="3621024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debe estar vigente antes de vender</a:t>
            </a:r>
            <a:endParaRPr lang="es-CL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40416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041648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1: dúos 1 a 6</a:t>
            </a:r>
            <a:endParaRPr lang="es-CL" sz="1700" dirty="0"/>
          </a:p>
        </p:txBody>
      </p:sp>
      <p:sp>
        <p:nvSpPr>
          <p:cNvPr id="28" name="Shape 26"/>
          <p:cNvSpPr/>
          <p:nvPr/>
        </p:nvSpPr>
        <p:spPr>
          <a:xfrm>
            <a:off x="5055688" y="4105656"/>
            <a:ext cx="52698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29" name="Shape 27"/>
          <p:cNvSpPr/>
          <p:nvPr/>
        </p:nvSpPr>
        <p:spPr>
          <a:xfrm>
            <a:off x="6636656" y="4105656"/>
            <a:ext cx="52698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0" name="Shape 28"/>
          <p:cNvSpPr/>
          <p:nvPr/>
        </p:nvSpPr>
        <p:spPr>
          <a:xfrm>
            <a:off x="7163646" y="4105656"/>
            <a:ext cx="351326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1" name="Shape 29"/>
          <p:cNvSpPr/>
          <p:nvPr/>
        </p:nvSpPr>
        <p:spPr>
          <a:xfrm>
            <a:off x="7690635" y="4105656"/>
            <a:ext cx="175663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2" name="Shape 30"/>
          <p:cNvSpPr/>
          <p:nvPr/>
        </p:nvSpPr>
        <p:spPr>
          <a:xfrm>
            <a:off x="7866298" y="4105656"/>
            <a:ext cx="175663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6332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38356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35" name="Shape 33"/>
          <p:cNvSpPr/>
          <p:nvPr/>
        </p:nvSpPr>
        <p:spPr>
          <a:xfrm>
            <a:off x="5463805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55829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37" name="Shape 35"/>
          <p:cNvSpPr/>
          <p:nvPr/>
        </p:nvSpPr>
        <p:spPr>
          <a:xfrm>
            <a:off x="7044774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36798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39" name="Shape 37"/>
          <p:cNvSpPr/>
          <p:nvPr/>
        </p:nvSpPr>
        <p:spPr>
          <a:xfrm>
            <a:off x="7396100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8124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Shape 39"/>
          <p:cNvSpPr/>
          <p:nvPr/>
        </p:nvSpPr>
        <p:spPr>
          <a:xfrm>
            <a:off x="7747426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39450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43" name="Shape 41"/>
          <p:cNvSpPr/>
          <p:nvPr/>
        </p:nvSpPr>
        <p:spPr>
          <a:xfrm>
            <a:off x="7923089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15113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45" name="Shape 43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446227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 de modelos</a:t>
            </a:r>
            <a:endParaRPr lang="es-CL" sz="1700" dirty="0"/>
          </a:p>
        </p:txBody>
      </p:sp>
      <p:sp>
        <p:nvSpPr>
          <p:cNvPr id="47" name="Shape 45"/>
          <p:cNvSpPr/>
          <p:nvPr/>
        </p:nvSpPr>
        <p:spPr>
          <a:xfrm>
            <a:off x="4265204" y="4526280"/>
            <a:ext cx="3161936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65204" y="4462272"/>
            <a:ext cx="3161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dos al mes</a:t>
            </a:r>
            <a:endParaRPr lang="es-CL" sz="1600" dirty="0"/>
          </a:p>
        </p:txBody>
      </p:sp>
      <p:sp>
        <p:nvSpPr>
          <p:cNvPr id="49" name="Shape 47"/>
          <p:cNvSpPr/>
          <p:nvPr/>
        </p:nvSpPr>
        <p:spPr>
          <a:xfrm>
            <a:off x="7427140" y="4526280"/>
            <a:ext cx="4215915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427140" y="4462272"/>
            <a:ext cx="42159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uno al mes</a:t>
            </a:r>
            <a:endParaRPr lang="es-CL" sz="1600" dirty="0"/>
          </a:p>
        </p:txBody>
      </p:sp>
      <p:sp>
        <p:nvSpPr>
          <p:cNvPr id="51" name="Shape 49"/>
          <p:cNvSpPr/>
          <p:nvPr/>
        </p:nvSpPr>
        <p:spPr>
          <a:xfrm>
            <a:off x="548640" y="48828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88289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700" dirty="0"/>
          </a:p>
        </p:txBody>
      </p:sp>
      <p:sp>
        <p:nvSpPr>
          <p:cNvPr id="53" name="Shape 51"/>
          <p:cNvSpPr/>
          <p:nvPr/>
        </p:nvSpPr>
        <p:spPr>
          <a:xfrm>
            <a:off x="7427140" y="4946904"/>
            <a:ext cx="4215915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914191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000" dirty="0"/>
          </a:p>
        </p:txBody>
      </p:sp>
      <p:sp>
        <p:nvSpPr>
          <p:cNvPr id="55" name="Text 53"/>
          <p:cNvSpPr txBox="1"/>
          <p:nvPr/>
        </p:nvSpPr>
        <p:spPr>
          <a:xfrm>
            <a:off x="8968170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10022148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11076127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000" dirty="0"/>
          </a:p>
        </p:txBody>
      </p:sp>
      <p:sp>
        <p:nvSpPr>
          <p:cNvPr id="58" name="Shape 56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3035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2 y 3</a:t>
            </a:r>
            <a:endParaRPr lang="es-CL" sz="1700" dirty="0"/>
          </a:p>
        </p:txBody>
      </p:sp>
      <p:sp>
        <p:nvSpPr>
          <p:cNvPr id="60" name="Shape 58"/>
          <p:cNvSpPr/>
          <p:nvPr/>
        </p:nvSpPr>
        <p:spPr>
          <a:xfrm>
            <a:off x="8217624" y="5367528"/>
            <a:ext cx="263495" cy="29260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61" name="Shape 59"/>
          <p:cNvSpPr/>
          <p:nvPr/>
        </p:nvSpPr>
        <p:spPr>
          <a:xfrm>
            <a:off x="8481119" y="5367528"/>
            <a:ext cx="105397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481119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2</a:t>
            </a:r>
            <a:endParaRPr lang="es-CL" sz="1600" dirty="0"/>
          </a:p>
        </p:txBody>
      </p:sp>
      <p:sp>
        <p:nvSpPr>
          <p:cNvPr id="63" name="Shape 61"/>
          <p:cNvSpPr/>
          <p:nvPr/>
        </p:nvSpPr>
        <p:spPr>
          <a:xfrm>
            <a:off x="10325582" y="5367528"/>
            <a:ext cx="263495" cy="29260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64" name="Shape 62"/>
          <p:cNvSpPr/>
          <p:nvPr/>
        </p:nvSpPr>
        <p:spPr>
          <a:xfrm>
            <a:off x="10589076" y="5367528"/>
            <a:ext cx="1053979" cy="292608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589076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3</a:t>
            </a:r>
            <a:endParaRPr lang="es-CL" sz="1600" dirty="0"/>
          </a:p>
        </p:txBody>
      </p:sp>
      <p:sp>
        <p:nvSpPr>
          <p:cNvPr id="66" name="Shape 64"/>
          <p:cNvSpPr/>
          <p:nvPr/>
        </p:nvSpPr>
        <p:spPr>
          <a:xfrm>
            <a:off x="8362247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70204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925312"/>
            <a:ext cx="219456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59536" y="5852160"/>
            <a:ext cx="2037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Actividad principal</a:t>
            </a:r>
            <a:endParaRPr lang="es-CL" sz="1600" dirty="0"/>
          </a:p>
        </p:txBody>
      </p:sp>
      <p:sp>
        <p:nvSpPr>
          <p:cNvPr id="70" name="Shape 68"/>
          <p:cNvSpPr/>
          <p:nvPr/>
        </p:nvSpPr>
        <p:spPr>
          <a:xfrm>
            <a:off x="3171139" y="5925312"/>
            <a:ext cx="219456" cy="219456"/>
          </a:xfrm>
          <a:prstGeom prst="rect">
            <a:avLst/>
          </a:prstGeom>
          <a:solidFill>
            <a:srgbClr val="4A525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82035" y="5852160"/>
            <a:ext cx="10131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Operación</a:t>
            </a:r>
            <a:endParaRPr lang="es-CL" sz="1600" dirty="0"/>
          </a:p>
        </p:txBody>
      </p:sp>
      <p:sp>
        <p:nvSpPr>
          <p:cNvPr id="72" name="Shape 70"/>
          <p:cNvSpPr/>
          <p:nvPr/>
        </p:nvSpPr>
        <p:spPr>
          <a:xfrm>
            <a:off x="4769510" y="5925312"/>
            <a:ext cx="219456" cy="219456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80406" y="5852160"/>
            <a:ext cx="2242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Preapertura de taller</a:t>
            </a:r>
            <a:endParaRPr lang="es-CL" sz="1600" dirty="0"/>
          </a:p>
        </p:txBody>
      </p:sp>
      <p:sp>
        <p:nvSpPr>
          <p:cNvPr id="74" name="Shape 72"/>
          <p:cNvSpPr/>
          <p:nvPr/>
        </p:nvSpPr>
        <p:spPr>
          <a:xfrm>
            <a:off x="7596835" y="5925312"/>
            <a:ext cx="219456" cy="219456"/>
          </a:xfrm>
          <a:prstGeom prst="diamond">
            <a:avLst/>
          </a:prstGeom>
          <a:solidFill>
            <a:schemeClr val="tx1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7907731" y="585216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Apertura o dúo nuevo</a:t>
            </a:r>
            <a:endParaRPr lang="es-CL" sz="1600" dirty="0"/>
          </a:p>
        </p:txBody>
      </p:sp>
      <p:sp>
        <p:nvSpPr>
          <p:cNvPr id="76" name="Shape 74"/>
          <p:cNvSpPr/>
          <p:nvPr/>
        </p:nvSpPr>
        <p:spPr>
          <a:xfrm>
            <a:off x="10321747" y="5925312"/>
            <a:ext cx="219456" cy="219456"/>
          </a:xfrm>
          <a:prstGeom prst="star5">
            <a:avLst/>
          </a:prstGeom>
          <a:solidFill>
            <a:schemeClr val="tx1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0632643" y="5852160"/>
            <a:ext cx="1320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Hito crítico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8B9598"/>
      </a:accent2>
      <a:accent3>
        <a:srgbClr val="4A5257"/>
      </a:accent3>
      <a:accent4>
        <a:srgbClr val="ECECEC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Michr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chiv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Lumine Motors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3 · Plan de Marketing, Operaciones y Recursos Humanos · Lumine Motors</dc:title>
  <dc:subject>Integrador II: Taller de Empresas · ICMA 1001 · Grupo 1</dc:subject>
  <dc:creator>Diego Alarcón, Benjamín Torres y Lukas Verdugo</dc:creator>
  <cp:lastModifiedBy>Diego Alarcón, Benjamín Torres y Lukas Verdugo</cp:lastModifiedBy>
  <cp:revision>1</cp:revision>
  <dcterms:created xsi:type="dcterms:W3CDTF">2026-10-18T19:32:50Z</dcterms:created>
  <dcterms:modified xsi:type="dcterms:W3CDTF">2026-10-18T19:32:50Z</dcterms:modified>
</cp:coreProperties>
</file>