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7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8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1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Diego Alarcón" id="{6d583f85-b1a1-a4e1-421b-47d74fd89918}">
          <p14:sldIdLst>
            <p14:sldId id="256"/>
            <p14:sldId id="257"/>
            <p14:sldId id="258"/>
            <p14:sldId id="259"/>
            <p14:sldId id="260"/>
          </p14:sldIdLst>
        </p14:section>
        <p14:section name="2 · Benjamín Torres" id="{21cbc473-19af-d34b-2ab3-9dae25717a69}">
          <p14:sldIdLst>
            <p14:sldId id="261"/>
            <p14:sldId id="262"/>
            <p14:sldId id="263"/>
            <p14:sldId id="264"/>
            <p14:sldId id="265"/>
          </p14:sldIdLst>
        </p14:section>
        <p14:section name="3 · Lukas Verdugo" id="{55000c33-b998-e2c5-e60c-12929651abf5}">
          <p14:sldIdLst>
            <p14:sldId id="266"/>
            <p14:sldId id="267"/>
            <p14:sldId id="268"/>
            <p14:sldId id="269"/>
            <p14:sldId id="270"/>
          </p14:sldIdLst>
        </p14:section>
        <p14:section name="Anexo" id="{a273bf82-4aaa-2c4b-a474-67d6a2ddd2b9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Esencial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Colectivo</c:v>
                  </c:pt>
                  <c:pt idx="1">
                    <c:v>Aplicación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36.6</c:v>
                </c:pt>
                <c:pt idx="1">
                  <c:v>28.9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Plus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Colectivo</c:v>
                  </c:pt>
                  <c:pt idx="1">
                    <c:v>Aplicación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34.3</c:v>
                </c:pt>
                <c:pt idx="1">
                  <c:v>27.5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80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8B9598"/>
              </a:solidFill>
              <a:latin typeface="IBM Plex Mono"/>
              <a:cs typeface="IBM Plex Mono"/>
            </a:defRPr>
          </a:pPr>
          <a:endParaRPr lang="en-US"/>
        </a:p>
      </c:txPr>
    </c:legend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Demanda atendible</c:v>
                </c:pt>
              </c:strCache>
            </c:strRef>
          </c:tx>
          <c:spPr>
            <a:solidFill>
              <a:srgbClr val="2E3438"/>
            </a:solidFill>
            <a:effectLst/>
          </c:spPr>
          <c:invertIfNegative val="0"/>
          <c:dLbls>
            <c:numFmt formatCode="[&lt;2000]&quot;&quot;;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367</c:v>
                </c:pt>
                <c:pt idx="1">
                  <c:v>990</c:v>
                </c:pt>
                <c:pt idx="2">
                  <c:v>1971</c:v>
                </c:pt>
                <c:pt idx="3">
                  <c:v>3835</c:v>
                </c:pt>
                <c:pt idx="4">
                  <c:v>7137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Instalaciones propias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[&lt;2000]&quot;&quot;;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299</c:v>
                </c:pt>
                <c:pt idx="1">
                  <c:v>869</c:v>
                </c:pt>
                <c:pt idx="2">
                  <c:v>1674</c:v>
                </c:pt>
                <c:pt idx="3">
                  <c:v>2268</c:v>
                </c:pt>
                <c:pt idx="4">
                  <c:v>2851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Kits a la red</c:v>
                </c:pt>
              </c:strCache>
            </c:strRef>
          </c:tx>
          <c:spPr>
            <a:solidFill>
              <a:srgbClr val="0A6F9E"/>
            </a:solidFill>
            <a:effectLst/>
          </c:spPr>
          <c:invertIfNegative val="0"/>
          <c:dLbls>
            <c:numFmt formatCode="[&lt;2000]&quot;&quot;;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365</c:v>
                </c:pt>
                <c:pt idx="2">
                  <c:v>1074</c:v>
                </c:pt>
                <c:pt idx="3">
                  <c:v>3287</c:v>
                </c:pt>
                <c:pt idx="4">
                  <c:v>7773</c:v>
                </c:pt>
              </c:numCache>
            </c:numRef>
          </c:val>
        </c:ser>
        <c:dLbls>
          <c:numFmt formatCode="[&lt;2000]&quot;&quot;;#,##0" sourceLinked="0"/>
          <c:txPr>
            <a:bodyPr/>
            <a:lstStyle/>
            <a:p>
              <a:pPr>
                <a:defRPr b="1" i="0" strike="noStrike" sz="130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8B9598"/>
              </a:solidFill>
              <a:latin typeface="IBM Plex Mono"/>
              <a:cs typeface="IBM Plex Mono"/>
            </a:defRPr>
          </a:pPr>
          <a:endParaRPr lang="en-US"/>
        </a:p>
      </c:txPr>
    </c:legend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piloto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[&lt;14]&quot;&quot;;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20304"/>
                    </a:solidFill>
                    <a:latin typeface="IBM Plex Mon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49.47</c:v>
                </c:pt>
                <c:pt idx="1">
                  <c:v>23.75</c:v>
                </c:pt>
                <c:pt idx="2">
                  <c:v>23.75</c:v>
                </c:pt>
                <c:pt idx="3">
                  <c:v>23.75</c:v>
                </c:pt>
                <c:pt idx="4">
                  <c:v>23.75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Pauta digital</c:v>
                </c:pt>
              </c:strCache>
            </c:strRef>
          </c:tx>
          <c:spPr>
            <a:solidFill>
              <a:srgbClr val="0A6F9E"/>
            </a:solidFill>
            <a:effectLst/>
          </c:spPr>
          <c:invertIfNegative val="0"/>
          <c:dLbls>
            <c:numFmt formatCode="[&lt;14]&quot;&quot;;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20304"/>
                    </a:solidFill>
                    <a:latin typeface="IBM Plex Mon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14.4</c:v>
                </c:pt>
                <c:pt idx="1">
                  <c:v>18</c:v>
                </c:pt>
                <c:pt idx="2">
                  <c:v>24</c:v>
                </c:pt>
                <c:pt idx="3">
                  <c:v>24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Comisiones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[&lt;14]&quot;&quot;;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20304"/>
                    </a:solidFill>
                    <a:latin typeface="IBM Plex Mon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4.92</c:v>
                </c:pt>
                <c:pt idx="1">
                  <c:v>15.58</c:v>
                </c:pt>
                <c:pt idx="2">
                  <c:v>30.3</c:v>
                </c:pt>
                <c:pt idx="3">
                  <c:v>42.45</c:v>
                </c:pt>
                <c:pt idx="4">
                  <c:v>56.98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Otras</c:v>
                </c:pt>
              </c:strCache>
            </c:strRef>
          </c:tx>
          <c:spPr>
            <a:solidFill>
              <a:srgbClr val="2E3438"/>
            </a:solidFill>
            <a:effectLst/>
          </c:spPr>
          <c:invertIfNegative val="0"/>
          <c:dLbls>
            <c:numFmt formatCode="[&lt;14]&quot;&quot;;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20304"/>
                    </a:solidFill>
                    <a:latin typeface="IBM Plex Mon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12.15</c:v>
                </c:pt>
                <c:pt idx="1">
                  <c:v>22.65</c:v>
                </c:pt>
                <c:pt idx="2">
                  <c:v>38.22</c:v>
                </c:pt>
                <c:pt idx="3">
                  <c:v>44.14</c:v>
                </c:pt>
                <c:pt idx="4">
                  <c:v>52.96</c:v>
                </c:pt>
              </c:numCache>
            </c:numRef>
          </c:val>
        </c:ser>
        <c:dLbls>
          <c:numFmt formatCode="[&lt;14]&quot;&quot;;0" sourceLinked="0"/>
          <c:txPr>
            <a:bodyPr/>
            <a:lstStyle/>
            <a:p>
              <a:pPr>
                <a:defRPr b="1" i="0" strike="noStrike" sz="1300" u="none">
                  <a:solidFill>
                    <a:srgbClr val="020304"/>
                  </a:solidFill>
                  <a:latin typeface="IBM Plex Mono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8B9598"/>
              </a:solidFill>
              <a:latin typeface="IBM Plex Mono"/>
              <a:cs typeface="IBM Plex Mono"/>
            </a:defRPr>
          </a:pPr>
          <a:endParaRPr lang="en-US"/>
        </a:p>
      </c:txPr>
    </c:legend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Dotación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Pre</c:v>
                  </c:pt>
                  <c:pt idx="1">
                    <c:v>A1</c:v>
                  </c:pt>
                  <c:pt idx="2">
                    <c:v>A2</c:v>
                  </c:pt>
                  <c:pt idx="3">
                    <c:v>A3</c:v>
                  </c:pt>
                  <c:pt idx="4">
                    <c:v>A4</c:v>
                  </c:pt>
                  <c:pt idx="5">
                    <c:v>A5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13</c:v>
                </c:pt>
                <c:pt idx="2">
                  <c:v>21</c:v>
                </c:pt>
                <c:pt idx="3">
                  <c:v>33</c:v>
                </c:pt>
                <c:pt idx="4">
                  <c:v>40</c:v>
                </c:pt>
                <c:pt idx="5">
                  <c:v>56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60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Costo por instalación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508</c:v>
                </c:pt>
                <c:pt idx="1">
                  <c:v>306</c:v>
                </c:pt>
                <c:pt idx="2">
                  <c:v>257</c:v>
                </c:pt>
                <c:pt idx="3">
                  <c:v>253</c:v>
                </c:pt>
                <c:pt idx="4">
                  <c:v>265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80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Línea propia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;-#,##0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-130.2</c:v>
                </c:pt>
                <c:pt idx="1">
                  <c:v>159.9</c:v>
                </c:pt>
                <c:pt idx="2">
                  <c:v>444.8</c:v>
                </c:pt>
                <c:pt idx="3">
                  <c:v>694.7</c:v>
                </c:pt>
                <c:pt idx="4">
                  <c:v>869.9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Red de talleres</c:v>
                </c:pt>
              </c:strCache>
            </c:strRef>
          </c:tx>
          <c:spPr>
            <a:solidFill>
              <a:srgbClr val="0A6F9E"/>
            </a:solidFill>
            <a:effectLst/>
          </c:spPr>
          <c:invertIfNegative val="0"/>
          <c:dLbls>
            <c:numFmt formatCode="#,##0;-#,##0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142.1</c:v>
                </c:pt>
                <c:pt idx="2">
                  <c:v>415.2</c:v>
                </c:pt>
                <c:pt idx="3">
                  <c:v>1233.2</c:v>
                </c:pt>
                <c:pt idx="4">
                  <c:v>2889.5</c:v>
                </c:pt>
              </c:numCache>
            </c:numRef>
          </c:val>
        </c:ser>
        <c:dLbls>
          <c:numFmt formatCode="#,##0;-#,##0;;" sourceLinked="0"/>
          <c:txPr>
            <a:bodyPr/>
            <a:lstStyle/>
            <a:p>
              <a:pPr>
                <a:defRPr b="1" i="0" strike="noStrike" sz="130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00"/>
          <c:min val="-5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8B9598"/>
              </a:solidFill>
              <a:latin typeface="IBM Plex Mono"/>
              <a:cs typeface="IBM Plex Mono"/>
            </a:defRPr>
          </a:pPr>
          <a:endParaRPr lang="en-US"/>
        </a:p>
      </c:txPr>
    </c:legend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Adopción acumulada</c:v>
                </c:pt>
              </c:strCache>
            </c:strRef>
          </c:tx>
          <c:spPr>
            <a:solidFill>
              <a:srgbClr val="22B8F0"/>
            </a:solidFill>
            <a:ln w="31750" cap="flat">
              <a:solidFill>
                <a:srgbClr val="22B8F0"/>
              </a:solidFill>
              <a:prstDash val="solid"/>
              <a:round/>
            </a:ln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2B8F0"/>
              </a:solidFill>
              <a:ln w="9525" cap="flat">
                <a:solidFill>
                  <a:srgbClr val="22B8F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0.0038</c:v>
                </c:pt>
                <c:pt idx="1">
                  <c:v>0.0114</c:v>
                </c:pt>
                <c:pt idx="2">
                  <c:v>0.0265</c:v>
                </c:pt>
                <c:pt idx="3">
                  <c:v>0.056</c:v>
                </c:pt>
                <c:pt idx="4">
                  <c:v>0.1108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b="1" i="0" strike="noStrike" sz="100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"/>
          <c:min val="0"/>
        </c:scaling>
        <c:delete val="0"/>
        <c:axPos val="l"/>
        <c:majorGridlines>
          <c:spPr>
            <a:ln w="9525" cap="flat">
              <a:solidFill>
                <a:srgbClr val="1F2427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  <c:majorUnit val="0.04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Renta bruta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Gerente General</c:v>
                  </c:pt>
                  <c:pt idx="1">
                    <c:v>Responsable Técnico</c:v>
                  </c:pt>
                  <c:pt idx="2">
                    <c:v>Ingeniería de Calibración</c:v>
                  </c:pt>
                  <c:pt idx="3">
                    <c:v>Técnico N4</c:v>
                  </c:pt>
                  <c:pt idx="4">
                    <c:v>Técnico N3</c:v>
                  </c:pt>
                  <c:pt idx="5">
                    <c:v>Administración y Personas</c:v>
                  </c:pt>
                  <c:pt idx="6">
                    <c:v>Comercial y Postventa*</c:v>
                  </c:pt>
                  <c:pt idx="7">
                    <c:v>Comercial de Empresas*</c:v>
                  </c:pt>
                  <c:pt idx="8">
                    <c:v>Técnico N2</c:v>
                  </c:pt>
                  <c:pt idx="9">
                    <c:v>Técnico N1</c:v>
                  </c:pt>
                  <c:pt idx="10">
                    <c:v>Asistentes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2000</c:v>
                </c:pt>
                <c:pt idx="1">
                  <c:v>1800</c:v>
                </c:pt>
                <c:pt idx="2">
                  <c:v>1700</c:v>
                </c:pt>
                <c:pt idx="3">
                  <c:v>1150</c:v>
                </c:pt>
                <c:pt idx="4">
                  <c:v>1000</c:v>
                </c:pt>
                <c:pt idx="5">
                  <c:v>900</c:v>
                </c:pt>
                <c:pt idx="6">
                  <c:v>850</c:v>
                </c:pt>
                <c:pt idx="7">
                  <c:v>850</c:v>
                </c:pt>
                <c:pt idx="8">
                  <c:v>850</c:v>
                </c:pt>
                <c:pt idx="9">
                  <c:v>750</c:v>
                </c:pt>
                <c:pt idx="10">
                  <c:v>692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5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Inversión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0.0;;&quot;—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71.2</c:v>
                </c:pt>
                <c:pt idx="1">
                  <c:v>10.1</c:v>
                </c:pt>
                <c:pt idx="2">
                  <c:v>81.3</c:v>
                </c:pt>
                <c:pt idx="3">
                  <c:v>0</c:v>
                </c:pt>
                <c:pt idx="4">
                  <c:v>81.3</c:v>
                </c:pt>
              </c:numCache>
            </c:numRef>
          </c:val>
        </c:ser>
        <c:dLbls>
          <c:numFmt formatCode="0.0;;&quot;—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Kits instalados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958.8</c:v>
                </c:pt>
                <c:pt idx="1">
                  <c:v>2786.5</c:v>
                </c:pt>
                <c:pt idx="2">
                  <c:v>5367.7</c:v>
                </c:pt>
                <c:pt idx="3">
                  <c:v>7272.4</c:v>
                </c:pt>
                <c:pt idx="4">
                  <c:v>9141.8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Resto del gasto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105.3</c:v>
                </c:pt>
                <c:pt idx="1">
                  <c:v>158.9</c:v>
                </c:pt>
                <c:pt idx="2">
                  <c:v>290.2</c:v>
                </c:pt>
                <c:pt idx="3">
                  <c:v>351.1</c:v>
                </c:pt>
                <c:pt idx="4">
                  <c:v>464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50">
              <a:solidFill>
                <a:srgbClr val="8B9598"/>
              </a:solidFill>
              <a:latin typeface="IBM Plex Mono"/>
              <a:cs typeface="IBM Plex Mono"/>
            </a:defRPr>
          </a:pPr>
          <a:endParaRPr lang="en-US"/>
        </a:p>
      </c:txPr>
    </c:legend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F87171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Dólar −10%</c:v>
                  </c:pt>
                  <c:pt idx="1">
                    <c:v>Precio +5%</c:v>
                  </c:pt>
                  <c:pt idx="2">
                    <c:v>Plus 80%</c:v>
                  </c:pt>
                  <c:pt idx="3">
                    <c:v>Base</c:v>
                  </c:pt>
                  <c:pt idx="4">
                    <c:v>Plus 40%</c:v>
                  </c:pt>
                  <c:pt idx="5">
                    <c:v>Precio −5%</c:v>
                  </c:pt>
                  <c:pt idx="6">
                    <c:v>Dólar +10%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1646.9</c:v>
                </c:pt>
                <c:pt idx="1">
                  <c:v>1433</c:v>
                </c:pt>
                <c:pt idx="2">
                  <c:v>993.7</c:v>
                </c:pt>
                <c:pt idx="3">
                  <c:v>869.9</c:v>
                </c:pt>
                <c:pt idx="4">
                  <c:v>746.1</c:v>
                </c:pt>
                <c:pt idx="5">
                  <c:v>306.9</c:v>
                </c:pt>
                <c:pt idx="6">
                  <c:v>92.9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1" i="0" strike="noStrike" sz="105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30 s
Buenos días. Somos Diego Alarcón, Benjamín Torres y Lukas Verdugo, y les presentamos el capítulo tres de Lumine Motors: los planes de marketing, recursos humanos y operaciones. Los tres comparten un mismo gatillo, así que un cambio en la demanda mueve el plan completo. Yo parto con los objetivos y el mercado, Benjamín sigue con la estrategia comercial y Lukas cierra con las personas y las operaciones.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40 s
El objetivo general es que en cinco años Lumine sea la referencia de la hibridación de posventa en Chile, con tres talleres propios en la Región Metropolitana y una red certificada en todas las regiones. Las metas del primer año siguen al cliente: instalar al menos 299 vehículos, publicar tres casos con ahorro medido en nueve meses, llegar a 80% de clientes satisfechos y a 15% de clientes por recomendación. La meta de cotizaciones está por confirmar, porque depende de la tasa de conversión que mida la investigación.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35 s
¿A quién le vendemos? El cliente no se define por su edad, su ingreso ni la antigüedad de su auto, sino por tener un vehículo compatible: liviano, a combustión y con tracción delantera, porque el kit va en el eje trasero. De las cuatro variables, la decisiva es la conductual: la intensidad y el tipo de uso fijan en cuánto tiempo el ahorro paga la inversión. Por eso entramos por el uso laboral de alta intensidad: colectivos, taxis y aplicaciones.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35 s
Nada de esto se le ha preguntado aún a un conductor, así que la investigación es mixta y secuencial: primero entrevistas a cuatro expertos y a cinco perfiles de clientes, después una encuesta por cuotas a 150 personas, con 100 como mínimo. Como no es aleatoria, los resultados serán indicativos. Pone a prueba seis hipótesis; por ejemplo, que la barrera principal es la confianza y no el precio. Hasta ahora hicimos la entrevista exploratoria; el resto está por realizar.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50 s
En la matriz de Ansoff, Lumine entra por desarrollo de producto: el mercado existe, porque los conductores ya buscan gastar menos, pero la hibridación aditiva no tiene oferta en Chile. En el año 2 viene la penetración y, antes de lo habitual, la diversificación relacionada: vender patrones de calibración, kits y certificación a otros talleres, porque la exclusividad de la calibración se agota con el tiempo. En el año 3 llega el desarrollo de mercado. Y nuestra ventaja competitiva, sostenible en el tiempo, es la biblioteca de calibraciones por modelo: crece con cada instalación y es lo más difícil de copiar. Le paso la palabra a Benjamín.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Gracias, Diego. Este mapa ordena las alternativas por inversión y por lo que exigen al conductor. El híbrido usado y el eléctrico nuevo obligan a cambiar de auto y cuestan sobre 9 millones. La conversión a gas es barata, pero tiene límite de antigüedad. No hacer nada no cuesta, pero tampoco ahorra. Lumine queda sola en el espacio vacío: gastar menos sin cambiar de auto y sin límite de antigüedad. El concepto: el mismo auto, ahora híbrido.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En el mix de marketing, el cliente conoce su ahorro antes de pagar y lo comprueba después. El kit tiene dos versiones. Esencial cuesta 4.290.000 pesos con IVA y promete hasta 15% menos bencina; Plus cuesta 4.990.000 y hasta 20%. Plus vale 16% más, pero ahorra 24% más al colectivo, así que cada punto de ahorro sale más barato, y el colectivo recupera la inversión en 34 meses. Son precios de referencia que la encuesta debe validar.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El segmento laboral de la Región Metropolitana suma 162.780 vehículos. Con el modelo de Bass, la adopción llega a 11,1% al quinto año, por debajo del 16% de los primeros adoptantes. Pero el pronóstico es el menor entre demanda y capacidad, y desde el primer año la demanda atendible supera lo que podemos instalar: 299 vehículos el primer año y 2.851 al quinto. Lo que no alcanzamos a instalar lo atiende la red: 7.773 kits al quinto año.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40 s
El presupuesto de marketing se arma por objetivo y tarea, no como un porcentaje de ventas que aún no existen. El primer año invierte 80,9 millones de pesos, el 6,8% de los ingresos propios, porque concentra el lanzamiento y 25 clientes piloto con 50% de descuento a cambio de su caso medido. Desde el segundo año baja a 2,3% de los ingresos, y desde el tercero la partida mayor son las comisiones, que siguen a las instalaciones. En cinco años, el marketing suma 575 millones.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45 s
Para atender esa demanda, la estructura es funcional y sin mandos intermedios: cinco áreas que responden a la Gerencia General. La estructura no cambia con el crecimiento; cambia cuántas personas hay en cada cargo, y nadie se contrata antes de que la carga lo justifique. Ingeniería de Calibración depende de la Gerencia y no del taller, porque la biblioteca sostiene la ventaja. Así el equipo pasa de 13 personas al cierre del primer año a 56 al quinto, y casi dos de cada tres son técnicos. Lukas sigue con las personas y las operaciones.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35 s
Gracias, Benjamín. El oficio escasea en Chile, así que los técnicos se forman en casa con Lumine Habilita: 39 competencias, cuatro niveles y 392 horas. Con formación intensiva, un técnico nuevo llega al nivel 4 en unos ocho meses. La nómina sube de 152 a 755 millones en cinco años, pero el costo por instalación cae a la mitad, de 508 mil pesos a 253 mil en el cuarto año, porque los cargos fijos se reparten en más autos.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35 s
El flujo sigue a un vehículo desde la cotización hasta el fin de vida de la batería, en cinco etapas. Una regla lo atraviesa: el negocio mide y recomienda, pero la decisión de instalar es siempre del cliente. Solo se detiene por razones técnicas. La instalación toma una jornada de 8,4 horas con cuatro puntos de control, y el límite de capacidad son las horas de los dúos: un dinamómetro por local alcanza incluso para seis dúos.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40 s
La Carta Gantt apunta a abrir en enero de 2027. En los tres meses previos se homologa el primer modelo y se forma el primer dúo. Pero el eslabón crítico es externo: el reglamento de la Ley 21.793 sigue pendiente, y sin él no hay certificado ni venta legal. Los dúos entran según la demanda, del segundo en el mes 6 al sexto en el mes 20; el segundo taller abre en el mes 25, el tercero en el 49, y la red crece de 3 a 42 talleres.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35 s
Cada local con seis puestos requiere 81 millones de inversión, casi la mitad en el dinamómetro, y el kit explica más del 90% del gasto operacional. Con los tres presupuestos, la línea propia pierde 130 millones en el lanzamiento y gana desde el segundo año, hasta un margen de 7,7%. La red rinde cerca de 10%. El riesgo mayor es el dólar: un alza de 10% casi borra el resultado propio del quinto año.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45 s
Para cerrar, tres conclusiones. Primero, la oportunidad existe: desde el primer año hay más demanda que capacidad. Segundo, hay espacio competitivo: somos la única alternativa que ahorra sin cambiar de auto, y la red vende la calibración mientras sigue siendo exclusiva. Tercero, los tres planes se mueven con un mismo gatillo, la demanda sobre el 80% de la capacidad, y cada línea gana desde el segundo año. Quedan dos preguntas: si el reglamento admitirá el kit y desde cuándo, y si el ahorro medido y la encuesta confirman los precios. Muchas gracias; quedamos atentos a sus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· No se presenta. Cada tema tiene un enlace a su diapositiva; cada diapositiva del anexo tiene un enlace de vuelta a este índice.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 · Solo si preguntan.
Las seis hipótesis con su prueba estadística (Tabla N° 3); significancia de 5%, resultados indicativos por la muestra por cuotas.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A2 · Solo si preguntan.
¿Funciona?, ¿daña mi auto?, ¿pasa la revisión técnica?, ¿hay que enchufarlo? (Tabla N° 4) y los límites de la promesa.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A3 · Solo si preguntan.
Las siete variables para el cliente final y para la red certificada (Tabla N°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A4 · Solo si preguntan.
Paquete de entrada, kit con licencia, certificación anual y suscripción a Habilita (Tabla N°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A5 · Solo si preguntan.
TAM, SAM y segmento laboral (Tabla N° 9) y la curva de Bass con su respaldo (Anexo 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A6 · Solo si preguntan.
Dependencia y responsabilidad crítica de cada cargo (Tabla N° 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A7 · Solo si preguntan.
Renta bruta mensual por cargo frente al mercado (Tabla N° 14) y bono único por nivel validado (Tabla N°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A8 · Solo si preguntan.
Los siete bloques de la jornada de 8,4 horas y sus cuatro puntos de control (Anexo N°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A9 · Solo si preguntan.
Inversión en equipamiento por año (Tabla N° 18) y gasto operacional de la línea propia (Tabla N° 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A10 · Solo si preguntan.
Resultado de la línea propia al quinto año con dólar, proporción de Plus y precio (Tabla N° 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PORTADA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image" Target="../media/CIERRE-image-3.jpe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481328"/>
            <a:ext cx="11094415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lnSpc>
                <a:spcPct val="86000"/>
              </a:lnSpc>
              <a:buNone/>
              <a:defRPr lang="en-US" sz="6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defRPr>
            </a:lvl1pPr>
          </a:lstStyle>
          <a:p>
            <a:pPr algn="ctr" indent="0" marL="0">
              <a:lnSpc>
                <a:spcPct val="86000"/>
              </a:lnSpc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0" y="365760"/>
            <a:ext cx="5973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INTEGRADOR II · ICMA 1001 · GRUPO 1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88000"/>
              </a:lnSpc>
              <a:buNone/>
              <a:def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defRPr>
            </a:lvl1pPr>
          </a:lstStyle>
          <a:p>
            <a:pPr algn="l" indent="0" marL="0">
              <a:lnSpc>
                <a:spcPct val="88000"/>
              </a:lnSpc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pic>
        <p:nvPicPr>
          <p:cNvPr id="3" name="Image 1" descr="LUM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224528"/>
            <a:ext cx="11094415" cy="1823739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325880"/>
            <a:ext cx="1109441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17.xml"/><Relationship Id="rId3" Type="http://schemas.openxmlformats.org/officeDocument/2006/relationships/slide" Target="slide18.xml"/><Relationship Id="rId4" Type="http://schemas.openxmlformats.org/officeDocument/2006/relationships/slide" Target="slide18.xml"/><Relationship Id="rId5" Type="http://schemas.openxmlformats.org/officeDocument/2006/relationships/slide" Target="slide19.xml"/><Relationship Id="rId6" Type="http://schemas.openxmlformats.org/officeDocument/2006/relationships/slide" Target="slide19.xml"/><Relationship Id="rId7" Type="http://schemas.openxmlformats.org/officeDocument/2006/relationships/slide" Target="slide20.xml"/><Relationship Id="rId8" Type="http://schemas.openxmlformats.org/officeDocument/2006/relationships/slide" Target="slide20.xml"/><Relationship Id="rId9" Type="http://schemas.openxmlformats.org/officeDocument/2006/relationships/slide" Target="slide21.xml"/><Relationship Id="rId10" Type="http://schemas.openxmlformats.org/officeDocument/2006/relationships/slide" Target="slide21.xml"/><Relationship Id="rId11" Type="http://schemas.openxmlformats.org/officeDocument/2006/relationships/slide" Target="slide22.xml"/><Relationship Id="rId12" Type="http://schemas.openxmlformats.org/officeDocument/2006/relationships/slide" Target="slide22.xml"/><Relationship Id="rId13" Type="http://schemas.openxmlformats.org/officeDocument/2006/relationships/slide" Target="slide23.xml"/><Relationship Id="rId14" Type="http://schemas.openxmlformats.org/officeDocument/2006/relationships/slide" Target="slide23.xml"/><Relationship Id="rId15" Type="http://schemas.openxmlformats.org/officeDocument/2006/relationships/slide" Target="slide24.xml"/><Relationship Id="rId16" Type="http://schemas.openxmlformats.org/officeDocument/2006/relationships/slide" Target="slide24.xml"/><Relationship Id="rId17" Type="http://schemas.openxmlformats.org/officeDocument/2006/relationships/slide" Target="slide25.xml"/><Relationship Id="rId18" Type="http://schemas.openxmlformats.org/officeDocument/2006/relationships/slide" Target="slide25.xml"/><Relationship Id="rId19" Type="http://schemas.openxmlformats.org/officeDocument/2006/relationships/slide" Target="slide26.xml"/><Relationship Id="rId20" Type="http://schemas.openxmlformats.org/officeDocument/2006/relationships/slide" Target="slide26.xml"/><Relationship Id="rId21" Type="http://schemas.openxmlformats.org/officeDocument/2006/relationships/slideLayout" Target="../slideLayouts/slideLayout3.xml"/><Relationship Id="rId2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chart" Target="/ppt/charts/chart11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0" y="365760"/>
            <a:ext cx="5059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UNAB · OCTUBRE 2026</a:t>
            </a:r>
            <a:endParaRPr lang="es-CL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FASE 3 · CAPÍTULO III: PLAN DE MARKETING, OPERACIONES Y RECURSOS HUMANOS</a:t>
            </a:r>
            <a:endParaRPr lang="es-CL" sz="1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1481328"/>
            <a:ext cx="1109441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6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LUMINE MOTORS</a:t>
            </a:r>
            <a:endParaRPr lang="en-US" sz="600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76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reconversión híbrida.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4670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Kit que hibrida autos a combustión de tracción delantera para gastar menos bencina sin cambiar de auto.</a:t>
            </a:r>
            <a:endParaRPr lang="es-CL" sz="1700" dirty="0"/>
          </a:p>
        </p:txBody>
      </p:sp>
      <p:pic>
        <p:nvPicPr>
          <p:cNvPr id="6" name="Image 0" descr="Plano del kit Lumine: auto en vista lateral con el motor eléctrico en el eje trase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35528" y="3767328"/>
            <a:ext cx="5120640" cy="15788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544068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5550408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UNIVERSIDAD</a:t>
            </a:r>
            <a:endParaRPr lang="es-CL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751576"/>
            <a:ext cx="6629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Universidad Andrés Bello · Facultad de Economía y Negocios · Ingeniería Comercial</a:t>
            </a:r>
            <a:endParaRPr lang="es-CL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315200" y="5550408"/>
            <a:ext cx="4325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CURSO</a:t>
            </a:r>
            <a:endParaRPr lang="es-CL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7315200" y="57515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Integrador II: Taller de Empresas · ICMA 1001</a:t>
            </a:r>
            <a:endParaRPr lang="es-CL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11733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GRUPO</a:t>
            </a:r>
            <a:endParaRPr lang="es-CL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31850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</a:t>
            </a:r>
            <a:endParaRPr lang="es-CL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554480" y="61173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PROFESOR</a:t>
            </a:r>
            <a:endParaRPr lang="es-CL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6318504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Roberto Brito</a:t>
            </a:r>
            <a:endParaRPr lang="es-CL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3749040" y="6117336"/>
            <a:ext cx="7891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INTEGRANTES</a:t>
            </a:r>
            <a:endParaRPr lang="es-CL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3749040" y="6318504"/>
            <a:ext cx="7754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Diego Alarcón · Benjamín Torres · Lukas Verdugo</a:t>
            </a:r>
            <a:endParaRPr lang="es-CL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OBJETIVOS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299 VEHÍCULOS EL PRIMER AÑO,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 referencia al quinto.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con base en Informe Fase 3 (§3.1.1, Tablas N° 1 y 10).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 cinco años: </a:t>
            </a:r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ser la referencia de la hibridación de posventa en Chile.</a:t>
            </a:r>
            <a:endParaRPr lang="es-CL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METAS DEL PRIMER AÑO</a:t>
            </a:r>
            <a:endParaRPr lang="es-CL" sz="1200" dirty="0"/>
          </a:p>
        </p:txBody>
      </p:sp>
      <p:sp>
        <p:nvSpPr>
          <p:cNvPr id="7" name="Shape 5"/>
          <p:cNvSpPr/>
          <p:nvPr/>
        </p:nvSpPr>
        <p:spPr>
          <a:xfrm>
            <a:off x="9265615" y="2743200"/>
            <a:ext cx="2377440" cy="292608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9338767" y="2743200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11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CONFIRMAR</a:t>
            </a:r>
            <a:endParaRPr lang="es-CL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242255" y="27706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COTIZACIONES DIGITALES:</a:t>
            </a:r>
            <a:endParaRPr lang="es-CL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127248"/>
            <a:ext cx="2567864" cy="150876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3776" y="30723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30723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15920" y="30723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71368" y="30723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3776" y="46908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3776" y="45354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15920" y="46908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71368" y="45354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3236976"/>
            <a:ext cx="2110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6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299</a:t>
            </a:r>
            <a:endParaRPr lang="es-CL" sz="60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114800"/>
            <a:ext cx="2202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instalaciones</a:t>
            </a:r>
            <a:endParaRPr lang="es-CL" sz="1600" dirty="0"/>
          </a:p>
        </p:txBody>
      </p:sp>
      <p:sp>
        <p:nvSpPr>
          <p:cNvPr id="21" name="Shape 19"/>
          <p:cNvSpPr/>
          <p:nvPr/>
        </p:nvSpPr>
        <p:spPr>
          <a:xfrm>
            <a:off x="3390824" y="3127248"/>
            <a:ext cx="2567864" cy="15087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19424" y="3236976"/>
            <a:ext cx="2110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6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6000" dirty="0"/>
          </a:p>
        </p:txBody>
      </p:sp>
      <p:sp>
        <p:nvSpPr>
          <p:cNvPr id="23" name="Text 21"/>
          <p:cNvSpPr txBox="1"/>
          <p:nvPr/>
        </p:nvSpPr>
        <p:spPr>
          <a:xfrm>
            <a:off x="3619424" y="4114800"/>
            <a:ext cx="2202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casos con ahorro medido</a:t>
            </a:r>
            <a:endParaRPr lang="es-CL" sz="1600" dirty="0"/>
          </a:p>
        </p:txBody>
      </p:sp>
      <p:sp>
        <p:nvSpPr>
          <p:cNvPr id="24" name="Shape 22"/>
          <p:cNvSpPr/>
          <p:nvPr/>
        </p:nvSpPr>
        <p:spPr>
          <a:xfrm>
            <a:off x="6233008" y="3127248"/>
            <a:ext cx="2567864" cy="15087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1608" y="3236976"/>
            <a:ext cx="2110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6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80%</a:t>
            </a:r>
            <a:endParaRPr lang="es-CL" sz="6000" dirty="0"/>
          </a:p>
        </p:txBody>
      </p:sp>
      <p:sp>
        <p:nvSpPr>
          <p:cNvPr id="26" name="Text 24"/>
          <p:cNvSpPr txBox="1"/>
          <p:nvPr/>
        </p:nvSpPr>
        <p:spPr>
          <a:xfrm>
            <a:off x="6461608" y="4114800"/>
            <a:ext cx="2202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clientes satisfechos</a:t>
            </a:r>
            <a:endParaRPr lang="es-CL" sz="1600" dirty="0"/>
          </a:p>
        </p:txBody>
      </p:sp>
      <p:sp>
        <p:nvSpPr>
          <p:cNvPr id="27" name="Shape 25"/>
          <p:cNvSpPr/>
          <p:nvPr/>
        </p:nvSpPr>
        <p:spPr>
          <a:xfrm>
            <a:off x="9075191" y="3127248"/>
            <a:ext cx="2567864" cy="15087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303791" y="3236976"/>
            <a:ext cx="2110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6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15%</a:t>
            </a:r>
            <a:endParaRPr lang="es-CL" sz="6000" dirty="0"/>
          </a:p>
        </p:txBody>
      </p:sp>
      <p:sp>
        <p:nvSpPr>
          <p:cNvPr id="29" name="Text 27"/>
          <p:cNvSpPr txBox="1"/>
          <p:nvPr/>
        </p:nvSpPr>
        <p:spPr>
          <a:xfrm>
            <a:off x="9303791" y="4114800"/>
            <a:ext cx="2202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llega por recomendación</a:t>
            </a:r>
            <a:endParaRPr lang="es-CL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892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INSTALACIONES PROPIAS POR AÑO</a:t>
            </a:r>
            <a:endParaRPr lang="es-CL" sz="1200" dirty="0"/>
          </a:p>
        </p:txBody>
      </p:sp>
      <p:sp>
        <p:nvSpPr>
          <p:cNvPr id="31" name="Shape 29"/>
          <p:cNvSpPr/>
          <p:nvPr/>
        </p:nvSpPr>
        <p:spPr>
          <a:xfrm>
            <a:off x="9905695" y="4873752"/>
            <a:ext cx="173736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9978847" y="4873752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10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PRONÓSTICO</a:t>
            </a:r>
            <a:endParaRPr lang="es-CL" sz="1000" dirty="0"/>
          </a:p>
        </p:txBody>
      </p:sp>
      <p:sp>
        <p:nvSpPr>
          <p:cNvPr id="33" name="Shape 31"/>
          <p:cNvSpPr/>
          <p:nvPr/>
        </p:nvSpPr>
        <p:spPr>
          <a:xfrm>
            <a:off x="731520" y="5550408"/>
            <a:ext cx="10728655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8368" y="5477256"/>
            <a:ext cx="146304" cy="146304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518464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s-CL" alt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1</a:t>
            </a:r>
            <a:endParaRPr lang="es-CL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66013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s-CL" altLang="en-US" sz="3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299</a:t>
            </a:r>
            <a:endParaRPr lang="es-CL" sz="3400" dirty="0"/>
          </a:p>
        </p:txBody>
      </p:sp>
      <p:sp>
        <p:nvSpPr>
          <p:cNvPr id="37" name="Shape 35"/>
          <p:cNvSpPr/>
          <p:nvPr/>
        </p:nvSpPr>
        <p:spPr>
          <a:xfrm>
            <a:off x="3340532" y="5477256"/>
            <a:ext cx="146304" cy="146304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316404" y="518464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2</a:t>
            </a:r>
            <a:endParaRPr lang="es-CL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2316404" y="566013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3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869</a:t>
            </a:r>
            <a:endParaRPr lang="es-CL" sz="3400" dirty="0"/>
          </a:p>
        </p:txBody>
      </p:sp>
      <p:sp>
        <p:nvSpPr>
          <p:cNvPr id="40" name="Shape 38"/>
          <p:cNvSpPr/>
          <p:nvPr/>
        </p:nvSpPr>
        <p:spPr>
          <a:xfrm>
            <a:off x="6022696" y="5477256"/>
            <a:ext cx="146304" cy="146304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998568" y="518464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3</a:t>
            </a:r>
            <a:endParaRPr lang="es-CL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4998568" y="566013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3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1.674</a:t>
            </a:r>
            <a:endParaRPr lang="es-CL" sz="3400" dirty="0"/>
          </a:p>
        </p:txBody>
      </p:sp>
      <p:sp>
        <p:nvSpPr>
          <p:cNvPr id="43" name="Shape 41"/>
          <p:cNvSpPr/>
          <p:nvPr/>
        </p:nvSpPr>
        <p:spPr>
          <a:xfrm>
            <a:off x="8704859" y="5477256"/>
            <a:ext cx="146304" cy="146304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680731" y="518464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4</a:t>
            </a:r>
            <a:endParaRPr lang="es-CL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7680731" y="566013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3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2.268</a:t>
            </a:r>
            <a:endParaRPr lang="es-CL" sz="3400" dirty="0"/>
          </a:p>
        </p:txBody>
      </p:sp>
      <p:sp>
        <p:nvSpPr>
          <p:cNvPr id="46" name="Shape 44"/>
          <p:cNvSpPr/>
          <p:nvPr/>
        </p:nvSpPr>
        <p:spPr>
          <a:xfrm>
            <a:off x="11387023" y="5477256"/>
            <a:ext cx="146304" cy="146304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448495" y="518464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5</a:t>
            </a:r>
            <a:endParaRPr lang="es-CL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9448495" y="566013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3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2.851</a:t>
            </a:r>
            <a:endParaRPr lang="es-CL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SEGMENTACIÓN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CLIENTE SE DEFINE POR SU AUTO,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por su edad.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INE (2025), parque de vehículos 2024; SII (2025); Fielbaum y Tirachini (2021); elaboración propia (Informe Fase 3, §3.1.2).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Condición: </a:t>
            </a:r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auto liviano, a combustión y con tracción delantera.</a:t>
            </a:r>
            <a:endParaRPr lang="es-CL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834640"/>
            <a:ext cx="2567864" cy="19202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999232"/>
            <a:ext cx="2165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GEOGRÁFICA</a:t>
            </a:r>
            <a:endParaRPr lang="es-CL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291840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36,8%</a:t>
            </a:r>
            <a:endParaRPr lang="es-CL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950208"/>
            <a:ext cx="2202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del parque, en la Región Metropolitana (RM)</a:t>
            </a:r>
            <a:endParaRPr lang="es-CL" sz="1600" dirty="0"/>
          </a:p>
        </p:txBody>
      </p:sp>
      <p:sp>
        <p:nvSpPr>
          <p:cNvPr id="10" name="Shape 8"/>
          <p:cNvSpPr/>
          <p:nvPr/>
        </p:nvSpPr>
        <p:spPr>
          <a:xfrm>
            <a:off x="3390824" y="2834640"/>
            <a:ext cx="2567864" cy="19202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91992" y="2999232"/>
            <a:ext cx="2165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DEMOGRÁFICA</a:t>
            </a:r>
            <a:endParaRPr lang="es-CL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91992" y="3291840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 roles</a:t>
            </a:r>
            <a:endParaRPr lang="es-CL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3591992" y="3950208"/>
            <a:ext cx="2202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usa, decide, paga o influye</a:t>
            </a:r>
            <a:endParaRPr lang="es-CL" sz="1600" dirty="0"/>
          </a:p>
        </p:txBody>
      </p:sp>
      <p:sp>
        <p:nvSpPr>
          <p:cNvPr id="14" name="Shape 12"/>
          <p:cNvSpPr/>
          <p:nvPr/>
        </p:nvSpPr>
        <p:spPr>
          <a:xfrm>
            <a:off x="6233008" y="2834640"/>
            <a:ext cx="2567864" cy="19202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34176" y="2999232"/>
            <a:ext cx="2165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PSICOGRÁFICA</a:t>
            </a:r>
            <a:endParaRPr lang="es-CL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34176" y="3291840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 motivos</a:t>
            </a:r>
            <a:endParaRPr lang="es-CL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6434176" y="3950208"/>
            <a:ext cx="2202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ahorro es uno de ellos</a:t>
            </a:r>
            <a:endParaRPr lang="es-CL" sz="1600" dirty="0"/>
          </a:p>
        </p:txBody>
      </p:sp>
      <p:sp>
        <p:nvSpPr>
          <p:cNvPr id="18" name="Shape 16"/>
          <p:cNvSpPr/>
          <p:nvPr/>
        </p:nvSpPr>
        <p:spPr>
          <a:xfrm>
            <a:off x="9075191" y="2834640"/>
            <a:ext cx="2567864" cy="192024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20327" y="277977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20327" y="277977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542471" y="277977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97919" y="277977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20327" y="48097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20327" y="46542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542471" y="48097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697919" y="46542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76359" y="2999232"/>
            <a:ext cx="2165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CONDUCTUAL</a:t>
            </a:r>
            <a:endParaRPr lang="es-CL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276359" y="3291840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6 ejes</a:t>
            </a:r>
            <a:endParaRPr lang="es-CL" sz="4000" dirty="0"/>
          </a:p>
        </p:txBody>
      </p:sp>
      <p:sp>
        <p:nvSpPr>
          <p:cNvPr id="29" name="Text 27"/>
          <p:cNvSpPr txBox="1"/>
          <p:nvPr/>
        </p:nvSpPr>
        <p:spPr>
          <a:xfrm>
            <a:off x="9276359" y="3950208"/>
            <a:ext cx="2202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intensidad de uso es la que manda</a:t>
            </a:r>
            <a:endParaRPr lang="es-CL" sz="1600" dirty="0"/>
          </a:p>
        </p:txBody>
      </p:sp>
      <p:sp>
        <p:nvSpPr>
          <p:cNvPr id="30" name="Shape 28"/>
          <p:cNvSpPr/>
          <p:nvPr/>
        </p:nvSpPr>
        <p:spPr>
          <a:xfrm>
            <a:off x="548640" y="4965192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50749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PUNTO DE ENTRADA</a:t>
            </a:r>
            <a:endParaRPr lang="es-CL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385816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1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Uso laboral intensivo en la RM: colectivos, taxis y aplicaciones.</a:t>
            </a:r>
            <a:endParaRPr lang="es-CL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INVESTIGACIÓN DE MERCADO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SEIS HIPÓTESIS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antes de fijar el precio.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§3.1.3, Tablas N° 2 y 3). Muestra no probabilística: resultados indicativos.</a:t>
            </a:r>
            <a:endParaRPr lang="es-CL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533574" cy="21488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18790" y="3406140"/>
            <a:ext cx="246888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749808" y="2514600"/>
            <a:ext cx="21312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EXPLORATORIA</a:t>
            </a:r>
            <a:endParaRPr lang="es-CL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788920"/>
            <a:ext cx="21312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5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538728"/>
            <a:ext cx="2167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conductor de aplicaciones</a:t>
            </a:r>
            <a:endParaRPr lang="es-CL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4041648"/>
            <a:ext cx="1737360" cy="292608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2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822960" y="4041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1000" spc="120" kern="0" dirty="0">
                <a:solidFill>
                  <a:schemeClr val="accent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REALIZADA</a:t>
            </a:r>
            <a:endParaRPr lang="es-CL" sz="1000" dirty="0"/>
          </a:p>
        </p:txBody>
      </p:sp>
      <p:sp>
        <p:nvSpPr>
          <p:cNvPr id="12" name="Shape 10"/>
          <p:cNvSpPr/>
          <p:nvPr/>
        </p:nvSpPr>
        <p:spPr>
          <a:xfrm>
            <a:off x="3402254" y="2331720"/>
            <a:ext cx="2533574" cy="21488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72404" y="3406140"/>
            <a:ext cx="246888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3603422" y="2514600"/>
            <a:ext cx="21312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EXPERTOS</a:t>
            </a:r>
            <a:endParaRPr lang="es-CL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03422" y="2788920"/>
            <a:ext cx="21312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5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5400" dirty="0"/>
          </a:p>
        </p:txBody>
      </p:sp>
      <p:sp>
        <p:nvSpPr>
          <p:cNvPr id="16" name="Text 14"/>
          <p:cNvSpPr txBox="1"/>
          <p:nvPr/>
        </p:nvSpPr>
        <p:spPr>
          <a:xfrm>
            <a:off x="3603422" y="3538728"/>
            <a:ext cx="2167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expertos del rubro</a:t>
            </a:r>
            <a:endParaRPr lang="es-CL" sz="1500" dirty="0"/>
          </a:p>
        </p:txBody>
      </p:sp>
      <p:sp>
        <p:nvSpPr>
          <p:cNvPr id="17" name="Shape 15"/>
          <p:cNvSpPr/>
          <p:nvPr/>
        </p:nvSpPr>
        <p:spPr>
          <a:xfrm>
            <a:off x="3603422" y="4041648"/>
            <a:ext cx="1737360" cy="292608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3676574" y="4041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10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REALIZAR</a:t>
            </a:r>
            <a:endParaRPr lang="es-CL" sz="1000" dirty="0"/>
          </a:p>
        </p:txBody>
      </p:sp>
      <p:sp>
        <p:nvSpPr>
          <p:cNvPr id="19" name="Shape 17"/>
          <p:cNvSpPr/>
          <p:nvPr/>
        </p:nvSpPr>
        <p:spPr>
          <a:xfrm>
            <a:off x="6255868" y="2331720"/>
            <a:ext cx="2533574" cy="21488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26017" y="3406140"/>
            <a:ext cx="246888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457036" y="2514600"/>
            <a:ext cx="21312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CLIENTES</a:t>
            </a:r>
            <a:endParaRPr lang="es-CL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57036" y="2788920"/>
            <a:ext cx="21312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5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</a:t>
            </a:r>
            <a:endParaRPr lang="es-CL" sz="5400" dirty="0"/>
          </a:p>
        </p:txBody>
      </p:sp>
      <p:sp>
        <p:nvSpPr>
          <p:cNvPr id="23" name="Text 21"/>
          <p:cNvSpPr txBox="1"/>
          <p:nvPr/>
        </p:nvSpPr>
        <p:spPr>
          <a:xfrm>
            <a:off x="6457036" y="3538728"/>
            <a:ext cx="2167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perfiles de cliente</a:t>
            </a:r>
            <a:endParaRPr lang="es-CL" sz="1500" dirty="0"/>
          </a:p>
        </p:txBody>
      </p:sp>
      <p:sp>
        <p:nvSpPr>
          <p:cNvPr id="24" name="Shape 22"/>
          <p:cNvSpPr/>
          <p:nvPr/>
        </p:nvSpPr>
        <p:spPr>
          <a:xfrm>
            <a:off x="6457036" y="4041648"/>
            <a:ext cx="1737360" cy="292608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6530188" y="4041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10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REALIZAR</a:t>
            </a:r>
            <a:endParaRPr lang="es-CL" sz="1000" dirty="0"/>
          </a:p>
        </p:txBody>
      </p:sp>
      <p:sp>
        <p:nvSpPr>
          <p:cNvPr id="26" name="Shape 24"/>
          <p:cNvSpPr/>
          <p:nvPr/>
        </p:nvSpPr>
        <p:spPr>
          <a:xfrm>
            <a:off x="9109481" y="2331720"/>
            <a:ext cx="2533574" cy="21488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310649" y="2514600"/>
            <a:ext cx="21312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ENCUESTA</a:t>
            </a:r>
            <a:endParaRPr lang="es-CL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310649" y="2788920"/>
            <a:ext cx="21312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5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150</a:t>
            </a:r>
            <a:endParaRPr lang="es-CL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9310649" y="3538728"/>
            <a:ext cx="2167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encuestas por cuotas</a:t>
            </a:r>
            <a:endParaRPr lang="es-CL" sz="1500" dirty="0"/>
          </a:p>
        </p:txBody>
      </p:sp>
      <p:sp>
        <p:nvSpPr>
          <p:cNvPr id="30" name="Shape 28"/>
          <p:cNvSpPr/>
          <p:nvPr/>
        </p:nvSpPr>
        <p:spPr>
          <a:xfrm>
            <a:off x="9310649" y="4041648"/>
            <a:ext cx="1737360" cy="292608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9383801" y="404164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10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REALIZAR</a:t>
            </a:r>
            <a:endParaRPr lang="es-CL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48006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 HIPÓTESIS QUE MÁS DECIDE</a:t>
            </a:r>
            <a:endParaRPr lang="es-CL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093208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«La barrera es la confianza, no el precio.»</a:t>
            </a:r>
            <a:endParaRPr lang="es-CL" sz="30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Muestra por cuotas: resultados indicativos (±8% con 150 casos).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MATRIZ DE ANSOFF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UN PRODUCTO NUEVO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 un mercado que ya existe.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Ansoff (1965); elaboración propia (Informe Fase 3, §3.1.4, §3.1.5.4, §3.2.1 y Figura N° 1).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304288"/>
            <a:ext cx="32689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PRODUCTO EXISTENTE</a:t>
            </a:r>
            <a:endParaRPr lang="es-CL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869180" y="2304288"/>
            <a:ext cx="32689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PRODUCTO NUEVO</a:t>
            </a:r>
            <a:endParaRPr lang="es-CL" sz="1200" dirty="0"/>
          </a:p>
        </p:txBody>
      </p:sp>
      <p:sp>
        <p:nvSpPr>
          <p:cNvPr id="7" name="Text 5"/>
          <p:cNvSpPr txBox="1"/>
          <p:nvPr/>
        </p:nvSpPr>
        <p:spPr>
          <a:xfrm rot="16200000">
            <a:off x="-182880" y="33101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0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MERCADO EXISTENTE</a:t>
            </a:r>
            <a:endParaRPr lang="es-CL" sz="1000" dirty="0"/>
          </a:p>
        </p:txBody>
      </p:sp>
      <p:sp>
        <p:nvSpPr>
          <p:cNvPr id="8" name="Text 6"/>
          <p:cNvSpPr txBox="1"/>
          <p:nvPr/>
        </p:nvSpPr>
        <p:spPr>
          <a:xfrm rot="16200000">
            <a:off x="-182880" y="53035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0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MERCADO NUEVO</a:t>
            </a:r>
            <a:endParaRPr lang="es-CL" sz="1000" dirty="0"/>
          </a:p>
        </p:txBody>
      </p:sp>
      <p:sp>
        <p:nvSpPr>
          <p:cNvPr id="9" name="Shape 7"/>
          <p:cNvSpPr/>
          <p:nvPr/>
        </p:nvSpPr>
        <p:spPr>
          <a:xfrm>
            <a:off x="1097280" y="2670048"/>
            <a:ext cx="3268980" cy="153619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98448" y="2834640"/>
            <a:ext cx="2866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2</a:t>
            </a:r>
            <a:endParaRPr lang="es-CL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98448" y="3127248"/>
            <a:ext cx="2866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Penetración</a:t>
            </a:r>
            <a:endParaRPr lang="es-CL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98448" y="3566160"/>
            <a:ext cx="28666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Más clientes, mismo mercado</a:t>
            </a:r>
            <a:endParaRPr lang="es-CL" sz="1600" dirty="0"/>
          </a:p>
        </p:txBody>
      </p:sp>
      <p:sp>
        <p:nvSpPr>
          <p:cNvPr id="13" name="Shape 11"/>
          <p:cNvSpPr/>
          <p:nvPr/>
        </p:nvSpPr>
        <p:spPr>
          <a:xfrm>
            <a:off x="4869180" y="2670048"/>
            <a:ext cx="3268980" cy="1536192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4316" y="26151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14316" y="26151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37576" y="26151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93024" y="26151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14316" y="426110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14316" y="41056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37576" y="426110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93024" y="41056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70348" y="2834640"/>
            <a:ext cx="2866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1 · ENTRADA</a:t>
            </a:r>
            <a:endParaRPr lang="es-CL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070348" y="3127248"/>
            <a:ext cx="2866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Desarrollo de producto</a:t>
            </a:r>
            <a:endParaRPr lang="es-CL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070348" y="3566160"/>
            <a:ext cx="28666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Sin oferta en Chile</a:t>
            </a:r>
            <a:endParaRPr lang="es-CL" sz="1600" dirty="0"/>
          </a:p>
        </p:txBody>
      </p:sp>
      <p:sp>
        <p:nvSpPr>
          <p:cNvPr id="25" name="Shape 23"/>
          <p:cNvSpPr/>
          <p:nvPr/>
        </p:nvSpPr>
        <p:spPr>
          <a:xfrm>
            <a:off x="1097280" y="4663440"/>
            <a:ext cx="3268980" cy="153619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298448" y="4828032"/>
            <a:ext cx="2866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3</a:t>
            </a:r>
            <a:endParaRPr lang="es-CL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98448" y="5120640"/>
            <a:ext cx="2866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Desarrollo de mercado</a:t>
            </a:r>
            <a:endParaRPr lang="es-CL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298448" y="5559552"/>
            <a:ext cx="28666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Flotas y regiones</a:t>
            </a:r>
            <a:endParaRPr lang="es-CL" sz="1600" dirty="0"/>
          </a:p>
        </p:txBody>
      </p:sp>
      <p:sp>
        <p:nvSpPr>
          <p:cNvPr id="29" name="Shape 27"/>
          <p:cNvSpPr/>
          <p:nvPr/>
        </p:nvSpPr>
        <p:spPr>
          <a:xfrm>
            <a:off x="4869180" y="4663440"/>
            <a:ext cx="3268980" cy="1536192"/>
          </a:xfrm>
          <a:prstGeom prst="rect">
            <a:avLst/>
          </a:prstGeom>
          <a:solidFill>
            <a:srgbClr val="0B1A22"/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5070348" y="4828032"/>
            <a:ext cx="2866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DESDE EL AÑO 2</a:t>
            </a:r>
            <a:endParaRPr lang="es-CL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070348" y="5120640"/>
            <a:ext cx="2866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Diversificación</a:t>
            </a:r>
            <a:endParaRPr lang="es-CL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5070348" y="5559552"/>
            <a:ext cx="28666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Calibración y kits para talleres</a:t>
            </a:r>
            <a:endParaRPr lang="es-CL" sz="1600" dirty="0"/>
          </a:p>
        </p:txBody>
      </p:sp>
      <p:sp>
        <p:nvSpPr>
          <p:cNvPr id="33" name="Shape 31"/>
          <p:cNvSpPr/>
          <p:nvPr/>
        </p:nvSpPr>
        <p:spPr>
          <a:xfrm>
            <a:off x="4823460" y="3438144"/>
            <a:ext cx="-411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508760" y="4251960"/>
            <a:ext cx="0" cy="36576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726680" y="4251960"/>
            <a:ext cx="0" cy="36576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dash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549640" y="2670048"/>
            <a:ext cx="3093415" cy="3529584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494776" y="26151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94776" y="26151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542471" y="26151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697919" y="26151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494776" y="625449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494776" y="609904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542471" y="625449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697919" y="609904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778240" y="2871216"/>
            <a:ext cx="2636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VENTAJA COMPETITIVA</a:t>
            </a:r>
            <a:endParaRPr lang="es-CL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8778240" y="3218688"/>
            <a:ext cx="2636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biblioteca de calibraciones</a:t>
            </a:r>
            <a:endParaRPr lang="es-CL" sz="2400" dirty="0"/>
          </a:p>
        </p:txBody>
      </p:sp>
      <p:sp>
        <p:nvSpPr>
          <p:cNvPr id="47" name="Text 45"/>
          <p:cNvSpPr txBox="1"/>
          <p:nvPr/>
        </p:nvSpPr>
        <p:spPr>
          <a:xfrm>
            <a:off x="8778240" y="4151376"/>
            <a:ext cx="26362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Sostenible: crece con cada instalación y es lo más difícil de copiar.</a:t>
            </a:r>
            <a:endParaRPr lang="es-CL" sz="1600" dirty="0"/>
          </a:p>
        </p:txBody>
      </p:sp>
      <p:sp>
        <p:nvSpPr>
          <p:cNvPr id="48" name="Shape 46"/>
          <p:cNvSpPr/>
          <p:nvPr/>
        </p:nvSpPr>
        <p:spPr>
          <a:xfrm>
            <a:off x="8778240" y="5184648"/>
            <a:ext cx="26362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778240" y="5303520"/>
            <a:ext cx="2636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Por eso la red parte en el año 2: se vende mientras es exclusiva.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POSICIONAMIENTO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ESPACIO VACÍO: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ahorrar sin cambiar de auto.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KMcheck (2026); Autofact (2026); Mercado Libre (2026); Abastible (2026); Gasco (s.f.); BioBioChile (2026); elaboración propia (Anexo N° 2).</a:t>
            </a:r>
            <a:endParaRPr lang="es-CL" sz="900" dirty="0"/>
          </a:p>
        </p:txBody>
      </p:sp>
      <p:sp>
        <p:nvSpPr>
          <p:cNvPr id="5" name="Shape 3"/>
          <p:cNvSpPr/>
          <p:nvPr/>
        </p:nvSpPr>
        <p:spPr>
          <a:xfrm>
            <a:off x="3063240" y="2395728"/>
            <a:ext cx="8579815" cy="1280160"/>
          </a:xfrm>
          <a:prstGeom prst="rect">
            <a:avLst/>
          </a:prstGeom>
          <a:solidFill>
            <a:srgbClr val="0B1A2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395728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Conserva su auto</a:t>
            </a:r>
            <a:endParaRPr lang="es-CL" sz="1500" dirty="0"/>
          </a:p>
          <a:p>
            <a:pPr algn="r" indent="0" marL="0">
              <a:buNone/>
            </a:pPr>
            <a:r>
              <a:rPr lang="es-CL" altLang="en-US" sz="15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sin límite de edad</a:t>
            </a:r>
            <a:endParaRPr lang="es-CL" sz="1500" dirty="0"/>
          </a:p>
        </p:txBody>
      </p:sp>
      <p:sp>
        <p:nvSpPr>
          <p:cNvPr id="7" name="Shape 5"/>
          <p:cNvSpPr/>
          <p:nvPr/>
        </p:nvSpPr>
        <p:spPr>
          <a:xfrm>
            <a:off x="3063240" y="3767328"/>
            <a:ext cx="8579815" cy="8686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76732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Conserva su auto</a:t>
            </a:r>
            <a:endParaRPr lang="es-CL" sz="1500" dirty="0"/>
          </a:p>
          <a:p>
            <a:pPr algn="r" indent="0" marL="0">
              <a:buNone/>
            </a:pPr>
            <a:r>
              <a:rPr lang="es-CL" altLang="en-US" sz="15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 límite de edad</a:t>
            </a:r>
            <a:endParaRPr lang="es-CL" sz="1500" dirty="0"/>
          </a:p>
        </p:txBody>
      </p:sp>
      <p:sp>
        <p:nvSpPr>
          <p:cNvPr id="9" name="Shape 7"/>
          <p:cNvSpPr/>
          <p:nvPr/>
        </p:nvSpPr>
        <p:spPr>
          <a:xfrm>
            <a:off x="3063240" y="4727448"/>
            <a:ext cx="8579815" cy="11430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727448"/>
            <a:ext cx="2331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Cambia de auto</a:t>
            </a:r>
            <a:endParaRPr lang="es-CL" sz="1500" dirty="0"/>
          </a:p>
        </p:txBody>
      </p:sp>
      <p:sp>
        <p:nvSpPr>
          <p:cNvPr id="11" name="Shape 9"/>
          <p:cNvSpPr/>
          <p:nvPr/>
        </p:nvSpPr>
        <p:spPr>
          <a:xfrm>
            <a:off x="6888175" y="2029968"/>
            <a:ext cx="4754880" cy="274320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6961327" y="2029968"/>
            <a:ext cx="4608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10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LUMINE: PRECIO DE REFERENCIA Y AHORRO SIMULADO</a:t>
            </a:r>
            <a:endParaRPr lang="es-CL" sz="1000" dirty="0"/>
          </a:p>
        </p:txBody>
      </p:sp>
      <p:sp>
        <p:nvSpPr>
          <p:cNvPr id="13" name="Shape 11"/>
          <p:cNvSpPr/>
          <p:nvPr/>
        </p:nvSpPr>
        <p:spPr>
          <a:xfrm>
            <a:off x="3063240" y="5916168"/>
            <a:ext cx="8579815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4720" y="5916168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26080" y="59801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</a:t>
            </a:r>
            <a:endParaRPr lang="es-CL" sz="1200" dirty="0"/>
          </a:p>
        </p:txBody>
      </p:sp>
      <p:sp>
        <p:nvSpPr>
          <p:cNvPr id="16" name="Shape 14"/>
          <p:cNvSpPr/>
          <p:nvPr/>
        </p:nvSpPr>
        <p:spPr>
          <a:xfrm>
            <a:off x="5335984" y="5916168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87344" y="59801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 M</a:t>
            </a:r>
            <a:endParaRPr lang="es-CL" sz="1200" dirty="0"/>
          </a:p>
        </p:txBody>
      </p:sp>
      <p:sp>
        <p:nvSpPr>
          <p:cNvPr id="18" name="Shape 16"/>
          <p:cNvSpPr/>
          <p:nvPr/>
        </p:nvSpPr>
        <p:spPr>
          <a:xfrm>
            <a:off x="8383803" y="5916168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35163" y="59801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$5 M</a:t>
            </a:r>
            <a:endParaRPr lang="es-CL" sz="1200" dirty="0"/>
          </a:p>
        </p:txBody>
      </p:sp>
      <p:sp>
        <p:nvSpPr>
          <p:cNvPr id="20" name="Shape 18"/>
          <p:cNvSpPr/>
          <p:nvPr/>
        </p:nvSpPr>
        <p:spPr>
          <a:xfrm>
            <a:off x="9696427" y="5916168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7787" y="59801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$10 M</a:t>
            </a:r>
            <a:endParaRPr lang="es-CL" sz="1200" dirty="0"/>
          </a:p>
        </p:txBody>
      </p:sp>
      <p:sp>
        <p:nvSpPr>
          <p:cNvPr id="22" name="Shape 20"/>
          <p:cNvSpPr/>
          <p:nvPr/>
        </p:nvSpPr>
        <p:spPr>
          <a:xfrm>
            <a:off x="11009052" y="5916168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460412" y="59801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$20 M</a:t>
            </a:r>
            <a:endParaRPr lang="es-CL" sz="1200" dirty="0"/>
          </a:p>
        </p:txBody>
      </p:sp>
      <p:sp>
        <p:nvSpPr>
          <p:cNvPr id="24" name="Shape 22"/>
          <p:cNvSpPr/>
          <p:nvPr/>
        </p:nvSpPr>
        <p:spPr>
          <a:xfrm>
            <a:off x="4430720" y="2505456"/>
            <a:ext cx="4643614" cy="1060704"/>
          </a:xfrm>
          <a:prstGeom prst="rect">
            <a:avLst/>
          </a:prstGeom>
          <a:solidFill>
            <a:srgbClr val="0B1A22">
              <a:alpha val="0"/>
            </a:srgbClr>
          </a:solidFill>
          <a:ln w="9525">
            <a:solidFill>
              <a:schemeClr val="accent1"/>
            </a:solidFill>
            <a:prstDash val="sysDot"/>
          </a:ln>
        </p:spPr>
      </p:sp>
      <p:sp>
        <p:nvSpPr>
          <p:cNvPr id="25" name="Text 23"/>
          <p:cNvSpPr txBox="1"/>
          <p:nvPr/>
        </p:nvSpPr>
        <p:spPr>
          <a:xfrm>
            <a:off x="4595312" y="3145536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Espacio hoy sin oferta</a:t>
            </a:r>
            <a:endParaRPr lang="es-CL" sz="1600" dirty="0"/>
          </a:p>
        </p:txBody>
      </p:sp>
      <p:sp>
        <p:nvSpPr>
          <p:cNvPr id="26" name="Shape 24"/>
          <p:cNvSpPr/>
          <p:nvPr/>
        </p:nvSpPr>
        <p:spPr>
          <a:xfrm>
            <a:off x="3392424" y="2670048"/>
            <a:ext cx="164592" cy="16459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090672" y="2898648"/>
            <a:ext cx="768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 hacer nada</a:t>
            </a:r>
            <a:endParaRPr lang="es-CL" sz="1250" dirty="0"/>
          </a:p>
        </p:txBody>
      </p:sp>
      <p:sp>
        <p:nvSpPr>
          <p:cNvPr id="28" name="Shape 26"/>
          <p:cNvSpPr/>
          <p:nvPr/>
        </p:nvSpPr>
        <p:spPr>
          <a:xfrm>
            <a:off x="8093778" y="2761488"/>
            <a:ext cx="286234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9" name="Shape 27"/>
          <p:cNvSpPr/>
          <p:nvPr/>
        </p:nvSpPr>
        <p:spPr>
          <a:xfrm>
            <a:off x="7993194" y="2706624"/>
            <a:ext cx="201168" cy="2011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Shape 28"/>
          <p:cNvSpPr/>
          <p:nvPr/>
        </p:nvSpPr>
        <p:spPr>
          <a:xfrm>
            <a:off x="8279428" y="2706624"/>
            <a:ext cx="201168" cy="2011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Shape 29"/>
          <p:cNvSpPr/>
          <p:nvPr/>
        </p:nvSpPr>
        <p:spPr>
          <a:xfrm>
            <a:off x="9320618" y="2560320"/>
            <a:ext cx="2185278" cy="950976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265754" y="25054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265754" y="25054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405311" y="25054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560759" y="25054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265754" y="356616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65754" y="341071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1405311" y="356616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560759" y="341071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12058" y="2633472"/>
            <a:ext cx="20023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LUMINE</a:t>
            </a:r>
            <a:endParaRPr lang="es-CL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9412058" y="2999232"/>
            <a:ext cx="20023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$4,3–5,0 M</a:t>
            </a:r>
            <a:endParaRPr lang="es-CL" sz="1600" dirty="0"/>
          </a:p>
        </p:txBody>
      </p:sp>
      <p:sp>
        <p:nvSpPr>
          <p:cNvPr id="42" name="Shape 40"/>
          <p:cNvSpPr/>
          <p:nvPr/>
        </p:nvSpPr>
        <p:spPr>
          <a:xfrm>
            <a:off x="5136461" y="4361688"/>
            <a:ext cx="1312624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045021" y="3858768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Gas  </a:t>
            </a:r>
            <a:pPr indent="0" marL="0">
              <a:buNone/>
            </a:pPr>
            <a:r>
              <a:rPr lang="es-CL" altLang="en-US" sz="15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$0,9–1,8 M · solo autos de hasta 7 años</a:t>
            </a:r>
            <a:endParaRPr lang="es-CL" sz="1500" dirty="0"/>
          </a:p>
        </p:txBody>
      </p:sp>
      <p:sp>
        <p:nvSpPr>
          <p:cNvPr id="44" name="Shape 42"/>
          <p:cNvSpPr/>
          <p:nvPr/>
        </p:nvSpPr>
        <p:spPr>
          <a:xfrm>
            <a:off x="9599293" y="5020056"/>
            <a:ext cx="593978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5" name="Shape 43"/>
          <p:cNvSpPr/>
          <p:nvPr/>
        </p:nvSpPr>
        <p:spPr>
          <a:xfrm>
            <a:off x="9526141" y="5001768"/>
            <a:ext cx="146304" cy="146304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393053" y="489204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Híbrido usado  </a:t>
            </a:r>
            <a:pPr algn="r"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$9,5–13 M</a:t>
            </a:r>
            <a:endParaRPr lang="es-CL" sz="1600" dirty="0"/>
          </a:p>
        </p:txBody>
      </p:sp>
      <p:sp>
        <p:nvSpPr>
          <p:cNvPr id="47" name="Shape 45"/>
          <p:cNvSpPr/>
          <p:nvPr/>
        </p:nvSpPr>
        <p:spPr>
          <a:xfrm>
            <a:off x="10332257" y="5477256"/>
            <a:ext cx="1173638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259105" y="5458968"/>
            <a:ext cx="146304" cy="146304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126017" y="534924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Eléctrico nuevo  </a:t>
            </a:r>
            <a:pPr algn="r"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desde $14 M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MIX: PRODUCTO Y PRECIO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PLUS CUESTA 16% MÁS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y ahorra 24% más.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elaboración propia (Informe Fase 3, Tablas N° 5 y 6; Anexos N° 2 y 9); Banco Central de Chile (2026), tasa de consumo.</a:t>
            </a:r>
            <a:endParaRPr lang="es-CL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834640" cy="27889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51460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ESENCIAL</a:t>
            </a:r>
            <a:endParaRPr lang="es-CL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24323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$4.290.000</a:t>
            </a:r>
            <a:endParaRPr lang="es-CL" sz="3800" dirty="0"/>
          </a:p>
        </p:txBody>
      </p:sp>
      <p:sp>
        <p:nvSpPr>
          <p:cNvPr id="8" name="Shape 6"/>
          <p:cNvSpPr/>
          <p:nvPr/>
        </p:nvSpPr>
        <p:spPr>
          <a:xfrm>
            <a:off x="777240" y="3410712"/>
            <a:ext cx="2103120" cy="274320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850392" y="3410712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10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REFERENCIA · CON IVA</a:t>
            </a:r>
            <a:endParaRPr lang="es-CL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3867912"/>
            <a:ext cx="23774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593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Hasta 15%</a:t>
            </a:r>
            <a:pPr indent="0" marL="0">
              <a:buNone/>
            </a:pPr>
            <a:r>
              <a:rPr lang="es-CL" altLang="en-US" sz="17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 de ahorro</a:t>
            </a:r>
            <a:endParaRPr lang="es-CL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434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$117.069</a:t>
            </a:r>
            <a:pPr indent="0" marL="0">
              <a:buNone/>
            </a:pPr>
            <a:r>
              <a:rPr lang="es-CL" altLang="en-US" sz="17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 al mes</a:t>
            </a:r>
            <a:endParaRPr lang="es-CL" sz="1700" dirty="0"/>
          </a:p>
        </p:txBody>
      </p:sp>
      <p:sp>
        <p:nvSpPr>
          <p:cNvPr id="13" name="Shape 11"/>
          <p:cNvSpPr/>
          <p:nvPr/>
        </p:nvSpPr>
        <p:spPr>
          <a:xfrm>
            <a:off x="3611880" y="2331720"/>
            <a:ext cx="2834640" cy="278892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57016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57016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45936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1384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57016" y="517550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57016" y="50200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45936" y="517550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01384" y="50200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40480" y="251460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PLUS</a:t>
            </a:r>
            <a:endParaRPr lang="es-CL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813048" y="2788920"/>
            <a:ext cx="24323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$4.990.000</a:t>
            </a:r>
            <a:endParaRPr lang="es-CL" sz="3800" dirty="0"/>
          </a:p>
        </p:txBody>
      </p:sp>
      <p:sp>
        <p:nvSpPr>
          <p:cNvPr id="24" name="Shape 22"/>
          <p:cNvSpPr/>
          <p:nvPr/>
        </p:nvSpPr>
        <p:spPr>
          <a:xfrm>
            <a:off x="3840480" y="3410712"/>
            <a:ext cx="2103120" cy="274320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3913632" y="3410712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10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REFERENCIA · CON IVA</a:t>
            </a:r>
            <a:endParaRPr lang="es-CL" sz="1000" dirty="0"/>
          </a:p>
        </p:txBody>
      </p:sp>
      <p:sp>
        <p:nvSpPr>
          <p:cNvPr id="26" name="Shape 24"/>
          <p:cNvSpPr/>
          <p:nvPr/>
        </p:nvSpPr>
        <p:spPr>
          <a:xfrm>
            <a:off x="3840480" y="3867912"/>
            <a:ext cx="23774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840480" y="39593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Hasta 20%</a:t>
            </a:r>
            <a:pPr indent="0" marL="0">
              <a:buNone/>
            </a:pPr>
            <a:r>
              <a:rPr lang="es-CL" altLang="en-US" sz="17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 de ahorro</a:t>
            </a:r>
            <a:endParaRPr lang="es-CL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3840480" y="4434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$145.327</a:t>
            </a:r>
            <a:pPr indent="0" marL="0">
              <a:buNone/>
            </a:pPr>
            <a:r>
              <a:rPr lang="es-CL" altLang="en-US" sz="17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 al mes</a:t>
            </a:r>
            <a:endParaRPr lang="es-CL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6903720" y="2331720"/>
            <a:ext cx="4739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MESES PARA RECUPERAR LA INVERSIÓN</a:t>
            </a:r>
            <a:endParaRPr lang="es-CL" sz="1200" dirty="0"/>
          </a:p>
        </p:txBody>
      </p:sp>
      <p:graphicFrame>
        <p:nvGraphicFramePr>
          <p:cNvPr id="30" name="Meses para recuperar la inversión por versión" descr=""/>
          <p:cNvGraphicFramePr/>
          <p:nvPr/>
        </p:nvGraphicFramePr>
        <p:xfrm>
          <a:off x="6812280" y="2624328"/>
          <a:ext cx="4830775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1" name="Text 28"/>
          <p:cNvSpPr txBox="1"/>
          <p:nvPr/>
        </p:nvSpPr>
        <p:spPr>
          <a:xfrm>
            <a:off x="548640" y="5440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Plus cuesta $700.000 más, </a:t>
            </a:r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pero cada punto de ahorro sale más barato.</a:t>
            </a:r>
            <a:endParaRPr lang="es-CL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DEMANDA Y PRONÓSTICO DE VENTAS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MÁS DEMANDA QUE CAPACIDAD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desde el año 1.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INE (2025); Centro UC en Emol (2026); Descubre (2026); Massiani y Gohs (2015); elaboración propia (Tabla N° 10, Anexo N° 4).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SEGMENTO LABORAL · RM</a:t>
            </a:r>
            <a:endParaRPr lang="es-CL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06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5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162.780</a:t>
            </a:r>
            <a:endParaRPr lang="es-CL" sz="5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375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vehículos de colectivos, taxis y aplicaciones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411480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42519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ADOPCIÓN AL AÑO 5</a:t>
            </a:r>
            <a:endParaRPr lang="es-CL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5262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5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11,1%</a:t>
            </a:r>
            <a:endParaRPr lang="es-CL" sz="5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2578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del segmento: bajo el 16% de los primeros adoptantes</a:t>
            </a:r>
            <a:endParaRPr lang="es-CL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2331720"/>
            <a:ext cx="7345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VEHÍCULOS POR AÑO</a:t>
            </a:r>
            <a:endParaRPr lang="es-CL" sz="1200" dirty="0"/>
          </a:p>
        </p:txBody>
      </p:sp>
      <p:sp>
        <p:nvSpPr>
          <p:cNvPr id="13" name="Shape 11"/>
          <p:cNvSpPr/>
          <p:nvPr/>
        </p:nvSpPr>
        <p:spPr>
          <a:xfrm>
            <a:off x="9905695" y="2304288"/>
            <a:ext cx="173736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9978847" y="2304288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10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</a:t>
            </a:r>
            <a:endParaRPr lang="es-CL" sz="1000" dirty="0"/>
          </a:p>
        </p:txBody>
      </p:sp>
      <p:graphicFrame>
        <p:nvGraphicFramePr>
          <p:cNvPr id="15" name="Pronóstico de ventas por año" descr=""/>
          <p:cNvGraphicFramePr/>
          <p:nvPr/>
        </p:nvGraphicFramePr>
        <p:xfrm>
          <a:off x="4206240" y="2624328"/>
          <a:ext cx="7436815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4297680" y="5943600"/>
            <a:ext cx="73453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límite es físico: </a:t>
            </a:r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técnicos y espacio. Lo demás lo atiende la red.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PRESUPUESTO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$80,9 MILLONES EL PRIMER AÑO: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6,8% de los ingresos.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11). Montos netos de IVA.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MILLONES DE PESOS NETOS POR AÑO</a:t>
            </a:r>
            <a:endParaRPr lang="es-CL" sz="1200" dirty="0"/>
          </a:p>
        </p:txBody>
      </p:sp>
      <p:graphicFrame>
        <p:nvGraphicFramePr>
          <p:cNvPr id="6" name="Presupuesto de marketing por partida" descr=""/>
          <p:cNvGraphicFramePr/>
          <p:nvPr/>
        </p:nvGraphicFramePr>
        <p:xfrm>
          <a:off x="457200" y="2624328"/>
          <a:ext cx="731520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183880" y="2331720"/>
            <a:ext cx="3459175" cy="390448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129016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129016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542471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97919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129016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129016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542471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697919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12480" y="253288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 CINCO AÑOS</a:t>
            </a:r>
            <a:endParaRPr lang="es-CL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412480" y="2807208"/>
            <a:ext cx="3001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5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$575 M</a:t>
            </a:r>
            <a:endParaRPr lang="es-CL" sz="5400" dirty="0"/>
          </a:p>
        </p:txBody>
      </p:sp>
      <p:sp>
        <p:nvSpPr>
          <p:cNvPr id="18" name="Shape 15"/>
          <p:cNvSpPr/>
          <p:nvPr/>
        </p:nvSpPr>
        <p:spPr>
          <a:xfrm>
            <a:off x="8412480" y="3749040"/>
            <a:ext cx="300197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12480" y="388620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% DE LOS INGRESOS PROPIOS</a:t>
            </a:r>
            <a:endParaRPr lang="es-CL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412480" y="4206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Año 1</a:t>
            </a:r>
            <a:endParaRPr lang="es-CL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9646920" y="4206240"/>
            <a:ext cx="1767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6,8%</a:t>
            </a:r>
            <a:endParaRPr lang="es-CL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0" y="4709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Año 2</a:t>
            </a:r>
            <a:endParaRPr lang="es-CL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9646920" y="4709160"/>
            <a:ext cx="1767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2,3%</a:t>
            </a:r>
            <a:endParaRPr lang="es-CL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8412480" y="5212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Año 5</a:t>
            </a:r>
            <a:endParaRPr lang="es-CL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9646920" y="5212080"/>
            <a:ext cx="1767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1,5%</a:t>
            </a:r>
            <a:endParaRPr lang="es-CL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RECURSOS HUMANOS · ESTRUCTURA Y DOTACIÓN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CRECE EL NÚMERO DE PERSONAS,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la estructura.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borrador de reglamento MTT (2021); elaboración propia (Informe Fase 3, Figura N° 3 y Tabla N° 12).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ORGANIGRAMA · AL ABRIR → AÑO 5</a:t>
            </a:r>
            <a:endParaRPr lang="es-CL" sz="1200" dirty="0"/>
          </a:p>
        </p:txBody>
      </p:sp>
      <p:sp>
        <p:nvSpPr>
          <p:cNvPr id="6" name="Shape 4"/>
          <p:cNvSpPr/>
          <p:nvPr/>
        </p:nvSpPr>
        <p:spPr>
          <a:xfrm>
            <a:off x="2697480" y="2697480"/>
            <a:ext cx="2926080" cy="603504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42616" y="26426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42616" y="26426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522976" y="26426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78424" y="26426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42616" y="335584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320040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522976" y="335584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78424" y="320040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697480" y="2697480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Gerencia General</a:t>
            </a:r>
            <a:endParaRPr lang="es-CL" sz="1700" dirty="0"/>
          </a:p>
        </p:txBody>
      </p:sp>
      <p:sp>
        <p:nvSpPr>
          <p:cNvPr id="16" name="Shape 14"/>
          <p:cNvSpPr/>
          <p:nvPr/>
        </p:nvSpPr>
        <p:spPr>
          <a:xfrm>
            <a:off x="4160520" y="3300984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4440" y="3502152"/>
            <a:ext cx="5852160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34440" y="3502152"/>
            <a:ext cx="0" cy="210312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712464"/>
            <a:ext cx="1371600" cy="11430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785616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Responsable Técnico</a:t>
            </a:r>
            <a:endParaRPr lang="es-CL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42569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 → 3</a:t>
            </a:r>
            <a:endParaRPr lang="es-CL" sz="2200" dirty="0"/>
          </a:p>
        </p:txBody>
      </p:sp>
      <p:sp>
        <p:nvSpPr>
          <p:cNvPr id="22" name="Shape 20"/>
          <p:cNvSpPr/>
          <p:nvPr/>
        </p:nvSpPr>
        <p:spPr>
          <a:xfrm>
            <a:off x="2697480" y="3502152"/>
            <a:ext cx="0" cy="210312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11680" y="3712464"/>
            <a:ext cx="1371600" cy="11430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057400" y="3785616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Calibración</a:t>
            </a:r>
            <a:endParaRPr lang="es-CL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057400" y="442569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 → 4</a:t>
            </a:r>
            <a:endParaRPr lang="es-CL" sz="2200" dirty="0"/>
          </a:p>
        </p:txBody>
      </p:sp>
      <p:sp>
        <p:nvSpPr>
          <p:cNvPr id="26" name="Shape 24"/>
          <p:cNvSpPr/>
          <p:nvPr/>
        </p:nvSpPr>
        <p:spPr>
          <a:xfrm>
            <a:off x="4160520" y="3502152"/>
            <a:ext cx="0" cy="210312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4720" y="3712464"/>
            <a:ext cx="1371600" cy="11430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20440" y="3785616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y Postventa</a:t>
            </a:r>
            <a:endParaRPr lang="es-CL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442569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 → 4</a:t>
            </a:r>
            <a:endParaRPr lang="es-CL" sz="2200" dirty="0"/>
          </a:p>
        </p:txBody>
      </p:sp>
      <p:sp>
        <p:nvSpPr>
          <p:cNvPr id="30" name="Shape 28"/>
          <p:cNvSpPr/>
          <p:nvPr/>
        </p:nvSpPr>
        <p:spPr>
          <a:xfrm>
            <a:off x="5623560" y="3502152"/>
            <a:ext cx="0" cy="210312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37760" y="3712464"/>
            <a:ext cx="1371600" cy="11430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4983480" y="3785616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de Empresas</a:t>
            </a:r>
            <a:endParaRPr lang="es-CL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983480" y="442569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 → 2</a:t>
            </a:r>
            <a:endParaRPr lang="es-CL" sz="2200" dirty="0"/>
          </a:p>
        </p:txBody>
      </p:sp>
      <p:sp>
        <p:nvSpPr>
          <p:cNvPr id="34" name="Shape 32"/>
          <p:cNvSpPr/>
          <p:nvPr/>
        </p:nvSpPr>
        <p:spPr>
          <a:xfrm>
            <a:off x="7086600" y="3502152"/>
            <a:ext cx="0" cy="210312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0" y="3712464"/>
            <a:ext cx="1371600" cy="11430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46520" y="3785616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Administración</a:t>
            </a:r>
            <a:endParaRPr lang="es-CL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446520" y="442569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2200" dirty="0"/>
          </a:p>
        </p:txBody>
      </p:sp>
      <p:sp>
        <p:nvSpPr>
          <p:cNvPr id="38" name="Shape 36"/>
          <p:cNvSpPr/>
          <p:nvPr/>
        </p:nvSpPr>
        <p:spPr>
          <a:xfrm>
            <a:off x="1234440" y="4855464"/>
            <a:ext cx="0" cy="32004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5175504"/>
            <a:ext cx="2834640" cy="822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85800" y="5175504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Técnicos</a:t>
            </a:r>
            <a:endParaRPr lang="es-CL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1965960" y="5175504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 → 36</a:t>
            </a:r>
            <a:endParaRPr lang="es-CL" sz="2800" dirty="0"/>
          </a:p>
        </p:txBody>
      </p:sp>
      <p:sp>
        <p:nvSpPr>
          <p:cNvPr id="42" name="Text 40"/>
          <p:cNvSpPr txBox="1"/>
          <p:nvPr/>
        </p:nvSpPr>
        <p:spPr>
          <a:xfrm>
            <a:off x="3657600" y="5175504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4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Punteado: se suma después de abrir.</a:t>
            </a:r>
            <a:endParaRPr lang="es-CL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8183880" y="2331720"/>
            <a:ext cx="3459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PERSONAS AL CIERRE</a:t>
            </a:r>
            <a:endParaRPr lang="es-CL" sz="1200" dirty="0"/>
          </a:p>
        </p:txBody>
      </p:sp>
      <p:graphicFrame>
        <p:nvGraphicFramePr>
          <p:cNvPr id="44" name="Dotación al cierre de cada año" descr=""/>
          <p:cNvGraphicFramePr/>
          <p:nvPr/>
        </p:nvGraphicFramePr>
        <p:xfrm>
          <a:off x="8092440" y="2624328"/>
          <a:ext cx="3550615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RECURSOS HUMANOS · POLÍTICA Y PRESUPUESTO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TÉCNICOS FORMADOS EN CASA,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costo a la mitad.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Ley N° 21.735; Ley N° 16.744; Ley N° 19.728; elaboración propia (Informe Fase 3, Tablas N° 14 a 16 y Anexo N° 7).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LUMINE HABILITA · RENTA BRUTA POR NIVEL</a:t>
            </a:r>
            <a:endParaRPr lang="es-CL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4114800"/>
            <a:ext cx="1380744" cy="14630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4261104"/>
            <a:ext cx="438912" cy="29260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4261104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1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N1</a:t>
            </a:r>
            <a:endParaRPr lang="es-CL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4663440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Aprende</a:t>
            </a:r>
            <a:endParaRPr lang="es-CL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029200"/>
            <a:ext cx="12435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$750 mil</a:t>
            </a:r>
            <a:endParaRPr lang="es-CL" sz="2200" dirty="0"/>
          </a:p>
        </p:txBody>
      </p:sp>
      <p:sp>
        <p:nvSpPr>
          <p:cNvPr id="11" name="Shape 9"/>
          <p:cNvSpPr/>
          <p:nvPr/>
        </p:nvSpPr>
        <p:spPr>
          <a:xfrm>
            <a:off x="2039112" y="3657600"/>
            <a:ext cx="1380744" cy="19202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67128" y="3803904"/>
            <a:ext cx="438912" cy="29260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167128" y="3803904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1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N2</a:t>
            </a:r>
            <a:endParaRPr lang="es-CL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167128" y="4206240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Instala</a:t>
            </a:r>
            <a:endParaRPr lang="es-CL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130552" y="5029200"/>
            <a:ext cx="12435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$850 mil</a:t>
            </a:r>
            <a:endParaRPr lang="es-CL" sz="2200" dirty="0"/>
          </a:p>
        </p:txBody>
      </p:sp>
      <p:sp>
        <p:nvSpPr>
          <p:cNvPr id="16" name="Shape 14"/>
          <p:cNvSpPr/>
          <p:nvPr/>
        </p:nvSpPr>
        <p:spPr>
          <a:xfrm>
            <a:off x="3529584" y="3200400"/>
            <a:ext cx="1380744" cy="23774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0" y="3346704"/>
            <a:ext cx="438912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0" y="3346704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1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N3</a:t>
            </a:r>
            <a:endParaRPr lang="es-CL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749040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Autónomo</a:t>
            </a:r>
            <a:endParaRPr lang="es-CL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621024" y="5029200"/>
            <a:ext cx="12435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$1,0 M</a:t>
            </a:r>
            <a:endParaRPr lang="es-CL" sz="2200" dirty="0"/>
          </a:p>
        </p:txBody>
      </p:sp>
      <p:sp>
        <p:nvSpPr>
          <p:cNvPr id="21" name="Shape 19"/>
          <p:cNvSpPr/>
          <p:nvPr/>
        </p:nvSpPr>
        <p:spPr>
          <a:xfrm>
            <a:off x="5020056" y="2743200"/>
            <a:ext cx="1380744" cy="283464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65192" y="268833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65192" y="26883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0216" y="268833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55664" y="26883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65192" y="563270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65192" y="54772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00216" y="563270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55664" y="54772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148072" y="2889504"/>
            <a:ext cx="438912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148072" y="2889504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1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N4</a:t>
            </a:r>
            <a:endParaRPr lang="es-CL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148072" y="3291840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Forma</a:t>
            </a:r>
            <a:endParaRPr lang="es-CL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111496" y="5029200"/>
            <a:ext cx="12435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$1,15 M</a:t>
            </a:r>
            <a:endParaRPr lang="es-CL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76072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Del N1 al N4 en unos ocho meses, con bono por nivel.</a:t>
            </a:r>
            <a:endParaRPr lang="es-CL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0" y="2331720"/>
            <a:ext cx="47850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NÓMINA POR INSTALACIÓN · MILES DE $</a:t>
            </a:r>
            <a:endParaRPr lang="es-CL" sz="1200" dirty="0"/>
          </a:p>
        </p:txBody>
      </p:sp>
      <p:graphicFrame>
        <p:nvGraphicFramePr>
          <p:cNvPr id="36" name="Costo de nómina por instalación propia" descr=""/>
          <p:cNvGraphicFramePr/>
          <p:nvPr/>
        </p:nvGraphicFramePr>
        <p:xfrm>
          <a:off x="6766560" y="2624328"/>
          <a:ext cx="4876495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7" name="Text 34"/>
          <p:cNvSpPr txBox="1"/>
          <p:nvPr/>
        </p:nvSpPr>
        <p:spPr>
          <a:xfrm>
            <a:off x="6858000" y="5943600"/>
            <a:ext cx="24990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Los cargos fijos se reparten en más autos.</a:t>
            </a:r>
            <a:endParaRPr lang="es-CL" sz="1600" dirty="0"/>
          </a:p>
        </p:txBody>
      </p:sp>
      <p:sp>
        <p:nvSpPr>
          <p:cNvPr id="38" name="Shape 35"/>
          <p:cNvSpPr/>
          <p:nvPr/>
        </p:nvSpPr>
        <p:spPr>
          <a:xfrm>
            <a:off x="9722815" y="5989320"/>
            <a:ext cx="1920240" cy="274320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39" name="Text 36"/>
          <p:cNvSpPr txBox="1"/>
          <p:nvPr/>
        </p:nvSpPr>
        <p:spPr>
          <a:xfrm>
            <a:off x="9795967" y="598932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10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SIN REAJUSTES</a:t>
            </a:r>
            <a:endParaRPr lang="es-CL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 · FLUJO OPERACIONAL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NEGOCIO MIDE Y RECOMIENDA;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cliente decide.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borrador de reglamento MTT (2021), arts. 11 a 18; elaboración propia (Informe Fase 3, Figura N° 4 y Tabla N° 17).</a:t>
            </a:r>
            <a:endParaRPr lang="es-CL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2211568" cy="457200"/>
          </a:xfrm>
          <a:prstGeom prst="homePlate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331720"/>
            <a:ext cx="182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b="1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 </a:t>
            </a:r>
            <a:pPr indent="0" marL="0">
              <a:buNone/>
            </a:pPr>
            <a:r>
              <a:rPr lang="es-CL" altLang="en-US" sz="11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CAPTACIÓN</a:t>
            </a:r>
            <a:endParaRPr lang="es-CL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990088"/>
            <a:ext cx="2101840" cy="1965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3218688"/>
            <a:ext cx="177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Cotiza en la web</a:t>
            </a:r>
            <a:endParaRPr lang="es-CL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4041648"/>
            <a:ext cx="17726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estimador da ahorro y plazo.</a:t>
            </a:r>
            <a:endParaRPr lang="es-CL" sz="1600" dirty="0"/>
          </a:p>
        </p:txBody>
      </p:sp>
      <p:sp>
        <p:nvSpPr>
          <p:cNvPr id="10" name="Text 8"/>
          <p:cNvSpPr/>
          <p:nvPr/>
        </p:nvSpPr>
        <p:spPr>
          <a:xfrm>
            <a:off x="2796784" y="2331720"/>
            <a:ext cx="2211568" cy="457200"/>
          </a:xfrm>
          <a:prstGeom prst="chevron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3034528" y="2331720"/>
            <a:ext cx="182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b="1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 </a:t>
            </a:r>
            <a:pPr indent="0" marL="0">
              <a:buNone/>
            </a:pPr>
            <a:r>
              <a:rPr lang="es-CL" altLang="en-US" sz="11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ASESORÍA</a:t>
            </a:r>
            <a:endParaRPr lang="es-CL" sz="1100" dirty="0"/>
          </a:p>
        </p:txBody>
      </p:sp>
      <p:sp>
        <p:nvSpPr>
          <p:cNvPr id="12" name="Shape 10"/>
          <p:cNvSpPr/>
          <p:nvPr/>
        </p:nvSpPr>
        <p:spPr>
          <a:xfrm>
            <a:off x="2796784" y="2990088"/>
            <a:ext cx="2101840" cy="1965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61376" y="3218688"/>
            <a:ext cx="177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cliente decide</a:t>
            </a:r>
            <a:endParaRPr lang="es-CL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2961376" y="4041648"/>
            <a:ext cx="17726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Puede medir una semana antes.</a:t>
            </a:r>
            <a:endParaRPr lang="es-CL" sz="1600" dirty="0"/>
          </a:p>
        </p:txBody>
      </p:sp>
      <p:sp>
        <p:nvSpPr>
          <p:cNvPr id="15" name="Text 13"/>
          <p:cNvSpPr/>
          <p:nvPr/>
        </p:nvSpPr>
        <p:spPr>
          <a:xfrm>
            <a:off x="5044928" y="2331720"/>
            <a:ext cx="2211568" cy="457200"/>
          </a:xfrm>
          <a:prstGeom prst="chevron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 txBox="1"/>
          <p:nvPr/>
        </p:nvSpPr>
        <p:spPr>
          <a:xfrm>
            <a:off x="5282672" y="2331720"/>
            <a:ext cx="182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b="1" spc="100" kern="0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 </a:t>
            </a:r>
            <a:pPr indent="0" marL="0">
              <a:buNone/>
            </a:pPr>
            <a:r>
              <a:rPr lang="es-CL" altLang="en-US" sz="1100" b="1" spc="100" kern="0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TALLER</a:t>
            </a:r>
            <a:endParaRPr lang="es-CL" sz="1100" dirty="0"/>
          </a:p>
        </p:txBody>
      </p:sp>
      <p:sp>
        <p:nvSpPr>
          <p:cNvPr id="17" name="Shape 15"/>
          <p:cNvSpPr/>
          <p:nvPr/>
        </p:nvSpPr>
        <p:spPr>
          <a:xfrm>
            <a:off x="5044928" y="2990088"/>
            <a:ext cx="2101840" cy="196596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90064" y="29352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90064" y="29352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46184" y="29352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01632" y="29352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90064" y="501091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90064" y="48554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046184" y="501091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01632" y="48554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09520" y="3218688"/>
            <a:ext cx="177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b="1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Una jornada</a:t>
            </a:r>
            <a:endParaRPr lang="es-CL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5209520" y="4041648"/>
            <a:ext cx="17726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8,4 horas y cuatro controles.</a:t>
            </a:r>
            <a:endParaRPr lang="es-CL" sz="1600" dirty="0"/>
          </a:p>
        </p:txBody>
      </p:sp>
      <p:sp>
        <p:nvSpPr>
          <p:cNvPr id="28" name="Text 26"/>
          <p:cNvSpPr/>
          <p:nvPr/>
        </p:nvSpPr>
        <p:spPr>
          <a:xfrm>
            <a:off x="7293072" y="2331720"/>
            <a:ext cx="2211568" cy="457200"/>
          </a:xfrm>
          <a:prstGeom prst="chevron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 txBox="1"/>
          <p:nvPr/>
        </p:nvSpPr>
        <p:spPr>
          <a:xfrm>
            <a:off x="7530816" y="2331720"/>
            <a:ext cx="182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b="1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 </a:t>
            </a:r>
            <a:pPr indent="0" marL="0">
              <a:buNone/>
            </a:pPr>
            <a:r>
              <a:rPr lang="es-CL" altLang="en-US" sz="11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CERTIFICACIÓN</a:t>
            </a:r>
            <a:endParaRPr lang="es-CL" sz="1100" dirty="0"/>
          </a:p>
        </p:txBody>
      </p:sp>
      <p:sp>
        <p:nvSpPr>
          <p:cNvPr id="30" name="Shape 28"/>
          <p:cNvSpPr/>
          <p:nvPr/>
        </p:nvSpPr>
        <p:spPr>
          <a:xfrm>
            <a:off x="7293072" y="2990088"/>
            <a:ext cx="2101840" cy="1965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7664" y="3218688"/>
            <a:ext cx="177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 certificado</a:t>
            </a:r>
            <a:endParaRPr lang="es-CL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7457664" y="4041648"/>
            <a:ext cx="17726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Firma del Responsable Técnico.</a:t>
            </a:r>
            <a:endParaRPr lang="es-CL" sz="1600" dirty="0"/>
          </a:p>
        </p:txBody>
      </p:sp>
      <p:sp>
        <p:nvSpPr>
          <p:cNvPr id="33" name="Text 31"/>
          <p:cNvSpPr/>
          <p:nvPr/>
        </p:nvSpPr>
        <p:spPr>
          <a:xfrm>
            <a:off x="9541215" y="2331720"/>
            <a:ext cx="2101840" cy="457200"/>
          </a:xfrm>
          <a:prstGeom prst="chevron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 txBox="1"/>
          <p:nvPr/>
        </p:nvSpPr>
        <p:spPr>
          <a:xfrm>
            <a:off x="9778959" y="2331720"/>
            <a:ext cx="182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b="1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 </a:t>
            </a:r>
            <a:pPr indent="0" marL="0">
              <a:buNone/>
            </a:pPr>
            <a:r>
              <a:rPr lang="es-CL" altLang="en-US" sz="11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POSTVENTA</a:t>
            </a:r>
            <a:endParaRPr lang="es-CL" sz="1100" dirty="0"/>
          </a:p>
        </p:txBody>
      </p:sp>
      <p:sp>
        <p:nvSpPr>
          <p:cNvPr id="35" name="Shape 33"/>
          <p:cNvSpPr/>
          <p:nvPr/>
        </p:nvSpPr>
        <p:spPr>
          <a:xfrm>
            <a:off x="9541215" y="2990088"/>
            <a:ext cx="2101840" cy="1965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705807" y="3218688"/>
            <a:ext cx="177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Ahorro medido</a:t>
            </a:r>
            <a:endParaRPr lang="es-CL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705807" y="4041648"/>
            <a:ext cx="17726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Informe a los tres meses.</a:t>
            </a:r>
            <a:endParaRPr lang="es-CL" sz="1600" dirty="0"/>
          </a:p>
        </p:txBody>
      </p:sp>
      <p:sp>
        <p:nvSpPr>
          <p:cNvPr id="38" name="Shape 36"/>
          <p:cNvSpPr/>
          <p:nvPr/>
        </p:nvSpPr>
        <p:spPr>
          <a:xfrm>
            <a:off x="548640" y="5120640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523036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1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límite de capacidad son las horas de los dúos.</a:t>
            </a:r>
            <a:endParaRPr lang="es-CL" sz="21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705856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 dinamómetro por local basta, incluso con seis dúos.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 · CARTA GANTT DE IMPLEMENTACIÓN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ABRIR EN ENERO DE 2027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depende de un reglamento.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Figura N° 5). Mes 1 = enero de 2027 (supuesto).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2350008"/>
            <a:ext cx="7727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1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430386" y="2350008"/>
            <a:ext cx="3091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1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1 · 2027</a:t>
            </a:r>
            <a:endParaRPr lang="es-CL" sz="1100" dirty="0"/>
          </a:p>
        </p:txBody>
      </p:sp>
      <p:sp>
        <p:nvSpPr>
          <p:cNvPr id="7" name="Shape 5"/>
          <p:cNvSpPr/>
          <p:nvPr/>
        </p:nvSpPr>
        <p:spPr>
          <a:xfrm>
            <a:off x="4430386" y="2642616"/>
            <a:ext cx="0" cy="292608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21530" y="2350008"/>
            <a:ext cx="10303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1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2</a:t>
            </a:r>
            <a:endParaRPr lang="es-CL" sz="1100" dirty="0"/>
          </a:p>
        </p:txBody>
      </p:sp>
      <p:sp>
        <p:nvSpPr>
          <p:cNvPr id="9" name="Shape 7"/>
          <p:cNvSpPr/>
          <p:nvPr/>
        </p:nvSpPr>
        <p:spPr>
          <a:xfrm>
            <a:off x="7521530" y="2642616"/>
            <a:ext cx="0" cy="292608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51911" y="2350008"/>
            <a:ext cx="10303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1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3</a:t>
            </a:r>
            <a:endParaRPr lang="es-CL" sz="1100" dirty="0"/>
          </a:p>
        </p:txBody>
      </p:sp>
      <p:sp>
        <p:nvSpPr>
          <p:cNvPr id="11" name="Shape 9"/>
          <p:cNvSpPr/>
          <p:nvPr/>
        </p:nvSpPr>
        <p:spPr>
          <a:xfrm>
            <a:off x="8551911" y="2642616"/>
            <a:ext cx="0" cy="292608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582293" y="2350008"/>
            <a:ext cx="10303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1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4</a:t>
            </a:r>
            <a:endParaRPr lang="es-CL" sz="1100" dirty="0"/>
          </a:p>
        </p:txBody>
      </p:sp>
      <p:sp>
        <p:nvSpPr>
          <p:cNvPr id="13" name="Shape 11"/>
          <p:cNvSpPr/>
          <p:nvPr/>
        </p:nvSpPr>
        <p:spPr>
          <a:xfrm>
            <a:off x="9582293" y="2642616"/>
            <a:ext cx="0" cy="292608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612674" y="2350008"/>
            <a:ext cx="10303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1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5</a:t>
            </a:r>
            <a:endParaRPr lang="es-CL" sz="1100" dirty="0"/>
          </a:p>
        </p:txBody>
      </p:sp>
      <p:sp>
        <p:nvSpPr>
          <p:cNvPr id="15" name="Shape 13"/>
          <p:cNvSpPr/>
          <p:nvPr/>
        </p:nvSpPr>
        <p:spPr>
          <a:xfrm>
            <a:off x="10612674" y="2642616"/>
            <a:ext cx="0" cy="292608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69748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4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Investigación y permisos</a:t>
            </a:r>
            <a:endParaRPr lang="es-CL" sz="1400" dirty="0"/>
          </a:p>
        </p:txBody>
      </p:sp>
      <p:sp>
        <p:nvSpPr>
          <p:cNvPr id="17" name="Shape 15"/>
          <p:cNvSpPr/>
          <p:nvPr/>
        </p:nvSpPr>
        <p:spPr>
          <a:xfrm>
            <a:off x="3657600" y="2761488"/>
            <a:ext cx="772786" cy="2743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09981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099816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4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Homologación y primer dúo</a:t>
            </a:r>
            <a:endParaRPr lang="es-CL" sz="1400" dirty="0"/>
          </a:p>
        </p:txBody>
      </p:sp>
      <p:sp>
        <p:nvSpPr>
          <p:cNvPr id="20" name="Shape 18"/>
          <p:cNvSpPr/>
          <p:nvPr/>
        </p:nvSpPr>
        <p:spPr>
          <a:xfrm>
            <a:off x="3915195" y="3163824"/>
            <a:ext cx="515191" cy="2743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502152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3502152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4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Reglamento Ley 21.793</a:t>
            </a:r>
            <a:endParaRPr lang="es-CL" sz="1400" dirty="0"/>
          </a:p>
        </p:txBody>
      </p:sp>
      <p:sp>
        <p:nvSpPr>
          <p:cNvPr id="23" name="Shape 21"/>
          <p:cNvSpPr/>
          <p:nvPr/>
        </p:nvSpPr>
        <p:spPr>
          <a:xfrm>
            <a:off x="4155284" y="3557016"/>
            <a:ext cx="292608" cy="292608"/>
          </a:xfrm>
          <a:prstGeom prst="star5">
            <a:avLst/>
          </a:prstGeom>
          <a:solidFill>
            <a:schemeClr val="accent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30188" y="3502152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debe estar vigente antes de vender</a:t>
            </a:r>
            <a:endParaRPr lang="es-CL" sz="1600" dirty="0"/>
          </a:p>
        </p:txBody>
      </p:sp>
      <p:sp>
        <p:nvSpPr>
          <p:cNvPr id="25" name="Shape 23"/>
          <p:cNvSpPr/>
          <p:nvPr/>
        </p:nvSpPr>
        <p:spPr>
          <a:xfrm>
            <a:off x="548640" y="390448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39044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4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1: dúos 1 a 6</a:t>
            </a:r>
            <a:endParaRPr lang="es-CL" sz="1400" dirty="0"/>
          </a:p>
        </p:txBody>
      </p:sp>
      <p:sp>
        <p:nvSpPr>
          <p:cNvPr id="27" name="Shape 25"/>
          <p:cNvSpPr/>
          <p:nvPr/>
        </p:nvSpPr>
        <p:spPr>
          <a:xfrm>
            <a:off x="4320658" y="3995928"/>
            <a:ext cx="219456" cy="219456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494394" y="3877056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s-CL" sz="1050" dirty="0"/>
          </a:p>
        </p:txBody>
      </p:sp>
      <p:sp>
        <p:nvSpPr>
          <p:cNvPr id="29" name="Shape 27"/>
          <p:cNvSpPr/>
          <p:nvPr/>
        </p:nvSpPr>
        <p:spPr>
          <a:xfrm>
            <a:off x="5203172" y="3968496"/>
            <a:ext cx="515191" cy="274320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30" name="Shape 28"/>
          <p:cNvSpPr/>
          <p:nvPr/>
        </p:nvSpPr>
        <p:spPr>
          <a:xfrm>
            <a:off x="5608635" y="3995928"/>
            <a:ext cx="219456" cy="219456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782371" y="3877056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s-CL" sz="1050" dirty="0"/>
          </a:p>
        </p:txBody>
      </p:sp>
      <p:sp>
        <p:nvSpPr>
          <p:cNvPr id="32" name="Shape 30"/>
          <p:cNvSpPr/>
          <p:nvPr/>
        </p:nvSpPr>
        <p:spPr>
          <a:xfrm>
            <a:off x="6748744" y="3968496"/>
            <a:ext cx="515191" cy="274320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33" name="Shape 31"/>
          <p:cNvSpPr/>
          <p:nvPr/>
        </p:nvSpPr>
        <p:spPr>
          <a:xfrm>
            <a:off x="7154207" y="3995928"/>
            <a:ext cx="219456" cy="219456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27943" y="3877056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s-CL" sz="1050" dirty="0"/>
          </a:p>
        </p:txBody>
      </p:sp>
      <p:sp>
        <p:nvSpPr>
          <p:cNvPr id="35" name="Shape 33"/>
          <p:cNvSpPr/>
          <p:nvPr/>
        </p:nvSpPr>
        <p:spPr>
          <a:xfrm>
            <a:off x="7263935" y="3968496"/>
            <a:ext cx="343460" cy="274320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36" name="Shape 34"/>
          <p:cNvSpPr/>
          <p:nvPr/>
        </p:nvSpPr>
        <p:spPr>
          <a:xfrm>
            <a:off x="7497667" y="3995928"/>
            <a:ext cx="219456" cy="219456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71403" y="3877056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s-CL" sz="1050" dirty="0"/>
          </a:p>
        </p:txBody>
      </p:sp>
      <p:sp>
        <p:nvSpPr>
          <p:cNvPr id="38" name="Shape 36"/>
          <p:cNvSpPr/>
          <p:nvPr/>
        </p:nvSpPr>
        <p:spPr>
          <a:xfrm>
            <a:off x="7779125" y="3968496"/>
            <a:ext cx="171730" cy="274320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39" name="Shape 37"/>
          <p:cNvSpPr/>
          <p:nvPr/>
        </p:nvSpPr>
        <p:spPr>
          <a:xfrm>
            <a:off x="7841127" y="3995928"/>
            <a:ext cx="219456" cy="219456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014863" y="3877056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s-CL" sz="1050" dirty="0"/>
          </a:p>
        </p:txBody>
      </p:sp>
      <p:sp>
        <p:nvSpPr>
          <p:cNvPr id="41" name="Shape 39"/>
          <p:cNvSpPr/>
          <p:nvPr/>
        </p:nvSpPr>
        <p:spPr>
          <a:xfrm>
            <a:off x="7950855" y="3968496"/>
            <a:ext cx="171730" cy="274320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42" name="Shape 40"/>
          <p:cNvSpPr/>
          <p:nvPr/>
        </p:nvSpPr>
        <p:spPr>
          <a:xfrm>
            <a:off x="8012858" y="3995928"/>
            <a:ext cx="219456" cy="219456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186594" y="3877056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s-CL" sz="1050" dirty="0"/>
          </a:p>
        </p:txBody>
      </p:sp>
      <p:sp>
        <p:nvSpPr>
          <p:cNvPr id="44" name="Shape 42"/>
          <p:cNvSpPr/>
          <p:nvPr/>
        </p:nvSpPr>
        <p:spPr>
          <a:xfrm>
            <a:off x="548640" y="4306824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306824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4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Calibración de modelos</a:t>
            </a:r>
            <a:endParaRPr lang="es-CL" sz="1400" dirty="0"/>
          </a:p>
        </p:txBody>
      </p:sp>
      <p:sp>
        <p:nvSpPr>
          <p:cNvPr id="46" name="Shape 44"/>
          <p:cNvSpPr/>
          <p:nvPr/>
        </p:nvSpPr>
        <p:spPr>
          <a:xfrm>
            <a:off x="4430386" y="4370832"/>
            <a:ext cx="3091144" cy="2743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430386" y="4306824"/>
            <a:ext cx="3091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300" b="1" dirty="0">
                <a:solidFill>
                  <a:schemeClr val="bg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dos al mes</a:t>
            </a:r>
            <a:endParaRPr lang="es-CL" sz="1300" dirty="0"/>
          </a:p>
        </p:txBody>
      </p:sp>
      <p:sp>
        <p:nvSpPr>
          <p:cNvPr id="48" name="Shape 46"/>
          <p:cNvSpPr/>
          <p:nvPr/>
        </p:nvSpPr>
        <p:spPr>
          <a:xfrm>
            <a:off x="7521530" y="4370832"/>
            <a:ext cx="4121525" cy="274320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521530" y="4306824"/>
            <a:ext cx="412152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uno al mes</a:t>
            </a:r>
            <a:endParaRPr lang="es-CL" sz="1300" dirty="0"/>
          </a:p>
        </p:txBody>
      </p:sp>
      <p:sp>
        <p:nvSpPr>
          <p:cNvPr id="50" name="Shape 48"/>
          <p:cNvSpPr/>
          <p:nvPr/>
        </p:nvSpPr>
        <p:spPr>
          <a:xfrm>
            <a:off x="548640" y="470916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8640" y="470916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4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Red de talleres</a:t>
            </a:r>
            <a:endParaRPr lang="es-CL" sz="1400" dirty="0"/>
          </a:p>
        </p:txBody>
      </p:sp>
      <p:sp>
        <p:nvSpPr>
          <p:cNvPr id="52" name="Shape 50"/>
          <p:cNvSpPr/>
          <p:nvPr/>
        </p:nvSpPr>
        <p:spPr>
          <a:xfrm>
            <a:off x="7521530" y="4773168"/>
            <a:ext cx="4121525" cy="2743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8003271" y="4709160"/>
            <a:ext cx="475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400" b="1" dirty="0">
                <a:solidFill>
                  <a:schemeClr val="bg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</a:t>
            </a:r>
            <a:endParaRPr lang="es-CL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9033653" y="4709160"/>
            <a:ext cx="475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400" b="1" dirty="0">
                <a:solidFill>
                  <a:schemeClr val="bg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9</a:t>
            </a:r>
            <a:endParaRPr lang="es-CL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064034" y="4709160"/>
            <a:ext cx="475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400" b="1" dirty="0">
                <a:solidFill>
                  <a:schemeClr val="bg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20</a:t>
            </a:r>
            <a:endParaRPr lang="es-CL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1094415" y="4709160"/>
            <a:ext cx="475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400" b="1" dirty="0">
                <a:solidFill>
                  <a:schemeClr val="bg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42</a:t>
            </a:r>
            <a:endParaRPr lang="es-CL" sz="1400" dirty="0"/>
          </a:p>
        </p:txBody>
      </p:sp>
      <p:sp>
        <p:nvSpPr>
          <p:cNvPr id="57" name="Shape 55"/>
          <p:cNvSpPr/>
          <p:nvPr/>
        </p:nvSpPr>
        <p:spPr>
          <a:xfrm>
            <a:off x="548640" y="511149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11496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4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Talleres 2 y 3</a:t>
            </a:r>
            <a:endParaRPr lang="es-CL" sz="1400" dirty="0"/>
          </a:p>
        </p:txBody>
      </p:sp>
      <p:sp>
        <p:nvSpPr>
          <p:cNvPr id="59" name="Shape 57"/>
          <p:cNvSpPr/>
          <p:nvPr/>
        </p:nvSpPr>
        <p:spPr>
          <a:xfrm>
            <a:off x="8294316" y="5175504"/>
            <a:ext cx="257595" cy="2743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0" name="Shape 58"/>
          <p:cNvSpPr/>
          <p:nvPr/>
        </p:nvSpPr>
        <p:spPr>
          <a:xfrm>
            <a:off x="8551911" y="5175504"/>
            <a:ext cx="1030381" cy="274320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551911" y="5111496"/>
            <a:ext cx="103038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2</a:t>
            </a:r>
            <a:endParaRPr lang="es-CL" sz="1300" dirty="0"/>
          </a:p>
        </p:txBody>
      </p:sp>
      <p:sp>
        <p:nvSpPr>
          <p:cNvPr id="62" name="Shape 60"/>
          <p:cNvSpPr/>
          <p:nvPr/>
        </p:nvSpPr>
        <p:spPr>
          <a:xfrm>
            <a:off x="8442183" y="5202936"/>
            <a:ext cx="219456" cy="219456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355079" y="5175504"/>
            <a:ext cx="257595" cy="2743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4" name="Shape 62"/>
          <p:cNvSpPr/>
          <p:nvPr/>
        </p:nvSpPr>
        <p:spPr>
          <a:xfrm>
            <a:off x="10612674" y="5175504"/>
            <a:ext cx="1030381" cy="274320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0612674" y="5111496"/>
            <a:ext cx="103038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3</a:t>
            </a:r>
            <a:endParaRPr lang="es-CL" sz="1300" dirty="0"/>
          </a:p>
        </p:txBody>
      </p:sp>
      <p:sp>
        <p:nvSpPr>
          <p:cNvPr id="66" name="Shape 64"/>
          <p:cNvSpPr/>
          <p:nvPr/>
        </p:nvSpPr>
        <p:spPr>
          <a:xfrm>
            <a:off x="10502946" y="5202936"/>
            <a:ext cx="219456" cy="219456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48640" y="5843016"/>
            <a:ext cx="182880" cy="1828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822960" y="578815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Actividad principal</a:t>
            </a:r>
            <a:endParaRPr lang="es-CL" sz="1300" dirty="0"/>
          </a:p>
        </p:txBody>
      </p:sp>
      <p:sp>
        <p:nvSpPr>
          <p:cNvPr id="69" name="Shape 67"/>
          <p:cNvSpPr/>
          <p:nvPr/>
        </p:nvSpPr>
        <p:spPr>
          <a:xfrm>
            <a:off x="2788920" y="5843016"/>
            <a:ext cx="182880" cy="182880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063240" y="578815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Operación</a:t>
            </a:r>
            <a:endParaRPr lang="es-CL" sz="1300" dirty="0"/>
          </a:p>
        </p:txBody>
      </p:sp>
      <p:sp>
        <p:nvSpPr>
          <p:cNvPr id="71" name="Shape 69"/>
          <p:cNvSpPr/>
          <p:nvPr/>
        </p:nvSpPr>
        <p:spPr>
          <a:xfrm>
            <a:off x="5029200" y="5843016"/>
            <a:ext cx="182880" cy="18288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303520" y="578815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Preapertura de taller</a:t>
            </a:r>
            <a:endParaRPr lang="es-CL" sz="1300" dirty="0"/>
          </a:p>
        </p:txBody>
      </p:sp>
      <p:sp>
        <p:nvSpPr>
          <p:cNvPr id="73" name="Shape 71"/>
          <p:cNvSpPr/>
          <p:nvPr/>
        </p:nvSpPr>
        <p:spPr>
          <a:xfrm>
            <a:off x="7269480" y="5843016"/>
            <a:ext cx="182880" cy="182880"/>
          </a:xfrm>
          <a:prstGeom prst="diamond">
            <a:avLst/>
          </a:prstGeom>
          <a:solidFill>
            <a:schemeClr val="tx1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7543800" y="578815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Apertura o dúo nuevo</a:t>
            </a:r>
            <a:endParaRPr lang="es-CL" sz="1300" dirty="0"/>
          </a:p>
        </p:txBody>
      </p:sp>
      <p:sp>
        <p:nvSpPr>
          <p:cNvPr id="75" name="Shape 73"/>
          <p:cNvSpPr/>
          <p:nvPr/>
        </p:nvSpPr>
        <p:spPr>
          <a:xfrm>
            <a:off x="9509760" y="5843016"/>
            <a:ext cx="182880" cy="182880"/>
          </a:xfrm>
          <a:prstGeom prst="star5">
            <a:avLst/>
          </a:prstGeom>
          <a:solidFill>
            <a:schemeClr val="accent3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9784080" y="578815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Hito crítico</a:t>
            </a:r>
            <a:endParaRPr lang="es-CL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 · PRESUPUESTO Y RESULTADO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GANANCIA DESDE EL AÑO 2;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riesgo es el dólar.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Dynojet Research (2016); Importadora JAK (2026); elaboración propia (Informe Fase 3, Tablas N° 18 a 21).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RESULTADO POR LÍNEA · MILLONES DE PESOS</a:t>
            </a:r>
            <a:endParaRPr lang="es-CL" sz="1200" dirty="0"/>
          </a:p>
        </p:txBody>
      </p:sp>
      <p:graphicFrame>
        <p:nvGraphicFramePr>
          <p:cNvPr id="6" name="Resultado referencial por línea de negocio" descr=""/>
          <p:cNvGraphicFramePr/>
          <p:nvPr/>
        </p:nvGraphicFramePr>
        <p:xfrm>
          <a:off x="457200" y="2624328"/>
          <a:ext cx="70408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943600"/>
            <a:ext cx="3840480" cy="274320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8" name="Text 5"/>
          <p:cNvSpPr txBox="1"/>
          <p:nvPr/>
        </p:nvSpPr>
        <p:spPr>
          <a:xfrm>
            <a:off x="621792" y="5943600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10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REFERENCIAL · 60% PLUS (SUPUESTO)</a:t>
            </a:r>
            <a:endParaRPr lang="es-CL" sz="1000" dirty="0"/>
          </a:p>
        </p:txBody>
      </p:sp>
      <p:sp>
        <p:nvSpPr>
          <p:cNvPr id="9" name="Shape 6"/>
          <p:cNvSpPr/>
          <p:nvPr/>
        </p:nvSpPr>
        <p:spPr>
          <a:xfrm>
            <a:off x="7909560" y="2331720"/>
            <a:ext cx="3733495" cy="17373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38160" y="2514600"/>
            <a:ext cx="3276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INVERSIÓN POR LOCAL</a:t>
            </a:r>
            <a:endParaRPr lang="es-CL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2788920"/>
            <a:ext cx="3276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5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$81 M</a:t>
            </a:r>
            <a:endParaRPr lang="es-CL" sz="500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3538728"/>
            <a:ext cx="3276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casi la mitad, el dinamómetro</a:t>
            </a:r>
            <a:endParaRPr lang="es-CL" sz="1600" dirty="0"/>
          </a:p>
        </p:txBody>
      </p:sp>
      <p:sp>
        <p:nvSpPr>
          <p:cNvPr id="13" name="Shape 10"/>
          <p:cNvSpPr/>
          <p:nvPr/>
        </p:nvSpPr>
        <p:spPr>
          <a:xfrm>
            <a:off x="7909560" y="4297680"/>
            <a:ext cx="3733495" cy="193852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854696" y="42428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854696" y="42428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542471" y="42428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697919" y="42428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854696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854696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542471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697919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138160" y="4480560"/>
            <a:ext cx="3276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 EL DÓLAR SUBE 10%</a:t>
            </a:r>
            <a:endParaRPr lang="es-CL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138160" y="4754880"/>
            <a:ext cx="3276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870 → 93</a:t>
            </a:r>
            <a:endParaRPr lang="es-CL" sz="460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5504688"/>
            <a:ext cx="3276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millones de resultado propio al año 5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CONCLUSIONES DEL CAPÍTULO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TRES CONCLUSIONES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y dos preguntas por resolver.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con base en Informe Fase 3 (§3.4 y Figura N° 6).</a:t>
            </a:r>
            <a:endParaRPr lang="es-CL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515258" cy="22402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532888"/>
            <a:ext cx="438912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532888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1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532888"/>
            <a:ext cx="26008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OPORTUNIDAD</a:t>
            </a:r>
            <a:endParaRPr lang="es-CL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953512"/>
            <a:ext cx="3058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367 &gt; 299</a:t>
            </a:r>
            <a:endParaRPr lang="es-CL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70332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Más demanda que capacidad desde el año 1.</a:t>
            </a:r>
            <a:endParaRPr lang="es-CL" sz="1600" dirty="0"/>
          </a:p>
        </p:txBody>
      </p:sp>
      <p:sp>
        <p:nvSpPr>
          <p:cNvPr id="11" name="Shape 9"/>
          <p:cNvSpPr/>
          <p:nvPr/>
        </p:nvSpPr>
        <p:spPr>
          <a:xfrm>
            <a:off x="4338218" y="2331720"/>
            <a:ext cx="3515258" cy="22402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66818" y="2532888"/>
            <a:ext cx="438912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66818" y="2532888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1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115458" y="2532888"/>
            <a:ext cx="26008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VENTAJA</a:t>
            </a:r>
            <a:endParaRPr lang="es-CL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66818" y="2953512"/>
            <a:ext cx="3058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Biblioteca</a:t>
            </a:r>
            <a:endParaRPr lang="es-CL" sz="4600" dirty="0"/>
          </a:p>
        </p:txBody>
      </p:sp>
      <p:sp>
        <p:nvSpPr>
          <p:cNvPr id="16" name="Text 14"/>
          <p:cNvSpPr txBox="1"/>
          <p:nvPr/>
        </p:nvSpPr>
        <p:spPr>
          <a:xfrm>
            <a:off x="4566818" y="370332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Ahorra sin cambiar de auto y es difícil de copiar.</a:t>
            </a:r>
            <a:endParaRPr lang="es-CL" sz="1600" dirty="0"/>
          </a:p>
        </p:txBody>
      </p:sp>
      <p:sp>
        <p:nvSpPr>
          <p:cNvPr id="17" name="Shape 15"/>
          <p:cNvSpPr/>
          <p:nvPr/>
        </p:nvSpPr>
        <p:spPr>
          <a:xfrm>
            <a:off x="8127797" y="2331720"/>
            <a:ext cx="3515258" cy="224028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72933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72933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542471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697919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72933" y="4626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72933" y="44714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542471" y="4626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697919" y="44714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356397" y="2532888"/>
            <a:ext cx="438912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356397" y="2532888"/>
            <a:ext cx="438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1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905037" y="2532888"/>
            <a:ext cx="26008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 GATILLO</a:t>
            </a:r>
            <a:endParaRPr lang="es-CL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356397" y="2953512"/>
            <a:ext cx="3058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80%</a:t>
            </a:r>
            <a:endParaRPr lang="es-CL" sz="4600" dirty="0"/>
          </a:p>
        </p:txBody>
      </p:sp>
      <p:sp>
        <p:nvSpPr>
          <p:cNvPr id="30" name="Text 28"/>
          <p:cNvSpPr txBox="1"/>
          <p:nvPr/>
        </p:nvSpPr>
        <p:spPr>
          <a:xfrm>
            <a:off x="8356397" y="370332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 capacidad: suma dúos, personas y talleres.</a:t>
            </a:r>
            <a:endParaRPr lang="es-CL" sz="1600" dirty="0"/>
          </a:p>
        </p:txBody>
      </p:sp>
      <p:sp>
        <p:nvSpPr>
          <p:cNvPr id="31" name="Shape 29"/>
          <p:cNvSpPr/>
          <p:nvPr/>
        </p:nvSpPr>
        <p:spPr>
          <a:xfrm>
            <a:off x="548640" y="4754880"/>
            <a:ext cx="11094415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484632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5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RESOLVER</a:t>
            </a:r>
            <a:endParaRPr lang="es-CL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157216"/>
            <a:ext cx="5364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i="1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¿El reglamento admitirá el kit, y desde cuándo?</a:t>
            </a:r>
            <a:endParaRPr lang="es-CL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6278728" y="5157216"/>
            <a:ext cx="5364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i="1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¿El ahorro medido confirma los precios?</a:t>
            </a:r>
            <a:endParaRPr lang="es-CL" sz="2400" dirty="0"/>
          </a:p>
        </p:txBody>
      </p:sp>
      <p:sp>
        <p:nvSpPr>
          <p:cNvPr id="35" name="Text 33"/>
          <p:cNvSpPr txBox="1"/>
          <p:nvPr/>
        </p:nvSpPr>
        <p:spPr>
          <a:xfrm>
            <a:off x="7985455" y="5961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GRACIAS · ¿PREGUNTAS?</a:t>
            </a:r>
            <a:endParaRPr lang="es-CL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MATERIAL DE APOYO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ANEXO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para preguntas.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Las fuentes de cada tema están al pie de su diapositiva.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Estas diapositivas no se presentan. Si una pregunta toca uno de estos temas, se hace clic en él y se salta directo.</a:t>
            </a:r>
            <a:endParaRPr lang="es-CL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83464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302666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02666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</a:t>
            </a:r>
            <a:endParaRPr lang="es-CL" sz="950" dirty="0"/>
          </a:p>
        </p:txBody>
      </p:sp>
      <p:sp>
        <p:nvSpPr>
          <p:cNvPr id="9" name="Text 7">
            <a:hlinkClick r:id="rId1" tooltip="Ir a Hipótesis de la investigación" action="ppaction://hlinksldjump"/>
          </p:cNvPr>
          <p:cNvSpPr txBox="1"/>
          <p:nvPr/>
        </p:nvSpPr>
        <p:spPr>
          <a:xfrm>
            <a:off x="1188720" y="283464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" action="ppaction://hlinksldjump" tooltip="Ir a Hipótesis de la investig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Hipótesis de la investigación</a:t>
            </a:r>
            <a:endParaRPr lang="en-US" sz="1550" dirty="0"/>
          </a:p>
        </p:txBody>
      </p:sp>
      <p:sp>
        <p:nvSpPr>
          <p:cNvPr id="10" name="Text 8">
            <a:hlinkClick r:id="rId2" tooltip="Ir a Hipótesis de la investigación" action="ppaction://hlinksldjump"/>
          </p:cNvPr>
          <p:cNvSpPr txBox="1"/>
          <p:nvPr/>
        </p:nvSpPr>
        <p:spPr>
          <a:xfrm>
            <a:off x="4267048" y="28346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action="ppaction://hlinksldjump" tooltip="Ir a Hipótesis de la investig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17 →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48640" y="347472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66674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66674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A2</a:t>
            </a:r>
            <a:endParaRPr lang="es-CL" sz="950" dirty="0"/>
          </a:p>
        </p:txBody>
      </p:sp>
      <p:sp>
        <p:nvSpPr>
          <p:cNvPr id="14" name="Text 12">
            <a:hlinkClick r:id="rId3" tooltip="Ir a Dudas del cliente y respaldo" action="ppaction://hlinksldjump"/>
          </p:cNvPr>
          <p:cNvSpPr txBox="1"/>
          <p:nvPr/>
        </p:nvSpPr>
        <p:spPr>
          <a:xfrm>
            <a:off x="1188720" y="347472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3" action="ppaction://hlinksldjump" tooltip="Ir a Dudas del cliente y respal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Dudas del cliente y respaldo</a:t>
            </a:r>
            <a:endParaRPr lang="en-US" sz="1550" dirty="0"/>
          </a:p>
        </p:txBody>
      </p:sp>
      <p:sp>
        <p:nvSpPr>
          <p:cNvPr id="15" name="Text 13">
            <a:hlinkClick r:id="rId4" tooltip="Ir a Dudas del cliente y respaldo" action="ppaction://hlinksldjump"/>
          </p:cNvPr>
          <p:cNvSpPr txBox="1"/>
          <p:nvPr/>
        </p:nvSpPr>
        <p:spPr>
          <a:xfrm>
            <a:off x="4267048" y="34747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4" action="ppaction://hlinksldjump" tooltip="Ir a Dudas del cliente y respal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18 →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411480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30682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30682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A3</a:t>
            </a:r>
            <a:endParaRPr lang="es-CL" sz="950" dirty="0"/>
          </a:p>
        </p:txBody>
      </p:sp>
      <p:sp>
        <p:nvSpPr>
          <p:cNvPr id="19" name="Text 17">
            <a:hlinkClick r:id="rId5" tooltip="Ir a Mezcla de marketing" action="ppaction://hlinksldjump"/>
          </p:cNvPr>
          <p:cNvSpPr txBox="1"/>
          <p:nvPr/>
        </p:nvSpPr>
        <p:spPr>
          <a:xfrm>
            <a:off x="1188720" y="411480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5" action="ppaction://hlinksldjump" tooltip="Ir a Mezcla de marke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Mezcla de marketing</a:t>
            </a:r>
            <a:endParaRPr lang="en-US" sz="1550" dirty="0"/>
          </a:p>
        </p:txBody>
      </p:sp>
      <p:sp>
        <p:nvSpPr>
          <p:cNvPr id="20" name="Text 18">
            <a:hlinkClick r:id="rId6" tooltip="Ir a Mezcla de marketing" action="ppaction://hlinksldjump"/>
          </p:cNvPr>
          <p:cNvSpPr txBox="1"/>
          <p:nvPr/>
        </p:nvSpPr>
        <p:spPr>
          <a:xfrm>
            <a:off x="4267048" y="41148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6" action="ppaction://hlinksldjump" tooltip="Ir a Mezcla de marke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19 →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48640" y="475488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94690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94690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A4</a:t>
            </a:r>
            <a:endParaRPr lang="es-CL" sz="950" dirty="0"/>
          </a:p>
        </p:txBody>
      </p:sp>
      <p:sp>
        <p:nvSpPr>
          <p:cNvPr id="24" name="Text 22">
            <a:hlinkClick r:id="rId7" tooltip="Ir a Cobros a la red de talleres" action="ppaction://hlinksldjump"/>
          </p:cNvPr>
          <p:cNvSpPr txBox="1"/>
          <p:nvPr/>
        </p:nvSpPr>
        <p:spPr>
          <a:xfrm>
            <a:off x="1188720" y="475488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7" action="ppaction://hlinksldjump" tooltip="Ir a Cobros a la red de taller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Cobros a la red de talleres</a:t>
            </a:r>
            <a:endParaRPr lang="en-US" sz="1550" dirty="0"/>
          </a:p>
        </p:txBody>
      </p:sp>
      <p:sp>
        <p:nvSpPr>
          <p:cNvPr id="25" name="Text 23">
            <a:hlinkClick r:id="rId8" tooltip="Ir a Cobros a la red de talleres" action="ppaction://hlinksldjump"/>
          </p:cNvPr>
          <p:cNvSpPr txBox="1"/>
          <p:nvPr/>
        </p:nvSpPr>
        <p:spPr>
          <a:xfrm>
            <a:off x="4267048" y="47548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8" action="ppaction://hlinksldjump" tooltip="Ir a Cobros a la red de taller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20 →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539496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558698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558698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A5</a:t>
            </a:r>
            <a:endParaRPr lang="es-CL" sz="950" dirty="0"/>
          </a:p>
        </p:txBody>
      </p:sp>
      <p:sp>
        <p:nvSpPr>
          <p:cNvPr id="29" name="Text 27">
            <a:hlinkClick r:id="rId9" tooltip="Ir a Tamaño del mercado y adopción" action="ppaction://hlinksldjump"/>
          </p:cNvPr>
          <p:cNvSpPr txBox="1"/>
          <p:nvPr/>
        </p:nvSpPr>
        <p:spPr>
          <a:xfrm>
            <a:off x="1188720" y="539496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9" action="ppaction://hlinksldjump" tooltip="Ir a Tamaño del mercado y adop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Tamaño del mercado y adopción</a:t>
            </a:r>
            <a:endParaRPr lang="en-US" sz="1550" dirty="0"/>
          </a:p>
        </p:txBody>
      </p:sp>
      <p:sp>
        <p:nvSpPr>
          <p:cNvPr id="30" name="Text 28">
            <a:hlinkClick r:id="rId10" tooltip="Ir a Tamaño del mercado y adopción" action="ppaction://hlinksldjump"/>
          </p:cNvPr>
          <p:cNvSpPr txBox="1"/>
          <p:nvPr/>
        </p:nvSpPr>
        <p:spPr>
          <a:xfrm>
            <a:off x="4267048" y="53949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0" action="ppaction://hlinksldjump" tooltip="Ir a Tamaño del mercado y adop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21 →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48640" y="603504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24448" y="283464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24448" y="302666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324448" y="302666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A6</a:t>
            </a:r>
            <a:endParaRPr lang="es-CL" sz="950" dirty="0"/>
          </a:p>
        </p:txBody>
      </p:sp>
      <p:sp>
        <p:nvSpPr>
          <p:cNvPr id="35" name="Text 33">
            <a:hlinkClick r:id="rId11" tooltip="Ir a Perfiles de cargo" action="ppaction://hlinksldjump"/>
          </p:cNvPr>
          <p:cNvSpPr txBox="1"/>
          <p:nvPr/>
        </p:nvSpPr>
        <p:spPr>
          <a:xfrm>
            <a:off x="6964528" y="283464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1" action="ppaction://hlinksldjump" tooltip="Ir a Perfiles de carg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Perfiles de cargo</a:t>
            </a:r>
            <a:endParaRPr lang="en-US" sz="1550" dirty="0"/>
          </a:p>
        </p:txBody>
      </p:sp>
      <p:sp>
        <p:nvSpPr>
          <p:cNvPr id="36" name="Text 34">
            <a:hlinkClick r:id="rId12" tooltip="Ir a Perfiles de cargo" action="ppaction://hlinksldjump"/>
          </p:cNvPr>
          <p:cNvSpPr txBox="1"/>
          <p:nvPr/>
        </p:nvSpPr>
        <p:spPr>
          <a:xfrm>
            <a:off x="10042855" y="28346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2" action="ppaction://hlinksldjump" tooltip="Ir a Perfiles de carg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22 →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324448" y="347472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24448" y="366674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24448" y="366674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A7</a:t>
            </a:r>
            <a:endParaRPr lang="es-CL" sz="950" dirty="0"/>
          </a:p>
        </p:txBody>
      </p:sp>
      <p:sp>
        <p:nvSpPr>
          <p:cNvPr id="40" name="Text 38">
            <a:hlinkClick r:id="rId13" tooltip="Ir a Rentas y bonos por nivel" action="ppaction://hlinksldjump"/>
          </p:cNvPr>
          <p:cNvSpPr txBox="1"/>
          <p:nvPr/>
        </p:nvSpPr>
        <p:spPr>
          <a:xfrm>
            <a:off x="6964528" y="347472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3" action="ppaction://hlinksldjump" tooltip="Ir a Rentas y bonos por nive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Rentas y bonos por nivel</a:t>
            </a:r>
            <a:endParaRPr lang="en-US" sz="1550" dirty="0"/>
          </a:p>
        </p:txBody>
      </p:sp>
      <p:sp>
        <p:nvSpPr>
          <p:cNvPr id="41" name="Text 39">
            <a:hlinkClick r:id="rId14" tooltip="Ir a Rentas y bonos por nivel" action="ppaction://hlinksldjump"/>
          </p:cNvPr>
          <p:cNvSpPr txBox="1"/>
          <p:nvPr/>
        </p:nvSpPr>
        <p:spPr>
          <a:xfrm>
            <a:off x="10042855" y="34747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4" action="ppaction://hlinksldjump" tooltip="Ir a Rentas y bonos por nive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23 →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324448" y="411480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24448" y="430682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324448" y="430682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A8</a:t>
            </a:r>
            <a:endParaRPr lang="es-CL" sz="950" dirty="0"/>
          </a:p>
        </p:txBody>
      </p:sp>
      <p:sp>
        <p:nvSpPr>
          <p:cNvPr id="45" name="Text 43">
            <a:hlinkClick r:id="rId15" tooltip="Ir a Jornada de instalación" action="ppaction://hlinksldjump"/>
          </p:cNvPr>
          <p:cNvSpPr txBox="1"/>
          <p:nvPr/>
        </p:nvSpPr>
        <p:spPr>
          <a:xfrm>
            <a:off x="6964528" y="411480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5" action="ppaction://hlinksldjump" tooltip="Ir a Jornada de instal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Jornada de instalación</a:t>
            </a:r>
            <a:endParaRPr lang="en-US" sz="1550" dirty="0"/>
          </a:p>
        </p:txBody>
      </p:sp>
      <p:sp>
        <p:nvSpPr>
          <p:cNvPr id="46" name="Text 44">
            <a:hlinkClick r:id="rId16" tooltip="Ir a Jornada de instalación" action="ppaction://hlinksldjump"/>
          </p:cNvPr>
          <p:cNvSpPr txBox="1"/>
          <p:nvPr/>
        </p:nvSpPr>
        <p:spPr>
          <a:xfrm>
            <a:off x="10042855" y="41148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6" action="ppaction://hlinksldjump" tooltip="Ir a Jornada de instal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24 →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6324448" y="475488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324448" y="494690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324448" y="494690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A9</a:t>
            </a:r>
            <a:endParaRPr lang="es-CL" sz="950" dirty="0"/>
          </a:p>
        </p:txBody>
      </p:sp>
      <p:sp>
        <p:nvSpPr>
          <p:cNvPr id="50" name="Text 48">
            <a:hlinkClick r:id="rId17" tooltip="Ir a Inversión y gasto operacional" action="ppaction://hlinksldjump"/>
          </p:cNvPr>
          <p:cNvSpPr txBox="1"/>
          <p:nvPr/>
        </p:nvSpPr>
        <p:spPr>
          <a:xfrm>
            <a:off x="6964528" y="475488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7" action="ppaction://hlinksldjump" tooltip="Ir a Inversión y gasto operaciona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Inversión y gasto operacional</a:t>
            </a:r>
            <a:endParaRPr lang="en-US" sz="1550" dirty="0"/>
          </a:p>
        </p:txBody>
      </p:sp>
      <p:sp>
        <p:nvSpPr>
          <p:cNvPr id="51" name="Text 49">
            <a:hlinkClick r:id="rId18" tooltip="Ir a Inversión y gasto operacional" action="ppaction://hlinksldjump"/>
          </p:cNvPr>
          <p:cNvSpPr txBox="1"/>
          <p:nvPr/>
        </p:nvSpPr>
        <p:spPr>
          <a:xfrm>
            <a:off x="10042855" y="47548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8" action="ppaction://hlinksldjump" tooltip="Ir a Inversión y gasto operaciona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25 →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6324448" y="539496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24448" y="558698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324448" y="558698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A10</a:t>
            </a:r>
            <a:endParaRPr lang="es-CL" sz="950" dirty="0"/>
          </a:p>
        </p:txBody>
      </p:sp>
      <p:sp>
        <p:nvSpPr>
          <p:cNvPr id="55" name="Text 53">
            <a:hlinkClick r:id="rId19" tooltip="Ir a Sensibilidad del resultado" action="ppaction://hlinksldjump"/>
          </p:cNvPr>
          <p:cNvSpPr txBox="1"/>
          <p:nvPr/>
        </p:nvSpPr>
        <p:spPr>
          <a:xfrm>
            <a:off x="6964528" y="539496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9" action="ppaction://hlinksldjump" tooltip="Ir a Sensibilidad del resulta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Sensibilidad del resultado</a:t>
            </a:r>
            <a:endParaRPr lang="en-US" sz="1550" dirty="0"/>
          </a:p>
        </p:txBody>
      </p:sp>
      <p:sp>
        <p:nvSpPr>
          <p:cNvPr id="56" name="Text 54">
            <a:hlinkClick r:id="rId20" tooltip="Ir a Sensibilidad del resultado" action="ppaction://hlinksldjump"/>
          </p:cNvPr>
          <p:cNvSpPr txBox="1"/>
          <p:nvPr/>
        </p:nvSpPr>
        <p:spPr>
          <a:xfrm>
            <a:off x="10042855" y="53949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0" action="ppaction://hlinksldjump" tooltip="Ir a Sensibilidad del resulta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26 →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324448" y="603504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INVESTIGACIÓN DE MERCADO · HIPÓTESIS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SEIS HIPÓTESIS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y su prueba.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3). Significancia de 5%.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3774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HIPÓTESIS</a:t>
            </a:r>
            <a:endParaRPr lang="es-CL" sz="850" dirty="0"/>
          </a:p>
        </p:txBody>
      </p:sp>
      <p:sp>
        <p:nvSpPr>
          <p:cNvPr id="7" name="Text 5"/>
          <p:cNvSpPr txBox="1"/>
          <p:nvPr/>
        </p:nvSpPr>
        <p:spPr>
          <a:xfrm>
            <a:off x="8716975" y="23774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PRUEBA</a:t>
            </a:r>
            <a:endParaRPr lang="es-CL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788920"/>
            <a:ext cx="43891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788920"/>
            <a:ext cx="438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H1</a:t>
            </a:r>
            <a:endParaRPr lang="es-CL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51760"/>
            <a:ext cx="72539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intención de compra es mayor en el uso laboral que en el particular.</a:t>
            </a:r>
            <a:endParaRPr lang="es-CL" sz="1300" dirty="0"/>
          </a:p>
        </p:txBody>
      </p:sp>
      <p:sp>
        <p:nvSpPr>
          <p:cNvPr id="12" name="Shape 10"/>
          <p:cNvSpPr/>
          <p:nvPr/>
        </p:nvSpPr>
        <p:spPr>
          <a:xfrm>
            <a:off x="8899855" y="2761488"/>
            <a:ext cx="274320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1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8973007" y="2761488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850" spc="12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 DE DOS PROPORCIONES</a:t>
            </a:r>
            <a:endParaRPr lang="es-CL" sz="850" dirty="0"/>
          </a:p>
        </p:txBody>
      </p:sp>
      <p:sp>
        <p:nvSpPr>
          <p:cNvPr id="14" name="Shape 12"/>
          <p:cNvSpPr/>
          <p:nvPr/>
        </p:nvSpPr>
        <p:spPr>
          <a:xfrm>
            <a:off x="548640" y="312724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264408"/>
            <a:ext cx="43891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264408"/>
            <a:ext cx="438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H2</a:t>
            </a:r>
            <a:endParaRPr lang="es-CL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127248"/>
            <a:ext cx="72539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intención no varía según edad ni género (se sostiene si no se rechaza H₀).</a:t>
            </a:r>
            <a:endParaRPr lang="es-CL" sz="1300" dirty="0"/>
          </a:p>
        </p:txBody>
      </p:sp>
      <p:sp>
        <p:nvSpPr>
          <p:cNvPr id="18" name="Shape 16"/>
          <p:cNvSpPr/>
          <p:nvPr/>
        </p:nvSpPr>
        <p:spPr>
          <a:xfrm>
            <a:off x="8899855" y="3236976"/>
            <a:ext cx="274320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1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8973007" y="3236976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850" spc="12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CHI-CUADRADO</a:t>
            </a:r>
            <a:endParaRPr lang="es-CL" sz="850" dirty="0"/>
          </a:p>
        </p:txBody>
      </p:sp>
      <p:sp>
        <p:nvSpPr>
          <p:cNvPr id="20" name="Shape 18"/>
          <p:cNvSpPr/>
          <p:nvPr/>
        </p:nvSpPr>
        <p:spPr>
          <a:xfrm>
            <a:off x="548640" y="360273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739896"/>
            <a:ext cx="43891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3739896"/>
            <a:ext cx="438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H3</a:t>
            </a:r>
            <a:endParaRPr lang="es-CL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602736"/>
            <a:ext cx="72539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ahorro predomina, pero la mayoría de los interesados valora además otro motivo.</a:t>
            </a:r>
            <a:endParaRPr lang="es-CL" sz="1300" dirty="0"/>
          </a:p>
        </p:txBody>
      </p:sp>
      <p:sp>
        <p:nvSpPr>
          <p:cNvPr id="24" name="Shape 22"/>
          <p:cNvSpPr/>
          <p:nvPr/>
        </p:nvSpPr>
        <p:spPr>
          <a:xfrm>
            <a:off x="8899855" y="3712464"/>
            <a:ext cx="274320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1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8973007" y="3712464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850" spc="12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 DE UNA PROPORCIÓN</a:t>
            </a:r>
            <a:endParaRPr lang="es-CL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407822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4215384"/>
            <a:ext cx="43891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4215384"/>
            <a:ext cx="438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H4</a:t>
            </a:r>
            <a:endParaRPr lang="es-CL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188720" y="4078224"/>
            <a:ext cx="72539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barrera principal es la confianza (daño, revisión técnica o seguro), no el precio.</a:t>
            </a:r>
            <a:endParaRPr lang="es-CL" sz="1300" dirty="0"/>
          </a:p>
        </p:txBody>
      </p:sp>
      <p:sp>
        <p:nvSpPr>
          <p:cNvPr id="30" name="Shape 28"/>
          <p:cNvSpPr/>
          <p:nvPr/>
        </p:nvSpPr>
        <p:spPr>
          <a:xfrm>
            <a:off x="8899855" y="4187952"/>
            <a:ext cx="274320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1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8973007" y="4187952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850" spc="12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 DE UNA PROPORCIÓN</a:t>
            </a:r>
            <a:endParaRPr lang="es-CL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455371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4690872"/>
            <a:ext cx="43891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4690872"/>
            <a:ext cx="438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H5</a:t>
            </a:r>
            <a:endParaRPr lang="es-CL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188720" y="4553712"/>
            <a:ext cx="72539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Los respaldos externos verificables generan más confianza que los atributos del taller.</a:t>
            </a:r>
            <a:endParaRPr lang="es-CL" sz="1300" dirty="0"/>
          </a:p>
        </p:txBody>
      </p:sp>
      <p:sp>
        <p:nvSpPr>
          <p:cNvPr id="36" name="Shape 34"/>
          <p:cNvSpPr/>
          <p:nvPr/>
        </p:nvSpPr>
        <p:spPr>
          <a:xfrm>
            <a:off x="8899855" y="4663440"/>
            <a:ext cx="274320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1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8973007" y="4663440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850" spc="12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 PARA MUESTRAS RELACIONADAS</a:t>
            </a:r>
            <a:endParaRPr lang="es-CL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502920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5166360"/>
            <a:ext cx="43891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8640" y="5166360"/>
            <a:ext cx="438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H6</a:t>
            </a:r>
            <a:endParaRPr lang="es-CL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1188720" y="5029200"/>
            <a:ext cx="72539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 prefiere hibridar antes que convertir a gas, cambiar de auto o no hacer nada.</a:t>
            </a:r>
            <a:endParaRPr lang="es-CL" sz="1300" dirty="0"/>
          </a:p>
        </p:txBody>
      </p:sp>
      <p:sp>
        <p:nvSpPr>
          <p:cNvPr id="42" name="Shape 40"/>
          <p:cNvSpPr/>
          <p:nvPr/>
        </p:nvSpPr>
        <p:spPr>
          <a:xfrm>
            <a:off x="8899855" y="5138928"/>
            <a:ext cx="274320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1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8973007" y="5138928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850" spc="12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 DE UNA PROPORCIÓN</a:t>
            </a:r>
            <a:endParaRPr lang="es-CL" sz="850" dirty="0"/>
          </a:p>
        </p:txBody>
      </p:sp>
      <p:sp>
        <p:nvSpPr>
          <p:cNvPr id="44" name="Shape 42"/>
          <p:cNvSpPr/>
          <p:nvPr/>
        </p:nvSpPr>
        <p:spPr>
          <a:xfrm>
            <a:off x="548640" y="550468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5623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Significancia de 5%. Con una muestra por cuotas, no probabilística, los resultados son indicativos. La proporción de uso laboral que responda «definitivamente lo instalaría» se contrasta con los umbrales de 67%, 59% y 40% de la proyección.</a:t>
            </a:r>
            <a:endParaRPr lang="es-C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A2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POSICIONAMIENTO · DUDAS DEL CLIENTE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CUATRO DUDAS,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cuatro respaldos.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Ley N° 19.496; borrador de reglamento MTT (2021); elaboración propia (Informe Fase 3, Tabla N° 4).</a:t>
            </a:r>
            <a:endParaRPr lang="es-CL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2622728" cy="26060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478024"/>
            <a:ext cx="2256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¿Funciona?</a:t>
            </a:r>
            <a:endParaRPr lang="es-CL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227832"/>
            <a:ext cx="22569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Hasta 20% menos bencina en ciudad con Plus y hasta 15% con Esencial, estimado antes de pagar.</a:t>
            </a:r>
            <a:endParaRPr lang="es-CL" sz="1150" dirty="0"/>
          </a:p>
        </p:txBody>
      </p:sp>
      <p:sp>
        <p:nvSpPr>
          <p:cNvPr id="9" name="Shape 7"/>
          <p:cNvSpPr/>
          <p:nvPr/>
        </p:nvSpPr>
        <p:spPr>
          <a:xfrm>
            <a:off x="731520" y="4069080"/>
            <a:ext cx="22569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142232"/>
            <a:ext cx="225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RESPALDO</a:t>
            </a:r>
            <a:endParaRPr lang="es-CL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343400"/>
            <a:ext cx="2256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Estimador con intervalo, medición opcional de una semana y telemetría.</a:t>
            </a:r>
            <a:endParaRPr lang="es-CL" sz="1000" dirty="0"/>
          </a:p>
        </p:txBody>
      </p:sp>
      <p:sp>
        <p:nvSpPr>
          <p:cNvPr id="12" name="Shape 10"/>
          <p:cNvSpPr/>
          <p:nvPr/>
        </p:nvSpPr>
        <p:spPr>
          <a:xfrm>
            <a:off x="3372536" y="2331720"/>
            <a:ext cx="2622728" cy="26060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55416" y="2478024"/>
            <a:ext cx="2256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¿Le hace daño a mi auto?</a:t>
            </a:r>
            <a:endParaRPr lang="es-CL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555416" y="3227832"/>
            <a:ext cx="22569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 reemplaza el motor ni toca la transmisión ni la alimentación.</a:t>
            </a:r>
            <a:endParaRPr lang="es-CL" sz="1150" dirty="0"/>
          </a:p>
        </p:txBody>
      </p:sp>
      <p:sp>
        <p:nvSpPr>
          <p:cNvPr id="15" name="Shape 13"/>
          <p:cNvSpPr/>
          <p:nvPr/>
        </p:nvSpPr>
        <p:spPr>
          <a:xfrm>
            <a:off x="3555416" y="4069080"/>
            <a:ext cx="22569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55416" y="4142232"/>
            <a:ext cx="225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RESPALDO</a:t>
            </a:r>
            <a:endParaRPr lang="es-CL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3555416" y="4343400"/>
            <a:ext cx="2256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 conservan el circuito hidráulico y el ABS; garantía del taller (art. 18).</a:t>
            </a:r>
            <a:endParaRPr lang="es-CL" sz="1000" dirty="0"/>
          </a:p>
        </p:txBody>
      </p:sp>
      <p:sp>
        <p:nvSpPr>
          <p:cNvPr id="18" name="Shape 16"/>
          <p:cNvSpPr/>
          <p:nvPr/>
        </p:nvSpPr>
        <p:spPr>
          <a:xfrm>
            <a:off x="6196432" y="2331720"/>
            <a:ext cx="2622728" cy="26060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79312" y="2478024"/>
            <a:ext cx="2256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¿Pasa la revisión técnica?</a:t>
            </a:r>
            <a:endParaRPr lang="es-CL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379312" y="3227832"/>
            <a:ext cx="22569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auto sale del taller con certificado.</a:t>
            </a:r>
            <a:endParaRPr lang="es-CL" sz="1150" dirty="0"/>
          </a:p>
        </p:txBody>
      </p:sp>
      <p:sp>
        <p:nvSpPr>
          <p:cNvPr id="21" name="Shape 19"/>
          <p:cNvSpPr/>
          <p:nvPr/>
        </p:nvSpPr>
        <p:spPr>
          <a:xfrm>
            <a:off x="6379312" y="4069080"/>
            <a:ext cx="22569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79312" y="4142232"/>
            <a:ext cx="225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RESPALDO</a:t>
            </a:r>
            <a:endParaRPr lang="es-CL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6379312" y="4343400"/>
            <a:ext cx="2256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Firmado por el RT y verificado en planta (arts. 14 y 16), sujeto al reglamento.</a:t>
            </a:r>
            <a:endParaRPr lang="es-CL" sz="1000" dirty="0"/>
          </a:p>
        </p:txBody>
      </p:sp>
      <p:sp>
        <p:nvSpPr>
          <p:cNvPr id="24" name="Shape 22"/>
          <p:cNvSpPr/>
          <p:nvPr/>
        </p:nvSpPr>
        <p:spPr>
          <a:xfrm>
            <a:off x="9020327" y="2331720"/>
            <a:ext cx="2622728" cy="26060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03207" y="2478024"/>
            <a:ext cx="2256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¿Hay que enchufarlo?</a:t>
            </a:r>
            <a:endParaRPr lang="es-CL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9203207" y="3227832"/>
            <a:ext cx="22569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No.</a:t>
            </a:r>
            <a:endParaRPr lang="es-CL" sz="1150" dirty="0"/>
          </a:p>
        </p:txBody>
      </p:sp>
      <p:sp>
        <p:nvSpPr>
          <p:cNvPr id="27" name="Shape 25"/>
          <p:cNvSpPr/>
          <p:nvPr/>
        </p:nvSpPr>
        <p:spPr>
          <a:xfrm>
            <a:off x="9203207" y="4069080"/>
            <a:ext cx="22569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203207" y="4142232"/>
            <a:ext cx="225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RESPALDO</a:t>
            </a:r>
            <a:endParaRPr lang="es-CL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9203207" y="4343400"/>
            <a:ext cx="2256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batería se carga con el frenado.</a:t>
            </a:r>
            <a:endParaRPr lang="es-CL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2120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LÍMITES DE LA PROMESA · LO QUE LA MARCA NO DICE</a:t>
            </a:r>
            <a:endParaRPr lang="es-CL" sz="850" dirty="0"/>
          </a:p>
        </p:txBody>
      </p:sp>
      <p:sp>
        <p:nvSpPr>
          <p:cNvPr id="31" name="Shape 29"/>
          <p:cNvSpPr/>
          <p:nvPr/>
        </p:nvSpPr>
        <p:spPr>
          <a:xfrm>
            <a:off x="548640" y="5504688"/>
            <a:ext cx="164592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4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621792" y="5504688"/>
            <a:ext cx="1499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850" spc="12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«CERO EMISIONES»</a:t>
            </a:r>
            <a:endParaRPr lang="es-CL" sz="850" dirty="0"/>
          </a:p>
        </p:txBody>
      </p:sp>
      <p:sp>
        <p:nvSpPr>
          <p:cNvPr id="33" name="Shape 31"/>
          <p:cNvSpPr/>
          <p:nvPr/>
        </p:nvSpPr>
        <p:spPr>
          <a:xfrm>
            <a:off x="2322576" y="5504688"/>
            <a:ext cx="118872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4"/>
            </a:solidFill>
            <a:prstDash val="dash"/>
          </a:ln>
        </p:spPr>
      </p:sp>
      <p:sp>
        <p:nvSpPr>
          <p:cNvPr id="34" name="Text 32"/>
          <p:cNvSpPr txBox="1"/>
          <p:nvPr/>
        </p:nvSpPr>
        <p:spPr>
          <a:xfrm>
            <a:off x="2395728" y="5504688"/>
            <a:ext cx="1042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850" spc="12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«ECOLÓGICO»</a:t>
            </a:r>
            <a:endParaRPr lang="es-CL" sz="850" dirty="0"/>
          </a:p>
        </p:txBody>
      </p:sp>
      <p:sp>
        <p:nvSpPr>
          <p:cNvPr id="35" name="Shape 33"/>
          <p:cNvSpPr/>
          <p:nvPr/>
        </p:nvSpPr>
        <p:spPr>
          <a:xfrm>
            <a:off x="3639312" y="5504688"/>
            <a:ext cx="169164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4"/>
            </a:solidFill>
            <a:prstDash val="dash"/>
          </a:ln>
        </p:spPr>
      </p:sp>
      <p:sp>
        <p:nvSpPr>
          <p:cNvPr id="36" name="Text 34"/>
          <p:cNvSpPr txBox="1"/>
          <p:nvPr/>
        </p:nvSpPr>
        <p:spPr>
          <a:xfrm>
            <a:off x="3712464" y="5504688"/>
            <a:ext cx="1545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850" spc="12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«20% GARANTIZADO»</a:t>
            </a:r>
            <a:endParaRPr lang="es-CL" sz="850" dirty="0"/>
          </a:p>
        </p:txBody>
      </p:sp>
      <p:sp>
        <p:nvSpPr>
          <p:cNvPr id="37" name="Shape 35"/>
          <p:cNvSpPr/>
          <p:nvPr/>
        </p:nvSpPr>
        <p:spPr>
          <a:xfrm>
            <a:off x="5458968" y="5504688"/>
            <a:ext cx="256032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4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5532120" y="5504688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850" spc="12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«HOMOLOGADO» SIN REGLAMENTO</a:t>
            </a:r>
            <a:endParaRPr lang="es-CL" sz="850" dirty="0"/>
          </a:p>
        </p:txBody>
      </p:sp>
      <p:sp>
        <p:nvSpPr>
          <p:cNvPr id="39" name="Shape 37"/>
          <p:cNvSpPr/>
          <p:nvPr/>
        </p:nvSpPr>
        <p:spPr>
          <a:xfrm>
            <a:off x="8147304" y="5504688"/>
            <a:ext cx="301752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4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8220456" y="5504688"/>
            <a:ext cx="2871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850" spc="12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EXENCIÓN DE RESTRICCIÓN VEHICULAR</a:t>
            </a:r>
            <a:endParaRPr lang="es-CL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5870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Protegen la credibilidad y evitan la publicidad engañosa que sanciona la Ley N° 19.496.</a:t>
            </a:r>
            <a:endParaRPr lang="es-CL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A3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MIX DE MARKETING · RESUMEN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DOS LÍNEAS,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una misma mezcla.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8).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2331720"/>
            <a:ext cx="412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INSTALACIÓN AL CLIENTE FINAL</a:t>
            </a:r>
            <a:endParaRPr lang="es-CL" sz="850" dirty="0"/>
          </a:p>
        </p:txBody>
      </p:sp>
      <p:sp>
        <p:nvSpPr>
          <p:cNvPr id="7" name="Text 5"/>
          <p:cNvSpPr txBox="1"/>
          <p:nvPr/>
        </p:nvSpPr>
        <p:spPr>
          <a:xfrm>
            <a:off x="7513168" y="2331720"/>
            <a:ext cx="412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CERTIFICADA</a:t>
            </a:r>
            <a:endParaRPr lang="es-CL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734056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734056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715768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PRODUCTO</a:t>
            </a:r>
            <a:endParaRPr lang="es-CL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3108960" y="2715768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Kit Esencial o Plus certificado en una jornada; servicios incluidos; traslado y desinstalación con cargo.</a:t>
            </a:r>
            <a:endParaRPr lang="es-CL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513168" y="2715768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Licencia de patrones, kits, certificación anual y formación en Habilita.</a:t>
            </a:r>
            <a:endParaRPr lang="es-CL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33756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447288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44728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429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PRECIO</a:t>
            </a:r>
            <a:endParaRPr lang="es-CL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3108960" y="3429000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$4.290.000 y $4.990.000 con IVA, de referencia; cuotas con convenio.</a:t>
            </a:r>
            <a:endParaRPr lang="es-CL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513168" y="3429000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Paquete de entrada y cobros recurrentes por kit, certificación y técnico.</a:t>
            </a:r>
            <a:endParaRPr lang="es-CL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05079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4160520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4160520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414223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PLAZA</a:t>
            </a:r>
            <a:endParaRPr lang="es-CL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108960" y="4142232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Canal digital y talleres propios en la Región Metropolitana.</a:t>
            </a:r>
            <a:endParaRPr lang="es-CL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513168" y="4142232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Talleres con exclusividad comunal en las regiones.</a:t>
            </a:r>
            <a:endParaRPr lang="es-CL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76402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4873752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487375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s-CL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005840" y="485546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PROMOCIÓN</a:t>
            </a:r>
            <a:endParaRPr lang="es-CL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108960" y="4855464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Estimador, demostraciones, clientes piloto, casos medidos, referidos y mecánicos.</a:t>
            </a:r>
            <a:endParaRPr lang="es-CL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513168" y="4855464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Visitas, ferias del rubro y casos de la red.</a:t>
            </a:r>
            <a:endParaRPr lang="es-CL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47725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5586984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5586984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s-CL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005840" y="556869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PERSONAS, PROCESOS Y EVIDENCIA</a:t>
            </a:r>
            <a:endParaRPr lang="es-CL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3108960" y="5568696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Dúos con N3 o N4; flujo de cinco etapas; certificado, sello e informe de ahorro.</a:t>
            </a:r>
            <a:endParaRPr lang="es-CL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7513168" y="5568696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Técnicos validados por Lumine; proceso auditado cada año; sello de taller certificado.</a:t>
            </a:r>
            <a:endParaRPr lang="es-CL" sz="1150" dirty="0"/>
          </a:p>
        </p:txBody>
      </p:sp>
      <p:sp>
        <p:nvSpPr>
          <p:cNvPr id="38" name="Shape 36"/>
          <p:cNvSpPr/>
          <p:nvPr/>
        </p:nvSpPr>
        <p:spPr>
          <a:xfrm>
            <a:off x="548640" y="619048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A4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MIX · PRECIO PARA LA RED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INGRESO RECURRENTE: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96% del margen al año 5.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7). Montos netos; sin tarifas públicas de redes de talleres en Chile.</a:t>
            </a:r>
            <a:endParaRPr lang="es-CL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2622728" cy="24231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487168"/>
            <a:ext cx="2256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PAQUETE DE ENTRADA</a:t>
            </a:r>
            <a:endParaRPr lang="es-CL" sz="8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743200"/>
            <a:ext cx="2256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$7.140.000</a:t>
            </a:r>
            <a:endParaRPr lang="es-CL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310128"/>
            <a:ext cx="225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UNA VEZ</a:t>
            </a:r>
            <a:endParaRPr lang="es-CL" sz="750" dirty="0"/>
          </a:p>
        </p:txBody>
      </p:sp>
      <p:sp>
        <p:nvSpPr>
          <p:cNvPr id="10" name="Shape 8"/>
          <p:cNvSpPr/>
          <p:nvPr/>
        </p:nvSpPr>
        <p:spPr>
          <a:xfrm>
            <a:off x="731520" y="3584448"/>
            <a:ext cx="2256968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675888"/>
            <a:ext cx="2256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Exclusividad comunal, formación de dos técnicos y certificación del primer año: 15% menos que sus partes.</a:t>
            </a:r>
            <a:endParaRPr lang="es-CL" sz="1050" dirty="0"/>
          </a:p>
        </p:txBody>
      </p:sp>
      <p:sp>
        <p:nvSpPr>
          <p:cNvPr id="12" name="Shape 10"/>
          <p:cNvSpPr/>
          <p:nvPr/>
        </p:nvSpPr>
        <p:spPr>
          <a:xfrm>
            <a:off x="3372536" y="2331720"/>
            <a:ext cx="2622728" cy="242316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7672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7672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94680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50128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17672" y="48097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7672" y="46542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94680" y="48097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0128" y="46542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55416" y="2487168"/>
            <a:ext cx="2256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KIT CON LICENCIA</a:t>
            </a:r>
            <a:endParaRPr lang="es-CL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3555416" y="2743200"/>
            <a:ext cx="2256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$3.808.783</a:t>
            </a:r>
            <a:endParaRPr lang="es-CL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555416" y="3310128"/>
            <a:ext cx="225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INSTALACIÓN</a:t>
            </a:r>
            <a:endParaRPr lang="es-CL" sz="750" dirty="0"/>
          </a:p>
        </p:txBody>
      </p:sp>
      <p:sp>
        <p:nvSpPr>
          <p:cNvPr id="24" name="Shape 22"/>
          <p:cNvSpPr/>
          <p:nvPr/>
        </p:nvSpPr>
        <p:spPr>
          <a:xfrm>
            <a:off x="3555416" y="3584448"/>
            <a:ext cx="2256968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55416" y="3675888"/>
            <a:ext cx="2256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Plus; Esencial a $3.328.153. Kit al costo más 6% de manejo y licencia de $200.000 o $300.000.</a:t>
            </a:r>
            <a:endParaRPr lang="es-CL" sz="1050" dirty="0"/>
          </a:p>
        </p:txBody>
      </p:sp>
      <p:sp>
        <p:nvSpPr>
          <p:cNvPr id="26" name="Shape 24"/>
          <p:cNvSpPr/>
          <p:nvPr/>
        </p:nvSpPr>
        <p:spPr>
          <a:xfrm>
            <a:off x="6196432" y="2331720"/>
            <a:ext cx="2622728" cy="24231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79312" y="2487168"/>
            <a:ext cx="2256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CERTIFICACIÓN</a:t>
            </a:r>
            <a:endParaRPr lang="es-CL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6379312" y="2743200"/>
            <a:ext cx="2256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$2.400.000</a:t>
            </a:r>
            <a:endParaRPr lang="es-CL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6379312" y="3310128"/>
            <a:ext cx="225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ANUAL, DESDE EL AÑO 2</a:t>
            </a:r>
            <a:endParaRPr lang="es-CL" sz="750" dirty="0"/>
          </a:p>
        </p:txBody>
      </p:sp>
      <p:sp>
        <p:nvSpPr>
          <p:cNvPr id="30" name="Shape 28"/>
          <p:cNvSpPr/>
          <p:nvPr/>
        </p:nvSpPr>
        <p:spPr>
          <a:xfrm>
            <a:off x="6379312" y="3584448"/>
            <a:ext cx="2256968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79312" y="3675888"/>
            <a:ext cx="2256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Renovación de la certificación del proceso, auditado cada año.</a:t>
            </a:r>
            <a:endParaRPr lang="es-CL" sz="1050" dirty="0"/>
          </a:p>
        </p:txBody>
      </p:sp>
      <p:sp>
        <p:nvSpPr>
          <p:cNvPr id="32" name="Shape 30"/>
          <p:cNvSpPr/>
          <p:nvPr/>
        </p:nvSpPr>
        <p:spPr>
          <a:xfrm>
            <a:off x="9020327" y="2331720"/>
            <a:ext cx="2622728" cy="24231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203207" y="2487168"/>
            <a:ext cx="2256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LUMINE HABILITA</a:t>
            </a:r>
            <a:endParaRPr lang="es-CL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9203207" y="2743200"/>
            <a:ext cx="2256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$35.000</a:t>
            </a:r>
            <a:endParaRPr lang="es-CL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9203207" y="3310128"/>
            <a:ext cx="225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MENSUAL, POR TÉCNICO</a:t>
            </a:r>
            <a:endParaRPr lang="es-CL" sz="750" dirty="0"/>
          </a:p>
        </p:txBody>
      </p:sp>
      <p:sp>
        <p:nvSpPr>
          <p:cNvPr id="36" name="Shape 34"/>
          <p:cNvSpPr/>
          <p:nvPr/>
        </p:nvSpPr>
        <p:spPr>
          <a:xfrm>
            <a:off x="9203207" y="3584448"/>
            <a:ext cx="2256968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03207" y="3675888"/>
            <a:ext cx="2256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Suscripción a la plataforma de formación y validación.</a:t>
            </a:r>
            <a:endParaRPr lang="es-CL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5074920"/>
            <a:ext cx="541004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5230368"/>
            <a:ext cx="68580" cy="685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04088" y="5148072"/>
            <a:ext cx="5227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KIT, AL PRECIO DE REFERENCIA</a:t>
            </a:r>
            <a:endParaRPr lang="es-CL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5422392"/>
            <a:ext cx="541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Al taller le quedan $276.889 (Esencial) y $384.494 (Plus) para su jornada y su margen; a Lumine, $377.065 y $498.610.</a:t>
            </a:r>
            <a:endParaRPr lang="es-CL" sz="1150" dirty="0"/>
          </a:p>
        </p:txBody>
      </p:sp>
      <p:sp>
        <p:nvSpPr>
          <p:cNvPr id="42" name="Shape 40"/>
          <p:cNvSpPr/>
          <p:nvPr/>
        </p:nvSpPr>
        <p:spPr>
          <a:xfrm>
            <a:off x="6233008" y="5074920"/>
            <a:ext cx="541004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233008" y="5230368"/>
            <a:ext cx="68580" cy="685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388456" y="5148072"/>
            <a:ext cx="5227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AL QUINTO AÑO</a:t>
            </a:r>
            <a:endParaRPr lang="es-CL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6233008" y="5422392"/>
            <a:ext cx="541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42 talleres y 7.773 kits, 2,7 veces las instalaciones propias, sin activos fijos.</a:t>
            </a:r>
            <a:endParaRPr lang="es-CL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A5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DEMANDA · MERCADO Y ADOPCIÓN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162.780 VEHÍCULOS DE TECHO;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11,1% adoptado al año 5.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INE (2025); Centro UC en Emol (2026); Descubre (2026); Fielbaum y Tirachini (2021); Massiani y Gohs (2015).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SEGMENTO LABORAL · REGIÓN METROPOLITANA</a:t>
            </a:r>
            <a:endParaRPr lang="es-CL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517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Conductores de aplicación</a:t>
            </a:r>
            <a:endParaRPr lang="es-CL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0779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 propia</a:t>
            </a:r>
            <a:endParaRPr lang="es-CL" sz="750" dirty="0"/>
          </a:p>
        </p:txBody>
      </p:sp>
      <p:sp>
        <p:nvSpPr>
          <p:cNvPr id="9" name="Shape 7"/>
          <p:cNvSpPr/>
          <p:nvPr/>
        </p:nvSpPr>
        <p:spPr>
          <a:xfrm>
            <a:off x="548640" y="3108960"/>
            <a:ext cx="3931920" cy="1097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80560" y="281635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126.960</a:t>
            </a:r>
            <a:endParaRPr lang="es-CL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3101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Taxis básicos y de turismo</a:t>
            </a:r>
            <a:endParaRPr lang="es-CL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56616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INE (2025)</a:t>
            </a:r>
            <a:endParaRPr lang="es-CL" sz="750" dirty="0"/>
          </a:p>
        </p:txBody>
      </p:sp>
      <p:sp>
        <p:nvSpPr>
          <p:cNvPr id="13" name="Shape 11"/>
          <p:cNvSpPr/>
          <p:nvPr/>
        </p:nvSpPr>
        <p:spPr>
          <a:xfrm>
            <a:off x="548640" y="3767328"/>
            <a:ext cx="707287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80560" y="34747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22.838</a:t>
            </a:r>
            <a:endParaRPr lang="es-CL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9684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Taxis colectivos</a:t>
            </a:r>
            <a:endParaRPr lang="es-CL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2452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INE (2025)</a:t>
            </a:r>
            <a:endParaRPr lang="es-CL" sz="750" dirty="0"/>
          </a:p>
        </p:txBody>
      </p:sp>
      <p:sp>
        <p:nvSpPr>
          <p:cNvPr id="17" name="Shape 15"/>
          <p:cNvSpPr/>
          <p:nvPr/>
        </p:nvSpPr>
        <p:spPr>
          <a:xfrm>
            <a:off x="548640" y="4425696"/>
            <a:ext cx="402049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80560" y="413308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12.982</a:t>
            </a:r>
            <a:endParaRPr lang="es-CL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709160"/>
            <a:ext cx="512064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64024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Total  </a:t>
            </a:r>
            <a:pPr indent="0" marL="0">
              <a:buNone/>
            </a:pPr>
            <a:r>
              <a:rPr lang="es-CL" altLang="en-US" sz="2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162.780</a:t>
            </a:r>
            <a:endParaRPr lang="es-CL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257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Aplicaciones: 136.000 conductores de Uber y 115.000 de inDrive; DiDi y Cabify al 60% del promedio (supuesto). 401.600 cuentas ÷ 1,217 = 329.992 conductores; 38,47% en la RM.</a:t>
            </a:r>
            <a:endParaRPr lang="es-CL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2331720"/>
            <a:ext cx="55165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ADOPCIÓN ACUMULADA · BASS · p = 0,0026 · q = 0,709</a:t>
            </a:r>
            <a:endParaRPr lang="es-CL" sz="900" dirty="0"/>
          </a:p>
        </p:txBody>
      </p:sp>
      <p:graphicFrame>
        <p:nvGraphicFramePr>
          <p:cNvPr id="23" name="Adopción acumulada del segmento laboral" descr=""/>
          <p:cNvGraphicFramePr/>
          <p:nvPr/>
        </p:nvGraphicFramePr>
        <p:xfrm>
          <a:off x="6035040" y="2606040"/>
          <a:ext cx="5608015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6126480" y="5440680"/>
            <a:ext cx="5516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Bajo el 16% de innovadores y adoptadores tempranos. </a:t>
            </a:r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 solo el 67%, 59% o 40% del segmento fuera adoptante, la demanda aún cubriría la capacidad de los años 3, 4 y 5.</a:t>
            </a:r>
            <a:endParaRPr lang="es-C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A6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RECURSOS HUMANOS · PERFILES DE CARGO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CADA CARGO RESPONDE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por un resultado crítico.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13).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CARGO</a:t>
            </a:r>
            <a:endParaRPr lang="es-CL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23317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DEPENDE DE</a:t>
            </a:r>
            <a:endParaRPr lang="es-CL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23317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RESPONSABILIDAD CRÍTICA</a:t>
            </a:r>
            <a:endParaRPr lang="es-CL" sz="80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752344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58775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Gerente General</a:t>
            </a:r>
            <a:endParaRPr lang="es-CL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2587752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Accionistas</a:t>
            </a:r>
            <a:endParaRPr lang="es-CL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349240" y="2587752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Autorizar cada paso de crecimiento solo si la caja cubre nómina, kits e importaciones.</a:t>
            </a:r>
            <a:endParaRPr lang="es-CL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99008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154680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99008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Responsable Técnico</a:t>
            </a:r>
            <a:endParaRPr lang="es-CL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2990088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Gerencia</a:t>
            </a:r>
            <a:endParaRPr lang="es-CL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349240" y="2990088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Armar los dúos, validar ascensos y firmar cada vehículo certificado.</a:t>
            </a:r>
            <a:endParaRPr lang="es-CL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392424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557016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39242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Ingeniería de Calibración</a:t>
            </a:r>
            <a:endParaRPr lang="es-CL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3924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Gerencia</a:t>
            </a:r>
            <a:endParaRPr lang="es-CL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349240" y="3392424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Certificado de aptitud del Centro de Control y Certificación Vehicular (3CV) por modelo y ahorro real dentro del intervalo.</a:t>
            </a:r>
            <a:endParaRPr lang="es-CL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79476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3959352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3794760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y Postventa</a:t>
            </a:r>
            <a:endParaRPr lang="es-CL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291840" y="3794760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Gerencia</a:t>
            </a:r>
            <a:endParaRPr lang="es-CL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349240" y="3794760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Convertir cotizaciones en instalaciones sin prometer más ahorro que el estimador.</a:t>
            </a:r>
            <a:endParaRPr lang="es-CL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419709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361688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13232" y="4197096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Administración y Personas</a:t>
            </a:r>
            <a:endParaRPr lang="es-CL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3291840" y="4197096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Gerencia</a:t>
            </a:r>
            <a:endParaRPr lang="es-CL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349240" y="4197096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Que ninguna instalación espere un kit y que remuneraciones y cotizaciones estén al día.</a:t>
            </a:r>
            <a:endParaRPr lang="es-CL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599432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4764024"/>
            <a:ext cx="68580" cy="685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13232" y="459943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 Instalador (N1 a N4)</a:t>
            </a:r>
            <a:endParaRPr lang="es-CL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3291840" y="4599432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Responsable Técnico</a:t>
            </a:r>
            <a:endParaRPr lang="es-CL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349240" y="4599432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Cada instalación según el procedimiento, con las cinco reglas de oro en alta tensión.</a:t>
            </a:r>
            <a:endParaRPr lang="es-CL" sz="1050" dirty="0"/>
          </a:p>
        </p:txBody>
      </p:sp>
      <p:sp>
        <p:nvSpPr>
          <p:cNvPr id="39" name="Shape 37"/>
          <p:cNvSpPr/>
          <p:nvPr/>
        </p:nvSpPr>
        <p:spPr>
          <a:xfrm>
            <a:off x="548640" y="500176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8640" y="5166360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13232" y="500176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de Empresas</a:t>
            </a:r>
            <a:endParaRPr lang="es-CL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3291840" y="5001768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Gerencia</a:t>
            </a:r>
            <a:endParaRPr lang="es-CL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49240" y="5001768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Incorporar solo talleres que cumplan el reglamento y la cláusula comunal.</a:t>
            </a:r>
            <a:endParaRPr lang="es-CL" sz="1050" dirty="0"/>
          </a:p>
        </p:txBody>
      </p:sp>
      <p:sp>
        <p:nvSpPr>
          <p:cNvPr id="44" name="Shape 42"/>
          <p:cNvSpPr/>
          <p:nvPr/>
        </p:nvSpPr>
        <p:spPr>
          <a:xfrm>
            <a:off x="548640" y="5404104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8640" y="5568696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13232" y="540410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Asistente de Postventa</a:t>
            </a:r>
            <a:endParaRPr lang="es-CL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3291840" y="540410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y Postventa</a:t>
            </a:r>
            <a:endParaRPr lang="es-CL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349240" y="5404104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Que ninguna mantención ni garantía se pierda por falta de aviso o registro.</a:t>
            </a:r>
            <a:endParaRPr lang="es-CL" sz="1050" dirty="0"/>
          </a:p>
        </p:txBody>
      </p:sp>
      <p:sp>
        <p:nvSpPr>
          <p:cNvPr id="49" name="Shape 47"/>
          <p:cNvSpPr/>
          <p:nvPr/>
        </p:nvSpPr>
        <p:spPr>
          <a:xfrm>
            <a:off x="548640" y="580644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48640" y="5971032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13232" y="5806440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Asistente de Administración</a:t>
            </a:r>
            <a:endParaRPr lang="es-CL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3291840" y="5806440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Administración</a:t>
            </a:r>
            <a:endParaRPr lang="es-CL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349240" y="5806440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Despachar cada kit y batería con trazabilidad y documentación de carga peligrosa.</a:t>
            </a:r>
            <a:endParaRPr lang="es-CL" sz="1050" dirty="0"/>
          </a:p>
        </p:txBody>
      </p:sp>
      <p:sp>
        <p:nvSpPr>
          <p:cNvPr id="54" name="Shape 52"/>
          <p:cNvSpPr/>
          <p:nvPr/>
        </p:nvSpPr>
        <p:spPr>
          <a:xfrm>
            <a:off x="548640" y="620877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A7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RECURSOS HUMANOS · COMPENSACIONES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SUPERIOR GANA MÁS;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entre áreas decide la escasez.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ChileTrabajos (2026); Indeed Chile (2026); MiFuturo (2026); Ley N° 21.830; elaboración propia (Tablas N° 14 y 15).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 BRUTA MENSUAL · MILES DE PESOS · OCTUBRE 2026</a:t>
            </a:r>
            <a:endParaRPr lang="es-CL" sz="900" dirty="0"/>
          </a:p>
        </p:txBody>
      </p:sp>
      <p:graphicFrame>
        <p:nvGraphicFramePr>
          <p:cNvPr id="7" name="Renta bruta mensual por cargo" descr=""/>
          <p:cNvGraphicFramePr/>
          <p:nvPr/>
        </p:nvGraphicFramePr>
        <p:xfrm>
          <a:off x="457200" y="2587752"/>
          <a:ext cx="740664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62179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* MÁS COMISIÓN · CELESTE: TÉCNICOS · INCLUYEN GRATIFICACIÓN LEGAL</a:t>
            </a:r>
            <a:endParaRPr lang="es-CL" sz="750" dirty="0"/>
          </a:p>
        </p:txBody>
      </p:sp>
      <p:sp>
        <p:nvSpPr>
          <p:cNvPr id="9" name="Shape 6"/>
          <p:cNvSpPr/>
          <p:nvPr/>
        </p:nvSpPr>
        <p:spPr>
          <a:xfrm>
            <a:off x="8275320" y="2331720"/>
            <a:ext cx="3367735" cy="28346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0456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0456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542471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697919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220456" y="52212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220456" y="506577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542471" y="52212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697919" y="506577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76488" y="2487168"/>
            <a:ext cx="2965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BONO ÚNICO POR NIVEL VALIDADO</a:t>
            </a:r>
            <a:endParaRPr lang="es-CL" sz="850" dirty="0"/>
          </a:p>
        </p:txBody>
      </p:sp>
      <p:sp>
        <p:nvSpPr>
          <p:cNvPr id="19" name="Shape 16"/>
          <p:cNvSpPr/>
          <p:nvPr/>
        </p:nvSpPr>
        <p:spPr>
          <a:xfrm>
            <a:off x="8476488" y="2788920"/>
            <a:ext cx="2965399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476488" y="2898648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476488" y="289864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N2</a:t>
            </a:r>
            <a:endParaRPr lang="es-CL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9006840" y="2788920"/>
            <a:ext cx="24076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$200.000</a:t>
            </a:r>
            <a:endParaRPr lang="es-CL" sz="2000" dirty="0"/>
          </a:p>
        </p:txBody>
      </p:sp>
      <p:sp>
        <p:nvSpPr>
          <p:cNvPr id="23" name="Shape 20"/>
          <p:cNvSpPr/>
          <p:nvPr/>
        </p:nvSpPr>
        <p:spPr>
          <a:xfrm>
            <a:off x="8476488" y="3264408"/>
            <a:ext cx="2965399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476488" y="3374136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476488" y="3374136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N3</a:t>
            </a:r>
            <a:endParaRPr lang="es-CL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9006840" y="3264408"/>
            <a:ext cx="24076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$300.000</a:t>
            </a:r>
            <a:endParaRPr lang="es-CL" sz="2000" dirty="0"/>
          </a:p>
        </p:txBody>
      </p:sp>
      <p:sp>
        <p:nvSpPr>
          <p:cNvPr id="27" name="Shape 24"/>
          <p:cNvSpPr/>
          <p:nvPr/>
        </p:nvSpPr>
        <p:spPr>
          <a:xfrm>
            <a:off x="8476488" y="3739896"/>
            <a:ext cx="2965399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476488" y="3849624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476488" y="3849624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N4</a:t>
            </a:r>
            <a:endParaRPr lang="es-CL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9006840" y="3739896"/>
            <a:ext cx="24076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$350.000</a:t>
            </a:r>
            <a:endParaRPr lang="es-CL" sz="2000" dirty="0"/>
          </a:p>
        </p:txBody>
      </p:sp>
      <p:sp>
        <p:nvSpPr>
          <p:cNvPr id="31" name="Shape 28"/>
          <p:cNvSpPr/>
          <p:nvPr/>
        </p:nvSpPr>
        <p:spPr>
          <a:xfrm>
            <a:off x="8476488" y="4215384"/>
            <a:ext cx="2965399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476488" y="421538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Total por técnico</a:t>
            </a:r>
            <a:endParaRPr lang="es-CL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9006840" y="4215384"/>
            <a:ext cx="2407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$850.000</a:t>
            </a:r>
            <a:endParaRPr lang="es-CL" sz="2200" dirty="0"/>
          </a:p>
        </p:txBody>
      </p:sp>
      <p:sp>
        <p:nvSpPr>
          <p:cNvPr id="34" name="Text 31"/>
          <p:cNvSpPr txBox="1"/>
          <p:nvPr/>
        </p:nvSpPr>
        <p:spPr>
          <a:xfrm>
            <a:off x="8476488" y="4718304"/>
            <a:ext cx="29653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$929.730 con cargas (9,38%). Se paga solo con la validación presencial aprobada.</a:t>
            </a:r>
            <a:endParaRPr lang="es-CL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8275320" y="5349240"/>
            <a:ext cx="3367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Ninguna renta deja el sueldo base bajo el ingreso mínimo de $553.553: los asistentes ganan $692.000, el piso legal con gratificación.</a:t>
            </a:r>
            <a:endParaRPr lang="es-CL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A8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OPERACIONES · JORNADA DE INSTALACIÓN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UN VEHÍCULO POR JORNADA: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8,4 horas.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borrador de reglamento MTT (2021), arts. 11 y 12; elaboración propia (Informe Fase 3, Anexo N° 8). Tiempos estimados.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77440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DISTRIBUCIÓN DE LA JORNADA · HORAS · DÚO CON UN N3 Y UN N2 O SUPERIOR</a:t>
            </a:r>
            <a:endParaRPr lang="es-CL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2697480"/>
            <a:ext cx="491729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97480"/>
            <a:ext cx="528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s-CL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200400"/>
            <a:ext cx="528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0,4</a:t>
            </a:r>
            <a:endParaRPr lang="es-CL" sz="1400" dirty="0"/>
          </a:p>
        </p:txBody>
      </p:sp>
      <p:sp>
        <p:nvSpPr>
          <p:cNvPr id="10" name="Shape 8"/>
          <p:cNvSpPr/>
          <p:nvPr/>
        </p:nvSpPr>
        <p:spPr>
          <a:xfrm>
            <a:off x="1095233" y="2697480"/>
            <a:ext cx="491729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76945" y="2697480"/>
            <a:ext cx="528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s-CL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076945" y="3200400"/>
            <a:ext cx="528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0,4</a:t>
            </a:r>
            <a:endParaRPr lang="es-CL" sz="1400" dirty="0"/>
          </a:p>
        </p:txBody>
      </p:sp>
      <p:sp>
        <p:nvSpPr>
          <p:cNvPr id="13" name="Shape 11"/>
          <p:cNvSpPr/>
          <p:nvPr/>
        </p:nvSpPr>
        <p:spPr>
          <a:xfrm>
            <a:off x="1623539" y="2697480"/>
            <a:ext cx="432194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605251" y="2697480"/>
            <a:ext cx="435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spc="150" kern="0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s-CL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605251" y="3200400"/>
            <a:ext cx="435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3,3</a:t>
            </a:r>
            <a:endParaRPr lang="es-CL" sz="1400" dirty="0"/>
          </a:p>
        </p:txBody>
      </p:sp>
      <p:sp>
        <p:nvSpPr>
          <p:cNvPr id="16" name="Shape 14"/>
          <p:cNvSpPr/>
          <p:nvPr/>
        </p:nvSpPr>
        <p:spPr>
          <a:xfrm>
            <a:off x="5982059" y="2697480"/>
            <a:ext cx="2340799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63771" y="2697480"/>
            <a:ext cx="2377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spc="150" kern="0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s-CL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963771" y="3200400"/>
            <a:ext cx="2377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1,8</a:t>
            </a:r>
            <a:endParaRPr lang="es-CL" sz="1400" dirty="0"/>
          </a:p>
        </p:txBody>
      </p:sp>
      <p:sp>
        <p:nvSpPr>
          <p:cNvPr id="19" name="Shape 17"/>
          <p:cNvSpPr/>
          <p:nvPr/>
        </p:nvSpPr>
        <p:spPr>
          <a:xfrm>
            <a:off x="8359434" y="2697480"/>
            <a:ext cx="1020035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41146" y="2697480"/>
            <a:ext cx="10566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s-CL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341146" y="3200400"/>
            <a:ext cx="10566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</a:t>
            </a:r>
            <a:endParaRPr lang="es-CL" sz="1400" dirty="0"/>
          </a:p>
        </p:txBody>
      </p:sp>
      <p:sp>
        <p:nvSpPr>
          <p:cNvPr id="22" name="Shape 20"/>
          <p:cNvSpPr/>
          <p:nvPr/>
        </p:nvSpPr>
        <p:spPr>
          <a:xfrm>
            <a:off x="9416045" y="2697480"/>
            <a:ext cx="1284188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97757" y="2697480"/>
            <a:ext cx="13207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s-CL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397757" y="3200400"/>
            <a:ext cx="132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1,0</a:t>
            </a:r>
            <a:endParaRPr lang="es-CL" sz="1400" dirty="0"/>
          </a:p>
        </p:txBody>
      </p:sp>
      <p:sp>
        <p:nvSpPr>
          <p:cNvPr id="25" name="Shape 23"/>
          <p:cNvSpPr/>
          <p:nvPr/>
        </p:nvSpPr>
        <p:spPr>
          <a:xfrm>
            <a:off x="10736809" y="2697480"/>
            <a:ext cx="887959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718521" y="2697480"/>
            <a:ext cx="924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s-CL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0718521" y="3200400"/>
            <a:ext cx="924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0,7</a:t>
            </a:r>
            <a:endParaRPr lang="es-CL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34930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Montaje e integración (bloques 2 y 3) concentran 5,1 horas.</a:t>
            </a:r>
            <a:endParaRPr lang="es-CL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390448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s-CL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" y="3858768"/>
            <a:ext cx="422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Seguridad y preparación</a:t>
            </a:r>
            <a:endParaRPr lang="es-CL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227168" y="385876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0,4 H</a:t>
            </a:r>
            <a:endParaRPr lang="es-CL" sz="900" dirty="0"/>
          </a:p>
        </p:txBody>
      </p:sp>
      <p:sp>
        <p:nvSpPr>
          <p:cNvPr id="33" name="Shape 31"/>
          <p:cNvSpPr/>
          <p:nvPr/>
        </p:nvSpPr>
        <p:spPr>
          <a:xfrm>
            <a:off x="548640" y="4233672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423367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s-CL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005840" y="4187952"/>
            <a:ext cx="422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Recepción y diagnóstico</a:t>
            </a:r>
            <a:endParaRPr lang="es-CL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5227168" y="418795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0,4 H</a:t>
            </a:r>
            <a:endParaRPr lang="es-CL" sz="900" dirty="0"/>
          </a:p>
        </p:txBody>
      </p:sp>
      <p:sp>
        <p:nvSpPr>
          <p:cNvPr id="37" name="Shape 35"/>
          <p:cNvSpPr/>
          <p:nvPr/>
        </p:nvSpPr>
        <p:spPr>
          <a:xfrm>
            <a:off x="548640" y="4562856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48640" y="4562856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s-CL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1005840" y="4517136"/>
            <a:ext cx="422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Montaje mecánico y pesaje</a:t>
            </a:r>
            <a:endParaRPr lang="es-CL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5227168" y="45171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3,3 H</a:t>
            </a:r>
            <a:endParaRPr lang="es-CL" sz="900" dirty="0"/>
          </a:p>
        </p:txBody>
      </p:sp>
      <p:sp>
        <p:nvSpPr>
          <p:cNvPr id="41" name="Shape 39"/>
          <p:cNvSpPr/>
          <p:nvPr/>
        </p:nvSpPr>
        <p:spPr>
          <a:xfrm>
            <a:off x="548640" y="4892040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8640" y="4892040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s-CL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1005840" y="4846320"/>
            <a:ext cx="422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Integración y energización</a:t>
            </a:r>
            <a:endParaRPr lang="es-CL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5227168" y="484632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1,8 H</a:t>
            </a:r>
            <a:endParaRPr lang="es-CL" sz="900" dirty="0"/>
          </a:p>
        </p:txBody>
      </p:sp>
      <p:sp>
        <p:nvSpPr>
          <p:cNvPr id="45" name="Shape 43"/>
          <p:cNvSpPr/>
          <p:nvPr/>
        </p:nvSpPr>
        <p:spPr>
          <a:xfrm>
            <a:off x="6233008" y="3904488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233008" y="390448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s-CL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6690208" y="3858768"/>
            <a:ext cx="422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Calibración</a:t>
            </a:r>
            <a:endParaRPr lang="es-CL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10911535" y="385876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0,8 H</a:t>
            </a:r>
            <a:endParaRPr lang="es-CL" sz="900" dirty="0"/>
          </a:p>
        </p:txBody>
      </p:sp>
      <p:sp>
        <p:nvSpPr>
          <p:cNvPr id="49" name="Shape 47"/>
          <p:cNvSpPr/>
          <p:nvPr/>
        </p:nvSpPr>
        <p:spPr>
          <a:xfrm>
            <a:off x="6233008" y="4233672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233008" y="423367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s-CL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6690208" y="4187952"/>
            <a:ext cx="422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Pruebas</a:t>
            </a:r>
            <a:endParaRPr lang="es-CL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10911535" y="418795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1,0 H</a:t>
            </a:r>
            <a:endParaRPr lang="es-CL" sz="900" dirty="0"/>
          </a:p>
        </p:txBody>
      </p:sp>
      <p:sp>
        <p:nvSpPr>
          <p:cNvPr id="53" name="Shape 51"/>
          <p:cNvSpPr/>
          <p:nvPr/>
        </p:nvSpPr>
        <p:spPr>
          <a:xfrm>
            <a:off x="6233008" y="4562856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233008" y="4562856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s-CL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6690208" y="4517136"/>
            <a:ext cx="422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Documentación y traspaso</a:t>
            </a:r>
            <a:endParaRPr lang="es-CL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10911535" y="45171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0,7 H</a:t>
            </a:r>
            <a:endParaRPr lang="es-CL" sz="900" dirty="0"/>
          </a:p>
        </p:txBody>
      </p:sp>
      <p:sp>
        <p:nvSpPr>
          <p:cNvPr id="57" name="Shape 55"/>
          <p:cNvSpPr/>
          <p:nvPr/>
        </p:nvSpPr>
        <p:spPr>
          <a:xfrm>
            <a:off x="548640" y="5175504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248656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CUATRO PUNTOS DE CONTROL · SI NO SE CUMPLE, SE DETIENE</a:t>
            </a:r>
            <a:endParaRPr lang="es-CL" sz="850" dirty="0"/>
          </a:p>
        </p:txBody>
      </p:sp>
      <p:sp>
        <p:nvSpPr>
          <p:cNvPr id="59" name="Shape 57"/>
          <p:cNvSpPr/>
          <p:nvPr/>
        </p:nvSpPr>
        <p:spPr>
          <a:xfrm>
            <a:off x="548640" y="5550408"/>
            <a:ext cx="182880" cy="18288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04672" y="5504688"/>
            <a:ext cx="23964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¿Vehículo apto para instalar?</a:t>
            </a:r>
            <a:endParaRPr lang="es-CL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804672" y="5925312"/>
            <a:ext cx="23964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 reprograma; el cliente repara con su mecánico.</a:t>
            </a:r>
            <a:endParaRPr lang="es-CL" sz="950" dirty="0"/>
          </a:p>
        </p:txBody>
      </p:sp>
      <p:sp>
        <p:nvSpPr>
          <p:cNvPr id="62" name="Shape 60"/>
          <p:cNvSpPr/>
          <p:nvPr/>
        </p:nvSpPr>
        <p:spPr>
          <a:xfrm>
            <a:off x="3356534" y="5550408"/>
            <a:ext cx="182880" cy="18288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612566" y="5504688"/>
            <a:ext cx="23964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¿Masa ≤ 20% y reparto entre ejes ≤ 10%?</a:t>
            </a:r>
            <a:endParaRPr lang="es-CL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3612566" y="5925312"/>
            <a:ext cx="23964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 detiene; IC revisa la configuración.</a:t>
            </a:r>
            <a:endParaRPr lang="es-CL" sz="950" dirty="0"/>
          </a:p>
        </p:txBody>
      </p:sp>
      <p:sp>
        <p:nvSpPr>
          <p:cNvPr id="65" name="Shape 63"/>
          <p:cNvSpPr/>
          <p:nvPr/>
        </p:nvSpPr>
        <p:spPr>
          <a:xfrm>
            <a:off x="6164428" y="5550408"/>
            <a:ext cx="182880" cy="18288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6420460" y="5504688"/>
            <a:ext cx="23964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¿Aislación ≥ 100 Ω/V, sin puntos calientes?</a:t>
            </a:r>
            <a:endParaRPr lang="es-CL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6420460" y="5925312"/>
            <a:ext cx="23964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Desenergiza, corrige y repite la medición.</a:t>
            </a:r>
            <a:endParaRPr lang="es-CL" sz="950" dirty="0"/>
          </a:p>
        </p:txBody>
      </p:sp>
      <p:sp>
        <p:nvSpPr>
          <p:cNvPr id="68" name="Shape 66"/>
          <p:cNvSpPr/>
          <p:nvPr/>
        </p:nvSpPr>
        <p:spPr>
          <a:xfrm>
            <a:off x="8972321" y="5550408"/>
            <a:ext cx="182880" cy="18288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9228353" y="5504688"/>
            <a:ext cx="23964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¿Aprueba asistencia, regeneración y seguridad?</a:t>
            </a:r>
            <a:endParaRPr lang="es-CL" sz="1050" dirty="0"/>
          </a:p>
        </p:txBody>
      </p:sp>
      <p:sp>
        <p:nvSpPr>
          <p:cNvPr id="70" name="Text 68"/>
          <p:cNvSpPr txBox="1"/>
          <p:nvPr/>
        </p:nvSpPr>
        <p:spPr>
          <a:xfrm>
            <a:off x="9228353" y="5925312"/>
            <a:ext cx="23964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Corrige la calibración o el montaje.</a:t>
            </a:r>
            <a:endParaRPr lang="es-CL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A9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OPERACIONES · INVERSIÓN Y GASTO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LA INVERSIÓN SIGUE AL GATILLO;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gasto, al kit.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Dynojet Research (2016); Importadora JAK (2026); elaboración propia (Informe Fase 3, Tablas N° 18 y 19).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531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INVERSIÓN EN EQUIPAMIENTO · MILLONES DE PESOS</a:t>
            </a:r>
            <a:endParaRPr lang="es-CL" sz="900" dirty="0"/>
          </a:p>
        </p:txBody>
      </p:sp>
      <p:graphicFrame>
        <p:nvGraphicFramePr>
          <p:cNvPr id="7" name="Inversión en equipamiento por año" descr=""/>
          <p:cNvGraphicFramePr/>
          <p:nvPr/>
        </p:nvGraphicFramePr>
        <p:xfrm>
          <a:off x="457200" y="2606040"/>
          <a:ext cx="5410048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349240"/>
            <a:ext cx="5318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Total: $243,8 millones. Dinamómetro de chasis $36,7 M por local, a cotizar de nuevo; elevadores y herramientas entran con cada dúo.</a:t>
            </a:r>
            <a:endParaRPr lang="es-CL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324448" y="2331720"/>
            <a:ext cx="531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GASTO OPERACIONAL DE LA LÍNEA PROPIA · MILLONES</a:t>
            </a:r>
            <a:endParaRPr lang="es-CL" sz="900" dirty="0"/>
          </a:p>
        </p:txBody>
      </p:sp>
      <p:graphicFrame>
        <p:nvGraphicFramePr>
          <p:cNvPr id="10" name="Gasto operacional por año" descr=""/>
          <p:cNvGraphicFramePr/>
          <p:nvPr/>
        </p:nvGraphicFramePr>
        <p:xfrm>
          <a:off x="6233008" y="2606040"/>
          <a:ext cx="5410048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34176" y="5303520"/>
            <a:ext cx="1027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1.064,1</a:t>
            </a:r>
            <a:endParaRPr lang="es-CL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7461321" y="5303520"/>
            <a:ext cx="1027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2.945,4</a:t>
            </a:r>
            <a:endParaRPr lang="es-CL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8488467" y="5303520"/>
            <a:ext cx="1027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5.657,9</a:t>
            </a:r>
            <a:endParaRPr lang="es-CL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9515612" y="5303520"/>
            <a:ext cx="1027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7.623,5</a:t>
            </a:r>
            <a:endParaRPr lang="es-CL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10542758" y="5303520"/>
            <a:ext cx="1027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9.605,8</a:t>
            </a:r>
            <a:endParaRPr lang="es-CL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6324448" y="5623560"/>
            <a:ext cx="5318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kit explica más del 90% del gasto de cada año. Resto: arriendo, servicios, seguros, mantención, cursos, plataformas y garantía (3% del kit).</a:t>
            </a:r>
            <a:endParaRPr lang="es-CL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A10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OPERACIONES · SENSIBILIDAD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DÓLAR PESA MÁS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que el precio y la mezcla.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21). Dólar base $965,71.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RESULTADO DE LA LÍNEA PROPIA AL AÑO 5 · MILLONES DE PESOS</a:t>
            </a:r>
            <a:endParaRPr lang="es-CL" sz="900" dirty="0"/>
          </a:p>
        </p:txBody>
      </p:sp>
      <p:graphicFrame>
        <p:nvGraphicFramePr>
          <p:cNvPr id="7" name="Sensibilidad del resultado al quinto año" descr=""/>
          <p:cNvGraphicFramePr/>
          <p:nvPr/>
        </p:nvGraphicFramePr>
        <p:xfrm>
          <a:off x="457200" y="2587752"/>
          <a:ext cx="76809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5"/>
          <p:cNvSpPr/>
          <p:nvPr/>
        </p:nvSpPr>
        <p:spPr>
          <a:xfrm>
            <a:off x="8549640" y="2331720"/>
            <a:ext cx="3093415" cy="20116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94776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494776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42471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697919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494776" y="43982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494776" y="42428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542471" y="43982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697919" y="42428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750808" y="2487168"/>
            <a:ext cx="26910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MARGEN SOBRE VENTAS</a:t>
            </a:r>
            <a:endParaRPr lang="es-CL" sz="850" dirty="0"/>
          </a:p>
        </p:txBody>
      </p:sp>
      <p:sp>
        <p:nvSpPr>
          <p:cNvPr id="18" name="Shape 15"/>
          <p:cNvSpPr/>
          <p:nvPr/>
        </p:nvSpPr>
        <p:spPr>
          <a:xfrm>
            <a:off x="8750808" y="2788920"/>
            <a:ext cx="2691079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750808" y="278892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Base</a:t>
            </a:r>
            <a:endParaRPr lang="es-CL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0378440" y="2788920"/>
            <a:ext cx="106344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7,7%</a:t>
            </a:r>
            <a:endParaRPr lang="es-CL" sz="2000" dirty="0"/>
          </a:p>
        </p:txBody>
      </p:sp>
      <p:sp>
        <p:nvSpPr>
          <p:cNvPr id="21" name="Shape 18"/>
          <p:cNvSpPr/>
          <p:nvPr/>
        </p:nvSpPr>
        <p:spPr>
          <a:xfrm>
            <a:off x="8750808" y="3264408"/>
            <a:ext cx="2691079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750808" y="326440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+10%</a:t>
            </a:r>
            <a:endParaRPr lang="es-CL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378440" y="3264408"/>
            <a:ext cx="106344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accent4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0,8%</a:t>
            </a:r>
            <a:endParaRPr lang="es-CL" sz="2000" dirty="0"/>
          </a:p>
        </p:txBody>
      </p:sp>
      <p:sp>
        <p:nvSpPr>
          <p:cNvPr id="24" name="Shape 21"/>
          <p:cNvSpPr/>
          <p:nvPr/>
        </p:nvSpPr>
        <p:spPr>
          <a:xfrm>
            <a:off x="8750808" y="3739896"/>
            <a:ext cx="2691079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50808" y="3739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−10%</a:t>
            </a:r>
            <a:endParaRPr lang="es-CL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0378440" y="3739896"/>
            <a:ext cx="106344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14,6%</a:t>
            </a:r>
            <a:endParaRPr lang="es-CL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8549640" y="4526280"/>
            <a:ext cx="3093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Cada $10 de dólar mueve el costo del kit en $25.168 (Esencial) y $28.886 (Plus). El plan financiero deberá evaluar coberturas o precios indexados al dólar.</a:t>
            </a:r>
            <a:endParaRPr lang="es-CL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mine">
  <a:themeElements>
    <a:clrScheme name="Lumine">
      <a:dk1>
        <a:srgbClr val="ECECEC"/>
      </a:dk1>
      <a:lt1>
        <a:srgbClr val="020304"/>
      </a:lt1>
      <a:dk2>
        <a:srgbClr val="8B9598"/>
      </a:dk2>
      <a:lt2>
        <a:srgbClr val="0A0D0F"/>
      </a:lt2>
      <a:accent1>
        <a:srgbClr val="22B8F0"/>
      </a:accent1>
      <a:accent2>
        <a:srgbClr val="4ADE80"/>
      </a:accent2>
      <a:accent3>
        <a:srgbClr val="F5B94A"/>
      </a:accent3>
      <a:accent4>
        <a:srgbClr val="F87171"/>
      </a:accent4>
      <a:accent5>
        <a:srgbClr val="2E3438"/>
      </a:accent5>
      <a:accent6>
        <a:srgbClr val="101417"/>
      </a:accent6>
      <a:hlink>
        <a:srgbClr val="22B8F0"/>
      </a:hlink>
      <a:folHlink>
        <a:srgbClr val="0A6F9E"/>
      </a:folHlink>
    </a:clrScheme>
    <a:fontScheme name="Lumine">
      <a:majorFont>
        <a:latin typeface="Archivo SemiExpanded Extra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igtre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Lumine Motors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Fase 3 · Plan de Marketing, Operaciones y Recursos Humanos · Lumine Motors</dc:title>
  <dc:subject>Integrador II: Taller de Empresas · ICMA 1001 · Grupo 1</dc:subject>
  <dc:creator>Diego Alarcón, Benjamín Torres y Lukas Verdugo</dc:creator>
  <cp:lastModifiedBy>Diego Alarcón, Benjamín Torres y Lukas Verdugo</cp:lastModifiedBy>
  <cp:revision>1</cp:revision>
  <dcterms:created xsi:type="dcterms:W3CDTF">2026-10-17T02:09:35Z</dcterms:created>
  <dcterms:modified xsi:type="dcterms:W3CDTF">2026-10-17T02:09:35Z</dcterms:modified>
</cp:coreProperties>
</file>