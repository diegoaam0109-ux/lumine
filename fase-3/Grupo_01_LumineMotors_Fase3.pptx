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7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8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 · Diego Alarcón" id="{95495964-75bc-42f5-3541-7665812a1d07}">
          <p14:sldIdLst>
            <p14:sldId id="256"/>
            <p14:sldId id="257"/>
            <p14:sldId id="258"/>
            <p14:sldId id="259"/>
            <p14:sldId id="260"/>
          </p14:sldIdLst>
        </p14:section>
        <p14:section name="2 · Benjamín Torres" id="{1a9f5740-d3ab-d699-cbc1-056d5ed7845e}">
          <p14:sldIdLst>
            <p14:sldId id="261"/>
            <p14:sldId id="262"/>
            <p14:sldId id="263"/>
            <p14:sldId id="264"/>
            <p14:sldId id="265"/>
          </p14:sldIdLst>
        </p14:section>
        <p14:section name="3 · Lukas Verdugo" id="{5be8b5f4-f93e-b794-1a3c-11ae5d29b0ff}">
          <p14:sldIdLst>
            <p14:sldId id="266"/>
            <p14:sldId id="267"/>
            <p14:sldId id="268"/>
            <p14:sldId id="269"/>
            <p14:sldId id="270"/>
          </p14:sldIdLst>
        </p14:section>
        <p14:section name="Anexo" id="{13a21773-f2dd-217f-4cd7-96ea00544e72}">
          <p14:sldIdLst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Esencial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Colectivo</c:v>
                  </c:pt>
                  <c:pt idx="1">
                    <c:v>Aplicación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36.6</c:v>
                </c:pt>
                <c:pt idx="1">
                  <c:v>28.9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Plus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Colectivo</c:v>
                  </c:pt>
                  <c:pt idx="1">
                    <c:v>Aplicación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34.3</c:v>
                </c:pt>
                <c:pt idx="1">
                  <c:v>27.5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8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Demanda atendible</c:v>
                </c:pt>
              </c:strCache>
            </c:strRef>
          </c:tx>
          <c:spPr>
            <a:solidFill>
              <a:srgbClr val="2E3438"/>
            </a:solidFill>
            <a:effectLst/>
          </c:spPr>
          <c:invertIfNegative val="0"/>
          <c:dLbls>
            <c:numFmt formatCode="[&lt;2000]&quot;&quot;;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367</c:v>
                </c:pt>
                <c:pt idx="1">
                  <c:v>990</c:v>
                </c:pt>
                <c:pt idx="2">
                  <c:v>1971</c:v>
                </c:pt>
                <c:pt idx="3">
                  <c:v>3835</c:v>
                </c:pt>
                <c:pt idx="4">
                  <c:v>7137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Instalaciones propias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[&lt;2000]&quot;&quot;;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299</c:v>
                </c:pt>
                <c:pt idx="1">
                  <c:v>869</c:v>
                </c:pt>
                <c:pt idx="2">
                  <c:v>1674</c:v>
                </c:pt>
                <c:pt idx="3">
                  <c:v>2268</c:v>
                </c:pt>
                <c:pt idx="4">
                  <c:v>2851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Kits a la red</c:v>
                </c:pt>
              </c:strCache>
            </c:strRef>
          </c:tx>
          <c:spPr>
            <a:solidFill>
              <a:srgbClr val="0A6F9E"/>
            </a:solidFill>
            <a:effectLst/>
          </c:spPr>
          <c:invertIfNegative val="0"/>
          <c:dLbls>
            <c:numFmt formatCode="[&lt;2000]&quot;&quot;;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365</c:v>
                </c:pt>
                <c:pt idx="2">
                  <c:v>1074</c:v>
                </c:pt>
                <c:pt idx="3">
                  <c:v>3287</c:v>
                </c:pt>
                <c:pt idx="4">
                  <c:v>7773</c:v>
                </c:pt>
              </c:numCache>
            </c:numRef>
          </c:val>
        </c:ser>
        <c:dLbls>
          <c:numFmt formatCode="[&lt;2000]&quot;&quot;;#,##0" sourceLinked="0"/>
          <c:txPr>
            <a:bodyPr/>
            <a:lstStyle/>
            <a:p>
              <a:pPr>
                <a:defRPr b="1" i="0" strike="noStrike" sz="13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7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piloto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[&lt;14]&quot;&quot;;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49.47</c:v>
                </c:pt>
                <c:pt idx="1">
                  <c:v>23.75</c:v>
                </c:pt>
                <c:pt idx="2">
                  <c:v>23.75</c:v>
                </c:pt>
                <c:pt idx="3">
                  <c:v>23.75</c:v>
                </c:pt>
                <c:pt idx="4">
                  <c:v>23.75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Pauta digital</c:v>
                </c:pt>
              </c:strCache>
            </c:strRef>
          </c:tx>
          <c:spPr>
            <a:solidFill>
              <a:srgbClr val="0A6F9E"/>
            </a:solidFill>
            <a:effectLst/>
          </c:spPr>
          <c:invertIfNegative val="0"/>
          <c:dLbls>
            <c:numFmt formatCode="[&lt;14]&quot;&quot;;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14.4</c:v>
                </c:pt>
                <c:pt idx="1">
                  <c:v>18</c:v>
                </c:pt>
                <c:pt idx="2">
                  <c:v>24</c:v>
                </c:pt>
                <c:pt idx="3">
                  <c:v>24</c:v>
                </c:pt>
                <c:pt idx="4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Comisiones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[&lt;14]&quot;&quot;;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4.92</c:v>
                </c:pt>
                <c:pt idx="1">
                  <c:v>15.58</c:v>
                </c:pt>
                <c:pt idx="2">
                  <c:v>30.3</c:v>
                </c:pt>
                <c:pt idx="3">
                  <c:v>42.45</c:v>
                </c:pt>
                <c:pt idx="4">
                  <c:v>56.98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Otras</c:v>
                </c:pt>
              </c:strCache>
            </c:strRef>
          </c:tx>
          <c:spPr>
            <a:solidFill>
              <a:srgbClr val="2E3438"/>
            </a:solidFill>
            <a:effectLst/>
          </c:spPr>
          <c:invertIfNegative val="0"/>
          <c:dLbls>
            <c:numFmt formatCode="[&lt;14]&quot;&quot;;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20304"/>
                    </a:solidFill>
                    <a:latin typeface="IBM Plex Mon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12.15</c:v>
                </c:pt>
                <c:pt idx="1">
                  <c:v>22.65</c:v>
                </c:pt>
                <c:pt idx="2">
                  <c:v>38.22</c:v>
                </c:pt>
                <c:pt idx="3">
                  <c:v>44.14</c:v>
                </c:pt>
                <c:pt idx="4">
                  <c:v>52.96</c:v>
                </c:pt>
              </c:numCache>
            </c:numRef>
          </c:val>
        </c:ser>
        <c:dLbls>
          <c:numFmt formatCode="[&lt;14]&quot;&quot;;0" sourceLinked="0"/>
          <c:txPr>
            <a:bodyPr/>
            <a:lstStyle/>
            <a:p>
              <a:pPr>
                <a:defRPr b="1" i="0" strike="noStrike" sz="1300" u="none">
                  <a:solidFill>
                    <a:srgbClr val="020304"/>
                  </a:solidFill>
                  <a:latin typeface="IBM Plex Mon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Dotación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Pre</c:v>
                  </c:pt>
                  <c:pt idx="1">
                    <c:v>A1</c:v>
                  </c:pt>
                  <c:pt idx="2">
                    <c:v>A2</c:v>
                  </c:pt>
                  <c:pt idx="3">
                    <c:v>A3</c:v>
                  </c:pt>
                  <c:pt idx="4">
                    <c:v>A4</c:v>
                  </c:pt>
                  <c:pt idx="5">
                    <c:v>A5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13</c:v>
                </c:pt>
                <c:pt idx="2">
                  <c:v>21</c:v>
                </c:pt>
                <c:pt idx="3">
                  <c:v>33</c:v>
                </c:pt>
                <c:pt idx="4">
                  <c:v>40</c:v>
                </c:pt>
                <c:pt idx="5">
                  <c:v>56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6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Costo por instalación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508</c:v>
                </c:pt>
                <c:pt idx="1">
                  <c:v>306</c:v>
                </c:pt>
                <c:pt idx="2">
                  <c:v>257</c:v>
                </c:pt>
                <c:pt idx="3">
                  <c:v>253</c:v>
                </c:pt>
                <c:pt idx="4">
                  <c:v>265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8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Línea propia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-130.2</c:v>
                </c:pt>
                <c:pt idx="1">
                  <c:v>159.9</c:v>
                </c:pt>
                <c:pt idx="2">
                  <c:v>444.8</c:v>
                </c:pt>
                <c:pt idx="3">
                  <c:v>694.7</c:v>
                </c:pt>
                <c:pt idx="4">
                  <c:v>869.9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de talleres</c:v>
                </c:pt>
              </c:strCache>
            </c:strRef>
          </c:tx>
          <c:spPr>
            <a:solidFill>
              <a:srgbClr val="0A6F9E"/>
            </a:solidFill>
            <a:effectLst/>
          </c:spPr>
          <c:invertIfNegative val="0"/>
          <c:dLbls>
            <c:numFmt formatCode="#,##0;-#,##0;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142.1</c:v>
                </c:pt>
                <c:pt idx="2">
                  <c:v>415.2</c:v>
                </c:pt>
                <c:pt idx="3">
                  <c:v>1233.2</c:v>
                </c:pt>
                <c:pt idx="4">
                  <c:v>2889.5</c:v>
                </c:pt>
              </c:numCache>
            </c:numRef>
          </c:val>
        </c:ser>
        <c:dLbls>
          <c:numFmt formatCode="#,##0;-#,##0;;" sourceLinked="0"/>
          <c:txPr>
            <a:bodyPr/>
            <a:lstStyle/>
            <a:p>
              <a:pPr>
                <a:defRPr b="1" i="0" strike="noStrike" sz="13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0"/>
          <c:min val="-5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8B9598"/>
              </a:solidFill>
              <a:latin typeface="IBM Plex Mono"/>
              <a:cs typeface="IBM Plex Mono"/>
            </a:defRPr>
          </a:pPr>
          <a:endParaRPr lang="en-US"/>
        </a:p>
      </c:txPr>
    </c:legend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Adopción acumulada</c:v>
                </c:pt>
              </c:strCache>
            </c:strRef>
          </c:tx>
          <c:spPr>
            <a:solidFill>
              <a:srgbClr val="22B8F0"/>
            </a:solidFill>
            <a:ln w="38100" cap="flat">
              <a:solidFill>
                <a:srgbClr val="22B8F0"/>
              </a:solidFill>
              <a:prstDash val="solid"/>
              <a:round/>
            </a:ln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22B8F0"/>
              </a:solidFill>
              <a:ln w="9525" cap="flat">
                <a:solidFill>
                  <a:srgbClr val="22B8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0.0038</c:v>
                </c:pt>
                <c:pt idx="1">
                  <c:v>0.0114</c:v>
                </c:pt>
                <c:pt idx="2">
                  <c:v>0.0265</c:v>
                </c:pt>
                <c:pt idx="3">
                  <c:v>0.056</c:v>
                </c:pt>
                <c:pt idx="4">
                  <c:v>0.1108</c:v>
                </c:pt>
              </c:numCache>
            </c:numRef>
          </c:val>
          <c:smooth val="0"/>
        </c:ser>
        <c:dLbls>
          <c:numFmt formatCode="0.0%" sourceLinked="0"/>
          <c:txPr>
            <a:bodyPr/>
            <a:lstStyle/>
            <a:p>
              <a:pPr>
                <a:defRPr b="1" i="0" strike="noStrike" sz="15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Renta bruta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Gerente General</c:v>
                  </c:pt>
                  <c:pt idx="1">
                    <c:v>Responsable Técnico</c:v>
                  </c:pt>
                  <c:pt idx="2">
                    <c:v>Calibración</c:v>
                  </c:pt>
                  <c:pt idx="3">
                    <c:v>Técnico N4</c:v>
                  </c:pt>
                  <c:pt idx="4">
                    <c:v>Técnico N3</c:v>
                  </c:pt>
                  <c:pt idx="5">
                    <c:v>Administración</c:v>
                  </c:pt>
                  <c:pt idx="6">
                    <c:v>Comercial</c:v>
                  </c:pt>
                  <c:pt idx="7">
                    <c:v>Técnico N1</c:v>
                  </c:pt>
                  <c:pt idx="8">
                    <c:v>Asistentes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2000</c:v>
                </c:pt>
                <c:pt idx="1">
                  <c:v>1800</c:v>
                </c:pt>
                <c:pt idx="2">
                  <c:v>1700</c:v>
                </c:pt>
                <c:pt idx="3">
                  <c:v>1150</c:v>
                </c:pt>
                <c:pt idx="4">
                  <c:v>1000</c:v>
                </c:pt>
                <c:pt idx="5">
                  <c:v>900</c:v>
                </c:pt>
                <c:pt idx="6">
                  <c:v>850</c:v>
                </c:pt>
                <c:pt idx="7">
                  <c:v>750</c:v>
                </c:pt>
                <c:pt idx="8">
                  <c:v>692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Inversión</c:v>
                </c:pt>
              </c:strCache>
            </c:strRef>
          </c:tx>
          <c:spPr>
            <a:solidFill>
              <a:srgbClr val="22B8F0"/>
            </a:solidFill>
            <a:effectLst/>
          </c:spPr>
          <c:invertIfNegative val="0"/>
          <c:dLbls>
            <c:numFmt formatCode="0;;&quot;—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71.2</c:v>
                </c:pt>
                <c:pt idx="1">
                  <c:v>10.1</c:v>
                </c:pt>
                <c:pt idx="2">
                  <c:v>81.3</c:v>
                </c:pt>
                <c:pt idx="3">
                  <c:v>0</c:v>
                </c:pt>
                <c:pt idx="4">
                  <c:v>81.3</c:v>
                </c:pt>
              </c:numCache>
            </c:numRef>
          </c:val>
        </c:ser>
        <c:dLbls>
          <c:numFmt formatCode="0;;&quot;—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Gasto operacional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Año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1064.1</c:v>
                </c:pt>
                <c:pt idx="1">
                  <c:v>2945.4</c:v>
                </c:pt>
                <c:pt idx="2">
                  <c:v>5657.9</c:v>
                </c:pt>
                <c:pt idx="3">
                  <c:v>7623.5</c:v>
                </c:pt>
                <c:pt idx="4">
                  <c:v>9605.8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Resultado</c:v>
                </c:pt>
              </c:strCache>
            </c:strRef>
          </c:tx>
          <c:spPr>
            <a:solidFill>
              <a:srgbClr val="8B959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500" u="none">
                    <a:solidFill>
                      <a:srgbClr val="ECECEC"/>
                    </a:solidFill>
                    <a:latin typeface="IBM Plex Mon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B8F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959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Dólar −10%</c:v>
                  </c:pt>
                  <c:pt idx="1">
                    <c:v>Precio +5%</c:v>
                  </c:pt>
                  <c:pt idx="2">
                    <c:v>Plus 80%</c:v>
                  </c:pt>
                  <c:pt idx="3">
                    <c:v>Base</c:v>
                  </c:pt>
                  <c:pt idx="4">
                    <c:v>Plus 40%</c:v>
                  </c:pt>
                  <c:pt idx="5">
                    <c:v>Precio −5%</c:v>
                  </c:pt>
                  <c:pt idx="6">
                    <c:v>Dólar +10%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1646.9</c:v>
                </c:pt>
                <c:pt idx="1">
                  <c:v>1433</c:v>
                </c:pt>
                <c:pt idx="2">
                  <c:v>993.7</c:v>
                </c:pt>
                <c:pt idx="3">
                  <c:v>869.9</c:v>
                </c:pt>
                <c:pt idx="4">
                  <c:v>746.1</c:v>
                </c:pt>
                <c:pt idx="5">
                  <c:v>306.9</c:v>
                </c:pt>
                <c:pt idx="6">
                  <c:v>92.9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500" u="none">
                  <a:solidFill>
                    <a:srgbClr val="ECECEC"/>
                  </a:solidFill>
                  <a:latin typeface="IBM Plex Mon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E343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CECEC"/>
                </a:solidFill>
                <a:latin typeface="IBM Plex Mon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5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598"/>
                </a:solidFill>
                <a:latin typeface="IBM Plex Mono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20304"/>
        </a:solidFill>
        <a:ln>
          <a:noFill/>
        </a:ln>
        <a:effectLst/>
      </c:spPr>
    </c:plotArea>
    <c:plotVisOnly val="1"/>
    <c:dispBlanksAs val="span"/>
  </c:chart>
  <c:spPr>
    <a:solidFill>
      <a:srgbClr val="02030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30 s
Buenos días. Somos Diego Alarcón, Benjamín Torres y Lukas Verdugo, y les presentamos el capítulo tres de Lumine Motors: los planes de marketing, recursos humanos y operaciones. Los tres comparten un mismo gatillo, así que un cambio en la demanda mueve el plan completo. Yo parto con los objetivos y el mercado, Benjamín sigue con la estrategia comercial y Lukas cierra con las personas y las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40 s
El objetivo general es que en cinco años Lumine sea la referencia de la hibridación de posventa en Chile, con tres talleres propios en la Región Metropolitana y una red certificada en todas las regiones. Las metas del primer año siguen al cliente: instalar al menos 299 vehículos, publicar tres casos con ahorro medido en nueve meses, llegar a 80% de clientes satisfechos y a 15% de clientes por recomendación. La meta de cotizaciones está por confirmar, porque depende de la tasa de conversión que mida la investigación.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35 s
¿A quién le vendemos? El cliente no se define por su edad, su ingreso ni la antigüedad de su auto, sino por tener un vehículo compatible: liviano, a combustión y con tracción delantera, porque el kit va en el eje trasero. De las cuatro variables, la decisiva es la conductual: la intensidad y el tipo de uso fijan en cuánto tiempo el ahorro paga la inversión. Por eso entramos por el uso laboral de alta intensidad: colectivos, taxis y aplicaciones.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35 s
Nada de esto se le ha preguntado aún a un conductor, así que la investigación es mixta y secuencial: primero entrevistas a cuatro expertos y a cinco perfiles de clientes, después una encuesta por cuotas a 150 personas, con 100 como mínimo. Como no es aleatoria, los resultados serán indicativos. Pone a prueba seis hipótesis; por ejemplo, que la barrera principal es la confianza y no el precio. Hasta ahora hicimos la entrevista exploratoria; el resto está por realizar.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DIEGO ALARCÓN · 50 s
En la matriz de Ansoff, Lumine entra por desarrollo de producto: el mercado existe, porque los conductores ya buscan gastar menos, pero la hibridación aditiva no tiene oferta en Chile. En el año 2 viene la penetración y, antes de lo habitual, la diversificación relacionada: vender patrones de calibración, kits y certificación a otros talleres, porque la exclusividad de la calibración se agota con el tiempo. En el año 3 llega el desarrollo de mercado. Y nuestra ventaja competitiva, sostenible en el tiempo, es la biblioteca de calibraciones por modelo: crece con cada instalación y es lo más difícil de copiar. Le paso la palabra a Benjamín.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35 s
Gracias, Diego. Este mapa ordena las alternativas por inversión y por lo que exigen al conductor. El híbrido usado y el eléctrico nuevo obligan a cambiar de auto y cuestan sobre 9 millones. La conversión a gas es barata, pero tiene límite de antigüedad. No hacer nada no cuesta, pero tampoco ahorra. Lumine queda sola en el espacio vacío: gastar menos sin cambiar de auto y sin límite de antigüedad. El concepto: el mismo auto, ahora híbrido.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35 s
En el mix de marketing, el cliente conoce su ahorro antes de pagar y lo comprueba después. El kit tiene dos versiones. Esencial cuesta 4.290.000 pesos con IVA y promete hasta 15% menos bencina; Plus cuesta 4.990.000 y hasta 20%. Plus vale 16% más, pero ahorra 24% más al colectivo, así que cada punto de ahorro sale más barato, y el colectivo recupera la inversión en 34 meses. Son precios de referencia que la encuesta debe validar.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35 s
El segmento laboral de la Región Metropolitana suma 162.780 vehículos. Con el modelo de Bass, la adopción llega a 11,1% al quinto año, por debajo del 16% de los primeros adoptantes. Pero el pronóstico es el menor entre demanda y capacidad, y desde el primer año la demanda atendible supera lo que podemos instalar: 299 vehículos el primer año y 2.851 al quinto. Lo que no alcanzamos a instalar lo atiende la red: 7.773 kits al quinto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40 s
El presupuesto de marketing se arma por objetivo y tarea, no como un porcentaje de ventas que aún no existen. El primer año invierte 80,9 millones de pesos, el 6,8% de los ingresos propios, porque concentra el lanzamiento y 25 clientes piloto con 50% de descuento a cambio de su caso medido. Desde el segundo año baja a 2,3% de los ingresos, y desde el tercero la partida mayor son las comisiones, que siguen a las instalaciones. En cinco años, el marketing suma 575 millones.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BENJAMÍN TORRES · 45 s
Para atender esa demanda, la estructura es funcional y sin mandos intermedios: cinco áreas que responden a la Gerencia General. La estructura no cambia con el crecimiento; cambia cuántas personas hay en cada cargo, y nadie se contrata antes de que la carga lo justifique. Ingeniería de Calibración depende de la Gerencia y no del taller, porque la biblioteca sostiene la ventaja. Así el equipo pasa de 13 personas al cierre del primer año a 56 al quinto, y casi dos de cada tres son técnicos. Lukas sigue con las personas y las operaciones.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35 s
Gracias, Benjamín. El oficio escasea en Chile, así que los técnicos se forman en casa con Lumine Habilita: 39 competencias, cuatro niveles y 392 horas. Con formación intensiva, un técnico nuevo llega al nivel 4 en unos ocho meses. La nómina sube de 152 a 755 millones en cinco años, pero el costo por instalación cae a la mitad, de 508 mil pesos a 253 mil en el cuarto año, porque los cargos fijos se reparten en más autos.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35 s
El flujo sigue a un vehículo desde la cotización hasta el fin de vida de la batería, en cinco etapas. Una regla lo atraviesa: el negocio mide y recomienda, pero la decisión de instalar es siempre del cliente. Solo se detiene por razones técnicas. La instalación toma una jornada de 8,4 horas con cuatro puntos de control, y el límite de capacidad son las horas de los dúos: un dinamómetro por local alcanza incluso para seis dúos.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40 s
La Carta Gantt apunta a abrir en enero de 2027. En los tres meses previos se homologa el primer modelo y se forma el primer dúo. Pero el eslabón crítico es externo: el reglamento de la Ley 21.793 sigue pendiente, y sin él no hay certificado ni venta legal. Los dúos entran según la demanda, del segundo en el mes 6 al sexto en el mes 20; el segundo taller abre en el mes 25, el tercero en el 49, y la red crece de 3 a 42 talleres.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35 s
Cada local con seis puestos requiere 81 millones de inversión, casi la mitad en el dinamómetro, y el kit explica más del 90% del gasto operacional. Con los tres presupuestos, la línea propia pierde 130 millones en el lanzamiento y gana desde el segundo año, hasta un margen de 7,7%. La red rinde cerca de 10%. El riesgo mayor es el dólar: un alza de 10% casi borra el resultado propio del quinto año.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LUKAS VERDUGO · 45 s
Para cerrar, tres conclusiones. Primero, la oportunidad existe: desde el primer año hay más demanda que capacidad. Segundo, hay espacio competitivo: somos la única alternativa que ahorra sin cambiar de auto, y la red vende la calibración mientras sigue siendo exclusiva. Tercero, los tres planes se mueven con un mismo gatillo, la demanda sobre el 80% de la capacidad, y cada línea gana desde el segundo año. Quedan dos preguntas: si el reglamento admitirá el kit y desde cuándo, y si el ahorro medido y la encuesta confirman los precios. Muchas gracias; quedamos atentos a sus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· No se presenta. Cada tema tiene un enlace a su diapositiva; cada diapositiva del anexo tiene un enlace de vuelta a este índice.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A1 · Solo si preguntan.
Las seis hipótesis con su prueba estadística (Tabla N° 3); significancia de 5%, resultados indicativos por la muestra por cuotas.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A2 · Solo si preguntan.
¿Funciona?, ¿daña mi auto?, ¿pasa la revisión técnica?, ¿hay que enchufarlo? (Tabla N° 4) y los límites de la promesa.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A3 · Solo si preguntan.
Las siete variables para el cliente final y para la red certificada (Tabla N°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A4 · Solo si preguntan.
Paquete de entrada, kit con licencia, certificación anual y suscripción a Habilita (Tabla N°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A5 · Solo si preguntan.
TAM, SAM y segmento laboral (Tabla N° 9) y la curva de Bass con su respaldo (Anexo N°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A6 · Solo si preguntan.
Dependencia y responsabilidad crítica de cada cargo (Tabla N°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A7 · Solo si preguntan.
Renta bruta mensual por cargo frente al mercado (Tabla N° 14) y bono único por nivel validado (Tabla N° 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A8 · Solo si preguntan.
Los siete bloques de la jornada de 8,4 horas y sus cuatro puntos de control (Anexo N°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A9 · Solo si preguntan.
Inversión en equipamiento por año (Tabla N° 18) y gasto operacional de la línea propia (Tabla N° 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A10 · Solo si preguntan.
Resultado de la línea propia al quinto año con dólar, proporción de Plus y precio (Tabla N° 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PORTADA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image" Target="../media/CIERRE-image-3.jpe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481328"/>
            <a:ext cx="11094415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86000"/>
              </a:lnSpc>
              <a:buNone/>
              <a:defRPr lang="en-US" sz="6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defRPr>
            </a:lvl1pPr>
          </a:lstStyle>
          <a:p>
            <a:pPr algn="ctr" indent="0" marL="0">
              <a:lnSpc>
                <a:spcPct val="86000"/>
              </a:lnSpc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0" y="365760"/>
            <a:ext cx="5973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INTEGRADOR II · ICMA 1001 · GRUPO 1</a:t>
            </a:r>
            <a:endParaRPr lang="en-US" sz="9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88000"/>
              </a:lnSpc>
              <a:buNone/>
              <a:def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defRPr>
            </a:lvl1pPr>
          </a:lstStyle>
          <a:p>
            <a:pPr algn="l" indent="0" marL="0">
              <a:lnSpc>
                <a:spcPct val="88000"/>
              </a:lnSpc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umine Mo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984563" cy="201168"/>
          </a:xfrm>
          <a:prstGeom prst="rect">
            <a:avLst/>
          </a:prstGeom>
        </p:spPr>
      </p:pic>
      <p:pic>
        <p:nvPicPr>
          <p:cNvPr id="3" name="Image 1" descr="LUM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224528"/>
            <a:ext cx="11094415" cy="1823739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325880"/>
            <a:ext cx="11094415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8.xml"/><Relationship Id="rId5" Type="http://schemas.openxmlformats.org/officeDocument/2006/relationships/slide" Target="slide19.xml"/><Relationship Id="rId6" Type="http://schemas.openxmlformats.org/officeDocument/2006/relationships/slide" Target="slide19.xml"/><Relationship Id="rId7" Type="http://schemas.openxmlformats.org/officeDocument/2006/relationships/slide" Target="slide20.xml"/><Relationship Id="rId8" Type="http://schemas.openxmlformats.org/officeDocument/2006/relationships/slide" Target="slide20.xml"/><Relationship Id="rId9" Type="http://schemas.openxmlformats.org/officeDocument/2006/relationships/slide" Target="slide21.xml"/><Relationship Id="rId10" Type="http://schemas.openxmlformats.org/officeDocument/2006/relationships/slide" Target="slide21.xml"/><Relationship Id="rId11" Type="http://schemas.openxmlformats.org/officeDocument/2006/relationships/slide" Target="slide22.xml"/><Relationship Id="rId12" Type="http://schemas.openxmlformats.org/officeDocument/2006/relationships/slide" Target="slide22.xml"/><Relationship Id="rId13" Type="http://schemas.openxmlformats.org/officeDocument/2006/relationships/slide" Target="slide23.xml"/><Relationship Id="rId14" Type="http://schemas.openxmlformats.org/officeDocument/2006/relationships/slide" Target="slide23.xml"/><Relationship Id="rId15" Type="http://schemas.openxmlformats.org/officeDocument/2006/relationships/slide" Target="slide24.xml"/><Relationship Id="rId16" Type="http://schemas.openxmlformats.org/officeDocument/2006/relationships/slide" Target="slide24.xml"/><Relationship Id="rId17" Type="http://schemas.openxmlformats.org/officeDocument/2006/relationships/slide" Target="slide25.xml"/><Relationship Id="rId18" Type="http://schemas.openxmlformats.org/officeDocument/2006/relationships/slide" Target="slide25.xml"/><Relationship Id="rId19" Type="http://schemas.openxmlformats.org/officeDocument/2006/relationships/slide" Target="slide26.xml"/><Relationship Id="rId20" Type="http://schemas.openxmlformats.org/officeDocument/2006/relationships/slide" Target="slide26.xml"/><Relationship Id="rId21" Type="http://schemas.openxmlformats.org/officeDocument/2006/relationships/slideLayout" Target="../slideLayouts/slideLayout3.xml"/><Relationship Id="rId2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16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0" y="365760"/>
            <a:ext cx="5059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9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UNAB · OCTUBRE 2026</a:t>
            </a:r>
            <a:endParaRPr lang="es-CL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FASE 3 · CAPÍTULO III: PLAN DE MARKETING, OPERACIONES Y RECURSOS HUMANOS</a:t>
            </a:r>
            <a:endParaRPr lang="es-CL" sz="10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481328"/>
            <a:ext cx="11094415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6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LUMINE MOTORS</a:t>
            </a:r>
            <a:endParaRPr lang="en-US" sz="6000" dirty="0"/>
          </a:p>
          <a:p>
            <a:pPr algn="ctr" indent="0" marL="0">
              <a:lnSpc>
                <a:spcPct val="86000"/>
              </a:lnSpc>
              <a:buNone/>
            </a:pPr>
            <a:r>
              <a:rPr lang="en-US" sz="76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reconversión híbrida.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4670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Kit que hibrida autos a combustión de tracción delantera para gastar menos bencina sin cambiar de auto.</a:t>
            </a:r>
            <a:endParaRPr lang="es-CL" sz="1700" dirty="0"/>
          </a:p>
        </p:txBody>
      </p:sp>
      <p:pic>
        <p:nvPicPr>
          <p:cNvPr id="6" name="Image 0" descr="Plano del kit Lumine: auto en vista lateral con el motor eléctrico en el eje traser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5528" y="3767328"/>
            <a:ext cx="5120640" cy="15788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544068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55504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UNIVERSIDAD</a:t>
            </a:r>
            <a:endParaRPr lang="es-CL" sz="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751576"/>
            <a:ext cx="6629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Universidad Andrés Bello · Facultad de Economía y Negocios · Ingeniería Comercial</a:t>
            </a:r>
            <a:endParaRPr lang="es-CL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5550408"/>
            <a:ext cx="4325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CURSO</a:t>
            </a:r>
            <a:endParaRPr lang="es-CL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57515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Integrador II: Taller de Empresas · ICMA 1001</a:t>
            </a:r>
            <a:endParaRPr lang="es-CL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1173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GRUPO</a:t>
            </a:r>
            <a:endParaRPr lang="es-CL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3185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</a:t>
            </a:r>
            <a:endParaRPr lang="es-CL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61173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PROFESOR</a:t>
            </a:r>
            <a:endParaRPr lang="es-CL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6318504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Roberto Brito</a:t>
            </a:r>
            <a:endParaRPr lang="es-CL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6117336"/>
            <a:ext cx="7891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8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INTEGRANTES</a:t>
            </a:r>
            <a:endParaRPr lang="es-CL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6318504"/>
            <a:ext cx="7754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35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Diego Alarcón · Benjamín Torres · Lukas Verdugo</a:t>
            </a:r>
            <a:endParaRPr lang="es-CL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OBJETIVOS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299 VEHÍCULOS EL PRIMER AÑO,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la referencia al quinto.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con base en Informe Fase 3 (§3.1.1, Tablas N° 1 y 10).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Meta a cinco años: </a:t>
            </a:r>
            <a:pPr indent="0" marL="0">
              <a:buNone/>
            </a:pPr>
            <a:r>
              <a:rPr lang="es-CL" altLang="en-US" sz="18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ser la referencia de la hibridación de posventa en Chile.</a:t>
            </a:r>
            <a:endParaRPr lang="es-CL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METAS DEL PRIMER AÑO</a:t>
            </a:r>
            <a:endParaRPr lang="es-CL" sz="1200" dirty="0"/>
          </a:p>
        </p:txBody>
      </p:sp>
      <p:sp>
        <p:nvSpPr>
          <p:cNvPr id="7" name="Shape 5"/>
          <p:cNvSpPr/>
          <p:nvPr/>
        </p:nvSpPr>
        <p:spPr>
          <a:xfrm>
            <a:off x="9265615" y="2743200"/>
            <a:ext cx="237744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338767" y="2743200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1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CONFIRMAR</a:t>
            </a:r>
            <a:endParaRPr lang="es-CL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242255" y="277063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COTIZACIONES DIGITALES:</a:t>
            </a:r>
            <a:endParaRPr lang="es-CL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2567864" cy="150876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30723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30723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5920" y="30723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1368" y="30723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46908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45354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5920" y="46908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1368" y="45354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236976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60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299</a:t>
            </a:r>
            <a:endParaRPr lang="es-CL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114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instalaciones</a:t>
            </a:r>
            <a:endParaRPr lang="es-CL" sz="1600" dirty="0"/>
          </a:p>
        </p:txBody>
      </p:sp>
      <p:sp>
        <p:nvSpPr>
          <p:cNvPr id="21" name="Shape 19"/>
          <p:cNvSpPr/>
          <p:nvPr/>
        </p:nvSpPr>
        <p:spPr>
          <a:xfrm>
            <a:off x="3390824" y="3127248"/>
            <a:ext cx="2567864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19424" y="3236976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6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</a:t>
            </a:r>
            <a:endParaRPr lang="es-CL" sz="6000" dirty="0"/>
          </a:p>
        </p:txBody>
      </p:sp>
      <p:sp>
        <p:nvSpPr>
          <p:cNvPr id="23" name="Text 21"/>
          <p:cNvSpPr txBox="1"/>
          <p:nvPr/>
        </p:nvSpPr>
        <p:spPr>
          <a:xfrm>
            <a:off x="3619424" y="4114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casos con ahorro medido</a:t>
            </a:r>
            <a:endParaRPr lang="es-CL" sz="1600" dirty="0"/>
          </a:p>
        </p:txBody>
      </p:sp>
      <p:sp>
        <p:nvSpPr>
          <p:cNvPr id="24" name="Shape 22"/>
          <p:cNvSpPr/>
          <p:nvPr/>
        </p:nvSpPr>
        <p:spPr>
          <a:xfrm>
            <a:off x="6233008" y="3127248"/>
            <a:ext cx="2567864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61608" y="3236976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6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80%</a:t>
            </a:r>
            <a:endParaRPr lang="es-CL" sz="6000" dirty="0"/>
          </a:p>
        </p:txBody>
      </p:sp>
      <p:sp>
        <p:nvSpPr>
          <p:cNvPr id="26" name="Text 24"/>
          <p:cNvSpPr txBox="1"/>
          <p:nvPr/>
        </p:nvSpPr>
        <p:spPr>
          <a:xfrm>
            <a:off x="6461608" y="4114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clientes satisfechos</a:t>
            </a:r>
            <a:endParaRPr lang="es-CL" sz="1600" dirty="0"/>
          </a:p>
        </p:txBody>
      </p:sp>
      <p:sp>
        <p:nvSpPr>
          <p:cNvPr id="27" name="Shape 25"/>
          <p:cNvSpPr/>
          <p:nvPr/>
        </p:nvSpPr>
        <p:spPr>
          <a:xfrm>
            <a:off x="9075191" y="3127248"/>
            <a:ext cx="2567864" cy="15087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303791" y="3236976"/>
            <a:ext cx="21106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CL" altLang="en-US" sz="6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15%</a:t>
            </a:r>
            <a:endParaRPr lang="es-CL" sz="6000" dirty="0"/>
          </a:p>
        </p:txBody>
      </p:sp>
      <p:sp>
        <p:nvSpPr>
          <p:cNvPr id="29" name="Text 27"/>
          <p:cNvSpPr txBox="1"/>
          <p:nvPr/>
        </p:nvSpPr>
        <p:spPr>
          <a:xfrm>
            <a:off x="9303791" y="4114800"/>
            <a:ext cx="220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llega por recomendación</a:t>
            </a:r>
            <a:endParaRPr lang="es-CL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920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INSTALACIONES PROPIAS POR AÑO</a:t>
            </a:r>
            <a:endParaRPr lang="es-CL" sz="1200" dirty="0"/>
          </a:p>
        </p:txBody>
      </p:sp>
      <p:sp>
        <p:nvSpPr>
          <p:cNvPr id="31" name="Shape 29"/>
          <p:cNvSpPr/>
          <p:nvPr/>
        </p:nvSpPr>
        <p:spPr>
          <a:xfrm>
            <a:off x="9905695" y="4873752"/>
            <a:ext cx="173736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9978847" y="487375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PRONÓSTICO</a:t>
            </a:r>
            <a:endParaRPr lang="es-CL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5550408"/>
            <a:ext cx="10728655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8368" y="5477256"/>
            <a:ext cx="146304" cy="146304"/>
          </a:xfrm>
          <a:prstGeom prst="ellipse">
            <a:avLst/>
          </a:prstGeom>
          <a:solidFill>
            <a:schemeClr val="accent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184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1</a:t>
            </a:r>
            <a:endParaRPr lang="es-CL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660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299</a:t>
            </a:r>
            <a:endParaRPr lang="es-CL" sz="3400" dirty="0"/>
          </a:p>
        </p:txBody>
      </p:sp>
      <p:sp>
        <p:nvSpPr>
          <p:cNvPr id="37" name="Shape 35"/>
          <p:cNvSpPr/>
          <p:nvPr/>
        </p:nvSpPr>
        <p:spPr>
          <a:xfrm>
            <a:off x="3340532" y="5477256"/>
            <a:ext cx="146304" cy="14630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316404" y="5184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2316404" y="5660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869</a:t>
            </a:r>
            <a:endParaRPr lang="es-CL" sz="3400" dirty="0"/>
          </a:p>
        </p:txBody>
      </p:sp>
      <p:sp>
        <p:nvSpPr>
          <p:cNvPr id="40" name="Shape 38"/>
          <p:cNvSpPr/>
          <p:nvPr/>
        </p:nvSpPr>
        <p:spPr>
          <a:xfrm>
            <a:off x="6022696" y="5477256"/>
            <a:ext cx="146304" cy="14630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98568" y="5184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3</a:t>
            </a:r>
            <a:endParaRPr lang="es-CL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998568" y="5660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1.674</a:t>
            </a:r>
            <a:endParaRPr lang="es-CL" sz="3400" dirty="0"/>
          </a:p>
        </p:txBody>
      </p:sp>
      <p:sp>
        <p:nvSpPr>
          <p:cNvPr id="43" name="Shape 41"/>
          <p:cNvSpPr/>
          <p:nvPr/>
        </p:nvSpPr>
        <p:spPr>
          <a:xfrm>
            <a:off x="8704859" y="5477256"/>
            <a:ext cx="146304" cy="14630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80731" y="5184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4</a:t>
            </a:r>
            <a:endParaRPr lang="es-CL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680731" y="5660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2.268</a:t>
            </a:r>
            <a:endParaRPr lang="es-CL" sz="3400" dirty="0"/>
          </a:p>
        </p:txBody>
      </p:sp>
      <p:sp>
        <p:nvSpPr>
          <p:cNvPr id="46" name="Shape 44"/>
          <p:cNvSpPr/>
          <p:nvPr/>
        </p:nvSpPr>
        <p:spPr>
          <a:xfrm>
            <a:off x="11387023" y="5477256"/>
            <a:ext cx="146304" cy="146304"/>
          </a:xfrm>
          <a:prstGeom prst="ellipse">
            <a:avLst/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448495" y="5184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5</a:t>
            </a:r>
            <a:endParaRPr lang="es-CL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448495" y="566013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2.851</a:t>
            </a:r>
            <a:endParaRPr lang="es-CL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SEGMENTACIÓN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CLIENTE SE DEFINE POR SU AUTO,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por su edad.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INE (2025), parque de vehículos 2024; SII (2025); Fielbaum y Tirachini (2021); elaboración propia (Informe Fase 3, §3.1.2).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Condición: </a:t>
            </a:r>
            <a:pPr indent="0" marL="0">
              <a:buNone/>
            </a:pPr>
            <a:r>
              <a:rPr lang="es-CL" altLang="en-US" sz="18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 liviano, a combustión y con tracción delantera.</a:t>
            </a:r>
            <a:endParaRPr lang="es-CL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7864" cy="1920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999232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GEOGRÁFICA</a:t>
            </a:r>
            <a:endParaRPr lang="es-CL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36,8%</a:t>
            </a:r>
            <a:endParaRPr lang="es-CL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50208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del parque, en la Región Metropolitana (RM)</a:t>
            </a:r>
            <a:endParaRPr lang="es-CL" sz="1600" dirty="0"/>
          </a:p>
        </p:txBody>
      </p:sp>
      <p:sp>
        <p:nvSpPr>
          <p:cNvPr id="10" name="Shape 8"/>
          <p:cNvSpPr/>
          <p:nvPr/>
        </p:nvSpPr>
        <p:spPr>
          <a:xfrm>
            <a:off x="3390824" y="2834640"/>
            <a:ext cx="2567864" cy="1920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1992" y="2999232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DEMOGRÁFICA</a:t>
            </a:r>
            <a:endParaRPr lang="es-CL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91992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4 roles</a:t>
            </a:r>
            <a:endParaRPr lang="es-CL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3591992" y="3950208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usa, decide, paga o influye</a:t>
            </a:r>
            <a:endParaRPr lang="es-CL" sz="1600" dirty="0"/>
          </a:p>
        </p:txBody>
      </p:sp>
      <p:sp>
        <p:nvSpPr>
          <p:cNvPr id="14" name="Shape 12"/>
          <p:cNvSpPr/>
          <p:nvPr/>
        </p:nvSpPr>
        <p:spPr>
          <a:xfrm>
            <a:off x="6233008" y="2834640"/>
            <a:ext cx="2567864" cy="1920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4176" y="2999232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PSICOGRÁFICA</a:t>
            </a:r>
            <a:endParaRPr lang="es-CL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34176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5 motivos</a:t>
            </a:r>
            <a:endParaRPr lang="es-CL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434176" y="3950208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ahorro es uno de ellos</a:t>
            </a:r>
            <a:endParaRPr lang="es-CL" sz="1600" dirty="0"/>
          </a:p>
        </p:txBody>
      </p:sp>
      <p:sp>
        <p:nvSpPr>
          <p:cNvPr id="18" name="Shape 16"/>
          <p:cNvSpPr/>
          <p:nvPr/>
        </p:nvSpPr>
        <p:spPr>
          <a:xfrm>
            <a:off x="9075191" y="2834640"/>
            <a:ext cx="2567864" cy="192024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20327" y="277977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20327" y="27797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42471" y="277977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697919" y="27797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20327" y="48097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0327" y="46542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42471" y="480974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97919" y="465429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76359" y="2999232"/>
            <a:ext cx="2165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CONDUCTUAL</a:t>
            </a:r>
            <a:endParaRPr lang="es-CL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76359" y="3291840"/>
            <a:ext cx="2165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0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6 ejes</a:t>
            </a:r>
            <a:endParaRPr lang="es-CL" sz="4000" dirty="0"/>
          </a:p>
        </p:txBody>
      </p:sp>
      <p:sp>
        <p:nvSpPr>
          <p:cNvPr id="29" name="Text 27"/>
          <p:cNvSpPr txBox="1"/>
          <p:nvPr/>
        </p:nvSpPr>
        <p:spPr>
          <a:xfrm>
            <a:off x="9276359" y="3950208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intensidad de uso es la que manda</a:t>
            </a:r>
            <a:endParaRPr lang="es-CL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965192"/>
            <a:ext cx="1109441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0749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PUNTO DE ENTRADA</a:t>
            </a:r>
            <a:endParaRPr lang="es-CL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85816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Uso laboral intensivo en la RM: colectivos, taxis y aplicaciones.</a:t>
            </a:r>
            <a:endParaRPr lang="es-CL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INVESTIGACIÓN DE MERCADO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SEIS HIPÓTESIS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antes de fijar el precio.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§3.1.3, Tablas N° 2 y 3). Muestra no probabilística: resultados indicativos.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33574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18790" y="340614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749808" y="2514600"/>
            <a:ext cx="21312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EXPLORATORIA</a:t>
            </a:r>
            <a:endParaRPr lang="es-CL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788920"/>
            <a:ext cx="21312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4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</a:t>
            </a:r>
            <a:endParaRPr lang="es-CL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3872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conductor de aplicaciones</a:t>
            </a:r>
            <a:endParaRPr lang="es-CL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4041648"/>
            <a:ext cx="173736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4041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REALIZADA</a:t>
            </a:r>
            <a:endParaRPr lang="es-CL" sz="1000" dirty="0"/>
          </a:p>
        </p:txBody>
      </p:sp>
      <p:sp>
        <p:nvSpPr>
          <p:cNvPr id="12" name="Shape 10"/>
          <p:cNvSpPr/>
          <p:nvPr/>
        </p:nvSpPr>
        <p:spPr>
          <a:xfrm>
            <a:off x="3402254" y="2331720"/>
            <a:ext cx="2533574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72404" y="340614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603422" y="2514600"/>
            <a:ext cx="21312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EXPERTOS</a:t>
            </a:r>
            <a:endParaRPr lang="es-CL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03422" y="2788920"/>
            <a:ext cx="21312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4</a:t>
            </a:r>
            <a:endParaRPr lang="es-CL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3603422" y="353872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expertos del rubro</a:t>
            </a:r>
            <a:endParaRPr lang="es-CL" sz="1500" dirty="0"/>
          </a:p>
        </p:txBody>
      </p:sp>
      <p:sp>
        <p:nvSpPr>
          <p:cNvPr id="17" name="Shape 15"/>
          <p:cNvSpPr/>
          <p:nvPr/>
        </p:nvSpPr>
        <p:spPr>
          <a:xfrm>
            <a:off x="3603422" y="4041648"/>
            <a:ext cx="173736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3676574" y="4041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REALIZAR</a:t>
            </a:r>
            <a:endParaRPr lang="es-CL" sz="1000" dirty="0"/>
          </a:p>
        </p:txBody>
      </p:sp>
      <p:sp>
        <p:nvSpPr>
          <p:cNvPr id="19" name="Shape 17"/>
          <p:cNvSpPr/>
          <p:nvPr/>
        </p:nvSpPr>
        <p:spPr>
          <a:xfrm>
            <a:off x="6255868" y="2331720"/>
            <a:ext cx="2533574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26017" y="3406140"/>
            <a:ext cx="246888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457036" y="2514600"/>
            <a:ext cx="21312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CLIENTES</a:t>
            </a:r>
            <a:endParaRPr lang="es-CL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57036" y="2788920"/>
            <a:ext cx="21312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5</a:t>
            </a:r>
            <a:endParaRPr lang="es-CL" sz="5400" dirty="0"/>
          </a:p>
        </p:txBody>
      </p:sp>
      <p:sp>
        <p:nvSpPr>
          <p:cNvPr id="23" name="Text 21"/>
          <p:cNvSpPr txBox="1"/>
          <p:nvPr/>
        </p:nvSpPr>
        <p:spPr>
          <a:xfrm>
            <a:off x="6457036" y="353872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perfiles de cliente</a:t>
            </a:r>
            <a:endParaRPr lang="es-CL" sz="1500" dirty="0"/>
          </a:p>
        </p:txBody>
      </p:sp>
      <p:sp>
        <p:nvSpPr>
          <p:cNvPr id="24" name="Shape 22"/>
          <p:cNvSpPr/>
          <p:nvPr/>
        </p:nvSpPr>
        <p:spPr>
          <a:xfrm>
            <a:off x="6457036" y="4041648"/>
            <a:ext cx="173736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6530188" y="4041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REALIZAR</a:t>
            </a:r>
            <a:endParaRPr lang="es-CL" sz="1000" dirty="0"/>
          </a:p>
        </p:txBody>
      </p:sp>
      <p:sp>
        <p:nvSpPr>
          <p:cNvPr id="26" name="Shape 24"/>
          <p:cNvSpPr/>
          <p:nvPr/>
        </p:nvSpPr>
        <p:spPr>
          <a:xfrm>
            <a:off x="9109481" y="2331720"/>
            <a:ext cx="2533574" cy="21488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10649" y="2514600"/>
            <a:ext cx="21312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ENCUESTA</a:t>
            </a:r>
            <a:endParaRPr lang="es-CL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10649" y="2788920"/>
            <a:ext cx="21312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150</a:t>
            </a:r>
            <a:endParaRPr lang="es-CL" sz="5400" dirty="0"/>
          </a:p>
        </p:txBody>
      </p:sp>
      <p:sp>
        <p:nvSpPr>
          <p:cNvPr id="29" name="Text 27"/>
          <p:cNvSpPr txBox="1"/>
          <p:nvPr/>
        </p:nvSpPr>
        <p:spPr>
          <a:xfrm>
            <a:off x="9310649" y="3538728"/>
            <a:ext cx="21678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encuestas por cuotas</a:t>
            </a:r>
            <a:endParaRPr lang="es-CL" sz="1500" dirty="0"/>
          </a:p>
        </p:txBody>
      </p:sp>
      <p:sp>
        <p:nvSpPr>
          <p:cNvPr id="30" name="Shape 28"/>
          <p:cNvSpPr/>
          <p:nvPr/>
        </p:nvSpPr>
        <p:spPr>
          <a:xfrm>
            <a:off x="9310649" y="4041648"/>
            <a:ext cx="173736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383801" y="4041648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REALIZAR</a:t>
            </a:r>
            <a:endParaRPr lang="es-CL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800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 HIPÓTESIS QUE MÁS DECIDE</a:t>
            </a:r>
            <a:endParaRPr lang="es-CL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093208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0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«La barrera es la confianza, no el precio.»</a:t>
            </a:r>
            <a:endParaRPr lang="es-CL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150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Muestra por cuotas: resultados indicativos (±8% con 150 casos).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MATRIZ DE ANSOFF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UN PRODUCTO NUEVO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 un mercado que ya existe.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Ansoff (1965); elaboración propia (Informe Fase 3, §3.1.4, §3.1.5.4, §3.2.1 y Figura N° 1).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2304288"/>
            <a:ext cx="3268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PRODUCTO EXISTENTE</a:t>
            </a:r>
            <a:endParaRPr lang="es-CL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69180" y="2304288"/>
            <a:ext cx="32689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PRODUCTO NUEVO</a:t>
            </a:r>
            <a:endParaRPr lang="es-CL" sz="1200" dirty="0"/>
          </a:p>
        </p:txBody>
      </p:sp>
      <p:sp>
        <p:nvSpPr>
          <p:cNvPr id="7" name="Text 5"/>
          <p:cNvSpPr txBox="1"/>
          <p:nvPr/>
        </p:nvSpPr>
        <p:spPr>
          <a:xfrm rot="16200000">
            <a:off x="-182880" y="3310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0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MERCADO EXISTENTE</a:t>
            </a:r>
            <a:endParaRPr lang="es-CL" sz="1000" dirty="0"/>
          </a:p>
        </p:txBody>
      </p:sp>
      <p:sp>
        <p:nvSpPr>
          <p:cNvPr id="8" name="Text 6"/>
          <p:cNvSpPr txBox="1"/>
          <p:nvPr/>
        </p:nvSpPr>
        <p:spPr>
          <a:xfrm rot="16200000">
            <a:off x="-182880" y="53035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0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MERCADO NUEVO</a:t>
            </a:r>
            <a:endParaRPr lang="es-CL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2670048"/>
            <a:ext cx="3268980" cy="153619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98448" y="2834640"/>
            <a:ext cx="2866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127248"/>
            <a:ext cx="2866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Penetración</a:t>
            </a:r>
            <a:endParaRPr lang="es-CL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298448" y="3566160"/>
            <a:ext cx="2866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Más clientes, mismo mercado</a:t>
            </a:r>
            <a:endParaRPr lang="es-CL" sz="1600" dirty="0"/>
          </a:p>
        </p:txBody>
      </p:sp>
      <p:sp>
        <p:nvSpPr>
          <p:cNvPr id="13" name="Shape 11"/>
          <p:cNvSpPr/>
          <p:nvPr/>
        </p:nvSpPr>
        <p:spPr>
          <a:xfrm>
            <a:off x="4869180" y="2670048"/>
            <a:ext cx="3268980" cy="1536192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4316" y="26151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4316" y="26151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7576" y="26151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26151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14316" y="42611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4316" y="41056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37576" y="42611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93024" y="41056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0348" y="2834640"/>
            <a:ext cx="2866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1 · ENTRADA</a:t>
            </a:r>
            <a:endParaRPr lang="es-CL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70348" y="3127248"/>
            <a:ext cx="2866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Desarrollo de producto</a:t>
            </a:r>
            <a:endParaRPr lang="es-CL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070348" y="3566160"/>
            <a:ext cx="2866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 oferta en Chile</a:t>
            </a:r>
            <a:endParaRPr lang="es-CL" sz="1600" dirty="0"/>
          </a:p>
        </p:txBody>
      </p:sp>
      <p:sp>
        <p:nvSpPr>
          <p:cNvPr id="25" name="Shape 23"/>
          <p:cNvSpPr/>
          <p:nvPr/>
        </p:nvSpPr>
        <p:spPr>
          <a:xfrm>
            <a:off x="1097280" y="4663440"/>
            <a:ext cx="3268980" cy="1536192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98448" y="4828032"/>
            <a:ext cx="2866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3</a:t>
            </a:r>
            <a:endParaRPr lang="es-CL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98448" y="5120640"/>
            <a:ext cx="2866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Desarrollo de mercado</a:t>
            </a:r>
            <a:endParaRPr lang="es-CL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5559552"/>
            <a:ext cx="2866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Flotas y regiones</a:t>
            </a:r>
            <a:endParaRPr lang="es-CL" sz="1600" dirty="0"/>
          </a:p>
        </p:txBody>
      </p:sp>
      <p:sp>
        <p:nvSpPr>
          <p:cNvPr id="29" name="Shape 27"/>
          <p:cNvSpPr/>
          <p:nvPr/>
        </p:nvSpPr>
        <p:spPr>
          <a:xfrm>
            <a:off x="4869180" y="4663440"/>
            <a:ext cx="3268980" cy="1536192"/>
          </a:xfrm>
          <a:prstGeom prst="rect">
            <a:avLst/>
          </a:prstGeom>
          <a:solidFill>
            <a:srgbClr val="0B1A22"/>
          </a:solidFill>
          <a:ln w="12700">
            <a:solidFill>
              <a:schemeClr val="accent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5070348" y="4828032"/>
            <a:ext cx="28666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DESDE EL AÑO 2</a:t>
            </a:r>
            <a:endParaRPr lang="es-CL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070348" y="5120640"/>
            <a:ext cx="28666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Diversificación</a:t>
            </a:r>
            <a:endParaRPr lang="es-CL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5070348" y="5559552"/>
            <a:ext cx="28666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Calibración y kits para talleres</a:t>
            </a:r>
            <a:endParaRPr lang="es-CL" sz="1600" dirty="0"/>
          </a:p>
        </p:txBody>
      </p:sp>
      <p:sp>
        <p:nvSpPr>
          <p:cNvPr id="33" name="Shape 31"/>
          <p:cNvSpPr/>
          <p:nvPr/>
        </p:nvSpPr>
        <p:spPr>
          <a:xfrm>
            <a:off x="4823460" y="3438144"/>
            <a:ext cx="-41148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508760" y="4251960"/>
            <a:ext cx="0" cy="3657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726680" y="4251960"/>
            <a:ext cx="0" cy="36576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549640" y="2670048"/>
            <a:ext cx="3093415" cy="3529584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94776" y="26151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94776" y="26151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42471" y="261518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697919" y="261518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94776" y="625449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94776" y="609904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542471" y="625449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697919" y="6099048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778240" y="2871216"/>
            <a:ext cx="2636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VENTAJA COMPETITIVA</a:t>
            </a:r>
            <a:endParaRPr lang="es-CL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778240" y="3218688"/>
            <a:ext cx="263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4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biblioteca de calibraciones</a:t>
            </a:r>
            <a:endParaRPr lang="es-CL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8778240" y="4151376"/>
            <a:ext cx="26362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Sostenible: crece con cada instalación y es lo más difícil de copiar.</a:t>
            </a:r>
            <a:endParaRPr lang="es-CL" sz="1600" dirty="0"/>
          </a:p>
        </p:txBody>
      </p:sp>
      <p:sp>
        <p:nvSpPr>
          <p:cNvPr id="48" name="Shape 46"/>
          <p:cNvSpPr/>
          <p:nvPr/>
        </p:nvSpPr>
        <p:spPr>
          <a:xfrm>
            <a:off x="8778240" y="5184648"/>
            <a:ext cx="26362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778240" y="5303520"/>
            <a:ext cx="2636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eso la red parte en el año 2: se vende mientras es exclusiva.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POSICIONAMIENTO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ESPACIO VACÍO: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ahorrar sin cambiar de auto.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KMcheck (2026); Autofact (2026); Mercado Libre (2026); Abastible (2026); Gasco (s.f.); BioBioChile (2026); elaboración propia (Anexo N° 2).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3063240" y="2395728"/>
            <a:ext cx="8579815" cy="1280160"/>
          </a:xfrm>
          <a:prstGeom prst="rect">
            <a:avLst/>
          </a:prstGeom>
          <a:solidFill>
            <a:srgbClr val="0B1A2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95728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Conserva su auto</a:t>
            </a:r>
            <a:endParaRPr lang="es-CL" sz="1500" dirty="0"/>
          </a:p>
          <a:p>
            <a:pPr algn="r"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 límite de edad</a:t>
            </a:r>
            <a:endParaRPr lang="es-CL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3767328"/>
            <a:ext cx="8579815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76732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Conserva su auto</a:t>
            </a:r>
            <a:endParaRPr lang="es-CL" sz="1500" dirty="0"/>
          </a:p>
          <a:p>
            <a:pPr algn="r"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 límite de edad</a:t>
            </a:r>
            <a:endParaRPr lang="es-CL" sz="1500" dirty="0"/>
          </a:p>
        </p:txBody>
      </p:sp>
      <p:sp>
        <p:nvSpPr>
          <p:cNvPr id="9" name="Shape 7"/>
          <p:cNvSpPr/>
          <p:nvPr/>
        </p:nvSpPr>
        <p:spPr>
          <a:xfrm>
            <a:off x="3063240" y="4727448"/>
            <a:ext cx="8579815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4727448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5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Cambia de auto</a:t>
            </a:r>
            <a:endParaRPr lang="es-CL" sz="1500" dirty="0"/>
          </a:p>
        </p:txBody>
      </p:sp>
      <p:sp>
        <p:nvSpPr>
          <p:cNvPr id="11" name="Shape 9"/>
          <p:cNvSpPr/>
          <p:nvPr/>
        </p:nvSpPr>
        <p:spPr>
          <a:xfrm>
            <a:off x="6888175" y="2029968"/>
            <a:ext cx="475488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6961327" y="2029968"/>
            <a:ext cx="4608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LUMINE: PRECIO DE REFERENCIA Y AHORRO SIMULADO</a:t>
            </a:r>
            <a:endParaRPr lang="es-CL" sz="1000" dirty="0"/>
          </a:p>
        </p:txBody>
      </p:sp>
      <p:sp>
        <p:nvSpPr>
          <p:cNvPr id="13" name="Shape 11"/>
          <p:cNvSpPr/>
          <p:nvPr/>
        </p:nvSpPr>
        <p:spPr>
          <a:xfrm>
            <a:off x="3063240" y="5916168"/>
            <a:ext cx="8579815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26080" y="5980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$0</a:t>
            </a:r>
            <a:endParaRPr lang="es-CL" sz="1200" dirty="0"/>
          </a:p>
        </p:txBody>
      </p:sp>
      <p:sp>
        <p:nvSpPr>
          <p:cNvPr id="16" name="Shape 14"/>
          <p:cNvSpPr/>
          <p:nvPr/>
        </p:nvSpPr>
        <p:spPr>
          <a:xfrm>
            <a:off x="5335984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87344" y="5980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 M</a:t>
            </a:r>
            <a:endParaRPr lang="es-CL" sz="1200" dirty="0"/>
          </a:p>
        </p:txBody>
      </p:sp>
      <p:sp>
        <p:nvSpPr>
          <p:cNvPr id="18" name="Shape 16"/>
          <p:cNvSpPr/>
          <p:nvPr/>
        </p:nvSpPr>
        <p:spPr>
          <a:xfrm>
            <a:off x="8383803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35163" y="5980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$5 M</a:t>
            </a:r>
            <a:endParaRPr lang="es-CL" sz="1200" dirty="0"/>
          </a:p>
        </p:txBody>
      </p:sp>
      <p:sp>
        <p:nvSpPr>
          <p:cNvPr id="20" name="Shape 18"/>
          <p:cNvSpPr/>
          <p:nvPr/>
        </p:nvSpPr>
        <p:spPr>
          <a:xfrm>
            <a:off x="9696427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7787" y="5980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$10 M</a:t>
            </a:r>
            <a:endParaRPr lang="es-CL" sz="1200" dirty="0"/>
          </a:p>
        </p:txBody>
      </p:sp>
      <p:sp>
        <p:nvSpPr>
          <p:cNvPr id="22" name="Shape 20"/>
          <p:cNvSpPr/>
          <p:nvPr/>
        </p:nvSpPr>
        <p:spPr>
          <a:xfrm>
            <a:off x="11009052" y="5916168"/>
            <a:ext cx="0" cy="54864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460412" y="59801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$20 M</a:t>
            </a:r>
            <a:endParaRPr lang="es-CL" sz="1200" dirty="0"/>
          </a:p>
        </p:txBody>
      </p:sp>
      <p:sp>
        <p:nvSpPr>
          <p:cNvPr id="24" name="Shape 22"/>
          <p:cNvSpPr/>
          <p:nvPr/>
        </p:nvSpPr>
        <p:spPr>
          <a:xfrm>
            <a:off x="4430720" y="2505456"/>
            <a:ext cx="4643614" cy="1060704"/>
          </a:xfrm>
          <a:prstGeom prst="rect">
            <a:avLst/>
          </a:prstGeom>
          <a:solidFill>
            <a:srgbClr val="0B1A22">
              <a:alpha val="0"/>
            </a:srgbClr>
          </a:solidFill>
          <a:ln w="9525">
            <a:solidFill>
              <a:schemeClr val="accent1"/>
            </a:solidFill>
            <a:prstDash val="sysDot"/>
          </a:ln>
        </p:spPr>
      </p:sp>
      <p:sp>
        <p:nvSpPr>
          <p:cNvPr id="25" name="Text 23"/>
          <p:cNvSpPr txBox="1"/>
          <p:nvPr/>
        </p:nvSpPr>
        <p:spPr>
          <a:xfrm>
            <a:off x="4595312" y="314553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Espacio hoy sin oferta</a:t>
            </a:r>
            <a:endParaRPr lang="es-CL" sz="1600" dirty="0"/>
          </a:p>
        </p:txBody>
      </p:sp>
      <p:sp>
        <p:nvSpPr>
          <p:cNvPr id="26" name="Shape 24"/>
          <p:cNvSpPr/>
          <p:nvPr/>
        </p:nvSpPr>
        <p:spPr>
          <a:xfrm>
            <a:off x="3392424" y="2670048"/>
            <a:ext cx="164592" cy="164592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90672" y="2898648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25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hacer nada</a:t>
            </a:r>
            <a:endParaRPr lang="es-CL" sz="1250" dirty="0"/>
          </a:p>
        </p:txBody>
      </p:sp>
      <p:sp>
        <p:nvSpPr>
          <p:cNvPr id="28" name="Shape 26"/>
          <p:cNvSpPr/>
          <p:nvPr/>
        </p:nvSpPr>
        <p:spPr>
          <a:xfrm>
            <a:off x="8093778" y="2761488"/>
            <a:ext cx="286234" cy="914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Shape 27"/>
          <p:cNvSpPr/>
          <p:nvPr/>
        </p:nvSpPr>
        <p:spPr>
          <a:xfrm>
            <a:off x="7993194" y="27066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Shape 28"/>
          <p:cNvSpPr/>
          <p:nvPr/>
        </p:nvSpPr>
        <p:spPr>
          <a:xfrm>
            <a:off x="8279428" y="2706624"/>
            <a:ext cx="201168" cy="2011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Shape 29"/>
          <p:cNvSpPr/>
          <p:nvPr/>
        </p:nvSpPr>
        <p:spPr>
          <a:xfrm>
            <a:off x="9320618" y="2560320"/>
            <a:ext cx="2185278" cy="950976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5754" y="25054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65754" y="25054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05311" y="25054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1560759" y="25054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65754" y="3566160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65754" y="341071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405311" y="3566160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560759" y="3410712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12058" y="2633472"/>
            <a:ext cx="20023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LUMINE</a:t>
            </a:r>
            <a:endParaRPr lang="es-CL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412058" y="2999232"/>
            <a:ext cx="20023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600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$4,3–5,0 M</a:t>
            </a:r>
            <a:endParaRPr lang="es-CL" sz="1600" dirty="0"/>
          </a:p>
        </p:txBody>
      </p:sp>
      <p:sp>
        <p:nvSpPr>
          <p:cNvPr id="42" name="Shape 40"/>
          <p:cNvSpPr/>
          <p:nvPr/>
        </p:nvSpPr>
        <p:spPr>
          <a:xfrm>
            <a:off x="5136461" y="4361688"/>
            <a:ext cx="1312624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045021" y="385876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Gas  </a:t>
            </a:r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$0,9–1,8 M · solo autos de hasta 7 años</a:t>
            </a:r>
            <a:endParaRPr lang="es-CL" sz="1500" dirty="0"/>
          </a:p>
        </p:txBody>
      </p:sp>
      <p:sp>
        <p:nvSpPr>
          <p:cNvPr id="44" name="Shape 42"/>
          <p:cNvSpPr/>
          <p:nvPr/>
        </p:nvSpPr>
        <p:spPr>
          <a:xfrm>
            <a:off x="9599293" y="5020056"/>
            <a:ext cx="593978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5" name="Shape 43"/>
          <p:cNvSpPr/>
          <p:nvPr/>
        </p:nvSpPr>
        <p:spPr>
          <a:xfrm>
            <a:off x="9526141" y="5001768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393053" y="48920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Híbrido usado  </a:t>
            </a:r>
            <a:pPr algn="r"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$9,5–13 M</a:t>
            </a:r>
            <a:endParaRPr lang="es-CL" sz="1600" dirty="0"/>
          </a:p>
        </p:txBody>
      </p:sp>
      <p:sp>
        <p:nvSpPr>
          <p:cNvPr id="47" name="Shape 45"/>
          <p:cNvSpPr/>
          <p:nvPr/>
        </p:nvSpPr>
        <p:spPr>
          <a:xfrm>
            <a:off x="10332257" y="5477256"/>
            <a:ext cx="1173638" cy="1097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8" name="Shape 46"/>
          <p:cNvSpPr/>
          <p:nvPr/>
        </p:nvSpPr>
        <p:spPr>
          <a:xfrm>
            <a:off x="10259105" y="5458968"/>
            <a:ext cx="146304" cy="146304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126017" y="5349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Eléctrico nuevo  </a:t>
            </a:r>
            <a:pPr algn="r"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desde $14 M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MIX: PRODUCTO Y PRECIO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PLUS CUESTA 16% MÁS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 ahorra 24% más.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elaboración propia (Informe Fase 3, Tablas N° 5 y 6; Anexos N° 2 y 9); Banco Central de Chile (2026), tasa de consumo.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834640" cy="278892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14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ESENCIAL</a:t>
            </a:r>
            <a:endParaRPr lang="es-CL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78892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$4.290.000</a:t>
            </a:r>
            <a:endParaRPr lang="es-CL" sz="3800" dirty="0"/>
          </a:p>
        </p:txBody>
      </p:sp>
      <p:sp>
        <p:nvSpPr>
          <p:cNvPr id="8" name="Shape 6"/>
          <p:cNvSpPr/>
          <p:nvPr/>
        </p:nvSpPr>
        <p:spPr>
          <a:xfrm>
            <a:off x="777240" y="3410712"/>
            <a:ext cx="21031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850392" y="34107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REFERENCIA · CON IVA</a:t>
            </a:r>
            <a:endParaRPr lang="es-CL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3867912"/>
            <a:ext cx="23774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15%</a:t>
            </a:r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de ahorro</a:t>
            </a:r>
            <a:endParaRPr lang="es-CL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$117.069</a:t>
            </a:r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al mes</a:t>
            </a:r>
            <a:endParaRPr lang="es-CL" sz="1700" dirty="0"/>
          </a:p>
        </p:txBody>
      </p:sp>
      <p:sp>
        <p:nvSpPr>
          <p:cNvPr id="13" name="Shape 11"/>
          <p:cNvSpPr/>
          <p:nvPr/>
        </p:nvSpPr>
        <p:spPr>
          <a:xfrm>
            <a:off x="3611880" y="2331720"/>
            <a:ext cx="2834640" cy="278892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5701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5701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1384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57016" y="51755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57016" y="50200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51755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1384" y="50200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0" y="25146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PLUS</a:t>
            </a:r>
            <a:endParaRPr lang="es-CL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13048" y="2788920"/>
            <a:ext cx="24323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8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$4.990.000</a:t>
            </a:r>
            <a:endParaRPr lang="es-CL" sz="3800" dirty="0"/>
          </a:p>
        </p:txBody>
      </p:sp>
      <p:sp>
        <p:nvSpPr>
          <p:cNvPr id="24" name="Shape 22"/>
          <p:cNvSpPr/>
          <p:nvPr/>
        </p:nvSpPr>
        <p:spPr>
          <a:xfrm>
            <a:off x="3840480" y="3410712"/>
            <a:ext cx="21031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3913632" y="341071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REFERENCIA · CON IVA</a:t>
            </a:r>
            <a:endParaRPr lang="es-CL" sz="1000" dirty="0"/>
          </a:p>
        </p:txBody>
      </p:sp>
      <p:sp>
        <p:nvSpPr>
          <p:cNvPr id="26" name="Shape 24"/>
          <p:cNvSpPr/>
          <p:nvPr/>
        </p:nvSpPr>
        <p:spPr>
          <a:xfrm>
            <a:off x="3840480" y="3867912"/>
            <a:ext cx="2377440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840480" y="3959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20%</a:t>
            </a:r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de ahorro</a:t>
            </a:r>
            <a:endParaRPr lang="es-CL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3840480" y="4434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$145.327</a:t>
            </a:r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al mes</a:t>
            </a:r>
            <a:endParaRPr lang="es-CL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331720"/>
            <a:ext cx="47393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MESES PARA RECUPERAR LA INVERSIÓN</a:t>
            </a:r>
            <a:endParaRPr lang="es-CL" sz="1200" dirty="0"/>
          </a:p>
        </p:txBody>
      </p:sp>
      <p:graphicFrame>
        <p:nvGraphicFramePr>
          <p:cNvPr id="30" name="Meses para recuperar la inversión por versión" descr=""/>
          <p:cNvGraphicFramePr/>
          <p:nvPr/>
        </p:nvGraphicFramePr>
        <p:xfrm>
          <a:off x="6812280" y="2624328"/>
          <a:ext cx="483077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Plus cuesta $700.000 más, </a:t>
            </a:r>
            <a:pPr indent="0" marL="0">
              <a:buNone/>
            </a:pPr>
            <a:r>
              <a:rPr lang="es-CL" altLang="en-US" sz="18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pero cada punto de ahorro sale más barato.</a:t>
            </a:r>
            <a:endParaRPr lang="es-CL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DEMANDA Y PRONÓSTICO DE VENTAS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MÁS DEMANDA QUE CAPACIDAD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desde el año 1.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INE (2025); Centro UC en Emol (2026); Descubre (2026); Massiani y Gohs (2015); elaboración propia (Tabla N° 10, Anexo N° 4).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SEGMENTO LABORAL · RM</a:t>
            </a:r>
            <a:endParaRPr lang="es-CL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162.780</a:t>
            </a:r>
            <a:endParaRPr lang="es-CL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vehículos de colectivos, taxis y aplicaciones</a:t>
            </a:r>
            <a:endParaRPr lang="es-CL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32918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519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ADOPCIÓN AL AÑO 5</a:t>
            </a:r>
            <a:endParaRPr lang="es-CL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26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11,1%</a:t>
            </a:r>
            <a:endParaRPr lang="es-CL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578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del segmento: bajo el 16% de los primeros adoptantes</a:t>
            </a:r>
            <a:endParaRPr lang="es-CL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331720"/>
            <a:ext cx="73453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VEHÍCULOS POR AÑO</a:t>
            </a:r>
            <a:endParaRPr lang="es-CL" sz="1200" dirty="0"/>
          </a:p>
        </p:txBody>
      </p:sp>
      <p:sp>
        <p:nvSpPr>
          <p:cNvPr id="13" name="Shape 11"/>
          <p:cNvSpPr/>
          <p:nvPr/>
        </p:nvSpPr>
        <p:spPr>
          <a:xfrm>
            <a:off x="9905695" y="2304288"/>
            <a:ext cx="1737360" cy="256032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9978847" y="230428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ESTIMACIÓN</a:t>
            </a:r>
            <a:endParaRPr lang="es-CL" sz="1000" dirty="0"/>
          </a:p>
        </p:txBody>
      </p:sp>
      <p:graphicFrame>
        <p:nvGraphicFramePr>
          <p:cNvPr id="15" name="Pronóstico de ventas por año" descr=""/>
          <p:cNvGraphicFramePr/>
          <p:nvPr/>
        </p:nvGraphicFramePr>
        <p:xfrm>
          <a:off x="4206240" y="2624328"/>
          <a:ext cx="743681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297680" y="5943600"/>
            <a:ext cx="7345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límite es físico: </a:t>
            </a:r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técnicos y espacio. Lo demás lo atiende la red.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PLAN DE MARKETING · PRESUPUESTO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$80,9 MILLONES EL PRIMER AÑO: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6,8% de los ingresos.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Tabla N° 11). Montos netos de IVA.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MILLONES DE PESOS NETOS POR AÑO</a:t>
            </a:r>
            <a:endParaRPr lang="es-CL" sz="1200" dirty="0"/>
          </a:p>
        </p:txBody>
      </p:sp>
      <p:graphicFrame>
        <p:nvGraphicFramePr>
          <p:cNvPr id="6" name="Presupuesto de marketing por partida" descr=""/>
          <p:cNvGraphicFramePr/>
          <p:nvPr/>
        </p:nvGraphicFramePr>
        <p:xfrm>
          <a:off x="457200" y="2624328"/>
          <a:ext cx="73152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83880" y="2331720"/>
            <a:ext cx="3459175" cy="3904488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2901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2901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42471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97919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9016" y="62910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29016" y="61356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542471" y="62910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697919" y="61356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12480" y="2532888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 CINCO AÑOS</a:t>
            </a:r>
            <a:endParaRPr lang="es-CL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2807208"/>
            <a:ext cx="3001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4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$575 M</a:t>
            </a:r>
            <a:endParaRPr lang="es-CL" sz="5400" dirty="0"/>
          </a:p>
        </p:txBody>
      </p:sp>
      <p:sp>
        <p:nvSpPr>
          <p:cNvPr id="18" name="Shape 15"/>
          <p:cNvSpPr/>
          <p:nvPr/>
        </p:nvSpPr>
        <p:spPr>
          <a:xfrm>
            <a:off x="8412480" y="3749040"/>
            <a:ext cx="30019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0" y="3886200"/>
            <a:ext cx="30019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% DE LOS INGRESOS PROPIOS</a:t>
            </a:r>
            <a:endParaRPr lang="es-CL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1</a:t>
            </a:r>
            <a:endParaRPr lang="es-CL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9646920" y="4206240"/>
            <a:ext cx="176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6,8%</a:t>
            </a:r>
            <a:endParaRPr lang="es-CL" sz="2600" dirty="0"/>
          </a:p>
        </p:txBody>
      </p:sp>
      <p:sp>
        <p:nvSpPr>
          <p:cNvPr id="22" name="Text 19"/>
          <p:cNvSpPr txBox="1"/>
          <p:nvPr/>
        </p:nvSpPr>
        <p:spPr>
          <a:xfrm>
            <a:off x="8412480" y="4709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2</a:t>
            </a:r>
            <a:endParaRPr lang="es-CL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9646920" y="4709160"/>
            <a:ext cx="176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2,3%</a:t>
            </a:r>
            <a:endParaRPr lang="es-CL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8412480" y="5212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Año 5</a:t>
            </a:r>
            <a:endParaRPr lang="es-CL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9646920" y="5212080"/>
            <a:ext cx="176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1,5%</a:t>
            </a:r>
            <a:endParaRPr lang="es-CL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RECURSOS HUMANOS · ESTRUCTURA Y DOTACIÓN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CRECE EL NÚMERO DE PERSONAS,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no la estructura.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borrador de reglamento MTT (2021); elaboración propia (Informe Fase 3, Figura N° 3 y Tabla N° 12).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ORGANIGRAMA · AL ABRIR → AÑO 5</a:t>
            </a:r>
            <a:endParaRPr lang="es-CL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2697480"/>
            <a:ext cx="2926080" cy="603504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42616" y="264261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42616" y="26426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22976" y="264261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78424" y="26426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42616" y="3355848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3200400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22976" y="3355848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78424" y="3200400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697480" y="26974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Gerencia General</a:t>
            </a:r>
            <a:endParaRPr lang="es-CL" sz="1700" dirty="0"/>
          </a:p>
        </p:txBody>
      </p:sp>
      <p:sp>
        <p:nvSpPr>
          <p:cNvPr id="16" name="Shape 14"/>
          <p:cNvSpPr/>
          <p:nvPr/>
        </p:nvSpPr>
        <p:spPr>
          <a:xfrm>
            <a:off x="4160520" y="3300984"/>
            <a:ext cx="0" cy="201168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34440" y="3502152"/>
            <a:ext cx="585216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34440" y="3502152"/>
            <a:ext cx="0" cy="21031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12464"/>
            <a:ext cx="1371600" cy="114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78561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Responsable Técnico</a:t>
            </a:r>
            <a:endParaRPr lang="es-CL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4425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 → 3</a:t>
            </a:r>
            <a:endParaRPr lang="es-CL" sz="2200" dirty="0"/>
          </a:p>
        </p:txBody>
      </p:sp>
      <p:sp>
        <p:nvSpPr>
          <p:cNvPr id="22" name="Shape 20"/>
          <p:cNvSpPr/>
          <p:nvPr/>
        </p:nvSpPr>
        <p:spPr>
          <a:xfrm>
            <a:off x="2697480" y="3502152"/>
            <a:ext cx="0" cy="21031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3712464"/>
            <a:ext cx="1371600" cy="114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57400" y="378561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Calibración</a:t>
            </a:r>
            <a:endParaRPr lang="es-CL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4425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 → 4</a:t>
            </a:r>
            <a:endParaRPr lang="es-CL" sz="2200" dirty="0"/>
          </a:p>
        </p:txBody>
      </p:sp>
      <p:sp>
        <p:nvSpPr>
          <p:cNvPr id="26" name="Shape 24"/>
          <p:cNvSpPr/>
          <p:nvPr/>
        </p:nvSpPr>
        <p:spPr>
          <a:xfrm>
            <a:off x="4160520" y="3502152"/>
            <a:ext cx="0" cy="21031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0" y="3712464"/>
            <a:ext cx="1371600" cy="114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20440" y="378561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y Postventa</a:t>
            </a:r>
            <a:endParaRPr lang="es-CL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4425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 → 4</a:t>
            </a:r>
            <a:endParaRPr lang="es-CL" sz="2200" dirty="0"/>
          </a:p>
        </p:txBody>
      </p:sp>
      <p:sp>
        <p:nvSpPr>
          <p:cNvPr id="30" name="Shape 28"/>
          <p:cNvSpPr/>
          <p:nvPr/>
        </p:nvSpPr>
        <p:spPr>
          <a:xfrm>
            <a:off x="5623560" y="3502152"/>
            <a:ext cx="0" cy="21031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37760" y="3712464"/>
            <a:ext cx="1371600" cy="114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tx2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4983480" y="378561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de Empresas</a:t>
            </a:r>
            <a:endParaRPr lang="es-CL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983480" y="4425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tx2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 → 2</a:t>
            </a:r>
            <a:endParaRPr lang="es-CL" sz="2200" dirty="0"/>
          </a:p>
        </p:txBody>
      </p:sp>
      <p:sp>
        <p:nvSpPr>
          <p:cNvPr id="34" name="Shape 32"/>
          <p:cNvSpPr/>
          <p:nvPr/>
        </p:nvSpPr>
        <p:spPr>
          <a:xfrm>
            <a:off x="7086600" y="3502152"/>
            <a:ext cx="0" cy="210312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712464"/>
            <a:ext cx="1371600" cy="11430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46520" y="378561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Administración</a:t>
            </a:r>
            <a:endParaRPr lang="es-CL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446520" y="44256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</a:t>
            </a:r>
            <a:endParaRPr lang="es-CL" sz="2200" dirty="0"/>
          </a:p>
        </p:txBody>
      </p:sp>
      <p:sp>
        <p:nvSpPr>
          <p:cNvPr id="38" name="Shape 36"/>
          <p:cNvSpPr/>
          <p:nvPr/>
        </p:nvSpPr>
        <p:spPr>
          <a:xfrm>
            <a:off x="1234440" y="4855464"/>
            <a:ext cx="0" cy="32004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" y="5175504"/>
            <a:ext cx="2834640" cy="822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5175504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Técnicos</a:t>
            </a:r>
            <a:endParaRPr lang="es-CL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1965960" y="5175504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8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2 → 36</a:t>
            </a:r>
            <a:endParaRPr lang="es-CL" sz="2800" dirty="0"/>
          </a:p>
        </p:txBody>
      </p:sp>
      <p:sp>
        <p:nvSpPr>
          <p:cNvPr id="42" name="Text 40"/>
          <p:cNvSpPr txBox="1"/>
          <p:nvPr/>
        </p:nvSpPr>
        <p:spPr>
          <a:xfrm>
            <a:off x="3657600" y="5175504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4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Punteado: se suma después de abrir.</a:t>
            </a:r>
            <a:endParaRPr lang="es-CL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8183880" y="2331720"/>
            <a:ext cx="3459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PERSONAS AL CIERRE</a:t>
            </a:r>
            <a:endParaRPr lang="es-CL" sz="1200" dirty="0"/>
          </a:p>
        </p:txBody>
      </p:sp>
      <p:graphicFrame>
        <p:nvGraphicFramePr>
          <p:cNvPr id="44" name="Dotación al cierre de cada año" descr=""/>
          <p:cNvGraphicFramePr/>
          <p:nvPr/>
        </p:nvGraphicFramePr>
        <p:xfrm>
          <a:off x="8092440" y="2624328"/>
          <a:ext cx="3550615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RECURSOS HUMANOS · POLÍTICA Y PRESUPUESTO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TÉCNICOS FORMADOS EN CASA,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costo a la mitad.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Ley N° 21.735; Ley N° 16.744; Ley N° 19.728; elaboración propia (Informe Fase 3, Tablas N° 14 a 16 y Anexo N° 7).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LUMINE HABILITA · RENTA BRUTA POR NIVEL</a:t>
            </a:r>
            <a:endParaRPr lang="es-CL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4114800"/>
            <a:ext cx="1380744" cy="1463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4261104"/>
            <a:ext cx="438912" cy="2926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6656" y="426110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N1</a:t>
            </a:r>
            <a:endParaRPr lang="es-CL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46634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Aprende</a:t>
            </a:r>
            <a:endParaRPr lang="es-CL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29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$750 mil</a:t>
            </a:r>
            <a:endParaRPr lang="es-CL" sz="2200" dirty="0"/>
          </a:p>
        </p:txBody>
      </p:sp>
      <p:sp>
        <p:nvSpPr>
          <p:cNvPr id="11" name="Shape 9"/>
          <p:cNvSpPr/>
          <p:nvPr/>
        </p:nvSpPr>
        <p:spPr>
          <a:xfrm>
            <a:off x="2039112" y="3657600"/>
            <a:ext cx="1380744" cy="19202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67128" y="3803904"/>
            <a:ext cx="438912" cy="2926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167128" y="380390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N2</a:t>
            </a:r>
            <a:endParaRPr lang="es-CL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67128" y="42062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Instala</a:t>
            </a:r>
            <a:endParaRPr lang="es-CL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130552" y="5029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$850 mil</a:t>
            </a:r>
            <a:endParaRPr lang="es-CL" sz="2200" dirty="0"/>
          </a:p>
        </p:txBody>
      </p:sp>
      <p:sp>
        <p:nvSpPr>
          <p:cNvPr id="16" name="Shape 14"/>
          <p:cNvSpPr/>
          <p:nvPr/>
        </p:nvSpPr>
        <p:spPr>
          <a:xfrm>
            <a:off x="3529584" y="3200400"/>
            <a:ext cx="1380744" cy="23774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3346704"/>
            <a:ext cx="438912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0" y="334670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N3</a:t>
            </a:r>
            <a:endParaRPr lang="es-CL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7490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Autónomo</a:t>
            </a:r>
            <a:endParaRPr lang="es-CL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621024" y="5029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$1,0 M</a:t>
            </a:r>
            <a:endParaRPr lang="es-CL" sz="2200" dirty="0"/>
          </a:p>
        </p:txBody>
      </p:sp>
      <p:sp>
        <p:nvSpPr>
          <p:cNvPr id="21" name="Shape 19"/>
          <p:cNvSpPr/>
          <p:nvPr/>
        </p:nvSpPr>
        <p:spPr>
          <a:xfrm>
            <a:off x="5020056" y="2743200"/>
            <a:ext cx="1380744" cy="283464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65192" y="268833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65192" y="26883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0216" y="268833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5664" y="268833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5192" y="56327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65192" y="54772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0216" y="563270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5664" y="54772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48072" y="2889504"/>
            <a:ext cx="438912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148072" y="288950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N4</a:t>
            </a:r>
            <a:endParaRPr lang="es-CL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148072" y="3291840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Forma</a:t>
            </a:r>
            <a:endParaRPr lang="es-CL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111496" y="5029200"/>
            <a:ext cx="1243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2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$1,15 M</a:t>
            </a:r>
            <a:endParaRPr lang="es-CL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760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Del N1 al N4 en unos ocho meses, con bono por nivel.</a:t>
            </a:r>
            <a:endParaRPr lang="es-CL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2331720"/>
            <a:ext cx="47850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NÓMINA POR INSTALACIÓN · MILES DE $</a:t>
            </a:r>
            <a:endParaRPr lang="es-CL" sz="1200" dirty="0"/>
          </a:p>
        </p:txBody>
      </p:sp>
      <p:graphicFrame>
        <p:nvGraphicFramePr>
          <p:cNvPr id="36" name="Costo de nómina por instalación propia" descr=""/>
          <p:cNvGraphicFramePr/>
          <p:nvPr/>
        </p:nvGraphicFramePr>
        <p:xfrm>
          <a:off x="6766560" y="2624328"/>
          <a:ext cx="4876495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Text 34"/>
          <p:cNvSpPr txBox="1"/>
          <p:nvPr/>
        </p:nvSpPr>
        <p:spPr>
          <a:xfrm>
            <a:off x="6858000" y="5943600"/>
            <a:ext cx="2499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Los cargos fijos se reparten en más autos.</a:t>
            </a:r>
            <a:endParaRPr lang="es-CL" sz="1600" dirty="0"/>
          </a:p>
        </p:txBody>
      </p:sp>
      <p:sp>
        <p:nvSpPr>
          <p:cNvPr id="38" name="Shape 35"/>
          <p:cNvSpPr/>
          <p:nvPr/>
        </p:nvSpPr>
        <p:spPr>
          <a:xfrm>
            <a:off x="9722815" y="5989320"/>
            <a:ext cx="192024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9" name="Text 36"/>
          <p:cNvSpPr txBox="1"/>
          <p:nvPr/>
        </p:nvSpPr>
        <p:spPr>
          <a:xfrm>
            <a:off x="9795967" y="59893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 REAJUSTES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OPERACIONES · FLUJO OPERACIONAL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NEGOCIO MIDE Y RECOMIENDA;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cliente decide.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borrador de reglamento MTT (2021), arts. 11 a 18; elaboración propia (Informe Fase 3, Figura N° 4 y Tabla N° 17).</a:t>
            </a:r>
            <a:endParaRPr lang="es-CL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2211568" cy="457200"/>
          </a:xfrm>
          <a:prstGeom prst="homePlate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31720"/>
            <a:ext cx="182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0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 </a:t>
            </a:r>
            <a:pPr indent="0" marL="0">
              <a:buNone/>
            </a:pPr>
            <a:r>
              <a:rPr lang="es-CL" altLang="en-US" sz="110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CAPTACIÓN</a:t>
            </a:r>
            <a:endParaRPr lang="es-CL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990088"/>
            <a:ext cx="2101840" cy="1965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218688"/>
            <a:ext cx="177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Cotiza en la web</a:t>
            </a:r>
            <a:endParaRPr lang="es-CL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4041648"/>
            <a:ext cx="177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estimador da ahorro y plazo.</a:t>
            </a:r>
            <a:endParaRPr lang="es-CL" sz="1600" dirty="0"/>
          </a:p>
        </p:txBody>
      </p:sp>
      <p:sp>
        <p:nvSpPr>
          <p:cNvPr id="10" name="Text 8"/>
          <p:cNvSpPr/>
          <p:nvPr/>
        </p:nvSpPr>
        <p:spPr>
          <a:xfrm>
            <a:off x="2796784" y="2331720"/>
            <a:ext cx="2211568" cy="457200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3034528" y="2331720"/>
            <a:ext cx="182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0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 </a:t>
            </a:r>
            <a:pPr indent="0" marL="0">
              <a:buNone/>
            </a:pPr>
            <a:r>
              <a:rPr lang="es-CL" altLang="en-US" sz="110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ASESORÍA</a:t>
            </a:r>
            <a:endParaRPr lang="es-CL" sz="1100" dirty="0"/>
          </a:p>
        </p:txBody>
      </p:sp>
      <p:sp>
        <p:nvSpPr>
          <p:cNvPr id="12" name="Shape 10"/>
          <p:cNvSpPr/>
          <p:nvPr/>
        </p:nvSpPr>
        <p:spPr>
          <a:xfrm>
            <a:off x="2796784" y="2990088"/>
            <a:ext cx="2101840" cy="1965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61376" y="3218688"/>
            <a:ext cx="177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cliente decide</a:t>
            </a:r>
            <a:endParaRPr lang="es-CL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2961376" y="4041648"/>
            <a:ext cx="177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Puede medir una semana antes.</a:t>
            </a:r>
            <a:endParaRPr lang="es-CL" sz="1600" dirty="0"/>
          </a:p>
        </p:txBody>
      </p:sp>
      <p:sp>
        <p:nvSpPr>
          <p:cNvPr id="15" name="Text 13"/>
          <p:cNvSpPr/>
          <p:nvPr/>
        </p:nvSpPr>
        <p:spPr>
          <a:xfrm>
            <a:off x="5044928" y="2331720"/>
            <a:ext cx="2211568" cy="457200"/>
          </a:xfrm>
          <a:prstGeom prst="chevron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 txBox="1"/>
          <p:nvPr/>
        </p:nvSpPr>
        <p:spPr>
          <a:xfrm>
            <a:off x="5282672" y="2331720"/>
            <a:ext cx="182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00" b="1" spc="10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 </a:t>
            </a:r>
            <a:pPr indent="0" marL="0">
              <a:buNone/>
            </a:pPr>
            <a:r>
              <a:rPr lang="es-CL" altLang="en-US" sz="1100" b="1" spc="100" kern="0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TALLER</a:t>
            </a:r>
            <a:endParaRPr lang="es-CL" sz="1100" dirty="0"/>
          </a:p>
        </p:txBody>
      </p:sp>
      <p:sp>
        <p:nvSpPr>
          <p:cNvPr id="17" name="Shape 15"/>
          <p:cNvSpPr/>
          <p:nvPr/>
        </p:nvSpPr>
        <p:spPr>
          <a:xfrm>
            <a:off x="5044928" y="2990088"/>
            <a:ext cx="2101840" cy="196596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90064" y="29352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90064" y="29352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6184" y="29352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01632" y="29352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90064" y="501091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90064" y="485546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6184" y="501091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1632" y="485546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09520" y="3218688"/>
            <a:ext cx="177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Una jornada</a:t>
            </a:r>
            <a:endParaRPr lang="es-CL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209520" y="4041648"/>
            <a:ext cx="177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8,4 horas y cuatro controles.</a:t>
            </a:r>
            <a:endParaRPr lang="es-CL" sz="1600" dirty="0"/>
          </a:p>
        </p:txBody>
      </p:sp>
      <p:sp>
        <p:nvSpPr>
          <p:cNvPr id="28" name="Text 26"/>
          <p:cNvSpPr/>
          <p:nvPr/>
        </p:nvSpPr>
        <p:spPr>
          <a:xfrm>
            <a:off x="7293072" y="2331720"/>
            <a:ext cx="2211568" cy="457200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 txBox="1"/>
          <p:nvPr/>
        </p:nvSpPr>
        <p:spPr>
          <a:xfrm>
            <a:off x="7530816" y="2331720"/>
            <a:ext cx="182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0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 </a:t>
            </a:r>
            <a:pPr indent="0" marL="0">
              <a:buNone/>
            </a:pPr>
            <a:r>
              <a:rPr lang="es-CL" altLang="en-US" sz="110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CERTIFICACIÓN</a:t>
            </a:r>
            <a:endParaRPr lang="es-CL" sz="1100" dirty="0"/>
          </a:p>
        </p:txBody>
      </p:sp>
      <p:sp>
        <p:nvSpPr>
          <p:cNvPr id="30" name="Shape 28"/>
          <p:cNvSpPr/>
          <p:nvPr/>
        </p:nvSpPr>
        <p:spPr>
          <a:xfrm>
            <a:off x="7293072" y="2990088"/>
            <a:ext cx="2101840" cy="1965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7664" y="3218688"/>
            <a:ext cx="177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 certificado</a:t>
            </a:r>
            <a:endParaRPr lang="es-CL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7457664" y="4041648"/>
            <a:ext cx="177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Firma del Responsable Técnico.</a:t>
            </a:r>
            <a:endParaRPr lang="es-CL" sz="1600" dirty="0"/>
          </a:p>
        </p:txBody>
      </p:sp>
      <p:sp>
        <p:nvSpPr>
          <p:cNvPr id="33" name="Text 31"/>
          <p:cNvSpPr/>
          <p:nvPr/>
        </p:nvSpPr>
        <p:spPr>
          <a:xfrm>
            <a:off x="9541215" y="2331720"/>
            <a:ext cx="2101840" cy="457200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 txBox="1"/>
          <p:nvPr/>
        </p:nvSpPr>
        <p:spPr>
          <a:xfrm>
            <a:off x="9778959" y="2331720"/>
            <a:ext cx="182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100" b="1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 </a:t>
            </a:r>
            <a:pPr indent="0" marL="0">
              <a:buNone/>
            </a:pPr>
            <a:r>
              <a:rPr lang="es-CL" altLang="en-US" sz="1100" b="1" spc="10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POSTVENTA</a:t>
            </a:r>
            <a:endParaRPr lang="es-CL" sz="1100" dirty="0"/>
          </a:p>
        </p:txBody>
      </p:sp>
      <p:sp>
        <p:nvSpPr>
          <p:cNvPr id="35" name="Shape 33"/>
          <p:cNvSpPr/>
          <p:nvPr/>
        </p:nvSpPr>
        <p:spPr>
          <a:xfrm>
            <a:off x="9541215" y="2990088"/>
            <a:ext cx="2101840" cy="19659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705807" y="3218688"/>
            <a:ext cx="177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9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Ahorro medido</a:t>
            </a:r>
            <a:endParaRPr lang="es-CL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9705807" y="4041648"/>
            <a:ext cx="177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Informe a los tres meses.</a:t>
            </a:r>
            <a:endParaRPr lang="es-CL" sz="1600" dirty="0"/>
          </a:p>
        </p:txBody>
      </p:sp>
      <p:sp>
        <p:nvSpPr>
          <p:cNvPr id="38" name="Shape 36"/>
          <p:cNvSpPr/>
          <p:nvPr/>
        </p:nvSpPr>
        <p:spPr>
          <a:xfrm>
            <a:off x="548640" y="5120640"/>
            <a:ext cx="1109441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523036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1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límite de capacidad son las horas de los dúos.</a:t>
            </a:r>
            <a:endParaRPr lang="es-CL" sz="2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70585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dinamómetro por local basta, incluso con seis dúos.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OPERACIONES · CARTA GANTT DE IMPLEMENTACIÓN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ABRIR EN ENERO DE 2027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depende de un reglamento.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Figura N° 5). Mes 1 = enero de 2027 (supuesto).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57600" y="2350008"/>
            <a:ext cx="772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1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2026</a:t>
            </a:r>
            <a:endParaRPr lang="es-CL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30386" y="2350008"/>
            <a:ext cx="309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1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1 · 2027</a:t>
            </a:r>
            <a:endParaRPr lang="es-CL" sz="1100" dirty="0"/>
          </a:p>
        </p:txBody>
      </p:sp>
      <p:sp>
        <p:nvSpPr>
          <p:cNvPr id="7" name="Shape 5"/>
          <p:cNvSpPr/>
          <p:nvPr/>
        </p:nvSpPr>
        <p:spPr>
          <a:xfrm>
            <a:off x="4430386" y="2642616"/>
            <a:ext cx="0" cy="292608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21530" y="2350008"/>
            <a:ext cx="1030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1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2</a:t>
            </a:r>
            <a:endParaRPr lang="es-CL" sz="1100" dirty="0"/>
          </a:p>
        </p:txBody>
      </p:sp>
      <p:sp>
        <p:nvSpPr>
          <p:cNvPr id="9" name="Shape 7"/>
          <p:cNvSpPr/>
          <p:nvPr/>
        </p:nvSpPr>
        <p:spPr>
          <a:xfrm>
            <a:off x="7521530" y="2642616"/>
            <a:ext cx="0" cy="29260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51911" y="2350008"/>
            <a:ext cx="1030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1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3</a:t>
            </a:r>
            <a:endParaRPr lang="es-CL" sz="1100" dirty="0"/>
          </a:p>
        </p:txBody>
      </p:sp>
      <p:sp>
        <p:nvSpPr>
          <p:cNvPr id="11" name="Shape 9"/>
          <p:cNvSpPr/>
          <p:nvPr/>
        </p:nvSpPr>
        <p:spPr>
          <a:xfrm>
            <a:off x="8551911" y="2642616"/>
            <a:ext cx="0" cy="29260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82293" y="2350008"/>
            <a:ext cx="1030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1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4</a:t>
            </a:r>
            <a:endParaRPr lang="es-CL" sz="1100" dirty="0"/>
          </a:p>
        </p:txBody>
      </p:sp>
      <p:sp>
        <p:nvSpPr>
          <p:cNvPr id="13" name="Shape 11"/>
          <p:cNvSpPr/>
          <p:nvPr/>
        </p:nvSpPr>
        <p:spPr>
          <a:xfrm>
            <a:off x="9582293" y="2642616"/>
            <a:ext cx="0" cy="29260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12674" y="2350008"/>
            <a:ext cx="103038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1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AÑO 5</a:t>
            </a:r>
            <a:endParaRPr lang="es-CL" sz="1100" dirty="0"/>
          </a:p>
        </p:txBody>
      </p:sp>
      <p:sp>
        <p:nvSpPr>
          <p:cNvPr id="15" name="Shape 13"/>
          <p:cNvSpPr/>
          <p:nvPr/>
        </p:nvSpPr>
        <p:spPr>
          <a:xfrm>
            <a:off x="10612674" y="2642616"/>
            <a:ext cx="0" cy="292608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269748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Investigación y permisos</a:t>
            </a:r>
            <a:endParaRPr lang="es-CL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2761488"/>
            <a:ext cx="772786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099816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09981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Homologación y primer dúo</a:t>
            </a:r>
            <a:endParaRPr lang="es-CL" sz="1400" dirty="0"/>
          </a:p>
        </p:txBody>
      </p:sp>
      <p:sp>
        <p:nvSpPr>
          <p:cNvPr id="20" name="Shape 18"/>
          <p:cNvSpPr/>
          <p:nvPr/>
        </p:nvSpPr>
        <p:spPr>
          <a:xfrm>
            <a:off x="3915195" y="3163824"/>
            <a:ext cx="515191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502152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502152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Reglamento Ley 21.793</a:t>
            </a:r>
            <a:endParaRPr lang="es-CL" sz="1400" dirty="0"/>
          </a:p>
        </p:txBody>
      </p:sp>
      <p:sp>
        <p:nvSpPr>
          <p:cNvPr id="23" name="Shape 21"/>
          <p:cNvSpPr/>
          <p:nvPr/>
        </p:nvSpPr>
        <p:spPr>
          <a:xfrm>
            <a:off x="4155284" y="3557016"/>
            <a:ext cx="292608" cy="292608"/>
          </a:xfrm>
          <a:prstGeom prst="star5">
            <a:avLst/>
          </a:prstGeom>
          <a:solidFill>
            <a:schemeClr val="accent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30188" y="350215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accent3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debe estar vigente antes de vender</a:t>
            </a:r>
            <a:endParaRPr lang="es-CL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3904488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904488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 1: dúos 1 a 6</a:t>
            </a:r>
            <a:endParaRPr lang="es-CL" sz="1400" dirty="0"/>
          </a:p>
        </p:txBody>
      </p:sp>
      <p:sp>
        <p:nvSpPr>
          <p:cNvPr id="27" name="Shape 25"/>
          <p:cNvSpPr/>
          <p:nvPr/>
        </p:nvSpPr>
        <p:spPr>
          <a:xfrm>
            <a:off x="4320658" y="3995928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94394" y="38770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s-CL" sz="1050" dirty="0"/>
          </a:p>
        </p:txBody>
      </p:sp>
      <p:sp>
        <p:nvSpPr>
          <p:cNvPr id="29" name="Shape 27"/>
          <p:cNvSpPr/>
          <p:nvPr/>
        </p:nvSpPr>
        <p:spPr>
          <a:xfrm>
            <a:off x="5203172" y="3968496"/>
            <a:ext cx="515191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30" name="Shape 28"/>
          <p:cNvSpPr/>
          <p:nvPr/>
        </p:nvSpPr>
        <p:spPr>
          <a:xfrm>
            <a:off x="5608635" y="3995928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82371" y="38770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s-CL" sz="1050" dirty="0"/>
          </a:p>
        </p:txBody>
      </p:sp>
      <p:sp>
        <p:nvSpPr>
          <p:cNvPr id="32" name="Shape 30"/>
          <p:cNvSpPr/>
          <p:nvPr/>
        </p:nvSpPr>
        <p:spPr>
          <a:xfrm>
            <a:off x="6748744" y="3968496"/>
            <a:ext cx="515191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33" name="Shape 31"/>
          <p:cNvSpPr/>
          <p:nvPr/>
        </p:nvSpPr>
        <p:spPr>
          <a:xfrm>
            <a:off x="7154207" y="3995928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27943" y="38770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s-CL" sz="1050" dirty="0"/>
          </a:p>
        </p:txBody>
      </p:sp>
      <p:sp>
        <p:nvSpPr>
          <p:cNvPr id="35" name="Shape 33"/>
          <p:cNvSpPr/>
          <p:nvPr/>
        </p:nvSpPr>
        <p:spPr>
          <a:xfrm>
            <a:off x="7263935" y="3968496"/>
            <a:ext cx="343460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7667" y="3995928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71403" y="38770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s-CL" sz="1050" dirty="0"/>
          </a:p>
        </p:txBody>
      </p:sp>
      <p:sp>
        <p:nvSpPr>
          <p:cNvPr id="38" name="Shape 36"/>
          <p:cNvSpPr/>
          <p:nvPr/>
        </p:nvSpPr>
        <p:spPr>
          <a:xfrm>
            <a:off x="7779125" y="3968496"/>
            <a:ext cx="171730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39" name="Shape 37"/>
          <p:cNvSpPr/>
          <p:nvPr/>
        </p:nvSpPr>
        <p:spPr>
          <a:xfrm>
            <a:off x="7841127" y="3995928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14863" y="38770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s-CL" sz="1050" dirty="0"/>
          </a:p>
        </p:txBody>
      </p:sp>
      <p:sp>
        <p:nvSpPr>
          <p:cNvPr id="41" name="Shape 39"/>
          <p:cNvSpPr/>
          <p:nvPr/>
        </p:nvSpPr>
        <p:spPr>
          <a:xfrm>
            <a:off x="7950855" y="3968496"/>
            <a:ext cx="171730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42" name="Shape 40"/>
          <p:cNvSpPr/>
          <p:nvPr/>
        </p:nvSpPr>
        <p:spPr>
          <a:xfrm>
            <a:off x="8012858" y="3995928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86594" y="38770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05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s-CL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306824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48640" y="4306824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Calibración de modelos</a:t>
            </a:r>
            <a:endParaRPr lang="es-CL" sz="1400" dirty="0"/>
          </a:p>
        </p:txBody>
      </p:sp>
      <p:sp>
        <p:nvSpPr>
          <p:cNvPr id="46" name="Shape 44"/>
          <p:cNvSpPr/>
          <p:nvPr/>
        </p:nvSpPr>
        <p:spPr>
          <a:xfrm>
            <a:off x="4430386" y="4370832"/>
            <a:ext cx="3091144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30386" y="4306824"/>
            <a:ext cx="3091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bg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dos al mes</a:t>
            </a:r>
            <a:endParaRPr lang="es-CL" sz="1300" dirty="0"/>
          </a:p>
        </p:txBody>
      </p:sp>
      <p:sp>
        <p:nvSpPr>
          <p:cNvPr id="48" name="Shape 46"/>
          <p:cNvSpPr/>
          <p:nvPr/>
        </p:nvSpPr>
        <p:spPr>
          <a:xfrm>
            <a:off x="7521530" y="4370832"/>
            <a:ext cx="4121525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521530" y="4306824"/>
            <a:ext cx="412152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uno al mes</a:t>
            </a:r>
            <a:endParaRPr lang="es-CL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4709160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4709160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Red de talleres</a:t>
            </a:r>
            <a:endParaRPr lang="es-CL" sz="1400" dirty="0"/>
          </a:p>
        </p:txBody>
      </p:sp>
      <p:sp>
        <p:nvSpPr>
          <p:cNvPr id="52" name="Shape 50"/>
          <p:cNvSpPr/>
          <p:nvPr/>
        </p:nvSpPr>
        <p:spPr>
          <a:xfrm>
            <a:off x="7521530" y="4773168"/>
            <a:ext cx="4121525" cy="2743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003271" y="4709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b="1" dirty="0">
                <a:solidFill>
                  <a:schemeClr val="bg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</a:t>
            </a:r>
            <a:endParaRPr lang="es-CL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9033653" y="4709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b="1" dirty="0">
                <a:solidFill>
                  <a:schemeClr val="bg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9</a:t>
            </a:r>
            <a:endParaRPr lang="es-CL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064034" y="4709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b="1" dirty="0">
                <a:solidFill>
                  <a:schemeClr val="bg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</a:t>
            </a:r>
            <a:endParaRPr lang="es-CL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1094415" y="4709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b="1" dirty="0">
                <a:solidFill>
                  <a:schemeClr val="bg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42</a:t>
            </a:r>
            <a:endParaRPr lang="es-CL" sz="1400" dirty="0"/>
          </a:p>
        </p:txBody>
      </p:sp>
      <p:sp>
        <p:nvSpPr>
          <p:cNvPr id="57" name="Shape 55"/>
          <p:cNvSpPr/>
          <p:nvPr/>
        </p:nvSpPr>
        <p:spPr>
          <a:xfrm>
            <a:off x="548640" y="5111496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48640" y="5111496"/>
            <a:ext cx="2971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4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Talleres 2 y 3</a:t>
            </a:r>
            <a:endParaRPr lang="es-CL" sz="1400" dirty="0"/>
          </a:p>
        </p:txBody>
      </p:sp>
      <p:sp>
        <p:nvSpPr>
          <p:cNvPr id="59" name="Shape 57"/>
          <p:cNvSpPr/>
          <p:nvPr/>
        </p:nvSpPr>
        <p:spPr>
          <a:xfrm>
            <a:off x="8294316" y="5175504"/>
            <a:ext cx="257595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0" name="Shape 58"/>
          <p:cNvSpPr/>
          <p:nvPr/>
        </p:nvSpPr>
        <p:spPr>
          <a:xfrm>
            <a:off x="8551911" y="5175504"/>
            <a:ext cx="1030381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551911" y="5111496"/>
            <a:ext cx="10303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 2</a:t>
            </a:r>
            <a:endParaRPr lang="es-CL" sz="1300" dirty="0"/>
          </a:p>
        </p:txBody>
      </p:sp>
      <p:sp>
        <p:nvSpPr>
          <p:cNvPr id="62" name="Shape 60"/>
          <p:cNvSpPr/>
          <p:nvPr/>
        </p:nvSpPr>
        <p:spPr>
          <a:xfrm>
            <a:off x="8442183" y="5202936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55079" y="5175504"/>
            <a:ext cx="257595" cy="27432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64" name="Shape 62"/>
          <p:cNvSpPr/>
          <p:nvPr/>
        </p:nvSpPr>
        <p:spPr>
          <a:xfrm>
            <a:off x="10612674" y="5175504"/>
            <a:ext cx="1030381" cy="27432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0612674" y="5111496"/>
            <a:ext cx="103038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3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 3</a:t>
            </a:r>
            <a:endParaRPr lang="es-CL" sz="1300" dirty="0"/>
          </a:p>
        </p:txBody>
      </p:sp>
      <p:sp>
        <p:nvSpPr>
          <p:cNvPr id="66" name="Shape 64"/>
          <p:cNvSpPr/>
          <p:nvPr/>
        </p:nvSpPr>
        <p:spPr>
          <a:xfrm>
            <a:off x="10502946" y="5202936"/>
            <a:ext cx="219456" cy="219456"/>
          </a:xfrm>
          <a:prstGeom prst="diamond">
            <a:avLst/>
          </a:prstGeom>
          <a:solidFill>
            <a:schemeClr val="tx1"/>
          </a:solidFill>
          <a:ln w="6350">
            <a:solidFill>
              <a:schemeClr val="bg1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48640" y="5843016"/>
            <a:ext cx="182880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822960" y="5788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Actividad principal</a:t>
            </a:r>
            <a:endParaRPr lang="es-CL" sz="1300" dirty="0"/>
          </a:p>
        </p:txBody>
      </p:sp>
      <p:sp>
        <p:nvSpPr>
          <p:cNvPr id="69" name="Shape 67"/>
          <p:cNvSpPr/>
          <p:nvPr/>
        </p:nvSpPr>
        <p:spPr>
          <a:xfrm>
            <a:off x="2788920" y="5843016"/>
            <a:ext cx="182880" cy="182880"/>
          </a:xfrm>
          <a:prstGeom prst="rect">
            <a:avLst/>
          </a:prstGeom>
          <a:solidFill>
            <a:srgbClr val="1D4F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3063240" y="5788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Operación</a:t>
            </a:r>
            <a:endParaRPr lang="es-CL" sz="1300" dirty="0"/>
          </a:p>
        </p:txBody>
      </p:sp>
      <p:sp>
        <p:nvSpPr>
          <p:cNvPr id="71" name="Shape 69"/>
          <p:cNvSpPr/>
          <p:nvPr/>
        </p:nvSpPr>
        <p:spPr>
          <a:xfrm>
            <a:off x="5029200" y="5843016"/>
            <a:ext cx="182880" cy="18288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5303520" y="5788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Preapertura de taller</a:t>
            </a:r>
            <a:endParaRPr lang="es-CL" sz="1300" dirty="0"/>
          </a:p>
        </p:txBody>
      </p:sp>
      <p:sp>
        <p:nvSpPr>
          <p:cNvPr id="73" name="Shape 71"/>
          <p:cNvSpPr/>
          <p:nvPr/>
        </p:nvSpPr>
        <p:spPr>
          <a:xfrm>
            <a:off x="7269480" y="5843016"/>
            <a:ext cx="182880" cy="182880"/>
          </a:xfrm>
          <a:prstGeom prst="diamond">
            <a:avLst/>
          </a:prstGeom>
          <a:solidFill>
            <a:schemeClr val="tx1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7543800" y="5788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Apertura o dúo nuevo</a:t>
            </a:r>
            <a:endParaRPr lang="es-CL" sz="1300" dirty="0"/>
          </a:p>
        </p:txBody>
      </p:sp>
      <p:sp>
        <p:nvSpPr>
          <p:cNvPr id="75" name="Shape 73"/>
          <p:cNvSpPr/>
          <p:nvPr/>
        </p:nvSpPr>
        <p:spPr>
          <a:xfrm>
            <a:off x="9509760" y="5843016"/>
            <a:ext cx="182880" cy="182880"/>
          </a:xfrm>
          <a:prstGeom prst="star5">
            <a:avLst/>
          </a:prstGeom>
          <a:solidFill>
            <a:schemeClr val="accent3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9784080" y="57881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3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Hito crítico</a:t>
            </a:r>
            <a:endParaRPr lang="es-CL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OPERACIONES · PRESUPUESTO Y RESULTADO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GANANCIA DESDE EL AÑO 2;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riesgo es el dólar.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Dynojet Research (2016); Importadora JAK (2026); elaboración propia (Informe Fase 3, Tablas N° 18 a 21).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RESULTADO POR LÍNEA · MILLONES DE PESOS</a:t>
            </a:r>
            <a:endParaRPr lang="es-CL" sz="1200" dirty="0"/>
          </a:p>
        </p:txBody>
      </p:sp>
      <p:graphicFrame>
        <p:nvGraphicFramePr>
          <p:cNvPr id="6" name="Resultado referencial por línea de negocio" descr=""/>
          <p:cNvGraphicFramePr/>
          <p:nvPr/>
        </p:nvGraphicFramePr>
        <p:xfrm>
          <a:off x="457200" y="2624328"/>
          <a:ext cx="7040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943600"/>
            <a:ext cx="384048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8" name="Text 5"/>
          <p:cNvSpPr txBox="1"/>
          <p:nvPr/>
        </p:nvSpPr>
        <p:spPr>
          <a:xfrm>
            <a:off x="621792" y="594360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REFERENCIAL · 60% PLUS (SUPUESTO)</a:t>
            </a:r>
            <a:endParaRPr lang="es-CL" sz="1000" dirty="0"/>
          </a:p>
        </p:txBody>
      </p:sp>
      <p:sp>
        <p:nvSpPr>
          <p:cNvPr id="9" name="Shape 6"/>
          <p:cNvSpPr/>
          <p:nvPr/>
        </p:nvSpPr>
        <p:spPr>
          <a:xfrm>
            <a:off x="7909560" y="2331720"/>
            <a:ext cx="3733495" cy="173736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38160" y="2514600"/>
            <a:ext cx="3276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INVERSIÓN POR LOCAL</a:t>
            </a:r>
            <a:endParaRPr lang="es-CL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2788920"/>
            <a:ext cx="3276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50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$81 M</a:t>
            </a:r>
            <a:endParaRPr lang="es-CL" sz="50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3538728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casi la mitad, el dinamómetro</a:t>
            </a:r>
            <a:endParaRPr lang="es-CL" sz="1600" dirty="0"/>
          </a:p>
        </p:txBody>
      </p:sp>
      <p:sp>
        <p:nvSpPr>
          <p:cNvPr id="13" name="Shape 10"/>
          <p:cNvSpPr/>
          <p:nvPr/>
        </p:nvSpPr>
        <p:spPr>
          <a:xfrm>
            <a:off x="7909560" y="4297680"/>
            <a:ext cx="3733495" cy="1938528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854696" y="424281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854696" y="42428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542471" y="424281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697919" y="42428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54696" y="62910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54696" y="61356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542471" y="62910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697919" y="61356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38160" y="4480560"/>
            <a:ext cx="3276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 EL DÓLAR SUBE 10%</a:t>
            </a:r>
            <a:endParaRPr lang="es-CL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4754880"/>
            <a:ext cx="3276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870 → 93</a:t>
            </a:r>
            <a:endParaRPr lang="es-CL" sz="4600" dirty="0"/>
          </a:p>
        </p:txBody>
      </p:sp>
      <p:sp>
        <p:nvSpPr>
          <p:cNvPr id="24" name="Text 21"/>
          <p:cNvSpPr txBox="1"/>
          <p:nvPr/>
        </p:nvSpPr>
        <p:spPr>
          <a:xfrm>
            <a:off x="8138160" y="5504688"/>
            <a:ext cx="3276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millones de resultado propio al año 5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CONCLUSIONES DEL CAPÍTULO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TRES CONCLUSIONES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 dos preguntas por resolver.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con base en Informe Fase 3 (§3.4 y Figura N° 6).</a:t>
            </a:r>
            <a:endParaRPr lang="es-CL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15258" cy="2240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532888"/>
            <a:ext cx="438912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328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s-CL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3288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OPORTUNIDAD</a:t>
            </a:r>
            <a:endParaRPr lang="es-CL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53512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367 &gt; 299</a:t>
            </a:r>
            <a:endParaRPr lang="es-CL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7033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Más demanda que capacidad desde el año 1.</a:t>
            </a:r>
            <a:endParaRPr lang="es-CL" sz="1600" dirty="0"/>
          </a:p>
        </p:txBody>
      </p:sp>
      <p:sp>
        <p:nvSpPr>
          <p:cNvPr id="11" name="Shape 9"/>
          <p:cNvSpPr/>
          <p:nvPr/>
        </p:nvSpPr>
        <p:spPr>
          <a:xfrm>
            <a:off x="4338218" y="2331720"/>
            <a:ext cx="3515258" cy="22402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6818" y="2532888"/>
            <a:ext cx="438912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66818" y="25328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s-CL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15458" y="253288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VENTAJA</a:t>
            </a:r>
            <a:endParaRPr lang="es-CL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66818" y="2953512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Biblioteca</a:t>
            </a:r>
            <a:endParaRPr lang="es-CL" sz="4600" dirty="0"/>
          </a:p>
        </p:txBody>
      </p:sp>
      <p:sp>
        <p:nvSpPr>
          <p:cNvPr id="16" name="Text 14"/>
          <p:cNvSpPr txBox="1"/>
          <p:nvPr/>
        </p:nvSpPr>
        <p:spPr>
          <a:xfrm>
            <a:off x="4566818" y="37033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Ahorra sin cambiar de auto y es difícil de copiar.</a:t>
            </a:r>
            <a:endParaRPr lang="es-CL" sz="1600" dirty="0"/>
          </a:p>
        </p:txBody>
      </p:sp>
      <p:sp>
        <p:nvSpPr>
          <p:cNvPr id="17" name="Shape 15"/>
          <p:cNvSpPr/>
          <p:nvPr/>
        </p:nvSpPr>
        <p:spPr>
          <a:xfrm>
            <a:off x="8127797" y="2331720"/>
            <a:ext cx="3515258" cy="224028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72933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72933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42471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697919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72933" y="46268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72933" y="44714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542471" y="462686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697919" y="447141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56397" y="2532888"/>
            <a:ext cx="438912" cy="2926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56397" y="2532888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s-CL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905037" y="2532888"/>
            <a:ext cx="26008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 GATILLO</a:t>
            </a:r>
            <a:endParaRPr lang="es-CL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356397" y="2953512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6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80%</a:t>
            </a:r>
            <a:endParaRPr lang="es-CL" sz="4600" dirty="0"/>
          </a:p>
        </p:txBody>
      </p:sp>
      <p:sp>
        <p:nvSpPr>
          <p:cNvPr id="30" name="Text 28"/>
          <p:cNvSpPr txBox="1"/>
          <p:nvPr/>
        </p:nvSpPr>
        <p:spPr>
          <a:xfrm>
            <a:off x="8356397" y="3703320"/>
            <a:ext cx="3058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 capacidad: suma dúos, personas y talleres.</a:t>
            </a:r>
            <a:endParaRPr lang="es-CL" sz="1600" dirty="0"/>
          </a:p>
        </p:txBody>
      </p:sp>
      <p:sp>
        <p:nvSpPr>
          <p:cNvPr id="31" name="Shape 29"/>
          <p:cNvSpPr/>
          <p:nvPr/>
        </p:nvSpPr>
        <p:spPr>
          <a:xfrm>
            <a:off x="548640" y="4754880"/>
            <a:ext cx="11094415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8463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RESOLVER</a:t>
            </a:r>
            <a:endParaRPr lang="es-CL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57216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400" i="1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¿El reglamento admitirá el kit, y desde cuándo?</a:t>
            </a:r>
            <a:endParaRPr lang="es-CL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6278728" y="5157216"/>
            <a:ext cx="5364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400" i="1" dirty="0">
                <a:solidFill>
                  <a:schemeClr val="tx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¿El ahorro medido confirma los precios?</a:t>
            </a:r>
            <a:endParaRPr lang="es-CL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7985455" y="5961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GRACIAS · ¿PREGUNTAS?</a:t>
            </a:r>
            <a:endParaRPr lang="es-CL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MATERIAL DE APOYO</a:t>
            </a:r>
            <a:endParaRPr lang="en-US" sz="10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ANEXO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para preguntas.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Las fuentes de cada tema están al pie de su diapositiva.</a:t>
            </a:r>
            <a:endParaRPr lang="es-CL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se presenta: se hace clic en el tema y se salta directo.</a:t>
            </a:r>
            <a:endParaRPr lang="es-CL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71800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971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</a:t>
            </a:r>
            <a:endParaRPr lang="es-CL" sz="1100" dirty="0"/>
          </a:p>
        </p:txBody>
      </p:sp>
      <p:sp>
        <p:nvSpPr>
          <p:cNvPr id="9" name="Text 7">
            <a:hlinkClick r:id="rId1" tooltip="Ir a Hipótesis de la investigación" action="ppaction://hlinksldjump"/>
          </p:cNvPr>
          <p:cNvSpPr txBox="1"/>
          <p:nvPr/>
        </p:nvSpPr>
        <p:spPr>
          <a:xfrm>
            <a:off x="1280160" y="2788920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" action="ppaction://hlinksldjump" tooltip="Ir a Hipótesis de la investig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Hipótesis de la investigación</a:t>
            </a:r>
            <a:endParaRPr lang="en-US" sz="1800" dirty="0"/>
          </a:p>
        </p:txBody>
      </p:sp>
      <p:sp>
        <p:nvSpPr>
          <p:cNvPr id="10" name="Text 8">
            <a:hlinkClick r:id="rId2" tooltip="Ir a Hipótesis de la investigación" action="ppaction://hlinksldjump"/>
          </p:cNvPr>
          <p:cNvSpPr txBox="1"/>
          <p:nvPr/>
        </p:nvSpPr>
        <p:spPr>
          <a:xfrm>
            <a:off x="4724248" y="2788920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" action="ppaction://hlinksldjump" tooltip="Ir a Hipótesis de la investig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17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648456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6484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A2</a:t>
            </a:r>
            <a:endParaRPr lang="es-CL" sz="1100" dirty="0"/>
          </a:p>
        </p:txBody>
      </p:sp>
      <p:sp>
        <p:nvSpPr>
          <p:cNvPr id="14" name="Text 12">
            <a:hlinkClick r:id="rId3" tooltip="Ir a Dudas del cliente y respaldo" action="ppaction://hlinksldjump"/>
          </p:cNvPr>
          <p:cNvSpPr txBox="1"/>
          <p:nvPr/>
        </p:nvSpPr>
        <p:spPr>
          <a:xfrm>
            <a:off x="1280160" y="3465576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3" action="ppaction://hlinksldjump" tooltip="Ir a Dudas del cliente y respal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Dudas del cliente y respaldo</a:t>
            </a:r>
            <a:endParaRPr lang="en-US" sz="1800" dirty="0"/>
          </a:p>
        </p:txBody>
      </p:sp>
      <p:sp>
        <p:nvSpPr>
          <p:cNvPr id="15" name="Text 13">
            <a:hlinkClick r:id="rId4" tooltip="Ir a Dudas del cliente y respaldo" action="ppaction://hlinksldjump"/>
          </p:cNvPr>
          <p:cNvSpPr txBox="1"/>
          <p:nvPr/>
        </p:nvSpPr>
        <p:spPr>
          <a:xfrm>
            <a:off x="4724248" y="3465576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4" action="ppaction://hlinksldjump" tooltip="Ir a Dudas del cliente y respal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18 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42232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4325112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325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A3</a:t>
            </a:r>
            <a:endParaRPr lang="es-CL" sz="1100" dirty="0"/>
          </a:p>
        </p:txBody>
      </p:sp>
      <p:sp>
        <p:nvSpPr>
          <p:cNvPr id="19" name="Text 17">
            <a:hlinkClick r:id="rId5" tooltip="Ir a Mezcla de marketing" action="ppaction://hlinksldjump"/>
          </p:cNvPr>
          <p:cNvSpPr txBox="1"/>
          <p:nvPr/>
        </p:nvSpPr>
        <p:spPr>
          <a:xfrm>
            <a:off x="1280160" y="4142232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5" action="ppaction://hlinksldjump" tooltip="Ir a Mezcla de marke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Mezcla de marketing</a:t>
            </a:r>
            <a:endParaRPr lang="en-US" sz="1800" dirty="0"/>
          </a:p>
        </p:txBody>
      </p:sp>
      <p:sp>
        <p:nvSpPr>
          <p:cNvPr id="20" name="Text 18">
            <a:hlinkClick r:id="rId6" tooltip="Ir a Mezcla de marketing" action="ppaction://hlinksldjump"/>
          </p:cNvPr>
          <p:cNvSpPr txBox="1"/>
          <p:nvPr/>
        </p:nvSpPr>
        <p:spPr>
          <a:xfrm>
            <a:off x="4724248" y="4142232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6" action="ppaction://hlinksldjump" tooltip="Ir a Mezcla de marke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19 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18888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001768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0017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A4</a:t>
            </a:r>
            <a:endParaRPr lang="es-CL" sz="1100" dirty="0"/>
          </a:p>
        </p:txBody>
      </p:sp>
      <p:sp>
        <p:nvSpPr>
          <p:cNvPr id="24" name="Text 22">
            <a:hlinkClick r:id="rId7" tooltip="Ir a Cobros a la red de talleres" action="ppaction://hlinksldjump"/>
          </p:cNvPr>
          <p:cNvSpPr txBox="1"/>
          <p:nvPr/>
        </p:nvSpPr>
        <p:spPr>
          <a:xfrm>
            <a:off x="1280160" y="4818888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7" action="ppaction://hlinksldjump" tooltip="Ir a Cobros a la red de talle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Cobros a la red de talleres</a:t>
            </a:r>
            <a:endParaRPr lang="en-US" sz="1800" dirty="0"/>
          </a:p>
        </p:txBody>
      </p:sp>
      <p:sp>
        <p:nvSpPr>
          <p:cNvPr id="25" name="Text 23">
            <a:hlinkClick r:id="rId8" tooltip="Ir a Cobros a la red de talleres" action="ppaction://hlinksldjump"/>
          </p:cNvPr>
          <p:cNvSpPr txBox="1"/>
          <p:nvPr/>
        </p:nvSpPr>
        <p:spPr>
          <a:xfrm>
            <a:off x="4724248" y="481888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8" action="ppaction://hlinksldjump" tooltip="Ir a Cobros a la red de taller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20 →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495544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5678424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56784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A5</a:t>
            </a:r>
            <a:endParaRPr lang="es-CL" sz="1100" dirty="0"/>
          </a:p>
        </p:txBody>
      </p:sp>
      <p:sp>
        <p:nvSpPr>
          <p:cNvPr id="29" name="Text 27">
            <a:hlinkClick r:id="rId9" tooltip="Ir a Tamaño del mercado y adopción" action="ppaction://hlinksldjump"/>
          </p:cNvPr>
          <p:cNvSpPr txBox="1"/>
          <p:nvPr/>
        </p:nvSpPr>
        <p:spPr>
          <a:xfrm>
            <a:off x="1280160" y="5495544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9" action="ppaction://hlinksldjump" tooltip="Ir a Tamaño del mercado y adop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Tamaño del mercado y adopción</a:t>
            </a:r>
            <a:endParaRPr lang="en-US" sz="1800" dirty="0"/>
          </a:p>
        </p:txBody>
      </p:sp>
      <p:sp>
        <p:nvSpPr>
          <p:cNvPr id="30" name="Text 28">
            <a:hlinkClick r:id="rId10" tooltip="Ir a Tamaño del mercado y adopción" action="ppaction://hlinksldjump"/>
          </p:cNvPr>
          <p:cNvSpPr txBox="1"/>
          <p:nvPr/>
        </p:nvSpPr>
        <p:spPr>
          <a:xfrm>
            <a:off x="4724248" y="549554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0" action="ppaction://hlinksldjump" tooltip="Ir a Tamaño del mercado y adop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21 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617220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4448" y="278892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24448" y="2971800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24448" y="29718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A6</a:t>
            </a:r>
            <a:endParaRPr lang="es-CL" sz="1100" dirty="0"/>
          </a:p>
        </p:txBody>
      </p:sp>
      <p:sp>
        <p:nvSpPr>
          <p:cNvPr id="35" name="Text 33">
            <a:hlinkClick r:id="rId11" tooltip="Ir a Perfiles de cargo" action="ppaction://hlinksldjump"/>
          </p:cNvPr>
          <p:cNvSpPr txBox="1"/>
          <p:nvPr/>
        </p:nvSpPr>
        <p:spPr>
          <a:xfrm>
            <a:off x="7055968" y="2788920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1" action="ppaction://hlinksldjump" tooltip="Ir a Perfiles de carg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Perfiles de cargo</a:t>
            </a:r>
            <a:endParaRPr lang="en-US" sz="1800" dirty="0"/>
          </a:p>
        </p:txBody>
      </p:sp>
      <p:sp>
        <p:nvSpPr>
          <p:cNvPr id="36" name="Text 34">
            <a:hlinkClick r:id="rId12" tooltip="Ir a Perfiles de cargo" action="ppaction://hlinksldjump"/>
          </p:cNvPr>
          <p:cNvSpPr txBox="1"/>
          <p:nvPr/>
        </p:nvSpPr>
        <p:spPr>
          <a:xfrm>
            <a:off x="10500055" y="2788920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2" action="ppaction://hlinksldjump" tooltip="Ir a Perfiles de carg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22 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24448" y="3465576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4448" y="3648456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24448" y="364845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A7</a:t>
            </a:r>
            <a:endParaRPr lang="es-CL" sz="1100" dirty="0"/>
          </a:p>
        </p:txBody>
      </p:sp>
      <p:sp>
        <p:nvSpPr>
          <p:cNvPr id="40" name="Text 38">
            <a:hlinkClick r:id="rId13" tooltip="Ir a Rentas y bonos por nivel" action="ppaction://hlinksldjump"/>
          </p:cNvPr>
          <p:cNvSpPr txBox="1"/>
          <p:nvPr/>
        </p:nvSpPr>
        <p:spPr>
          <a:xfrm>
            <a:off x="7055968" y="3465576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3" action="ppaction://hlinksldjump" tooltip="Ir a Rentas y bonos por ni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Rentas y bonos por nivel</a:t>
            </a:r>
            <a:endParaRPr lang="en-US" sz="1800" dirty="0"/>
          </a:p>
        </p:txBody>
      </p:sp>
      <p:sp>
        <p:nvSpPr>
          <p:cNvPr id="41" name="Text 39">
            <a:hlinkClick r:id="rId14" tooltip="Ir a Rentas y bonos por nivel" action="ppaction://hlinksldjump"/>
          </p:cNvPr>
          <p:cNvSpPr txBox="1"/>
          <p:nvPr/>
        </p:nvSpPr>
        <p:spPr>
          <a:xfrm>
            <a:off x="10500055" y="3465576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4" action="ppaction://hlinksldjump" tooltip="Ir a Rentas y bonos por nive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23 →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24448" y="4142232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24448" y="4325112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324448" y="432511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A8</a:t>
            </a:r>
            <a:endParaRPr lang="es-CL" sz="1100" dirty="0"/>
          </a:p>
        </p:txBody>
      </p:sp>
      <p:sp>
        <p:nvSpPr>
          <p:cNvPr id="45" name="Text 43">
            <a:hlinkClick r:id="rId15" tooltip="Ir a Jornada de instalación" action="ppaction://hlinksldjump"/>
          </p:cNvPr>
          <p:cNvSpPr txBox="1"/>
          <p:nvPr/>
        </p:nvSpPr>
        <p:spPr>
          <a:xfrm>
            <a:off x="7055968" y="4142232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5" action="ppaction://hlinksldjump" tooltip="Ir a Jornada de instal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Jornada de instalación</a:t>
            </a:r>
            <a:endParaRPr lang="en-US" sz="1800" dirty="0"/>
          </a:p>
        </p:txBody>
      </p:sp>
      <p:sp>
        <p:nvSpPr>
          <p:cNvPr id="46" name="Text 44">
            <a:hlinkClick r:id="rId16" tooltip="Ir a Jornada de instalación" action="ppaction://hlinksldjump"/>
          </p:cNvPr>
          <p:cNvSpPr txBox="1"/>
          <p:nvPr/>
        </p:nvSpPr>
        <p:spPr>
          <a:xfrm>
            <a:off x="10500055" y="4142232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6" action="ppaction://hlinksldjump" tooltip="Ir a Jornada de instalació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24 →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324448" y="4818888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24448" y="5001768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324448" y="500176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A9</a:t>
            </a:r>
            <a:endParaRPr lang="es-CL" sz="1100" dirty="0"/>
          </a:p>
        </p:txBody>
      </p:sp>
      <p:sp>
        <p:nvSpPr>
          <p:cNvPr id="50" name="Text 48">
            <a:hlinkClick r:id="rId17" tooltip="Ir a Inversión y gasto operacional" action="ppaction://hlinksldjump"/>
          </p:cNvPr>
          <p:cNvSpPr txBox="1"/>
          <p:nvPr/>
        </p:nvSpPr>
        <p:spPr>
          <a:xfrm>
            <a:off x="7055968" y="4818888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7" action="ppaction://hlinksldjump" tooltip="Ir a Inversión y gasto operacio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Inversión y gasto operacional</a:t>
            </a:r>
            <a:endParaRPr lang="en-US" sz="1800" dirty="0"/>
          </a:p>
        </p:txBody>
      </p:sp>
      <p:sp>
        <p:nvSpPr>
          <p:cNvPr id="51" name="Text 49">
            <a:hlinkClick r:id="rId18" tooltip="Ir a Inversión y gasto operacional" action="ppaction://hlinksldjump"/>
          </p:cNvPr>
          <p:cNvSpPr txBox="1"/>
          <p:nvPr/>
        </p:nvSpPr>
        <p:spPr>
          <a:xfrm>
            <a:off x="10500055" y="4818888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8" action="ppaction://hlinksldjump" tooltip="Ir a Inversión y gasto operacio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25 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324448" y="5495544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4448" y="5678424"/>
            <a:ext cx="54864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324448" y="56784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A10</a:t>
            </a:r>
            <a:endParaRPr lang="es-CL" sz="1100" dirty="0"/>
          </a:p>
        </p:txBody>
      </p:sp>
      <p:sp>
        <p:nvSpPr>
          <p:cNvPr id="55" name="Text 53">
            <a:hlinkClick r:id="rId19" tooltip="Ir a Sensibilidad del resultado" action="ppaction://hlinksldjump"/>
          </p:cNvPr>
          <p:cNvSpPr txBox="1"/>
          <p:nvPr/>
        </p:nvSpPr>
        <p:spPr>
          <a:xfrm>
            <a:off x="7055968" y="5495544"/>
            <a:ext cx="348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u="sng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  <a:hlinkClick r:id="rId19" action="ppaction://hlinksldjump" tooltip="Ir a Sensibilidad del resulta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Sensibilidad del resultado</a:t>
            </a:r>
            <a:endParaRPr lang="en-US" sz="1800" dirty="0"/>
          </a:p>
        </p:txBody>
      </p:sp>
      <p:sp>
        <p:nvSpPr>
          <p:cNvPr id="56" name="Text 54">
            <a:hlinkClick r:id="rId20" tooltip="Ir a Sensibilidad del resultado" action="ppaction://hlinksldjump"/>
          </p:cNvPr>
          <p:cNvSpPr txBox="1"/>
          <p:nvPr/>
        </p:nvSpPr>
        <p:spPr>
          <a:xfrm>
            <a:off x="10500055" y="5495544"/>
            <a:ext cx="11430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u="sng" spc="10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20" action="ppaction://hlinksldjump" tooltip="Ir a Sensibilidad del resultad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LÁM. 26 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324448" y="6172200"/>
            <a:ext cx="531860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INVESTIGACIÓN DE MERCADO · HIPÓTESIS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SEIS HIPÓTESIS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y su prueba.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Tabla N° 3). Significancia de 5%.</a:t>
            </a:r>
            <a:endParaRPr lang="es-CL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530352" cy="31089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H1</a:t>
            </a:r>
            <a:endParaRPr lang="es-CL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331720"/>
            <a:ext cx="7528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uso laboral tiene más intención de compra que el particular.</a:t>
            </a:r>
            <a:endParaRPr lang="es-CL" sz="1700" dirty="0"/>
          </a:p>
        </p:txBody>
      </p:sp>
      <p:sp>
        <p:nvSpPr>
          <p:cNvPr id="10" name="Shape 8"/>
          <p:cNvSpPr/>
          <p:nvPr/>
        </p:nvSpPr>
        <p:spPr>
          <a:xfrm>
            <a:off x="9037015" y="2468880"/>
            <a:ext cx="260604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9110167" y="246888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DOS PROPORCIONES</a:t>
            </a:r>
            <a:endParaRPr lang="es-CL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035808"/>
            <a:ext cx="530352" cy="31089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035808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H2</a:t>
            </a:r>
            <a:endParaRPr lang="es-CL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2898648"/>
            <a:ext cx="7528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intención no cambia con la edad ni el género.</a:t>
            </a:r>
            <a:endParaRPr lang="es-CL" sz="1700" dirty="0"/>
          </a:p>
        </p:txBody>
      </p:sp>
      <p:sp>
        <p:nvSpPr>
          <p:cNvPr id="16" name="Shape 14"/>
          <p:cNvSpPr/>
          <p:nvPr/>
        </p:nvSpPr>
        <p:spPr>
          <a:xfrm>
            <a:off x="9037015" y="3035808"/>
            <a:ext cx="260604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9110167" y="3035808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CHI-CUADRADO</a:t>
            </a:r>
            <a:endParaRPr lang="es-CL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65576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02736"/>
            <a:ext cx="530352" cy="31089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3602736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H3</a:t>
            </a:r>
            <a:endParaRPr lang="es-CL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3465576"/>
            <a:ext cx="7528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ahorro predomina, pero la mayoría valora otro motivo.</a:t>
            </a:r>
            <a:endParaRPr lang="es-CL" sz="1700" dirty="0"/>
          </a:p>
        </p:txBody>
      </p:sp>
      <p:sp>
        <p:nvSpPr>
          <p:cNvPr id="22" name="Shape 20"/>
          <p:cNvSpPr/>
          <p:nvPr/>
        </p:nvSpPr>
        <p:spPr>
          <a:xfrm>
            <a:off x="9037015" y="3602736"/>
            <a:ext cx="260604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9110167" y="3602736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UNA PROPORCIÓN</a:t>
            </a:r>
            <a:endParaRPr lang="es-CL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032504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169664"/>
            <a:ext cx="530352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416966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H4</a:t>
            </a:r>
            <a:endParaRPr lang="es-CL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32504"/>
            <a:ext cx="7528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barrera principal es la confianza, no el precio.</a:t>
            </a:r>
            <a:endParaRPr lang="es-CL" sz="1700" dirty="0"/>
          </a:p>
        </p:txBody>
      </p:sp>
      <p:sp>
        <p:nvSpPr>
          <p:cNvPr id="28" name="Shape 26"/>
          <p:cNvSpPr/>
          <p:nvPr/>
        </p:nvSpPr>
        <p:spPr>
          <a:xfrm>
            <a:off x="9037015" y="4169664"/>
            <a:ext cx="260604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9110167" y="4169664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UNA PROPORCIÓN</a:t>
            </a:r>
            <a:endParaRPr lang="es-CL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4599432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736592"/>
            <a:ext cx="530352" cy="31089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48640" y="4736592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H5</a:t>
            </a:r>
            <a:endParaRPr lang="es-CL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4599432"/>
            <a:ext cx="7528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Los respaldos externos dan más confianza que el taller.</a:t>
            </a:r>
            <a:endParaRPr lang="es-CL" sz="1700" dirty="0"/>
          </a:p>
        </p:txBody>
      </p:sp>
      <p:sp>
        <p:nvSpPr>
          <p:cNvPr id="34" name="Shape 32"/>
          <p:cNvSpPr/>
          <p:nvPr/>
        </p:nvSpPr>
        <p:spPr>
          <a:xfrm>
            <a:off x="9037015" y="4736592"/>
            <a:ext cx="260604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9110167" y="4736592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 RELACIONADAS</a:t>
            </a:r>
            <a:endParaRPr lang="es-CL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16636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5303520"/>
            <a:ext cx="530352" cy="31089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530352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H6</a:t>
            </a:r>
            <a:endParaRPr lang="es-CL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280160" y="5166360"/>
            <a:ext cx="75282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prefiere hibridar antes que gas, cambiar de auto o nada.</a:t>
            </a:r>
            <a:endParaRPr lang="es-CL" sz="1700" dirty="0"/>
          </a:p>
        </p:txBody>
      </p:sp>
      <p:sp>
        <p:nvSpPr>
          <p:cNvPr id="40" name="Shape 38"/>
          <p:cNvSpPr/>
          <p:nvPr/>
        </p:nvSpPr>
        <p:spPr>
          <a:xfrm>
            <a:off x="9037015" y="5303520"/>
            <a:ext cx="2606040" cy="292608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9110167" y="5303520"/>
            <a:ext cx="2459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000" spc="12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Z UNA PROPORCIÓN</a:t>
            </a:r>
            <a:endParaRPr lang="es-CL" sz="1000" dirty="0"/>
          </a:p>
        </p:txBody>
      </p:sp>
      <p:sp>
        <p:nvSpPr>
          <p:cNvPr id="42" name="Shape 40"/>
          <p:cNvSpPr/>
          <p:nvPr/>
        </p:nvSpPr>
        <p:spPr>
          <a:xfrm>
            <a:off x="548640" y="573328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A2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POSICIONAMIENTO · DUDAS DEL CLIENTE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CUATRO DUDAS,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cuatro respaldos.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Ley N° 19.496; borrador de reglamento MTT (2021); elaboración propia (Informe Fase 3, Tabla N° 4).</a:t>
            </a:r>
            <a:endParaRPr lang="es-CL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2154" cy="2743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51460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¿Funciona?</a:t>
            </a:r>
            <a:endParaRPr lang="es-CL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5468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Hasta 20% menos bencina en ciudad.</a:t>
            </a:r>
            <a:endParaRPr lang="es-CL" sz="1700" dirty="0"/>
          </a:p>
        </p:txBody>
      </p:sp>
      <p:sp>
        <p:nvSpPr>
          <p:cNvPr id="9" name="Shape 7"/>
          <p:cNvSpPr/>
          <p:nvPr/>
        </p:nvSpPr>
        <p:spPr>
          <a:xfrm>
            <a:off x="749808" y="4114800"/>
            <a:ext cx="219981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420624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Estimador con intervalo y telemetría.</a:t>
            </a:r>
            <a:endParaRPr lang="es-CL" sz="1500" dirty="0"/>
          </a:p>
        </p:txBody>
      </p:sp>
      <p:sp>
        <p:nvSpPr>
          <p:cNvPr id="11" name="Shape 9"/>
          <p:cNvSpPr/>
          <p:nvPr/>
        </p:nvSpPr>
        <p:spPr>
          <a:xfrm>
            <a:off x="3379394" y="2331720"/>
            <a:ext cx="2602154" cy="2743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80562" y="251460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¿Daña mi auto?</a:t>
            </a:r>
            <a:endParaRPr lang="es-CL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3580562" y="315468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toca el motor ni la transmisión.</a:t>
            </a:r>
            <a:endParaRPr lang="es-CL" sz="1700" dirty="0"/>
          </a:p>
        </p:txBody>
      </p:sp>
      <p:sp>
        <p:nvSpPr>
          <p:cNvPr id="14" name="Shape 12"/>
          <p:cNvSpPr/>
          <p:nvPr/>
        </p:nvSpPr>
        <p:spPr>
          <a:xfrm>
            <a:off x="3580562" y="4114800"/>
            <a:ext cx="219981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80562" y="420624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 conservan el circuito de freno y el ABS.</a:t>
            </a:r>
            <a:endParaRPr lang="es-CL" sz="1500" dirty="0"/>
          </a:p>
        </p:txBody>
      </p:sp>
      <p:sp>
        <p:nvSpPr>
          <p:cNvPr id="16" name="Shape 14"/>
          <p:cNvSpPr/>
          <p:nvPr/>
        </p:nvSpPr>
        <p:spPr>
          <a:xfrm>
            <a:off x="6210148" y="2331720"/>
            <a:ext cx="2602154" cy="2743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11316" y="251460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¿Pasa la revisión?</a:t>
            </a:r>
            <a:endParaRPr lang="es-CL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6411316" y="315468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Sale del taller con certificado.</a:t>
            </a:r>
            <a:endParaRPr lang="es-CL" sz="1700" dirty="0"/>
          </a:p>
        </p:txBody>
      </p:sp>
      <p:sp>
        <p:nvSpPr>
          <p:cNvPr id="19" name="Shape 17"/>
          <p:cNvSpPr/>
          <p:nvPr/>
        </p:nvSpPr>
        <p:spPr>
          <a:xfrm>
            <a:off x="6411316" y="4114800"/>
            <a:ext cx="219981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11316" y="420624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 firma el Responsable Técnico.</a:t>
            </a:r>
            <a:endParaRPr lang="es-CL" sz="1500" dirty="0"/>
          </a:p>
        </p:txBody>
      </p:sp>
      <p:sp>
        <p:nvSpPr>
          <p:cNvPr id="21" name="Shape 19"/>
          <p:cNvSpPr/>
          <p:nvPr/>
        </p:nvSpPr>
        <p:spPr>
          <a:xfrm>
            <a:off x="9040901" y="2331720"/>
            <a:ext cx="2602154" cy="274320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42069" y="2514600"/>
            <a:ext cx="22363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¿Se enchufa?</a:t>
            </a:r>
            <a:endParaRPr lang="es-CL" sz="2500" dirty="0"/>
          </a:p>
        </p:txBody>
      </p:sp>
      <p:sp>
        <p:nvSpPr>
          <p:cNvPr id="23" name="Text 21"/>
          <p:cNvSpPr txBox="1"/>
          <p:nvPr/>
        </p:nvSpPr>
        <p:spPr>
          <a:xfrm>
            <a:off x="9242069" y="3154680"/>
            <a:ext cx="2236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No.</a:t>
            </a:r>
            <a:endParaRPr lang="es-CL" sz="1700" dirty="0"/>
          </a:p>
        </p:txBody>
      </p:sp>
      <p:sp>
        <p:nvSpPr>
          <p:cNvPr id="24" name="Shape 22"/>
          <p:cNvSpPr/>
          <p:nvPr/>
        </p:nvSpPr>
        <p:spPr>
          <a:xfrm>
            <a:off x="9242069" y="4114800"/>
            <a:ext cx="2199818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42069" y="4206240"/>
            <a:ext cx="223639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 batería se carga al frenar.</a:t>
            </a:r>
            <a:endParaRPr lang="es-CL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49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 QUE LA MARCA NO PROMETE</a:t>
            </a:r>
            <a:endParaRPr lang="es-CL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696712"/>
            <a:ext cx="1874520" cy="329184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621792" y="5696712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10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«CERO EMISIONES»</a:t>
            </a:r>
            <a:endParaRPr lang="es-CL" sz="1100" dirty="0"/>
          </a:p>
        </p:txBody>
      </p:sp>
      <p:sp>
        <p:nvSpPr>
          <p:cNvPr id="29" name="Shape 27"/>
          <p:cNvSpPr/>
          <p:nvPr/>
        </p:nvSpPr>
        <p:spPr>
          <a:xfrm>
            <a:off x="2606040" y="5696712"/>
            <a:ext cx="2011680" cy="329184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2679192" y="5696712"/>
            <a:ext cx="1865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10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«20% GARANTIZADO»</a:t>
            </a:r>
            <a:endParaRPr lang="es-CL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5696712"/>
            <a:ext cx="1600200" cy="329184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4873752" y="5696712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10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«HOMOLOGADO»</a:t>
            </a:r>
            <a:endParaRPr lang="es-CL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5696712"/>
            <a:ext cx="2743200" cy="329184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4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656832" y="5696712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s-CL" altLang="en-US" sz="1100" spc="120" kern="0" dirty="0">
                <a:solidFill>
                  <a:schemeClr val="accent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EXENCIÓN DE RESTRICCIÓN</a:t>
            </a:r>
            <a:endParaRPr lang="es-CL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A3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MIX DE MARKETING · RESUMEN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DOS LÍNEAS,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una misma mezcla.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Tabla N° 8).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743200" y="2286000"/>
            <a:ext cx="431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CLIENTE FINAL</a:t>
            </a:r>
            <a:endParaRPr lang="es-CL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30288" y="2286000"/>
            <a:ext cx="431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 DE TALLERES</a:t>
            </a:r>
            <a:endParaRPr lang="es-CL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33472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PRODUCTO</a:t>
            </a:r>
            <a:endParaRPr lang="es-CL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633472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Kit Esencial o Plus en una jornada</a:t>
            </a:r>
            <a:endParaRPr lang="es-CL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30288" y="2633472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Licencia, kits y certificación</a:t>
            </a:r>
            <a:endParaRPr lang="es-CL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31012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310128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PRECIO</a:t>
            </a:r>
            <a:endParaRPr lang="es-CL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3310128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$4,29 M y $4,99 M con IVA</a:t>
            </a:r>
            <a:endParaRPr lang="es-CL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30288" y="3310128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Entrada y cobros recurrentes</a:t>
            </a:r>
            <a:endParaRPr lang="es-CL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86784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PLAZA</a:t>
            </a:r>
            <a:endParaRPr lang="es-CL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3986784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Web y talleres propios en la RM</a:t>
            </a:r>
            <a:endParaRPr lang="es-CL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30288" y="3986784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Talleres con exclusividad comunal</a:t>
            </a:r>
            <a:endParaRPr lang="es-CL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663440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PROMOCIÓN</a:t>
            </a:r>
            <a:endParaRPr lang="es-CL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4663440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Estimador, pilotos y referidos</a:t>
            </a:r>
            <a:endParaRPr lang="es-CL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330288" y="4663440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Visitas, ferias y casos</a:t>
            </a:r>
            <a:endParaRPr lang="es-CL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340096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340096"/>
            <a:ext cx="2011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PERSONAS</a:t>
            </a:r>
            <a:endParaRPr lang="es-CL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5340096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Dúos con un N3 o N4</a:t>
            </a:r>
            <a:endParaRPr lang="es-CL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330288" y="5340096"/>
            <a:ext cx="43127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Técnicos validados por Lumine</a:t>
            </a:r>
            <a:endParaRPr lang="es-CL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6016752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A4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MIX · PRECIO PARA LA RED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INGRESO RECURRENTE: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96% del margen al año 5.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Tabla N° 7). Montos netos; sin tarifas públicas de redes de talleres en Chile.</a:t>
            </a:r>
            <a:endParaRPr lang="es-CL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602154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2514600"/>
            <a:ext cx="21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ENTRADA</a:t>
            </a:r>
            <a:endParaRPr lang="es-CL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283464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$7,14 M</a:t>
            </a:r>
            <a:endParaRPr lang="es-CL" sz="42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538728"/>
            <a:ext cx="2199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una vez</a:t>
            </a:r>
            <a:endParaRPr lang="es-CL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3977640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Exclusividad comunal y formación</a:t>
            </a:r>
            <a:endParaRPr lang="es-CL" sz="1500" dirty="0"/>
          </a:p>
        </p:txBody>
      </p:sp>
      <p:sp>
        <p:nvSpPr>
          <p:cNvPr id="11" name="Shape 9"/>
          <p:cNvSpPr/>
          <p:nvPr/>
        </p:nvSpPr>
        <p:spPr>
          <a:xfrm>
            <a:off x="3379394" y="2331720"/>
            <a:ext cx="2602154" cy="260604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24530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24530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80964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6412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4530" y="49926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24530" y="48371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0964" y="49926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6412" y="48371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80562" y="2514600"/>
            <a:ext cx="21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KIT CON LICENCIA</a:t>
            </a:r>
            <a:endParaRPr lang="es-CL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580562" y="283464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$3,81 M</a:t>
            </a:r>
            <a:endParaRPr lang="es-CL" sz="4200" dirty="0"/>
          </a:p>
        </p:txBody>
      </p:sp>
      <p:sp>
        <p:nvSpPr>
          <p:cNvPr id="22" name="Text 20"/>
          <p:cNvSpPr txBox="1"/>
          <p:nvPr/>
        </p:nvSpPr>
        <p:spPr>
          <a:xfrm>
            <a:off x="3580562" y="3538728"/>
            <a:ext cx="2199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por instalación</a:t>
            </a:r>
            <a:endParaRPr lang="es-CL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580562" y="3977640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Plus; Esencial, $3,33 M</a:t>
            </a:r>
            <a:endParaRPr lang="es-CL" sz="1500" dirty="0"/>
          </a:p>
        </p:txBody>
      </p:sp>
      <p:sp>
        <p:nvSpPr>
          <p:cNvPr id="24" name="Shape 22"/>
          <p:cNvSpPr/>
          <p:nvPr/>
        </p:nvSpPr>
        <p:spPr>
          <a:xfrm>
            <a:off x="6210148" y="2331720"/>
            <a:ext cx="2602154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1316" y="2514600"/>
            <a:ext cx="21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CERTIFICACIÓN</a:t>
            </a:r>
            <a:endParaRPr lang="es-CL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11316" y="283464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$2,4 M</a:t>
            </a:r>
            <a:endParaRPr lang="es-CL" sz="4200" dirty="0"/>
          </a:p>
        </p:txBody>
      </p:sp>
      <p:sp>
        <p:nvSpPr>
          <p:cNvPr id="27" name="Text 25"/>
          <p:cNvSpPr txBox="1"/>
          <p:nvPr/>
        </p:nvSpPr>
        <p:spPr>
          <a:xfrm>
            <a:off x="6411316" y="3538728"/>
            <a:ext cx="2199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cada año</a:t>
            </a:r>
            <a:endParaRPr lang="es-CL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11316" y="3977640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Desde el segundo año</a:t>
            </a:r>
            <a:endParaRPr lang="es-CL" sz="1500" dirty="0"/>
          </a:p>
        </p:txBody>
      </p:sp>
      <p:sp>
        <p:nvSpPr>
          <p:cNvPr id="29" name="Shape 27"/>
          <p:cNvSpPr/>
          <p:nvPr/>
        </p:nvSpPr>
        <p:spPr>
          <a:xfrm>
            <a:off x="9040901" y="2331720"/>
            <a:ext cx="2602154" cy="260604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42069" y="2514600"/>
            <a:ext cx="2199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HABILITA</a:t>
            </a:r>
            <a:endParaRPr lang="es-CL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242069" y="2834640"/>
            <a:ext cx="21998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42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$35 mil</a:t>
            </a:r>
            <a:endParaRPr lang="es-CL" sz="4200" dirty="0"/>
          </a:p>
        </p:txBody>
      </p:sp>
      <p:sp>
        <p:nvSpPr>
          <p:cNvPr id="32" name="Text 30"/>
          <p:cNvSpPr txBox="1"/>
          <p:nvPr/>
        </p:nvSpPr>
        <p:spPr>
          <a:xfrm>
            <a:off x="9242069" y="3538728"/>
            <a:ext cx="21998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 mes por técnico</a:t>
            </a:r>
            <a:endParaRPr lang="es-CL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242069" y="3977640"/>
            <a:ext cx="2199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Formación y validación</a:t>
            </a:r>
            <a:endParaRPr lang="es-CL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5230368"/>
            <a:ext cx="1109441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20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42 talleres y 7.773 kits al año 5, </a:t>
            </a:r>
            <a:pPr indent="0" marL="0">
              <a:buNone/>
            </a:pPr>
            <a:r>
              <a:rPr lang="es-CL" altLang="en-US" sz="20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 activos fijos.</a:t>
            </a:r>
            <a:endParaRPr lang="es-CL" sz="2000" dirty="0"/>
          </a:p>
        </p:txBody>
      </p:sp>
      <p:sp>
        <p:nvSpPr>
          <p:cNvPr id="36" name="Shape 34"/>
          <p:cNvSpPr/>
          <p:nvPr/>
        </p:nvSpPr>
        <p:spPr>
          <a:xfrm>
            <a:off x="548640" y="5870448"/>
            <a:ext cx="512064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621792" y="5870448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s-CL" altLang="en-US" sz="1000" spc="120" kern="0" dirty="0">
                <a:solidFill>
                  <a:schemeClr val="accent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MONTOS NETOS · A VALIDAR CON LOS PRIMEROS TALLERES</a:t>
            </a:r>
            <a:endParaRPr lang="es-C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A5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DEMANDA · MERCADO Y ADOPCIÓN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162.780 VEHÍCULOS DE TECHO;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11,1% adoptado al año 5.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INE (2025); Centro UC en Emol (2026); Descubre (2026); Fielbaum y Tirachini (2021); Massiani y Gohs (2015).</a:t>
            </a:r>
            <a:endParaRPr lang="es-CL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42062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42316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TAM · CHILE</a:t>
            </a:r>
            <a:endParaRPr lang="es-CL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79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4.409.729</a:t>
            </a:r>
            <a:endParaRPr lang="es-CL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71576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autos y taxis a combustión</a:t>
            </a:r>
            <a:endParaRPr lang="es-CL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206240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6118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SAM · RM</a:t>
            </a:r>
            <a:endParaRPr lang="es-CL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867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4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1.685.930</a:t>
            </a:r>
            <a:endParaRPr lang="es-CL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39044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 que atiende el taller propio</a:t>
            </a:r>
            <a:endParaRPr lang="es-CL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4206240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800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SEGMENTO LABORAL</a:t>
            </a:r>
            <a:endParaRPr lang="es-CL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56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34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162.780</a:t>
            </a:r>
            <a:endParaRPr lang="es-CL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509320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colectivos, taxis y aplicaciones</a:t>
            </a:r>
            <a:endParaRPr lang="es-CL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2331720"/>
            <a:ext cx="6430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ADOPCIÓN ACUMULADA · MODELO DE BASS</a:t>
            </a:r>
            <a:endParaRPr lang="es-CL" sz="1200" dirty="0"/>
          </a:p>
        </p:txBody>
      </p:sp>
      <p:graphicFrame>
        <p:nvGraphicFramePr>
          <p:cNvPr id="19" name="Adopción acumulada del segmento laboral" descr=""/>
          <p:cNvGraphicFramePr/>
          <p:nvPr/>
        </p:nvGraphicFramePr>
        <p:xfrm>
          <a:off x="5120640" y="2651760"/>
          <a:ext cx="6522415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212080" y="5577840"/>
            <a:ext cx="6430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Aun si solo el 40% del segmento adoptara, la demanda cubre el año 5.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A6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RECURSOS HUMANOS · PERFILES DE CARGO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CADA CARGO RESPONDE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por un resultado crítico.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Tabla N° 13).</a:t>
            </a:r>
            <a:endParaRPr lang="es-CL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Gerente General</a:t>
            </a:r>
            <a:endParaRPr lang="es-CL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286000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Autoriza cada paso de crecimiento si la caja lo cubre.</a:t>
            </a:r>
            <a:endParaRPr lang="es-CL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066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Responsable Técnico</a:t>
            </a:r>
            <a:endParaRPr lang="es-CL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706624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Arma los dúos, valida ascensos y firma cada auto.</a:t>
            </a:r>
            <a:endParaRPr lang="es-CL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12724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Ingeniería de Calibración</a:t>
            </a:r>
            <a:endParaRPr lang="es-CL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127248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Certifica cada modelo y cuida que el ahorro real calce.</a:t>
            </a:r>
            <a:endParaRPr lang="es-CL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547872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4787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y Postventa</a:t>
            </a:r>
            <a:endParaRPr lang="es-CL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3547872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Convierte cotizaciones sin prometer de más.</a:t>
            </a:r>
            <a:endParaRPr lang="es-CL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3968496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968496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Administración y Personas</a:t>
            </a:r>
            <a:endParaRPr lang="es-CL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968496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ningún auto espere un kit; sueldos al día.</a:t>
            </a:r>
            <a:endParaRPr lang="es-CL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4389120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89120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Técnico Instalador</a:t>
            </a:r>
            <a:endParaRPr lang="es-CL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931920" y="4389120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Instala según el procedimiento y las cinco reglas de oro.</a:t>
            </a:r>
            <a:endParaRPr lang="es-CL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809744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80974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Comercial de Empresas</a:t>
            </a:r>
            <a:endParaRPr lang="es-CL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4809744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Suma solo talleres que cumplan el reglamento.</a:t>
            </a:r>
            <a:endParaRPr lang="es-CL" sz="1600" dirty="0"/>
          </a:p>
        </p:txBody>
      </p:sp>
      <p:sp>
        <p:nvSpPr>
          <p:cNvPr id="27" name="Shape 25"/>
          <p:cNvSpPr/>
          <p:nvPr/>
        </p:nvSpPr>
        <p:spPr>
          <a:xfrm>
            <a:off x="548640" y="5230368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230368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Asistente de Postventa</a:t>
            </a:r>
            <a:endParaRPr lang="es-CL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931920" y="5230368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Que ninguna mantención ni garantía se pierda.</a:t>
            </a:r>
            <a:endParaRPr lang="es-CL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650992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650992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5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Asistente de Administración</a:t>
            </a:r>
            <a:endParaRPr lang="es-CL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3931920" y="5650992"/>
            <a:ext cx="7711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Despacha kits y baterías con su trazabilidad.</a:t>
            </a:r>
            <a:endParaRPr lang="es-CL" sz="1600" dirty="0"/>
          </a:p>
        </p:txBody>
      </p:sp>
      <p:sp>
        <p:nvSpPr>
          <p:cNvPr id="33" name="Shape 31"/>
          <p:cNvSpPr/>
          <p:nvPr/>
        </p:nvSpPr>
        <p:spPr>
          <a:xfrm>
            <a:off x="548640" y="6071616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A7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RECURSOS HUMANOS · COMPENSACIONES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SUPERIOR GANA MÁS;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entre áreas decide la escasez.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ChileTrabajos (2026); Indeed Chile (2026); MiFuturo (2026); Ley N° 21.830; elaboración propia (Tablas N° 14 y 15).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RENTA BRUTA MENSUAL · MILES DE PESOS</a:t>
            </a:r>
            <a:endParaRPr lang="es-CL" sz="1200" dirty="0"/>
          </a:p>
        </p:txBody>
      </p:sp>
      <p:graphicFrame>
        <p:nvGraphicFramePr>
          <p:cNvPr id="7" name="Renta bruta mensual por cargo" descr=""/>
          <p:cNvGraphicFramePr/>
          <p:nvPr/>
        </p:nvGraphicFramePr>
        <p:xfrm>
          <a:off x="457200" y="2624328"/>
          <a:ext cx="731520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8183880" y="2331720"/>
            <a:ext cx="3459175" cy="3904488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2901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2901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42471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97919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29016" y="62910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29016" y="61356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542471" y="6291072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97919" y="6135624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412480" y="2532888"/>
            <a:ext cx="3001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BONO POR NIVEL VALIDADO</a:t>
            </a:r>
            <a:endParaRPr lang="es-CL" sz="1200" dirty="0"/>
          </a:p>
        </p:txBody>
      </p:sp>
      <p:sp>
        <p:nvSpPr>
          <p:cNvPr id="18" name="Shape 15"/>
          <p:cNvSpPr/>
          <p:nvPr/>
        </p:nvSpPr>
        <p:spPr>
          <a:xfrm>
            <a:off x="8412480" y="2898648"/>
            <a:ext cx="3001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12480" y="3026664"/>
            <a:ext cx="50292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412480" y="302666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N2</a:t>
            </a:r>
            <a:endParaRPr lang="es-CL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006840" y="2898648"/>
            <a:ext cx="2407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$200 mil</a:t>
            </a:r>
            <a:endParaRPr lang="es-CL" sz="2600" dirty="0"/>
          </a:p>
        </p:txBody>
      </p:sp>
      <p:sp>
        <p:nvSpPr>
          <p:cNvPr id="22" name="Shape 19"/>
          <p:cNvSpPr/>
          <p:nvPr/>
        </p:nvSpPr>
        <p:spPr>
          <a:xfrm>
            <a:off x="8412480" y="3465576"/>
            <a:ext cx="3001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0" y="3593592"/>
            <a:ext cx="50292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412480" y="35935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N3</a:t>
            </a:r>
            <a:endParaRPr lang="es-CL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06840" y="3465576"/>
            <a:ext cx="2407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$300 mil</a:t>
            </a:r>
            <a:endParaRPr lang="es-CL" sz="2600" dirty="0"/>
          </a:p>
        </p:txBody>
      </p:sp>
      <p:sp>
        <p:nvSpPr>
          <p:cNvPr id="26" name="Shape 23"/>
          <p:cNvSpPr/>
          <p:nvPr/>
        </p:nvSpPr>
        <p:spPr>
          <a:xfrm>
            <a:off x="8412480" y="4032504"/>
            <a:ext cx="300197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412480" y="4160520"/>
            <a:ext cx="502920" cy="31089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412480" y="41605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100" b="1" dirty="0">
                <a:solidFill>
                  <a:schemeClr val="bg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N4</a:t>
            </a:r>
            <a:endParaRPr lang="es-CL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9006840" y="4032504"/>
            <a:ext cx="2407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$350 mil</a:t>
            </a:r>
            <a:endParaRPr lang="es-CL" sz="2600" dirty="0"/>
          </a:p>
        </p:txBody>
      </p:sp>
      <p:sp>
        <p:nvSpPr>
          <p:cNvPr id="30" name="Shape 27"/>
          <p:cNvSpPr/>
          <p:nvPr/>
        </p:nvSpPr>
        <p:spPr>
          <a:xfrm>
            <a:off x="8412480" y="4599432"/>
            <a:ext cx="3001975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12480" y="45994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Total</a:t>
            </a:r>
            <a:endParaRPr lang="es-CL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4599432"/>
            <a:ext cx="2407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800" b="1" dirty="0">
                <a:solidFill>
                  <a:schemeClr val="accent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$850 mil</a:t>
            </a:r>
            <a:endParaRPr lang="es-CL" sz="2800" dirty="0"/>
          </a:p>
        </p:txBody>
      </p:sp>
      <p:sp>
        <p:nvSpPr>
          <p:cNvPr id="33" name="Text 30"/>
          <p:cNvSpPr txBox="1"/>
          <p:nvPr/>
        </p:nvSpPr>
        <p:spPr>
          <a:xfrm>
            <a:off x="8412480" y="5239512"/>
            <a:ext cx="3001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5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Los comerciales suman comisión.</a:t>
            </a:r>
            <a:endParaRPr lang="es-CL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A8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OPERACIONES · JORNADA DE INSTALACIÓN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UN VEHÍCULO POR JORNADA: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8,4 horas.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borrador de reglamento MTT (2021), arts. 11 y 12; elaboración propia (Informe Fase 3, Anexo N° 8). Tiempos estimados.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HORAS POR BLOQUE · DÚO CON UN N3</a:t>
            </a:r>
            <a:endParaRPr lang="es-CL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697480"/>
            <a:ext cx="491729" cy="7315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5283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0,4</a:t>
            </a:r>
            <a:endParaRPr lang="es-CL" sz="1800" dirty="0"/>
          </a:p>
        </p:txBody>
      </p:sp>
      <p:sp>
        <p:nvSpPr>
          <p:cNvPr id="9" name="Shape 7"/>
          <p:cNvSpPr/>
          <p:nvPr/>
        </p:nvSpPr>
        <p:spPr>
          <a:xfrm>
            <a:off x="1095233" y="2697480"/>
            <a:ext cx="491729" cy="7315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76945" y="2697480"/>
            <a:ext cx="5283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0,4</a:t>
            </a:r>
            <a:endParaRPr lang="es-CL" sz="1800" dirty="0"/>
          </a:p>
        </p:txBody>
      </p:sp>
      <p:sp>
        <p:nvSpPr>
          <p:cNvPr id="11" name="Shape 9"/>
          <p:cNvSpPr/>
          <p:nvPr/>
        </p:nvSpPr>
        <p:spPr>
          <a:xfrm>
            <a:off x="1623539" y="2697480"/>
            <a:ext cx="4321944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605251" y="2697480"/>
            <a:ext cx="4358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600" b="1" dirty="0">
                <a:solidFill>
                  <a:schemeClr val="bg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3,3</a:t>
            </a:r>
            <a:endParaRPr lang="es-CL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605251" y="3502152"/>
            <a:ext cx="435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600" b="1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Montaje y pesaje</a:t>
            </a:r>
            <a:endParaRPr lang="es-CL" sz="1600" dirty="0"/>
          </a:p>
        </p:txBody>
      </p:sp>
      <p:sp>
        <p:nvSpPr>
          <p:cNvPr id="14" name="Shape 12"/>
          <p:cNvSpPr/>
          <p:nvPr/>
        </p:nvSpPr>
        <p:spPr>
          <a:xfrm>
            <a:off x="5982059" y="2697480"/>
            <a:ext cx="2340799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63771" y="2697480"/>
            <a:ext cx="23773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600" b="1" dirty="0">
                <a:solidFill>
                  <a:schemeClr val="bg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1,8</a:t>
            </a:r>
            <a:endParaRPr lang="es-CL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5963771" y="3502152"/>
            <a:ext cx="23773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600" b="1" dirty="0">
                <a:solidFill>
                  <a:schemeClr val="accent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Integración</a:t>
            </a:r>
            <a:endParaRPr lang="es-CL" sz="1600" dirty="0"/>
          </a:p>
        </p:txBody>
      </p:sp>
      <p:sp>
        <p:nvSpPr>
          <p:cNvPr id="17" name="Shape 15"/>
          <p:cNvSpPr/>
          <p:nvPr/>
        </p:nvSpPr>
        <p:spPr>
          <a:xfrm>
            <a:off x="8359434" y="2697480"/>
            <a:ext cx="1020035" cy="7315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41146" y="2697480"/>
            <a:ext cx="10566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0,8</a:t>
            </a:r>
            <a:endParaRPr lang="es-CL" sz="2600" dirty="0"/>
          </a:p>
        </p:txBody>
      </p:sp>
      <p:sp>
        <p:nvSpPr>
          <p:cNvPr id="19" name="Shape 17"/>
          <p:cNvSpPr/>
          <p:nvPr/>
        </p:nvSpPr>
        <p:spPr>
          <a:xfrm>
            <a:off x="9416045" y="2697480"/>
            <a:ext cx="1284188" cy="7315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97757" y="2697480"/>
            <a:ext cx="1320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1,0</a:t>
            </a:r>
            <a:endParaRPr lang="es-CL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9397757" y="3502152"/>
            <a:ext cx="13207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Pruebas</a:t>
            </a:r>
            <a:endParaRPr lang="es-CL" sz="1600" dirty="0"/>
          </a:p>
        </p:txBody>
      </p:sp>
      <p:sp>
        <p:nvSpPr>
          <p:cNvPr id="22" name="Shape 20"/>
          <p:cNvSpPr/>
          <p:nvPr/>
        </p:nvSpPr>
        <p:spPr>
          <a:xfrm>
            <a:off x="10736809" y="2697480"/>
            <a:ext cx="887959" cy="73152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718521" y="2697480"/>
            <a:ext cx="924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0,7</a:t>
            </a:r>
            <a:endParaRPr lang="es-CL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9776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8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Montaje e integración concentran 5,1 de las 8,4 horas.</a:t>
            </a:r>
            <a:endParaRPr lang="es-CL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94415" cy="0"/>
          </a:xfrm>
          <a:prstGeom prst="line">
            <a:avLst/>
          </a:prstGeom>
          <a:noFill/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61772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CUATRO CONTROLES · SI FALLA, SE DETIENE</a:t>
            </a:r>
            <a:endParaRPr lang="es-CL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001768"/>
            <a:ext cx="2636444" cy="868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" y="5294376"/>
            <a:ext cx="274320" cy="27432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143000" y="5001768"/>
            <a:ext cx="19506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¿Vehículo apto?</a:t>
            </a:r>
            <a:endParaRPr lang="es-CL" sz="1700" dirty="0"/>
          </a:p>
        </p:txBody>
      </p:sp>
      <p:sp>
        <p:nvSpPr>
          <p:cNvPr id="30" name="Shape 28"/>
          <p:cNvSpPr/>
          <p:nvPr/>
        </p:nvSpPr>
        <p:spPr>
          <a:xfrm>
            <a:off x="3367964" y="5001768"/>
            <a:ext cx="2636444" cy="868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9132" y="5294376"/>
            <a:ext cx="274320" cy="27432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962324" y="5001768"/>
            <a:ext cx="19506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¿Masa y ejes?</a:t>
            </a:r>
            <a:endParaRPr lang="es-CL" sz="1700" dirty="0"/>
          </a:p>
        </p:txBody>
      </p:sp>
      <p:sp>
        <p:nvSpPr>
          <p:cNvPr id="33" name="Shape 31"/>
          <p:cNvSpPr/>
          <p:nvPr/>
        </p:nvSpPr>
        <p:spPr>
          <a:xfrm>
            <a:off x="6187288" y="5001768"/>
            <a:ext cx="2636444" cy="868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88456" y="5294376"/>
            <a:ext cx="274320" cy="27432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81648" y="5001768"/>
            <a:ext cx="19506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¿Aislación?</a:t>
            </a:r>
            <a:endParaRPr lang="es-CL" sz="1700" dirty="0"/>
          </a:p>
        </p:txBody>
      </p:sp>
      <p:sp>
        <p:nvSpPr>
          <p:cNvPr id="36" name="Shape 34"/>
          <p:cNvSpPr/>
          <p:nvPr/>
        </p:nvSpPr>
        <p:spPr>
          <a:xfrm>
            <a:off x="9006611" y="5001768"/>
            <a:ext cx="2636444" cy="868680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07779" y="5294376"/>
            <a:ext cx="274320" cy="274320"/>
          </a:xfrm>
          <a:prstGeom prst="diamond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00971" y="5001768"/>
            <a:ext cx="19506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700" b="1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¿Dinamómetro?</a:t>
            </a:r>
            <a:endParaRPr lang="es-CL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A9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OPERACIONES · INVERSIÓN Y GASTO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LA INVERSIÓN SIGUE AL GATILLO;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el gasto, al kit.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Fuentes: Dynojet Research (2016); Importadora JAK (2026); elaboración propia (Informe Fase 3, Tablas N° 18 y 19).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INVERSIÓN · MILLONES DE $</a:t>
            </a:r>
            <a:endParaRPr lang="es-CL" sz="1200" dirty="0"/>
          </a:p>
        </p:txBody>
      </p:sp>
      <p:graphicFrame>
        <p:nvGraphicFramePr>
          <p:cNvPr id="7" name="Inversión en equipamiento por año" descr=""/>
          <p:cNvGraphicFramePr/>
          <p:nvPr/>
        </p:nvGraphicFramePr>
        <p:xfrm>
          <a:off x="457200" y="2624328"/>
          <a:ext cx="5410048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57784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 local nuevo en los años 1, 3 y 5.</a:t>
            </a:r>
            <a:endParaRPr lang="es-CL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24448" y="2331720"/>
            <a:ext cx="5318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GASTO OPERACIONAL · MILLONES DE $</a:t>
            </a:r>
            <a:endParaRPr lang="es-CL" sz="1200" dirty="0"/>
          </a:p>
        </p:txBody>
      </p:sp>
      <p:graphicFrame>
        <p:nvGraphicFramePr>
          <p:cNvPr id="10" name="Gasto operacional por año" descr=""/>
          <p:cNvGraphicFramePr/>
          <p:nvPr/>
        </p:nvGraphicFramePr>
        <p:xfrm>
          <a:off x="6233008" y="2624328"/>
          <a:ext cx="5410048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324448" y="5577840"/>
            <a:ext cx="531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kit es más del 90% de cada año.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hlinkClick r:id="rId1" tooltip="Volver al índice del anexo" action="ppaction://hlinksldjump"/>
          </p:cNvPr>
          <p:cNvSpPr/>
          <p:nvPr/>
        </p:nvSpPr>
        <p:spPr>
          <a:xfrm>
            <a:off x="7955280" y="640080"/>
            <a:ext cx="36877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u="sng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  <a:hlinkClick r:id="rId1" action="ppaction://hlinksldjump" tooltip="Volver al índice del anex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↩ ÍNDICE DEL ANEXO</a:t>
            </a:r>
            <a:endParaRPr lang="en-US" sz="85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548640" y="914400"/>
            <a:ext cx="11094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A10</a:t>
            </a:r>
            <a:pPr indent="0" marL="0">
              <a:buNone/>
            </a:pPr>
            <a:r>
              <a:rPr lang="en-US" sz="1000" spc="150" kern="0" dirty="0">
                <a:solidFill>
                  <a:schemeClr val="accent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—— </a:t>
            </a:r>
            <a:pPr indent="0" marL="0">
              <a:buNone/>
            </a:pPr>
            <a:r>
              <a:rPr lang="en-US" sz="1000" spc="150" kern="0" dirty="0">
                <a:solidFill>
                  <a:schemeClr val="tx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ANEXO · OPERACIONES · SENSIBILIDAD</a:t>
            </a:r>
            <a:endParaRPr lang="en-US" sz="1000" dirty="0"/>
          </a:p>
        </p:txBody>
      </p:sp>
      <p:sp>
        <p:nvSpPr>
          <p:cNvPr id="4" name="Text 1"/>
          <p:cNvSpPr/>
          <p:nvPr>
            <p:ph idx="103" type="title" hasCustomPrompt="1"/>
          </p:nvPr>
        </p:nvSpPr>
        <p:spPr>
          <a:xfrm>
            <a:off x="548640" y="1261872"/>
            <a:ext cx="1109441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000" dirty="0">
                <a:solidFill>
                  <a:schemeClr val="tx1"/>
                </a:solidFill>
                <a:latin typeface="Archivo SemiExpanded ExtraBold" pitchFamily="34" charset="0"/>
                <a:ea typeface="Archivo SemiExpanded ExtraBold" pitchFamily="34" charset="-122"/>
                <a:cs typeface="Archivo SemiExpanded ExtraBold" pitchFamily="34" charset="-120"/>
              </a:rPr>
              <a:t>EL DÓLAR PESA MÁS </a:t>
            </a:r>
            <a:pPr algn="l" indent="0" marL="0">
              <a:lnSpc>
                <a:spcPct val="88000"/>
              </a:lnSpc>
              <a:buNone/>
            </a:pPr>
            <a:r>
              <a:rPr lang="en-US" sz="3500" i="1" dirty="0">
                <a:solidFill>
                  <a:schemeClr val="accent1"/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que el precio y la mezcla.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345936"/>
            <a:ext cx="10271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s-CL" altLang="en-US" sz="9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Fuente: elaboración propia (Informe Fase 3, Tabla N° 21). Dólar base $965,71.</a:t>
            </a:r>
            <a:endParaRPr lang="es-CL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tx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RESULTADO PROPIO AL AÑO 5 · MILLONES DE $</a:t>
            </a:r>
            <a:endParaRPr lang="es-CL" sz="1200" dirty="0"/>
          </a:p>
        </p:txBody>
      </p:sp>
      <p:graphicFrame>
        <p:nvGraphicFramePr>
          <p:cNvPr id="7" name="Sensibilidad del resultado al quinto año" descr=""/>
          <p:cNvGraphicFramePr/>
          <p:nvPr/>
        </p:nvGraphicFramePr>
        <p:xfrm>
          <a:off x="457200" y="2624328"/>
          <a:ext cx="7589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5"/>
          <p:cNvSpPr/>
          <p:nvPr/>
        </p:nvSpPr>
        <p:spPr>
          <a:xfrm>
            <a:off x="8458200" y="2331720"/>
            <a:ext cx="3184855" cy="2377440"/>
          </a:xfrm>
          <a:prstGeom prst="rect">
            <a:avLst/>
          </a:prstGeom>
          <a:solidFill>
            <a:srgbClr val="0B1A2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03336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03336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42471" y="2276856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97919" y="227685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03336" y="47640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03336" y="46085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542471" y="4764024"/>
            <a:ext cx="155448" cy="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97919" y="4608576"/>
            <a:ext cx="0" cy="155448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2532888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200" spc="150" kern="0" dirty="0">
                <a:solidFill>
                  <a:schemeClr val="accent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MARGEN SOBRE VENTAS</a:t>
            </a:r>
            <a:endParaRPr lang="es-CL" sz="1200" dirty="0"/>
          </a:p>
        </p:txBody>
      </p:sp>
      <p:sp>
        <p:nvSpPr>
          <p:cNvPr id="18" name="Shape 15"/>
          <p:cNvSpPr/>
          <p:nvPr/>
        </p:nvSpPr>
        <p:spPr>
          <a:xfrm>
            <a:off x="8686800" y="2898648"/>
            <a:ext cx="2727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86800" y="2898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Base</a:t>
            </a:r>
            <a:endParaRPr lang="es-CL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0287000" y="2898648"/>
            <a:ext cx="1127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7,7%</a:t>
            </a:r>
            <a:endParaRPr lang="es-CL" sz="2600" dirty="0"/>
          </a:p>
        </p:txBody>
      </p:sp>
      <p:sp>
        <p:nvSpPr>
          <p:cNvPr id="21" name="Shape 18"/>
          <p:cNvSpPr/>
          <p:nvPr/>
        </p:nvSpPr>
        <p:spPr>
          <a:xfrm>
            <a:off x="8686800" y="3447288"/>
            <a:ext cx="2727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686800" y="34472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Dólar +10%</a:t>
            </a:r>
            <a:endParaRPr lang="es-CL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0287000" y="3447288"/>
            <a:ext cx="1127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accent4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0,8%</a:t>
            </a:r>
            <a:endParaRPr lang="es-CL" sz="2600" dirty="0"/>
          </a:p>
        </p:txBody>
      </p:sp>
      <p:sp>
        <p:nvSpPr>
          <p:cNvPr id="24" name="Shape 21"/>
          <p:cNvSpPr/>
          <p:nvPr/>
        </p:nvSpPr>
        <p:spPr>
          <a:xfrm>
            <a:off x="8686800" y="3995928"/>
            <a:ext cx="272765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86800" y="39959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1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Dólar −10%</a:t>
            </a:r>
            <a:endParaRPr lang="es-CL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10287000" y="3995928"/>
            <a:ext cx="11274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s-CL" altLang="en-US" sz="2600" b="1" dirty="0">
                <a:solidFill>
                  <a:schemeClr val="tx1"/>
                </a:solidFill>
                <a:latin typeface="Archivo Condensed" pitchFamily="34" charset="0"/>
                <a:ea typeface="Archivo Condensed" pitchFamily="34" charset="-122"/>
                <a:cs typeface="Archivo Condensed" pitchFamily="34" charset="-120"/>
              </a:rPr>
              <a:t>14,6%</a:t>
            </a:r>
            <a:endParaRPr lang="es-CL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8458200" y="4892040"/>
            <a:ext cx="31848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CL" altLang="en-US" sz="1600" dirty="0">
                <a:solidFill>
                  <a:schemeClr val="tx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 82% del costo del kit está en dólares: el plan financiero evaluará coberturas.</a:t>
            </a:r>
            <a:endParaRPr lang="es-CL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82512"/>
            <a:ext cx="731520" cy="21945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22B8F0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mine">
  <a:themeElements>
    <a:clrScheme name="Lumine">
      <a:dk1>
        <a:srgbClr val="ECECEC"/>
      </a:dk1>
      <a:lt1>
        <a:srgbClr val="020304"/>
      </a:lt1>
      <a:dk2>
        <a:srgbClr val="8B9598"/>
      </a:dk2>
      <a:lt2>
        <a:srgbClr val="0A0D0F"/>
      </a:lt2>
      <a:accent1>
        <a:srgbClr val="22B8F0"/>
      </a:accent1>
      <a:accent2>
        <a:srgbClr val="4ADE80"/>
      </a:accent2>
      <a:accent3>
        <a:srgbClr val="F5B94A"/>
      </a:accent3>
      <a:accent4>
        <a:srgbClr val="F87171"/>
      </a:accent4>
      <a:accent5>
        <a:srgbClr val="2E3438"/>
      </a:accent5>
      <a:accent6>
        <a:srgbClr val="101417"/>
      </a:accent6>
      <a:hlink>
        <a:srgbClr val="22B8F0"/>
      </a:hlink>
      <a:folHlink>
        <a:srgbClr val="0A6F9E"/>
      </a:folHlink>
    </a:clrScheme>
    <a:fontScheme name="Lumine">
      <a:majorFont>
        <a:latin typeface="Archivo SemiExpanded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Lumine Motors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3 · Plan de Marketing, Operaciones y Recursos Humanos · Lumine Motors</dc:title>
  <dc:subject>Integrador II: Taller de Empresas · ICMA 1001 · Grupo 1</dc:subject>
  <dc:creator>Diego Alarcón, Benjamín Torres y Lukas Verdugo</dc:creator>
  <cp:lastModifiedBy>Diego Alarcón, Benjamín Torres y Lukas Verdugo</cp:lastModifiedBy>
  <cp:revision>1</cp:revision>
  <dcterms:created xsi:type="dcterms:W3CDTF">2026-10-17T02:18:27Z</dcterms:created>
  <dcterms:modified xsi:type="dcterms:W3CDTF">2026-10-17T02:18:27Z</dcterms:modified>
</cp:coreProperties>
</file>