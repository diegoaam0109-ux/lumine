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8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af6acb1a-ceab-39be-a9b5-40a1ed9ce58b}">
          <p14:sldIdLst>
            <p14:sldId id="256"/>
            <p14:sldId id="257"/>
            <p14:sldId id="258"/>
            <p14:sldId id="259"/>
            <p14:sldId id="260"/>
          </p14:sldIdLst>
        </p14:section>
        <p14:section name="2 · Benjamín Torres" id="{17828b1c-b5b4-0705-ba4c-848eeacf0cb1}">
          <p14:sldIdLst>
            <p14:sldId id="261"/>
            <p14:sldId id="262"/>
            <p14:sldId id="263"/>
            <p14:sldId id="264"/>
            <p14:sldId id="265"/>
          </p14:sldIdLst>
        </p14:section>
        <p14:section name="3 · Lukas Verdugo" id="{cbd71e86-a943-0a85-8a84-8c10a6e7f2d7}">
          <p14:sldIdLst>
            <p14:sldId id="266"/>
            <p14:sldId id="267"/>
            <p14:sldId id="268"/>
            <p14:sldId id="269"/>
            <p14:sldId id="270"/>
          </p14:sldIdLst>
        </p14:section>
        <p14:section name="Anexo" id="{b56fc35e-795b-17d8-554c-24eb8ee69654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4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1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9]&quot;&quot;;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9]&quot;&quot;;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9]&quot;&quot;;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 partidas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9]&quot;&quot;;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9]&quot;&quot;;0" sourceLinked="0"/>
          <c:txPr>
            <a:bodyPr/>
            <a:lstStyle/>
            <a:p>
              <a:pPr>
                <a:defRPr b="1" i="0" strike="noStrike" sz="1100" u="none">
                  <a:solidFill>
                    <a:srgbClr val="020304"/>
                  </a:solidFill>
                  <a:latin typeface="IBM Plex Mon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0"/>
        <c:axPos val="l"/>
        <c:majorGridlines>
          <c:spPr>
            <a:ln w="9525" cap="flat">
              <a:solidFill>
                <a:srgbClr val="1F2427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40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Técnicos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5]&quot;&quot;;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A1</c:v>
                  </c:pt>
                  <c:pt idx="2">
                    <c:v>A2</c:v>
                  </c:pt>
                  <c:pt idx="3">
                    <c:v>A3</c:v>
                  </c:pt>
                  <c:pt idx="4">
                    <c:v>A4</c:v>
                  </c:pt>
                  <c:pt idx="5">
                    <c:v>A5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14</c:v>
                </c:pt>
                <c:pt idx="3">
                  <c:v>24</c:v>
                </c:pt>
                <c:pt idx="4">
                  <c:v>26</c:v>
                </c:pt>
                <c:pt idx="5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5]&quot;&quot;;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20304"/>
                    </a:solidFill>
                    <a:latin typeface="IBM Plex Mon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A1</c:v>
                  </c:pt>
                  <c:pt idx="2">
                    <c:v>A2</c:v>
                  </c:pt>
                  <c:pt idx="3">
                    <c:v>A3</c:v>
                  </c:pt>
                  <c:pt idx="4">
                    <c:v>A4</c:v>
                  </c:pt>
                  <c:pt idx="5">
                    <c:v>A5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14</c:v>
                </c:pt>
                <c:pt idx="5">
                  <c:v>20</c:v>
                </c:pt>
              </c:numCache>
            </c:numRef>
          </c:val>
        </c:ser>
        <c:dLbls>
          <c:numFmt formatCode="[&lt;5]&quot;&quot;;0" sourceLinked="0"/>
          <c:txPr>
            <a:bodyPr/>
            <a:lstStyle/>
            <a:p>
              <a:pPr>
                <a:defRPr b="1" i="0" strike="noStrike" sz="1100" u="none">
                  <a:solidFill>
                    <a:srgbClr val="020304"/>
                  </a:solidFill>
                  <a:latin typeface="IBM Plex Mon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empresa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265.6</c:v>
                </c:pt>
                <c:pt idx="2">
                  <c:v>430.4</c:v>
                </c:pt>
                <c:pt idx="3">
                  <c:v>574.7</c:v>
                </c:pt>
                <c:pt idx="4">
                  <c:v>755.1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certificada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1" i="0" strike="noStrike" sz="11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-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175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9525" cap="flat">
              <a:solidFill>
                <a:srgbClr val="1F2427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  <c:majorUnit val="0.04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Ingeniería de 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 y Personas</c:v>
                  </c:pt>
                  <c:pt idx="6">
                    <c:v>Comercial y Postventa*</c:v>
                  </c:pt>
                  <c:pt idx="7">
                    <c:v>Comercial de Empresas*</c:v>
                  </c:pt>
                  <c:pt idx="8">
                    <c:v>Técnico N2</c:v>
                  </c:pt>
                  <c:pt idx="9">
                    <c:v>Técnico N1</c:v>
                  </c:pt>
                  <c:pt idx="10">
                    <c:v>Asistentes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850</c:v>
                </c:pt>
                <c:pt idx="8">
                  <c:v>850</c:v>
                </c:pt>
                <c:pt idx="9">
                  <c:v>750</c:v>
                </c:pt>
                <c:pt idx="10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9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.0;;&quot;—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.0;;&quot;—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Kits instalados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958.8</c:v>
                </c:pt>
                <c:pt idx="1">
                  <c:v>2786.5</c:v>
                </c:pt>
                <c:pt idx="2">
                  <c:v>5367.7</c:v>
                </c:pt>
                <c:pt idx="3">
                  <c:v>7272.4</c:v>
                </c:pt>
                <c:pt idx="4">
                  <c:v>9141.8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Resto del gasto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105.3</c:v>
                </c:pt>
                <c:pt idx="1">
                  <c:v>158.9</c:v>
                </c:pt>
                <c:pt idx="2">
                  <c:v>290.2</c:v>
                </c:pt>
                <c:pt idx="3">
                  <c:v>351.1</c:v>
                </c:pt>
                <c:pt idx="4">
                  <c:v>464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50">
              <a:solidFill>
                <a:srgbClr val="8B9598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CECEC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050" u="none">
                  <a:solidFill>
                    <a:srgbClr val="ECECEC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exploratoria;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45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 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Gracias, Benjamín. El oficio escasea en Chile, así que los técnicos se forman en casa con Lumine Habilita: 39 competencias, cuatro niveles y 392 horas. Con formación intensiva, un técnico nuevo llega al nivel 4 en unos ocho meses. 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El flujo sigue a un vehículo desde la cotización hasta el fin de vida de la batería, en cinco etapas. Una regla lo atraviesa: el negocio mide y recomienda, pero la decisión de instalar es siempre del cliente. Solo se detiene por razones técnicas. 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35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 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image" Target="../media/CIERRE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481328"/>
            <a:ext cx="11094415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ctr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INTEGRADOR II · ICMA 1001 · GRUPO 1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8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8000"/>
              </a:lnSpc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pic>
        <p:nvPicPr>
          <p:cNvPr id="3" name="Image 1" descr="LUM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24528"/>
            <a:ext cx="11094415" cy="182373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325880"/>
            <a:ext cx="1109441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17.xml"/><Relationship Id="rId3" Type="http://schemas.openxmlformats.org/officeDocument/2006/relationships/slide" Target="slide18.xml"/><Relationship Id="rId4" Type="http://schemas.openxmlformats.org/officeDocument/2006/relationships/slide" Target="slide18.xml"/><Relationship Id="rId5" Type="http://schemas.openxmlformats.org/officeDocument/2006/relationships/slide" Target="slide19.xml"/><Relationship Id="rId6" Type="http://schemas.openxmlformats.org/officeDocument/2006/relationships/slide" Target="slide19.xml"/><Relationship Id="rId7" Type="http://schemas.openxmlformats.org/officeDocument/2006/relationships/slide" Target="slide20.xml"/><Relationship Id="rId8" Type="http://schemas.openxmlformats.org/officeDocument/2006/relationships/slide" Target="slide20.xml"/><Relationship Id="rId9" Type="http://schemas.openxmlformats.org/officeDocument/2006/relationships/slide" Target="slide21.xml"/><Relationship Id="rId10" Type="http://schemas.openxmlformats.org/officeDocument/2006/relationships/slide" Target="slide21.xml"/><Relationship Id="rId11" Type="http://schemas.openxmlformats.org/officeDocument/2006/relationships/slide" Target="slide22.xml"/><Relationship Id="rId12" Type="http://schemas.openxmlformats.org/officeDocument/2006/relationships/slide" Target="slide22.xml"/><Relationship Id="rId13" Type="http://schemas.openxmlformats.org/officeDocument/2006/relationships/slide" Target="slide23.xml"/><Relationship Id="rId14" Type="http://schemas.openxmlformats.org/officeDocument/2006/relationships/slide" Target="slide23.xml"/><Relationship Id="rId15" Type="http://schemas.openxmlformats.org/officeDocument/2006/relationships/slide" Target="slide24.xml"/><Relationship Id="rId16" Type="http://schemas.openxmlformats.org/officeDocument/2006/relationships/slide" Target="slide24.xml"/><Relationship Id="rId17" Type="http://schemas.openxmlformats.org/officeDocument/2006/relationships/slide" Target="slide25.xml"/><Relationship Id="rId18" Type="http://schemas.openxmlformats.org/officeDocument/2006/relationships/slide" Target="slide25.xml"/><Relationship Id="rId19" Type="http://schemas.openxmlformats.org/officeDocument/2006/relationships/slide" Target="slide26.xml"/><Relationship Id="rId20" Type="http://schemas.openxmlformats.org/officeDocument/2006/relationships/slide" Target="slide26.xml"/><Relationship Id="rId21" Type="http://schemas.openxmlformats.org/officeDocument/2006/relationships/slideLayout" Target="../slideLayouts/slideLayout3.xml"/><Relationship Id="rId2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FASE 3 · CAPÍTULO III: PLAN DE MARKETING, OPERACIONES Y RECURSOS HUMANOS</a:t>
            </a:r>
            <a:endParaRPr lang="es-CL" sz="1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481328"/>
            <a:ext cx="110944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LUMINE MOTORS</a:t>
            </a:r>
            <a:endParaRPr lang="en-US" sz="600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76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4670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que hibrida autos a combustión de tracción delantera para gastar menos bencina sin cambiar de auto.</a:t>
            </a:r>
            <a:endParaRPr lang="es-CL" sz="1700" dirty="0"/>
          </a:p>
        </p:txBody>
      </p:sp>
      <p:pic>
        <p:nvPicPr>
          <p:cNvPr id="6" name="Image 0" descr="Plano del kit Lumine: auto en vista lateral con el motor eléctrico en el eje trase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5528" y="3767328"/>
            <a:ext cx="5120640" cy="15788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5504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UNIVERSIDAD</a:t>
            </a:r>
            <a:endParaRPr lang="es-CL" sz="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751576"/>
            <a:ext cx="6629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Universidad Andrés Bello · Facultad de Economía y Negocios · Ingeniería Comercial</a:t>
            </a:r>
            <a:endParaRPr lang="es-CL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315200" y="5550408"/>
            <a:ext cx="4325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57515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Integrador II: Taller de Empresas · ICMA 1001</a:t>
            </a:r>
            <a:endParaRPr lang="es-CL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11733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GRUPO</a:t>
            </a:r>
            <a:endParaRPr lang="es-CL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1850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554480" y="61173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PROFESOR</a:t>
            </a:r>
            <a:endParaRPr lang="es-CL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63185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Roberto Brito</a:t>
            </a:r>
            <a:endParaRPr lang="es-CL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6117336"/>
            <a:ext cx="7891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3749040" y="6318504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OBJETIVOS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299 VEHÍCULOS EL PRIMER AÑO,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referencia al quinto.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(§3.1.1, Tablas N° 1 y 10).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22128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77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1421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69664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14216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69664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5146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OBJETIVO GENERAL · CINCO AÑOS</a:t>
            </a:r>
            <a:endParaRPr lang="es-CL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8072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la referencia de la hibridación de posventa en Chile.</a:t>
            </a:r>
            <a:endParaRPr lang="es-CL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6576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Tres talleres propios en la Región Metropolitana y una red certificada en todas las regiones.</a:t>
            </a:r>
            <a:endParaRPr lang="es-CL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2313432"/>
            <a:ext cx="71624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DEL PRIMER AÑO</a:t>
            </a:r>
            <a:endParaRPr lang="es-CL" sz="950" dirty="0"/>
          </a:p>
        </p:txBody>
      </p:sp>
      <p:sp>
        <p:nvSpPr>
          <p:cNvPr id="18" name="Shape 16"/>
          <p:cNvSpPr/>
          <p:nvPr/>
        </p:nvSpPr>
        <p:spPr>
          <a:xfrm>
            <a:off x="4480560" y="2624328"/>
            <a:ext cx="1344717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9432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99432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599432" y="3008376"/>
            <a:ext cx="11069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3758184"/>
            <a:ext cx="11618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instalados</a:t>
            </a:r>
            <a:endParaRPr lang="es-CL" sz="1250" dirty="0"/>
          </a:p>
        </p:txBody>
      </p:sp>
      <p:sp>
        <p:nvSpPr>
          <p:cNvPr id="23" name="Shape 21"/>
          <p:cNvSpPr/>
          <p:nvPr/>
        </p:nvSpPr>
        <p:spPr>
          <a:xfrm>
            <a:off x="5935005" y="2624328"/>
            <a:ext cx="1344717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53877" y="2761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53877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26" name="Shape 24"/>
          <p:cNvSpPr/>
          <p:nvPr/>
        </p:nvSpPr>
        <p:spPr>
          <a:xfrm>
            <a:off x="6053877" y="3310128"/>
            <a:ext cx="1106973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127029" y="3310128"/>
            <a:ext cx="9606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7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CONFIRMAR</a:t>
            </a:r>
            <a:endParaRPr lang="es-CL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053877" y="3758184"/>
            <a:ext cx="11618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cotizaciones digitales</a:t>
            </a:r>
            <a:endParaRPr lang="es-CL" sz="1250" dirty="0"/>
          </a:p>
        </p:txBody>
      </p:sp>
      <p:sp>
        <p:nvSpPr>
          <p:cNvPr id="29" name="Shape 27"/>
          <p:cNvSpPr/>
          <p:nvPr/>
        </p:nvSpPr>
        <p:spPr>
          <a:xfrm>
            <a:off x="7389449" y="2624328"/>
            <a:ext cx="1344717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08321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08321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508321" y="3008376"/>
            <a:ext cx="11069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4400" dirty="0"/>
          </a:p>
        </p:txBody>
      </p:sp>
      <p:sp>
        <p:nvSpPr>
          <p:cNvPr id="33" name="Text 31"/>
          <p:cNvSpPr txBox="1"/>
          <p:nvPr/>
        </p:nvSpPr>
        <p:spPr>
          <a:xfrm>
            <a:off x="7508321" y="3758184"/>
            <a:ext cx="11618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con ahorro medido</a:t>
            </a:r>
            <a:endParaRPr lang="es-CL" sz="1250" dirty="0"/>
          </a:p>
        </p:txBody>
      </p:sp>
      <p:sp>
        <p:nvSpPr>
          <p:cNvPr id="34" name="Shape 32"/>
          <p:cNvSpPr/>
          <p:nvPr/>
        </p:nvSpPr>
        <p:spPr>
          <a:xfrm>
            <a:off x="8843894" y="2624328"/>
            <a:ext cx="1344717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2766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962766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962766" y="3008376"/>
            <a:ext cx="11069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400" dirty="0"/>
          </a:p>
        </p:txBody>
      </p:sp>
      <p:sp>
        <p:nvSpPr>
          <p:cNvPr id="38" name="Text 36"/>
          <p:cNvSpPr txBox="1"/>
          <p:nvPr/>
        </p:nvSpPr>
        <p:spPr>
          <a:xfrm>
            <a:off x="8962766" y="3758184"/>
            <a:ext cx="11618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satisfechos</a:t>
            </a:r>
            <a:endParaRPr lang="es-CL" sz="1250" dirty="0"/>
          </a:p>
        </p:txBody>
      </p:sp>
      <p:sp>
        <p:nvSpPr>
          <p:cNvPr id="39" name="Shape 37"/>
          <p:cNvSpPr/>
          <p:nvPr/>
        </p:nvSpPr>
        <p:spPr>
          <a:xfrm>
            <a:off x="10298339" y="2624328"/>
            <a:ext cx="1344717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17211" y="27614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417211" y="2761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10417211" y="3008376"/>
            <a:ext cx="11069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400" dirty="0"/>
          </a:p>
        </p:txBody>
      </p:sp>
      <p:sp>
        <p:nvSpPr>
          <p:cNvPr id="43" name="Text 41"/>
          <p:cNvSpPr txBox="1"/>
          <p:nvPr/>
        </p:nvSpPr>
        <p:spPr>
          <a:xfrm>
            <a:off x="10417211" y="3758184"/>
            <a:ext cx="11618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por recomendación</a:t>
            </a:r>
            <a:endParaRPr lang="es-CL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7548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INSTALACIONES PROPIAS Y RED POR AÑO</a:t>
            </a:r>
            <a:endParaRPr lang="es-CL" sz="950" dirty="0"/>
          </a:p>
        </p:txBody>
      </p:sp>
      <p:sp>
        <p:nvSpPr>
          <p:cNvPr id="45" name="Shape 43"/>
          <p:cNvSpPr/>
          <p:nvPr/>
        </p:nvSpPr>
        <p:spPr>
          <a:xfrm>
            <a:off x="9082735" y="4727448"/>
            <a:ext cx="25603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46" name="Text 44"/>
          <p:cNvSpPr txBox="1"/>
          <p:nvPr/>
        </p:nvSpPr>
        <p:spPr>
          <a:xfrm>
            <a:off x="9155887" y="472744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PRONÓSTICO · ESCENARIO BASE</a:t>
            </a:r>
            <a:endParaRPr lang="es-CL" sz="900" dirty="0"/>
          </a:p>
        </p:txBody>
      </p:sp>
      <p:sp>
        <p:nvSpPr>
          <p:cNvPr id="47" name="Shape 45"/>
          <p:cNvSpPr/>
          <p:nvPr/>
        </p:nvSpPr>
        <p:spPr>
          <a:xfrm>
            <a:off x="731520" y="5358384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67512" y="5294376"/>
            <a:ext cx="128016" cy="128016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50200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</a:t>
            </a:r>
            <a:endParaRPr lang="es-CL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449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28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5870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taller, tres dúos</a:t>
            </a:r>
            <a:endParaRPr lang="es-CL" sz="1250" dirty="0"/>
          </a:p>
        </p:txBody>
      </p:sp>
      <p:sp>
        <p:nvSpPr>
          <p:cNvPr id="52" name="Shape 50"/>
          <p:cNvSpPr/>
          <p:nvPr/>
        </p:nvSpPr>
        <p:spPr>
          <a:xfrm>
            <a:off x="3349676" y="5294376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79244" y="50200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2179244" y="5449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2800" dirty="0"/>
          </a:p>
        </p:txBody>
      </p:sp>
      <p:sp>
        <p:nvSpPr>
          <p:cNvPr id="55" name="Text 53"/>
          <p:cNvSpPr txBox="1"/>
          <p:nvPr/>
        </p:nvSpPr>
        <p:spPr>
          <a:xfrm>
            <a:off x="2179244" y="5870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Seis dúos · red de 3</a:t>
            </a:r>
            <a:endParaRPr lang="es-CL" sz="1250" dirty="0"/>
          </a:p>
        </p:txBody>
      </p:sp>
      <p:sp>
        <p:nvSpPr>
          <p:cNvPr id="56" name="Shape 54"/>
          <p:cNvSpPr/>
          <p:nvPr/>
        </p:nvSpPr>
        <p:spPr>
          <a:xfrm>
            <a:off x="6031840" y="5294376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61408" y="50200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4861408" y="5449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2800" dirty="0"/>
          </a:p>
        </p:txBody>
      </p:sp>
      <p:sp>
        <p:nvSpPr>
          <p:cNvPr id="59" name="Text 57"/>
          <p:cNvSpPr txBox="1"/>
          <p:nvPr/>
        </p:nvSpPr>
        <p:spPr>
          <a:xfrm>
            <a:off x="4861408" y="5870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 · red de 9</a:t>
            </a:r>
            <a:endParaRPr lang="es-CL" sz="1250" dirty="0"/>
          </a:p>
        </p:txBody>
      </p:sp>
      <p:sp>
        <p:nvSpPr>
          <p:cNvPr id="60" name="Shape 58"/>
          <p:cNvSpPr/>
          <p:nvPr/>
        </p:nvSpPr>
        <p:spPr>
          <a:xfrm>
            <a:off x="8714003" y="5294376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543571" y="50200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7543571" y="5449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2800" dirty="0"/>
          </a:p>
        </p:txBody>
      </p:sp>
      <p:sp>
        <p:nvSpPr>
          <p:cNvPr id="63" name="Text 61"/>
          <p:cNvSpPr txBox="1"/>
          <p:nvPr/>
        </p:nvSpPr>
        <p:spPr>
          <a:xfrm>
            <a:off x="7543571" y="5870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talleres · red de 20</a:t>
            </a:r>
            <a:endParaRPr lang="es-CL" sz="1250" dirty="0"/>
          </a:p>
        </p:txBody>
      </p:sp>
      <p:sp>
        <p:nvSpPr>
          <p:cNvPr id="64" name="Shape 62"/>
          <p:cNvSpPr/>
          <p:nvPr/>
        </p:nvSpPr>
        <p:spPr>
          <a:xfrm>
            <a:off x="11396167" y="5294376"/>
            <a:ext cx="128016" cy="12801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174175" y="502005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9174175" y="5449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2800" dirty="0"/>
          </a:p>
        </p:txBody>
      </p:sp>
      <p:sp>
        <p:nvSpPr>
          <p:cNvPr id="67" name="Text 65"/>
          <p:cNvSpPr txBox="1"/>
          <p:nvPr/>
        </p:nvSpPr>
        <p:spPr>
          <a:xfrm>
            <a:off x="9174175" y="58704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 · red de 42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SEGMENTACIÓN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CLIENTE SE DEFINE POR SU AUTO,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por su edad.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ESTO NO HAY COMPRA</a:t>
            </a:r>
            <a:endParaRPr lang="es-CL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2660904"/>
            <a:ext cx="42062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77977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7977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73405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Técnica</a:t>
            </a:r>
            <a:endParaRPr lang="es-CL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02666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Liviano, a combustión y con tracción delantera.</a:t>
            </a:r>
            <a:endParaRPr lang="es-CL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483864"/>
            <a:ext cx="42062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60273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0273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55701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Acceso</a:t>
            </a:r>
            <a:endParaRPr lang="es-CL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84962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Todo Chile, salvo Rapa Nui, Juan Fernández y la Antártica.</a:t>
            </a:r>
            <a:endParaRPr lang="es-CL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42062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42569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42569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43799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5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Unidad</a:t>
            </a:r>
            <a:endParaRPr lang="es-CL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672584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 natural vinculada a un auto compatible.</a:t>
            </a:r>
            <a:endParaRPr lang="es-CL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129784"/>
            <a:ext cx="42062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0" y="2331720"/>
            <a:ext cx="3169768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03520" y="2468880"/>
            <a:ext cx="2804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GEOGRÁFICA</a:t>
            </a:r>
            <a:endParaRPr lang="es-CL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2679192"/>
            <a:ext cx="2804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3209544"/>
            <a:ext cx="2804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parque, en la Región Metropolitana (RM).</a:t>
            </a:r>
            <a:endParaRPr lang="es-CL" sz="1250" dirty="0"/>
          </a:p>
        </p:txBody>
      </p:sp>
      <p:sp>
        <p:nvSpPr>
          <p:cNvPr id="26" name="Shape 24"/>
          <p:cNvSpPr/>
          <p:nvPr/>
        </p:nvSpPr>
        <p:spPr>
          <a:xfrm>
            <a:off x="8473288" y="2331720"/>
            <a:ext cx="3169768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56168" y="2468880"/>
            <a:ext cx="2804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DEMOGRÁFICA</a:t>
            </a:r>
            <a:endParaRPr lang="es-CL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656168" y="2679192"/>
            <a:ext cx="2804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8656168" y="3209544"/>
            <a:ext cx="2804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usuario, dueño, pagador e influyentes.</a:t>
            </a:r>
            <a:endParaRPr lang="es-CL" sz="1250" dirty="0"/>
          </a:p>
        </p:txBody>
      </p:sp>
      <p:sp>
        <p:nvSpPr>
          <p:cNvPr id="30" name="Shape 28"/>
          <p:cNvSpPr/>
          <p:nvPr/>
        </p:nvSpPr>
        <p:spPr>
          <a:xfrm>
            <a:off x="5120640" y="3840480"/>
            <a:ext cx="3169768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3977640"/>
            <a:ext cx="2804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PSICOGRÁFICA</a:t>
            </a:r>
            <a:endParaRPr lang="es-CL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4187952"/>
            <a:ext cx="2804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5303520" y="4718304"/>
            <a:ext cx="2804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ahorro, ambiente, norma, innovación y apego.</a:t>
            </a:r>
            <a:endParaRPr lang="es-CL" sz="1250" dirty="0"/>
          </a:p>
        </p:txBody>
      </p:sp>
      <p:sp>
        <p:nvSpPr>
          <p:cNvPr id="34" name="Shape 32"/>
          <p:cNvSpPr/>
          <p:nvPr/>
        </p:nvSpPr>
        <p:spPr>
          <a:xfrm>
            <a:off x="8473288" y="3840480"/>
            <a:ext cx="3169768" cy="13258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18424" y="3785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8424" y="3785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542471" y="3785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697919" y="3785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418424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18424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542471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697919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56168" y="3977640"/>
            <a:ext cx="2804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CONDUCTUAL</a:t>
            </a:r>
            <a:endParaRPr lang="es-CL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8656168" y="4187952"/>
            <a:ext cx="2804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dimensiones</a:t>
            </a:r>
            <a:endParaRPr lang="es-CL" sz="3200" dirty="0"/>
          </a:p>
        </p:txBody>
      </p:sp>
      <p:sp>
        <p:nvSpPr>
          <p:cNvPr id="45" name="Text 43"/>
          <p:cNvSpPr txBox="1"/>
          <p:nvPr/>
        </p:nvSpPr>
        <p:spPr>
          <a:xfrm>
            <a:off x="8656168" y="4718304"/>
            <a:ext cx="2804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intensidad de uso define el valor.</a:t>
            </a:r>
            <a:endParaRPr lang="es-CL" sz="1250" dirty="0"/>
          </a:p>
        </p:txBody>
      </p:sp>
      <p:sp>
        <p:nvSpPr>
          <p:cNvPr id="46" name="Shape 44"/>
          <p:cNvSpPr/>
          <p:nvPr/>
        </p:nvSpPr>
        <p:spPr>
          <a:xfrm>
            <a:off x="548640" y="532180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486400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04088" y="5394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PUNTO DE ENTRADA</a:t>
            </a:r>
            <a:endParaRPr lang="es-CL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56692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intensivo en la RM: colectivos, taxis y aplicaciones.</a:t>
            </a:r>
            <a:endParaRPr lang="es-CL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217920" y="539496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DE EMPRESAS</a:t>
            </a:r>
            <a:endParaRPr lang="es-CL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217920" y="5650992"/>
            <a:ext cx="1808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14.473</a:t>
            </a:r>
            <a:endParaRPr lang="es-CL" sz="2200" dirty="0"/>
          </a:p>
        </p:txBody>
      </p:sp>
      <p:sp>
        <p:nvSpPr>
          <p:cNvPr id="52" name="Text 50"/>
          <p:cNvSpPr txBox="1"/>
          <p:nvPr/>
        </p:nvSpPr>
        <p:spPr>
          <a:xfrm>
            <a:off x="6217920" y="5980176"/>
            <a:ext cx="17169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autos arrendados</a:t>
            </a:r>
            <a:endParaRPr lang="es-CL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026298" y="5650992"/>
            <a:ext cx="1808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408</a:t>
            </a:r>
            <a:endParaRPr lang="es-CL" sz="2200" dirty="0"/>
          </a:p>
        </p:txBody>
      </p:sp>
      <p:sp>
        <p:nvSpPr>
          <p:cNvPr id="54" name="Text 52"/>
          <p:cNvSpPr txBox="1"/>
          <p:nvPr/>
        </p:nvSpPr>
        <p:spPr>
          <a:xfrm>
            <a:off x="8026298" y="5980176"/>
            <a:ext cx="17169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líneas de colectivos</a:t>
            </a:r>
            <a:endParaRPr lang="es-CL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9834677" y="5650992"/>
            <a:ext cx="180837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22.447</a:t>
            </a:r>
            <a:endParaRPr lang="es-CL" sz="2200" dirty="0"/>
          </a:p>
        </p:txBody>
      </p:sp>
      <p:sp>
        <p:nvSpPr>
          <p:cNvPr id="56" name="Text 54"/>
          <p:cNvSpPr txBox="1"/>
          <p:nvPr/>
        </p:nvSpPr>
        <p:spPr>
          <a:xfrm>
            <a:off x="9834677" y="5980176"/>
            <a:ext cx="17169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mecánicos</a:t>
            </a:r>
            <a:endParaRPr lang="es-C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INVESTIGACIÓN DE MERCADO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antes de fijar el precio.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§3.1.3, Tablas N° 2 y 3). Muestra no probabilística: resultados indicativos.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ETAPAS · PRIMERO CUALITATIVA, DESPUÉS ENCUESTA</a:t>
            </a:r>
            <a:endParaRPr lang="es-CL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2642616"/>
            <a:ext cx="2533574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18790" y="3625596"/>
            <a:ext cx="24688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13232" y="278892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7889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788920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EXPLORATORIA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09981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666744"/>
            <a:ext cx="2204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 de aplicaciones</a:t>
            </a:r>
            <a:endParaRPr lang="es-CL" sz="1250" dirty="0"/>
          </a:p>
        </p:txBody>
      </p:sp>
      <p:sp>
        <p:nvSpPr>
          <p:cNvPr id="13" name="Shape 11"/>
          <p:cNvSpPr/>
          <p:nvPr/>
        </p:nvSpPr>
        <p:spPr>
          <a:xfrm>
            <a:off x="713232" y="4224528"/>
            <a:ext cx="14630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2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786384" y="422452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900" spc="12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REALIZADA</a:t>
            </a:r>
            <a:endParaRPr lang="es-CL" sz="900" dirty="0"/>
          </a:p>
        </p:txBody>
      </p:sp>
      <p:sp>
        <p:nvSpPr>
          <p:cNvPr id="15" name="Shape 13"/>
          <p:cNvSpPr/>
          <p:nvPr/>
        </p:nvSpPr>
        <p:spPr>
          <a:xfrm>
            <a:off x="3402254" y="2642616"/>
            <a:ext cx="2533574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72404" y="3625596"/>
            <a:ext cx="24688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66846" y="2788920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66846" y="27889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996614" y="2788920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EXPERTOS</a:t>
            </a:r>
            <a:endParaRPr lang="es-CL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6846" y="309981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566846" y="3666744"/>
            <a:ext cx="2204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Estado, academia, industria y mecánica</a:t>
            </a:r>
            <a:endParaRPr lang="es-CL" sz="1250" dirty="0"/>
          </a:p>
        </p:txBody>
      </p:sp>
      <p:sp>
        <p:nvSpPr>
          <p:cNvPr id="22" name="Shape 20"/>
          <p:cNvSpPr/>
          <p:nvPr/>
        </p:nvSpPr>
        <p:spPr>
          <a:xfrm>
            <a:off x="3566846" y="4224528"/>
            <a:ext cx="14630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3639998" y="422452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900" dirty="0"/>
          </a:p>
        </p:txBody>
      </p:sp>
      <p:sp>
        <p:nvSpPr>
          <p:cNvPr id="24" name="Shape 22"/>
          <p:cNvSpPr/>
          <p:nvPr/>
        </p:nvSpPr>
        <p:spPr>
          <a:xfrm>
            <a:off x="6255868" y="2642616"/>
            <a:ext cx="2533574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26017" y="3625596"/>
            <a:ext cx="24688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20460" y="2788920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20460" y="27889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850228" y="2788920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CLIENTES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420460" y="309981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6420460" y="3666744"/>
            <a:ext cx="2204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perfiles de conductor y dueño</a:t>
            </a:r>
            <a:endParaRPr lang="es-CL" sz="1250" dirty="0"/>
          </a:p>
        </p:txBody>
      </p:sp>
      <p:sp>
        <p:nvSpPr>
          <p:cNvPr id="31" name="Shape 29"/>
          <p:cNvSpPr/>
          <p:nvPr/>
        </p:nvSpPr>
        <p:spPr>
          <a:xfrm>
            <a:off x="6420460" y="4224528"/>
            <a:ext cx="14630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493612" y="422452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900" dirty="0"/>
          </a:p>
        </p:txBody>
      </p:sp>
      <p:sp>
        <p:nvSpPr>
          <p:cNvPr id="33" name="Shape 31"/>
          <p:cNvSpPr/>
          <p:nvPr/>
        </p:nvSpPr>
        <p:spPr>
          <a:xfrm>
            <a:off x="9109481" y="2642616"/>
            <a:ext cx="2533574" cy="1965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74073" y="2788920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74073" y="27889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03841" y="2788920"/>
            <a:ext cx="18020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ENCUESTA</a:t>
            </a:r>
            <a:endParaRPr lang="es-CL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9274073" y="309981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000" dirty="0"/>
          </a:p>
        </p:txBody>
      </p:sp>
      <p:sp>
        <p:nvSpPr>
          <p:cNvPr id="38" name="Text 36"/>
          <p:cNvSpPr txBox="1"/>
          <p:nvPr/>
        </p:nvSpPr>
        <p:spPr>
          <a:xfrm>
            <a:off x="9274073" y="3666744"/>
            <a:ext cx="22043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por cuotas (mínimo 100)</a:t>
            </a:r>
            <a:endParaRPr lang="es-CL" sz="1250" dirty="0"/>
          </a:p>
        </p:txBody>
      </p:sp>
      <p:sp>
        <p:nvSpPr>
          <p:cNvPr id="39" name="Shape 37"/>
          <p:cNvSpPr/>
          <p:nvPr/>
        </p:nvSpPr>
        <p:spPr>
          <a:xfrm>
            <a:off x="9274073" y="4224528"/>
            <a:ext cx="14630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9347225" y="4224528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80060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PONE A PRUEBA · 3 DE 6 (ANEXO A1)</a:t>
            </a:r>
            <a:endParaRPr lang="es-CL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093208"/>
            <a:ext cx="6949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166360"/>
            <a:ext cx="402336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5166360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15568" y="5093208"/>
            <a:ext cx="6382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uso laboral compra más que el particular.</a:t>
            </a:r>
            <a:endParaRPr lang="es-CL" sz="1350" dirty="0"/>
          </a:p>
        </p:txBody>
      </p:sp>
      <p:sp>
        <p:nvSpPr>
          <p:cNvPr id="46" name="Shape 44"/>
          <p:cNvSpPr/>
          <p:nvPr/>
        </p:nvSpPr>
        <p:spPr>
          <a:xfrm>
            <a:off x="548640" y="5477256"/>
            <a:ext cx="6949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550408"/>
            <a:ext cx="402336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" y="5550408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115568" y="5477256"/>
            <a:ext cx="6382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es la confianza, no el precio.</a:t>
            </a:r>
            <a:endParaRPr lang="es-CL" sz="1350" dirty="0"/>
          </a:p>
        </p:txBody>
      </p:sp>
      <p:sp>
        <p:nvSpPr>
          <p:cNvPr id="50" name="Shape 48"/>
          <p:cNvSpPr/>
          <p:nvPr/>
        </p:nvSpPr>
        <p:spPr>
          <a:xfrm>
            <a:off x="548640" y="5861304"/>
            <a:ext cx="69494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8640" y="5934456"/>
            <a:ext cx="402336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5934456"/>
            <a:ext cx="402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1115568" y="5861304"/>
            <a:ext cx="6382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 gas, cambiar de auto o nada.</a:t>
            </a:r>
            <a:endParaRPr lang="es-CL" sz="1350" dirty="0"/>
          </a:p>
        </p:txBody>
      </p:sp>
      <p:sp>
        <p:nvSpPr>
          <p:cNvPr id="54" name="Shape 52"/>
          <p:cNvSpPr/>
          <p:nvPr/>
        </p:nvSpPr>
        <p:spPr>
          <a:xfrm>
            <a:off x="7909560" y="4800600"/>
            <a:ext cx="3733495" cy="144475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92440" y="4928616"/>
            <a:ext cx="33677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MUESTRA POR CUOTAS</a:t>
            </a:r>
            <a:endParaRPr lang="es-CL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1846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±8,0%</a:t>
            </a:r>
            <a:endParaRPr lang="es-CL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9829800" y="5212080"/>
            <a:ext cx="1630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Error con 150 casos: resultados indicativos.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MATRIZ DE ANSOFF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PRODUCTO NUEVO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un mercado que ya existe.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Ansoff (1965); elaboración propia (Informe Fase 3, §3.1.4, §3.1.5.4, §3.2.1 y Figura N° 1).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304288"/>
            <a:ext cx="3406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EXISTENTE</a:t>
            </a:r>
            <a:endParaRPr lang="es-CL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960620" y="2304288"/>
            <a:ext cx="3406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NUEVO</a:t>
            </a:r>
            <a:endParaRPr lang="es-CL" sz="95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-210312" y="3291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EXISTENTE</a:t>
            </a:r>
            <a:endParaRPr lang="es-CL" sz="9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-210312" y="53035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 NUEVO</a:t>
            </a:r>
            <a:endParaRPr lang="es-CL" sz="900" dirty="0"/>
          </a:p>
        </p:txBody>
      </p:sp>
      <p:sp>
        <p:nvSpPr>
          <p:cNvPr id="9" name="Shape 7"/>
          <p:cNvSpPr/>
          <p:nvPr/>
        </p:nvSpPr>
        <p:spPr>
          <a:xfrm>
            <a:off x="1051560" y="2633472"/>
            <a:ext cx="3406140" cy="15544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52728" y="2779776"/>
            <a:ext cx="3003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PENETRACIÓN</a:t>
            </a:r>
            <a:endParaRPr lang="es-CL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90672"/>
            <a:ext cx="3003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252728" y="3383280"/>
            <a:ext cx="3003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clientes del mismo mercado: uso medio y recomendación.</a:t>
            </a:r>
            <a:endParaRPr lang="es-CL" sz="1300" dirty="0"/>
          </a:p>
        </p:txBody>
      </p:sp>
      <p:sp>
        <p:nvSpPr>
          <p:cNvPr id="13" name="Shape 11"/>
          <p:cNvSpPr/>
          <p:nvPr/>
        </p:nvSpPr>
        <p:spPr>
          <a:xfrm>
            <a:off x="4960620" y="2633472"/>
            <a:ext cx="3406140" cy="1554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05756" y="257860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05756" y="25786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66176" y="257860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21624" y="25786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05756" y="42428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05756" y="4087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6176" y="42428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21624" y="4087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61788" y="2779776"/>
            <a:ext cx="3003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PRODUCTO</a:t>
            </a:r>
            <a:endParaRPr lang="es-CL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161788" y="3090672"/>
            <a:ext cx="3003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AQUÍ ENTRA LUMINE</a:t>
            </a:r>
            <a:endParaRPr lang="es-CL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161788" y="3383280"/>
            <a:ext cx="3003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Hibridación aditiva certificada, sin oferta en Chile.</a:t>
            </a:r>
            <a:endParaRPr lang="es-CL" sz="1300" dirty="0"/>
          </a:p>
        </p:txBody>
      </p:sp>
      <p:sp>
        <p:nvSpPr>
          <p:cNvPr id="25" name="Shape 23"/>
          <p:cNvSpPr/>
          <p:nvPr/>
        </p:nvSpPr>
        <p:spPr>
          <a:xfrm>
            <a:off x="1051560" y="4645152"/>
            <a:ext cx="3406140" cy="15544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252728" y="4791456"/>
            <a:ext cx="3003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MERCADO</a:t>
            </a:r>
            <a:endParaRPr lang="es-CL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52728" y="5102352"/>
            <a:ext cx="3003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252728" y="5394960"/>
            <a:ext cx="3003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regiones, a través de la red certificada.</a:t>
            </a:r>
            <a:endParaRPr lang="es-CL" sz="1300" dirty="0"/>
          </a:p>
        </p:txBody>
      </p:sp>
      <p:sp>
        <p:nvSpPr>
          <p:cNvPr id="29" name="Shape 27"/>
          <p:cNvSpPr/>
          <p:nvPr/>
        </p:nvSpPr>
        <p:spPr>
          <a:xfrm>
            <a:off x="4960620" y="4645152"/>
            <a:ext cx="3406140" cy="1554480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161788" y="4791456"/>
            <a:ext cx="3003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b="1" spc="100" kern="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DIVERSIFICACIÓN</a:t>
            </a:r>
            <a:endParaRPr lang="es-CL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161788" y="5102352"/>
            <a:ext cx="30038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RELACIONADA · DESDE EL AÑO 2</a:t>
            </a:r>
            <a:endParaRPr lang="es-CL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161788" y="5394960"/>
            <a:ext cx="30038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Patrones de calibración, kits y certificación para otros talleres.</a:t>
            </a:r>
            <a:endParaRPr lang="es-CL" sz="1300" dirty="0"/>
          </a:p>
        </p:txBody>
      </p:sp>
      <p:sp>
        <p:nvSpPr>
          <p:cNvPr id="33" name="Shape 31"/>
          <p:cNvSpPr/>
          <p:nvPr/>
        </p:nvSpPr>
        <p:spPr>
          <a:xfrm>
            <a:off x="4914900" y="3410712"/>
            <a:ext cx="-411480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463040" y="4233672"/>
            <a:ext cx="0" cy="36576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1554480" y="43068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950" dirty="0"/>
          </a:p>
        </p:txBody>
      </p:sp>
      <p:sp>
        <p:nvSpPr>
          <p:cNvPr id="36" name="Shape 34"/>
          <p:cNvSpPr/>
          <p:nvPr/>
        </p:nvSpPr>
        <p:spPr>
          <a:xfrm>
            <a:off x="7955280" y="4233672"/>
            <a:ext cx="0" cy="36576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7040880" y="43068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950" dirty="0"/>
          </a:p>
        </p:txBody>
      </p:sp>
      <p:sp>
        <p:nvSpPr>
          <p:cNvPr id="38" name="Shape 36"/>
          <p:cNvSpPr/>
          <p:nvPr/>
        </p:nvSpPr>
        <p:spPr>
          <a:xfrm>
            <a:off x="8778240" y="2633472"/>
            <a:ext cx="2864815" cy="35661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3376" y="257860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723376" y="25786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542471" y="257860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697919" y="257860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723376" y="62544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23376" y="60990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1542471" y="62544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697919" y="60990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979408" y="2798064"/>
            <a:ext cx="24624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NUESTRA VENTAJA COMPETITIVA</a:t>
            </a:r>
            <a:endParaRPr lang="es-CL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8979408" y="3072384"/>
            <a:ext cx="24624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biblioteca de calibraciones por modelo.</a:t>
            </a:r>
            <a:endParaRPr lang="es-CL" sz="1700" dirty="0"/>
          </a:p>
        </p:txBody>
      </p:sp>
      <p:sp>
        <p:nvSpPr>
          <p:cNvPr id="49" name="Text 47"/>
          <p:cNvSpPr txBox="1"/>
          <p:nvPr/>
        </p:nvSpPr>
        <p:spPr>
          <a:xfrm>
            <a:off x="8979408" y="3913632"/>
            <a:ext cx="24624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Sostenible: crece con cada instalación y es lo más difícil de copiar.</a:t>
            </a:r>
            <a:endParaRPr lang="es-CL" sz="1300" dirty="0"/>
          </a:p>
        </p:txBody>
      </p:sp>
      <p:sp>
        <p:nvSpPr>
          <p:cNvPr id="50" name="Shape 48"/>
          <p:cNvSpPr/>
          <p:nvPr/>
        </p:nvSpPr>
        <p:spPr>
          <a:xfrm>
            <a:off x="8979408" y="4809744"/>
            <a:ext cx="2462479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79408" y="4901184"/>
            <a:ext cx="24624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DESDE EL AÑO 2</a:t>
            </a:r>
            <a:endParaRPr lang="es-CL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8979408" y="5157216"/>
            <a:ext cx="24624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 exclusividad se agota: se vende mientras vale, y la red devuelve sus datos.</a:t>
            </a:r>
            <a:endParaRPr lang="es-C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POSICIONAMIENTO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ESPACIO VACÍO: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ahorrar sin cambiar de auto.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2971800" y="2359152"/>
            <a:ext cx="8671255" cy="1234440"/>
          </a:xfrm>
          <a:prstGeom prst="rect">
            <a:avLst/>
          </a:prstGeom>
          <a:solidFill>
            <a:srgbClr val="0B1A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59152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1300" dirty="0"/>
          </a:p>
          <a:p>
            <a:pPr algn="r"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límite de antigüedad</a:t>
            </a:r>
            <a:endParaRPr lang="es-CL" sz="1300" dirty="0"/>
          </a:p>
        </p:txBody>
      </p:sp>
      <p:sp>
        <p:nvSpPr>
          <p:cNvPr id="7" name="Shape 5"/>
          <p:cNvSpPr/>
          <p:nvPr/>
        </p:nvSpPr>
        <p:spPr>
          <a:xfrm>
            <a:off x="2971800" y="3685032"/>
            <a:ext cx="8671255" cy="914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68503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1300" dirty="0"/>
          </a:p>
          <a:p>
            <a:pPr algn="r"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límite de antigüedad</a:t>
            </a:r>
            <a:endParaRPr lang="es-CL" sz="1300" dirty="0"/>
          </a:p>
        </p:txBody>
      </p:sp>
      <p:sp>
        <p:nvSpPr>
          <p:cNvPr id="9" name="Shape 7"/>
          <p:cNvSpPr/>
          <p:nvPr/>
        </p:nvSpPr>
        <p:spPr>
          <a:xfrm>
            <a:off x="2971800" y="4690872"/>
            <a:ext cx="8671255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690872"/>
            <a:ext cx="2240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reemplazar</a:t>
            </a:r>
            <a:endParaRPr lang="es-CL" sz="1300" dirty="0"/>
          </a:p>
          <a:p>
            <a:pPr algn="r"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 auto</a:t>
            </a:r>
            <a:endParaRPr lang="es-CL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0848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9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QUÉ EXIGE AL CONDUCTOR</a:t>
            </a:r>
            <a:endParaRPr lang="es-CL" sz="950" dirty="0"/>
          </a:p>
        </p:txBody>
      </p:sp>
      <p:sp>
        <p:nvSpPr>
          <p:cNvPr id="12" name="Shape 10"/>
          <p:cNvSpPr/>
          <p:nvPr/>
        </p:nvSpPr>
        <p:spPr>
          <a:xfrm>
            <a:off x="7436815" y="2057400"/>
            <a:ext cx="4206240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7509967" y="2057400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LUMINE: PRECIO DE REFERENCIA · AHORRO SIMULADO</a:t>
            </a:r>
            <a:endParaRPr lang="es-CL" sz="900" dirty="0"/>
          </a:p>
        </p:txBody>
      </p:sp>
      <p:sp>
        <p:nvSpPr>
          <p:cNvPr id="14" name="Shape 12"/>
          <p:cNvSpPr/>
          <p:nvPr/>
        </p:nvSpPr>
        <p:spPr>
          <a:xfrm>
            <a:off x="2971800" y="5925312"/>
            <a:ext cx="867125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55848" y="5925312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98648" y="5989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</a:t>
            </a:r>
            <a:endParaRPr lang="es-CL" sz="900" dirty="0"/>
          </a:p>
        </p:txBody>
      </p:sp>
      <p:sp>
        <p:nvSpPr>
          <p:cNvPr id="17" name="Shape 15"/>
          <p:cNvSpPr/>
          <p:nvPr/>
        </p:nvSpPr>
        <p:spPr>
          <a:xfrm>
            <a:off x="5222886" y="5925312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65686" y="5989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 M</a:t>
            </a:r>
            <a:endParaRPr lang="es-CL" sz="900" dirty="0"/>
          </a:p>
        </p:txBody>
      </p:sp>
      <p:sp>
        <p:nvSpPr>
          <p:cNvPr id="19" name="Shape 17"/>
          <p:cNvSpPr/>
          <p:nvPr/>
        </p:nvSpPr>
        <p:spPr>
          <a:xfrm>
            <a:off x="6559571" y="5925312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02371" y="5989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 M</a:t>
            </a:r>
            <a:endParaRPr lang="es-CL" sz="900" dirty="0"/>
          </a:p>
        </p:txBody>
      </p:sp>
      <p:sp>
        <p:nvSpPr>
          <p:cNvPr id="21" name="Shape 19"/>
          <p:cNvSpPr/>
          <p:nvPr/>
        </p:nvSpPr>
        <p:spPr>
          <a:xfrm>
            <a:off x="8326573" y="5925312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9373" y="5989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 M</a:t>
            </a:r>
            <a:endParaRPr lang="es-CL" sz="900" dirty="0"/>
          </a:p>
        </p:txBody>
      </p:sp>
      <p:sp>
        <p:nvSpPr>
          <p:cNvPr id="23" name="Shape 21"/>
          <p:cNvSpPr/>
          <p:nvPr/>
        </p:nvSpPr>
        <p:spPr>
          <a:xfrm>
            <a:off x="9663259" y="5925312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06059" y="5989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 M</a:t>
            </a:r>
            <a:endParaRPr lang="es-CL" sz="900" dirty="0"/>
          </a:p>
        </p:txBody>
      </p:sp>
      <p:sp>
        <p:nvSpPr>
          <p:cNvPr id="25" name="Shape 23"/>
          <p:cNvSpPr/>
          <p:nvPr/>
        </p:nvSpPr>
        <p:spPr>
          <a:xfrm>
            <a:off x="10999944" y="5925312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2744" y="59893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M</a:t>
            </a:r>
            <a:endParaRPr lang="es-CL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6172200"/>
            <a:ext cx="867125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INICIAL · MILLONES DE PESOS · ESCALA LOGARÍTMICA</a:t>
            </a:r>
            <a:endParaRPr lang="es-CL" sz="900" dirty="0"/>
          </a:p>
        </p:txBody>
      </p:sp>
      <p:sp>
        <p:nvSpPr>
          <p:cNvPr id="28" name="Shape 26"/>
          <p:cNvSpPr/>
          <p:nvPr/>
        </p:nvSpPr>
        <p:spPr>
          <a:xfrm>
            <a:off x="4301027" y="2468880"/>
            <a:ext cx="4728735" cy="1014984"/>
          </a:xfrm>
          <a:prstGeom prst="rect">
            <a:avLst/>
          </a:prstGeom>
          <a:solidFill>
            <a:srgbClr val="0B1A22">
              <a:alpha val="0"/>
            </a:srgbClr>
          </a:solidFill>
          <a:ln w="9525">
            <a:solidFill>
              <a:schemeClr val="accent1"/>
            </a:solidFill>
            <a:prstDash val="sysDot"/>
          </a:ln>
        </p:spPr>
      </p:sp>
      <p:sp>
        <p:nvSpPr>
          <p:cNvPr id="29" name="Text 27"/>
          <p:cNvSpPr txBox="1"/>
          <p:nvPr/>
        </p:nvSpPr>
        <p:spPr>
          <a:xfrm>
            <a:off x="4438187" y="3118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Espacio hoy sin oferta</a:t>
            </a:r>
            <a:endParaRPr lang="es-CL" sz="1300" dirty="0"/>
          </a:p>
        </p:txBody>
      </p:sp>
      <p:sp>
        <p:nvSpPr>
          <p:cNvPr id="30" name="Shape 28"/>
          <p:cNvSpPr/>
          <p:nvPr/>
        </p:nvSpPr>
        <p:spPr>
          <a:xfrm>
            <a:off x="3282696" y="2651760"/>
            <a:ext cx="146304" cy="14630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807208" y="286207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hacer nada</a:t>
            </a:r>
            <a:endParaRPr lang="es-CL" sz="1150" dirty="0"/>
          </a:p>
          <a:p>
            <a:pPr algn="ctr"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ahorro</a:t>
            </a:r>
            <a:endParaRPr lang="es-CL" sz="1150" dirty="0"/>
          </a:p>
        </p:txBody>
      </p:sp>
      <p:sp>
        <p:nvSpPr>
          <p:cNvPr id="32" name="Shape 30"/>
          <p:cNvSpPr/>
          <p:nvPr/>
        </p:nvSpPr>
        <p:spPr>
          <a:xfrm>
            <a:off x="8031232" y="2715768"/>
            <a:ext cx="291481" cy="7315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Shape 31"/>
          <p:cNvSpPr/>
          <p:nvPr/>
        </p:nvSpPr>
        <p:spPr>
          <a:xfrm>
            <a:off x="7948936" y="2670048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Shape 32"/>
          <p:cNvSpPr/>
          <p:nvPr/>
        </p:nvSpPr>
        <p:spPr>
          <a:xfrm>
            <a:off x="8240416" y="2670048"/>
            <a:ext cx="164592" cy="16459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391152" y="288036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 · PLUS</a:t>
            </a:r>
            <a:endParaRPr lang="es-CL" sz="950" dirty="0"/>
          </a:p>
        </p:txBody>
      </p:sp>
      <p:sp>
        <p:nvSpPr>
          <p:cNvPr id="36" name="Shape 34"/>
          <p:cNvSpPr/>
          <p:nvPr/>
        </p:nvSpPr>
        <p:spPr>
          <a:xfrm>
            <a:off x="9280560" y="2523744"/>
            <a:ext cx="2225335" cy="905256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25696" y="24688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25696" y="24688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405311" y="24688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560759" y="24688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225696" y="3483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225696" y="33284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405311" y="3483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560759" y="33284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72000" y="2596896"/>
            <a:ext cx="2042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 MOTORS</a:t>
            </a:r>
            <a:endParaRPr lang="es-CL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372000" y="2907792"/>
            <a:ext cx="2042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$4,3 M y $5,0 M</a:t>
            </a:r>
            <a:endParaRPr lang="es-CL" sz="1200" dirty="0"/>
          </a:p>
          <a:p>
            <a:pPr algn="ctr" indent="0" marL="0">
              <a:buNone/>
            </a:pPr>
            <a:r>
              <a:rPr lang="es-CL" altLang="en-US" sz="12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 y 20%</a:t>
            </a:r>
            <a:endParaRPr lang="es-CL" sz="1200" dirty="0"/>
          </a:p>
        </p:txBody>
      </p:sp>
      <p:sp>
        <p:nvSpPr>
          <p:cNvPr id="47" name="Shape 45"/>
          <p:cNvSpPr/>
          <p:nvPr/>
        </p:nvSpPr>
        <p:spPr>
          <a:xfrm>
            <a:off x="5019705" y="4325112"/>
            <a:ext cx="1336686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928265" y="379476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Conversión a gas  </a:t>
            </a:r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$0,9–1,8 M · hasta 35% · máx. 7 años</a:t>
            </a:r>
            <a:endParaRPr lang="es-CL" sz="1250" dirty="0"/>
          </a:p>
        </p:txBody>
      </p:sp>
      <p:sp>
        <p:nvSpPr>
          <p:cNvPr id="49" name="Shape 47"/>
          <p:cNvSpPr/>
          <p:nvPr/>
        </p:nvSpPr>
        <p:spPr>
          <a:xfrm>
            <a:off x="9564343" y="4919472"/>
            <a:ext cx="604867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0" name="Shape 48"/>
          <p:cNvSpPr/>
          <p:nvPr/>
        </p:nvSpPr>
        <p:spPr>
          <a:xfrm>
            <a:off x="9500335" y="4901184"/>
            <a:ext cx="128016" cy="12801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769583" y="4818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$9,5–13 M</a:t>
            </a:r>
            <a:endParaRPr lang="es-CL" sz="1250" dirty="0"/>
          </a:p>
        </p:txBody>
      </p:sp>
      <p:sp>
        <p:nvSpPr>
          <p:cNvPr id="52" name="Shape 50"/>
          <p:cNvSpPr/>
          <p:nvPr/>
        </p:nvSpPr>
        <p:spPr>
          <a:xfrm>
            <a:off x="10013245" y="5257800"/>
            <a:ext cx="614554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3" name="Shape 51"/>
          <p:cNvSpPr/>
          <p:nvPr/>
        </p:nvSpPr>
        <p:spPr>
          <a:xfrm>
            <a:off x="9949237" y="5239512"/>
            <a:ext cx="128016" cy="12801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18485" y="51572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nuevo  </a:t>
            </a:r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$12,0 M</a:t>
            </a:r>
            <a:endParaRPr lang="es-CL" sz="1250" dirty="0"/>
          </a:p>
        </p:txBody>
      </p:sp>
      <p:sp>
        <p:nvSpPr>
          <p:cNvPr id="55" name="Shape 53"/>
          <p:cNvSpPr/>
          <p:nvPr/>
        </p:nvSpPr>
        <p:spPr>
          <a:xfrm>
            <a:off x="10310744" y="5596128"/>
            <a:ext cx="1195151" cy="9144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6" name="Shape 54"/>
          <p:cNvSpPr/>
          <p:nvPr/>
        </p:nvSpPr>
        <p:spPr>
          <a:xfrm>
            <a:off x="10246736" y="5577840"/>
            <a:ext cx="128016" cy="128016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515984" y="54955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$14,0 M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MIX: PRODUCTO Y PRECIO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PLUS CUESTA 16% MÁS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ahorra 24% más.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elaboración propia (Informe Fase 3, Tablas N° 5 y 6; Anexos N° 2 y 9); Banco Central de Chile (2026), tasa de consumo.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788920" cy="3017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49631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</a:t>
            </a:r>
            <a:endParaRPr lang="es-CL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3400" dirty="0"/>
          </a:p>
        </p:txBody>
      </p:sp>
      <p:sp>
        <p:nvSpPr>
          <p:cNvPr id="8" name="Shape 6"/>
          <p:cNvSpPr/>
          <p:nvPr/>
        </p:nvSpPr>
        <p:spPr>
          <a:xfrm>
            <a:off x="749808" y="3282696"/>
            <a:ext cx="1920240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822960" y="3282696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850" dirty="0"/>
          </a:p>
        </p:txBody>
      </p:sp>
      <p:sp>
        <p:nvSpPr>
          <p:cNvPr id="10" name="Shape 8"/>
          <p:cNvSpPr/>
          <p:nvPr/>
        </p:nvSpPr>
        <p:spPr>
          <a:xfrm>
            <a:off x="749808" y="3630168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657600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PROMESA · SIMULADA</a:t>
            </a:r>
            <a:endParaRPr lang="es-CL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3822192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 menos bencina</a:t>
            </a:r>
            <a:endParaRPr lang="es-CL" sz="1300" dirty="0"/>
          </a:p>
        </p:txBody>
      </p:sp>
      <p:sp>
        <p:nvSpPr>
          <p:cNvPr id="13" name="Shape 11"/>
          <p:cNvSpPr/>
          <p:nvPr/>
        </p:nvSpPr>
        <p:spPr>
          <a:xfrm>
            <a:off x="749808" y="405079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078224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MOTORES EN RUEDA</a:t>
            </a:r>
            <a:endParaRPr lang="es-CL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42816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 × 4.000 W</a:t>
            </a:r>
            <a:endParaRPr lang="es-CL" sz="1300" dirty="0"/>
          </a:p>
        </p:txBody>
      </p:sp>
      <p:sp>
        <p:nvSpPr>
          <p:cNvPr id="16" name="Shape 14"/>
          <p:cNvSpPr/>
          <p:nvPr/>
        </p:nvSpPr>
        <p:spPr>
          <a:xfrm>
            <a:off x="749808" y="4471416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4498848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AHORRO DEL COLECTIVO</a:t>
            </a:r>
            <a:endParaRPr lang="es-CL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" y="4663440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$117.069 al mes</a:t>
            </a:r>
            <a:endParaRPr lang="es-CL" sz="1300" dirty="0"/>
          </a:p>
        </p:txBody>
      </p:sp>
      <p:sp>
        <p:nvSpPr>
          <p:cNvPr id="19" name="Shape 17"/>
          <p:cNvSpPr/>
          <p:nvPr/>
        </p:nvSpPr>
        <p:spPr>
          <a:xfrm>
            <a:off x="749808" y="4892040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919472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POR KIT</a:t>
            </a:r>
            <a:endParaRPr lang="es-CL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5084064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$454.226</a:t>
            </a:r>
            <a:endParaRPr lang="es-CL" sz="1300" dirty="0"/>
          </a:p>
        </p:txBody>
      </p:sp>
      <p:sp>
        <p:nvSpPr>
          <p:cNvPr id="22" name="Shape 20"/>
          <p:cNvSpPr/>
          <p:nvPr/>
        </p:nvSpPr>
        <p:spPr>
          <a:xfrm>
            <a:off x="3566160" y="2331720"/>
            <a:ext cx="2788920" cy="30175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1129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1129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449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9944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11296" y="54041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11296" y="52486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54496" y="540410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9944" y="52486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67328" y="249631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PLUS</a:t>
            </a:r>
            <a:endParaRPr lang="es-CL" sz="950" dirty="0"/>
          </a:p>
        </p:txBody>
      </p:sp>
      <p:sp>
        <p:nvSpPr>
          <p:cNvPr id="32" name="Shape 30"/>
          <p:cNvSpPr/>
          <p:nvPr/>
        </p:nvSpPr>
        <p:spPr>
          <a:xfrm>
            <a:off x="4937760" y="2478024"/>
            <a:ext cx="12344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5010912" y="2478024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90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RECOMENDADA</a:t>
            </a:r>
            <a:endParaRPr lang="es-CL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3749040" y="2743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3400" dirty="0"/>
          </a:p>
        </p:txBody>
      </p:sp>
      <p:sp>
        <p:nvSpPr>
          <p:cNvPr id="35" name="Shape 33"/>
          <p:cNvSpPr/>
          <p:nvPr/>
        </p:nvSpPr>
        <p:spPr>
          <a:xfrm>
            <a:off x="3767328" y="3282696"/>
            <a:ext cx="1920240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3840480" y="3282696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850" dirty="0"/>
          </a:p>
        </p:txBody>
      </p:sp>
      <p:sp>
        <p:nvSpPr>
          <p:cNvPr id="37" name="Shape 35"/>
          <p:cNvSpPr/>
          <p:nvPr/>
        </p:nvSpPr>
        <p:spPr>
          <a:xfrm>
            <a:off x="3767328" y="3630168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67328" y="3657600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PROMESA · SIMULADA</a:t>
            </a:r>
            <a:endParaRPr lang="es-CL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767328" y="3822192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</a:t>
            </a:r>
            <a:endParaRPr lang="es-CL" sz="1300" dirty="0"/>
          </a:p>
        </p:txBody>
      </p:sp>
      <p:sp>
        <p:nvSpPr>
          <p:cNvPr id="40" name="Shape 38"/>
          <p:cNvSpPr/>
          <p:nvPr/>
        </p:nvSpPr>
        <p:spPr>
          <a:xfrm>
            <a:off x="3767328" y="4050792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767328" y="4078224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MOTORES EN RUEDA</a:t>
            </a:r>
            <a:endParaRPr lang="es-CL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3767328" y="4242816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 × 6.000 W</a:t>
            </a:r>
            <a:endParaRPr lang="es-CL" sz="1300" dirty="0"/>
          </a:p>
        </p:txBody>
      </p:sp>
      <p:sp>
        <p:nvSpPr>
          <p:cNvPr id="43" name="Shape 41"/>
          <p:cNvSpPr/>
          <p:nvPr/>
        </p:nvSpPr>
        <p:spPr>
          <a:xfrm>
            <a:off x="3767328" y="4471416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767328" y="4498848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AHORRO DEL COLECTIVO</a:t>
            </a:r>
            <a:endParaRPr lang="es-CL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3767328" y="4663440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$145.327 al mes</a:t>
            </a:r>
            <a:endParaRPr lang="es-CL" sz="1300" dirty="0"/>
          </a:p>
        </p:txBody>
      </p:sp>
      <p:sp>
        <p:nvSpPr>
          <p:cNvPr id="46" name="Shape 44"/>
          <p:cNvSpPr/>
          <p:nvPr/>
        </p:nvSpPr>
        <p:spPr>
          <a:xfrm>
            <a:off x="3767328" y="4892040"/>
            <a:ext cx="2386584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767328" y="4919472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POR KIT</a:t>
            </a:r>
            <a:endParaRPr lang="es-CL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3767328" y="5084064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$683.376</a:t>
            </a:r>
            <a:endParaRPr lang="es-CL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6812280" y="2331720"/>
            <a:ext cx="48307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PARA RECUPERAR LA INVERSIÓN</a:t>
            </a:r>
            <a:endParaRPr lang="es-CL" sz="950" dirty="0"/>
          </a:p>
        </p:txBody>
      </p:sp>
      <p:graphicFrame>
        <p:nvGraphicFramePr>
          <p:cNvPr id="50" name="Meses para recuperar la inversión por versión" descr=""/>
          <p:cNvGraphicFramePr/>
          <p:nvPr/>
        </p:nvGraphicFramePr>
        <p:xfrm>
          <a:off x="6720840" y="2606040"/>
          <a:ext cx="492221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1" name="Shape 48"/>
          <p:cNvSpPr/>
          <p:nvPr/>
        </p:nvSpPr>
        <p:spPr>
          <a:xfrm>
            <a:off x="548640" y="5486400"/>
            <a:ext cx="35152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48640" y="563270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04088" y="5559552"/>
            <a:ext cx="33323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GARANTÍA</a:t>
            </a:r>
            <a:endParaRPr lang="es-CL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548640" y="5806440"/>
            <a:ext cx="351525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Kit: 3 años o 200.000 km. Batería: 5 años o 300.000 km.</a:t>
            </a:r>
            <a:endParaRPr lang="es-CL" sz="1200" dirty="0"/>
          </a:p>
        </p:txBody>
      </p:sp>
      <p:sp>
        <p:nvSpPr>
          <p:cNvPr id="55" name="Shape 52"/>
          <p:cNvSpPr/>
          <p:nvPr/>
        </p:nvSpPr>
        <p:spPr>
          <a:xfrm>
            <a:off x="4338218" y="5486400"/>
            <a:ext cx="35152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338218" y="563270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493666" y="5559552"/>
            <a:ext cx="33323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FINANCIAMIENTO</a:t>
            </a:r>
            <a:endParaRPr lang="es-CL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4338218" y="5806440"/>
            <a:ext cx="351525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Cuota de Plus a 48 meses: $159.967 (25,6% anual).</a:t>
            </a:r>
            <a:endParaRPr lang="es-CL" sz="1200" dirty="0"/>
          </a:p>
        </p:txBody>
      </p:sp>
      <p:sp>
        <p:nvSpPr>
          <p:cNvPr id="59" name="Shape 56"/>
          <p:cNvSpPr/>
          <p:nvPr/>
        </p:nvSpPr>
        <p:spPr>
          <a:xfrm>
            <a:off x="8127797" y="5486400"/>
            <a:ext cx="351525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127797" y="5632704"/>
            <a:ext cx="68580" cy="685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283245" y="5559552"/>
            <a:ext cx="33323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VALIDAR</a:t>
            </a:r>
            <a:endParaRPr lang="es-CL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8127797" y="5806440"/>
            <a:ext cx="351525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encuesta ajusta los precios (Van Westendorp).</a:t>
            </a:r>
            <a:endParaRPr lang="es-C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DEMANDA Y PRONÓSTICO DE VENTAS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MÁS DEMANDA QUE CAPACIDAD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el año 1.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TAMAÑO DEL MERCADO · VEHÍCULOS</a:t>
            </a:r>
            <a:endParaRPr lang="es-CL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2642616"/>
            <a:ext cx="3474720" cy="731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7157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 · TOTAL · CHILE</a:t>
            </a:r>
            <a:endParaRPr lang="es-CL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91693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3465576"/>
            <a:ext cx="2779776" cy="731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5387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 · DISPONIBLE · RM</a:t>
            </a:r>
            <a:endParaRPr lang="es-CL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39896"/>
            <a:ext cx="2505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2600" dirty="0"/>
          </a:p>
        </p:txBody>
      </p:sp>
      <p:sp>
        <p:nvSpPr>
          <p:cNvPr id="12" name="Shape 10"/>
          <p:cNvSpPr/>
          <p:nvPr/>
        </p:nvSpPr>
        <p:spPr>
          <a:xfrm>
            <a:off x="548640" y="4288536"/>
            <a:ext cx="2154326" cy="7315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361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RM</a:t>
            </a:r>
            <a:endParaRPr lang="es-CL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562856"/>
            <a:ext cx="188000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48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Aplicaciones: 126.960 (estimación propia).</a:t>
            </a:r>
            <a:endParaRPr lang="es-CL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513832"/>
            <a:ext cx="34747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60527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11,1% al año 5 </a:t>
            </a:r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el modelo de Bass: bajo el 16% de primeros adoptantes.</a:t>
            </a:r>
            <a:endParaRPr lang="es-CL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2331720"/>
            <a:ext cx="7208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VEHÍCULOS POR AÑO</a:t>
            </a:r>
            <a:endParaRPr lang="es-CL" sz="950" dirty="0"/>
          </a:p>
        </p:txBody>
      </p:sp>
      <p:sp>
        <p:nvSpPr>
          <p:cNvPr id="19" name="Shape 17"/>
          <p:cNvSpPr/>
          <p:nvPr/>
        </p:nvSpPr>
        <p:spPr>
          <a:xfrm>
            <a:off x="9082735" y="2304288"/>
            <a:ext cx="25603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9155887" y="230428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ESCENARIO BASE</a:t>
            </a:r>
            <a:endParaRPr lang="es-CL" sz="9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343400" y="2606040"/>
          <a:ext cx="7299655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434840" y="5943600"/>
            <a:ext cx="7208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Pronóstico = el menor entre demanda y capacidad. </a:t>
            </a:r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resto lo atiende la red.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PRESUPUESTO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$80,9 MILLONES EL PRIMER AÑO: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6,8% de los ingresos.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11). Montos netos de IVA.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7040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PARTIDA · MILLONES DE PESOS NETOS</a:t>
            </a:r>
            <a:endParaRPr lang="es-CL" sz="950" dirty="0"/>
          </a:p>
        </p:txBody>
      </p:sp>
      <p:sp>
        <p:nvSpPr>
          <p:cNvPr id="6" name="Shape 4"/>
          <p:cNvSpPr/>
          <p:nvPr/>
        </p:nvSpPr>
        <p:spPr>
          <a:xfrm>
            <a:off x="4937760" y="2304288"/>
            <a:ext cx="26517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5010912" y="2304288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90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PAUTA: DECISIÓN DE INVERSIÓN</a:t>
            </a:r>
            <a:endParaRPr lang="es-CL" sz="900" dirty="0"/>
          </a:p>
        </p:txBody>
      </p:sp>
      <p:graphicFrame>
        <p:nvGraphicFramePr>
          <p:cNvPr id="8" name="Presupuesto de marketing por partida" descr=""/>
          <p:cNvGraphicFramePr/>
          <p:nvPr/>
        </p:nvGraphicFramePr>
        <p:xfrm>
          <a:off x="457200" y="2606040"/>
          <a:ext cx="7132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01000" y="2331720"/>
            <a:ext cx="3642055" cy="3886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94613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4613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46136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6136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0" y="24963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· MILLONES</a:t>
            </a:r>
            <a:endParaRPr lang="es-CL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10225735" y="24963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9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% INGRESOS</a:t>
            </a:r>
            <a:endParaRPr lang="es-CL" sz="950" dirty="0"/>
          </a:p>
        </p:txBody>
      </p:sp>
      <p:sp>
        <p:nvSpPr>
          <p:cNvPr id="20" name="Shape 17"/>
          <p:cNvSpPr/>
          <p:nvPr/>
        </p:nvSpPr>
        <p:spPr>
          <a:xfrm>
            <a:off x="8229600" y="2788920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0" y="2788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1</a:t>
            </a:r>
            <a:endParaRPr lang="es-CL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098280" y="2788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1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80,9</a:t>
            </a:r>
            <a:endParaRPr lang="es-CL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10454335" y="27889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1700" dirty="0"/>
          </a:p>
        </p:txBody>
      </p:sp>
      <p:sp>
        <p:nvSpPr>
          <p:cNvPr id="24" name="Shape 21"/>
          <p:cNvSpPr/>
          <p:nvPr/>
        </p:nvSpPr>
        <p:spPr>
          <a:xfrm>
            <a:off x="8229600" y="3246120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2</a:t>
            </a:r>
            <a:endParaRPr lang="es-CL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9098280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80,0</a:t>
            </a:r>
            <a:endParaRPr lang="es-CL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10454335" y="32461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1700" dirty="0"/>
          </a:p>
        </p:txBody>
      </p:sp>
      <p:sp>
        <p:nvSpPr>
          <p:cNvPr id="28" name="Shape 25"/>
          <p:cNvSpPr/>
          <p:nvPr/>
        </p:nvSpPr>
        <p:spPr>
          <a:xfrm>
            <a:off x="8229600" y="3703320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703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3</a:t>
            </a:r>
            <a:endParaRPr lang="es-CL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9098280" y="3703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116,3</a:t>
            </a:r>
            <a:endParaRPr lang="es-CL" sz="2100" dirty="0"/>
          </a:p>
        </p:txBody>
      </p:sp>
      <p:sp>
        <p:nvSpPr>
          <p:cNvPr id="31" name="Text 28"/>
          <p:cNvSpPr txBox="1"/>
          <p:nvPr/>
        </p:nvSpPr>
        <p:spPr>
          <a:xfrm>
            <a:off x="10454335" y="37033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accent5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—</a:t>
            </a:r>
            <a:endParaRPr lang="es-CL" sz="1700" dirty="0"/>
          </a:p>
        </p:txBody>
      </p:sp>
      <p:sp>
        <p:nvSpPr>
          <p:cNvPr id="32" name="Shape 29"/>
          <p:cNvSpPr/>
          <p:nvPr/>
        </p:nvSpPr>
        <p:spPr>
          <a:xfrm>
            <a:off x="8229600" y="4160520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29600" y="41605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4</a:t>
            </a:r>
            <a:endParaRPr lang="es-CL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98280" y="4160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134,3</a:t>
            </a:r>
            <a:endParaRPr lang="es-CL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10454335" y="41605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accent5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—</a:t>
            </a:r>
            <a:endParaRPr lang="es-CL" sz="1700" dirty="0"/>
          </a:p>
        </p:txBody>
      </p:sp>
      <p:sp>
        <p:nvSpPr>
          <p:cNvPr id="36" name="Shape 33"/>
          <p:cNvSpPr/>
          <p:nvPr/>
        </p:nvSpPr>
        <p:spPr>
          <a:xfrm>
            <a:off x="8229600" y="4617720"/>
            <a:ext cx="318485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0" y="46177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5</a:t>
            </a:r>
            <a:endParaRPr lang="es-CL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098280" y="4617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1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163,7</a:t>
            </a:r>
            <a:endParaRPr lang="es-CL" sz="2100" dirty="0"/>
          </a:p>
        </p:txBody>
      </p:sp>
      <p:sp>
        <p:nvSpPr>
          <p:cNvPr id="39" name="Text 36"/>
          <p:cNvSpPr txBox="1"/>
          <p:nvPr/>
        </p:nvSpPr>
        <p:spPr>
          <a:xfrm>
            <a:off x="10454335" y="4617720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1700" dirty="0"/>
          </a:p>
        </p:txBody>
      </p:sp>
      <p:sp>
        <p:nvSpPr>
          <p:cNvPr id="40" name="Shape 37"/>
          <p:cNvSpPr/>
          <p:nvPr/>
        </p:nvSpPr>
        <p:spPr>
          <a:xfrm>
            <a:off x="8229600" y="5074920"/>
            <a:ext cx="318485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0" y="50749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Cinco años</a:t>
            </a:r>
            <a:endParaRPr lang="es-CL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9098280" y="5074920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3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575,2</a:t>
            </a:r>
            <a:endParaRPr lang="es-CL" sz="2300" dirty="0"/>
          </a:p>
        </p:txBody>
      </p:sp>
      <p:sp>
        <p:nvSpPr>
          <p:cNvPr id="43" name="Text 40"/>
          <p:cNvSpPr txBox="1"/>
          <p:nvPr/>
        </p:nvSpPr>
        <p:spPr>
          <a:xfrm>
            <a:off x="8229600" y="5623560"/>
            <a:ext cx="3184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objetivo y tarea, no por porcentaje de ventas.</a:t>
            </a:r>
            <a:endParaRPr lang="es-C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ESTRUCTURA Y DOTACIÓN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CRECE EL NÚMERO DE PERSONAS,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la estructura.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7086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ORGANIGRAMA · AL ABRIR → AÑO 5</a:t>
            </a:r>
            <a:endParaRPr lang="es-CL" sz="950" dirty="0"/>
          </a:p>
        </p:txBody>
      </p:sp>
      <p:sp>
        <p:nvSpPr>
          <p:cNvPr id="6" name="Shape 4"/>
          <p:cNvSpPr/>
          <p:nvPr/>
        </p:nvSpPr>
        <p:spPr>
          <a:xfrm>
            <a:off x="2766060" y="2660904"/>
            <a:ext cx="2651760" cy="5669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11196" y="26060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11196" y="260604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17236" y="26060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72684" y="260604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11196" y="32826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11196" y="31272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7236" y="32826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2684" y="31272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66060" y="266090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 General</a:t>
            </a:r>
            <a:endParaRPr lang="es-CL" sz="1300" dirty="0"/>
          </a:p>
          <a:p>
            <a:pPr algn="ctr" indent="0" marL="0">
              <a:buNone/>
            </a:pPr>
            <a:r>
              <a:rPr lang="es-CL" altLang="en-US" sz="11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 · reporta a los accionistas</a:t>
            </a:r>
            <a:endParaRPr lang="es-CL" sz="1300" dirty="0"/>
          </a:p>
        </p:txBody>
      </p:sp>
      <p:sp>
        <p:nvSpPr>
          <p:cNvPr id="16" name="Shape 14"/>
          <p:cNvSpPr/>
          <p:nvPr/>
        </p:nvSpPr>
        <p:spPr>
          <a:xfrm>
            <a:off x="4091940" y="3227832"/>
            <a:ext cx="0" cy="18288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3409" y="3410712"/>
            <a:ext cx="5757062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13409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611880"/>
            <a:ext cx="1329538" cy="93268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666744"/>
            <a:ext cx="12380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197096"/>
            <a:ext cx="1238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 → 3</a:t>
            </a:r>
            <a:endParaRPr lang="es-CL" sz="1600" dirty="0"/>
          </a:p>
        </p:txBody>
      </p:sp>
      <p:sp>
        <p:nvSpPr>
          <p:cNvPr id="22" name="Shape 20"/>
          <p:cNvSpPr/>
          <p:nvPr/>
        </p:nvSpPr>
        <p:spPr>
          <a:xfrm>
            <a:off x="2652674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87906" y="3611880"/>
            <a:ext cx="1329538" cy="93268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33626" y="3666744"/>
            <a:ext cx="12380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033626" y="4197096"/>
            <a:ext cx="1238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 → 4</a:t>
            </a:r>
            <a:endParaRPr lang="es-CL" sz="1600" dirty="0"/>
          </a:p>
        </p:txBody>
      </p:sp>
      <p:sp>
        <p:nvSpPr>
          <p:cNvPr id="26" name="Shape 24"/>
          <p:cNvSpPr/>
          <p:nvPr/>
        </p:nvSpPr>
        <p:spPr>
          <a:xfrm>
            <a:off x="4091940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27171" y="3611880"/>
            <a:ext cx="1329538" cy="93268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72891" y="3666744"/>
            <a:ext cx="12380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3472891" y="4197096"/>
            <a:ext cx="1238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 → 4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531206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66437" y="3611880"/>
            <a:ext cx="1329538" cy="93268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4912157" y="3666744"/>
            <a:ext cx="12380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912157" y="4197096"/>
            <a:ext cx="1238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 → 2</a:t>
            </a:r>
            <a:endParaRPr lang="es-CL" sz="1600" dirty="0"/>
          </a:p>
        </p:txBody>
      </p:sp>
      <p:sp>
        <p:nvSpPr>
          <p:cNvPr id="34" name="Shape 32"/>
          <p:cNvSpPr/>
          <p:nvPr/>
        </p:nvSpPr>
        <p:spPr>
          <a:xfrm>
            <a:off x="6970471" y="3410712"/>
            <a:ext cx="0" cy="20116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5702" y="3611880"/>
            <a:ext cx="1329538" cy="93268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1422" y="3666744"/>
            <a:ext cx="123809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Admin. y Personas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351422" y="4197096"/>
            <a:ext cx="12380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1213409" y="4544568"/>
            <a:ext cx="0" cy="3108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855464"/>
            <a:ext cx="132953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901184"/>
            <a:ext cx="12380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instaladores</a:t>
            </a:r>
            <a:endParaRPr lang="es-CL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5367528"/>
            <a:ext cx="1238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 → 36</a:t>
            </a:r>
            <a:endParaRPr lang="es-CL" sz="1500" dirty="0"/>
          </a:p>
        </p:txBody>
      </p:sp>
      <p:sp>
        <p:nvSpPr>
          <p:cNvPr id="42" name="Shape 40"/>
          <p:cNvSpPr/>
          <p:nvPr/>
        </p:nvSpPr>
        <p:spPr>
          <a:xfrm>
            <a:off x="4091940" y="4544568"/>
            <a:ext cx="0" cy="3108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27171" y="4855464"/>
            <a:ext cx="132953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4" name="Text 42"/>
          <p:cNvSpPr txBox="1"/>
          <p:nvPr/>
        </p:nvSpPr>
        <p:spPr>
          <a:xfrm>
            <a:off x="3472891" y="4901184"/>
            <a:ext cx="12380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3472891" y="5367528"/>
            <a:ext cx="1238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 → 4</a:t>
            </a:r>
            <a:endParaRPr lang="es-CL" sz="1500" dirty="0"/>
          </a:p>
        </p:txBody>
      </p:sp>
      <p:sp>
        <p:nvSpPr>
          <p:cNvPr id="46" name="Shape 44"/>
          <p:cNvSpPr/>
          <p:nvPr/>
        </p:nvSpPr>
        <p:spPr>
          <a:xfrm>
            <a:off x="6970471" y="4544568"/>
            <a:ext cx="0" cy="3108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305702" y="4855464"/>
            <a:ext cx="1329538" cy="822960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48" name="Text 46"/>
          <p:cNvSpPr txBox="1"/>
          <p:nvPr/>
        </p:nvSpPr>
        <p:spPr>
          <a:xfrm>
            <a:off x="6351422" y="4901184"/>
            <a:ext cx="12380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51422" y="5367528"/>
            <a:ext cx="12380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5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 → 1</a:t>
            </a:r>
            <a:endParaRPr lang="es-CL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5824728"/>
            <a:ext cx="708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Punteado: ingresa después de abrir. Contabilidad, formación, legal y aduana son externos.</a:t>
            </a:r>
            <a:endParaRPr lang="es-CL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046720" y="2331720"/>
            <a:ext cx="35963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DOTACIÓN AL CIERRE · PERSONAS</a:t>
            </a:r>
            <a:endParaRPr lang="es-CL" sz="950" dirty="0"/>
          </a:p>
        </p:txBody>
      </p:sp>
      <p:graphicFrame>
        <p:nvGraphicFramePr>
          <p:cNvPr id="52" name="Dotación al cierre de cada año" descr=""/>
          <p:cNvGraphicFramePr/>
          <p:nvPr/>
        </p:nvGraphicFramePr>
        <p:xfrm>
          <a:off x="7955280" y="2606040"/>
          <a:ext cx="368777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3" name="Text 50"/>
          <p:cNvSpPr txBox="1"/>
          <p:nvPr/>
        </p:nvSpPr>
        <p:spPr>
          <a:xfrm>
            <a:off x="8046720" y="5879592"/>
            <a:ext cx="35963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Total: </a:t>
            </a:r>
            <a:pPr indent="0" marL="0">
              <a:buNone/>
            </a:pPr>
            <a:r>
              <a:rPr lang="es-CL" altLang="en-US" sz="13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5 · 13 · 21 · 33 · 40 · 56</a:t>
            </a:r>
            <a:endParaRPr lang="es-CL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POLÍTICA Y PRESUPUESTO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TÉCNICOS FORMADOS EN CASA,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costo a la mitad.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 · RENTA BRUTA Y BONO POR NIVEL</a:t>
            </a:r>
            <a:endParaRPr lang="es-CL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877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N1 a N4: niveles de habilitación, de aprendiz a formador.</a:t>
            </a:r>
            <a:endParaRPr lang="es-CL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913632"/>
            <a:ext cx="1357884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67512" y="405079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7512" y="405079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N1</a:t>
            </a:r>
            <a:endParaRPr lang="es-CL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4370832"/>
            <a:ext cx="1175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Acompaña</a:t>
            </a:r>
            <a:endParaRPr lang="es-CL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0060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$750.000</a:t>
            </a:r>
            <a:endParaRPr lang="es-CL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5184648"/>
            <a:ext cx="11750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6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SIN BONO</a:t>
            </a:r>
            <a:endParaRPr lang="es-CL" sz="850" dirty="0"/>
          </a:p>
        </p:txBody>
      </p:sp>
      <p:sp>
        <p:nvSpPr>
          <p:cNvPr id="13" name="Shape 11"/>
          <p:cNvSpPr/>
          <p:nvPr/>
        </p:nvSpPr>
        <p:spPr>
          <a:xfrm>
            <a:off x="2016252" y="3584448"/>
            <a:ext cx="1357884" cy="192938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35124" y="372160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135124" y="372160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135124" y="4041648"/>
            <a:ext cx="1175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 supervisado</a:t>
            </a:r>
            <a:endParaRPr lang="es-CL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107692" y="480060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$850.000</a:t>
            </a:r>
            <a:endParaRPr lang="es-CL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2135124" y="5184648"/>
            <a:ext cx="11750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6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BONO $200.000</a:t>
            </a:r>
            <a:endParaRPr lang="es-CL" sz="850" dirty="0"/>
          </a:p>
        </p:txBody>
      </p:sp>
      <p:sp>
        <p:nvSpPr>
          <p:cNvPr id="19" name="Shape 17"/>
          <p:cNvSpPr/>
          <p:nvPr/>
        </p:nvSpPr>
        <p:spPr>
          <a:xfrm>
            <a:off x="3483864" y="3255264"/>
            <a:ext cx="1357884" cy="22585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02736" y="339242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02736" y="339242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02736" y="3712464"/>
            <a:ext cx="1175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Trabaja solo</a:t>
            </a:r>
            <a:endParaRPr lang="es-CL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575304" y="480060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$1.000.000</a:t>
            </a:r>
            <a:endParaRPr lang="es-CL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602736" y="5184648"/>
            <a:ext cx="11750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6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BONO $300.000</a:t>
            </a:r>
            <a:endParaRPr lang="es-CL" sz="850" dirty="0"/>
          </a:p>
        </p:txBody>
      </p:sp>
      <p:sp>
        <p:nvSpPr>
          <p:cNvPr id="25" name="Shape 23"/>
          <p:cNvSpPr/>
          <p:nvPr/>
        </p:nvSpPr>
        <p:spPr>
          <a:xfrm>
            <a:off x="4951476" y="2926080"/>
            <a:ext cx="1357884" cy="258775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6612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96612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08776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64224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6612" y="55686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6612" y="54132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08776" y="556869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224" y="541324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0348" y="306324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70348" y="306324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70348" y="3383280"/>
            <a:ext cx="11750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 y valida</a:t>
            </a:r>
            <a:endParaRPr lang="es-CL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042916" y="480060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$1.150.000</a:t>
            </a:r>
            <a:endParaRPr lang="es-CL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5070348" y="5184648"/>
            <a:ext cx="11750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6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 BONO $350.000</a:t>
            </a:r>
            <a:endParaRPr lang="es-CL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678424"/>
            <a:ext cx="17983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5751576"/>
            <a:ext cx="179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~8 MESES</a:t>
            </a:r>
            <a:endParaRPr lang="es-CL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98017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el N4</a:t>
            </a:r>
            <a:endParaRPr lang="es-CL" sz="1250" dirty="0"/>
          </a:p>
        </p:txBody>
      </p:sp>
      <p:sp>
        <p:nvSpPr>
          <p:cNvPr id="42" name="Shape 40"/>
          <p:cNvSpPr/>
          <p:nvPr/>
        </p:nvSpPr>
        <p:spPr>
          <a:xfrm>
            <a:off x="2529840" y="5678424"/>
            <a:ext cx="17983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529840" y="5751576"/>
            <a:ext cx="179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DÚOS FIJOS</a:t>
            </a:r>
            <a:endParaRPr lang="es-CL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2529840" y="598017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siempre con N3 o N4</a:t>
            </a:r>
            <a:endParaRPr lang="es-CL" sz="1250" dirty="0"/>
          </a:p>
        </p:txBody>
      </p:sp>
      <p:sp>
        <p:nvSpPr>
          <p:cNvPr id="45" name="Shape 43"/>
          <p:cNvSpPr/>
          <p:nvPr/>
        </p:nvSpPr>
        <p:spPr>
          <a:xfrm>
            <a:off x="4511040" y="5678424"/>
            <a:ext cx="179832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11040" y="5751576"/>
            <a:ext cx="179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MESES</a:t>
            </a:r>
            <a:endParaRPr lang="es-CL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11040" y="598017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revalidar seguridad</a:t>
            </a:r>
            <a:endParaRPr lang="es-CL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6766560" y="2331720"/>
            <a:ext cx="48764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· MILLONES DE $</a:t>
            </a:r>
            <a:endParaRPr lang="es-CL" sz="950" dirty="0"/>
          </a:p>
        </p:txBody>
      </p:sp>
      <p:sp>
        <p:nvSpPr>
          <p:cNvPr id="49" name="Shape 47"/>
          <p:cNvSpPr/>
          <p:nvPr/>
        </p:nvSpPr>
        <p:spPr>
          <a:xfrm>
            <a:off x="9448495" y="2304288"/>
            <a:ext cx="219456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9521647" y="2304288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SUPUESTO: SIN REAJUSTES</a:t>
            </a:r>
            <a:endParaRPr lang="es-CL" sz="850" dirty="0"/>
          </a:p>
        </p:txBody>
      </p:sp>
      <p:graphicFrame>
        <p:nvGraphicFramePr>
          <p:cNvPr id="51" name="Costo empresa de la nómina por año" descr=""/>
          <p:cNvGraphicFramePr/>
          <p:nvPr/>
        </p:nvGraphicFramePr>
        <p:xfrm>
          <a:off x="6675120" y="2606040"/>
          <a:ext cx="4967935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6766560" y="5166360"/>
            <a:ext cx="487649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766560" y="5239512"/>
            <a:ext cx="4876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POR INSTALACIÓN PROPIA · MILES DE $</a:t>
            </a:r>
            <a:endParaRPr lang="es-CL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876288" y="5495544"/>
            <a:ext cx="938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508</a:t>
            </a:r>
            <a:endParaRPr lang="es-CL" sz="2200" dirty="0"/>
          </a:p>
        </p:txBody>
      </p:sp>
      <p:sp>
        <p:nvSpPr>
          <p:cNvPr id="55" name="Text 52"/>
          <p:cNvSpPr txBox="1"/>
          <p:nvPr/>
        </p:nvSpPr>
        <p:spPr>
          <a:xfrm>
            <a:off x="7815011" y="5495544"/>
            <a:ext cx="938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306</a:t>
            </a:r>
            <a:endParaRPr lang="es-CL" sz="2200" dirty="0"/>
          </a:p>
        </p:txBody>
      </p:sp>
      <p:sp>
        <p:nvSpPr>
          <p:cNvPr id="56" name="Text 53"/>
          <p:cNvSpPr txBox="1"/>
          <p:nvPr/>
        </p:nvSpPr>
        <p:spPr>
          <a:xfrm>
            <a:off x="8753734" y="5495544"/>
            <a:ext cx="938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257</a:t>
            </a:r>
            <a:endParaRPr lang="es-CL" sz="2200" dirty="0"/>
          </a:p>
        </p:txBody>
      </p:sp>
      <p:sp>
        <p:nvSpPr>
          <p:cNvPr id="57" name="Text 54"/>
          <p:cNvSpPr txBox="1"/>
          <p:nvPr/>
        </p:nvSpPr>
        <p:spPr>
          <a:xfrm>
            <a:off x="9692457" y="5495544"/>
            <a:ext cx="938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253</a:t>
            </a:r>
            <a:endParaRPr lang="es-CL" sz="2200" dirty="0"/>
          </a:p>
        </p:txBody>
      </p:sp>
      <p:sp>
        <p:nvSpPr>
          <p:cNvPr id="58" name="Text 55"/>
          <p:cNvSpPr txBox="1"/>
          <p:nvPr/>
        </p:nvSpPr>
        <p:spPr>
          <a:xfrm>
            <a:off x="10631180" y="5495544"/>
            <a:ext cx="9387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265</a:t>
            </a:r>
            <a:endParaRPr lang="es-CL" sz="2200" dirty="0"/>
          </a:p>
        </p:txBody>
      </p:sp>
      <p:sp>
        <p:nvSpPr>
          <p:cNvPr id="59" name="Text 56"/>
          <p:cNvSpPr txBox="1"/>
          <p:nvPr/>
        </p:nvSpPr>
        <p:spPr>
          <a:xfrm>
            <a:off x="6766560" y="593445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cargos fijos se reparten en más autos.</a:t>
            </a:r>
            <a:endParaRPr lang="es-C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FLUJO OPERACIONAL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NEGOCIO MIDE Y RECOMIENDA;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cliente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 y Tabla N° 17).</a:t>
            </a:r>
            <a:endParaRPr lang="es-CL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2211568" cy="402336"/>
          </a:xfrm>
          <a:prstGeom prst="homePlate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 txBox="1"/>
          <p:nvPr/>
        </p:nvSpPr>
        <p:spPr>
          <a:xfrm>
            <a:off x="768096" y="2286000"/>
            <a:ext cx="182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</a:t>
            </a:r>
            <a:pPr indent="0" marL="0">
              <a:buNone/>
            </a:pPr>
            <a:r>
              <a:rPr lang="es-CL" altLang="en-US" sz="10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CAPTACIÓN</a:t>
            </a:r>
            <a:endParaRPr lang="es-CL" sz="1000" dirty="0"/>
          </a:p>
        </p:txBody>
      </p:sp>
      <p:sp>
        <p:nvSpPr>
          <p:cNvPr id="7" name="Text 5"/>
          <p:cNvSpPr/>
          <p:nvPr/>
        </p:nvSpPr>
        <p:spPr>
          <a:xfrm>
            <a:off x="2796784" y="2286000"/>
            <a:ext cx="2211568" cy="402336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3016240" y="2286000"/>
            <a:ext cx="182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</a:t>
            </a:r>
            <a:pPr indent="0" marL="0">
              <a:buNone/>
            </a:pPr>
            <a:r>
              <a:rPr lang="es-CL" altLang="en-US" sz="10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ASESORÍA</a:t>
            </a:r>
            <a:endParaRPr lang="es-CL" sz="1000" dirty="0"/>
          </a:p>
        </p:txBody>
      </p:sp>
      <p:sp>
        <p:nvSpPr>
          <p:cNvPr id="9" name="Text 7"/>
          <p:cNvSpPr/>
          <p:nvPr/>
        </p:nvSpPr>
        <p:spPr>
          <a:xfrm>
            <a:off x="5044928" y="2286000"/>
            <a:ext cx="2211568" cy="402336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 txBox="1"/>
          <p:nvPr/>
        </p:nvSpPr>
        <p:spPr>
          <a:xfrm>
            <a:off x="5264384" y="2286000"/>
            <a:ext cx="182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b="1" spc="10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</a:t>
            </a:r>
            <a:pPr indent="0" marL="0">
              <a:buNone/>
            </a:pPr>
            <a:r>
              <a:rPr lang="es-CL" altLang="en-US" sz="1000" b="1" spc="10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</a:t>
            </a:r>
            <a:endParaRPr lang="es-CL" sz="1000" dirty="0"/>
          </a:p>
        </p:txBody>
      </p:sp>
      <p:sp>
        <p:nvSpPr>
          <p:cNvPr id="11" name="Text 9"/>
          <p:cNvSpPr/>
          <p:nvPr/>
        </p:nvSpPr>
        <p:spPr>
          <a:xfrm>
            <a:off x="7293072" y="2286000"/>
            <a:ext cx="2211568" cy="402336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7512528" y="2286000"/>
            <a:ext cx="182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</a:t>
            </a:r>
            <a:pPr indent="0" marL="0">
              <a:buNone/>
            </a:pPr>
            <a:r>
              <a:rPr lang="es-CL" altLang="en-US" sz="10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000" dirty="0"/>
          </a:p>
        </p:txBody>
      </p:sp>
      <p:sp>
        <p:nvSpPr>
          <p:cNvPr id="13" name="Text 11"/>
          <p:cNvSpPr/>
          <p:nvPr/>
        </p:nvSpPr>
        <p:spPr>
          <a:xfrm>
            <a:off x="9541215" y="2286000"/>
            <a:ext cx="2101840" cy="402336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9760671" y="2286000"/>
            <a:ext cx="182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00" b="1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</a:t>
            </a:r>
            <a:pPr indent="0" marL="0">
              <a:buNone/>
            </a:pPr>
            <a:r>
              <a:rPr lang="es-CL" altLang="en-US" sz="10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POSTVENTA</a:t>
            </a:r>
            <a:endParaRPr lang="es-CL" sz="1000" dirty="0"/>
          </a:p>
        </p:txBody>
      </p:sp>
      <p:sp>
        <p:nvSpPr>
          <p:cNvPr id="15" name="Shape 13"/>
          <p:cNvSpPr/>
          <p:nvPr/>
        </p:nvSpPr>
        <p:spPr>
          <a:xfrm>
            <a:off x="585216" y="2852928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2852928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 con el estimador web</a:t>
            </a:r>
            <a:endParaRPr lang="es-CL" sz="1200" dirty="0"/>
          </a:p>
        </p:txBody>
      </p:sp>
      <p:sp>
        <p:nvSpPr>
          <p:cNvPr id="17" name="Shape 15"/>
          <p:cNvSpPr/>
          <p:nvPr/>
        </p:nvSpPr>
        <p:spPr>
          <a:xfrm>
            <a:off x="1599560" y="351129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30936" y="3657600"/>
            <a:ext cx="1937248" cy="804672"/>
          </a:xfrm>
          <a:prstGeom prst="diamond">
            <a:avLst/>
          </a:prstGeom>
          <a:solidFill>
            <a:schemeClr val="bg2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¿Modelo calibrado?</a:t>
            </a:r>
            <a:endParaRPr lang="es-CL" sz="1050" dirty="0"/>
          </a:p>
        </p:txBody>
      </p:sp>
      <p:sp>
        <p:nvSpPr>
          <p:cNvPr id="19" name="Shape 17"/>
          <p:cNvSpPr/>
          <p:nvPr/>
        </p:nvSpPr>
        <p:spPr>
          <a:xfrm>
            <a:off x="1599560" y="4462272"/>
            <a:ext cx="0" cy="146304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663568" y="44622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</a:t>
            </a:r>
            <a:endParaRPr lang="es-CL" sz="900" dirty="0"/>
          </a:p>
        </p:txBody>
      </p:sp>
      <p:sp>
        <p:nvSpPr>
          <p:cNvPr id="21" name="Shape 19"/>
          <p:cNvSpPr/>
          <p:nvPr/>
        </p:nvSpPr>
        <p:spPr>
          <a:xfrm>
            <a:off x="585216" y="4608576"/>
            <a:ext cx="2028688" cy="5669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08576"/>
            <a:ext cx="188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registra la demanda</a:t>
            </a:r>
            <a:endParaRPr lang="es-CL" sz="1200" dirty="0"/>
          </a:p>
        </p:txBody>
      </p:sp>
      <p:sp>
        <p:nvSpPr>
          <p:cNvPr id="23" name="Shape 21"/>
          <p:cNvSpPr/>
          <p:nvPr/>
        </p:nvSpPr>
        <p:spPr>
          <a:xfrm>
            <a:off x="2833360" y="2852928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06512" y="2852928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Asesoría por versión del kit</a:t>
            </a:r>
            <a:endParaRPr lang="es-CL" sz="1200" dirty="0"/>
          </a:p>
        </p:txBody>
      </p:sp>
      <p:sp>
        <p:nvSpPr>
          <p:cNvPr id="25" name="Shape 23"/>
          <p:cNvSpPr/>
          <p:nvPr/>
        </p:nvSpPr>
        <p:spPr>
          <a:xfrm>
            <a:off x="3847704" y="351129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833360" y="3657600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2906512" y="3657600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Medición opcional de una semana</a:t>
            </a:r>
            <a:endParaRPr lang="es-CL" sz="1200" dirty="0"/>
          </a:p>
        </p:txBody>
      </p:sp>
      <p:sp>
        <p:nvSpPr>
          <p:cNvPr id="28" name="Shape 26"/>
          <p:cNvSpPr/>
          <p:nvPr/>
        </p:nvSpPr>
        <p:spPr>
          <a:xfrm>
            <a:off x="3847704" y="4315968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2879080" y="4462272"/>
            <a:ext cx="1937248" cy="804672"/>
          </a:xfrm>
          <a:prstGeom prst="diamond">
            <a:avLst/>
          </a:prstGeom>
          <a:solidFill>
            <a:schemeClr val="bg2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¿Decide instalar?</a:t>
            </a:r>
            <a:endParaRPr lang="es-CL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833360" y="5303520"/>
            <a:ext cx="202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NO: QUEDA INFORMADO</a:t>
            </a:r>
            <a:endParaRPr lang="es-CL" sz="900" dirty="0"/>
          </a:p>
        </p:txBody>
      </p:sp>
      <p:sp>
        <p:nvSpPr>
          <p:cNvPr id="31" name="Shape 29"/>
          <p:cNvSpPr/>
          <p:nvPr/>
        </p:nvSpPr>
        <p:spPr>
          <a:xfrm>
            <a:off x="5081504" y="2852928"/>
            <a:ext cx="2028688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4656" y="2852928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jornada: 8,4 horas</a:t>
            </a:r>
            <a:endParaRPr lang="es-CL" sz="1200" dirty="0"/>
          </a:p>
        </p:txBody>
      </p:sp>
      <p:sp>
        <p:nvSpPr>
          <p:cNvPr id="33" name="Shape 31"/>
          <p:cNvSpPr/>
          <p:nvPr/>
        </p:nvSpPr>
        <p:spPr>
          <a:xfrm>
            <a:off x="6095848" y="351129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5081504" y="3675888"/>
            <a:ext cx="202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</a:t>
            </a:r>
            <a:endParaRPr lang="es-CL" sz="900" dirty="0"/>
          </a:p>
        </p:txBody>
      </p:sp>
      <p:sp>
        <p:nvSpPr>
          <p:cNvPr id="35" name="Shape 33"/>
          <p:cNvSpPr/>
          <p:nvPr/>
        </p:nvSpPr>
        <p:spPr>
          <a:xfrm>
            <a:off x="5264384" y="4032504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38704" y="3950208"/>
            <a:ext cx="1525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 apto</a:t>
            </a:r>
            <a:endParaRPr lang="es-CL" sz="1250" dirty="0"/>
          </a:p>
        </p:txBody>
      </p:sp>
      <p:sp>
        <p:nvSpPr>
          <p:cNvPr id="37" name="Shape 35"/>
          <p:cNvSpPr/>
          <p:nvPr/>
        </p:nvSpPr>
        <p:spPr>
          <a:xfrm>
            <a:off x="5264384" y="4398264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538704" y="4315968"/>
            <a:ext cx="1525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Masa y ejes</a:t>
            </a:r>
            <a:endParaRPr lang="es-CL" sz="1250" dirty="0"/>
          </a:p>
        </p:txBody>
      </p:sp>
      <p:sp>
        <p:nvSpPr>
          <p:cNvPr id="39" name="Shape 37"/>
          <p:cNvSpPr/>
          <p:nvPr/>
        </p:nvSpPr>
        <p:spPr>
          <a:xfrm>
            <a:off x="5264384" y="4764024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538704" y="4681728"/>
            <a:ext cx="1525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Aislación</a:t>
            </a:r>
            <a:endParaRPr lang="es-CL" sz="1250" dirty="0"/>
          </a:p>
        </p:txBody>
      </p:sp>
      <p:sp>
        <p:nvSpPr>
          <p:cNvPr id="41" name="Shape 39"/>
          <p:cNvSpPr/>
          <p:nvPr/>
        </p:nvSpPr>
        <p:spPr>
          <a:xfrm>
            <a:off x="5264384" y="5129784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38704" y="5047488"/>
            <a:ext cx="1525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Dinamómetro</a:t>
            </a:r>
            <a:endParaRPr lang="es-CL" sz="1250" dirty="0"/>
          </a:p>
        </p:txBody>
      </p:sp>
      <p:sp>
        <p:nvSpPr>
          <p:cNvPr id="43" name="Shape 41"/>
          <p:cNvSpPr/>
          <p:nvPr/>
        </p:nvSpPr>
        <p:spPr>
          <a:xfrm>
            <a:off x="7329648" y="2852928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02800" y="2852928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Responsable Técnico firma el certificado</a:t>
            </a:r>
            <a:endParaRPr lang="es-CL" sz="1200" dirty="0"/>
          </a:p>
        </p:txBody>
      </p:sp>
      <p:sp>
        <p:nvSpPr>
          <p:cNvPr id="45" name="Shape 43"/>
          <p:cNvSpPr/>
          <p:nvPr/>
        </p:nvSpPr>
        <p:spPr>
          <a:xfrm>
            <a:off x="8343991" y="351129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7329648" y="3657600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402800" y="3657600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Entrega y línea base de ahorro</a:t>
            </a:r>
            <a:endParaRPr lang="es-CL" sz="1200" dirty="0"/>
          </a:p>
        </p:txBody>
      </p:sp>
      <p:sp>
        <p:nvSpPr>
          <p:cNvPr id="48" name="Shape 46"/>
          <p:cNvSpPr/>
          <p:nvPr/>
        </p:nvSpPr>
        <p:spPr>
          <a:xfrm>
            <a:off x="8343991" y="4315968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7329648" y="4462272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tx2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7402800" y="4462272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Revisión técnica del cliente</a:t>
            </a:r>
            <a:endParaRPr lang="es-CL" sz="1200" dirty="0"/>
          </a:p>
        </p:txBody>
      </p:sp>
      <p:sp>
        <p:nvSpPr>
          <p:cNvPr id="51" name="Shape 49"/>
          <p:cNvSpPr/>
          <p:nvPr/>
        </p:nvSpPr>
        <p:spPr>
          <a:xfrm>
            <a:off x="9577791" y="2852928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650943" y="2852928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Informe de ahorro a los 3 meses</a:t>
            </a:r>
            <a:endParaRPr lang="es-CL" sz="1200" dirty="0"/>
          </a:p>
        </p:txBody>
      </p:sp>
      <p:sp>
        <p:nvSpPr>
          <p:cNvPr id="53" name="Shape 51"/>
          <p:cNvSpPr/>
          <p:nvPr/>
        </p:nvSpPr>
        <p:spPr>
          <a:xfrm>
            <a:off x="10592135" y="351129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9623511" y="3657600"/>
            <a:ext cx="1937248" cy="804672"/>
          </a:xfrm>
          <a:prstGeom prst="diamond">
            <a:avLst/>
          </a:prstGeom>
          <a:solidFill>
            <a:schemeClr val="bg2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¿Se desvía del estimado?</a:t>
            </a:r>
            <a:endParaRPr lang="es-CL" sz="1050" dirty="0"/>
          </a:p>
        </p:txBody>
      </p:sp>
      <p:sp>
        <p:nvSpPr>
          <p:cNvPr id="55" name="Shape 53"/>
          <p:cNvSpPr/>
          <p:nvPr/>
        </p:nvSpPr>
        <p:spPr>
          <a:xfrm>
            <a:off x="10592135" y="4462272"/>
            <a:ext cx="0" cy="146304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10656143" y="44622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SÍ</a:t>
            </a:r>
            <a:endParaRPr lang="es-CL" sz="900" dirty="0"/>
          </a:p>
        </p:txBody>
      </p:sp>
      <p:sp>
        <p:nvSpPr>
          <p:cNvPr id="57" name="Shape 55"/>
          <p:cNvSpPr/>
          <p:nvPr/>
        </p:nvSpPr>
        <p:spPr>
          <a:xfrm>
            <a:off x="9577791" y="4608576"/>
            <a:ext cx="2028688" cy="6583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650943" y="4608576"/>
            <a:ext cx="188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Recalibra y mejora la biblioteca</a:t>
            </a:r>
            <a:endParaRPr lang="es-CL" sz="1200" dirty="0"/>
          </a:p>
        </p:txBody>
      </p:sp>
      <p:sp>
        <p:nvSpPr>
          <p:cNvPr id="59" name="Shape 57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48640" y="563270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04088" y="555955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LÍMITE DE CAPACIDAD</a:t>
            </a:r>
            <a:endParaRPr lang="es-CL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5815584"/>
            <a:ext cx="3515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horas de los dúos.</a:t>
            </a:r>
            <a:endParaRPr lang="es-CL" sz="1250" dirty="0"/>
          </a:p>
        </p:txBody>
      </p:sp>
      <p:sp>
        <p:nvSpPr>
          <p:cNvPr id="63" name="Shape 61"/>
          <p:cNvSpPr/>
          <p:nvPr/>
        </p:nvSpPr>
        <p:spPr>
          <a:xfrm>
            <a:off x="4338218" y="5632704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493666" y="555955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DINAMÓMETRO</a:t>
            </a:r>
            <a:endParaRPr lang="es-CL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4338218" y="5815584"/>
            <a:ext cx="3515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por local basta (54% con seis dúos).</a:t>
            </a:r>
            <a:endParaRPr lang="es-CL" sz="1250" dirty="0"/>
          </a:p>
        </p:txBody>
      </p:sp>
      <p:sp>
        <p:nvSpPr>
          <p:cNvPr id="66" name="Shape 64"/>
          <p:cNvSpPr/>
          <p:nvPr/>
        </p:nvSpPr>
        <p:spPr>
          <a:xfrm>
            <a:off x="8127797" y="5632704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8283245" y="555955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BIBLIOTECA</a:t>
            </a:r>
            <a:endParaRPr lang="es-CL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8127797" y="5815584"/>
            <a:ext cx="35152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Limita qué modelos se venden.</a:t>
            </a:r>
            <a:endParaRPr lang="es-C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CARTA GANTT DE IMPLEMENTACIÓN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ABRIR EN ENERO DE 2027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depende de un reglamento.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2313432"/>
            <a:ext cx="7196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925932" y="2313432"/>
            <a:ext cx="2878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950" dirty="0"/>
          </a:p>
        </p:txBody>
      </p:sp>
      <p:sp>
        <p:nvSpPr>
          <p:cNvPr id="7" name="Shape 5"/>
          <p:cNvSpPr/>
          <p:nvPr/>
        </p:nvSpPr>
        <p:spPr>
          <a:xfrm>
            <a:off x="4925932" y="2551176"/>
            <a:ext cx="0" cy="3218688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04699" y="2313432"/>
            <a:ext cx="9595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950" dirty="0"/>
          </a:p>
        </p:txBody>
      </p:sp>
      <p:sp>
        <p:nvSpPr>
          <p:cNvPr id="9" name="Shape 7"/>
          <p:cNvSpPr/>
          <p:nvPr/>
        </p:nvSpPr>
        <p:spPr>
          <a:xfrm>
            <a:off x="7804699" y="2551176"/>
            <a:ext cx="0" cy="32186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64288" y="2313432"/>
            <a:ext cx="9595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950" dirty="0"/>
          </a:p>
        </p:txBody>
      </p:sp>
      <p:sp>
        <p:nvSpPr>
          <p:cNvPr id="11" name="Shape 9"/>
          <p:cNvSpPr/>
          <p:nvPr/>
        </p:nvSpPr>
        <p:spPr>
          <a:xfrm>
            <a:off x="8764288" y="2551176"/>
            <a:ext cx="0" cy="32186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23877" y="2313432"/>
            <a:ext cx="9595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950" dirty="0"/>
          </a:p>
        </p:txBody>
      </p:sp>
      <p:sp>
        <p:nvSpPr>
          <p:cNvPr id="13" name="Shape 11"/>
          <p:cNvSpPr/>
          <p:nvPr/>
        </p:nvSpPr>
        <p:spPr>
          <a:xfrm>
            <a:off x="9723877" y="2551176"/>
            <a:ext cx="0" cy="32186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83466" y="2313432"/>
            <a:ext cx="9595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950" dirty="0"/>
          </a:p>
        </p:txBody>
      </p:sp>
      <p:sp>
        <p:nvSpPr>
          <p:cNvPr id="15" name="Shape 13"/>
          <p:cNvSpPr/>
          <p:nvPr/>
        </p:nvSpPr>
        <p:spPr>
          <a:xfrm>
            <a:off x="10683466" y="2551176"/>
            <a:ext cx="0" cy="3218688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</a:t>
            </a:r>
            <a:endParaRPr lang="es-CL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446137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</a:t>
            </a:r>
            <a:endParaRPr lang="es-CL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686035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s-CL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925932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</a:t>
            </a:r>
            <a:endParaRPr lang="es-CL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165829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</a:t>
            </a:r>
            <a:endParaRPr lang="es-CL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405726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</a:t>
            </a:r>
            <a:endParaRPr lang="es-CL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645624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endParaRPr lang="es-CL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85521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</a:t>
            </a:r>
            <a:endParaRPr lang="es-CL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125418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</a:t>
            </a:r>
            <a:endParaRPr lang="es-CL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365315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</a:t>
            </a:r>
            <a:endParaRPr lang="es-CL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605213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endParaRPr lang="es-CL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845110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</a:t>
            </a:r>
            <a:endParaRPr lang="es-CL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085007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</a:t>
            </a:r>
            <a:endParaRPr lang="es-CL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7324904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</a:t>
            </a:r>
            <a:endParaRPr lang="es-CL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7564802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s-CL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804699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044596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284493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8524391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764288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04185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9244083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9483980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9723877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9963774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203672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0443569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10683466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T1</a:t>
            </a:r>
            <a:endParaRPr lang="es-CL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10923363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T2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11163261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T3</a:t>
            </a:r>
            <a:endParaRPr lang="es-CL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11403158" y="5788152"/>
            <a:ext cx="2398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85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T4</a:t>
            </a:r>
            <a:endParaRPr lang="es-CL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606040"/>
            <a:ext cx="114300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PREAPERTURA</a:t>
            </a:r>
            <a:endParaRPr lang="es-CL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1645920" y="2606040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de mercado</a:t>
            </a:r>
            <a:endParaRPr lang="es-CL" sz="1150" dirty="0"/>
          </a:p>
        </p:txBody>
      </p:sp>
      <p:sp>
        <p:nvSpPr>
          <p:cNvPr id="49" name="Shape 47"/>
          <p:cNvSpPr/>
          <p:nvPr/>
        </p:nvSpPr>
        <p:spPr>
          <a:xfrm>
            <a:off x="4206240" y="2642616"/>
            <a:ext cx="719692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999084" y="2606040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terreno y encuesta</a:t>
            </a:r>
            <a:endParaRPr lang="es-CL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1645920" y="2889504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Local, permisos y financiamiento</a:t>
            </a:r>
            <a:endParaRPr lang="es-CL" sz="1150" dirty="0"/>
          </a:p>
        </p:txBody>
      </p:sp>
      <p:sp>
        <p:nvSpPr>
          <p:cNvPr id="52" name="Shape 50"/>
          <p:cNvSpPr/>
          <p:nvPr/>
        </p:nvSpPr>
        <p:spPr>
          <a:xfrm>
            <a:off x="4206240" y="2926080"/>
            <a:ext cx="719692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999084" y="2889504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 cargo de los socios</a:t>
            </a:r>
            <a:endParaRPr lang="es-CL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645920" y="3172968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y primer dúo</a:t>
            </a:r>
            <a:endParaRPr lang="es-CL" sz="1150" dirty="0"/>
          </a:p>
        </p:txBody>
      </p:sp>
      <p:sp>
        <p:nvSpPr>
          <p:cNvPr id="55" name="Shape 53"/>
          <p:cNvSpPr/>
          <p:nvPr/>
        </p:nvSpPr>
        <p:spPr>
          <a:xfrm>
            <a:off x="4446137" y="3209544"/>
            <a:ext cx="479795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999084" y="3172968"/>
            <a:ext cx="3108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el auto del cliente piloto</a:t>
            </a:r>
            <a:endParaRPr lang="es-CL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1645920" y="3456432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de la Ley 21.793</a:t>
            </a:r>
            <a:endParaRPr lang="es-CL" sz="1150" dirty="0"/>
          </a:p>
        </p:txBody>
      </p:sp>
      <p:sp>
        <p:nvSpPr>
          <p:cNvPr id="58" name="Shape 56"/>
          <p:cNvSpPr/>
          <p:nvPr/>
        </p:nvSpPr>
        <p:spPr>
          <a:xfrm>
            <a:off x="4687111" y="3479292"/>
            <a:ext cx="237744" cy="237744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988863" y="3456432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37764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3831336"/>
            <a:ext cx="1143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 1</a:t>
            </a:r>
            <a:endParaRPr lang="es-CL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1645920" y="3831336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Apertura y dúos 1 a 6</a:t>
            </a:r>
            <a:endParaRPr lang="es-CL" sz="1150" dirty="0"/>
          </a:p>
        </p:txBody>
      </p:sp>
      <p:sp>
        <p:nvSpPr>
          <p:cNvPr id="63" name="Shape 61"/>
          <p:cNvSpPr/>
          <p:nvPr/>
        </p:nvSpPr>
        <p:spPr>
          <a:xfrm>
            <a:off x="4834492" y="38816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743052" y="369417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900" dirty="0"/>
          </a:p>
        </p:txBody>
      </p:sp>
      <p:sp>
        <p:nvSpPr>
          <p:cNvPr id="65" name="Shape 63"/>
          <p:cNvSpPr/>
          <p:nvPr/>
        </p:nvSpPr>
        <p:spPr>
          <a:xfrm>
            <a:off x="5645624" y="3867912"/>
            <a:ext cx="479795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33978" y="38816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42538" y="369417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900" dirty="0"/>
          </a:p>
        </p:txBody>
      </p:sp>
      <p:sp>
        <p:nvSpPr>
          <p:cNvPr id="68" name="Shape 66"/>
          <p:cNvSpPr/>
          <p:nvPr/>
        </p:nvSpPr>
        <p:spPr>
          <a:xfrm>
            <a:off x="7085007" y="3867912"/>
            <a:ext cx="479795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9" name="Shape 67"/>
          <p:cNvSpPr/>
          <p:nvPr/>
        </p:nvSpPr>
        <p:spPr>
          <a:xfrm>
            <a:off x="7473362" y="38816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7381922" y="369417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900" dirty="0"/>
          </a:p>
        </p:txBody>
      </p:sp>
      <p:sp>
        <p:nvSpPr>
          <p:cNvPr id="71" name="Shape 69"/>
          <p:cNvSpPr/>
          <p:nvPr/>
        </p:nvSpPr>
        <p:spPr>
          <a:xfrm>
            <a:off x="7564802" y="3867912"/>
            <a:ext cx="319863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2" name="Shape 70"/>
          <p:cNvSpPr/>
          <p:nvPr/>
        </p:nvSpPr>
        <p:spPr>
          <a:xfrm>
            <a:off x="7793225" y="38816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701785" y="369417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900" dirty="0"/>
          </a:p>
        </p:txBody>
      </p:sp>
      <p:sp>
        <p:nvSpPr>
          <p:cNvPr id="74" name="Shape 72"/>
          <p:cNvSpPr/>
          <p:nvPr/>
        </p:nvSpPr>
        <p:spPr>
          <a:xfrm>
            <a:off x="8044596" y="3867912"/>
            <a:ext cx="159932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5" name="Shape 73"/>
          <p:cNvSpPr/>
          <p:nvPr/>
        </p:nvSpPr>
        <p:spPr>
          <a:xfrm>
            <a:off x="8113088" y="38816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021648" y="369417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900" dirty="0"/>
          </a:p>
        </p:txBody>
      </p:sp>
      <p:sp>
        <p:nvSpPr>
          <p:cNvPr id="77" name="Shape 75"/>
          <p:cNvSpPr/>
          <p:nvPr/>
        </p:nvSpPr>
        <p:spPr>
          <a:xfrm>
            <a:off x="8204528" y="3867912"/>
            <a:ext cx="159932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8" name="Shape 76"/>
          <p:cNvSpPr/>
          <p:nvPr/>
        </p:nvSpPr>
        <p:spPr>
          <a:xfrm>
            <a:off x="8273019" y="38816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181579" y="3694176"/>
            <a:ext cx="3657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900" dirty="0"/>
          </a:p>
        </p:txBody>
      </p:sp>
      <p:sp>
        <p:nvSpPr>
          <p:cNvPr id="80" name="Shape 78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206240"/>
            <a:ext cx="1143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BIBLIOTECA Y RED</a:t>
            </a:r>
            <a:endParaRPr lang="es-CL" sz="850" dirty="0"/>
          </a:p>
        </p:txBody>
      </p:sp>
      <p:sp>
        <p:nvSpPr>
          <p:cNvPr id="82" name="Text 80"/>
          <p:cNvSpPr txBox="1"/>
          <p:nvPr/>
        </p:nvSpPr>
        <p:spPr>
          <a:xfrm>
            <a:off x="1645920" y="4206240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de modelos</a:t>
            </a:r>
            <a:endParaRPr lang="es-CL" sz="1150" dirty="0"/>
          </a:p>
        </p:txBody>
      </p:sp>
      <p:sp>
        <p:nvSpPr>
          <p:cNvPr id="83" name="Shape 81"/>
          <p:cNvSpPr/>
          <p:nvPr/>
        </p:nvSpPr>
        <p:spPr>
          <a:xfrm>
            <a:off x="4925932" y="4242816"/>
            <a:ext cx="2878767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4925932" y="4206240"/>
            <a:ext cx="287876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al mes</a:t>
            </a:r>
            <a:endParaRPr lang="es-CL" sz="1000" dirty="0"/>
          </a:p>
        </p:txBody>
      </p:sp>
      <p:sp>
        <p:nvSpPr>
          <p:cNvPr id="85" name="Shape 83"/>
          <p:cNvSpPr/>
          <p:nvPr/>
        </p:nvSpPr>
        <p:spPr>
          <a:xfrm>
            <a:off x="7804699" y="4242816"/>
            <a:ext cx="3838356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804699" y="4206240"/>
            <a:ext cx="38383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al mes</a:t>
            </a:r>
            <a:endParaRPr lang="es-CL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1645920" y="4489704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certificada</a:t>
            </a:r>
            <a:endParaRPr lang="es-CL" sz="1150" dirty="0"/>
          </a:p>
        </p:txBody>
      </p:sp>
      <p:sp>
        <p:nvSpPr>
          <p:cNvPr id="88" name="Shape 86"/>
          <p:cNvSpPr/>
          <p:nvPr/>
        </p:nvSpPr>
        <p:spPr>
          <a:xfrm>
            <a:off x="7804699" y="4526280"/>
            <a:ext cx="3838356" cy="21031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307088" y="4489704"/>
            <a:ext cx="402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950" dirty="0"/>
          </a:p>
        </p:txBody>
      </p:sp>
      <p:sp>
        <p:nvSpPr>
          <p:cNvPr id="90" name="Text 88"/>
          <p:cNvSpPr txBox="1"/>
          <p:nvPr/>
        </p:nvSpPr>
        <p:spPr>
          <a:xfrm>
            <a:off x="9266677" y="4489704"/>
            <a:ext cx="402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</a:t>
            </a:r>
            <a:endParaRPr lang="es-CL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10226266" y="4489704"/>
            <a:ext cx="402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s-CL" sz="950" dirty="0"/>
          </a:p>
        </p:txBody>
      </p:sp>
      <p:sp>
        <p:nvSpPr>
          <p:cNvPr id="92" name="Text 90"/>
          <p:cNvSpPr txBox="1"/>
          <p:nvPr/>
        </p:nvSpPr>
        <p:spPr>
          <a:xfrm>
            <a:off x="11185855" y="4489704"/>
            <a:ext cx="4023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42</a:t>
            </a:r>
            <a:endParaRPr lang="es-CL" sz="950" dirty="0"/>
          </a:p>
        </p:txBody>
      </p:sp>
      <p:sp>
        <p:nvSpPr>
          <p:cNvPr id="93" name="Text 91"/>
          <p:cNvSpPr txBox="1"/>
          <p:nvPr/>
        </p:nvSpPr>
        <p:spPr>
          <a:xfrm>
            <a:off x="1645920" y="4773168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colectivos</a:t>
            </a:r>
            <a:endParaRPr lang="es-CL" sz="1150" dirty="0"/>
          </a:p>
        </p:txBody>
      </p:sp>
      <p:sp>
        <p:nvSpPr>
          <p:cNvPr id="94" name="Shape 92"/>
          <p:cNvSpPr/>
          <p:nvPr/>
        </p:nvSpPr>
        <p:spPr>
          <a:xfrm>
            <a:off x="8764288" y="4809744"/>
            <a:ext cx="2878767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8764288" y="4773168"/>
            <a:ext cx="287876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el año 3</a:t>
            </a:r>
            <a:endParaRPr lang="es-CL" sz="1000" dirty="0"/>
          </a:p>
        </p:txBody>
      </p:sp>
      <p:sp>
        <p:nvSpPr>
          <p:cNvPr id="96" name="Shape 94"/>
          <p:cNvSpPr/>
          <p:nvPr/>
        </p:nvSpPr>
        <p:spPr>
          <a:xfrm>
            <a:off x="548640" y="509320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48640" y="514807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TALLERES 2 Y 3</a:t>
            </a:r>
            <a:endParaRPr lang="es-CL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1645920" y="5148072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150" dirty="0"/>
          </a:p>
        </p:txBody>
      </p:sp>
      <p:sp>
        <p:nvSpPr>
          <p:cNvPr id="99" name="Text 97"/>
          <p:cNvSpPr txBox="1"/>
          <p:nvPr/>
        </p:nvSpPr>
        <p:spPr>
          <a:xfrm>
            <a:off x="4775351" y="5148072"/>
            <a:ext cx="3657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abre en el mes 25; seis dúos en el 36</a:t>
            </a:r>
            <a:endParaRPr lang="es-CL" sz="1100" dirty="0"/>
          </a:p>
        </p:txBody>
      </p:sp>
      <p:sp>
        <p:nvSpPr>
          <p:cNvPr id="100" name="Shape 98"/>
          <p:cNvSpPr/>
          <p:nvPr/>
        </p:nvSpPr>
        <p:spPr>
          <a:xfrm>
            <a:off x="8524391" y="5184648"/>
            <a:ext cx="239897" cy="21031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1" name="Shape 99"/>
          <p:cNvSpPr/>
          <p:nvPr/>
        </p:nvSpPr>
        <p:spPr>
          <a:xfrm>
            <a:off x="8764288" y="5184648"/>
            <a:ext cx="959589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672848" y="5198364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645920" y="5431536"/>
            <a:ext cx="2450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150" dirty="0"/>
          </a:p>
        </p:txBody>
      </p:sp>
      <p:sp>
        <p:nvSpPr>
          <p:cNvPr id="104" name="Text 102"/>
          <p:cNvSpPr txBox="1"/>
          <p:nvPr/>
        </p:nvSpPr>
        <p:spPr>
          <a:xfrm>
            <a:off x="6694529" y="5431536"/>
            <a:ext cx="3657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abre en el mes 49; seis dúos en el 60</a:t>
            </a:r>
            <a:endParaRPr lang="es-CL" sz="1100" dirty="0"/>
          </a:p>
        </p:txBody>
      </p:sp>
      <p:sp>
        <p:nvSpPr>
          <p:cNvPr id="105" name="Shape 103"/>
          <p:cNvSpPr/>
          <p:nvPr/>
        </p:nvSpPr>
        <p:spPr>
          <a:xfrm>
            <a:off x="10443569" y="5468112"/>
            <a:ext cx="239897" cy="210312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683466" y="5468112"/>
            <a:ext cx="959589" cy="210312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592026" y="5481828"/>
            <a:ext cx="182880" cy="182880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48640" y="6135624"/>
            <a:ext cx="146304" cy="14630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68096" y="60990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Actividad principal</a:t>
            </a:r>
            <a:endParaRPr lang="es-CL" sz="1100" dirty="0"/>
          </a:p>
        </p:txBody>
      </p:sp>
      <p:sp>
        <p:nvSpPr>
          <p:cNvPr id="110" name="Shape 108"/>
          <p:cNvSpPr/>
          <p:nvPr/>
        </p:nvSpPr>
        <p:spPr>
          <a:xfrm>
            <a:off x="2788920" y="6135624"/>
            <a:ext cx="146304" cy="146304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008376" y="60990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Operación</a:t>
            </a:r>
            <a:endParaRPr lang="es-CL" sz="1100" dirty="0"/>
          </a:p>
        </p:txBody>
      </p:sp>
      <p:sp>
        <p:nvSpPr>
          <p:cNvPr id="112" name="Shape 110"/>
          <p:cNvSpPr/>
          <p:nvPr/>
        </p:nvSpPr>
        <p:spPr>
          <a:xfrm>
            <a:off x="5029200" y="6135624"/>
            <a:ext cx="146304" cy="146304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48656" y="60990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Preapertura de taller</a:t>
            </a:r>
            <a:endParaRPr lang="es-CL" sz="1100" dirty="0"/>
          </a:p>
        </p:txBody>
      </p:sp>
      <p:sp>
        <p:nvSpPr>
          <p:cNvPr id="114" name="Shape 112"/>
          <p:cNvSpPr/>
          <p:nvPr/>
        </p:nvSpPr>
        <p:spPr>
          <a:xfrm>
            <a:off x="7269480" y="6135624"/>
            <a:ext cx="146304" cy="146304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7488936" y="60990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Hito (dúo o apertura)</a:t>
            </a:r>
            <a:endParaRPr lang="es-CL" sz="1100" dirty="0"/>
          </a:p>
        </p:txBody>
      </p:sp>
      <p:sp>
        <p:nvSpPr>
          <p:cNvPr id="116" name="Shape 114"/>
          <p:cNvSpPr/>
          <p:nvPr/>
        </p:nvSpPr>
        <p:spPr>
          <a:xfrm>
            <a:off x="9509760" y="6135624"/>
            <a:ext cx="146304" cy="146304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729216" y="609904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Hito crítico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PRESUPUESTO Y RESULTADO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GANANCIA DESDE EL AÑO 2;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riesgo es el dólar.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a 21).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317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POR LÍNEA · MILLONES DE PESOS</a:t>
            </a:r>
            <a:endParaRPr lang="es-CL" sz="950" dirty="0"/>
          </a:p>
        </p:txBody>
      </p:sp>
      <p:graphicFrame>
        <p:nvGraphicFramePr>
          <p:cNvPr id="6" name="Resultado referencial por línea de negocio" descr=""/>
          <p:cNvGraphicFramePr/>
          <p:nvPr/>
        </p:nvGraphicFramePr>
        <p:xfrm>
          <a:off x="457200" y="2606040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78815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Margen propio: </a:t>
            </a:r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−11% → 7,7%</a:t>
            </a:r>
            <a:pPr indent="0" marL="0">
              <a:buNone/>
            </a:pPr>
            <a:r>
              <a:rPr lang="es-CL" altLang="en-US" sz="13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· red: cerca de 10%</a:t>
            </a:r>
            <a:endParaRPr lang="es-CL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6117336"/>
            <a:ext cx="6766560" cy="237744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3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621792" y="6117336"/>
            <a:ext cx="6620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REFERENCIAL: SIN IMPUESTOS NI DEPRECIACIÓN · 60% PLUS (SUPUESTO)</a:t>
            </a:r>
            <a:endParaRPr lang="es-CL" sz="850" dirty="0"/>
          </a:p>
        </p:txBody>
      </p:sp>
      <p:sp>
        <p:nvSpPr>
          <p:cNvPr id="10" name="Shape 7"/>
          <p:cNvSpPr/>
          <p:nvPr/>
        </p:nvSpPr>
        <p:spPr>
          <a:xfrm>
            <a:off x="7726680" y="2331720"/>
            <a:ext cx="3916375" cy="14173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27848" y="2468880"/>
            <a:ext cx="35140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POR LOCAL</a:t>
            </a:r>
            <a:endParaRPr lang="es-CL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927848" y="271576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$81,3 M</a:t>
            </a:r>
            <a:endParaRPr lang="es-CL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2752344"/>
            <a:ext cx="1493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Casi la mitad, en el dinamómetro.</a:t>
            </a:r>
            <a:endParaRPr lang="es-CL" sz="1250" dirty="0"/>
          </a:p>
        </p:txBody>
      </p:sp>
      <p:sp>
        <p:nvSpPr>
          <p:cNvPr id="14" name="Shape 11"/>
          <p:cNvSpPr/>
          <p:nvPr/>
        </p:nvSpPr>
        <p:spPr>
          <a:xfrm>
            <a:off x="7726680" y="3959352"/>
            <a:ext cx="3916375" cy="225856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71816" y="390448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71816" y="39044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542471" y="390448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697919" y="390448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71816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71816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27848" y="4096512"/>
            <a:ext cx="35140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AÑO 5</a:t>
            </a:r>
            <a:endParaRPr lang="es-CL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927848" y="44165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1250" dirty="0"/>
          </a:p>
        </p:txBody>
      </p:sp>
      <p:sp>
        <p:nvSpPr>
          <p:cNvPr id="25" name="Shape 22"/>
          <p:cNvSpPr/>
          <p:nvPr/>
        </p:nvSpPr>
        <p:spPr>
          <a:xfrm>
            <a:off x="9235440" y="4507992"/>
            <a:ext cx="1127455" cy="21945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436047" y="4416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1.646,9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927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1250" dirty="0"/>
          </a:p>
        </p:txBody>
      </p:sp>
      <p:sp>
        <p:nvSpPr>
          <p:cNvPr id="28" name="Shape 25"/>
          <p:cNvSpPr/>
          <p:nvPr/>
        </p:nvSpPr>
        <p:spPr>
          <a:xfrm>
            <a:off x="9235440" y="4965192"/>
            <a:ext cx="59552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904119" y="48737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869,9</a:t>
            </a:r>
            <a:endParaRPr lang="es-CL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7927848" y="53309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1250" dirty="0"/>
          </a:p>
        </p:txBody>
      </p:sp>
      <p:sp>
        <p:nvSpPr>
          <p:cNvPr id="31" name="Shape 28"/>
          <p:cNvSpPr/>
          <p:nvPr/>
        </p:nvSpPr>
        <p:spPr>
          <a:xfrm>
            <a:off x="9235440" y="5422392"/>
            <a:ext cx="63599" cy="219456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372191" y="53309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92,9</a:t>
            </a:r>
            <a:endParaRPr lang="es-CL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7927848" y="5788152"/>
            <a:ext cx="35140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dólares.</a:t>
            </a:r>
            <a:endParaRPr lang="es-CL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CONCLUSIONES DEL CAPÍTULO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CONCLUSIONES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dos preguntas por resolver.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(§3.4 y Figura N° 6).</a:t>
            </a:r>
            <a:endParaRPr lang="es-CL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45738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9631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496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2496312"/>
            <a:ext cx="27684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OPORTUNIDAD EXISTE</a:t>
            </a:r>
            <a:endParaRPr lang="es-CL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807208"/>
            <a:ext cx="3179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3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392424"/>
            <a:ext cx="317997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Demanda atendible frente a instalaciones del año 1: crecer depende de técnicos y espacio.</a:t>
            </a:r>
            <a:endParaRPr lang="es-CL" sz="1250" dirty="0"/>
          </a:p>
        </p:txBody>
      </p:sp>
      <p:sp>
        <p:nvSpPr>
          <p:cNvPr id="11" name="Shape 9"/>
          <p:cNvSpPr/>
          <p:nvPr/>
        </p:nvSpPr>
        <p:spPr>
          <a:xfrm>
            <a:off x="4322978" y="2331720"/>
            <a:ext cx="3545738" cy="19202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5858" y="249631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05858" y="2496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944770" y="2496312"/>
            <a:ext cx="27684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HAY ESPACIO COMPETITIVO</a:t>
            </a:r>
            <a:endParaRPr lang="es-CL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05858" y="2807208"/>
            <a:ext cx="3179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ÚNICA</a:t>
            </a:r>
            <a:endParaRPr lang="es-CL" sz="3800" dirty="0"/>
          </a:p>
        </p:txBody>
      </p:sp>
      <p:sp>
        <p:nvSpPr>
          <p:cNvPr id="16" name="Text 14"/>
          <p:cNvSpPr txBox="1"/>
          <p:nvPr/>
        </p:nvSpPr>
        <p:spPr>
          <a:xfrm>
            <a:off x="4505858" y="3392424"/>
            <a:ext cx="317997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Alternativa que ahorra sin cambiar de auto; la biblioteca es la ventaja y la red la escala.</a:t>
            </a:r>
            <a:endParaRPr lang="es-CL" sz="1250" dirty="0"/>
          </a:p>
        </p:txBody>
      </p:sp>
      <p:sp>
        <p:nvSpPr>
          <p:cNvPr id="17" name="Shape 15"/>
          <p:cNvSpPr/>
          <p:nvPr/>
        </p:nvSpPr>
        <p:spPr>
          <a:xfrm>
            <a:off x="8097317" y="2331720"/>
            <a:ext cx="3545738" cy="19202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2453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2453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2453" y="43068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2453" y="41513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2471" y="43068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97919" y="41513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0197" y="249631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80197" y="249631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19109" y="2496312"/>
            <a:ext cx="27684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 MISMO GATILLO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2807208"/>
            <a:ext cx="3179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38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392424"/>
            <a:ext cx="317997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 capacidad: suma dúos, personas y talleres. Cada línea gana desde el año 2.</a:t>
            </a:r>
            <a:endParaRPr lang="es-CL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4453128"/>
            <a:ext cx="3716426" cy="347472"/>
          </a:xfrm>
          <a:prstGeom prst="homePlat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4453128"/>
            <a:ext cx="3240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PROBAR</a:t>
            </a:r>
            <a:endParaRPr lang="es-CL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873752"/>
            <a:ext cx="3469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299 instalaciones y 3 casos medidos.</a:t>
            </a:r>
            <a:endParaRPr lang="es-CL" sz="1250" dirty="0"/>
          </a:p>
        </p:txBody>
      </p:sp>
      <p:sp>
        <p:nvSpPr>
          <p:cNvPr id="34" name="Text 32"/>
          <p:cNvSpPr/>
          <p:nvPr/>
        </p:nvSpPr>
        <p:spPr>
          <a:xfrm>
            <a:off x="4292498" y="4453128"/>
            <a:ext cx="3716426" cy="347472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 txBox="1"/>
          <p:nvPr/>
        </p:nvSpPr>
        <p:spPr>
          <a:xfrm>
            <a:off x="4521098" y="4453128"/>
            <a:ext cx="3240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AÑOS 2 Y 3 · SUMAR LA RED</a:t>
            </a:r>
            <a:endParaRPr lang="es-CL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292498" y="4873752"/>
            <a:ext cx="3469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Regiones y segundo taller.</a:t>
            </a:r>
            <a:endParaRPr lang="es-CL" sz="1250" dirty="0"/>
          </a:p>
        </p:txBody>
      </p:sp>
      <p:sp>
        <p:nvSpPr>
          <p:cNvPr id="37" name="Text 35"/>
          <p:cNvSpPr/>
          <p:nvPr/>
        </p:nvSpPr>
        <p:spPr>
          <a:xfrm>
            <a:off x="8036357" y="4453128"/>
            <a:ext cx="3716426" cy="347472"/>
          </a:xfrm>
          <a:prstGeom prst="chevron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 txBox="1"/>
          <p:nvPr/>
        </p:nvSpPr>
        <p:spPr>
          <a:xfrm>
            <a:off x="8264957" y="4453128"/>
            <a:ext cx="3240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95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AÑOS 4 Y 5 · ESCALAR</a:t>
            </a:r>
            <a:endParaRPr lang="es-CL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036357" y="4873752"/>
            <a:ext cx="34695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Tres talleres, red de 42, 56 personas.</a:t>
            </a:r>
            <a:endParaRPr lang="es-CL" sz="1250" dirty="0"/>
          </a:p>
        </p:txBody>
      </p:sp>
      <p:sp>
        <p:nvSpPr>
          <p:cNvPr id="40" name="Shape 38"/>
          <p:cNvSpPr/>
          <p:nvPr/>
        </p:nvSpPr>
        <p:spPr>
          <a:xfrm>
            <a:off x="548640" y="5376672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546811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RESOLVER</a:t>
            </a:r>
            <a:endParaRPr lang="es-CL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reglamento admitirá el kit aditivo, y desde cuándo?</a:t>
            </a:r>
            <a:endParaRPr lang="es-CL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4998568" y="5715000"/>
            <a:ext cx="4175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7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ahorro medido y la encuesta confirman los precios?</a:t>
            </a:r>
            <a:endParaRPr lang="es-CL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265615" y="5760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1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MATERIAL DE APOYO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ANEXO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preguntas.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fuentes de cada tema están al pie de su diapositiva.</a:t>
            </a:r>
            <a:endParaRPr lang="es-CL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Estas diapositivas no se presentan. Si una pregunta toca uno de estos temas, se hace clic en él y se salta directo.</a:t>
            </a:r>
            <a:endParaRPr lang="es-CL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02666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0266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endParaRPr lang="es-CL" sz="95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188720" y="283464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155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4267048" y="2834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17 →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66674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667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endParaRPr lang="es-CL" sz="95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188720" y="347472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155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4267048" y="34747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18 →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30682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306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endParaRPr lang="es-CL" sz="95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188720" y="411480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155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4267048" y="4114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19 →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75488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94690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9469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endParaRPr lang="es-CL" sz="95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188720" y="475488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155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4267048" y="47548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20 →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9496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58698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5869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endParaRPr lang="es-CL" sz="95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188720" y="539496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155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4267048" y="5394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21 →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60350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4448" y="28346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24448" y="302666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324448" y="30266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endParaRPr lang="es-CL" sz="950" dirty="0"/>
          </a:p>
        </p:txBody>
      </p:sp>
      <p:sp>
        <p:nvSpPr>
          <p:cNvPr id="35" name="Text 33">
            <a:hlinkClick r:id="rId11" tooltip="Ir a Perfiles de cargo" action="ppaction://hlinksldjump"/>
          </p:cNvPr>
          <p:cNvSpPr txBox="1"/>
          <p:nvPr/>
        </p:nvSpPr>
        <p:spPr>
          <a:xfrm>
            <a:off x="6964528" y="283464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1550" dirty="0"/>
          </a:p>
        </p:txBody>
      </p:sp>
      <p:sp>
        <p:nvSpPr>
          <p:cNvPr id="36" name="Text 34">
            <a:hlinkClick r:id="rId12" tooltip="Ir a Perfiles de cargo" action="ppaction://hlinksldjump"/>
          </p:cNvPr>
          <p:cNvSpPr txBox="1"/>
          <p:nvPr/>
        </p:nvSpPr>
        <p:spPr>
          <a:xfrm>
            <a:off x="10042855" y="2834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22 →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324448" y="347472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24448" y="366674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24448" y="36667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endParaRPr lang="es-CL" sz="95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64528" y="347472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155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042855" y="34747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23 →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24448" y="411480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24448" y="430682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24448" y="4306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endParaRPr lang="es-CL" sz="95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64528" y="411480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155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042855" y="41148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24 →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324448" y="475488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4448" y="494690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24448" y="494690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endParaRPr lang="es-CL" sz="95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64528" y="475488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155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042855" y="47548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25 →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24448" y="539496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24448" y="5586984"/>
            <a:ext cx="457200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324448" y="55869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endParaRPr lang="es-CL" sz="95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64528" y="5394960"/>
            <a:ext cx="3078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155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042855" y="53949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DIAPOSITIVA 26 →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324448" y="6035040"/>
            <a:ext cx="531860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INVESTIGACIÓN DE MERCADO · HIPÓTESIS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su prueba.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3). Significancia de 5%.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37744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HIPÓTESIS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716975" y="23774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PRUEBA</a:t>
            </a:r>
            <a:endParaRPr lang="es-CL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88920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88920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51760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de compra es mayor en el uso laboral que en el particular.</a:t>
            </a:r>
            <a:endParaRPr lang="es-CL" sz="1300" dirty="0"/>
          </a:p>
        </p:txBody>
      </p:sp>
      <p:sp>
        <p:nvSpPr>
          <p:cNvPr id="12" name="Shape 10"/>
          <p:cNvSpPr/>
          <p:nvPr/>
        </p:nvSpPr>
        <p:spPr>
          <a:xfrm>
            <a:off x="8899855" y="2761488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8973007" y="27614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DOS PROPORCIONES</a:t>
            </a:r>
            <a:endParaRPr lang="es-CL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31272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64408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4408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127248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no varía según edad ni género (se sostiene si no se rechaza H₀).</a:t>
            </a:r>
            <a:endParaRPr lang="es-CL" sz="1300" dirty="0"/>
          </a:p>
        </p:txBody>
      </p:sp>
      <p:sp>
        <p:nvSpPr>
          <p:cNvPr id="18" name="Shape 16"/>
          <p:cNvSpPr/>
          <p:nvPr/>
        </p:nvSpPr>
        <p:spPr>
          <a:xfrm>
            <a:off x="8899855" y="3236976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8973007" y="3236976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CHI-CUADRADO</a:t>
            </a:r>
            <a:endParaRPr lang="es-CL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6027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739896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39896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H3</a:t>
            </a:r>
            <a:endParaRPr lang="es-CL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02736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predomina, pero la mayoría de los interesados valora además otro motivo.</a:t>
            </a:r>
            <a:endParaRPr lang="es-CL" sz="1300" dirty="0"/>
          </a:p>
        </p:txBody>
      </p:sp>
      <p:sp>
        <p:nvSpPr>
          <p:cNvPr id="24" name="Shape 22"/>
          <p:cNvSpPr/>
          <p:nvPr/>
        </p:nvSpPr>
        <p:spPr>
          <a:xfrm>
            <a:off x="8899855" y="3712464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973007" y="371246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0782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215384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215384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88720" y="4078224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 (daño, revisión técnica o seguro), no el precio.</a:t>
            </a:r>
            <a:endParaRPr lang="es-CL" sz="1300" dirty="0"/>
          </a:p>
        </p:txBody>
      </p:sp>
      <p:sp>
        <p:nvSpPr>
          <p:cNvPr id="30" name="Shape 28"/>
          <p:cNvSpPr/>
          <p:nvPr/>
        </p:nvSpPr>
        <p:spPr>
          <a:xfrm>
            <a:off x="8899855" y="4187952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8973007" y="4187952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4553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690872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690872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H5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188720" y="4553712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respaldos externos verificables generan más confianza que los atributos del taller.</a:t>
            </a:r>
            <a:endParaRPr lang="es-CL" sz="1300" dirty="0"/>
          </a:p>
        </p:txBody>
      </p:sp>
      <p:sp>
        <p:nvSpPr>
          <p:cNvPr id="36" name="Shape 34"/>
          <p:cNvSpPr/>
          <p:nvPr/>
        </p:nvSpPr>
        <p:spPr>
          <a:xfrm>
            <a:off x="8899855" y="4663440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8973007" y="466344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 PARA MUESTRAS RELACIONADAS</a:t>
            </a:r>
            <a:endParaRPr lang="es-CL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166360"/>
            <a:ext cx="43891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5166360"/>
            <a:ext cx="438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5029200"/>
            <a:ext cx="72539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convertir a gas, cambiar de auto o no hacer nada.</a:t>
            </a:r>
            <a:endParaRPr lang="es-CL" sz="1300" dirty="0"/>
          </a:p>
        </p:txBody>
      </p:sp>
      <p:sp>
        <p:nvSpPr>
          <p:cNvPr id="42" name="Shape 40"/>
          <p:cNvSpPr/>
          <p:nvPr/>
        </p:nvSpPr>
        <p:spPr>
          <a:xfrm>
            <a:off x="8899855" y="5138928"/>
            <a:ext cx="274320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8973007" y="513892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s-CL" altLang="en-US" sz="850" spc="12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DE UNA PROPORCIÓN</a:t>
            </a:r>
            <a:endParaRPr lang="es-CL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55046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Significancia de 5%. Con una muestra por cuotas, no probabilística, los resultados son indicativos. La proporción de uso laboral que responda «definitivamente lo instalaría» se contrasta con los umbrales de 67%, 59% y 40% de la proyección.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POSICIONAMIENTO · DUDAS DEL CLIENTE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DUDAS,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respaldos.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19.496; borrador de reglamento MTT (2021); elaboración propia (Informe Fase 3, Tabla N° 4).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¿Funciona?</a:t>
            </a:r>
            <a:endParaRPr lang="es-CL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 con Plus y hasta 15% con Esencial, estimado antes de pagar.</a:t>
            </a:r>
            <a:endParaRPr lang="es-CL" sz="1150" dirty="0"/>
          </a:p>
        </p:txBody>
      </p:sp>
      <p:sp>
        <p:nvSpPr>
          <p:cNvPr id="9" name="Shape 7"/>
          <p:cNvSpPr/>
          <p:nvPr/>
        </p:nvSpPr>
        <p:spPr>
          <a:xfrm>
            <a:off x="731520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 con intervalo, medición opcional de una semana y telemetría.</a:t>
            </a:r>
            <a:endParaRPr lang="es-CL" sz="1000" dirty="0"/>
          </a:p>
        </p:txBody>
      </p:sp>
      <p:sp>
        <p:nvSpPr>
          <p:cNvPr id="12" name="Shape 10"/>
          <p:cNvSpPr/>
          <p:nvPr/>
        </p:nvSpPr>
        <p:spPr>
          <a:xfrm>
            <a:off x="3372536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55416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¿Le hace daño a mi auto?</a:t>
            </a:r>
            <a:endParaRPr lang="es-CL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555416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reemplaza el motor ni toca la transmisión ni la alimentación.</a:t>
            </a:r>
            <a:endParaRPr lang="es-CL" sz="1150" dirty="0"/>
          </a:p>
        </p:txBody>
      </p:sp>
      <p:sp>
        <p:nvSpPr>
          <p:cNvPr id="15" name="Shape 13"/>
          <p:cNvSpPr/>
          <p:nvPr/>
        </p:nvSpPr>
        <p:spPr>
          <a:xfrm>
            <a:off x="3555416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55416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3555416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conservan el circuito hidráulico y el ABS; garantía del taller (art. 18).</a:t>
            </a:r>
            <a:endParaRPr lang="es-CL" sz="1000" dirty="0"/>
          </a:p>
        </p:txBody>
      </p:sp>
      <p:sp>
        <p:nvSpPr>
          <p:cNvPr id="18" name="Shape 16"/>
          <p:cNvSpPr/>
          <p:nvPr/>
        </p:nvSpPr>
        <p:spPr>
          <a:xfrm>
            <a:off x="6196432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79312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¿Pasa la revisión técnica?</a:t>
            </a:r>
            <a:endParaRPr lang="es-CL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379312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auto sale del taller con certificado.</a:t>
            </a:r>
            <a:endParaRPr lang="es-CL" sz="1150" dirty="0"/>
          </a:p>
        </p:txBody>
      </p:sp>
      <p:sp>
        <p:nvSpPr>
          <p:cNvPr id="21" name="Shape 19"/>
          <p:cNvSpPr/>
          <p:nvPr/>
        </p:nvSpPr>
        <p:spPr>
          <a:xfrm>
            <a:off x="6379312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79312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6379312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Firmado por el RT y verificado en planta (arts. 14 y 16), sujeto al reglamento.</a:t>
            </a:r>
            <a:endParaRPr lang="es-CL" sz="1000" dirty="0"/>
          </a:p>
        </p:txBody>
      </p:sp>
      <p:sp>
        <p:nvSpPr>
          <p:cNvPr id="24" name="Shape 22"/>
          <p:cNvSpPr/>
          <p:nvPr/>
        </p:nvSpPr>
        <p:spPr>
          <a:xfrm>
            <a:off x="9020327" y="2331720"/>
            <a:ext cx="2622728" cy="26060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3207" y="2478024"/>
            <a:ext cx="2256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9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¿Hay que enchufarlo?</a:t>
            </a:r>
            <a:endParaRPr lang="es-CL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203207" y="3227832"/>
            <a:ext cx="22569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No.</a:t>
            </a:r>
            <a:endParaRPr lang="es-CL" sz="1150" dirty="0"/>
          </a:p>
        </p:txBody>
      </p:sp>
      <p:sp>
        <p:nvSpPr>
          <p:cNvPr id="27" name="Shape 25"/>
          <p:cNvSpPr/>
          <p:nvPr/>
        </p:nvSpPr>
        <p:spPr>
          <a:xfrm>
            <a:off x="9203207" y="4069080"/>
            <a:ext cx="22569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03207" y="4142232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RESPALDO</a:t>
            </a:r>
            <a:endParaRPr lang="es-CL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3434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batería se carga con el frenado.</a:t>
            </a:r>
            <a:endParaRPr lang="es-CL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12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LÍMITES DE LA PROMESA · LO QUE LA MARCA NO DICE</a:t>
            </a:r>
            <a:endParaRPr lang="es-CL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5504688"/>
            <a:ext cx="16459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621792" y="5504688"/>
            <a:ext cx="1499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«CERO EMISIONES»</a:t>
            </a:r>
            <a:endParaRPr lang="es-CL" sz="850" dirty="0"/>
          </a:p>
        </p:txBody>
      </p:sp>
      <p:sp>
        <p:nvSpPr>
          <p:cNvPr id="33" name="Shape 31"/>
          <p:cNvSpPr/>
          <p:nvPr/>
        </p:nvSpPr>
        <p:spPr>
          <a:xfrm>
            <a:off x="2322576" y="5504688"/>
            <a:ext cx="11887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2395728" y="550468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«ECOLÓGICO»</a:t>
            </a:r>
            <a:endParaRPr lang="es-CL" sz="850" dirty="0"/>
          </a:p>
        </p:txBody>
      </p:sp>
      <p:sp>
        <p:nvSpPr>
          <p:cNvPr id="35" name="Shape 33"/>
          <p:cNvSpPr/>
          <p:nvPr/>
        </p:nvSpPr>
        <p:spPr>
          <a:xfrm>
            <a:off x="3639312" y="5504688"/>
            <a:ext cx="169164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3712464" y="5504688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«20% GARANTIZADO»</a:t>
            </a:r>
            <a:endParaRPr lang="es-CL" sz="850" dirty="0"/>
          </a:p>
        </p:txBody>
      </p:sp>
      <p:sp>
        <p:nvSpPr>
          <p:cNvPr id="37" name="Shape 35"/>
          <p:cNvSpPr/>
          <p:nvPr/>
        </p:nvSpPr>
        <p:spPr>
          <a:xfrm>
            <a:off x="5458968" y="5504688"/>
            <a:ext cx="25603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5532120" y="5504688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«HOMOLOGADO» SIN REGLAMENTO</a:t>
            </a:r>
            <a:endParaRPr lang="es-CL" sz="850" dirty="0"/>
          </a:p>
        </p:txBody>
      </p:sp>
      <p:sp>
        <p:nvSpPr>
          <p:cNvPr id="39" name="Shape 37"/>
          <p:cNvSpPr/>
          <p:nvPr/>
        </p:nvSpPr>
        <p:spPr>
          <a:xfrm>
            <a:off x="8147304" y="5504688"/>
            <a:ext cx="3017520" cy="256032"/>
          </a:xfrm>
          <a:prstGeom prst="rect">
            <a:avLst/>
          </a:prstGeom>
          <a:solidFill>
            <a:schemeClr val="bg1">
              <a:alpha val="0"/>
            </a:schemeClr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8220456" y="5504688"/>
            <a:ext cx="2871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s-CL" altLang="en-US" sz="850" spc="12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EXENCIÓN DE RESTRICCIÓN VEHICULAR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870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Protegen la credibilidad y evitan la publicidad engañosa que sanciona la Ley N° 19.496.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DE MARKETING · RESUMEN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DOS LÍNEAS,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una misma mezcla.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8).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2331720"/>
            <a:ext cx="412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INSTALACIÓN AL CLIENTE FINAL</a:t>
            </a:r>
            <a:endParaRPr lang="es-CL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513168" y="2331720"/>
            <a:ext cx="412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CERTIFICADA</a:t>
            </a:r>
            <a:endParaRPr lang="es-CL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73405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340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15768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</a:t>
            </a:r>
            <a:endParaRPr lang="es-CL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715768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Esencial o Plus certificado en una jornada; servicios incluidos; traslado y desinstalación con cargo.</a:t>
            </a:r>
            <a:endParaRPr lang="es-CL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513168" y="2715768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Licencia de patrones, kits, certificación anual y formación en Habilita.</a:t>
            </a:r>
            <a:endParaRPr lang="es-CL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33756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44728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472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429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</a:t>
            </a:r>
            <a:endParaRPr lang="es-CL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429000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$4.290.000 y $4.990.000 con IVA, de referencia; cuotas con convenio.</a:t>
            </a:r>
            <a:endParaRPr lang="es-CL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13168" y="3429000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Paquete de entrada y cobros recurrentes por kit, certificación y técnico.</a:t>
            </a:r>
            <a:endParaRPr lang="es-CL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507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16052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16052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14223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PLAZA</a:t>
            </a:r>
            <a:endParaRPr lang="es-CL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108960" y="4142232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Canal digital y talleres propios en la Región Metropolitana.</a:t>
            </a:r>
            <a:endParaRPr lang="es-CL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513168" y="4142232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con exclusividad comunal en las regiones.</a:t>
            </a:r>
            <a:endParaRPr lang="es-CL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7640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873752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487375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485546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PROMOCIÓN</a:t>
            </a:r>
            <a:endParaRPr lang="es-CL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108960" y="4855464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Estimador, demostraciones, clientes piloto, casos medidos, referidos y mecánicos.</a:t>
            </a:r>
            <a:endParaRPr lang="es-CL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513168" y="4855464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Visitas, ferias del rubro y casos de la red.</a:t>
            </a:r>
            <a:endParaRPr lang="es-CL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4772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558698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558698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556869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PERSONAS, PROCESOS Y EVIDENCIA</a:t>
            </a:r>
            <a:endParaRPr lang="es-CL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5568696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con N3 o N4; flujo de cinco etapas; certificado, sello e informe de ahorro.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513168" y="5568696"/>
            <a:ext cx="412988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validados por Lumine; proceso auditado cada año; sello de taller certificado.</a:t>
            </a:r>
            <a:endParaRPr lang="es-CL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6190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· PRECIO PARA LA RED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INGRESO RECURRENTE: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96% del margen al año 5.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7). Montos netos; sin tarifas públicas de redes de talleres en Chile.</a:t>
            </a:r>
            <a:endParaRPr lang="es-CL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PAQUETE DE ENTRADA</a:t>
            </a:r>
            <a:endParaRPr lang="es-CL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$7.140.000</a:t>
            </a:r>
            <a:endParaRPr lang="es-CL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 VEZ</a:t>
            </a:r>
            <a:endParaRPr lang="es-CL" sz="750" dirty="0"/>
          </a:p>
        </p:txBody>
      </p:sp>
      <p:sp>
        <p:nvSpPr>
          <p:cNvPr id="10" name="Shape 8"/>
          <p:cNvSpPr/>
          <p:nvPr/>
        </p:nvSpPr>
        <p:spPr>
          <a:xfrm>
            <a:off x="731520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Exclusividad comunal, formación de dos técnicos y certificación del primer año: 15% menos que sus partes.</a:t>
            </a:r>
            <a:endParaRPr lang="es-CL" sz="1050" dirty="0"/>
          </a:p>
        </p:txBody>
      </p:sp>
      <p:sp>
        <p:nvSpPr>
          <p:cNvPr id="12" name="Shape 10"/>
          <p:cNvSpPr/>
          <p:nvPr/>
        </p:nvSpPr>
        <p:spPr>
          <a:xfrm>
            <a:off x="3372536" y="2331720"/>
            <a:ext cx="2622728" cy="242316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7672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7672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94680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0128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7672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7672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9468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012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55416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KIT CON LICENCIA</a:t>
            </a:r>
            <a:endParaRPr lang="es-CL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555416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$3.808.783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555416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INSTALACIÓN</a:t>
            </a:r>
            <a:endParaRPr lang="es-CL" sz="750" dirty="0"/>
          </a:p>
        </p:txBody>
      </p:sp>
      <p:sp>
        <p:nvSpPr>
          <p:cNvPr id="24" name="Shape 22"/>
          <p:cNvSpPr/>
          <p:nvPr/>
        </p:nvSpPr>
        <p:spPr>
          <a:xfrm>
            <a:off x="3555416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55416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Plus; Esencial a $3.328.153. Kit al costo más 6% de manejo y licencia de $200.000 o $300.000.</a:t>
            </a:r>
            <a:endParaRPr lang="es-CL" sz="1050" dirty="0"/>
          </a:p>
        </p:txBody>
      </p:sp>
      <p:sp>
        <p:nvSpPr>
          <p:cNvPr id="26" name="Shape 24"/>
          <p:cNvSpPr/>
          <p:nvPr/>
        </p:nvSpPr>
        <p:spPr>
          <a:xfrm>
            <a:off x="6196432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9312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379312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$2.400.000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379312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ANUAL, DESDE EL AÑO 2</a:t>
            </a:r>
            <a:endParaRPr lang="es-CL" sz="750" dirty="0"/>
          </a:p>
        </p:txBody>
      </p:sp>
      <p:sp>
        <p:nvSpPr>
          <p:cNvPr id="30" name="Shape 28"/>
          <p:cNvSpPr/>
          <p:nvPr/>
        </p:nvSpPr>
        <p:spPr>
          <a:xfrm>
            <a:off x="6379312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9312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Renovación de la certificación del proceso, auditado cada año.</a:t>
            </a:r>
            <a:endParaRPr lang="es-CL" sz="1050" dirty="0"/>
          </a:p>
        </p:txBody>
      </p:sp>
      <p:sp>
        <p:nvSpPr>
          <p:cNvPr id="32" name="Shape 30"/>
          <p:cNvSpPr/>
          <p:nvPr/>
        </p:nvSpPr>
        <p:spPr>
          <a:xfrm>
            <a:off x="9020327" y="2331720"/>
            <a:ext cx="2622728" cy="24231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203207" y="2487168"/>
            <a:ext cx="225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</a:t>
            </a:r>
            <a:endParaRPr lang="es-CL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9203207" y="2743200"/>
            <a:ext cx="2256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$35.000</a:t>
            </a:r>
            <a:endParaRPr lang="es-CL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9203207" y="3310128"/>
            <a:ext cx="2256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MENSUAL, POR TÉCNICO</a:t>
            </a:r>
            <a:endParaRPr lang="es-CL" sz="750" dirty="0"/>
          </a:p>
        </p:txBody>
      </p:sp>
      <p:sp>
        <p:nvSpPr>
          <p:cNvPr id="36" name="Shape 34"/>
          <p:cNvSpPr/>
          <p:nvPr/>
        </p:nvSpPr>
        <p:spPr>
          <a:xfrm>
            <a:off x="9203207" y="3584448"/>
            <a:ext cx="225696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03207" y="3675888"/>
            <a:ext cx="22569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Suscripción a la plataforma de formación y validación.</a:t>
            </a:r>
            <a:endParaRPr lang="es-CL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541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523036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04088" y="5148072"/>
            <a:ext cx="522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KIT, AL PRECIO DE REFERENCIA</a:t>
            </a:r>
            <a:endParaRPr lang="es-CL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422392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taller le quedan $276.889 (Esencial) y $384.494 (Plus) para su jornada y su margen; a Lumine, $377.065 y $498.610.</a:t>
            </a:r>
            <a:endParaRPr lang="es-CL" sz="1150" dirty="0"/>
          </a:p>
        </p:txBody>
      </p:sp>
      <p:sp>
        <p:nvSpPr>
          <p:cNvPr id="42" name="Shape 40"/>
          <p:cNvSpPr/>
          <p:nvPr/>
        </p:nvSpPr>
        <p:spPr>
          <a:xfrm>
            <a:off x="6233008" y="5074920"/>
            <a:ext cx="541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33008" y="5230368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88456" y="5148072"/>
            <a:ext cx="522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AL QUINTO AÑO</a:t>
            </a:r>
            <a:endParaRPr lang="es-CL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233008" y="5422392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 talleres y 7.773 kits, 2,7 veces las instalaciones propias, sin activos fijos.</a:t>
            </a:r>
            <a:endParaRPr lang="es-CL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DEMANDA · MERCADO Y ADOPCIÓN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162.780 VEHÍCULOS DE TECHO;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11,1% adoptado al año 5.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Fielbaum y Tirachini (2021); Massiani y Gohs (2015).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REGIÓN METROPOLITANA</a:t>
            </a:r>
            <a:endParaRPr lang="es-CL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Conductores de aplicación</a:t>
            </a:r>
            <a:endParaRPr lang="es-CL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077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propia</a:t>
            </a:r>
            <a:endParaRPr lang="es-CL" sz="7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393192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81635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126.960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básicos y de turismo</a:t>
            </a:r>
            <a:endParaRPr lang="es-CL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566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INE (2025)</a:t>
            </a:r>
            <a:endParaRPr lang="es-CL" sz="750" dirty="0"/>
          </a:p>
        </p:txBody>
      </p:sp>
      <p:sp>
        <p:nvSpPr>
          <p:cNvPr id="13" name="Shape 11"/>
          <p:cNvSpPr/>
          <p:nvPr/>
        </p:nvSpPr>
        <p:spPr>
          <a:xfrm>
            <a:off x="548640" y="3767328"/>
            <a:ext cx="707287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80560" y="34747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22.838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684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Taxis colectivos</a:t>
            </a:r>
            <a:endParaRPr lang="es-CL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245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INE (2025)</a:t>
            </a:r>
            <a:endParaRPr lang="es-CL" sz="750" dirty="0"/>
          </a:p>
        </p:txBody>
      </p:sp>
      <p:sp>
        <p:nvSpPr>
          <p:cNvPr id="17" name="Shape 15"/>
          <p:cNvSpPr/>
          <p:nvPr/>
        </p:nvSpPr>
        <p:spPr>
          <a:xfrm>
            <a:off x="548640" y="4425696"/>
            <a:ext cx="402049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80560" y="413308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12.982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512064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3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  </a:t>
            </a:r>
            <a:pPr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Aplicaciones: 136.000 conductores de Uber y 115.000 de inDrive; DiDi y Cabify al 60% del promedio (supuesto). 401.600 cuentas ÷ 1,217 = 329.992 conductores; 38,47% en la RM.</a:t>
            </a:r>
            <a:endParaRPr lang="es-CL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2331720"/>
            <a:ext cx="55165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ACUMULADA · BASS · p = 0,0026 · q = 0,709</a:t>
            </a:r>
            <a:endParaRPr lang="es-CL" sz="900" dirty="0"/>
          </a:p>
        </p:txBody>
      </p:sp>
      <p:graphicFrame>
        <p:nvGraphicFramePr>
          <p:cNvPr id="23" name="Adopción acumulada del segmento laboral" descr=""/>
          <p:cNvGraphicFramePr/>
          <p:nvPr/>
        </p:nvGraphicFramePr>
        <p:xfrm>
          <a:off x="6035040" y="2606040"/>
          <a:ext cx="560801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6126480" y="5440680"/>
            <a:ext cx="5516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Bajo el 16% de innovadores y adoptadores tempranos. </a:t>
            </a:r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 solo el 67%, 59% o 40% del segmento fuera adoptante, la demanda aún cubriría la capacidad de los años 3, 4 y 5.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PERFILES DE CARGO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CADA CARGO RESPONDE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un resultado crítico.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13).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CARGO</a:t>
            </a:r>
            <a:endParaRPr lang="es-CL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3317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DEPENDE DE</a:t>
            </a:r>
            <a:endParaRPr lang="es-CL" sz="8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3317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RESPONSABILIDAD CRÍTICA</a:t>
            </a:r>
            <a:endParaRPr lang="es-CL" sz="80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52344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58775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Gerente General</a:t>
            </a:r>
            <a:endParaRPr lang="es-CL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58775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Accionistas</a:t>
            </a:r>
            <a:endParaRPr lang="es-CL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2587752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Autorizar cada paso de crecimiento solo si la caja cubre nómina, kits e importaciones.</a:t>
            </a:r>
            <a:endParaRPr lang="es-CL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900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15468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99008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99008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2990088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Armar los dúos, validar ascensos y firmar cada vehículo certificado.</a:t>
            </a:r>
            <a:endParaRPr lang="es-CL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924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557016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39242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39242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3392424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Certificado de aptitud del Centro de Control y Certificación Vehicular (3CV) por modelo y ahorro real dentro del intervalo.</a:t>
            </a:r>
            <a:endParaRPr lang="es-CL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79476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959352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79476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291840" y="379476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349240" y="3794760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Convertir cotizaciones en instalaciones sin prometer más ahorro que el estimador.</a:t>
            </a:r>
            <a:endParaRPr lang="es-CL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361688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3232" y="419709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291840" y="4197096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349240" y="4197096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instalación espere un kit y que remuneraciones y cotizaciones estén al día.</a:t>
            </a:r>
            <a:endParaRPr lang="es-CL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59943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764024"/>
            <a:ext cx="68580" cy="685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13232" y="459943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Instalador (N1 a N4)</a:t>
            </a:r>
            <a:endParaRPr lang="es-CL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291840" y="4599432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49240" y="4599432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instalación según el procedimiento, con las cinco reglas de oro en alta tensión.</a:t>
            </a:r>
            <a:endParaRPr lang="es-CL" sz="1050" dirty="0"/>
          </a:p>
        </p:txBody>
      </p:sp>
      <p:sp>
        <p:nvSpPr>
          <p:cNvPr id="39" name="Shape 37"/>
          <p:cNvSpPr/>
          <p:nvPr/>
        </p:nvSpPr>
        <p:spPr>
          <a:xfrm>
            <a:off x="548640" y="50017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5166360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13232" y="500176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291840" y="5001768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</a:t>
            </a:r>
            <a:endParaRPr lang="es-CL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001768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Incorporar solo talleres que cumplan el reglamento y la cláusula comunal.</a:t>
            </a:r>
            <a:endParaRPr lang="es-CL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40410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568696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13232" y="5404104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291840" y="5404104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349240" y="5404104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mantención ni garantía se pierda por falta de aviso o registro.</a:t>
            </a:r>
            <a:endParaRPr lang="es-CL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580644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5971032"/>
            <a:ext cx="68580" cy="685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3232" y="5806440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291840" y="580644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349240" y="5806440"/>
            <a:ext cx="62938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Despachar cada kit y batería con trazabilidad y documentación de carga peligrosa.</a:t>
            </a:r>
            <a:endParaRPr lang="es-CL" sz="1050" dirty="0"/>
          </a:p>
        </p:txBody>
      </p:sp>
      <p:sp>
        <p:nvSpPr>
          <p:cNvPr id="54" name="Shape 52"/>
          <p:cNvSpPr/>
          <p:nvPr/>
        </p:nvSpPr>
        <p:spPr>
          <a:xfrm>
            <a:off x="548640" y="620877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COMPENSACIONES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SUPERIOR GANA MÁS;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 áreas decide la escasez.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ChileTrabajos (2026); Indeed Chile (2026); MiFuturo (2026); Ley N° 21.830; elaboración propia (Tablas N° 14 y 15).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 MENSUAL · MILES DE PESOS · OCTUBRE 2026</a:t>
            </a:r>
            <a:endParaRPr lang="es-CL" sz="9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587752"/>
          <a:ext cx="74066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2179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75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* MÁS COMISIÓN · CELESTE: TÉCNICOS · INCLUYEN GRATIFICACIÓN LEGAL</a:t>
            </a:r>
            <a:endParaRPr lang="es-CL" sz="750" dirty="0"/>
          </a:p>
        </p:txBody>
      </p:sp>
      <p:sp>
        <p:nvSpPr>
          <p:cNvPr id="9" name="Shape 6"/>
          <p:cNvSpPr/>
          <p:nvPr/>
        </p:nvSpPr>
        <p:spPr>
          <a:xfrm>
            <a:off x="8275320" y="2331720"/>
            <a:ext cx="3367735" cy="283464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045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045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0456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220456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522122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506577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76488" y="2487168"/>
            <a:ext cx="2965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ÚNICO POR NIVEL VALIDADO</a:t>
            </a:r>
            <a:endParaRPr lang="es-CL" sz="850" dirty="0"/>
          </a:p>
        </p:txBody>
      </p:sp>
      <p:sp>
        <p:nvSpPr>
          <p:cNvPr id="19" name="Shape 16"/>
          <p:cNvSpPr/>
          <p:nvPr/>
        </p:nvSpPr>
        <p:spPr>
          <a:xfrm>
            <a:off x="8476488" y="2788920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476488" y="2898648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76488" y="289864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788920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$200.000</a:t>
            </a:r>
            <a:endParaRPr lang="es-CL" sz="2000" dirty="0"/>
          </a:p>
        </p:txBody>
      </p:sp>
      <p:sp>
        <p:nvSpPr>
          <p:cNvPr id="23" name="Shape 20"/>
          <p:cNvSpPr/>
          <p:nvPr/>
        </p:nvSpPr>
        <p:spPr>
          <a:xfrm>
            <a:off x="8476488" y="3264408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76488" y="337413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476488" y="337413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9006840" y="3264408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$300.000</a:t>
            </a:r>
            <a:endParaRPr lang="es-CL" sz="2000" dirty="0"/>
          </a:p>
        </p:txBody>
      </p:sp>
      <p:sp>
        <p:nvSpPr>
          <p:cNvPr id="27" name="Shape 24"/>
          <p:cNvSpPr/>
          <p:nvPr/>
        </p:nvSpPr>
        <p:spPr>
          <a:xfrm>
            <a:off x="8476488" y="3739896"/>
            <a:ext cx="296539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76488" y="3849624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476488" y="3849624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9006840" y="3739896"/>
            <a:ext cx="24076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$350.000</a:t>
            </a:r>
            <a:endParaRPr lang="es-CL" sz="2000" dirty="0"/>
          </a:p>
        </p:txBody>
      </p:sp>
      <p:sp>
        <p:nvSpPr>
          <p:cNvPr id="31" name="Shape 28"/>
          <p:cNvSpPr/>
          <p:nvPr/>
        </p:nvSpPr>
        <p:spPr>
          <a:xfrm>
            <a:off x="8476488" y="4215384"/>
            <a:ext cx="2965399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76488" y="421538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 por técnico</a:t>
            </a:r>
            <a:endParaRPr lang="es-CL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006840" y="4215384"/>
            <a:ext cx="2407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$850.000</a:t>
            </a:r>
            <a:endParaRPr lang="es-CL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4718304"/>
            <a:ext cx="29653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$929.730 con cargas (9,38%). Se paga solo con la validación presencial aprobada.</a:t>
            </a:r>
            <a:endParaRPr lang="es-CL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275320" y="5349240"/>
            <a:ext cx="3367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Ninguna renta deja el sueldo base bajo el ingreso mínimo de $553.553: los asistentes ganan $692.000, el piso legal con gratificación.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JORNADA DE INSTALACIÓN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VEHÍCULO POR JORNADA: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8,4 horas.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y 12; elaboración propia (Informe Fase 3, Anexo N° 8). Tiempos estimados.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DISTRIBUCIÓN DE LA JORNADA · HORAS · DÚO CON UN N3 Y UN N2 O SUPERIOR</a:t>
            </a:r>
            <a:endParaRPr lang="es-CL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2697480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s-CL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1095233" y="2697480"/>
            <a:ext cx="49172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76945" y="2697480"/>
            <a:ext cx="528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076945" y="3200400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1623539" y="2697480"/>
            <a:ext cx="4321944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605251" y="2697480"/>
            <a:ext cx="435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05251" y="3200400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1400" dirty="0"/>
          </a:p>
        </p:txBody>
      </p:sp>
      <p:sp>
        <p:nvSpPr>
          <p:cNvPr id="16" name="Shape 14"/>
          <p:cNvSpPr/>
          <p:nvPr/>
        </p:nvSpPr>
        <p:spPr>
          <a:xfrm>
            <a:off x="5982059" y="2697480"/>
            <a:ext cx="2340799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63771" y="2697480"/>
            <a:ext cx="2377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63771" y="3200400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1400" dirty="0"/>
          </a:p>
        </p:txBody>
      </p:sp>
      <p:sp>
        <p:nvSpPr>
          <p:cNvPr id="19" name="Shape 17"/>
          <p:cNvSpPr/>
          <p:nvPr/>
        </p:nvSpPr>
        <p:spPr>
          <a:xfrm>
            <a:off x="8359434" y="2697480"/>
            <a:ext cx="1020035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41146" y="2697480"/>
            <a:ext cx="10566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41146" y="3200400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1400" dirty="0"/>
          </a:p>
        </p:txBody>
      </p:sp>
      <p:sp>
        <p:nvSpPr>
          <p:cNvPr id="22" name="Shape 20"/>
          <p:cNvSpPr/>
          <p:nvPr/>
        </p:nvSpPr>
        <p:spPr>
          <a:xfrm>
            <a:off x="9416045" y="2697480"/>
            <a:ext cx="1284188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97757" y="2697480"/>
            <a:ext cx="13207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97757" y="3200400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10736809" y="2697480"/>
            <a:ext cx="887959" cy="4572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718521" y="2697480"/>
            <a:ext cx="924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000" b="1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718521" y="3200400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493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e integración (bloques 2 y 3) concentran 5,1 horas.</a:t>
            </a:r>
            <a:endParaRPr lang="es-CL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3904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s-CL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3858768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Seguridad y preparación</a:t>
            </a:r>
            <a:endParaRPr lang="es-CL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227168" y="3858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0,4 H</a:t>
            </a:r>
            <a:endParaRPr lang="es-CL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23367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3367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4187952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Recepción y diagnóstico</a:t>
            </a:r>
            <a:endParaRPr lang="es-CL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27168" y="4187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0,4 H</a:t>
            </a:r>
            <a:endParaRPr lang="es-CL" sz="900" dirty="0"/>
          </a:p>
        </p:txBody>
      </p:sp>
      <p:sp>
        <p:nvSpPr>
          <p:cNvPr id="37" name="Shape 35"/>
          <p:cNvSpPr/>
          <p:nvPr/>
        </p:nvSpPr>
        <p:spPr>
          <a:xfrm>
            <a:off x="548640" y="4562856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45628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" y="4517136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mecánico y pesaje</a:t>
            </a:r>
            <a:endParaRPr lang="es-CL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227168" y="4517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3,3 H</a:t>
            </a:r>
            <a:endParaRPr lang="es-CL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4892040"/>
            <a:ext cx="347472" cy="24688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8640" y="4892040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1005840" y="4846320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Integración y energización</a:t>
            </a:r>
            <a:endParaRPr lang="es-CL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5227168" y="48463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1,8 H</a:t>
            </a:r>
            <a:endParaRPr lang="es-CL" sz="900" dirty="0"/>
          </a:p>
        </p:txBody>
      </p:sp>
      <p:sp>
        <p:nvSpPr>
          <p:cNvPr id="45" name="Shape 43"/>
          <p:cNvSpPr/>
          <p:nvPr/>
        </p:nvSpPr>
        <p:spPr>
          <a:xfrm>
            <a:off x="6233008" y="3904488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233008" y="3904488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690208" y="3858768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10911535" y="38587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0,8 H</a:t>
            </a:r>
            <a:endParaRPr lang="es-CL" sz="900" dirty="0"/>
          </a:p>
        </p:txBody>
      </p:sp>
      <p:sp>
        <p:nvSpPr>
          <p:cNvPr id="49" name="Shape 47"/>
          <p:cNvSpPr/>
          <p:nvPr/>
        </p:nvSpPr>
        <p:spPr>
          <a:xfrm>
            <a:off x="6233008" y="4233672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233008" y="423367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690208" y="4187952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Pruebas</a:t>
            </a:r>
            <a:endParaRPr lang="es-CL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0911535" y="418795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1,0 H</a:t>
            </a:r>
            <a:endParaRPr lang="es-CL" sz="900" dirty="0"/>
          </a:p>
        </p:txBody>
      </p:sp>
      <p:sp>
        <p:nvSpPr>
          <p:cNvPr id="53" name="Shape 51"/>
          <p:cNvSpPr/>
          <p:nvPr/>
        </p:nvSpPr>
        <p:spPr>
          <a:xfrm>
            <a:off x="6233008" y="4562856"/>
            <a:ext cx="347472" cy="24688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33008" y="4562856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95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690208" y="4517136"/>
            <a:ext cx="422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15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Documentación y traspaso</a:t>
            </a:r>
            <a:endParaRPr lang="es-CL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10911535" y="45171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9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0,7 H</a:t>
            </a:r>
            <a:endParaRPr lang="es-CL" sz="900" dirty="0"/>
          </a:p>
        </p:txBody>
      </p:sp>
      <p:sp>
        <p:nvSpPr>
          <p:cNvPr id="57" name="Shape 55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48656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PUNTOS DE CONTROL · SI NO SE CUMPLE, SE DETIENE</a:t>
            </a:r>
            <a:endParaRPr lang="es-CL" sz="850" dirty="0"/>
          </a:p>
        </p:txBody>
      </p:sp>
      <p:sp>
        <p:nvSpPr>
          <p:cNvPr id="59" name="Shape 57"/>
          <p:cNvSpPr/>
          <p:nvPr/>
        </p:nvSpPr>
        <p:spPr>
          <a:xfrm>
            <a:off x="548640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04672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 para instalar?</a:t>
            </a:r>
            <a:endParaRPr lang="es-CL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804672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reprograma; el cliente repara con su mecánico.</a:t>
            </a:r>
            <a:endParaRPr lang="es-CL" sz="950" dirty="0"/>
          </a:p>
        </p:txBody>
      </p:sp>
      <p:sp>
        <p:nvSpPr>
          <p:cNvPr id="62" name="Shape 60"/>
          <p:cNvSpPr/>
          <p:nvPr/>
        </p:nvSpPr>
        <p:spPr>
          <a:xfrm>
            <a:off x="3356534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612566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≤ 20% y reparto entre ejes ≤ 10%?</a:t>
            </a:r>
            <a:endParaRPr lang="es-CL" sz="1050" dirty="0"/>
          </a:p>
        </p:txBody>
      </p:sp>
      <p:sp>
        <p:nvSpPr>
          <p:cNvPr id="64" name="Text 62"/>
          <p:cNvSpPr txBox="1"/>
          <p:nvPr/>
        </p:nvSpPr>
        <p:spPr>
          <a:xfrm>
            <a:off x="3612566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detiene; IC revisa la configuración.</a:t>
            </a:r>
            <a:endParaRPr lang="es-CL" sz="950" dirty="0"/>
          </a:p>
        </p:txBody>
      </p:sp>
      <p:sp>
        <p:nvSpPr>
          <p:cNvPr id="65" name="Shape 63"/>
          <p:cNvSpPr/>
          <p:nvPr/>
        </p:nvSpPr>
        <p:spPr>
          <a:xfrm>
            <a:off x="6164428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420460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 ≥ 100 Ω/V, sin puntos calientes?</a:t>
            </a:r>
            <a:endParaRPr lang="es-CL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420460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Desenergiza, corrige y repite la medición.</a:t>
            </a:r>
            <a:endParaRPr lang="es-CL" sz="950" dirty="0"/>
          </a:p>
        </p:txBody>
      </p:sp>
      <p:sp>
        <p:nvSpPr>
          <p:cNvPr id="68" name="Shape 66"/>
          <p:cNvSpPr/>
          <p:nvPr/>
        </p:nvSpPr>
        <p:spPr>
          <a:xfrm>
            <a:off x="8972321" y="5550408"/>
            <a:ext cx="182880" cy="182880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228353" y="5504688"/>
            <a:ext cx="23964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¿Aprueba asistencia, regeneración y seguridad?</a:t>
            </a:r>
            <a:endParaRPr lang="es-CL" sz="1050" dirty="0"/>
          </a:p>
        </p:txBody>
      </p:sp>
      <p:sp>
        <p:nvSpPr>
          <p:cNvPr id="70" name="Text 68"/>
          <p:cNvSpPr txBox="1"/>
          <p:nvPr/>
        </p:nvSpPr>
        <p:spPr>
          <a:xfrm>
            <a:off x="9228353" y="5925312"/>
            <a:ext cx="23964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Corrige la calibración o el montaje.</a:t>
            </a:r>
            <a:endParaRPr lang="es-CL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INVERSIÓN Y GASTO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INVERSIÓN SIGUE AL GATILLO;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gasto, al kit.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y 19).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531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EN EQUIPAMIENTO · MILLONES DE PESOS</a:t>
            </a:r>
            <a:endParaRPr lang="es-CL" sz="9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606040"/>
          <a:ext cx="541004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49240"/>
            <a:ext cx="531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Total: $243,8 millones. Dinamómetro de chasis $36,7 M por local, a cotizar de nuevo; elevadores y herramientas entran con cada dúo.</a:t>
            </a:r>
            <a:endParaRPr lang="es-CL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31720"/>
            <a:ext cx="531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GASTO OPERACIONAL DE LA LÍNEA PROPIA · MILLONES</a:t>
            </a:r>
            <a:endParaRPr lang="es-CL" sz="9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606040"/>
          <a:ext cx="5410048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34176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1.064,1</a:t>
            </a:r>
            <a:endParaRPr lang="es-CL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461321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2.945,4</a:t>
            </a:r>
            <a:endParaRPr lang="es-CL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488467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5.657,9</a:t>
            </a:r>
            <a:endParaRPr lang="es-CL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515612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7.623,5</a:t>
            </a:r>
            <a:endParaRPr lang="es-CL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10542758" y="5303520"/>
            <a:ext cx="10271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25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9.605,8</a:t>
            </a:r>
            <a:endParaRPr lang="es-CL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6324448" y="5623560"/>
            <a:ext cx="5318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explica más del 90% del gasto de cada año. Resto: arriendo, servicios, seguros, mantención, cursos, plataformas y garantía (3% del kit).</a:t>
            </a:r>
            <a:endParaRPr lang="es-CL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955280" y="640080"/>
            <a:ext cx="3687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u="sng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↩ ÍNDICE DEL ANEXO</a:t>
            </a:r>
            <a:endParaRPr lang="en-US" sz="85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9144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pPr indent="0" marL="0">
              <a:buNone/>
            </a:pPr>
            <a:r>
              <a:rPr lang="en-US" sz="10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0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SENSIBILIDAD</a:t>
            </a:r>
            <a:endParaRPr lang="en-US" sz="1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10944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DÓLAR PESA MÁS </a:t>
            </a:r>
            <a:pPr algn="l" indent="0" marL="0">
              <a:lnSpc>
                <a:spcPct val="88000"/>
              </a:lnSpc>
              <a:buNone/>
            </a:pPr>
            <a:r>
              <a:rPr lang="en-US" sz="35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el precio y la mezcla.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s-CL" altLang="en-US" sz="9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900" spc="1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DE LA LÍNEA PROPIA AL AÑO 5 · MILLONES DE PESOS</a:t>
            </a:r>
            <a:endParaRPr lang="es-CL" sz="9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587752"/>
          <a:ext cx="7680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2331720"/>
            <a:ext cx="3093415" cy="20116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94776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494776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27685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27685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94776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94776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2428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50808" y="2487168"/>
            <a:ext cx="26910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85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SOBRE VENTAS</a:t>
            </a:r>
            <a:endParaRPr lang="es-CL" sz="850" dirty="0"/>
          </a:p>
        </p:txBody>
      </p:sp>
      <p:sp>
        <p:nvSpPr>
          <p:cNvPr id="18" name="Shape 15"/>
          <p:cNvSpPr/>
          <p:nvPr/>
        </p:nvSpPr>
        <p:spPr>
          <a:xfrm>
            <a:off x="8750808" y="2788920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750808" y="278892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378440" y="2788920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2000" dirty="0"/>
          </a:p>
        </p:txBody>
      </p:sp>
      <p:sp>
        <p:nvSpPr>
          <p:cNvPr id="21" name="Shape 18"/>
          <p:cNvSpPr/>
          <p:nvPr/>
        </p:nvSpPr>
        <p:spPr>
          <a:xfrm>
            <a:off x="8750808" y="3264408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750808" y="326440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378440" y="3264408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2000" dirty="0"/>
          </a:p>
        </p:txBody>
      </p:sp>
      <p:sp>
        <p:nvSpPr>
          <p:cNvPr id="24" name="Shape 21"/>
          <p:cNvSpPr/>
          <p:nvPr/>
        </p:nvSpPr>
        <p:spPr>
          <a:xfrm>
            <a:off x="8750808" y="3739896"/>
            <a:ext cx="2691079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50808" y="37398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378440" y="3739896"/>
            <a:ext cx="10634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549640" y="4526280"/>
            <a:ext cx="3093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05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$10 de dólar mueve el costo del kit en $25.168 (Esencial) y $28.886 (Plus). El plan financiero deberá evaluar coberturas o precios indexados al dólar.</a:t>
            </a:r>
            <a:endParaRPr lang="es-CL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82512"/>
            <a:ext cx="73152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2026-10-17T01:55:22Z</dcterms:created>
  <dcterms:modified xsi:type="dcterms:W3CDTF">2026-10-17T01:55:22Z</dcterms:modified>
</cp:coreProperties>
</file>