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7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embeddedFontLst>
    <p:embeddedFont>
      <p:font typeface="Michroma" charset="0"/>
      <p:regular r:id="rIdFuente1"/>
    </p:embeddedFont>
    <p:embeddedFont>
      <p:font typeface="Archivo Condensed" charset="0"/>
      <p:regular r:id="rIdFuente2"/>
      <p:bold r:id="rIdFuente3"/>
    </p:embeddedFont>
    <p:embeddedFont>
      <p:font typeface="Archivo" charset="0"/>
      <p:regular r:id="rIdFuente4"/>
      <p:bold r:id="rIdFuente5"/>
    </p:embeddedFont>
    <p:embeddedFont>
      <p:font typeface="Archivo SemiCondensed Medium" charset="0"/>
      <p:regular r:id="rIdFuente6"/>
      <p:bold r:id="rIdFuente7"/>
    </p:embeddedFont>
    <p:embeddedFont>
      <p:font typeface="Archivo Expanded Light" charset="0"/>
      <p:regular r:id="rIdFuente8"/>
      <p:italic r:id="rIdFuente9"/>
    </p:embeddedFont>
    <p:embeddedFont>
      <p:font typeface="Archivo Expanded ExtraBold" charset="0"/>
      <p:regular r:id="rIdFuente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bb0f8619-2ded-1e38-6aa3-6bd18db78de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 · Benjamín Torres" id="{e1d622a5-f1ba-3352-91df-8a9ce166ca4b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3 · Lukas Verdugo" id="{e3be009e-bab6-531c-b0f6-da4ec349f16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nexo" id="{7df74504-3e72-27ac-e56a-64203600330b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Fuente1" Type="http://schemas.openxmlformats.org/officeDocument/2006/relationships/font" Target="fonts/font1.fntdata"/><Relationship Id="rIdFuente2" Type="http://schemas.openxmlformats.org/officeDocument/2006/relationships/font" Target="fonts/font2.fntdata"/><Relationship Id="rIdFuente3" Type="http://schemas.openxmlformats.org/officeDocument/2006/relationships/font" Target="fonts/font3.fntdata"/><Relationship Id="rIdFuente4" Type="http://schemas.openxmlformats.org/officeDocument/2006/relationships/font" Target="fonts/font4.fntdata"/><Relationship Id="rIdFuente5" Type="http://schemas.openxmlformats.org/officeDocument/2006/relationships/font" Target="fonts/font5.fntdata"/><Relationship Id="rIdFuente6" Type="http://schemas.openxmlformats.org/officeDocument/2006/relationships/font" Target="fonts/font6.fntdata"/><Relationship Id="rIdFuente7" Type="http://schemas.openxmlformats.org/officeDocument/2006/relationships/font" Target="fonts/font7.fntdata"/><Relationship Id="rIdFuente8" Type="http://schemas.openxmlformats.org/officeDocument/2006/relationships/font" Target="fonts/font8.fntdata"/><Relationship Id="rIdFuente9" Type="http://schemas.openxmlformats.org/officeDocument/2006/relationships/font" Target="fonts/font9.fntdata"/><Relationship Id="rIdFuente10" Type="http://schemas.openxmlformats.org/officeDocument/2006/relationships/font" Target="fonts/font10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13]&quot;&quot;;0" sourceLinked="0"/>
          <c:txPr>
            <a:bodyPr/>
            <a:lstStyle/>
            <a:p>
              <a:pPr>
                <a:defRPr b="1" i="0" strike="noStrike" sz="1800" u="none">
                  <a:solidFill>
                    <a:srgbClr val="020304"/>
                  </a:solidFill>
                  <a:latin typeface="Archivo Condense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Archivo SemiCondensed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Archivo SemiCondensed Medium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Transición sin texto: se pasa directo a los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en profundidad;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Transición sin texto: se pasa directo a la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30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15 s
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Gracias, Benjamín. El oficio escasea en Chile, así que los técnicos se forman en casa con Lumine Habilita: 39 competencias, cuatro niveles y 392 horas. Con formación intensiva, un técnico nuevo llega al nivel 4 en unos ocho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Transición sin texto: se pasa directo al flujo operacional.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El flujo sigue a un vehículo desde la cotización hasta el fin de vida de la batería, en cinco etapas. Una regla lo atraviesa: el negocio mide y recomienda, pero la decisión de instalar es siempre del cliente. Solo se detiene por razones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10 s
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jp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" Target="slide25.xml"/><Relationship Id="rId3" Type="http://schemas.openxmlformats.org/officeDocument/2006/relationships/slide" Target="slide26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8.xml"/><Relationship Id="rId9" Type="http://schemas.openxmlformats.org/officeDocument/2006/relationships/slide" Target="slide29.xml"/><Relationship Id="rId10" Type="http://schemas.openxmlformats.org/officeDocument/2006/relationships/slide" Target="slide29.xml"/><Relationship Id="rId11" Type="http://schemas.openxmlformats.org/officeDocument/2006/relationships/slide" Target="slide30.xml"/><Relationship Id="rId12" Type="http://schemas.openxmlformats.org/officeDocument/2006/relationships/slide" Target="slide30.xml"/><Relationship Id="rId13" Type="http://schemas.openxmlformats.org/officeDocument/2006/relationships/slide" Target="slide31.xml"/><Relationship Id="rId14" Type="http://schemas.openxmlformats.org/officeDocument/2006/relationships/slide" Target="slide31.xml"/><Relationship Id="rId15" Type="http://schemas.openxmlformats.org/officeDocument/2006/relationships/slide" Target="slide32.xml"/><Relationship Id="rId16" Type="http://schemas.openxmlformats.org/officeDocument/2006/relationships/slide" Target="slide32.xml"/><Relationship Id="rId17" Type="http://schemas.openxmlformats.org/officeDocument/2006/relationships/slide" Target="slide33.xml"/><Relationship Id="rId18" Type="http://schemas.openxmlformats.org/officeDocument/2006/relationships/slide" Target="slide33.xml"/><Relationship Id="rId19" Type="http://schemas.openxmlformats.org/officeDocument/2006/relationships/slide" Target="slide34.xml"/><Relationship Id="rId20" Type="http://schemas.openxmlformats.org/officeDocument/2006/relationships/slide" Target="slide34.xml"/><Relationship Id="rId21" Type="http://schemas.openxmlformats.org/officeDocument/2006/relationships/slide" Target="slide35.xml"/><Relationship Id="rId22" Type="http://schemas.openxmlformats.org/officeDocument/2006/relationships/slide" Target="slide35.xml"/><Relationship Id="rId23" Type="http://schemas.openxmlformats.org/officeDocument/2006/relationships/slideLayout" Target="../slideLayouts/slideLayout5.xml"/><Relationship Id="rId2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Fase 3 · Capítulo III: Plan de Marketing, Operaciones y Recursos Humanos</a:t>
            </a:r>
            <a:endParaRPr lang="es-CL" sz="2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46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LUMINE MOTORS</a:t>
            </a:r>
            <a:endParaRPr lang="en-US" sz="60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que hibrida autos a combustión de tracción delantera para gastar menos bencina sin cambiar de auto.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ILUSTRACIÓN DEL KIT</a:t>
            </a:r>
            <a:endParaRPr lang="es-CL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48640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UNIVERSIDAD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05856"/>
            <a:ext cx="10957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Universidad Andrés Bello · Facultad de Economía y Negocios · Ingeniería Comercial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89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CURSO</a:t>
            </a:r>
            <a:endParaRPr lang="es-CL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0936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Integrador II: Taller de Empresas · ICMA 1001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08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GRUPO</a:t>
            </a:r>
            <a:endParaRPr lang="es-CL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6309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6089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PROFESOR</a:t>
            </a:r>
            <a:endParaRPr lang="es-CL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6309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Roberto Brito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6089904"/>
            <a:ext cx="4647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INTEGRANTES</a:t>
            </a:r>
            <a:endParaRPr lang="es-CL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6309360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Diego Alarcón · Benjamín Torres · Lukas Verdugo</a:t>
            </a:r>
            <a:endParaRPr lang="es-CL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1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MARKETING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tres planes, un mismo gatillo.</a:t>
            </a:r>
            <a:endParaRPr lang="es-CL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Objetivos y segmentación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estrategia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Precio, demanda y presupuesto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299 VEHÍCULOS EL PRIMER AÑO,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la referencia al quinto.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ser la referencia de la hibridación de posventa en Chile.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METAS DEL PRIMER AÑO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56432"/>
            <a:ext cx="2567864" cy="12984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5920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1368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3776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592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136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3390824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19424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3619424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casos con ahorro medido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6233008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61608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6461608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clientes satisfechos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9075191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03791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800" dirty="0"/>
          </a:p>
        </p:txBody>
      </p:sp>
      <p:sp>
        <p:nvSpPr>
          <p:cNvPr id="26" name="Text 24"/>
          <p:cNvSpPr txBox="1"/>
          <p:nvPr/>
        </p:nvSpPr>
        <p:spPr>
          <a:xfrm>
            <a:off x="9303791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llega por recomendación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INSTALACIONES PROPIAS POR AÑO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731520" y="5742432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" y="5660136"/>
            <a:ext cx="164592" cy="16459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3000" dirty="0"/>
          </a:p>
        </p:txBody>
      </p:sp>
      <p:sp>
        <p:nvSpPr>
          <p:cNvPr id="32" name="Shape 30"/>
          <p:cNvSpPr/>
          <p:nvPr/>
        </p:nvSpPr>
        <p:spPr>
          <a:xfrm>
            <a:off x="3331388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16404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2316404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3000" dirty="0"/>
          </a:p>
        </p:txBody>
      </p:sp>
      <p:sp>
        <p:nvSpPr>
          <p:cNvPr id="35" name="Shape 33"/>
          <p:cNvSpPr/>
          <p:nvPr/>
        </p:nvSpPr>
        <p:spPr>
          <a:xfrm>
            <a:off x="6013552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998568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998568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3000" dirty="0"/>
          </a:p>
        </p:txBody>
      </p:sp>
      <p:sp>
        <p:nvSpPr>
          <p:cNvPr id="38" name="Shape 36"/>
          <p:cNvSpPr/>
          <p:nvPr/>
        </p:nvSpPr>
        <p:spPr>
          <a:xfrm>
            <a:off x="8695715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80731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7680731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3000" dirty="0"/>
          </a:p>
        </p:txBody>
      </p:sp>
      <p:sp>
        <p:nvSpPr>
          <p:cNvPr id="41" name="Shape 39"/>
          <p:cNvSpPr/>
          <p:nvPr/>
        </p:nvSpPr>
        <p:spPr>
          <a:xfrm>
            <a:off x="11377879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448495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9448495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CLIENTE SE DEFINE POR SU AUTO,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no por su edad.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Condición: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 liviano, a combustión y con tracción delantera.</a:t>
            </a:r>
            <a:endParaRPr lang="es-CL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GEOGRÁFICA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parque, en la Región Metropolitana (RM)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3390824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DEMOGRÁFICA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1992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usa, decide, paga o influye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6233008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4176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PSICOGRÁFICA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es uno de ellos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9075191" y="2926080"/>
            <a:ext cx="2567864" cy="23317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0327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0327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42471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97919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20327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20327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42471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97919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6359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CONDUCTUAL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276359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9276359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intensidad de uso es la que manda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35838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449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PUNTO DE ENTRADA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Uso laboral intensivo en la RM: colectivos, taxis y aplicaciones.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antes de fijar el precio.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05456"/>
            <a:ext cx="9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Profundidad</a:t>
            </a:r>
            <a:endParaRPr lang="es-CL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81728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58368" y="4681728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4" name="Shape 12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Expertos</a:t>
            </a:r>
            <a:endParaRPr lang="es-CL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3322244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3322244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31972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1" name="Shape 19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3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Clientes</a:t>
            </a:r>
            <a:endParaRPr lang="es-CL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6095848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05576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8" name="Shape 26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ETAPA 4</a:t>
            </a:r>
            <a:endParaRPr lang="es-CL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Encuesta</a:t>
            </a:r>
            <a:endParaRPr lang="es-CL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8869451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79179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LA HIPÓTESIS QUE MÁS DECIDE</a:t>
            </a:r>
            <a:endParaRPr lang="es-CL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«La barrera es la confianza, no el precio.»</a:t>
            </a:r>
            <a:endParaRPr lang="es-CL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138160" y="5522976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MATRIZ DE ANSOFF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PRODUCTO NUEVO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un mercado que ya existe.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Ansoff (1965); elaboración propia (Informe Fase 3, §3.1.4, §3.1.5.4, §3.2.1 y Figura N° 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EXISTENTE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50892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 NUEVO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64008" y="329184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EXISTENTE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64008" y="5175504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NUEVO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1115568" y="2798064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16736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16736" y="3236976"/>
            <a:ext cx="29855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Penetración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63931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Más clientes, mismo mercado</a:t>
            </a:r>
            <a:endParaRPr lang="es-CL" sz="2000" dirty="0"/>
          </a:p>
        </p:txBody>
      </p:sp>
      <p:sp>
        <p:nvSpPr>
          <p:cNvPr id="13" name="Shape 11"/>
          <p:cNvSpPr/>
          <p:nvPr/>
        </p:nvSpPr>
        <p:spPr>
          <a:xfrm>
            <a:off x="4850892" y="2798064"/>
            <a:ext cx="3351276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96028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96028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6028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6028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01584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52060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ENTRADA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52060" y="3236976"/>
            <a:ext cx="2985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producto</a:t>
            </a:r>
            <a:endParaRPr lang="es-CL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052060" y="389534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oferta en Chile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1115568" y="4681728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16736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5120640"/>
            <a:ext cx="2985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Desarrollo de mercado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77900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Flotas y regiones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4850892" y="4681728"/>
            <a:ext cx="3351276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052060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DESDE EL AÑO 2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52060" y="5120640"/>
            <a:ext cx="29855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Diversificación</a:t>
            </a:r>
            <a:endParaRPr lang="es-CL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5052060" y="5522976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y kits para talleres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4805172" y="3566160"/>
            <a:ext cx="-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52704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9068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531352" y="2395728"/>
            <a:ext cx="3111703" cy="3822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6488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76488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76488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76488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59952" y="2596896"/>
            <a:ext cx="2654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 COMPETITIVA</a:t>
            </a:r>
            <a:endParaRPr lang="es-CL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759952" y="2962656"/>
            <a:ext cx="27002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biblioteca de calibraciones</a:t>
            </a:r>
            <a:endParaRPr lang="es-CL" sz="2600" dirty="0"/>
          </a:p>
        </p:txBody>
      </p:sp>
      <p:sp>
        <p:nvSpPr>
          <p:cNvPr id="47" name="Text 45"/>
          <p:cNvSpPr txBox="1"/>
          <p:nvPr/>
        </p:nvSpPr>
        <p:spPr>
          <a:xfrm>
            <a:off x="8759952" y="3858768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Sostenible: crece con cada instalación y es lo más difícil de copiar.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8759952" y="4882896"/>
            <a:ext cx="265450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59952" y="5010912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eso la red parte en el año 2: se vende mientras es exclusiva.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ESPACIO VACÍO: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ahorrar sin cambiar de auto.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3154680" y="2852928"/>
            <a:ext cx="8488375" cy="1261872"/>
          </a:xfrm>
          <a:prstGeom prst="rect">
            <a:avLst/>
          </a:prstGeom>
          <a:solidFill>
            <a:srgbClr val="0B1A2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52928"/>
            <a:ext cx="2423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límite de edad</a:t>
            </a:r>
            <a:endParaRPr lang="es-CL" sz="2000" dirty="0"/>
          </a:p>
        </p:txBody>
      </p:sp>
      <p:sp>
        <p:nvSpPr>
          <p:cNvPr id="7" name="Shape 5"/>
          <p:cNvSpPr/>
          <p:nvPr/>
        </p:nvSpPr>
        <p:spPr>
          <a:xfrm>
            <a:off x="3154680" y="4114800"/>
            <a:ext cx="8488375" cy="78638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114800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 límite de edad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3154680" y="4901184"/>
            <a:ext cx="8488375" cy="96926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901184"/>
            <a:ext cx="2423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Cambia de auto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07027" y="2395728"/>
            <a:ext cx="7336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416755" y="2395728"/>
            <a:ext cx="7116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LUMINE: PRECIO DE REFERENCIA Y AHORRO SIMULADO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154680" y="5888736"/>
            <a:ext cx="84883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$0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544908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0044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 M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844103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239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$5 M</a:t>
            </a:r>
            <a:endParaRPr lang="es-CL" sz="1600" dirty="0"/>
          </a:p>
        </p:txBody>
      </p:sp>
      <p:sp>
        <p:nvSpPr>
          <p:cNvPr id="20" name="Shape 18"/>
          <p:cNvSpPr/>
          <p:nvPr/>
        </p:nvSpPr>
        <p:spPr>
          <a:xfrm>
            <a:off x="972959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95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$10 M</a:t>
            </a:r>
            <a:endParaRPr lang="es-CL" sz="1600" dirty="0"/>
          </a:p>
        </p:txBody>
      </p:sp>
      <p:sp>
        <p:nvSpPr>
          <p:cNvPr id="22" name="Shape 20"/>
          <p:cNvSpPr/>
          <p:nvPr/>
        </p:nvSpPr>
        <p:spPr>
          <a:xfrm>
            <a:off x="11018159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9519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$20 M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4560413" y="2962656"/>
            <a:ext cx="4558493" cy="1042416"/>
          </a:xfrm>
          <a:prstGeom prst="rect">
            <a:avLst/>
          </a:prstGeom>
          <a:solidFill>
            <a:srgbClr val="0B1A22">
              <a:alpha val="0"/>
            </a:srgbClr>
          </a:solidFill>
          <a:ln w="12700">
            <a:solidFill>
              <a:schemeClr val="accent1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725005" y="3547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Espacio hoy sin oferta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72384"/>
            <a:ext cx="182880" cy="1828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54680" y="3310128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hacer nada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8156325" y="3182112"/>
            <a:ext cx="280987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597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7584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9360675" y="2999232"/>
            <a:ext cx="2145220" cy="9692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058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05811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053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60759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058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5811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053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60759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52115" y="3072384"/>
            <a:ext cx="1962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</a:t>
            </a:r>
            <a:endParaRPr lang="es-CL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9452115" y="3456432"/>
            <a:ext cx="1962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$4,3–5,0 M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5253217" y="4663440"/>
            <a:ext cx="1288563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61777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Gas 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$0,9–1,8 M · solo autos de hasta 7 años</a:t>
            </a:r>
            <a:endParaRPr lang="es-CL" sz="2000" dirty="0"/>
          </a:p>
        </p:txBody>
      </p:sp>
      <p:sp>
        <p:nvSpPr>
          <p:cNvPr id="44" name="Shape 42"/>
          <p:cNvSpPr/>
          <p:nvPr/>
        </p:nvSpPr>
        <p:spPr>
          <a:xfrm>
            <a:off x="9634242" y="5129784"/>
            <a:ext cx="58309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Shape 43"/>
          <p:cNvSpPr/>
          <p:nvPr/>
        </p:nvSpPr>
        <p:spPr>
          <a:xfrm>
            <a:off x="9551946" y="5102352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62242" y="4974336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$9,5–13 M</a:t>
            </a:r>
            <a:endParaRPr lang="es-CL" sz="2000" dirty="0"/>
          </a:p>
        </p:txBody>
      </p:sp>
      <p:sp>
        <p:nvSpPr>
          <p:cNvPr id="47" name="Shape 45"/>
          <p:cNvSpPr/>
          <p:nvPr/>
        </p:nvSpPr>
        <p:spPr>
          <a:xfrm>
            <a:off x="10353771" y="5559552"/>
            <a:ext cx="1152124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1475" y="55321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81771" y="5404104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$14 M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MIX: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PLUS CUESTA 16</a:t>
            </a:r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Archivo Expanded ExtraBold" pitchFamily="34" charset="0"/>
                <a:ea typeface="Archivo Expanded ExtraBold" pitchFamily="34" charset="-122"/>
                <a:cs typeface="Archivo Expanded ExtraBold" pitchFamily="34" charset="-120"/>
              </a:rPr>
              <a:t>%</a:t>
            </a:r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 MÁS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ahorra 24% más.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elaboración propia (Informe Fase 3, Tablas N° 5 y 6; Anexos N° 2 y 9); Banco Central de Chile (2026), tasa de consumo.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127248" cy="26700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ESENCIAL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40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88696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15%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$117.069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395728"/>
            <a:ext cx="3127248" cy="26700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705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705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85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403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77056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77056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58584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052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PLUS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400" dirty="0"/>
          </a:p>
        </p:txBody>
      </p:sp>
      <p:sp>
        <p:nvSpPr>
          <p:cNvPr id="24" name="Shape 22"/>
          <p:cNvSpPr/>
          <p:nvPr/>
        </p:nvSpPr>
        <p:spPr>
          <a:xfrm>
            <a:off x="416052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27024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26" name="Shape 24"/>
          <p:cNvSpPr/>
          <p:nvPr/>
        </p:nvSpPr>
        <p:spPr>
          <a:xfrm>
            <a:off x="416052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6052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20%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$145.327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al mes</a:t>
            </a:r>
            <a:endParaRPr lang="es-CL" sz="22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44709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58368" y="5212080"/>
            <a:ext cx="4251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AHORRO DE UN COLECTIVO</a:t>
            </a:r>
            <a:endParaRPr lang="es-CL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395728"/>
            <a:ext cx="41266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MESES PARA RECUPERAR LA INVERSIÓN</a:t>
            </a:r>
            <a:endParaRPr lang="es-CL" sz="1600" dirty="0"/>
          </a:p>
        </p:txBody>
      </p:sp>
      <p:sp>
        <p:nvSpPr>
          <p:cNvPr id="32" name="Shape 30"/>
          <p:cNvSpPr/>
          <p:nvPr/>
        </p:nvSpPr>
        <p:spPr>
          <a:xfrm>
            <a:off x="7516368" y="307238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08976" y="2999232"/>
            <a:ext cx="107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Esencial</a:t>
            </a:r>
            <a:endParaRPr lang="es-CL" sz="1600" dirty="0"/>
          </a:p>
        </p:txBody>
      </p:sp>
      <p:sp>
        <p:nvSpPr>
          <p:cNvPr id="34" name="Shape 32"/>
          <p:cNvSpPr/>
          <p:nvPr/>
        </p:nvSpPr>
        <p:spPr>
          <a:xfrm>
            <a:off x="9114536" y="307238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07144" y="2999232"/>
            <a:ext cx="62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</a:t>
            </a:r>
            <a:endParaRPr lang="es-CL" sz="1600" dirty="0"/>
          </a:p>
        </p:txBody>
      </p:sp>
      <p:graphicFrame>
        <p:nvGraphicFramePr>
          <p:cNvPr id="36" name="Meses para recuperar la inversión por versión" descr=""/>
          <p:cNvGraphicFramePr/>
          <p:nvPr/>
        </p:nvGraphicFramePr>
        <p:xfrm>
          <a:off x="7424928" y="3383280"/>
          <a:ext cx="4218127" cy="21579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5614416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pero cada punto de ahorro sale más barato.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MÁS DEMANDA QUE CAPACIDAD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desde el año 1.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 ·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AL AÑO 5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59359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38728" y="3520440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850128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42736" y="3520440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8901176" y="359359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3784" y="352044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Kits a la red</a:t>
            </a:r>
            <a:endParaRPr lang="es-CL" sz="16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253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y espacio. Lo demás lo atiende la red.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$80,9 MILLONES EL PRIMER AÑO: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6,8% de los ingresos.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MILLONES DE PESOS NETOS POR AÑO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Clientes piloto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810256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2864" y="274320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Pauta digital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4848352" y="281635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0960" y="2743200"/>
            <a:ext cx="130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Comisiones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6551168" y="281635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3776" y="2743200"/>
            <a:ext cx="74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Otras</a:t>
            </a:r>
            <a:endParaRPr lang="es-CL" sz="16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27248"/>
          <a:ext cx="7543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96896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2907792"/>
            <a:ext cx="280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4800" dirty="0"/>
          </a:p>
        </p:txBody>
      </p:sp>
      <p:sp>
        <p:nvSpPr>
          <p:cNvPr id="26" name="Shape 23"/>
          <p:cNvSpPr/>
          <p:nvPr/>
        </p:nvSpPr>
        <p:spPr>
          <a:xfrm>
            <a:off x="8613648" y="376732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13648" y="3895344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% DE LOS INGRESOS PROPIOS</a:t>
            </a:r>
            <a:endParaRPr lang="es-CL" sz="1600" dirty="0"/>
          </a:p>
        </p:txBody>
      </p:sp>
      <p:sp>
        <p:nvSpPr>
          <p:cNvPr id="28" name="Shape 25"/>
          <p:cNvSpPr/>
          <p:nvPr/>
        </p:nvSpPr>
        <p:spPr>
          <a:xfrm>
            <a:off x="8613648" y="451713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45171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1</a:t>
            </a:r>
            <a:endParaRPr lang="es-CL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9848088" y="451713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3200" dirty="0"/>
          </a:p>
        </p:txBody>
      </p:sp>
      <p:sp>
        <p:nvSpPr>
          <p:cNvPr id="31" name="Shape 28"/>
          <p:cNvSpPr/>
          <p:nvPr/>
        </p:nvSpPr>
        <p:spPr>
          <a:xfrm>
            <a:off x="8613648" y="506577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13648" y="5065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2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848088" y="506577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3200" dirty="0"/>
          </a:p>
        </p:txBody>
      </p:sp>
      <p:sp>
        <p:nvSpPr>
          <p:cNvPr id="34" name="Shape 31"/>
          <p:cNvSpPr/>
          <p:nvPr/>
        </p:nvSpPr>
        <p:spPr>
          <a:xfrm>
            <a:off x="8613648" y="561441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13648" y="5614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Año 5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848088" y="561441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2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RECURSOS</a:t>
            </a:r>
            <a:endParaRPr lang="es-CL" sz="5400" dirty="0"/>
          </a:p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HUMANOS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4787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tres planes, un mismo gatillo.</a:t>
            </a:r>
            <a:endParaRPr lang="es-CL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4352544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4897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Estructura y dotación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554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Lumine Habilita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Nómina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ESTRUCTURA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CRECE EL NÚMERO DE PERSONAS,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no la estructura.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ORGANIGRAMA · PERSONAS AL ABRIR Y AL AÑO 5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3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3624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2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8807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624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2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8072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Gerencia General</a:t>
            </a:r>
            <a:endParaRPr lang="es-CL" sz="2200" dirty="0"/>
          </a:p>
        </p:txBody>
      </p:sp>
      <p:sp>
        <p:nvSpPr>
          <p:cNvPr id="16" name="Shape 14"/>
          <p:cNvSpPr/>
          <p:nvPr/>
        </p:nvSpPr>
        <p:spPr>
          <a:xfrm>
            <a:off x="6095848" y="3401568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4930" y="3602736"/>
            <a:ext cx="9021836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4930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395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1420338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804386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000" dirty="0"/>
          </a:p>
        </p:txBody>
      </p:sp>
      <p:sp>
        <p:nvSpPr>
          <p:cNvPr id="24" name="Shape 22"/>
          <p:cNvSpPr/>
          <p:nvPr/>
        </p:nvSpPr>
        <p:spPr>
          <a:xfrm>
            <a:off x="3840389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04099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95539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88941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8" name="Shape 26"/>
          <p:cNvSpPr/>
          <p:nvPr/>
        </p:nvSpPr>
        <p:spPr>
          <a:xfrm>
            <a:off x="3675797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59845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0" name="Shape 28"/>
          <p:cNvSpPr/>
          <p:nvPr/>
        </p:nvSpPr>
        <p:spPr>
          <a:xfrm>
            <a:off x="6095848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59558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0998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5144872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34" name="Shape 32"/>
          <p:cNvSpPr/>
          <p:nvPr/>
        </p:nvSpPr>
        <p:spPr>
          <a:xfrm>
            <a:off x="5931256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31530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6" name="Shape 34"/>
          <p:cNvSpPr/>
          <p:nvPr/>
        </p:nvSpPr>
        <p:spPr>
          <a:xfrm>
            <a:off x="8351307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017" y="3803904"/>
            <a:ext cx="207257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406457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7400331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8186715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57076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10606766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70476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61916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</a:t>
            </a:r>
            <a:endParaRPr lang="es-CL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9570476" y="4553712"/>
            <a:ext cx="20725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584930" y="5129784"/>
            <a:ext cx="0" cy="23774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367528"/>
            <a:ext cx="4328038" cy="6217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36752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</a:t>
            </a:r>
            <a:endParaRPr lang="es-CL" sz="2200" dirty="0"/>
          </a:p>
        </p:txBody>
      </p:sp>
      <p:sp>
        <p:nvSpPr>
          <p:cNvPr id="49" name="Text 47"/>
          <p:cNvSpPr txBox="1"/>
          <p:nvPr/>
        </p:nvSpPr>
        <p:spPr>
          <a:xfrm>
            <a:off x="2691262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600" dirty="0"/>
          </a:p>
        </p:txBody>
      </p:sp>
      <p:sp>
        <p:nvSpPr>
          <p:cNvPr id="50" name="Shape 48"/>
          <p:cNvSpPr/>
          <p:nvPr/>
        </p:nvSpPr>
        <p:spPr>
          <a:xfrm>
            <a:off x="3569086" y="567842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3953134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3600" dirty="0"/>
          </a:p>
        </p:txBody>
      </p:sp>
      <p:sp>
        <p:nvSpPr>
          <p:cNvPr id="52" name="Shape 50"/>
          <p:cNvSpPr/>
          <p:nvPr/>
        </p:nvSpPr>
        <p:spPr>
          <a:xfrm>
            <a:off x="5242438" y="5513832"/>
            <a:ext cx="548640" cy="365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928238" y="5367528"/>
            <a:ext cx="571481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Punteado: se suma después de abrir.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DE 13 A 56 PERSONAS EN CINCO AÑOS;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casi dos de cada tres son técnicos.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(2021); elaboración propia (Informe Fase 3, Figura N° 3 y Tabla N° 12). Imágenes ilustrativas de la operación proyectada.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74980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7" name="Image 0" descr="Equipo de técnicos de Lumine (operación proyectada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395728"/>
            <a:ext cx="3276295" cy="10515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2395728"/>
            <a:ext cx="3276295" cy="105156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366760" y="3602736"/>
            <a:ext cx="3276295" cy="1600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311896" y="35478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311896" y="3547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542471" y="35478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697919" y="3547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11896" y="52578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11896" y="5102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1542471" y="52578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1697919" y="510235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595360" y="3767328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TÉCNICOS AL AÑO 5</a:t>
            </a:r>
            <a:endParaRPr lang="es-CL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4023360"/>
            <a:ext cx="28190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  de 56</a:t>
            </a:r>
            <a:endParaRPr lang="es-CL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4736592"/>
            <a:ext cx="2819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personas del equipo</a:t>
            </a:r>
            <a:endParaRPr lang="es-CL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8366760" y="5340096"/>
            <a:ext cx="32762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Nadie se contrata antes de que la carga lo justifique.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POLÍTICA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TÉCNICOS FORMADOS EN CASA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con Lumine Habilita.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LUMINE HABILITA · RENTA BRUTA MENSUAL POR NIVEL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1844802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N1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7823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Aprende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1" name="Shape 9"/>
          <p:cNvSpPr/>
          <p:nvPr/>
        </p:nvSpPr>
        <p:spPr>
          <a:xfrm>
            <a:off x="2539746" y="3611880"/>
            <a:ext cx="1844802" cy="2057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704338" y="43251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</a:t>
            </a:r>
            <a:endParaRPr lang="es-CL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704338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16" name="Shape 14"/>
          <p:cNvSpPr/>
          <p:nvPr/>
        </p:nvSpPr>
        <p:spPr>
          <a:xfrm>
            <a:off x="4530852" y="3154680"/>
            <a:ext cx="1844802" cy="25146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695444" y="38679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Autónomo</a:t>
            </a:r>
            <a:endParaRPr lang="es-CL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695444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sp>
        <p:nvSpPr>
          <p:cNvPr id="21" name="Shape 19"/>
          <p:cNvSpPr/>
          <p:nvPr/>
        </p:nvSpPr>
        <p:spPr>
          <a:xfrm>
            <a:off x="6521958" y="2697480"/>
            <a:ext cx="1844802" cy="2971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7094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709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2162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7094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6709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66176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686550" y="34107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</a:t>
            </a:r>
            <a:endParaRPr lang="es-CL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686550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97296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N1 al N4 en unos ocho meses, con bono por nivel.</a:t>
            </a:r>
            <a:endParaRPr lang="es-CL" sz="2200" dirty="0"/>
          </a:p>
        </p:txBody>
      </p:sp>
      <p:sp>
        <p:nvSpPr>
          <p:cNvPr id="35" name="Shape 33"/>
          <p:cNvSpPr/>
          <p:nvPr/>
        </p:nvSpPr>
        <p:spPr>
          <a:xfrm>
            <a:off x="8778240" y="2779776"/>
            <a:ext cx="28648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0" y="2852928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48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3493008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competencias</a:t>
            </a:r>
            <a:endParaRPr lang="es-CL" sz="2000" dirty="0"/>
          </a:p>
        </p:txBody>
      </p:sp>
      <p:sp>
        <p:nvSpPr>
          <p:cNvPr id="38" name="Shape 36"/>
          <p:cNvSpPr/>
          <p:nvPr/>
        </p:nvSpPr>
        <p:spPr>
          <a:xfrm>
            <a:off x="8778240" y="3931920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78240" y="4005072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40" name="Text 38"/>
          <p:cNvSpPr txBox="1"/>
          <p:nvPr/>
        </p:nvSpPr>
        <p:spPr>
          <a:xfrm>
            <a:off x="8778240" y="4645152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niveles</a:t>
            </a:r>
            <a:endParaRPr lang="es-CL" sz="2000" dirty="0"/>
          </a:p>
        </p:txBody>
      </p:sp>
      <p:sp>
        <p:nvSpPr>
          <p:cNvPr id="41" name="Shape 39"/>
          <p:cNvSpPr/>
          <p:nvPr/>
        </p:nvSpPr>
        <p:spPr>
          <a:xfrm>
            <a:off x="8778240" y="5084064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78240" y="5157216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4800" dirty="0"/>
          </a:p>
        </p:txBody>
      </p:sp>
      <p:sp>
        <p:nvSpPr>
          <p:cNvPr id="43" name="Text 41"/>
          <p:cNvSpPr txBox="1"/>
          <p:nvPr/>
        </p:nvSpPr>
        <p:spPr>
          <a:xfrm>
            <a:off x="8778240" y="5797296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horas de formación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RECURSOS HUMANOS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NÓMINA POR INSTALACIÓN: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costo a la mitad.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POR INSTALACIÓN · MILES DE $</a:t>
            </a:r>
            <a:endParaRPr lang="es-CL" sz="1600" dirty="0"/>
          </a:p>
        </p:txBody>
      </p:sp>
      <p:graphicFrame>
        <p:nvGraphicFramePr>
          <p:cNvPr id="6" name="Costo de nómina por instalación propia" descr=""/>
          <p:cNvGraphicFramePr/>
          <p:nvPr/>
        </p:nvGraphicFramePr>
        <p:xfrm>
          <a:off x="457200" y="2761488"/>
          <a:ext cx="7543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31577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58368" y="5852160"/>
            <a:ext cx="293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SUPUESTO · SIN REAJUSTES</a:t>
            </a:r>
            <a:endParaRPr lang="es-CL" sz="1400" dirty="0"/>
          </a:p>
        </p:txBody>
      </p:sp>
      <p:sp>
        <p:nvSpPr>
          <p:cNvPr id="9" name="Shape 6"/>
          <p:cNvSpPr/>
          <p:nvPr/>
        </p:nvSpPr>
        <p:spPr>
          <a:xfrm>
            <a:off x="8385048" y="2395728"/>
            <a:ext cx="3258007" cy="2286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NÓMINA TOTAL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MILLONES DE $</a:t>
            </a:r>
            <a:endParaRPr lang="es-CL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14436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4400" dirty="0"/>
          </a:p>
        </p:txBody>
      </p:sp>
      <p:sp>
        <p:nvSpPr>
          <p:cNvPr id="20" name="Shape 17"/>
          <p:cNvSpPr/>
          <p:nvPr/>
        </p:nvSpPr>
        <p:spPr>
          <a:xfrm>
            <a:off x="9849460" y="36027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0233508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078224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año 1 al año 5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85048" y="4956048"/>
            <a:ext cx="32580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cargos fijos se reparten en más autos.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PLAN 3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OPERACIONES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tres planes, un mismo gatillo.</a:t>
            </a:r>
            <a:endParaRPr lang="es-CL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Flujo y puntos de control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Cronograma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Resultados y riesgo cambiario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FLUJO OPERACIONAL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NEGOCIO MIDE Y RECOMIENDA;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cliente decide.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 y Tabla N° 17). Imágenes ilustrativas de la operación proyectada.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832104" y="2761488"/>
            <a:ext cx="0" cy="2926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9572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CAPTACIÓN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2395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Cotiza en la web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2395728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estimador da ahorro y plazo.</a:t>
            </a:r>
            <a:endParaRPr lang="es-CL" sz="2000" dirty="0"/>
          </a:p>
        </p:txBody>
      </p:sp>
      <p:pic>
        <p:nvPicPr>
          <p:cNvPr id="11" name="Image 0" descr="Cotización en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2459736"/>
            <a:ext cx="1188720" cy="60350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54335" y="2459736"/>
            <a:ext cx="1188720" cy="60350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17320" y="312724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12724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ASESORÍA</a:t>
            </a:r>
            <a:endParaRPr lang="es-CL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31272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cliente decide</a:t>
            </a:r>
            <a:endParaRPr lang="es-CL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127248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Puede medir una semana antes.</a:t>
            </a:r>
            <a:endParaRPr lang="es-CL" sz="2000" dirty="0"/>
          </a:p>
        </p:txBody>
      </p:sp>
      <p:pic>
        <p:nvPicPr>
          <p:cNvPr id="19" name="Image 1" descr="Diagnóstico con telemetrí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3191256"/>
            <a:ext cx="1188720" cy="603504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0454335" y="3191256"/>
            <a:ext cx="1188720" cy="60350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7200" y="3895344"/>
            <a:ext cx="11277295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02336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02336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633911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1789359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02336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02336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1633911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1789359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141732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TALLER</a:t>
            </a:r>
            <a:endParaRPr lang="es-CL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4069080" y="38587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jornada</a:t>
            </a:r>
            <a:endParaRPr lang="es-CL" sz="2400" dirty="0"/>
          </a:p>
        </p:txBody>
      </p:sp>
      <p:sp>
        <p:nvSpPr>
          <p:cNvPr id="34" name="Text 30"/>
          <p:cNvSpPr txBox="1"/>
          <p:nvPr/>
        </p:nvSpPr>
        <p:spPr>
          <a:xfrm>
            <a:off x="6903720" y="3858768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8,4 horas y cuatro controles.</a:t>
            </a:r>
            <a:endParaRPr lang="es-CL" sz="2000" dirty="0"/>
          </a:p>
        </p:txBody>
      </p:sp>
      <p:pic>
        <p:nvPicPr>
          <p:cNvPr id="35" name="Image 2" descr="Dúo de técnicos instalando el ki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4335" y="3922776"/>
            <a:ext cx="1188720" cy="603504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10454335" y="3922776"/>
            <a:ext cx="1188720" cy="60350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417320" y="459028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endParaRPr lang="es-CL" sz="1600" dirty="0"/>
          </a:p>
        </p:txBody>
      </p:sp>
      <p:sp>
        <p:nvSpPr>
          <p:cNvPr id="40" name="Text 35"/>
          <p:cNvSpPr txBox="1"/>
          <p:nvPr/>
        </p:nvSpPr>
        <p:spPr>
          <a:xfrm>
            <a:off x="1417320" y="459028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4069080" y="45902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certificado</a:t>
            </a:r>
            <a:endParaRPr lang="es-CL" sz="2400" dirty="0"/>
          </a:p>
        </p:txBody>
      </p:sp>
      <p:sp>
        <p:nvSpPr>
          <p:cNvPr id="42" name="Text 37"/>
          <p:cNvSpPr txBox="1"/>
          <p:nvPr/>
        </p:nvSpPr>
        <p:spPr>
          <a:xfrm>
            <a:off x="6903720" y="4590288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Firma del Responsable Técnico.</a:t>
            </a:r>
            <a:endParaRPr lang="es-CL" sz="2000" dirty="0"/>
          </a:p>
        </p:txBody>
      </p:sp>
      <p:pic>
        <p:nvPicPr>
          <p:cNvPr id="43" name="Image 3" descr="Entrega del auto certifica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4335" y="4654296"/>
            <a:ext cx="1188720" cy="603504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10454335" y="4654296"/>
            <a:ext cx="1188720" cy="60350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1417320" y="532180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05</a:t>
            </a:r>
            <a:endParaRPr lang="es-CL" sz="1600" dirty="0"/>
          </a:p>
        </p:txBody>
      </p:sp>
      <p:sp>
        <p:nvSpPr>
          <p:cNvPr id="48" name="Text 42"/>
          <p:cNvSpPr txBox="1"/>
          <p:nvPr/>
        </p:nvSpPr>
        <p:spPr>
          <a:xfrm>
            <a:off x="1417320" y="53218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POSTVENTA</a:t>
            </a:r>
            <a:endParaRPr lang="es-CL" sz="1600" dirty="0"/>
          </a:p>
        </p:txBody>
      </p:sp>
      <p:sp>
        <p:nvSpPr>
          <p:cNvPr id="49" name="Text 43"/>
          <p:cNvSpPr txBox="1"/>
          <p:nvPr/>
        </p:nvSpPr>
        <p:spPr>
          <a:xfrm>
            <a:off x="4069080" y="532180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Ahorro medido</a:t>
            </a:r>
            <a:endParaRPr lang="es-CL" sz="2400" dirty="0"/>
          </a:p>
        </p:txBody>
      </p:sp>
      <p:sp>
        <p:nvSpPr>
          <p:cNvPr id="50" name="Text 44"/>
          <p:cNvSpPr txBox="1"/>
          <p:nvPr/>
        </p:nvSpPr>
        <p:spPr>
          <a:xfrm>
            <a:off x="6903720" y="5321808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Informe a los tres meses.</a:t>
            </a:r>
            <a:endParaRPr lang="es-CL" sz="2000" dirty="0"/>
          </a:p>
        </p:txBody>
      </p:sp>
      <p:pic>
        <p:nvPicPr>
          <p:cNvPr id="51" name="Image 4" descr="Centro de control que mide el ahor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4335" y="5385816"/>
            <a:ext cx="1188720" cy="603504"/>
          </a:xfrm>
          <a:prstGeom prst="rect">
            <a:avLst/>
          </a:prstGeom>
        </p:spPr>
      </p:pic>
      <p:sp>
        <p:nvSpPr>
          <p:cNvPr id="52" name="Shape 45"/>
          <p:cNvSpPr/>
          <p:nvPr/>
        </p:nvSpPr>
        <p:spPr>
          <a:xfrm>
            <a:off x="10454335" y="5385816"/>
            <a:ext cx="1188720" cy="60350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UNA JORNADA DE 8,4 HORAS,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controles.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a 18; elaboración propia (Informe Fase 3, Figura N° 4, Tabla N° 17 y Anexo N° 8). Tiempos estimados. Imágenes ilustrativas de la operación proyectada.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395728"/>
            <a:ext cx="47548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vehículo por jornada</a:t>
            </a:r>
            <a:endParaRPr lang="es-CL" sz="2200" dirty="0"/>
          </a:p>
          <a:p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 con un técnico de nivel 3.</a:t>
            </a:r>
            <a:endParaRPr lang="es-CL" sz="2200" dirty="0"/>
          </a:p>
        </p:txBody>
      </p:sp>
      <p:pic>
        <p:nvPicPr>
          <p:cNvPr id="7" name="Image 0" descr="Auto con el kit en el banco de prueb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2340864"/>
            <a:ext cx="3291840" cy="914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51215" y="2340864"/>
            <a:ext cx="3291840" cy="914400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62847" y="3483864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72575" y="3483864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340156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5295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17136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2200" dirty="0"/>
          </a:p>
        </p:txBody>
      </p:sp>
      <p:sp>
        <p:nvSpPr>
          <p:cNvPr id="17" name="Shape 14"/>
          <p:cNvSpPr/>
          <p:nvPr/>
        </p:nvSpPr>
        <p:spPr>
          <a:xfrm>
            <a:off x="3198800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372536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555416" y="4517136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2200" dirty="0"/>
          </a:p>
        </p:txBody>
      </p:sp>
      <p:sp>
        <p:nvSpPr>
          <p:cNvPr id="22" name="Shape 19"/>
          <p:cNvSpPr/>
          <p:nvPr/>
        </p:nvSpPr>
        <p:spPr>
          <a:xfrm>
            <a:off x="6022696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196432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379312" y="4517136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2200" dirty="0"/>
          </a:p>
        </p:txBody>
      </p:sp>
      <p:sp>
        <p:nvSpPr>
          <p:cNvPr id="27" name="Shape 24"/>
          <p:cNvSpPr/>
          <p:nvPr/>
        </p:nvSpPr>
        <p:spPr>
          <a:xfrm>
            <a:off x="8846591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9020327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04</a:t>
            </a:r>
            <a:endParaRPr lang="es-CL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203207" y="4517136"/>
            <a:ext cx="2348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límite de capacidad son las horas de los dúos.</a:t>
            </a:r>
            <a:endParaRPr lang="es-CL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56967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dinamómetro por local basta, incluso con seis dúos.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CRONOGRAMA DE IMPLEMENTACIÓN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ABRIR EN ENERO DE 2027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depende de un reglamento.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2743200"/>
            <a:ext cx="0" cy="298094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54264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8054264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50528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250528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46791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446791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1635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Permisos, homologación y primer dúo</a:t>
            </a:r>
            <a:endParaRPr lang="es-CL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3832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21.793</a:t>
            </a:r>
            <a:endParaRPr lang="es-CL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9502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9502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propios</a:t>
            </a:r>
            <a:endParaRPr lang="es-CL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51713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5171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del taller 1</a:t>
            </a:r>
            <a:endParaRPr lang="es-CL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08406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0840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800" dirty="0"/>
          </a:p>
        </p:txBody>
      </p:sp>
      <p:sp>
        <p:nvSpPr>
          <p:cNvPr id="25" name="Shape 23"/>
          <p:cNvSpPr/>
          <p:nvPr/>
        </p:nvSpPr>
        <p:spPr>
          <a:xfrm>
            <a:off x="3337560" y="2907792"/>
            <a:ext cx="1325880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hape 24"/>
          <p:cNvSpPr/>
          <p:nvPr/>
        </p:nvSpPr>
        <p:spPr>
          <a:xfrm>
            <a:off x="4149090" y="3483864"/>
            <a:ext cx="365760" cy="365760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4578" y="33832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debe estar vigente antes de vender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4526280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</a:t>
            </a:r>
            <a:endParaRPr lang="es-CL" sz="1800" dirty="0"/>
          </a:p>
        </p:txBody>
      </p:sp>
      <p:sp>
        <p:nvSpPr>
          <p:cNvPr id="30" name="Shape 28"/>
          <p:cNvSpPr/>
          <p:nvPr/>
        </p:nvSpPr>
        <p:spPr>
          <a:xfrm>
            <a:off x="7917104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7144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800" dirty="0"/>
          </a:p>
        </p:txBody>
      </p:sp>
      <p:sp>
        <p:nvSpPr>
          <p:cNvPr id="32" name="Shape 30"/>
          <p:cNvSpPr/>
          <p:nvPr/>
        </p:nvSpPr>
        <p:spPr>
          <a:xfrm>
            <a:off x="10309631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671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800" dirty="0"/>
          </a:p>
        </p:txBody>
      </p:sp>
      <p:sp>
        <p:nvSpPr>
          <p:cNvPr id="34" name="Shape 32"/>
          <p:cNvSpPr/>
          <p:nvPr/>
        </p:nvSpPr>
        <p:spPr>
          <a:xfrm>
            <a:off x="4663440" y="4608576"/>
            <a:ext cx="2892381" cy="38404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4517136"/>
            <a:ext cx="28923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del dúo 1 al 6 · meses 1 a 20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5175504"/>
            <a:ext cx="4785055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68464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564728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9760991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957255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600" dirty="0"/>
          </a:p>
        </p:txBody>
      </p:sp>
      <p:sp>
        <p:nvSpPr>
          <p:cNvPr id="41" name="Shape 39"/>
          <p:cNvSpPr/>
          <p:nvPr/>
        </p:nvSpPr>
        <p:spPr>
          <a:xfrm>
            <a:off x="548640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58368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SUPUESTO · MES 1 = ENERO DE 2027</a:t>
            </a:r>
            <a:endParaRPr lang="es-CL" sz="1400" dirty="0"/>
          </a:p>
        </p:txBody>
      </p:sp>
      <p:sp>
        <p:nvSpPr>
          <p:cNvPr id="43" name="Shape 41"/>
          <p:cNvSpPr/>
          <p:nvPr/>
        </p:nvSpPr>
        <p:spPr>
          <a:xfrm>
            <a:off x="7530287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40015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CONDICIÓN PENDIENTE · REGLAMENTO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PRESUPUESTO Y RESULTADO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GANANCIA DESDE EL AÑO 2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 las dos líneas.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a 21).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POR LÍNEA · MILLONES DE PESOS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52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Línea propia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593848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6456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127248"/>
          <a:ext cx="7543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52160"/>
            <a:ext cx="54259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12" name="Text 9"/>
          <p:cNvSpPr txBox="1"/>
          <p:nvPr/>
        </p:nvSpPr>
        <p:spPr>
          <a:xfrm>
            <a:off x="658368" y="5852160"/>
            <a:ext cx="52064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SUPUESTO · 60% PLUS · RESULTADO REFERENCIAL</a:t>
            </a:r>
            <a:endParaRPr lang="es-CL" sz="1400" dirty="0"/>
          </a:p>
        </p:txBody>
      </p:sp>
      <p:sp>
        <p:nvSpPr>
          <p:cNvPr id="13" name="Shape 10"/>
          <p:cNvSpPr/>
          <p:nvPr/>
        </p:nvSpPr>
        <p:spPr>
          <a:xfrm>
            <a:off x="8385048" y="2395728"/>
            <a:ext cx="3258007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13648" y="25786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POR LOCAL</a:t>
            </a:r>
            <a:endParaRPr lang="es-CL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13648" y="2852928"/>
            <a:ext cx="2800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3529584"/>
            <a:ext cx="2892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casi la mitad, el dinamómetro</a:t>
            </a:r>
            <a:endParaRPr lang="es-CL" sz="2000" dirty="0"/>
          </a:p>
        </p:txBody>
      </p:sp>
      <p:sp>
        <p:nvSpPr>
          <p:cNvPr id="17" name="Shape 14"/>
          <p:cNvSpPr/>
          <p:nvPr/>
        </p:nvSpPr>
        <p:spPr>
          <a:xfrm>
            <a:off x="8385048" y="4453128"/>
            <a:ext cx="3258007" cy="17830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0184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30184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13648" y="46360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AL AÑO 5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13648" y="502005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Línea propia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442448" y="5020056"/>
            <a:ext cx="9720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200" dirty="0"/>
          </a:p>
        </p:txBody>
      </p:sp>
      <p:sp>
        <p:nvSpPr>
          <p:cNvPr id="29" name="Shape 26"/>
          <p:cNvSpPr/>
          <p:nvPr/>
        </p:nvSpPr>
        <p:spPr>
          <a:xfrm>
            <a:off x="8613648" y="564184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13648" y="564184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641848"/>
            <a:ext cx="206928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cerca de 10%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OPERACIONES · SENSIBILIDAD CAMBIARIA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RIESGO ES EL DÓLAR: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 alza de 10% casi borra el resultado.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88575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529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5292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2880360" y="3054096"/>
            <a:ext cx="5486400" cy="55778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31352" y="285292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0088575" y="285292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1304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400" dirty="0"/>
          </a:p>
        </p:txBody>
      </p:sp>
      <p:sp>
        <p:nvSpPr>
          <p:cNvPr id="14" name="Shape 12"/>
          <p:cNvSpPr/>
          <p:nvPr/>
        </p:nvSpPr>
        <p:spPr>
          <a:xfrm>
            <a:off x="2880360" y="4014216"/>
            <a:ext cx="2897941" cy="5577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2893" y="38130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10088575" y="381304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17" name="Shape 15"/>
          <p:cNvSpPr/>
          <p:nvPr/>
        </p:nvSpPr>
        <p:spPr>
          <a:xfrm>
            <a:off x="548640" y="47731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73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accent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400" dirty="0"/>
          </a:p>
        </p:txBody>
      </p:sp>
      <p:sp>
        <p:nvSpPr>
          <p:cNvPr id="19" name="Shape 17"/>
          <p:cNvSpPr/>
          <p:nvPr/>
        </p:nvSpPr>
        <p:spPr>
          <a:xfrm>
            <a:off x="2880360" y="4974336"/>
            <a:ext cx="309482" cy="5577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54434" y="477316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10088575" y="477316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548640" y="57332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934456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plan financiero evaluará coberturas.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CONCLUSIONES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dos preguntas por resolver.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Más demanda que capacidad desde el año 1.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Ahorra sin cambiar de auto y es difícil de copiar.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8127797" y="2395728"/>
            <a:ext cx="3515258" cy="23957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72933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2933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TRES PLANES, UN MISMO GATILLO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 capacidad: suma dúos, personas y talleres.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548640" y="491947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POR RESOLVER</a:t>
            </a:r>
            <a:endParaRPr lang="es-CL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reglamento admitirá el kit, y desde cuándo?</a:t>
            </a:r>
            <a:endParaRPr lang="es-CL" sz="28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¿El ahorro medido confirma los precios?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TRES PLANES, </a:t>
            </a:r>
            <a:pPr indent="0" marL="0">
              <a:buNone/>
            </a:pPr>
            <a:r>
              <a:rPr lang="es-CL" altLang="en-US" sz="48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 mismo gatillo.</a:t>
            </a:r>
            <a:endParaRPr lang="es-CL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GRACIAS · ¿PREGUNTAS?</a:t>
            </a:r>
            <a:endParaRPr lang="es-CL" sz="2000" dirty="0"/>
          </a:p>
        </p:txBody>
      </p:sp>
      <p:pic>
        <p:nvPicPr>
          <p:cNvPr id="4" name="Image 0" descr="LUM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22781"/>
            <a:ext cx="11094415" cy="182373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para preguntas.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1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2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200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32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34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1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  <a:hlinkClick r:id="rId21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2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35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y su prueba.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cuatro respaldos.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¿Funciona?</a:t>
            </a:r>
            <a:endParaRPr lang="es-CL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4176" y="2395728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¿Daña mi auto?</a:t>
            </a:r>
            <a:endParaRPr lang="es-CL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86784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¿Pasa la revisión?</a:t>
            </a:r>
            <a:endParaRPr lang="es-CL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34176" y="3986784"/>
            <a:ext cx="2148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¿Se enchufa?</a:t>
            </a:r>
            <a:endParaRPr lang="es-CL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una misma mezcla.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96% del margen al año 5.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11,1% adoptado al año 5.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por un resultado crítico.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RECURSOS HUMANOS · COMPENSACIONES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entre áreas decide la escasez.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ChileTrabajos (2026); Indeed Chile (2026); MiFuturo (2026); Ley N° 21.830; elaboración propia (Tablas N° 14 y 15).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VALIDADO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2" name="Shape 19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N3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6" name="Shape 23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N4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Total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8,4 horas.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77240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67964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96564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187288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15888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06611" y="5596128"/>
            <a:ext cx="64008" cy="640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35211" y="5596128"/>
            <a:ext cx="23438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el gasto, al kit.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que el precio y la mezcla.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43584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200" dirty="0">
                <a:solidFill>
                  <a:schemeClr val="tx1"/>
                </a:solidFill>
                <a:latin typeface="Michroma" pitchFamily="34" charset="0"/>
                <a:ea typeface="Michroma" pitchFamily="34" charset="-122"/>
                <a:cs typeface="Michroma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3200" i="1" dirty="0">
                <a:solidFill>
                  <a:schemeClr val="accent1"/>
                </a:solidFill>
                <a:latin typeface="Archivo Expanded Light" pitchFamily="34" charset="0"/>
                <a:ea typeface="Archivo Expanded Light" pitchFamily="34" charset="-122"/>
                <a:cs typeface="Archivo Expanded Light" pitchFamily="34" charset="-120"/>
              </a:rPr>
              <a:t>completa.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Archivo SemiCondensed Medium" pitchFamily="34" charset="0"/>
                <a:ea typeface="Archivo SemiCondensed Medium" pitchFamily="34" charset="-122"/>
                <a:cs typeface="Archivo SemiCondensed Medium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Archivo SemiCondensed Medium"/>
                <a:ea typeface="Archivo SemiCondensed Medium"/>
                <a:cs typeface="Archivo SemiCondensed Medium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Michr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chiv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2026-10-17T22:12:58Z</dcterms:created>
  <dcterms:modified xsi:type="dcterms:W3CDTF">2026-10-17T22:12:58Z</dcterms:modified>
</cp:coreProperties>
</file>