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Diego Alarcón" id="{eec37388-cbcb-e6fd-616d-824796bc8d53}">
          <p14:sldIdLst>
            <p14:sldId id="256"/>
            <p14:sldId id="257"/>
            <p14:sldId id="258"/>
            <p14:sldId id="259"/>
            <p14:sldId id="260"/>
          </p14:sldIdLst>
        </p14:section>
        <p14:section name="2 · Benjamín Torres" id="{d04ff92d-5256-22de-267b-adfbda7cce80}">
          <p14:sldIdLst>
            <p14:sldId id="261"/>
            <p14:sldId id="262"/>
            <p14:sldId id="263"/>
            <p14:sldId id="264"/>
            <p14:sldId id="265"/>
          </p14:sldIdLst>
        </p14:section>
        <p14:section name="3 · Lukas Verdugo" id="{61152ffb-6701-12e0-c4d6-3f299c5ca47d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nexo" id="{0936cc81-5ed3-1956-5502-a2f9fd6fc81c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Esencial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36.6</c:v>
                </c:pt>
                <c:pt idx="1">
                  <c:v>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34.3</c:v>
                </c:pt>
                <c:pt idx="1">
                  <c:v>27.5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 atendible</c:v>
                </c:pt>
              </c:strCache>
            </c:strRef>
          </c:tx>
          <c:spPr>
            <a:solidFill>
              <a:srgbClr val="2E343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</c:v>
                </c:pt>
                <c:pt idx="1">
                  <c:v>990</c:v>
                </c:pt>
                <c:pt idx="2">
                  <c:v>1971</c:v>
                </c:pt>
                <c:pt idx="3">
                  <c:v>3835</c:v>
                </c:pt>
                <c:pt idx="4">
                  <c:v>7137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Instalaciones propias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299</c:v>
                </c:pt>
                <c:pt idx="1">
                  <c:v>869</c:v>
                </c:pt>
                <c:pt idx="2">
                  <c:v>1674</c:v>
                </c:pt>
                <c:pt idx="3">
                  <c:v>2268</c:v>
                </c:pt>
                <c:pt idx="4">
                  <c:v>2851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Kits vendidos a la red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365</c:v>
                </c:pt>
                <c:pt idx="2">
                  <c:v>1074</c:v>
                </c:pt>
                <c:pt idx="3">
                  <c:v>3287</c:v>
                </c:pt>
                <c:pt idx="4">
                  <c:v>7773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85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piloto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[&lt;7]&quot;&quot;;0.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49.47</c:v>
                </c:pt>
                <c:pt idx="1">
                  <c:v>23.75</c:v>
                </c:pt>
                <c:pt idx="2">
                  <c:v>23.75</c:v>
                </c:pt>
                <c:pt idx="3">
                  <c:v>23.75</c:v>
                </c:pt>
                <c:pt idx="4">
                  <c:v>23.75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Pauta digital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[&lt;7]&quot;&quot;;0.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14.4</c:v>
                </c:pt>
                <c:pt idx="1">
                  <c:v>18</c:v>
                </c:pt>
                <c:pt idx="2">
                  <c:v>24</c:v>
                </c:pt>
                <c:pt idx="3">
                  <c:v>24</c:v>
                </c:pt>
                <c:pt idx="4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Comisiones de venta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[&lt;7]&quot;&quot;;0.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4.92</c:v>
                </c:pt>
                <c:pt idx="1">
                  <c:v>15.58</c:v>
                </c:pt>
                <c:pt idx="2">
                  <c:v>30.3</c:v>
                </c:pt>
                <c:pt idx="3">
                  <c:v>42.45</c:v>
                </c:pt>
                <c:pt idx="4">
                  <c:v>56.98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Otras partidas</c:v>
                </c:pt>
              </c:strCache>
            </c:strRef>
          </c:tx>
          <c:spPr>
            <a:solidFill>
              <a:srgbClr val="2E3438"/>
            </a:solidFill>
            <a:effectLst/>
          </c:spPr>
          <c:invertIfNegative val="0"/>
          <c:dLbls>
            <c:numFmt formatCode="[&lt;7]&quot;&quot;;0.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12.15</c:v>
                </c:pt>
                <c:pt idx="1">
                  <c:v>22.65</c:v>
                </c:pt>
                <c:pt idx="2">
                  <c:v>38.22</c:v>
                </c:pt>
                <c:pt idx="3">
                  <c:v>44.14</c:v>
                </c:pt>
                <c:pt idx="4">
                  <c:v>52.96</c:v>
                </c:pt>
              </c:numCache>
            </c:numRef>
          </c:val>
        </c:ser>
        <c:dLbls>
          <c:numFmt formatCode="[&lt;7]&quot;&quot;;0.0" sourceLinked="0"/>
          <c:txPr>
            <a:bodyPr/>
            <a:lstStyle/>
            <a:p>
              <a:pPr>
                <a:defRPr b="1" i="0" strike="noStrike" sz="850" u="none">
                  <a:solidFill>
                    <a:srgbClr val="020304"/>
                  </a:solidFill>
                  <a:latin typeface="IBM Plex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9525" cap="flat">
              <a:solidFill>
                <a:srgbClr val="1F242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Técnicos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Preap.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  <c:pt idx="4">
                    <c:v>Año 4</c:v>
                  </c:pt>
                  <c:pt idx="5">
                    <c:v>Año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14</c:v>
                </c:pt>
                <c:pt idx="3">
                  <c:v>24</c:v>
                </c:pt>
                <c:pt idx="4">
                  <c:v>26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 del equipo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[&lt;4]&quot;&quot;;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Preap.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  <c:pt idx="4">
                    <c:v>Año 4</c:v>
                  </c:pt>
                  <c:pt idx="5">
                    <c:v>Año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14</c:v>
                </c:pt>
                <c:pt idx="5">
                  <c:v>20</c:v>
                </c:pt>
              </c:numCache>
            </c:numRef>
          </c:val>
        </c:ser>
        <c:dLbls>
          <c:numFmt formatCode="[&lt;4]&quot;&quot;;0" sourceLinked="0"/>
          <c:txPr>
            <a:bodyPr/>
            <a:lstStyle/>
            <a:p>
              <a:pPr>
                <a:defRPr b="1" i="0" strike="noStrike" sz="900" u="none">
                  <a:solidFill>
                    <a:srgbClr val="020304"/>
                  </a:solidFill>
                  <a:latin typeface="IBM Plex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empresa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</c:v>
                </c:pt>
                <c:pt idx="1">
                  <c:v>265.6</c:v>
                </c:pt>
                <c:pt idx="2">
                  <c:v>430.4</c:v>
                </c:pt>
                <c:pt idx="3">
                  <c:v>574.7</c:v>
                </c:pt>
                <c:pt idx="4">
                  <c:v>755.1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5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 propia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#,##0.0;-#,##0.0;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-130.2</c:v>
                </c:pt>
                <c:pt idx="1">
                  <c:v>159.9</c:v>
                </c:pt>
                <c:pt idx="2">
                  <c:v>444.8</c:v>
                </c:pt>
                <c:pt idx="3">
                  <c:v>694.7</c:v>
                </c:pt>
                <c:pt idx="4">
                  <c:v>869.9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certificada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#,##0.0;-#,##0.0;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142.1</c:v>
                </c:pt>
                <c:pt idx="2">
                  <c:v>415.2</c:v>
                </c:pt>
                <c:pt idx="3">
                  <c:v>1233.2</c:v>
                </c:pt>
                <c:pt idx="4">
                  <c:v>2889.5</c:v>
                </c:pt>
              </c:numCache>
            </c:numRef>
          </c:val>
        </c:ser>
        <c:dLbls>
          <c:numFmt formatCode="#,##0.0;-#,##0.0;;" sourceLinked="0"/>
          <c:txPr>
            <a:bodyPr/>
            <a:lstStyle/>
            <a:p>
              <a:pPr>
                <a:defRPr b="1" i="0" strike="noStrike" sz="95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-4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Adopción acumulada</c:v>
                </c:pt>
              </c:strCache>
            </c:strRef>
          </c:tx>
          <c:spPr>
            <a:solidFill>
              <a:srgbClr val="22B8F0"/>
            </a:solidFill>
            <a:ln w="31750" cap="flat">
              <a:solidFill>
                <a:srgbClr val="22B8F0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2B8F0"/>
              </a:solidFill>
              <a:ln w="9525" cap="flat">
                <a:solidFill>
                  <a:srgbClr val="22B8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0.0038</c:v>
                </c:pt>
                <c:pt idx="1">
                  <c:v>0.0114</c:v>
                </c:pt>
                <c:pt idx="2">
                  <c:v>0.0265</c:v>
                </c:pt>
                <c:pt idx="3">
                  <c:v>0.056</c:v>
                </c:pt>
                <c:pt idx="4">
                  <c:v>0.1108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b="1" i="0" strike="noStrike" sz="10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"/>
          <c:min val="0"/>
        </c:scaling>
        <c:delete val="0"/>
        <c:axPos val="l"/>
        <c:majorGridlines>
          <c:spPr>
            <a:ln w="9525" cap="flat">
              <a:solidFill>
                <a:srgbClr val="1F2427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  <c:majorUnit val="0.04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Renta bruta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Gerente General</c:v>
                  </c:pt>
                  <c:pt idx="1">
                    <c:v>Responsable Técnico</c:v>
                  </c:pt>
                  <c:pt idx="2">
                    <c:v>Ingeniería de Calibración</c:v>
                  </c:pt>
                  <c:pt idx="3">
                    <c:v>Técnico N4</c:v>
                  </c:pt>
                  <c:pt idx="4">
                    <c:v>Técnico N3</c:v>
                  </c:pt>
                  <c:pt idx="5">
                    <c:v>Administración y Personas</c:v>
                  </c:pt>
                  <c:pt idx="6">
                    <c:v>Comercial y Postventa*</c:v>
                  </c:pt>
                  <c:pt idx="7">
                    <c:v>Comercial de Empresas*</c:v>
                  </c:pt>
                  <c:pt idx="8">
                    <c:v>Técnico N2</c:v>
                  </c:pt>
                  <c:pt idx="9">
                    <c:v>Técnico N1</c:v>
                  </c:pt>
                  <c:pt idx="10">
                    <c:v>Asistentes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2000</c:v>
                </c:pt>
                <c:pt idx="1">
                  <c:v>1800</c:v>
                </c:pt>
                <c:pt idx="2">
                  <c:v>1700</c:v>
                </c:pt>
                <c:pt idx="3">
                  <c:v>1150</c:v>
                </c:pt>
                <c:pt idx="4">
                  <c:v>1000</c:v>
                </c:pt>
                <c:pt idx="5">
                  <c:v>900</c:v>
                </c:pt>
                <c:pt idx="6">
                  <c:v>850</c:v>
                </c:pt>
                <c:pt idx="7">
                  <c:v>850</c:v>
                </c:pt>
                <c:pt idx="8">
                  <c:v>850</c:v>
                </c:pt>
                <c:pt idx="9">
                  <c:v>750</c:v>
                </c:pt>
                <c:pt idx="10">
                  <c:v>692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5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0.0;;&quot;—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71.2</c:v>
                </c:pt>
                <c:pt idx="1">
                  <c:v>10.1</c:v>
                </c:pt>
                <c:pt idx="2">
                  <c:v>81.3</c:v>
                </c:pt>
                <c:pt idx="3">
                  <c:v>0</c:v>
                </c:pt>
                <c:pt idx="4">
                  <c:v>81.3</c:v>
                </c:pt>
              </c:numCache>
            </c:numRef>
          </c:val>
        </c:ser>
        <c:dLbls>
          <c:numFmt formatCode="0.0;;&quot;—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Kits instalados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958.8</c:v>
                </c:pt>
                <c:pt idx="1">
                  <c:v>2786.5</c:v>
                </c:pt>
                <c:pt idx="2">
                  <c:v>5367.7</c:v>
                </c:pt>
                <c:pt idx="3">
                  <c:v>7272.4</c:v>
                </c:pt>
                <c:pt idx="4">
                  <c:v>9141.8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 del gasto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105.3</c:v>
                </c:pt>
                <c:pt idx="1">
                  <c:v>158.9</c:v>
                </c:pt>
                <c:pt idx="2">
                  <c:v>290.2</c:v>
                </c:pt>
                <c:pt idx="3">
                  <c:v>351.1</c:v>
                </c:pt>
                <c:pt idx="4">
                  <c:v>464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Dólar −10%</c:v>
                  </c:pt>
                  <c:pt idx="1">
                    <c:v>Precio +5%</c:v>
                  </c:pt>
                  <c:pt idx="2">
                    <c:v>Plus 80%</c:v>
                  </c:pt>
                  <c:pt idx="3">
                    <c:v>Base</c:v>
                  </c:pt>
                  <c:pt idx="4">
                    <c:v>Plus 40%</c:v>
                  </c:pt>
                  <c:pt idx="5">
                    <c:v>Precio −5%</c:v>
                  </c:pt>
                  <c:pt idx="6">
                    <c:v>Dólar +10%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1646.9</c:v>
                </c:pt>
                <c:pt idx="1">
                  <c:v>1433</c:v>
                </c:pt>
                <c:pt idx="2">
                  <c:v>993.7</c:v>
                </c:pt>
                <c:pt idx="3">
                  <c:v>869.9</c:v>
                </c:pt>
                <c:pt idx="4">
                  <c:v>746.1</c:v>
                </c:pt>
                <c:pt idx="5">
                  <c:v>306.9</c:v>
                </c:pt>
                <c:pt idx="6">
                  <c:v>92.9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05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30 s
Buenos días. Somos Diego Alarcón, Benjamín Torres y Lukas Verdugo, y les presentamos el capítulo tres de Lumine Motors: los planes de marketing, recursos humanos y operaciones. Los tres comparten un mismo gatillo, así que un cambio en la demanda mueve el plan completo. Yo parto con los objetivos y el mercado, Benjamín sigue con la estrategia comercial y Lukas cierra con las personas y las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40 s
El objetivo general es que en cinco años Lumine sea la referencia de la hibridación de posventa en Chile, con tres talleres propios en la Región Metropolitana y una red certificada en todas las regiones. Las metas del primer año siguen al cliente: instalar al menos 299 vehículos, publicar tres casos con ahorro medido en nueve meses, llegar a 80% de clientes satisfechos y a 15% de clientes por recomendación. La meta de cotizaciones está por confirmar, porque depende de la tasa de conversión que mida la investigación.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35 s
¿A quién le vendemos? El cliente no se define por su edad, su ingreso ni la antigüedad de su auto, sino por tener un vehículo compatible: liviano, a combustión y con tracción delantera, porque el kit va en el eje trasero. De las cuatro variables, la decisiva es la conductual: la intensidad y el tipo de uso fijan en cuánto tiempo el ahorro paga la inversión. Por eso entramos por el uso laboral de alta intensidad: colectivos, taxis y aplicaciones.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40 s
Nada de esto se le ha preguntado aún a un conductor, así que la investigación es mixta y secuencial: primero entrevistas a cuatro expertos y a cinco perfiles de clientes, después una encuesta por cuotas a 150 personas, con 100 como mínimo. Una muestra aleatoria exigiría 385 casos, así que los resultados serán indicativos. Pone a prueba seis hipótesis; por ejemplo, que la barrera principal es la confianza y no el precio. Hasta ahora hicimos la entrevista exploratoria; el resto está por realizar.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40 s
En la matriz de Ansoff, Lumine entra por desarrollo de producto: el mercado existe, porque los conductores ya buscan gastar menos, pero la hibridación aditiva no tiene oferta en Chile. En el año 2 viene la penetración y, antes de lo habitual, la diversificación relacionada: vender patrones de calibración, kits y certificación a otros talleres, porque la exclusividad de la calibración se agota con el tiempo. En el año 3 llega el desarrollo de mercado, con flotas y regiones. Le paso la palabra a Benjamín.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Gracias, Diego. Este mapa ordena las alternativas por inversión y por lo que exigen al conductor. El híbrido usado y el eléctrico nuevo obligan a cambiar de auto y cuestan sobre 9 millones. La conversión a gas es barata, pero tiene límite de antigüedad. No hacer nada no cuesta, pero tampoco ahorra. Lumine queda sola en el espacio vacío: gastar menos sin cambiar de auto y sin límite de antigüedad. El concepto: el mismo auto, ahora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En el mix de marketing, el cliente conoce su ahorro antes de pagar y lo comprueba después. El kit tiene dos versiones. Esencial cuesta 4.290.000 pesos con IVA y promete hasta 15% menos bencina; Plus cuesta 4.990.000 y hasta 20%. Plus vale 16% más, pero ahorra 24% más al colectivo, así que cada punto de ahorro sale más barato, y el colectivo recupera la inversión en 34 meses. Son precios de referencia que la encuesta debe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El segmento laboral de la Región Metropolitana suma 162.780 vehículos. Con el modelo de Bass, la adopción llega a 11,1% al quinto año, por debajo del 16% de los primeros adoptantes. Pero el pronóstico es el menor entre demanda y capacidad, y desde el primer año la demanda atendible supera lo que podemos instalar: 299 vehículos el primer año y 2.851 al quinto. Lo que no alcanzamos a instalar lo atiende la red: 7.773 kits al quinto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40 s
El presupuesto de marketing se arma por objetivo y tarea, no como un porcentaje de ventas que aún no existen. El primer año invierte 80,9 millones de pesos, el 6,8% de los ingresos propios, porque concentra el lanzamiento y 25 clientes piloto con 50% de descuento a cambio de su caso medido. Desde el segundo año baja a 2,3% de los ingresos, y desde el tercero la partida mayor son las comisiones, que siguen a las instalaciones. En cinco años, el marketing suma 575 millones.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45 s
Para atender esa demanda, la estructura es funcional y sin mandos intermedios: cinco áreas que responden a la Gerencia General. La estructura no cambia con el crecimiento; cambia cuántas personas hay en cada cargo, y nadie se contrata antes de que la carga lo justifique. Ingeniería de Calibración depende de la Gerencia y no del taller, porque la biblioteca sostiene la ventaja. Así el equipo pasa de 13 personas al cierre del primer año a 56 al quinto, y casi dos de cada tres son técnicos. Lukas sigue con las personas y las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Gracias, Benjamín. El oficio escasea en Chile, así que los técnicos se forman en casa con Lumine Habilita: 39 competencias, cuatro niveles y 392 horas. Con formación intensiva, un técnico nuevo llega al nivel 4 en unos ocho meses. La nómina sube de 152 a 755 millones en cinco años, pero el costo por instalación cae a la mitad, de 508 mil pesos a 253 mil en el cuarto año, porque los cargos fijos se reparten en más autos.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El flujo sigue a un vehículo desde la cotización hasta el fin de vida de la batería, en cinco etapas. Una regla lo atraviesa: el negocio mide y recomienda, pero la decisión de instalar es siempre del cliente. Solo se detiene por razones técnicas. La instalación toma una jornada de 8,4 horas con cuatro puntos de control, y el límite de capacidad son las horas de los dúos: un dinamómetro por local alcanza incluso para seis dúos.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40 s
La Carta Gantt apunta a abrir en enero de 2027. En los tres meses previos se homologa el primer modelo y se forma el primer dúo. Pero el eslabón crítico es externo: el reglamento de la Ley 21.793 sigue pendiente, y sin él no hay certificado ni venta legal. Los dúos entran según la demanda, del segundo en el mes 6 al sexto en el mes 20; el segundo taller abre en el mes 25, el tercero en el 49, y la red crece de 3 a 42 talleres.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Cada local con seis puestos requiere 81 millones de inversión, casi la mitad en el dinamómetro, y el kit explica más del 90% del gasto operacional. Con los tres presupuestos, la línea propia pierde 130 millones en el lanzamiento y gana desde el segundo año, hasta un margen de 7,7%. La red rinde cerca de 10%. El riesgo mayor es el dólar: un alza de 10% casi borra el resultado propio del quinto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40 s
Para cerrar: los tres planes comparten un gatillo. Cuando la demanda supera el 80% de la capacidad, se suma un dúo, se contrata a una persona o se abre un taller. El primer año prueba el producto con 299 instalaciones; el segundo y el tercero suman la red y el segundo taller; el cuarto y el quinto escalan a tres talleres, 42 certificados y 56 personas. Quedan tres condiciones abiertas: el reglamento, el ahorro real y los precios que mida la encuesta.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5 s
Muchas gracias.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· No se presenta. Cada tema tiene un enlace a su diapositiva; cada diapositiva del anexo tiene un enlace de vuelta a este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 · Solo si preguntan.
Las seis hipótesis con su prueba estadística (Tabla N° 3); significancia de 5%, resultados indicativos por la muestra por cuotas.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A2 · Solo si preguntan.
¿Funciona?, ¿daña mi auto?, ¿pasa la revisión técnica?, ¿hay que enchufarlo? (Tabla N° 4) y los límites de la promesa.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A3 · Solo si preguntan.
Las siete variables para el cliente final y para la red certificada (Tabla N°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A4 · Solo si preguntan.
Paquete de entrada, kit con licencia, certificación anual y suscripción a Habilita (Tabla N°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A5 · Solo si preguntan.
TAM, SAM y segmento laboral (Tabla N° 9) y la curva de Bass con su respaldo (Anexo N°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A6 · Solo si preguntan.
Dependencia y responsabilidad crítica de cada cargo (Tabla N°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A7 · Solo si preguntan.
Renta bruta mensual por cargo frente al mercado (Tabla N° 14) y bono único por nivel validado (Tabla N°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A8 · Solo si preguntan.
Los siete bloques de la jornada de 8,4 horas y sus cuatro puntos de control (Anexo N°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A9 · Solo si preguntan.
Inversión en equipamiento por año (Tabla N° 18) y gasto operacional de la línea propia (Tabla N°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A10 · Solo si preguntan.
Resultado de la línea propia al quinto año con dólar, proporción de Plus y precio (Tabla N°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image" Target="../media/CIERRE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81328"/>
            <a:ext cx="11094415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86000"/>
              </a:lnSpc>
              <a:buNone/>
              <a:defRPr lang="en-US" sz="6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ctr" indent="0" marL="0">
              <a:lnSpc>
                <a:spcPct val="86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0" y="365760"/>
            <a:ext cx="5973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INTEGRADOR II · ICMA 1001 · GRUPO 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63825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LUMINE MOTORS · FASE 3 · CAPÍTULO III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pic>
        <p:nvPicPr>
          <p:cNvPr id="3" name="Image 1" descr="LUM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24528"/>
            <a:ext cx="11094415" cy="182373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3258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3.xml"/><Relationship Id="rId13" Type="http://schemas.openxmlformats.org/officeDocument/2006/relationships/slide" Target="slide24.xml"/><Relationship Id="rId14" Type="http://schemas.openxmlformats.org/officeDocument/2006/relationships/slide" Target="slide24.xml"/><Relationship Id="rId15" Type="http://schemas.openxmlformats.org/officeDocument/2006/relationships/slide" Target="slide25.xml"/><Relationship Id="rId16" Type="http://schemas.openxmlformats.org/officeDocument/2006/relationships/slide" Target="slide25.xml"/><Relationship Id="rId17" Type="http://schemas.openxmlformats.org/officeDocument/2006/relationships/slide" Target="slide26.xml"/><Relationship Id="rId18" Type="http://schemas.openxmlformats.org/officeDocument/2006/relationships/slide" Target="slide26.xml"/><Relationship Id="rId19" Type="http://schemas.openxmlformats.org/officeDocument/2006/relationships/slide" Target="slide27.xml"/><Relationship Id="rId20" Type="http://schemas.openxmlformats.org/officeDocument/2006/relationships/slide" Target="slide27.xml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365760"/>
            <a:ext cx="5059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UNAB · OCTUBRE 2026</a:t>
            </a:r>
            <a:endParaRPr lang="es-CL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3 · CAPÍTULO III · LUMINE MOTORS: RECONVERSIÓN HÍBRIDA</a:t>
            </a:r>
            <a:endParaRPr lang="es-CL" sz="1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481328"/>
            <a:ext cx="110944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TRES PLANES,</a:t>
            </a:r>
            <a:endParaRPr lang="en-US" sz="600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76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mismo gatillo.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4670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Plan de Marketing, Operaciones y Recursos Humanos</a:t>
            </a:r>
            <a:endParaRPr lang="es-CL" sz="1700" dirty="0"/>
          </a:p>
        </p:txBody>
      </p:sp>
      <p:pic>
        <p:nvPicPr>
          <p:cNvPr id="6" name="Image 0" descr="Plano del kit Lumine: auto en vista lateral con el motor eléctrico en el eje tras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3767328"/>
            <a:ext cx="5120640" cy="1578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504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UNIVERSIDAD</a:t>
            </a:r>
            <a:endParaRPr lang="es-CL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751576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Universidad Andrés Bello · Facultad de Economía y Negocios · Ingeniería Comercial</a:t>
            </a:r>
            <a:endParaRPr lang="es-CL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5550408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</a:t>
            </a:r>
            <a:endParaRPr lang="es-CL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57515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Integrador II: Taller de Empresas · ICMA 1001</a:t>
            </a:r>
            <a:endParaRPr lang="es-CL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17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GRUPO</a:t>
            </a:r>
            <a:endParaRPr lang="es-CL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185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s-CL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6117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PROFESOR</a:t>
            </a:r>
            <a:endParaRPr lang="es-CL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63185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Roberto Brito</a:t>
            </a:r>
            <a:endParaRPr lang="es-CL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6117336"/>
            <a:ext cx="7891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INTEGRANTES</a:t>
            </a:r>
            <a:endParaRPr lang="es-CL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631850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Diego Alarcón · Benjamín Torres · Lukas Verdugo</a:t>
            </a:r>
            <a:endParaRPr lang="es-CL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OBJETIVOS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299 VEHÍCULOS EL PRIMER AÑO,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referencia al quinto.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66160" cy="214884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1421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9664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45354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43799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14216" y="45354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9664" y="43799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14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OBJETIVO GENERAL · CINCO AÑOS</a:t>
            </a:r>
            <a:endParaRPr lang="es-CL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 la referencia de la hibridación de posventa en Chile.</a:t>
            </a:r>
            <a:endParaRPr lang="es-CL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935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Tres talleres propios en la Región Metropolitana y una red certificada que instale con los patrones de Lumine en todas las regiones.</a:t>
            </a:r>
            <a:endParaRPr lang="es-CL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313432"/>
            <a:ext cx="7162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METAS DEL PRIMER AÑO</a:t>
            </a:r>
            <a:endParaRPr lang="es-CL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2624328"/>
            <a:ext cx="1322771" cy="18562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76148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2761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971800"/>
            <a:ext cx="10484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4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299</a:t>
            </a:r>
            <a:endParaRPr lang="es-CL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648456"/>
            <a:ext cx="1048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vehículos instalados</a:t>
            </a:r>
            <a:endParaRPr lang="es-CL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014216"/>
            <a:ext cx="104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Uso laboral de la RM</a:t>
            </a:r>
            <a:endParaRPr lang="es-CL" sz="950" dirty="0"/>
          </a:p>
        </p:txBody>
      </p:sp>
      <p:sp>
        <p:nvSpPr>
          <p:cNvPr id="23" name="Shape 21"/>
          <p:cNvSpPr/>
          <p:nvPr/>
        </p:nvSpPr>
        <p:spPr>
          <a:xfrm>
            <a:off x="5940491" y="2624328"/>
            <a:ext cx="1322771" cy="18562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651" y="2761488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77651" y="2761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950" dirty="0"/>
          </a:p>
        </p:txBody>
      </p:sp>
      <p:sp>
        <p:nvSpPr>
          <p:cNvPr id="26" name="Shape 24"/>
          <p:cNvSpPr/>
          <p:nvPr/>
        </p:nvSpPr>
        <p:spPr>
          <a:xfrm>
            <a:off x="6077651" y="3282696"/>
            <a:ext cx="1048451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150803" y="3282696"/>
            <a:ext cx="902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7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CONFIRMAR</a:t>
            </a:r>
            <a:endParaRPr lang="es-CL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6077651" y="3648456"/>
            <a:ext cx="1048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cotizaciones digitales</a:t>
            </a:r>
            <a:endParaRPr lang="es-CL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077651" y="4014216"/>
            <a:ext cx="104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Según la conversión medida</a:t>
            </a:r>
            <a:endParaRPr lang="es-CL" sz="950" dirty="0"/>
          </a:p>
        </p:txBody>
      </p:sp>
      <p:sp>
        <p:nvSpPr>
          <p:cNvPr id="30" name="Shape 28"/>
          <p:cNvSpPr/>
          <p:nvPr/>
        </p:nvSpPr>
        <p:spPr>
          <a:xfrm>
            <a:off x="7400422" y="2624328"/>
            <a:ext cx="1322771" cy="18562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7582" y="276148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37582" y="2761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537582" y="2971800"/>
            <a:ext cx="10484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4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</a:t>
            </a:r>
            <a:endParaRPr lang="es-CL" sz="4400" dirty="0"/>
          </a:p>
        </p:txBody>
      </p:sp>
      <p:sp>
        <p:nvSpPr>
          <p:cNvPr id="34" name="Text 32"/>
          <p:cNvSpPr txBox="1"/>
          <p:nvPr/>
        </p:nvSpPr>
        <p:spPr>
          <a:xfrm>
            <a:off x="7537582" y="3648456"/>
            <a:ext cx="1048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casos con ahorro medido</a:t>
            </a:r>
            <a:endParaRPr lang="es-CL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537582" y="4014216"/>
            <a:ext cx="104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Publicados en nueve meses</a:t>
            </a:r>
            <a:endParaRPr lang="es-CL" sz="950" dirty="0"/>
          </a:p>
        </p:txBody>
      </p:sp>
      <p:sp>
        <p:nvSpPr>
          <p:cNvPr id="36" name="Shape 34"/>
          <p:cNvSpPr/>
          <p:nvPr/>
        </p:nvSpPr>
        <p:spPr>
          <a:xfrm>
            <a:off x="8860353" y="2624328"/>
            <a:ext cx="1322771" cy="18562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97513" y="276148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97513" y="2761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s-CL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997513" y="2971800"/>
            <a:ext cx="10484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4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80%</a:t>
            </a:r>
            <a:endParaRPr lang="es-CL" sz="4400" dirty="0"/>
          </a:p>
        </p:txBody>
      </p:sp>
      <p:sp>
        <p:nvSpPr>
          <p:cNvPr id="40" name="Text 38"/>
          <p:cNvSpPr txBox="1"/>
          <p:nvPr/>
        </p:nvSpPr>
        <p:spPr>
          <a:xfrm>
            <a:off x="8997513" y="3648456"/>
            <a:ext cx="1048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clientes satisfechos</a:t>
            </a:r>
            <a:endParaRPr lang="es-CL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997513" y="4014216"/>
            <a:ext cx="104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Nota 4 o 5 de 5, a los tres meses</a:t>
            </a:r>
            <a:endParaRPr lang="es-CL" sz="950" dirty="0"/>
          </a:p>
        </p:txBody>
      </p:sp>
      <p:sp>
        <p:nvSpPr>
          <p:cNvPr id="42" name="Shape 40"/>
          <p:cNvSpPr/>
          <p:nvPr/>
        </p:nvSpPr>
        <p:spPr>
          <a:xfrm>
            <a:off x="10320284" y="2624328"/>
            <a:ext cx="1322771" cy="18562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57444" y="276148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457444" y="2761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s-CL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457444" y="2971800"/>
            <a:ext cx="10484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4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15%</a:t>
            </a:r>
            <a:endParaRPr lang="es-CL" sz="4400" dirty="0"/>
          </a:p>
        </p:txBody>
      </p:sp>
      <p:sp>
        <p:nvSpPr>
          <p:cNvPr id="46" name="Text 44"/>
          <p:cNvSpPr txBox="1"/>
          <p:nvPr/>
        </p:nvSpPr>
        <p:spPr>
          <a:xfrm>
            <a:off x="10457444" y="3648456"/>
            <a:ext cx="1048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clientes por recomendación</a:t>
            </a:r>
            <a:endParaRPr lang="es-CL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0457444" y="4014216"/>
            <a:ext cx="10484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Pregunta de origen del formulario</a:t>
            </a:r>
            <a:endParaRPr lang="es-CL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6451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HITOS · INSTALACIONES PROPIAS Y RED POR AÑO</a:t>
            </a:r>
            <a:endParaRPr lang="es-CL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5248656"/>
            <a:ext cx="10728655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" y="5184648"/>
            <a:ext cx="128016" cy="12801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</a:t>
            </a:r>
            <a:endParaRPr lang="es-CL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CL" altLang="en-US" sz="2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299</a:t>
            </a:r>
            <a:endParaRPr lang="es-CL" sz="28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797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taller · tres dúos</a:t>
            </a:r>
            <a:endParaRPr lang="es-CL" sz="1050" dirty="0"/>
          </a:p>
        </p:txBody>
      </p:sp>
      <p:sp>
        <p:nvSpPr>
          <p:cNvPr id="54" name="Shape 52"/>
          <p:cNvSpPr/>
          <p:nvPr/>
        </p:nvSpPr>
        <p:spPr>
          <a:xfrm>
            <a:off x="3349676" y="5184648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224964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224964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2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869</a:t>
            </a:r>
            <a:endParaRPr lang="es-CL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2224964" y="5797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Seis dúos · 3 talleres certificados</a:t>
            </a:r>
            <a:endParaRPr lang="es-CL" sz="1050" dirty="0"/>
          </a:p>
        </p:txBody>
      </p:sp>
      <p:sp>
        <p:nvSpPr>
          <p:cNvPr id="58" name="Shape 56"/>
          <p:cNvSpPr/>
          <p:nvPr/>
        </p:nvSpPr>
        <p:spPr>
          <a:xfrm>
            <a:off x="6031840" y="5184648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907128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907128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2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1.674</a:t>
            </a:r>
            <a:endParaRPr lang="es-CL" sz="2800" dirty="0"/>
          </a:p>
        </p:txBody>
      </p:sp>
      <p:sp>
        <p:nvSpPr>
          <p:cNvPr id="61" name="Text 59"/>
          <p:cNvSpPr txBox="1"/>
          <p:nvPr/>
        </p:nvSpPr>
        <p:spPr>
          <a:xfrm>
            <a:off x="4907128" y="5797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2 · 9 certificados · 1.ª flota</a:t>
            </a:r>
            <a:endParaRPr lang="es-CL" sz="1050" dirty="0"/>
          </a:p>
        </p:txBody>
      </p:sp>
      <p:sp>
        <p:nvSpPr>
          <p:cNvPr id="62" name="Shape 60"/>
          <p:cNvSpPr/>
          <p:nvPr/>
        </p:nvSpPr>
        <p:spPr>
          <a:xfrm>
            <a:off x="8714003" y="5184648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589291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4</a:t>
            </a:r>
            <a:endParaRPr lang="es-CL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7589291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2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2.268</a:t>
            </a:r>
            <a:endParaRPr lang="es-CL" sz="2800" dirty="0"/>
          </a:p>
        </p:txBody>
      </p:sp>
      <p:sp>
        <p:nvSpPr>
          <p:cNvPr id="65" name="Text 63"/>
          <p:cNvSpPr txBox="1"/>
          <p:nvPr/>
        </p:nvSpPr>
        <p:spPr>
          <a:xfrm>
            <a:off x="7589291" y="5797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Dos talleres llenos · 20 certificados</a:t>
            </a:r>
            <a:endParaRPr lang="es-CL" sz="1050" dirty="0"/>
          </a:p>
        </p:txBody>
      </p:sp>
      <p:sp>
        <p:nvSpPr>
          <p:cNvPr id="66" name="Shape 64"/>
          <p:cNvSpPr/>
          <p:nvPr/>
        </p:nvSpPr>
        <p:spPr>
          <a:xfrm>
            <a:off x="11396167" y="5184648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65615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5</a:t>
            </a:r>
            <a:endParaRPr lang="es-CL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9265615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2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2.851</a:t>
            </a:r>
            <a:endParaRPr lang="es-CL" sz="2800" dirty="0"/>
          </a:p>
        </p:txBody>
      </p:sp>
      <p:sp>
        <p:nvSpPr>
          <p:cNvPr id="69" name="Text 67"/>
          <p:cNvSpPr txBox="1"/>
          <p:nvPr/>
        </p:nvSpPr>
        <p:spPr>
          <a:xfrm>
            <a:off x="9265615" y="5797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Tercer taller · 42 certificados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SEGMENTACIÓN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CLIENTE SE DEFINE POR SU AUTO,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por su edad.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DELIMITACIÓN · SIN ESTO NO HAY COMPRA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42616"/>
            <a:ext cx="40233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5234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5234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15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Técnica</a:t>
            </a:r>
            <a:endParaRPr lang="es-CL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90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Liviano, a combustión y con tracción delantera: el kit va sobre el eje trasero.</a:t>
            </a:r>
            <a:endParaRPr lang="es-CL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40233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465576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6557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29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Acceso</a:t>
            </a:r>
            <a:endParaRPr lang="es-CL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llegue al taller: todo Chile, salvo Rapa Nui, Juan Fernández y la Antártica.</a:t>
            </a:r>
            <a:endParaRPr lang="es-C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40233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7880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788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422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Unidad</a:t>
            </a:r>
            <a:endParaRPr lang="es-CL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416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Persona natural vinculada a un vehículo que cumpla la condición técnica.</a:t>
            </a:r>
            <a:endParaRPr lang="es-CL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40233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55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i="1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antigüedad del auto y la capacidad de pago no delimitan el mercado.</a:t>
            </a:r>
            <a:endParaRPr lang="es-CL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331720"/>
            <a:ext cx="3261208" cy="12984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2468880"/>
            <a:ext cx="289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GEOGRÁFICA</a:t>
            </a:r>
            <a:endParaRPr lang="es-CL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660904"/>
            <a:ext cx="289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36,8%</a:t>
            </a:r>
            <a:endParaRPr lang="es-CL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3154680"/>
            <a:ext cx="2895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 parque está en la RM. El ahorro cambia según el contexto, pero no desaparece.</a:t>
            </a:r>
            <a:endParaRPr lang="es-CL" sz="1100" dirty="0"/>
          </a:p>
        </p:txBody>
      </p:sp>
      <p:sp>
        <p:nvSpPr>
          <p:cNvPr id="26" name="Shape 24"/>
          <p:cNvSpPr/>
          <p:nvPr/>
        </p:nvSpPr>
        <p:spPr>
          <a:xfrm>
            <a:off x="8381848" y="2331720"/>
            <a:ext cx="3261208" cy="12984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64728" y="2468880"/>
            <a:ext cx="289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DEMOGRÁFICA</a:t>
            </a:r>
            <a:endParaRPr lang="es-CL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564728" y="2660904"/>
            <a:ext cx="289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 roles</a:t>
            </a:r>
            <a:endParaRPr lang="es-CL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564728" y="3154680"/>
            <a:ext cx="2895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Usuario, dueño efectivo, decisor o pagador e influyentes.</a:t>
            </a:r>
            <a:endParaRPr lang="es-CL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813048"/>
            <a:ext cx="3261208" cy="12984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0" y="3950208"/>
            <a:ext cx="289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PSICOGRÁFICA</a:t>
            </a:r>
            <a:endParaRPr lang="es-CL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4142232"/>
            <a:ext cx="289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 motivos</a:t>
            </a:r>
            <a:endParaRPr lang="es-CL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4636008"/>
            <a:ext cx="2895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Ahorro, ambiente, anticipación normativa, innovación y apego al auto.</a:t>
            </a:r>
            <a:endParaRPr lang="es-CL" sz="1100" dirty="0"/>
          </a:p>
        </p:txBody>
      </p:sp>
      <p:sp>
        <p:nvSpPr>
          <p:cNvPr id="34" name="Shape 32"/>
          <p:cNvSpPr/>
          <p:nvPr/>
        </p:nvSpPr>
        <p:spPr>
          <a:xfrm>
            <a:off x="8381848" y="3813048"/>
            <a:ext cx="3261208" cy="1298448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6984" y="3758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6984" y="3758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42471" y="3758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97919" y="3758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6984" y="516636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6984" y="501091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42471" y="516636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97919" y="501091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64728" y="3950208"/>
            <a:ext cx="289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CONDUCTUAL</a:t>
            </a:r>
            <a:endParaRPr lang="es-CL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564728" y="4142232"/>
            <a:ext cx="289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6 dimensiones</a:t>
            </a:r>
            <a:endParaRPr lang="es-CL" sz="3000" dirty="0"/>
          </a:p>
        </p:txBody>
      </p:sp>
      <p:sp>
        <p:nvSpPr>
          <p:cNvPr id="45" name="Text 43"/>
          <p:cNvSpPr txBox="1"/>
          <p:nvPr/>
        </p:nvSpPr>
        <p:spPr>
          <a:xfrm>
            <a:off x="8564728" y="4636008"/>
            <a:ext cx="2895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intensidad y el tipo de uso fijan cuándo el ahorro paga la inversión.</a:t>
            </a:r>
            <a:endParaRPr lang="es-CL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440680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4088" y="5349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PUNTO DE ENTRADA</a:t>
            </a:r>
            <a:endParaRPr lang="es-CL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Uso laboral de alta intensidad en la RM: colectivos, taxis y aplicaciones.</a:t>
            </a:r>
            <a:endParaRPr lang="es-CL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5943600" y="5349240"/>
            <a:ext cx="5699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DE EMPRESAS</a:t>
            </a:r>
            <a:endParaRPr lang="es-CL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0" y="5596128"/>
            <a:ext cx="1899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14.473</a:t>
            </a:r>
            <a:endParaRPr lang="es-CL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5943600" y="5897880"/>
            <a:ext cx="1808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autos arrendados a conductores</a:t>
            </a:r>
            <a:endParaRPr lang="es-CL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7843418" y="5596128"/>
            <a:ext cx="1899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408</a:t>
            </a:r>
            <a:endParaRPr lang="es-CL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843418" y="5897880"/>
            <a:ext cx="1808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líneas de colectivos</a:t>
            </a:r>
            <a:endParaRPr lang="es-CL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743237" y="5596128"/>
            <a:ext cx="1899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22.447</a:t>
            </a:r>
            <a:endParaRPr lang="es-CL" sz="2000" dirty="0"/>
          </a:p>
        </p:txBody>
      </p:sp>
      <p:sp>
        <p:nvSpPr>
          <p:cNvPr id="56" name="Text 54"/>
          <p:cNvSpPr txBox="1"/>
          <p:nvPr/>
        </p:nvSpPr>
        <p:spPr>
          <a:xfrm>
            <a:off x="9743237" y="5897880"/>
            <a:ext cx="1808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talleres mecánicos</a:t>
            </a:r>
            <a:endParaRPr lang="es-C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INVESTIGACIÓN DE MERCADO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SEIS HIPÓTESIS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antes de fijar el precio.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 MIXTO, SECUENCIAL Y EXPLORATORIO · CUATRO ETAPAS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24328"/>
            <a:ext cx="2533574" cy="20848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18790" y="3666744"/>
            <a:ext cx="24688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232" y="2770632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7706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70632"/>
            <a:ext cx="180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EXPLORATORIA</a:t>
            </a:r>
            <a:endParaRPr lang="es-CL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</a:t>
            </a:r>
            <a:endParaRPr lang="es-CL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593592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conductor de aplicaciones</a:t>
            </a:r>
            <a:endParaRPr lang="es-CL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849624"/>
            <a:ext cx="2204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100.000 km al año; un ahorro de 5% a 10% ya le parece motivo.</a:t>
            </a:r>
            <a:endParaRPr lang="es-CL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434340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86384" y="43434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REALIZADA</a:t>
            </a:r>
            <a:endParaRPr lang="es-CL" sz="850" dirty="0"/>
          </a:p>
        </p:txBody>
      </p:sp>
      <p:sp>
        <p:nvSpPr>
          <p:cNvPr id="15" name="Shape 13"/>
          <p:cNvSpPr/>
          <p:nvPr/>
        </p:nvSpPr>
        <p:spPr>
          <a:xfrm>
            <a:off x="3402254" y="2624328"/>
            <a:ext cx="2533574" cy="20848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2404" y="3666744"/>
            <a:ext cx="24688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846" y="277063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846" y="27706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996614" y="2770632"/>
            <a:ext cx="180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EXPERTOS</a:t>
            </a:r>
            <a:endParaRPr lang="es-CL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66846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</a:t>
            </a:r>
            <a:endParaRPr lang="es-CL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3566846" y="3593592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expertos</a:t>
            </a:r>
            <a:endParaRPr lang="es-CL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66846" y="3849624"/>
            <a:ext cx="2204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Estado, academia, industria y mecánica.</a:t>
            </a:r>
            <a:endParaRPr lang="es-CL" sz="1000" dirty="0"/>
          </a:p>
        </p:txBody>
      </p:sp>
      <p:sp>
        <p:nvSpPr>
          <p:cNvPr id="23" name="Shape 21"/>
          <p:cNvSpPr/>
          <p:nvPr/>
        </p:nvSpPr>
        <p:spPr>
          <a:xfrm>
            <a:off x="3566846" y="434340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3639998" y="43434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850" dirty="0"/>
          </a:p>
        </p:txBody>
      </p:sp>
      <p:sp>
        <p:nvSpPr>
          <p:cNvPr id="25" name="Shape 23"/>
          <p:cNvSpPr/>
          <p:nvPr/>
        </p:nvSpPr>
        <p:spPr>
          <a:xfrm>
            <a:off x="6255868" y="2624328"/>
            <a:ext cx="2533574" cy="20848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6017" y="3666744"/>
            <a:ext cx="24688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20460" y="277063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20460" y="27706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850228" y="2770632"/>
            <a:ext cx="180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CLIENTES</a:t>
            </a:r>
            <a:endParaRPr lang="es-CL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2046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</a:t>
            </a:r>
            <a:endParaRPr lang="es-CL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6420460" y="3593592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perfiles más</a:t>
            </a:r>
            <a:endParaRPr lang="es-CL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20460" y="3849624"/>
            <a:ext cx="2204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Ruta larga, colectivo o taxi, dueño que no maneja, familiar y traslado.</a:t>
            </a:r>
            <a:endParaRPr lang="es-CL" sz="1000" dirty="0"/>
          </a:p>
        </p:txBody>
      </p:sp>
      <p:sp>
        <p:nvSpPr>
          <p:cNvPr id="33" name="Shape 31"/>
          <p:cNvSpPr/>
          <p:nvPr/>
        </p:nvSpPr>
        <p:spPr>
          <a:xfrm>
            <a:off x="6420460" y="434340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93612" y="43434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850" dirty="0"/>
          </a:p>
        </p:txBody>
      </p:sp>
      <p:sp>
        <p:nvSpPr>
          <p:cNvPr id="35" name="Shape 33"/>
          <p:cNvSpPr/>
          <p:nvPr/>
        </p:nvSpPr>
        <p:spPr>
          <a:xfrm>
            <a:off x="9109481" y="2624328"/>
            <a:ext cx="2533574" cy="208483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74073" y="277063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74073" y="27706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s-CL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703841" y="2770632"/>
            <a:ext cx="18020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ENCUESTA</a:t>
            </a:r>
            <a:endParaRPr lang="es-CL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74073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150</a:t>
            </a:r>
            <a:endParaRPr lang="es-CL" sz="3800" dirty="0"/>
          </a:p>
        </p:txBody>
      </p:sp>
      <p:sp>
        <p:nvSpPr>
          <p:cNvPr id="40" name="Text 38"/>
          <p:cNvSpPr txBox="1"/>
          <p:nvPr/>
        </p:nvSpPr>
        <p:spPr>
          <a:xfrm>
            <a:off x="9274073" y="3593592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casos, mínimo 100</a:t>
            </a:r>
            <a:endParaRPr lang="es-CL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274073" y="3849624"/>
            <a:ext cx="2204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cuotas en la RM: 23 preguntas y 7 minutos.</a:t>
            </a:r>
            <a:endParaRPr lang="es-CL" sz="1000" dirty="0"/>
          </a:p>
        </p:txBody>
      </p:sp>
      <p:sp>
        <p:nvSpPr>
          <p:cNvPr id="42" name="Shape 40"/>
          <p:cNvSpPr/>
          <p:nvPr/>
        </p:nvSpPr>
        <p:spPr>
          <a:xfrm>
            <a:off x="9274073" y="434340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347225" y="43434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91947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QUÉ PONE A PRUEBA · 3 DE 6 HIPÓTESIS (ANEXO A1)</a:t>
            </a:r>
            <a:endParaRPr lang="es-CL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5212080"/>
            <a:ext cx="6949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266944"/>
            <a:ext cx="384048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48640" y="526694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H1</a:t>
            </a:r>
            <a:endParaRPr lang="es-CL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097280" y="5212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uso laboral tiene más intención de compra que el particular.</a:t>
            </a:r>
            <a:endParaRPr lang="es-CL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5550408"/>
            <a:ext cx="6949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5605272"/>
            <a:ext cx="384048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48640" y="560527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H4</a:t>
            </a:r>
            <a:endParaRPr lang="es-CL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" y="55504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barrera principal es la confianza, no el precio.</a:t>
            </a:r>
            <a:endParaRPr lang="es-CL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888736"/>
            <a:ext cx="6949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943600"/>
            <a:ext cx="384048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48640" y="59436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H6</a:t>
            </a:r>
            <a:endParaRPr lang="es-CL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1097280" y="58887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prefiere hibridar antes que gas, cambiar de auto o no hacer nada.</a:t>
            </a:r>
            <a:endParaRPr lang="es-CL" sz="1200" dirty="0"/>
          </a:p>
        </p:txBody>
      </p:sp>
      <p:sp>
        <p:nvSpPr>
          <p:cNvPr id="57" name="Shape 55"/>
          <p:cNvSpPr/>
          <p:nvPr/>
        </p:nvSpPr>
        <p:spPr>
          <a:xfrm>
            <a:off x="7909560" y="4919472"/>
            <a:ext cx="3733495" cy="13258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92440" y="5047488"/>
            <a:ext cx="3367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MUESTRA POR CUOTAS</a:t>
            </a:r>
            <a:endParaRPr lang="es-CL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809244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±8,0%</a:t>
            </a:r>
            <a:endParaRPr lang="es-CL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9784080" y="5285232"/>
            <a:ext cx="1676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 de referencia con 150 casos. Una muestra aleatoria exigiría 385: los resultados son indicativos.</a:t>
            </a:r>
            <a:endParaRPr lang="es-CL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092440" y="5852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Precio con el método de Van Westendorp.</a:t>
            </a:r>
            <a:endParaRPr lang="es-C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MATRIZ DE ANSOFF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UN PRODUCTO NUEVO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un mercado que ya existe.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3042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 EXISTENTE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74920" y="23042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 NUEVO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 rot="16200000">
            <a:off x="-210312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EXISTENTE</a:t>
            </a:r>
            <a:endParaRPr lang="es-CL" sz="850" dirty="0"/>
          </a:p>
        </p:txBody>
      </p:sp>
      <p:sp>
        <p:nvSpPr>
          <p:cNvPr id="7" name="Text 5"/>
          <p:cNvSpPr txBox="1"/>
          <p:nvPr/>
        </p:nvSpPr>
        <p:spPr>
          <a:xfrm rot="16200000">
            <a:off x="-210312" y="5276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NUEVO</a:t>
            </a:r>
            <a:endParaRPr lang="es-CL" sz="850" dirty="0"/>
          </a:p>
        </p:txBody>
      </p:sp>
      <p:sp>
        <p:nvSpPr>
          <p:cNvPr id="8" name="Shape 6"/>
          <p:cNvSpPr/>
          <p:nvPr/>
        </p:nvSpPr>
        <p:spPr>
          <a:xfrm>
            <a:off x="1051560" y="2633472"/>
            <a:ext cx="3520440" cy="15361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52728" y="27797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b="1" spc="100" kern="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PENETRACIÓN</a:t>
            </a:r>
            <a:endParaRPr lang="es-CL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30632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34670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Más clientes del mismo mercado: uso medio, recomendación y el mecánico de confianza como canal.</a:t>
            </a:r>
            <a:endParaRPr lang="es-CL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633472"/>
            <a:ext cx="3520440" cy="1536192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0056" y="257860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57860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4776" y="257860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0224" y="257860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056" y="422452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0056" y="406908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94776" y="422452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06908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76088" y="27797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b="1" spc="100" kern="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DESARROLLO DE PRODUCTO</a:t>
            </a:r>
            <a:endParaRPr lang="es-CL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30632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 · AQUÍ ENTRA LUMINE</a:t>
            </a:r>
            <a:endParaRPr lang="es-CL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276088" y="334670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Hibridación aditiva certificada, sin oferta en Chile, para conductores que ya buscan gastar menos.</a:t>
            </a:r>
            <a:endParaRPr lang="es-CL" sz="1150" dirty="0"/>
          </a:p>
        </p:txBody>
      </p:sp>
      <p:sp>
        <p:nvSpPr>
          <p:cNvPr id="24" name="Shape 22"/>
          <p:cNvSpPr/>
          <p:nvPr/>
        </p:nvSpPr>
        <p:spPr>
          <a:xfrm>
            <a:off x="1051560" y="4626864"/>
            <a:ext cx="3520440" cy="15361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52728" y="477316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b="1" spc="100" kern="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DESARROLLO DE MERCADO</a:t>
            </a:r>
            <a:endParaRPr lang="es-CL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056632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5340096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Flotas y regiones a través de la red certificada, y convenios con líneas de colectivos.</a:t>
            </a:r>
            <a:endParaRPr lang="es-CL" sz="1150" dirty="0"/>
          </a:p>
        </p:txBody>
      </p:sp>
      <p:sp>
        <p:nvSpPr>
          <p:cNvPr id="28" name="Shape 26"/>
          <p:cNvSpPr/>
          <p:nvPr/>
        </p:nvSpPr>
        <p:spPr>
          <a:xfrm>
            <a:off x="5074920" y="4626864"/>
            <a:ext cx="3520440" cy="1536192"/>
          </a:xfrm>
          <a:prstGeom prst="rect">
            <a:avLst/>
          </a:prstGeom>
          <a:solidFill>
            <a:srgbClr val="0B1A22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5276088" y="477316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b="1" spc="100" kern="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DIVERSIFICACIÓN RELACIONADA</a:t>
            </a:r>
            <a:endParaRPr lang="es-CL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5056632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DESDE EL AÑO 2</a:t>
            </a:r>
            <a:endParaRPr lang="es-CL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5340096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Patrones de calibración, kits por volumen y certificación con Habilita, vendidos a otros talleres.</a:t>
            </a:r>
            <a:endParaRPr lang="es-CL" sz="1150" dirty="0"/>
          </a:p>
        </p:txBody>
      </p:sp>
      <p:sp>
        <p:nvSpPr>
          <p:cNvPr id="32" name="Shape 30"/>
          <p:cNvSpPr/>
          <p:nvPr/>
        </p:nvSpPr>
        <p:spPr>
          <a:xfrm>
            <a:off x="5029200" y="3401568"/>
            <a:ext cx="-4114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590288" y="3154680"/>
            <a:ext cx="466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50" spc="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750" dirty="0"/>
          </a:p>
        </p:txBody>
      </p:sp>
      <p:sp>
        <p:nvSpPr>
          <p:cNvPr id="34" name="Shape 32"/>
          <p:cNvSpPr/>
          <p:nvPr/>
        </p:nvSpPr>
        <p:spPr>
          <a:xfrm>
            <a:off x="1463040" y="4215384"/>
            <a:ext cx="0" cy="3657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554480" y="4297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800" dirty="0"/>
          </a:p>
        </p:txBody>
      </p:sp>
      <p:sp>
        <p:nvSpPr>
          <p:cNvPr id="36" name="Shape 34"/>
          <p:cNvSpPr/>
          <p:nvPr/>
        </p:nvSpPr>
        <p:spPr>
          <a:xfrm>
            <a:off x="8183880" y="4215384"/>
            <a:ext cx="0" cy="3657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360920" y="4297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8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800" dirty="0"/>
          </a:p>
        </p:txBody>
      </p:sp>
      <p:sp>
        <p:nvSpPr>
          <p:cNvPr id="38" name="Shape 36"/>
          <p:cNvSpPr/>
          <p:nvPr/>
        </p:nvSpPr>
        <p:spPr>
          <a:xfrm>
            <a:off x="9006840" y="2633472"/>
            <a:ext cx="2636215" cy="352958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08008" y="2798064"/>
            <a:ext cx="22338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 EXCEPCIÓN DELIBERADA</a:t>
            </a:r>
            <a:endParaRPr lang="es-CL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9208008" y="3072384"/>
            <a:ext cx="2233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diversificación se adelanta al año 2.</a:t>
            </a:r>
            <a:endParaRPr lang="es-CL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208008" y="3685032"/>
            <a:ext cx="2233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valor de la calibración depende de su exclusividad, que se agota con el tiempo.</a:t>
            </a:r>
            <a:endParaRPr lang="es-CL" sz="1150" dirty="0"/>
          </a:p>
        </p:txBody>
      </p:sp>
      <p:sp>
        <p:nvSpPr>
          <p:cNvPr id="42" name="Shape 40"/>
          <p:cNvSpPr/>
          <p:nvPr/>
        </p:nvSpPr>
        <p:spPr>
          <a:xfrm>
            <a:off x="9208008" y="4443984"/>
            <a:ext cx="223387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08008" y="4553712"/>
            <a:ext cx="2233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taller de la red devuelve sus datos: la red alimenta la biblioteca en vez de diluirla.</a:t>
            </a:r>
            <a:endParaRPr lang="es-CL" sz="1150" dirty="0"/>
          </a:p>
        </p:txBody>
      </p:sp>
      <p:sp>
        <p:nvSpPr>
          <p:cNvPr id="44" name="Shape 42"/>
          <p:cNvSpPr/>
          <p:nvPr/>
        </p:nvSpPr>
        <p:spPr>
          <a:xfrm>
            <a:off x="9208008" y="5330952"/>
            <a:ext cx="223387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08008" y="5440680"/>
            <a:ext cx="22338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TALLERES PROPIOS</a:t>
            </a:r>
            <a:endParaRPr lang="es-CL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9208008" y="5669280"/>
            <a:ext cx="2233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Segundo en el mes 25 y tercero en el 49.</a:t>
            </a:r>
            <a:endParaRPr lang="es-CL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POSICIONAMIENTO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ESPACIO VACÍO: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ahorrar sin cambiar de auto.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71800" y="2331720"/>
            <a:ext cx="8671255" cy="1234440"/>
          </a:xfrm>
          <a:prstGeom prst="rect">
            <a:avLst/>
          </a:prstGeom>
          <a:solidFill>
            <a:srgbClr val="0B1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Conserva su auto</a:t>
            </a:r>
            <a:endParaRPr lang="es-CL" sz="1250" dirty="0"/>
          </a:p>
          <a:p>
            <a:pPr algn="r" indent="0" marL="0">
              <a:buNone/>
            </a:pPr>
            <a:r>
              <a:rPr lang="es-CL" altLang="en-US" sz="12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límite de antigüedad</a:t>
            </a:r>
            <a:endParaRPr lang="es-CL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3657600"/>
            <a:ext cx="867125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Conserva su auto</a:t>
            </a:r>
            <a:endParaRPr lang="es-CL" sz="1250" dirty="0"/>
          </a:p>
          <a:p>
            <a:pPr algn="r" indent="0" marL="0">
              <a:buNone/>
            </a:pPr>
            <a:r>
              <a:rPr lang="es-CL" altLang="en-US" sz="12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 límite de antigüedad</a:t>
            </a:r>
            <a:endParaRPr lang="es-CL" sz="1250" dirty="0"/>
          </a:p>
        </p:txBody>
      </p:sp>
      <p:sp>
        <p:nvSpPr>
          <p:cNvPr id="8" name="Shape 6"/>
          <p:cNvSpPr/>
          <p:nvPr/>
        </p:nvSpPr>
        <p:spPr>
          <a:xfrm>
            <a:off x="2971800" y="4663440"/>
            <a:ext cx="8671255" cy="1207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66344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Debe reemplazar</a:t>
            </a:r>
            <a:endParaRPr lang="es-CL" sz="1250" dirty="0"/>
          </a:p>
          <a:p>
            <a:pPr algn="r" indent="0" marL="0">
              <a:buNone/>
            </a:pPr>
            <a:r>
              <a:rPr lang="es-CL" altLang="en-US" sz="12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 auto</a:t>
            </a:r>
            <a:endParaRPr lang="es-CL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84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QUÉ EXIGE AL CONDUCTOR</a:t>
            </a:r>
            <a:endParaRPr lang="es-CL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5916168"/>
            <a:ext cx="8671255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98648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</a:t>
            </a:r>
            <a:endParaRPr lang="es-CL" sz="800" dirty="0"/>
          </a:p>
        </p:txBody>
      </p:sp>
      <p:sp>
        <p:nvSpPr>
          <p:cNvPr id="14" name="Shape 12"/>
          <p:cNvSpPr/>
          <p:nvPr/>
        </p:nvSpPr>
        <p:spPr>
          <a:xfrm>
            <a:off x="5222886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5686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 M</a:t>
            </a:r>
            <a:endParaRPr lang="es-CL" sz="800" dirty="0"/>
          </a:p>
        </p:txBody>
      </p:sp>
      <p:sp>
        <p:nvSpPr>
          <p:cNvPr id="16" name="Shape 14"/>
          <p:cNvSpPr/>
          <p:nvPr/>
        </p:nvSpPr>
        <p:spPr>
          <a:xfrm>
            <a:off x="6559571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02371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 M</a:t>
            </a:r>
            <a:endParaRPr lang="es-CL" sz="800" dirty="0"/>
          </a:p>
        </p:txBody>
      </p:sp>
      <p:sp>
        <p:nvSpPr>
          <p:cNvPr id="18" name="Shape 16"/>
          <p:cNvSpPr/>
          <p:nvPr/>
        </p:nvSpPr>
        <p:spPr>
          <a:xfrm>
            <a:off x="8326573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9373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 M</a:t>
            </a:r>
            <a:endParaRPr lang="es-CL" sz="800" dirty="0"/>
          </a:p>
        </p:txBody>
      </p:sp>
      <p:sp>
        <p:nvSpPr>
          <p:cNvPr id="20" name="Shape 18"/>
          <p:cNvSpPr/>
          <p:nvPr/>
        </p:nvSpPr>
        <p:spPr>
          <a:xfrm>
            <a:off x="9663259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06059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$10 M</a:t>
            </a:r>
            <a:endParaRPr lang="es-CL" sz="800" dirty="0"/>
          </a:p>
        </p:txBody>
      </p:sp>
      <p:sp>
        <p:nvSpPr>
          <p:cNvPr id="22" name="Shape 20"/>
          <p:cNvSpPr/>
          <p:nvPr/>
        </p:nvSpPr>
        <p:spPr>
          <a:xfrm>
            <a:off x="10999944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42744" y="5980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 M</a:t>
            </a:r>
            <a:endParaRPr lang="es-CL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6163056"/>
            <a:ext cx="86712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INVERSIÓN INICIAL DEL CONDUCTOR · MILLONES DE PESOS · ESCALA LOGARÍTMICA</a:t>
            </a:r>
            <a:endParaRPr lang="es-CL" sz="750" dirty="0"/>
          </a:p>
        </p:txBody>
      </p:sp>
      <p:sp>
        <p:nvSpPr>
          <p:cNvPr id="25" name="Shape 23"/>
          <p:cNvSpPr/>
          <p:nvPr/>
        </p:nvSpPr>
        <p:spPr>
          <a:xfrm>
            <a:off x="4301027" y="2441448"/>
            <a:ext cx="4728735" cy="1014984"/>
          </a:xfrm>
          <a:prstGeom prst="rect">
            <a:avLst/>
          </a:prstGeom>
          <a:solidFill>
            <a:srgbClr val="0B1A22">
              <a:alpha val="0"/>
            </a:srgbClr>
          </a:solidFill>
          <a:ln w="9525">
            <a:solidFill>
              <a:schemeClr val="accent1"/>
            </a:solidFill>
            <a:prstDash val="sysDot"/>
          </a:ln>
        </p:spPr>
      </p:sp>
      <p:sp>
        <p:nvSpPr>
          <p:cNvPr id="26" name="Text 24"/>
          <p:cNvSpPr txBox="1"/>
          <p:nvPr/>
        </p:nvSpPr>
        <p:spPr>
          <a:xfrm>
            <a:off x="4438187" y="3127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Espacio hoy sin oferta: ahorrar sin reemplazar el auto</a:t>
            </a:r>
            <a:endParaRPr lang="es-CL" sz="1050" dirty="0"/>
          </a:p>
        </p:txBody>
      </p:sp>
      <p:sp>
        <p:nvSpPr>
          <p:cNvPr id="27" name="Shape 25"/>
          <p:cNvSpPr/>
          <p:nvPr/>
        </p:nvSpPr>
        <p:spPr>
          <a:xfrm>
            <a:off x="3282696" y="2651760"/>
            <a:ext cx="146304" cy="1463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852928" y="2862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hacer nada</a:t>
            </a:r>
            <a:endParaRPr lang="es-CL" sz="1000" dirty="0"/>
          </a:p>
          <a:p>
            <a:pPr algn="ctr"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ahorro</a:t>
            </a:r>
            <a:endParaRPr lang="es-CL" sz="1000" dirty="0"/>
          </a:p>
        </p:txBody>
      </p:sp>
      <p:sp>
        <p:nvSpPr>
          <p:cNvPr id="29" name="Shape 27"/>
          <p:cNvSpPr/>
          <p:nvPr/>
        </p:nvSpPr>
        <p:spPr>
          <a:xfrm>
            <a:off x="8031232" y="2688336"/>
            <a:ext cx="291481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Shape 28"/>
          <p:cNvSpPr/>
          <p:nvPr/>
        </p:nvSpPr>
        <p:spPr>
          <a:xfrm>
            <a:off x="7948936" y="2642616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0416" y="2642616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82592" y="28529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ESENCIAL · PLUS</a:t>
            </a:r>
            <a:endParaRPr lang="es-CL" sz="750" dirty="0"/>
          </a:p>
        </p:txBody>
      </p:sp>
      <p:sp>
        <p:nvSpPr>
          <p:cNvPr id="33" name="Shape 31"/>
          <p:cNvSpPr/>
          <p:nvPr/>
        </p:nvSpPr>
        <p:spPr>
          <a:xfrm>
            <a:off x="9280560" y="2514600"/>
            <a:ext cx="2225335" cy="86868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25696" y="24597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25696" y="24597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05311" y="24597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0759" y="24597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25696" y="34381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25696" y="32826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05311" y="34381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60759" y="32826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17720" y="2606040"/>
            <a:ext cx="19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LUMINE MOTORS</a:t>
            </a:r>
            <a:endParaRPr lang="es-CL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372000" y="2880360"/>
            <a:ext cx="2042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$4,3 M y $5,0 M</a:t>
            </a:r>
            <a:endParaRPr lang="es-CL" sz="1000" dirty="0"/>
          </a:p>
          <a:p>
            <a:pPr algn="ctr" indent="0" marL="0">
              <a:buNone/>
            </a:pPr>
            <a:r>
              <a:rPr lang="es-CL" altLang="en-US" sz="10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15% y 20% menos bencina</a:t>
            </a:r>
            <a:endParaRPr lang="es-CL" sz="1000" dirty="0"/>
          </a:p>
        </p:txBody>
      </p:sp>
      <p:sp>
        <p:nvSpPr>
          <p:cNvPr id="44" name="Shape 42"/>
          <p:cNvSpPr/>
          <p:nvPr/>
        </p:nvSpPr>
        <p:spPr>
          <a:xfrm>
            <a:off x="5019705" y="4297680"/>
            <a:ext cx="1336686" cy="91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928265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Conversión a gas  </a:t>
            </a:r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$0,9–1,8 M · hasta 35% · máx. 7 años (GLP)</a:t>
            </a:r>
            <a:endParaRPr lang="es-CL" sz="1100" dirty="0"/>
          </a:p>
        </p:txBody>
      </p:sp>
      <p:sp>
        <p:nvSpPr>
          <p:cNvPr id="46" name="Shape 44"/>
          <p:cNvSpPr/>
          <p:nvPr/>
        </p:nvSpPr>
        <p:spPr>
          <a:xfrm>
            <a:off x="9564343" y="4919472"/>
            <a:ext cx="604867" cy="91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7" name="Shape 45"/>
          <p:cNvSpPr/>
          <p:nvPr/>
        </p:nvSpPr>
        <p:spPr>
          <a:xfrm>
            <a:off x="9500335" y="4901184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403823" y="4828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Híbrido usado  </a:t>
            </a:r>
            <a:pPr algn="r"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$9,5–13 M</a:t>
            </a:r>
            <a:endParaRPr lang="es-CL" sz="1100" dirty="0"/>
          </a:p>
        </p:txBody>
      </p:sp>
      <p:sp>
        <p:nvSpPr>
          <p:cNvPr id="49" name="Shape 47"/>
          <p:cNvSpPr/>
          <p:nvPr/>
        </p:nvSpPr>
        <p:spPr>
          <a:xfrm>
            <a:off x="10013245" y="5248656"/>
            <a:ext cx="614554" cy="91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0" name="Shape 48"/>
          <p:cNvSpPr/>
          <p:nvPr/>
        </p:nvSpPr>
        <p:spPr>
          <a:xfrm>
            <a:off x="9949237" y="5230368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852725" y="5157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Híbrido nuevo  </a:t>
            </a:r>
            <a:pPr algn="r"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desde $12,0 M (ligero)</a:t>
            </a:r>
            <a:endParaRPr lang="es-CL" sz="1100" dirty="0"/>
          </a:p>
        </p:txBody>
      </p:sp>
      <p:sp>
        <p:nvSpPr>
          <p:cNvPr id="52" name="Shape 50"/>
          <p:cNvSpPr/>
          <p:nvPr/>
        </p:nvSpPr>
        <p:spPr>
          <a:xfrm>
            <a:off x="10310744" y="5577840"/>
            <a:ext cx="1195151" cy="91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46736" y="555955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150224" y="5486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Eléctrico nuevo  </a:t>
            </a:r>
            <a:pPr algn="r"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desde $14,0 M · se enchufa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MIX: PRODUCTO Y PRECIO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PLUS CUESTA 16% MÁS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 ahorra 24% más.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788920" cy="2971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96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ESENCIAL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$4.290.000</a:t>
            </a:r>
            <a:endParaRPr lang="es-CL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291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 IVA · PRECIO DE REFERENCIA</a:t>
            </a:r>
            <a:endParaRPr lang="es-CL" sz="750" dirty="0"/>
          </a:p>
        </p:txBody>
      </p:sp>
      <p:sp>
        <p:nvSpPr>
          <p:cNvPr id="8" name="Shape 6"/>
          <p:cNvSpPr/>
          <p:nvPr/>
        </p:nvSpPr>
        <p:spPr>
          <a:xfrm>
            <a:off x="749808" y="359359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63016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PROMESA</a:t>
            </a:r>
            <a:endParaRPr lang="es-CL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77647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15% menos bencina</a:t>
            </a:r>
            <a:endParaRPr lang="es-CL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400507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04164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MOTORES EN RUEDA</a:t>
            </a:r>
            <a:endParaRPr lang="es-CL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18795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 × 4.000 W</a:t>
            </a:r>
            <a:endParaRPr lang="es-CL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441655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45312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AHORRO DEL COLECTIVO</a:t>
            </a:r>
            <a:endParaRPr lang="es-CL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59943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$117.069 al mes</a:t>
            </a:r>
            <a:endParaRPr lang="es-CL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82803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86460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MARGEN POR KIT</a:t>
            </a:r>
            <a:endParaRPr lang="es-CL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01091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$454.226</a:t>
            </a:r>
            <a:endParaRPr lang="es-CL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2331720"/>
            <a:ext cx="2788920" cy="297180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1129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1129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11296" y="53583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1296" y="52029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53583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52029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67328" y="2496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PLUS</a:t>
            </a:r>
            <a:endParaRPr lang="es-CL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478024"/>
            <a:ext cx="11430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102352" y="247802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RECOMENDADA</a:t>
            </a:r>
            <a:endParaRPr lang="es-CL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$4.990.000</a:t>
            </a:r>
            <a:endParaRPr lang="es-CL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3767328" y="3291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 IVA · PRECIO DE REFERENCIA</a:t>
            </a:r>
            <a:endParaRPr lang="es-CL" sz="750" dirty="0"/>
          </a:p>
        </p:txBody>
      </p:sp>
      <p:sp>
        <p:nvSpPr>
          <p:cNvPr id="34" name="Shape 32"/>
          <p:cNvSpPr/>
          <p:nvPr/>
        </p:nvSpPr>
        <p:spPr>
          <a:xfrm>
            <a:off x="3767328" y="359359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67328" y="363016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PROMESA</a:t>
            </a:r>
            <a:endParaRPr lang="es-CL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767328" y="377647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20% menos bencina</a:t>
            </a:r>
            <a:endParaRPr lang="es-CL" sz="1200" dirty="0"/>
          </a:p>
        </p:txBody>
      </p:sp>
      <p:sp>
        <p:nvSpPr>
          <p:cNvPr id="37" name="Shape 35"/>
          <p:cNvSpPr/>
          <p:nvPr/>
        </p:nvSpPr>
        <p:spPr>
          <a:xfrm>
            <a:off x="3767328" y="400507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67328" y="404164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MOTORES EN RUEDA</a:t>
            </a:r>
            <a:endParaRPr lang="es-CL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767328" y="418795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 × 6.000 W</a:t>
            </a:r>
            <a:endParaRPr lang="es-CL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441655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67328" y="445312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AHORRO DEL COLECTIVO</a:t>
            </a:r>
            <a:endParaRPr lang="es-CL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3767328" y="459943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$145.327 al mes</a:t>
            </a:r>
            <a:endParaRPr lang="es-CL" sz="1200" dirty="0"/>
          </a:p>
        </p:txBody>
      </p:sp>
      <p:sp>
        <p:nvSpPr>
          <p:cNvPr id="43" name="Shape 41"/>
          <p:cNvSpPr/>
          <p:nvPr/>
        </p:nvSpPr>
        <p:spPr>
          <a:xfrm>
            <a:off x="3767328" y="4828032"/>
            <a:ext cx="2386584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67328" y="4864608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MARGEN POR KIT</a:t>
            </a:r>
            <a:endParaRPr lang="es-CL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3767328" y="501091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$683.376</a:t>
            </a:r>
            <a:endParaRPr lang="es-CL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2331720"/>
            <a:ext cx="4830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PARA RECUPERAR LA INVERSIÓN</a:t>
            </a:r>
            <a:endParaRPr lang="es-CL" sz="900" dirty="0"/>
          </a:p>
        </p:txBody>
      </p:sp>
      <p:graphicFrame>
        <p:nvGraphicFramePr>
          <p:cNvPr id="47" name="Meses para recuperar la inversión por versión" descr=""/>
          <p:cNvGraphicFramePr/>
          <p:nvPr/>
        </p:nvGraphicFramePr>
        <p:xfrm>
          <a:off x="6720840" y="2606040"/>
          <a:ext cx="4922215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Shape 45"/>
          <p:cNvSpPr/>
          <p:nvPr/>
        </p:nvSpPr>
        <p:spPr>
          <a:xfrm>
            <a:off x="548640" y="5458968"/>
            <a:ext cx="351525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" y="5605272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04088" y="5532120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GARANTÍA</a:t>
            </a:r>
            <a:endParaRPr lang="es-CL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57881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Kit e instalación: 3 años o 200.000 km. Batería: 5 años o 300.000 km.</a:t>
            </a:r>
            <a:endParaRPr lang="es-CL" sz="1050" dirty="0"/>
          </a:p>
        </p:txBody>
      </p:sp>
      <p:sp>
        <p:nvSpPr>
          <p:cNvPr id="52" name="Shape 49"/>
          <p:cNvSpPr/>
          <p:nvPr/>
        </p:nvSpPr>
        <p:spPr>
          <a:xfrm>
            <a:off x="4338218" y="5458968"/>
            <a:ext cx="351525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338218" y="5605272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493666" y="5532120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FINANCIAMIENTO</a:t>
            </a:r>
            <a:endParaRPr lang="es-CL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4338218" y="57881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Cuota de Plus a 48 meses: $159.967 al 25,6% anual. El convenio busca una línea preferente.</a:t>
            </a:r>
            <a:endParaRPr lang="es-CL" sz="1050" dirty="0"/>
          </a:p>
        </p:txBody>
      </p:sp>
      <p:sp>
        <p:nvSpPr>
          <p:cNvPr id="56" name="Shape 53"/>
          <p:cNvSpPr/>
          <p:nvPr/>
        </p:nvSpPr>
        <p:spPr>
          <a:xfrm>
            <a:off x="8127797" y="5458968"/>
            <a:ext cx="351525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127797" y="5605272"/>
            <a:ext cx="68580" cy="685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283245" y="5532120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VALIDAR</a:t>
            </a:r>
            <a:endParaRPr lang="es-CL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8127797" y="57881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Precios de referencia: la encuesta los ajusta con el método de Van Westendorp.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DEMANDA Y PRONÓSTICO DE VENTAS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MÁS DEMANDA QUE CAPACIDAD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desde el año 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TAMAÑO DEL MERCADO · VEHÍCULOS (2024)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42616"/>
            <a:ext cx="3383280" cy="69494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15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 · CHILE</a:t>
            </a:r>
            <a:endParaRPr lang="es-CL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986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4.409.729</a:t>
            </a:r>
            <a:endParaRPr lang="es-CL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2638958" cy="69494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5204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 · REGIÓN METROPOLITANA</a:t>
            </a:r>
            <a:endParaRPr lang="es-CL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03320"/>
            <a:ext cx="23646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1.685.930</a:t>
            </a:r>
            <a:endParaRPr lang="es-CL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894637" cy="694944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3251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SEGMENTO LABORAL · RM</a:t>
            </a:r>
            <a:endParaRPr lang="es-CL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07992"/>
            <a:ext cx="1620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162.780</a:t>
            </a:r>
            <a:endParaRPr lang="es-CL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56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Taxis 22.838 · colectivos 12.982 · aplicaciones 126.960 (estimación propia).</a:t>
            </a:r>
            <a:endParaRPr lang="es-CL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33832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ADOPCIÓN · MODELO DE BASS</a:t>
            </a:r>
            <a:endParaRPr lang="es-CL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61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11,1% del segmento al año 5, </a:t>
            </a:r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bajo el 16% de innovadores y adoptadores tempranos.</a:t>
            </a:r>
            <a:endParaRPr lang="es-CL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2331720"/>
            <a:ext cx="7299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VEHÍCULOS POR AÑO · ESCENARIO BASE</a:t>
            </a:r>
            <a:endParaRPr lang="es-CL" sz="900" dirty="0"/>
          </a:p>
        </p:txBody>
      </p:sp>
      <p:graphicFrame>
        <p:nvGraphicFramePr>
          <p:cNvPr id="19" name="Pronóstico de ventas por año" descr=""/>
          <p:cNvGraphicFramePr/>
          <p:nvPr/>
        </p:nvGraphicFramePr>
        <p:xfrm>
          <a:off x="4251960" y="2606040"/>
          <a:ext cx="739109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343400" y="5943600"/>
            <a:ext cx="7299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Pronóstico = el menor entre demanda y capacidad. </a:t>
            </a:r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límite es físico, técnicos y espacio: lo que los talleres propios no cubren lo instala la red.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PRESUPUESTO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$80,9 MILLONES EL PRIMER AÑO: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6,8% de los ingresos.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PRESUPUESTO POR PARTIDA · MILLONES DE PESOS NETOS</a:t>
            </a:r>
            <a:endParaRPr lang="es-CL" sz="900" dirty="0"/>
          </a:p>
        </p:txBody>
      </p:sp>
      <p:graphicFrame>
        <p:nvGraphicFramePr>
          <p:cNvPr id="5" name="Presupuesto de marketing por partida" descr=""/>
          <p:cNvGraphicFramePr/>
          <p:nvPr/>
        </p:nvGraphicFramePr>
        <p:xfrm>
          <a:off x="457200" y="2606040"/>
          <a:ext cx="71323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2331720"/>
            <a:ext cx="3642055" cy="3886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4613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4613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46136" y="62727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46136" y="6117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42471" y="62727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97919" y="6117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· MILLONES</a:t>
            </a:r>
            <a:endParaRPr lang="es-CL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0317175" y="2496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INGRESOS</a:t>
            </a:r>
            <a:endParaRPr lang="es-CL" sz="750" dirty="0"/>
          </a:p>
        </p:txBody>
      </p:sp>
      <p:sp>
        <p:nvSpPr>
          <p:cNvPr id="17" name="Shape 14"/>
          <p:cNvSpPr/>
          <p:nvPr/>
        </p:nvSpPr>
        <p:spPr>
          <a:xfrm>
            <a:off x="8229600" y="2788920"/>
            <a:ext cx="31848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278892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1</a:t>
            </a:r>
            <a:endParaRPr lang="es-CL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098280" y="278892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9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80,9</a:t>
            </a:r>
            <a:endParaRPr lang="es-CL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0454335" y="2788920"/>
            <a:ext cx="960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6,8%</a:t>
            </a:r>
            <a:endParaRPr lang="es-CL" sz="1500" dirty="0"/>
          </a:p>
        </p:txBody>
      </p:sp>
      <p:sp>
        <p:nvSpPr>
          <p:cNvPr id="21" name="Shape 18"/>
          <p:cNvSpPr/>
          <p:nvPr/>
        </p:nvSpPr>
        <p:spPr>
          <a:xfrm>
            <a:off x="8229600" y="3218688"/>
            <a:ext cx="31848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0" y="3218688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2</a:t>
            </a:r>
            <a:endParaRPr lang="es-CL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9098280" y="32186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80,0</a:t>
            </a:r>
            <a:endParaRPr lang="es-CL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10454335" y="3218688"/>
            <a:ext cx="960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2,3%</a:t>
            </a:r>
            <a:endParaRPr lang="es-CL" sz="1500" dirty="0"/>
          </a:p>
        </p:txBody>
      </p:sp>
      <p:sp>
        <p:nvSpPr>
          <p:cNvPr id="25" name="Shape 22"/>
          <p:cNvSpPr/>
          <p:nvPr/>
        </p:nvSpPr>
        <p:spPr>
          <a:xfrm>
            <a:off x="8229600" y="3648456"/>
            <a:ext cx="31848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0" y="364845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3</a:t>
            </a:r>
            <a:endParaRPr lang="es-CL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098280" y="3648456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116,3</a:t>
            </a:r>
            <a:endParaRPr lang="es-CL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10454335" y="3648456"/>
            <a:ext cx="960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accent5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—</a:t>
            </a:r>
            <a:endParaRPr lang="es-CL" sz="1500" dirty="0"/>
          </a:p>
        </p:txBody>
      </p:sp>
      <p:sp>
        <p:nvSpPr>
          <p:cNvPr id="29" name="Shape 26"/>
          <p:cNvSpPr/>
          <p:nvPr/>
        </p:nvSpPr>
        <p:spPr>
          <a:xfrm>
            <a:off x="8229600" y="4078224"/>
            <a:ext cx="31848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0" y="4078224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4</a:t>
            </a:r>
            <a:endParaRPr lang="es-CL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098280" y="4078224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134,3</a:t>
            </a:r>
            <a:endParaRPr lang="es-CL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10454335" y="4078224"/>
            <a:ext cx="960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accent5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—</a:t>
            </a:r>
            <a:endParaRPr lang="es-CL" sz="1500" dirty="0"/>
          </a:p>
        </p:txBody>
      </p:sp>
      <p:sp>
        <p:nvSpPr>
          <p:cNvPr id="33" name="Shape 30"/>
          <p:cNvSpPr/>
          <p:nvPr/>
        </p:nvSpPr>
        <p:spPr>
          <a:xfrm>
            <a:off x="8229600" y="4507992"/>
            <a:ext cx="31848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0" y="450799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5</a:t>
            </a:r>
            <a:endParaRPr lang="es-CL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9098280" y="4507992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163,7</a:t>
            </a:r>
            <a:endParaRPr lang="es-CL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10454335" y="4507992"/>
            <a:ext cx="960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1,5%</a:t>
            </a:r>
            <a:endParaRPr lang="es-CL" sz="1500" dirty="0"/>
          </a:p>
        </p:txBody>
      </p:sp>
      <p:sp>
        <p:nvSpPr>
          <p:cNvPr id="37" name="Shape 34"/>
          <p:cNvSpPr/>
          <p:nvPr/>
        </p:nvSpPr>
        <p:spPr>
          <a:xfrm>
            <a:off x="8229600" y="4937760"/>
            <a:ext cx="318485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4937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Cinco años</a:t>
            </a:r>
            <a:endParaRPr lang="es-CL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098280" y="4937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1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575,2</a:t>
            </a:r>
            <a:endParaRPr lang="es-CL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8229600" y="5468112"/>
            <a:ext cx="3184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objetivo y tarea, no por porcentaje de ventas. El año 1 concentra el lanzamiento y 25 clientes piloto con 50% de descuento.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RECURSOS HUMANOS · ESTRUCTURA Y DOTACIÓN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CRECE EL NÚMERO DE PERSONAS,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la estructura.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086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ORGANIGRAMA · PERSONAS AL ABRIR → AL CIERRE DEL AÑO 5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2857500" y="2660904"/>
            <a:ext cx="2468880" cy="566928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02636" y="260604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02636" y="260604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25796" y="260604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81244" y="260604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2636" y="328269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2636" y="312724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5796" y="328269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1244" y="312724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57500" y="26609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 General</a:t>
            </a:r>
            <a:endParaRPr lang="es-CL" sz="1200" dirty="0"/>
          </a:p>
          <a:p>
            <a:pPr algn="ctr" indent="0" marL="0">
              <a:buNone/>
            </a:pPr>
            <a:r>
              <a:rPr lang="es-CL" altLang="en-US" sz="9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· depende de los accionistas</a:t>
            </a:r>
            <a:endParaRPr lang="es-CL" sz="1200" dirty="0"/>
          </a:p>
        </p:txBody>
      </p:sp>
      <p:sp>
        <p:nvSpPr>
          <p:cNvPr id="15" name="Shape 13"/>
          <p:cNvSpPr/>
          <p:nvPr/>
        </p:nvSpPr>
        <p:spPr>
          <a:xfrm>
            <a:off x="4091940" y="3227832"/>
            <a:ext cx="0" cy="18288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751" y="3410712"/>
            <a:ext cx="5764378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9751" y="3410712"/>
            <a:ext cx="0" cy="2011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11880"/>
            <a:ext cx="1322222" cy="8412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3685032"/>
            <a:ext cx="1212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Responsable Técnico</a:t>
            </a:r>
            <a:endParaRPr lang="es-CL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414223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→ 3 · uno por taller</a:t>
            </a:r>
            <a:endParaRPr lang="es-CL" sz="900" dirty="0"/>
          </a:p>
        </p:txBody>
      </p:sp>
      <p:sp>
        <p:nvSpPr>
          <p:cNvPr id="21" name="Shape 19"/>
          <p:cNvSpPr/>
          <p:nvPr/>
        </p:nvSpPr>
        <p:spPr>
          <a:xfrm>
            <a:off x="2650846" y="3410712"/>
            <a:ext cx="0" cy="2011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89734" y="3611880"/>
            <a:ext cx="1322222" cy="8412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44598" y="3685032"/>
            <a:ext cx="1212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Ingeniería de Calibración</a:t>
            </a:r>
            <a:endParaRPr lang="es-CL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044598" y="414223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→ 4</a:t>
            </a:r>
            <a:endParaRPr lang="es-CL" sz="900" dirty="0"/>
          </a:p>
        </p:txBody>
      </p:sp>
      <p:sp>
        <p:nvSpPr>
          <p:cNvPr id="25" name="Shape 23"/>
          <p:cNvSpPr/>
          <p:nvPr/>
        </p:nvSpPr>
        <p:spPr>
          <a:xfrm>
            <a:off x="4091940" y="3410712"/>
            <a:ext cx="0" cy="2011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30829" y="3611880"/>
            <a:ext cx="1322222" cy="8412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85693" y="3685032"/>
            <a:ext cx="1212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y Postventa</a:t>
            </a:r>
            <a:endParaRPr lang="es-CL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85693" y="414223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→ 4</a:t>
            </a:r>
            <a:endParaRPr lang="es-CL" sz="900" dirty="0"/>
          </a:p>
        </p:txBody>
      </p:sp>
      <p:sp>
        <p:nvSpPr>
          <p:cNvPr id="29" name="Shape 27"/>
          <p:cNvSpPr/>
          <p:nvPr/>
        </p:nvSpPr>
        <p:spPr>
          <a:xfrm>
            <a:off x="5533034" y="3410712"/>
            <a:ext cx="0" cy="201168"/>
          </a:xfrm>
          <a:prstGeom prst="line">
            <a:avLst/>
          </a:prstGeom>
          <a:noFill/>
          <a:ln w="9525">
            <a:solidFill>
              <a:srgbClr val="8B959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871923" y="3611880"/>
            <a:ext cx="1322222" cy="84124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4926787" y="3685032"/>
            <a:ext cx="1212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de Empresas</a:t>
            </a:r>
            <a:endParaRPr lang="es-CL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926787" y="414223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 → 2 · desde el año 4</a:t>
            </a:r>
            <a:endParaRPr lang="es-CL" sz="900" dirty="0"/>
          </a:p>
        </p:txBody>
      </p:sp>
      <p:sp>
        <p:nvSpPr>
          <p:cNvPr id="33" name="Shape 31"/>
          <p:cNvSpPr/>
          <p:nvPr/>
        </p:nvSpPr>
        <p:spPr>
          <a:xfrm>
            <a:off x="6974129" y="3410712"/>
            <a:ext cx="0" cy="2011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3018" y="3611880"/>
            <a:ext cx="1322222" cy="8412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67882" y="3685032"/>
            <a:ext cx="1212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Administración y Personas</a:t>
            </a:r>
            <a:endParaRPr lang="es-CL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367882" y="414223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s-CL" sz="900" dirty="0"/>
          </a:p>
        </p:txBody>
      </p:sp>
      <p:sp>
        <p:nvSpPr>
          <p:cNvPr id="37" name="Shape 35"/>
          <p:cNvSpPr/>
          <p:nvPr/>
        </p:nvSpPr>
        <p:spPr>
          <a:xfrm>
            <a:off x="1209751" y="4453128"/>
            <a:ext cx="0" cy="32004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773168"/>
            <a:ext cx="1322222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4828032"/>
            <a:ext cx="1212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Técnicos instaladores</a:t>
            </a:r>
            <a:endParaRPr lang="es-CL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" y="5230368"/>
            <a:ext cx="1212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 → 36 · dos por dúo</a:t>
            </a:r>
            <a:endParaRPr lang="es-CL" sz="850" dirty="0"/>
          </a:p>
        </p:txBody>
      </p:sp>
      <p:sp>
        <p:nvSpPr>
          <p:cNvPr id="41" name="Shape 39"/>
          <p:cNvSpPr/>
          <p:nvPr/>
        </p:nvSpPr>
        <p:spPr>
          <a:xfrm>
            <a:off x="4091940" y="4453128"/>
            <a:ext cx="0" cy="32004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30829" y="4773168"/>
            <a:ext cx="1322222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3485693" y="4828032"/>
            <a:ext cx="1212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Postventa</a:t>
            </a:r>
            <a:endParaRPr lang="es-CL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485693" y="5230368"/>
            <a:ext cx="1212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 → 4 · desde el año 3</a:t>
            </a:r>
            <a:endParaRPr lang="es-CL" sz="850" dirty="0"/>
          </a:p>
        </p:txBody>
      </p:sp>
      <p:sp>
        <p:nvSpPr>
          <p:cNvPr id="45" name="Shape 43"/>
          <p:cNvSpPr/>
          <p:nvPr/>
        </p:nvSpPr>
        <p:spPr>
          <a:xfrm>
            <a:off x="6974129" y="4453128"/>
            <a:ext cx="0" cy="32004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3018" y="4773168"/>
            <a:ext cx="1322222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6367882" y="4828032"/>
            <a:ext cx="1212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Administración</a:t>
            </a:r>
            <a:endParaRPr lang="es-CL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367882" y="5230368"/>
            <a:ext cx="1212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 → 1 · desde el año 4</a:t>
            </a:r>
            <a:endParaRPr lang="es-CL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68756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LÍNEA PUNTEADA: INGRESA DESPUÉS DE LA APERTURA</a:t>
            </a:r>
            <a:endParaRPr lang="es-CL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907024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Servicios externos: contabilidad, formación en alta tensión, mutualidad, asesoría legal, aduana y transporte de baterías.</a:t>
            </a:r>
            <a:endParaRPr lang="es-CL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046720" y="2331720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DOTACIÓN AL CIERRE · PERSONAS</a:t>
            </a:r>
            <a:endParaRPr lang="es-CL" sz="900" dirty="0"/>
          </a:p>
        </p:txBody>
      </p:sp>
      <p:graphicFrame>
        <p:nvGraphicFramePr>
          <p:cNvPr id="52" name="Dotación al cierre de cada año" descr=""/>
          <p:cNvGraphicFramePr/>
          <p:nvPr/>
        </p:nvGraphicFramePr>
        <p:xfrm>
          <a:off x="7955280" y="2606040"/>
          <a:ext cx="3687775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Text 50"/>
          <p:cNvSpPr txBox="1"/>
          <p:nvPr/>
        </p:nvSpPr>
        <p:spPr>
          <a:xfrm>
            <a:off x="8046720" y="5824728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Total: </a:t>
            </a:r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 · 13 · 21 · 33 · 40 · 56</a:t>
            </a:r>
            <a:endParaRPr lang="es-CL" sz="1150" dirty="0"/>
          </a:p>
        </p:txBody>
      </p:sp>
      <p:sp>
        <p:nvSpPr>
          <p:cNvPr id="54" name="Text 51"/>
          <p:cNvSpPr txBox="1"/>
          <p:nvPr/>
        </p:nvSpPr>
        <p:spPr>
          <a:xfrm>
            <a:off x="8046720" y="6099048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salto del año 3 es el segundo taller; desde el año 4 pesa la red.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RECURSOS HUMANOS · POLÍTICA Y PRESUPUESTO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TÉCNICOS FORMADOS EN CASA,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costo a la mitad.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LUMINE HABILITA · 39 COMPETENCIAS · 13 MÓDULOS · 392 HORAS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357884" cy="1645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977640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97764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N1</a:t>
            </a:r>
            <a:endParaRPr lang="es-CL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97680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Acompaña</a:t>
            </a:r>
            <a:endParaRPr lang="es-C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17720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$750.000</a:t>
            </a:r>
            <a:endParaRPr lang="es-CL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29200"/>
            <a:ext cx="1083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 BONO</a:t>
            </a:r>
            <a:endParaRPr lang="es-CL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30368"/>
            <a:ext cx="10835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6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</a:t>
            </a:r>
            <a:endParaRPr lang="es-CL" sz="650" dirty="0"/>
          </a:p>
        </p:txBody>
      </p:sp>
      <p:sp>
        <p:nvSpPr>
          <p:cNvPr id="12" name="Shape 10"/>
          <p:cNvSpPr/>
          <p:nvPr/>
        </p:nvSpPr>
        <p:spPr>
          <a:xfrm>
            <a:off x="2016252" y="3456432"/>
            <a:ext cx="1357884" cy="202996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53412" y="359359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53412" y="359359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N2</a:t>
            </a:r>
            <a:endParaRPr lang="es-CL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153412" y="3913632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Instala supervisado</a:t>
            </a:r>
            <a:endParaRPr lang="es-CL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53412" y="4617720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$850.000</a:t>
            </a:r>
            <a:endParaRPr lang="es-CL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153412" y="5029200"/>
            <a:ext cx="1083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8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BONO $200.000</a:t>
            </a:r>
            <a:endParaRPr lang="es-CL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153412" y="5230368"/>
            <a:ext cx="10835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6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</a:t>
            </a:r>
            <a:endParaRPr lang="es-CL" sz="650" dirty="0"/>
          </a:p>
        </p:txBody>
      </p:sp>
      <p:sp>
        <p:nvSpPr>
          <p:cNvPr id="19" name="Shape 17"/>
          <p:cNvSpPr/>
          <p:nvPr/>
        </p:nvSpPr>
        <p:spPr>
          <a:xfrm>
            <a:off x="3483864" y="3072384"/>
            <a:ext cx="1357884" cy="2414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1024" y="320954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21024" y="320954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N3</a:t>
            </a:r>
            <a:endParaRPr lang="es-CL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21024" y="3529584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Trabaja solo</a:t>
            </a:r>
            <a:endParaRPr lang="es-CL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621024" y="4617720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$1.000.000</a:t>
            </a:r>
            <a:endParaRPr lang="es-CL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621024" y="5029200"/>
            <a:ext cx="1083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8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BONO $300.000</a:t>
            </a:r>
            <a:endParaRPr lang="es-CL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621024" y="5230368"/>
            <a:ext cx="10835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6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</a:t>
            </a:r>
            <a:endParaRPr lang="es-CL" sz="650" dirty="0"/>
          </a:p>
        </p:txBody>
      </p:sp>
      <p:sp>
        <p:nvSpPr>
          <p:cNvPr id="26" name="Shape 24"/>
          <p:cNvSpPr/>
          <p:nvPr/>
        </p:nvSpPr>
        <p:spPr>
          <a:xfrm>
            <a:off x="4951476" y="2688336"/>
            <a:ext cx="1357884" cy="2798064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6612" y="26334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6612" y="263347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26334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63347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6612" y="55412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6612" y="5385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55412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5385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88636" y="2825496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88636" y="28254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N4</a:t>
            </a:r>
            <a:endParaRPr lang="es-CL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88636" y="3145536"/>
            <a:ext cx="108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Forma y valida</a:t>
            </a:r>
            <a:endParaRPr lang="es-CL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88636" y="4617720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$1.150.000</a:t>
            </a:r>
            <a:endParaRPr lang="es-CL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5088636" y="5029200"/>
            <a:ext cx="1083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8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BONO $350.000</a:t>
            </a:r>
            <a:endParaRPr lang="es-CL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5088636" y="5230368"/>
            <a:ext cx="10835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6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</a:t>
            </a:r>
            <a:endParaRPr lang="es-CL" sz="650" dirty="0"/>
          </a:p>
        </p:txBody>
      </p:sp>
      <p:sp>
        <p:nvSpPr>
          <p:cNvPr id="41" name="Shape 39"/>
          <p:cNvSpPr/>
          <p:nvPr/>
        </p:nvSpPr>
        <p:spPr>
          <a:xfrm>
            <a:off x="548640" y="5669280"/>
            <a:ext cx="17983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5742432"/>
            <a:ext cx="179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~8 MESES</a:t>
            </a:r>
            <a:endParaRPr lang="es-CL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96188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el N4, con dos meses de formación intensiva</a:t>
            </a:r>
            <a:endParaRPr lang="es-CL" sz="1000" dirty="0"/>
          </a:p>
        </p:txBody>
      </p:sp>
      <p:sp>
        <p:nvSpPr>
          <p:cNvPr id="44" name="Shape 42"/>
          <p:cNvSpPr/>
          <p:nvPr/>
        </p:nvSpPr>
        <p:spPr>
          <a:xfrm>
            <a:off x="2529840" y="5669280"/>
            <a:ext cx="17983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29840" y="5742432"/>
            <a:ext cx="179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DÚOS FIJOS</a:t>
            </a:r>
            <a:endParaRPr lang="es-CL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2529840" y="596188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siempre con un N3 o N4; dos N1 nunca forman dúo</a:t>
            </a:r>
            <a:endParaRPr lang="es-CL" sz="1000" dirty="0"/>
          </a:p>
        </p:txBody>
      </p:sp>
      <p:sp>
        <p:nvSpPr>
          <p:cNvPr id="47" name="Shape 45"/>
          <p:cNvSpPr/>
          <p:nvPr/>
        </p:nvSpPr>
        <p:spPr>
          <a:xfrm>
            <a:off x="4511040" y="5669280"/>
            <a:ext cx="17983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11040" y="5742432"/>
            <a:ext cx="179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MESES</a:t>
            </a:r>
            <a:endParaRPr lang="es-CL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511040" y="5961888"/>
            <a:ext cx="179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revalidación del núcleo de seguridad</a:t>
            </a:r>
            <a:endParaRPr lang="es-CL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2331720"/>
            <a:ext cx="4876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NÓMINA · COSTO EMPRESA · MILLONES DE PESOS</a:t>
            </a:r>
            <a:endParaRPr lang="es-CL" sz="900" dirty="0"/>
          </a:p>
        </p:txBody>
      </p:sp>
      <p:graphicFrame>
        <p:nvGraphicFramePr>
          <p:cNvPr id="51" name="Costo empresa de la nómina por año" descr=""/>
          <p:cNvGraphicFramePr/>
          <p:nvPr/>
        </p:nvGraphicFramePr>
        <p:xfrm>
          <a:off x="6675120" y="2606040"/>
          <a:ext cx="4967935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6766560" y="5212080"/>
            <a:ext cx="487649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766560" y="5285232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COSTO DE NÓMINA POR INSTALACIÓN PROPIA</a:t>
            </a:r>
            <a:endParaRPr lang="es-CL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6876288" y="5541264"/>
            <a:ext cx="938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$508.307</a:t>
            </a:r>
            <a:endParaRPr lang="es-CL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7815011" y="5541264"/>
            <a:ext cx="938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$305.608</a:t>
            </a:r>
            <a:endParaRPr lang="es-CL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8753734" y="5541264"/>
            <a:ext cx="938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$257.099</a:t>
            </a:r>
            <a:endParaRPr lang="es-CL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9692457" y="5541264"/>
            <a:ext cx="938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5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$253.417</a:t>
            </a:r>
            <a:endParaRPr lang="es-CL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0631180" y="5541264"/>
            <a:ext cx="938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$264.857</a:t>
            </a:r>
            <a:endParaRPr lang="es-CL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6766560" y="5925312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Los cargos fijos se reparten en más autos; el año 5 sube porque abre el tercer taller y la red pide más personas.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FLUJO OPERACIONAL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NEGOCIO MIDE Y RECOMIENDA;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cliente decide.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211568" cy="384048"/>
          </a:xfrm>
          <a:prstGeom prst="homePlat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86000"/>
            <a:ext cx="182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</a:t>
            </a:r>
            <a:pPr indent="0" marL="0">
              <a:buNone/>
            </a:pPr>
            <a:r>
              <a:rPr lang="es-CL" altLang="en-US" sz="85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CAPTACIÓN</a:t>
            </a:r>
            <a:endParaRPr lang="es-CL" sz="850" dirty="0"/>
          </a:p>
        </p:txBody>
      </p:sp>
      <p:sp>
        <p:nvSpPr>
          <p:cNvPr id="6" name="Text 4"/>
          <p:cNvSpPr/>
          <p:nvPr/>
        </p:nvSpPr>
        <p:spPr>
          <a:xfrm>
            <a:off x="2796784" y="2286000"/>
            <a:ext cx="2211568" cy="384048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2997952" y="2286000"/>
            <a:ext cx="182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</a:t>
            </a:r>
            <a:pPr indent="0" marL="0">
              <a:buNone/>
            </a:pPr>
            <a:r>
              <a:rPr lang="es-CL" altLang="en-US" sz="85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ASESORÍA Y DECISIÓN</a:t>
            </a:r>
            <a:endParaRPr lang="es-CL" sz="850" dirty="0"/>
          </a:p>
        </p:txBody>
      </p:sp>
      <p:sp>
        <p:nvSpPr>
          <p:cNvPr id="8" name="Text 6"/>
          <p:cNvSpPr/>
          <p:nvPr/>
        </p:nvSpPr>
        <p:spPr>
          <a:xfrm>
            <a:off x="5044928" y="2286000"/>
            <a:ext cx="2211568" cy="384048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246096" y="2286000"/>
            <a:ext cx="182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0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</a:t>
            </a:r>
            <a:pPr indent="0" marL="0">
              <a:buNone/>
            </a:pPr>
            <a:r>
              <a:rPr lang="es-CL" altLang="en-US" sz="850" b="1" spc="10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</a:t>
            </a:r>
            <a:endParaRPr lang="es-CL" sz="850" dirty="0"/>
          </a:p>
        </p:txBody>
      </p:sp>
      <p:sp>
        <p:nvSpPr>
          <p:cNvPr id="10" name="Text 8"/>
          <p:cNvSpPr/>
          <p:nvPr/>
        </p:nvSpPr>
        <p:spPr>
          <a:xfrm>
            <a:off x="7293072" y="2286000"/>
            <a:ext cx="2211568" cy="384048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494240" y="2286000"/>
            <a:ext cx="182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</a:t>
            </a:r>
            <a:pPr indent="0" marL="0">
              <a:buNone/>
            </a:pPr>
            <a:r>
              <a:rPr lang="es-CL" altLang="en-US" sz="85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CERTIFICACIÓN</a:t>
            </a:r>
            <a:endParaRPr lang="es-CL" sz="850" dirty="0"/>
          </a:p>
        </p:txBody>
      </p:sp>
      <p:sp>
        <p:nvSpPr>
          <p:cNvPr id="12" name="Text 10"/>
          <p:cNvSpPr/>
          <p:nvPr/>
        </p:nvSpPr>
        <p:spPr>
          <a:xfrm>
            <a:off x="9541215" y="2286000"/>
            <a:ext cx="2101840" cy="384048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9742383" y="2286000"/>
            <a:ext cx="182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</a:t>
            </a:r>
            <a:pPr indent="0" marL="0">
              <a:buNone/>
            </a:pPr>
            <a:r>
              <a:rPr lang="es-CL" altLang="en-US" sz="85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POSTVENTA</a:t>
            </a:r>
            <a:endParaRPr lang="es-CL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2788920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Cotiza en el sitio: el estimador da ahorro y plazo</a:t>
            </a:r>
            <a:endParaRPr lang="es-CL" sz="1050" dirty="0"/>
          </a:p>
        </p:txBody>
      </p:sp>
      <p:sp>
        <p:nvSpPr>
          <p:cNvPr id="16" name="Shape 14"/>
          <p:cNvSpPr/>
          <p:nvPr/>
        </p:nvSpPr>
        <p:spPr>
          <a:xfrm>
            <a:off x="1599560" y="3291840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5800" y="3410712"/>
            <a:ext cx="1827520" cy="566928"/>
          </a:xfrm>
          <a:prstGeom prst="diamond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¿Modelo elegible y calibrado?</a:t>
            </a:r>
            <a:endParaRPr lang="es-CL" sz="950" dirty="0"/>
          </a:p>
        </p:txBody>
      </p:sp>
      <p:sp>
        <p:nvSpPr>
          <p:cNvPr id="18" name="Shape 16"/>
          <p:cNvSpPr/>
          <p:nvPr/>
        </p:nvSpPr>
        <p:spPr>
          <a:xfrm>
            <a:off x="1599560" y="3977640"/>
            <a:ext cx="0" cy="11887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654424" y="397764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s-CL" sz="700" dirty="0"/>
          </a:p>
        </p:txBody>
      </p:sp>
      <p:sp>
        <p:nvSpPr>
          <p:cNvPr id="20" name="Shape 18"/>
          <p:cNvSpPr/>
          <p:nvPr/>
        </p:nvSpPr>
        <p:spPr>
          <a:xfrm>
            <a:off x="594360" y="4096512"/>
            <a:ext cx="2010400" cy="6217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096512"/>
            <a:ext cx="186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IC registra la demanda; el primer cliente puede ser piloto</a:t>
            </a:r>
            <a:endParaRPr lang="es-CL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193280" y="34838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 →</a:t>
            </a:r>
            <a:endParaRPr lang="es-CL" sz="750" dirty="0"/>
          </a:p>
        </p:txBody>
      </p:sp>
      <p:sp>
        <p:nvSpPr>
          <p:cNvPr id="23" name="Shape 21"/>
          <p:cNvSpPr/>
          <p:nvPr/>
        </p:nvSpPr>
        <p:spPr>
          <a:xfrm>
            <a:off x="2842504" y="2788920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15656" y="2788920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Asesoría: ahorro, intervalo y plazo por versión</a:t>
            </a:r>
            <a:endParaRPr lang="es-CL" sz="1050" dirty="0"/>
          </a:p>
        </p:txBody>
      </p:sp>
      <p:sp>
        <p:nvSpPr>
          <p:cNvPr id="25" name="Shape 23"/>
          <p:cNvSpPr/>
          <p:nvPr/>
        </p:nvSpPr>
        <p:spPr>
          <a:xfrm>
            <a:off x="3847704" y="3291840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42504" y="3410712"/>
            <a:ext cx="2010400" cy="438912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2915656" y="3410712"/>
            <a:ext cx="186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Opcional: mide una semana con su celular</a:t>
            </a:r>
            <a:endParaRPr lang="es-CL" sz="1000" dirty="0"/>
          </a:p>
        </p:txBody>
      </p:sp>
      <p:sp>
        <p:nvSpPr>
          <p:cNvPr id="28" name="Shape 26"/>
          <p:cNvSpPr/>
          <p:nvPr/>
        </p:nvSpPr>
        <p:spPr>
          <a:xfrm>
            <a:off x="3847704" y="3849624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933944" y="3968496"/>
            <a:ext cx="1827520" cy="566928"/>
          </a:xfrm>
          <a:prstGeom prst="diamond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¿Decide instalar?</a:t>
            </a:r>
            <a:endParaRPr lang="es-CL" sz="950" dirty="0"/>
          </a:p>
        </p:txBody>
      </p:sp>
      <p:sp>
        <p:nvSpPr>
          <p:cNvPr id="30" name="Shape 28"/>
          <p:cNvSpPr/>
          <p:nvPr/>
        </p:nvSpPr>
        <p:spPr>
          <a:xfrm>
            <a:off x="3847704" y="4535424"/>
            <a:ext cx="0" cy="11887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902568" y="4535424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s-CL" sz="700" dirty="0"/>
          </a:p>
        </p:txBody>
      </p:sp>
      <p:sp>
        <p:nvSpPr>
          <p:cNvPr id="32" name="Shape 30"/>
          <p:cNvSpPr/>
          <p:nvPr/>
        </p:nvSpPr>
        <p:spPr>
          <a:xfrm>
            <a:off x="2842504" y="4654296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15656" y="4654296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Paga o financia; orden de trabajo y agenda</a:t>
            </a:r>
            <a:endParaRPr lang="es-CL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842504" y="5184648"/>
            <a:ext cx="201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NO: QUEDA INFORMADO</a:t>
            </a:r>
            <a:endParaRPr lang="es-CL" sz="700" dirty="0"/>
          </a:p>
        </p:txBody>
      </p:sp>
      <p:sp>
        <p:nvSpPr>
          <p:cNvPr id="35" name="Shape 33"/>
          <p:cNvSpPr/>
          <p:nvPr/>
        </p:nvSpPr>
        <p:spPr>
          <a:xfrm>
            <a:off x="5090648" y="2788920"/>
            <a:ext cx="2010400" cy="50292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63800" y="2788920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Instalación en una jornada de 8,4 h</a:t>
            </a:r>
            <a:endParaRPr lang="es-CL" sz="1050" dirty="0"/>
          </a:p>
        </p:txBody>
      </p:sp>
      <p:sp>
        <p:nvSpPr>
          <p:cNvPr id="37" name="Shape 35"/>
          <p:cNvSpPr/>
          <p:nvPr/>
        </p:nvSpPr>
        <p:spPr>
          <a:xfrm>
            <a:off x="6095848" y="3291840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090648" y="3429000"/>
            <a:ext cx="201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CUATRO PUNTOS DE CONTROL</a:t>
            </a:r>
            <a:endParaRPr lang="es-CL" sz="750" dirty="0"/>
          </a:p>
        </p:txBody>
      </p:sp>
      <p:sp>
        <p:nvSpPr>
          <p:cNvPr id="39" name="Shape 37"/>
          <p:cNvSpPr/>
          <p:nvPr/>
        </p:nvSpPr>
        <p:spPr>
          <a:xfrm>
            <a:off x="5163800" y="3739896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19832" y="3666744"/>
            <a:ext cx="164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Vehículo apto</a:t>
            </a:r>
            <a:endParaRPr lang="es-CL" sz="950" dirty="0"/>
          </a:p>
        </p:txBody>
      </p:sp>
      <p:sp>
        <p:nvSpPr>
          <p:cNvPr id="41" name="Shape 39"/>
          <p:cNvSpPr/>
          <p:nvPr/>
        </p:nvSpPr>
        <p:spPr>
          <a:xfrm>
            <a:off x="5163800" y="4105656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19832" y="4032504"/>
            <a:ext cx="164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Masa ≤ 20% y ejes ≤ 10%</a:t>
            </a:r>
            <a:endParaRPr lang="es-CL" sz="950" dirty="0"/>
          </a:p>
        </p:txBody>
      </p:sp>
      <p:sp>
        <p:nvSpPr>
          <p:cNvPr id="43" name="Shape 41"/>
          <p:cNvSpPr/>
          <p:nvPr/>
        </p:nvSpPr>
        <p:spPr>
          <a:xfrm>
            <a:off x="5163800" y="4471416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19832" y="4398264"/>
            <a:ext cx="164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Aislación ≥ 100 Ω/V</a:t>
            </a:r>
            <a:endParaRPr lang="es-CL" sz="950" dirty="0"/>
          </a:p>
        </p:txBody>
      </p:sp>
      <p:sp>
        <p:nvSpPr>
          <p:cNvPr id="45" name="Shape 43"/>
          <p:cNvSpPr/>
          <p:nvPr/>
        </p:nvSpPr>
        <p:spPr>
          <a:xfrm>
            <a:off x="5163800" y="4837176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19832" y="4764024"/>
            <a:ext cx="164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Dinamómetro: asistencia y regeneración</a:t>
            </a:r>
            <a:endParaRPr lang="es-CL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090648" y="5148072"/>
            <a:ext cx="201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FALLA: SE DETIENE</a:t>
            </a:r>
            <a:endParaRPr lang="es-CL" sz="700" dirty="0"/>
          </a:p>
        </p:txBody>
      </p:sp>
      <p:sp>
        <p:nvSpPr>
          <p:cNvPr id="48" name="Shape 46"/>
          <p:cNvSpPr/>
          <p:nvPr/>
        </p:nvSpPr>
        <p:spPr>
          <a:xfrm>
            <a:off x="7338792" y="2788920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11944" y="2788920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RT firma el Certificado Individual (art. 14)</a:t>
            </a:r>
            <a:endParaRPr lang="es-CL" sz="1050" dirty="0"/>
          </a:p>
        </p:txBody>
      </p:sp>
      <p:sp>
        <p:nvSpPr>
          <p:cNvPr id="50" name="Shape 48"/>
          <p:cNvSpPr/>
          <p:nvPr/>
        </p:nvSpPr>
        <p:spPr>
          <a:xfrm>
            <a:off x="8343991" y="3291840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338792" y="3410712"/>
            <a:ext cx="2010400" cy="43891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11944" y="3410712"/>
            <a:ext cx="186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Entrega y línea base de ahorro</a:t>
            </a:r>
            <a:endParaRPr lang="es-CL" sz="1000" dirty="0"/>
          </a:p>
        </p:txBody>
      </p:sp>
      <p:sp>
        <p:nvSpPr>
          <p:cNvPr id="53" name="Shape 51"/>
          <p:cNvSpPr/>
          <p:nvPr/>
        </p:nvSpPr>
        <p:spPr>
          <a:xfrm>
            <a:off x="8343991" y="3849624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338792" y="3968496"/>
            <a:ext cx="2010400" cy="658368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7411944" y="3968496"/>
            <a:ext cx="186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cliente verifica en planta y anota en el RNVM (arts. 16 y 17)</a:t>
            </a:r>
            <a:endParaRPr lang="es-CL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338792" y="4663440"/>
            <a:ext cx="201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50" spc="6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BORDE PUNTEADO: TERCEROS U OPCIONAL</a:t>
            </a:r>
            <a:endParaRPr lang="es-CL" sz="650" dirty="0"/>
          </a:p>
        </p:txBody>
      </p:sp>
      <p:sp>
        <p:nvSpPr>
          <p:cNvPr id="57" name="Shape 55"/>
          <p:cNvSpPr/>
          <p:nvPr/>
        </p:nvSpPr>
        <p:spPr>
          <a:xfrm>
            <a:off x="9586935" y="2788920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60087" y="2788920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Telemetría e informe de ahorro a los 3 meses</a:t>
            </a:r>
            <a:endParaRPr lang="es-CL" sz="1050" dirty="0"/>
          </a:p>
        </p:txBody>
      </p:sp>
      <p:sp>
        <p:nvSpPr>
          <p:cNvPr id="59" name="Shape 57"/>
          <p:cNvSpPr/>
          <p:nvPr/>
        </p:nvSpPr>
        <p:spPr>
          <a:xfrm>
            <a:off x="10592135" y="3291840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9678375" y="3410712"/>
            <a:ext cx="1827520" cy="566928"/>
          </a:xfrm>
          <a:prstGeom prst="diamond">
            <a:avLst/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¿Desviación sobre el umbral?</a:t>
            </a:r>
            <a:endParaRPr lang="es-CL" sz="950" dirty="0"/>
          </a:p>
        </p:txBody>
      </p:sp>
      <p:sp>
        <p:nvSpPr>
          <p:cNvPr id="61" name="Shape 59"/>
          <p:cNvSpPr/>
          <p:nvPr/>
        </p:nvSpPr>
        <p:spPr>
          <a:xfrm>
            <a:off x="10592135" y="3977640"/>
            <a:ext cx="0" cy="11887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10646999" y="397764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s-CL" sz="700" dirty="0"/>
          </a:p>
        </p:txBody>
      </p:sp>
      <p:sp>
        <p:nvSpPr>
          <p:cNvPr id="63" name="Shape 61"/>
          <p:cNvSpPr/>
          <p:nvPr/>
        </p:nvSpPr>
        <p:spPr>
          <a:xfrm>
            <a:off x="9586935" y="4096512"/>
            <a:ext cx="2010400" cy="43891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660087" y="4096512"/>
            <a:ext cx="186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Recalibra; IC ajusta la biblioteca</a:t>
            </a:r>
            <a:endParaRPr lang="es-CL" sz="1000" dirty="0"/>
          </a:p>
        </p:txBody>
      </p:sp>
      <p:sp>
        <p:nvSpPr>
          <p:cNvPr id="65" name="Shape 63"/>
          <p:cNvSpPr/>
          <p:nvPr/>
        </p:nvSpPr>
        <p:spPr>
          <a:xfrm>
            <a:off x="10592135" y="4535424"/>
            <a:ext cx="0" cy="11887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586935" y="4654296"/>
            <a:ext cx="2010400" cy="502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660087" y="4654296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Mantención, garantía y batería a gestión REP</a:t>
            </a:r>
            <a:endParaRPr lang="es-CL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5504688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5669280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04088" y="5596128"/>
            <a:ext cx="3515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HORAS DE DÚO</a:t>
            </a:r>
            <a:endParaRPr lang="es-CL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5843016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8,4 h por vehículo: el límite de capacidad.</a:t>
            </a:r>
            <a:endParaRPr lang="es-CL" sz="1050" dirty="0"/>
          </a:p>
        </p:txBody>
      </p:sp>
      <p:sp>
        <p:nvSpPr>
          <p:cNvPr id="72" name="Shape 70"/>
          <p:cNvSpPr/>
          <p:nvPr/>
        </p:nvSpPr>
        <p:spPr>
          <a:xfrm>
            <a:off x="4338218" y="5669280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493666" y="5596128"/>
            <a:ext cx="3515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DINAMÓMETRO</a:t>
            </a:r>
            <a:endParaRPr lang="es-CL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4338218" y="5843016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1,0 h por vehículo: 54% de uso con seis dúos; uno basta.</a:t>
            </a:r>
            <a:endParaRPr lang="es-CL" sz="1050" dirty="0"/>
          </a:p>
        </p:txBody>
      </p:sp>
      <p:sp>
        <p:nvSpPr>
          <p:cNvPr id="75" name="Shape 73"/>
          <p:cNvSpPr/>
          <p:nvPr/>
        </p:nvSpPr>
        <p:spPr>
          <a:xfrm>
            <a:off x="8127797" y="5669280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283245" y="5596128"/>
            <a:ext cx="3515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BIBLIOTECA</a:t>
            </a:r>
            <a:endParaRPr lang="es-CL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8127797" y="5843016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Restringe el surtido de modelos, no las horas.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CARTA GANTT DE IMPLEMENTACIÓN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ABRIR EN ENERO DE 2027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depende de un reglamento.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286000"/>
            <a:ext cx="7462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s-CL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678159" y="2286000"/>
            <a:ext cx="2984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 · 2027 (MESES)</a:t>
            </a:r>
            <a:endParaRPr lang="es-CL" sz="800" dirty="0"/>
          </a:p>
        </p:txBody>
      </p:sp>
      <p:sp>
        <p:nvSpPr>
          <p:cNvPr id="6" name="Shape 4"/>
          <p:cNvSpPr/>
          <p:nvPr/>
        </p:nvSpPr>
        <p:spPr>
          <a:xfrm>
            <a:off x="4678159" y="2505456"/>
            <a:ext cx="0" cy="299008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63114" y="2286000"/>
            <a:ext cx="9949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800" dirty="0"/>
          </a:p>
        </p:txBody>
      </p:sp>
      <p:sp>
        <p:nvSpPr>
          <p:cNvPr id="8" name="Shape 6"/>
          <p:cNvSpPr/>
          <p:nvPr/>
        </p:nvSpPr>
        <p:spPr>
          <a:xfrm>
            <a:off x="7663114" y="2505456"/>
            <a:ext cx="0" cy="299008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58100" y="2286000"/>
            <a:ext cx="9949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800" dirty="0"/>
          </a:p>
        </p:txBody>
      </p:sp>
      <p:sp>
        <p:nvSpPr>
          <p:cNvPr id="10" name="Shape 8"/>
          <p:cNvSpPr/>
          <p:nvPr/>
        </p:nvSpPr>
        <p:spPr>
          <a:xfrm>
            <a:off x="8658100" y="2505456"/>
            <a:ext cx="0" cy="299008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53085" y="2286000"/>
            <a:ext cx="9949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4</a:t>
            </a:r>
            <a:endParaRPr lang="es-CL" sz="800" dirty="0"/>
          </a:p>
        </p:txBody>
      </p:sp>
      <p:sp>
        <p:nvSpPr>
          <p:cNvPr id="12" name="Shape 10"/>
          <p:cNvSpPr/>
          <p:nvPr/>
        </p:nvSpPr>
        <p:spPr>
          <a:xfrm>
            <a:off x="9653085" y="2505456"/>
            <a:ext cx="0" cy="299008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48070" y="2286000"/>
            <a:ext cx="9949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5</a:t>
            </a:r>
            <a:endParaRPr lang="es-CL" sz="800" dirty="0"/>
          </a:p>
        </p:txBody>
      </p:sp>
      <p:sp>
        <p:nvSpPr>
          <p:cNvPr id="14" name="Shape 12"/>
          <p:cNvSpPr/>
          <p:nvPr/>
        </p:nvSpPr>
        <p:spPr>
          <a:xfrm>
            <a:off x="10648070" y="2505456"/>
            <a:ext cx="0" cy="299008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oct</a:t>
            </a:r>
            <a:endParaRPr lang="es-CL" sz="600" dirty="0"/>
          </a:p>
        </p:txBody>
      </p:sp>
      <p:sp>
        <p:nvSpPr>
          <p:cNvPr id="16" name="Text 14"/>
          <p:cNvSpPr txBox="1"/>
          <p:nvPr/>
        </p:nvSpPr>
        <p:spPr>
          <a:xfrm>
            <a:off x="4180666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</a:t>
            </a:r>
            <a:endParaRPr lang="es-CL" sz="600" dirty="0"/>
          </a:p>
        </p:txBody>
      </p:sp>
      <p:sp>
        <p:nvSpPr>
          <p:cNvPr id="17" name="Text 15"/>
          <p:cNvSpPr txBox="1"/>
          <p:nvPr/>
        </p:nvSpPr>
        <p:spPr>
          <a:xfrm>
            <a:off x="4429413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dic</a:t>
            </a:r>
            <a:endParaRPr lang="es-CL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4678159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ene</a:t>
            </a:r>
            <a:endParaRPr lang="es-CL" sz="600" dirty="0"/>
          </a:p>
        </p:txBody>
      </p:sp>
      <p:sp>
        <p:nvSpPr>
          <p:cNvPr id="19" name="Text 17"/>
          <p:cNvSpPr txBox="1"/>
          <p:nvPr/>
        </p:nvSpPr>
        <p:spPr>
          <a:xfrm>
            <a:off x="4926905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feb</a:t>
            </a:r>
            <a:endParaRPr lang="es-CL" sz="600" dirty="0"/>
          </a:p>
        </p:txBody>
      </p:sp>
      <p:sp>
        <p:nvSpPr>
          <p:cNvPr id="20" name="Text 18"/>
          <p:cNvSpPr txBox="1"/>
          <p:nvPr/>
        </p:nvSpPr>
        <p:spPr>
          <a:xfrm>
            <a:off x="5175651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s-CL" sz="600" dirty="0"/>
          </a:p>
        </p:txBody>
      </p:sp>
      <p:sp>
        <p:nvSpPr>
          <p:cNvPr id="21" name="Text 19"/>
          <p:cNvSpPr txBox="1"/>
          <p:nvPr/>
        </p:nvSpPr>
        <p:spPr>
          <a:xfrm>
            <a:off x="5424398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abr</a:t>
            </a:r>
            <a:endParaRPr lang="es-CL" sz="600" dirty="0"/>
          </a:p>
        </p:txBody>
      </p:sp>
      <p:sp>
        <p:nvSpPr>
          <p:cNvPr id="22" name="Text 20"/>
          <p:cNvSpPr txBox="1"/>
          <p:nvPr/>
        </p:nvSpPr>
        <p:spPr>
          <a:xfrm>
            <a:off x="5673144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may</a:t>
            </a:r>
            <a:endParaRPr lang="es-CL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5921890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</a:t>
            </a:r>
            <a:endParaRPr lang="es-CL" sz="600" dirty="0"/>
          </a:p>
        </p:txBody>
      </p:sp>
      <p:sp>
        <p:nvSpPr>
          <p:cNvPr id="24" name="Text 22"/>
          <p:cNvSpPr txBox="1"/>
          <p:nvPr/>
        </p:nvSpPr>
        <p:spPr>
          <a:xfrm>
            <a:off x="6170637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</a:t>
            </a:r>
            <a:endParaRPr lang="es-CL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6419383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</a:t>
            </a:r>
            <a:endParaRPr lang="es-CL" sz="600" dirty="0"/>
          </a:p>
        </p:txBody>
      </p:sp>
      <p:sp>
        <p:nvSpPr>
          <p:cNvPr id="26" name="Text 24"/>
          <p:cNvSpPr txBox="1"/>
          <p:nvPr/>
        </p:nvSpPr>
        <p:spPr>
          <a:xfrm>
            <a:off x="6668129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sep</a:t>
            </a:r>
            <a:endParaRPr lang="es-CL" sz="600" dirty="0"/>
          </a:p>
        </p:txBody>
      </p:sp>
      <p:sp>
        <p:nvSpPr>
          <p:cNvPr id="27" name="Text 25"/>
          <p:cNvSpPr txBox="1"/>
          <p:nvPr/>
        </p:nvSpPr>
        <p:spPr>
          <a:xfrm>
            <a:off x="6916876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oct</a:t>
            </a:r>
            <a:endParaRPr lang="es-CL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7165622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</a:t>
            </a:r>
            <a:endParaRPr lang="es-CL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7414368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dic</a:t>
            </a:r>
            <a:endParaRPr lang="es-CL" sz="600" dirty="0"/>
          </a:p>
        </p:txBody>
      </p:sp>
      <p:sp>
        <p:nvSpPr>
          <p:cNvPr id="30" name="Text 28"/>
          <p:cNvSpPr txBox="1"/>
          <p:nvPr/>
        </p:nvSpPr>
        <p:spPr>
          <a:xfrm>
            <a:off x="7663114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T1</a:t>
            </a:r>
            <a:endParaRPr lang="es-CL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7911861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T2</a:t>
            </a:r>
            <a:endParaRPr lang="es-CL" sz="600" dirty="0"/>
          </a:p>
        </p:txBody>
      </p:sp>
      <p:sp>
        <p:nvSpPr>
          <p:cNvPr id="32" name="Text 30"/>
          <p:cNvSpPr txBox="1"/>
          <p:nvPr/>
        </p:nvSpPr>
        <p:spPr>
          <a:xfrm>
            <a:off x="8160607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T3</a:t>
            </a:r>
            <a:endParaRPr lang="es-CL" sz="600" dirty="0"/>
          </a:p>
        </p:txBody>
      </p:sp>
      <p:sp>
        <p:nvSpPr>
          <p:cNvPr id="33" name="Text 31"/>
          <p:cNvSpPr txBox="1"/>
          <p:nvPr/>
        </p:nvSpPr>
        <p:spPr>
          <a:xfrm>
            <a:off x="8409353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T4</a:t>
            </a:r>
            <a:endParaRPr lang="es-CL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8658100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T1</a:t>
            </a:r>
            <a:endParaRPr lang="es-CL" sz="600" dirty="0"/>
          </a:p>
        </p:txBody>
      </p:sp>
      <p:sp>
        <p:nvSpPr>
          <p:cNvPr id="35" name="Text 33"/>
          <p:cNvSpPr txBox="1"/>
          <p:nvPr/>
        </p:nvSpPr>
        <p:spPr>
          <a:xfrm>
            <a:off x="8906846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T2</a:t>
            </a:r>
            <a:endParaRPr lang="es-CL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9155592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T3</a:t>
            </a:r>
            <a:endParaRPr lang="es-CL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9404339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T4</a:t>
            </a:r>
            <a:endParaRPr lang="es-CL" sz="600" dirty="0"/>
          </a:p>
        </p:txBody>
      </p:sp>
      <p:sp>
        <p:nvSpPr>
          <p:cNvPr id="38" name="Text 36"/>
          <p:cNvSpPr txBox="1"/>
          <p:nvPr/>
        </p:nvSpPr>
        <p:spPr>
          <a:xfrm>
            <a:off x="9653085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T1</a:t>
            </a:r>
            <a:endParaRPr lang="es-CL" sz="600" dirty="0"/>
          </a:p>
        </p:txBody>
      </p:sp>
      <p:sp>
        <p:nvSpPr>
          <p:cNvPr id="39" name="Text 37"/>
          <p:cNvSpPr txBox="1"/>
          <p:nvPr/>
        </p:nvSpPr>
        <p:spPr>
          <a:xfrm>
            <a:off x="9901831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T2</a:t>
            </a:r>
            <a:endParaRPr lang="es-CL" sz="600" dirty="0"/>
          </a:p>
        </p:txBody>
      </p:sp>
      <p:sp>
        <p:nvSpPr>
          <p:cNvPr id="40" name="Text 38"/>
          <p:cNvSpPr txBox="1"/>
          <p:nvPr/>
        </p:nvSpPr>
        <p:spPr>
          <a:xfrm>
            <a:off x="10150577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T3</a:t>
            </a:r>
            <a:endParaRPr lang="es-CL" sz="600" dirty="0"/>
          </a:p>
        </p:txBody>
      </p:sp>
      <p:sp>
        <p:nvSpPr>
          <p:cNvPr id="41" name="Text 39"/>
          <p:cNvSpPr txBox="1"/>
          <p:nvPr/>
        </p:nvSpPr>
        <p:spPr>
          <a:xfrm>
            <a:off x="10399324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T4</a:t>
            </a:r>
            <a:endParaRPr lang="es-CL" sz="600" dirty="0"/>
          </a:p>
        </p:txBody>
      </p:sp>
      <p:sp>
        <p:nvSpPr>
          <p:cNvPr id="42" name="Text 40"/>
          <p:cNvSpPr txBox="1"/>
          <p:nvPr/>
        </p:nvSpPr>
        <p:spPr>
          <a:xfrm>
            <a:off x="10648070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T1</a:t>
            </a:r>
            <a:endParaRPr lang="es-CL" sz="600" dirty="0"/>
          </a:p>
        </p:txBody>
      </p:sp>
      <p:sp>
        <p:nvSpPr>
          <p:cNvPr id="43" name="Text 41"/>
          <p:cNvSpPr txBox="1"/>
          <p:nvPr/>
        </p:nvSpPr>
        <p:spPr>
          <a:xfrm>
            <a:off x="10896816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T2</a:t>
            </a:r>
            <a:endParaRPr lang="es-CL" sz="600" dirty="0"/>
          </a:p>
        </p:txBody>
      </p:sp>
      <p:sp>
        <p:nvSpPr>
          <p:cNvPr id="44" name="Text 42"/>
          <p:cNvSpPr txBox="1"/>
          <p:nvPr/>
        </p:nvSpPr>
        <p:spPr>
          <a:xfrm>
            <a:off x="11145563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T3</a:t>
            </a:r>
            <a:endParaRPr lang="es-CL" sz="600" dirty="0"/>
          </a:p>
        </p:txBody>
      </p:sp>
      <p:sp>
        <p:nvSpPr>
          <p:cNvPr id="45" name="Text 43"/>
          <p:cNvSpPr txBox="1"/>
          <p:nvPr/>
        </p:nvSpPr>
        <p:spPr>
          <a:xfrm>
            <a:off x="11394309" y="5532120"/>
            <a:ext cx="248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6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T4</a:t>
            </a:r>
            <a:endParaRPr lang="es-CL" sz="6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2560320"/>
            <a:ext cx="11887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PREAPERTURA</a:t>
            </a:r>
            <a:endParaRPr lang="es-CL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645920" y="2560320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Investigación de mercado</a:t>
            </a:r>
            <a:endParaRPr lang="es-CL" sz="900" dirty="0"/>
          </a:p>
        </p:txBody>
      </p:sp>
      <p:sp>
        <p:nvSpPr>
          <p:cNvPr id="48" name="Shape 46"/>
          <p:cNvSpPr/>
          <p:nvPr/>
        </p:nvSpPr>
        <p:spPr>
          <a:xfrm>
            <a:off x="3931920" y="2592324"/>
            <a:ext cx="746239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1311" y="2560320"/>
            <a:ext cx="2926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terreno, piloto y encuesta</a:t>
            </a:r>
            <a:endParaRPr lang="es-CL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645920" y="2747772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Local, permisos y financiamiento</a:t>
            </a:r>
            <a:endParaRPr lang="es-CL" sz="900" dirty="0"/>
          </a:p>
        </p:txBody>
      </p:sp>
      <p:sp>
        <p:nvSpPr>
          <p:cNvPr id="51" name="Shape 49"/>
          <p:cNvSpPr/>
          <p:nvPr/>
        </p:nvSpPr>
        <p:spPr>
          <a:xfrm>
            <a:off x="3931920" y="2779776"/>
            <a:ext cx="746239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51311" y="2747772"/>
            <a:ext cx="2926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cargo de los socios</a:t>
            </a:r>
            <a:endParaRPr lang="es-CL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645920" y="2935224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Homologación del primer modelo</a:t>
            </a:r>
            <a:endParaRPr lang="es-CL" sz="900" dirty="0"/>
          </a:p>
        </p:txBody>
      </p:sp>
      <p:sp>
        <p:nvSpPr>
          <p:cNvPr id="54" name="Shape 52"/>
          <p:cNvSpPr/>
          <p:nvPr/>
        </p:nvSpPr>
        <p:spPr>
          <a:xfrm>
            <a:off x="4180666" y="2967228"/>
            <a:ext cx="497493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1311" y="2935224"/>
            <a:ext cx="2926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 el auto del cliente piloto</a:t>
            </a:r>
            <a:endParaRPr lang="es-CL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645920" y="3122676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Formación del primer dúo</a:t>
            </a:r>
            <a:endParaRPr lang="es-CL" sz="900" dirty="0"/>
          </a:p>
        </p:txBody>
      </p:sp>
      <p:sp>
        <p:nvSpPr>
          <p:cNvPr id="57" name="Shape 55"/>
          <p:cNvSpPr/>
          <p:nvPr/>
        </p:nvSpPr>
        <p:spPr>
          <a:xfrm>
            <a:off x="4180666" y="3154680"/>
            <a:ext cx="497493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645920" y="3310128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Reglamento de la Ley 21.793</a:t>
            </a:r>
            <a:endParaRPr lang="es-CL" sz="900" dirty="0"/>
          </a:p>
        </p:txBody>
      </p:sp>
      <p:sp>
        <p:nvSpPr>
          <p:cNvPr id="59" name="Shape 57"/>
          <p:cNvSpPr/>
          <p:nvPr/>
        </p:nvSpPr>
        <p:spPr>
          <a:xfrm>
            <a:off x="4453202" y="3303270"/>
            <a:ext cx="201168" cy="201168"/>
          </a:xfrm>
          <a:prstGeom prst="star5">
            <a:avLst/>
          </a:prstGeom>
          <a:solidFill>
            <a:schemeClr val="accent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718378" y="3310128"/>
            <a:ext cx="3108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debe estar vigente antes de vender</a:t>
            </a:r>
            <a:endParaRPr lang="es-CL" sz="850" dirty="0"/>
          </a:p>
        </p:txBody>
      </p:sp>
      <p:sp>
        <p:nvSpPr>
          <p:cNvPr id="61" name="Shape 59"/>
          <p:cNvSpPr/>
          <p:nvPr/>
        </p:nvSpPr>
        <p:spPr>
          <a:xfrm>
            <a:off x="548640" y="352044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356158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 1</a:t>
            </a:r>
            <a:endParaRPr lang="es-CL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1645920" y="3561588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Apertura comercial</a:t>
            </a:r>
            <a:endParaRPr lang="es-CL" sz="900" dirty="0"/>
          </a:p>
        </p:txBody>
      </p:sp>
      <p:sp>
        <p:nvSpPr>
          <p:cNvPr id="64" name="Shape 62"/>
          <p:cNvSpPr/>
          <p:nvPr/>
        </p:nvSpPr>
        <p:spPr>
          <a:xfrm>
            <a:off x="4605007" y="3582162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806175" y="3561588"/>
            <a:ext cx="1463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enero 2027</a:t>
            </a:r>
            <a:endParaRPr lang="es-CL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1645920" y="3749040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Formación y entrada de dúos</a:t>
            </a:r>
            <a:endParaRPr lang="es-CL" sz="900" dirty="0"/>
          </a:p>
        </p:txBody>
      </p:sp>
      <p:sp>
        <p:nvSpPr>
          <p:cNvPr id="67" name="Shape 65"/>
          <p:cNvSpPr/>
          <p:nvPr/>
        </p:nvSpPr>
        <p:spPr>
          <a:xfrm>
            <a:off x="5424398" y="3781044"/>
            <a:ext cx="497493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68" name="Shape 66"/>
          <p:cNvSpPr/>
          <p:nvPr/>
        </p:nvSpPr>
        <p:spPr>
          <a:xfrm>
            <a:off x="5848738" y="3769614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739010" y="3602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s-CL" sz="700" dirty="0"/>
          </a:p>
        </p:txBody>
      </p:sp>
      <p:sp>
        <p:nvSpPr>
          <p:cNvPr id="70" name="Shape 68"/>
          <p:cNvSpPr/>
          <p:nvPr/>
        </p:nvSpPr>
        <p:spPr>
          <a:xfrm>
            <a:off x="6916876" y="3781044"/>
            <a:ext cx="497493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71" name="Shape 69"/>
          <p:cNvSpPr/>
          <p:nvPr/>
        </p:nvSpPr>
        <p:spPr>
          <a:xfrm>
            <a:off x="7341216" y="3769614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231488" y="3602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s-CL" sz="700" dirty="0"/>
          </a:p>
        </p:txBody>
      </p:sp>
      <p:sp>
        <p:nvSpPr>
          <p:cNvPr id="73" name="Shape 71"/>
          <p:cNvSpPr/>
          <p:nvPr/>
        </p:nvSpPr>
        <p:spPr>
          <a:xfrm>
            <a:off x="7414368" y="3781044"/>
            <a:ext cx="331662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74" name="Shape 72"/>
          <p:cNvSpPr/>
          <p:nvPr/>
        </p:nvSpPr>
        <p:spPr>
          <a:xfrm>
            <a:off x="7672878" y="3769614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563150" y="3602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s-CL" sz="700" dirty="0"/>
          </a:p>
        </p:txBody>
      </p:sp>
      <p:sp>
        <p:nvSpPr>
          <p:cNvPr id="76" name="Shape 74"/>
          <p:cNvSpPr/>
          <p:nvPr/>
        </p:nvSpPr>
        <p:spPr>
          <a:xfrm>
            <a:off x="7911861" y="3781044"/>
            <a:ext cx="165831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77" name="Shape 75"/>
          <p:cNvSpPr/>
          <p:nvPr/>
        </p:nvSpPr>
        <p:spPr>
          <a:xfrm>
            <a:off x="8004540" y="3769614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894812" y="3602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s-CL" sz="700" dirty="0"/>
          </a:p>
        </p:txBody>
      </p:sp>
      <p:sp>
        <p:nvSpPr>
          <p:cNvPr id="79" name="Shape 77"/>
          <p:cNvSpPr/>
          <p:nvPr/>
        </p:nvSpPr>
        <p:spPr>
          <a:xfrm>
            <a:off x="8077692" y="3781044"/>
            <a:ext cx="165831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80" name="Shape 78"/>
          <p:cNvSpPr/>
          <p:nvPr/>
        </p:nvSpPr>
        <p:spPr>
          <a:xfrm>
            <a:off x="8170370" y="3769614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060642" y="36027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7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s-CL" sz="700" dirty="0"/>
          </a:p>
        </p:txBody>
      </p:sp>
      <p:sp>
        <p:nvSpPr>
          <p:cNvPr id="82" name="Shape 80"/>
          <p:cNvSpPr/>
          <p:nvPr/>
        </p:nvSpPr>
        <p:spPr>
          <a:xfrm>
            <a:off x="548640" y="395935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48640" y="4000500"/>
            <a:ext cx="11887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BIBLIOTECA Y RED</a:t>
            </a:r>
            <a:endParaRPr lang="es-CL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1645920" y="4000500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Calibración de modelos</a:t>
            </a:r>
            <a:endParaRPr lang="es-CL" sz="900" dirty="0"/>
          </a:p>
        </p:txBody>
      </p:sp>
      <p:sp>
        <p:nvSpPr>
          <p:cNvPr id="85" name="Shape 83"/>
          <p:cNvSpPr/>
          <p:nvPr/>
        </p:nvSpPr>
        <p:spPr>
          <a:xfrm>
            <a:off x="4678159" y="4032504"/>
            <a:ext cx="2984956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678159" y="4000500"/>
            <a:ext cx="29849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dos al mes</a:t>
            </a:r>
            <a:endParaRPr lang="es-CL" sz="800" dirty="0"/>
          </a:p>
        </p:txBody>
      </p:sp>
      <p:sp>
        <p:nvSpPr>
          <p:cNvPr id="87" name="Shape 85"/>
          <p:cNvSpPr/>
          <p:nvPr/>
        </p:nvSpPr>
        <p:spPr>
          <a:xfrm>
            <a:off x="7663114" y="4032504"/>
            <a:ext cx="3979941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663114" y="4000500"/>
            <a:ext cx="3979941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uno al mes</a:t>
            </a:r>
            <a:endParaRPr lang="es-CL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1645920" y="4187952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Red certificada</a:t>
            </a:r>
            <a:endParaRPr lang="es-CL" sz="900" dirty="0"/>
          </a:p>
        </p:txBody>
      </p:sp>
      <p:sp>
        <p:nvSpPr>
          <p:cNvPr id="90" name="Shape 88"/>
          <p:cNvSpPr/>
          <p:nvPr/>
        </p:nvSpPr>
        <p:spPr>
          <a:xfrm>
            <a:off x="7663114" y="4219956"/>
            <a:ext cx="3979941" cy="1234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8246620" y="4187952"/>
            <a:ext cx="365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75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s-CL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9241605" y="4187952"/>
            <a:ext cx="365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75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s-CL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10236590" y="4187952"/>
            <a:ext cx="365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75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s-CL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11231575" y="4187952"/>
            <a:ext cx="365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75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</a:t>
            </a:r>
            <a:endParaRPr lang="es-CL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1645920" y="4375404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Flotas y convenios con colectivos</a:t>
            </a:r>
            <a:endParaRPr lang="es-CL" sz="900" dirty="0"/>
          </a:p>
        </p:txBody>
      </p:sp>
      <p:sp>
        <p:nvSpPr>
          <p:cNvPr id="96" name="Shape 94"/>
          <p:cNvSpPr/>
          <p:nvPr/>
        </p:nvSpPr>
        <p:spPr>
          <a:xfrm>
            <a:off x="8658100" y="4407408"/>
            <a:ext cx="2984956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8658100" y="4375404"/>
            <a:ext cx="298495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desde el año 3</a:t>
            </a:r>
            <a:endParaRPr lang="es-CL" sz="800" dirty="0"/>
          </a:p>
        </p:txBody>
      </p:sp>
      <p:sp>
        <p:nvSpPr>
          <p:cNvPr id="98" name="Shape 96"/>
          <p:cNvSpPr/>
          <p:nvPr/>
        </p:nvSpPr>
        <p:spPr>
          <a:xfrm>
            <a:off x="548640" y="458571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48640" y="462686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TALLERES 2 Y 3</a:t>
            </a:r>
            <a:endParaRPr lang="es-CL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1645920" y="4626864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2</a:t>
            </a:r>
            <a:endParaRPr lang="es-CL" sz="900" dirty="0"/>
          </a:p>
        </p:txBody>
      </p:sp>
      <p:sp>
        <p:nvSpPr>
          <p:cNvPr id="101" name="Shape 99"/>
          <p:cNvSpPr/>
          <p:nvPr/>
        </p:nvSpPr>
        <p:spPr>
          <a:xfrm>
            <a:off x="8409353" y="4658868"/>
            <a:ext cx="248746" cy="1234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658100" y="4658868"/>
            <a:ext cx="994985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8658100" y="4626864"/>
            <a:ext cx="994985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 dúos al mes 36</a:t>
            </a:r>
            <a:endParaRPr lang="es-CL" sz="800" dirty="0"/>
          </a:p>
        </p:txBody>
      </p:sp>
      <p:sp>
        <p:nvSpPr>
          <p:cNvPr id="104" name="Shape 102"/>
          <p:cNvSpPr/>
          <p:nvPr/>
        </p:nvSpPr>
        <p:spPr>
          <a:xfrm>
            <a:off x="8584948" y="4647438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645920" y="4814316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3</a:t>
            </a:r>
            <a:endParaRPr lang="es-CL" sz="900" dirty="0"/>
          </a:p>
        </p:txBody>
      </p:sp>
      <p:sp>
        <p:nvSpPr>
          <p:cNvPr id="106" name="Shape 104"/>
          <p:cNvSpPr/>
          <p:nvPr/>
        </p:nvSpPr>
        <p:spPr>
          <a:xfrm>
            <a:off x="10399324" y="4846320"/>
            <a:ext cx="248746" cy="1234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648070" y="4846320"/>
            <a:ext cx="994985" cy="123444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648070" y="4814316"/>
            <a:ext cx="994985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 dúos al mes 60</a:t>
            </a:r>
            <a:endParaRPr lang="es-CL" sz="800" dirty="0"/>
          </a:p>
        </p:txBody>
      </p:sp>
      <p:sp>
        <p:nvSpPr>
          <p:cNvPr id="109" name="Shape 107"/>
          <p:cNvSpPr/>
          <p:nvPr/>
        </p:nvSpPr>
        <p:spPr>
          <a:xfrm>
            <a:off x="10574918" y="4834890"/>
            <a:ext cx="146304" cy="146304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8640" y="502462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548640" y="506577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EQUIPO</a:t>
            </a:r>
            <a:endParaRPr lang="es-CL" sz="750" dirty="0"/>
          </a:p>
        </p:txBody>
      </p:sp>
      <p:sp>
        <p:nvSpPr>
          <p:cNvPr id="112" name="Text 110"/>
          <p:cNvSpPr txBox="1"/>
          <p:nvPr/>
        </p:nvSpPr>
        <p:spPr>
          <a:xfrm>
            <a:off x="1645920" y="5065776"/>
            <a:ext cx="21762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Ingresos por carga de trabajo</a:t>
            </a:r>
            <a:endParaRPr lang="es-CL" sz="900" dirty="0"/>
          </a:p>
        </p:txBody>
      </p:sp>
      <p:sp>
        <p:nvSpPr>
          <p:cNvPr id="113" name="Shape 111"/>
          <p:cNvSpPr/>
          <p:nvPr/>
        </p:nvSpPr>
        <p:spPr>
          <a:xfrm>
            <a:off x="8934897" y="510463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7618161" y="5065776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As. de Postventa</a:t>
            </a:r>
            <a:endParaRPr lang="es-CL" sz="800" dirty="0"/>
          </a:p>
        </p:txBody>
      </p:sp>
      <p:sp>
        <p:nvSpPr>
          <p:cNvPr id="115" name="Shape 113"/>
          <p:cNvSpPr/>
          <p:nvPr/>
        </p:nvSpPr>
        <p:spPr>
          <a:xfrm>
            <a:off x="9598221" y="510463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8738685" y="5215738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2.º IC y As. de Administración</a:t>
            </a:r>
            <a:endParaRPr lang="es-CL" sz="800" dirty="0"/>
          </a:p>
        </p:txBody>
      </p:sp>
      <p:sp>
        <p:nvSpPr>
          <p:cNvPr id="117" name="Shape 115"/>
          <p:cNvSpPr/>
          <p:nvPr/>
        </p:nvSpPr>
        <p:spPr>
          <a:xfrm>
            <a:off x="10344460" y="510463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490764" y="5065776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Com. de Empresas</a:t>
            </a:r>
            <a:endParaRPr lang="es-CL" sz="800" dirty="0"/>
          </a:p>
        </p:txBody>
      </p:sp>
      <p:sp>
        <p:nvSpPr>
          <p:cNvPr id="119" name="Shape 117"/>
          <p:cNvSpPr/>
          <p:nvPr/>
        </p:nvSpPr>
        <p:spPr>
          <a:xfrm>
            <a:off x="548640" y="582472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731520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Actividad principal</a:t>
            </a:r>
            <a:endParaRPr lang="es-CL" sz="750" dirty="0"/>
          </a:p>
        </p:txBody>
      </p:sp>
      <p:sp>
        <p:nvSpPr>
          <p:cNvPr id="121" name="Shape 119"/>
          <p:cNvSpPr/>
          <p:nvPr/>
        </p:nvSpPr>
        <p:spPr>
          <a:xfrm>
            <a:off x="2395728" y="5824728"/>
            <a:ext cx="128016" cy="128016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2578608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Operación o continuidad</a:t>
            </a:r>
            <a:endParaRPr lang="es-CL" sz="750" dirty="0"/>
          </a:p>
        </p:txBody>
      </p:sp>
      <p:sp>
        <p:nvSpPr>
          <p:cNvPr id="123" name="Shape 121"/>
          <p:cNvSpPr/>
          <p:nvPr/>
        </p:nvSpPr>
        <p:spPr>
          <a:xfrm>
            <a:off x="4242816" y="5824728"/>
            <a:ext cx="128016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4425696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Preapertura de taller</a:t>
            </a:r>
            <a:endParaRPr lang="es-CL" sz="750" dirty="0"/>
          </a:p>
        </p:txBody>
      </p:sp>
      <p:sp>
        <p:nvSpPr>
          <p:cNvPr id="125" name="Shape 123"/>
          <p:cNvSpPr/>
          <p:nvPr/>
        </p:nvSpPr>
        <p:spPr>
          <a:xfrm>
            <a:off x="6089904" y="5824728"/>
            <a:ext cx="128016" cy="128016"/>
          </a:xfrm>
          <a:prstGeom prst="diamond">
            <a:avLst/>
          </a:prstGeom>
          <a:solidFill>
            <a:schemeClr val="tx1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6272784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Hito</a:t>
            </a:r>
            <a:endParaRPr lang="es-CL" sz="750" dirty="0"/>
          </a:p>
        </p:txBody>
      </p:sp>
      <p:sp>
        <p:nvSpPr>
          <p:cNvPr id="127" name="Shape 125"/>
          <p:cNvSpPr/>
          <p:nvPr/>
        </p:nvSpPr>
        <p:spPr>
          <a:xfrm>
            <a:off x="7936992" y="5824728"/>
            <a:ext cx="128016" cy="128016"/>
          </a:xfrm>
          <a:prstGeom prst="star5">
            <a:avLst/>
          </a:prstGeom>
          <a:solidFill>
            <a:schemeClr val="accent3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8119872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Hito crítico</a:t>
            </a:r>
            <a:endParaRPr lang="es-CL" sz="750" dirty="0"/>
          </a:p>
        </p:txBody>
      </p:sp>
      <p:sp>
        <p:nvSpPr>
          <p:cNvPr id="129" name="Shape 127"/>
          <p:cNvSpPr/>
          <p:nvPr/>
        </p:nvSpPr>
        <p:spPr>
          <a:xfrm>
            <a:off x="9784080" y="5824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966960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750" spc="8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Ingreso de personal</a:t>
            </a:r>
            <a:endParaRPr lang="es-CL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PRESUPUESTO Y RESULTADO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GANANCIA DESDE EL AÑO 2;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riesgo es el dólar.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REFERENCIAL POR LÍNEA · MILLONES DE PESOS</a:t>
            </a:r>
            <a:endParaRPr lang="es-CL" sz="900" dirty="0"/>
          </a:p>
        </p:txBody>
      </p:sp>
      <p:graphicFrame>
        <p:nvGraphicFramePr>
          <p:cNvPr id="5" name="Resultado referencial por línea de negocio" descr=""/>
          <p:cNvGraphicFramePr/>
          <p:nvPr/>
        </p:nvGraphicFramePr>
        <p:xfrm>
          <a:off x="457200" y="2606040"/>
          <a:ext cx="68580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Margen de la línea propia: </a:t>
            </a:r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−11,0% · 4,6% · 6,7% · 7,7% · 7,7%</a:t>
            </a:r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 La red rinde cerca de 10%.</a:t>
            </a:r>
            <a:endParaRPr lang="es-CL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 IMPUESTOS, DEPRECIACIÓN NI FINANCIAMIENTO</a:t>
            </a:r>
            <a:endParaRPr lang="es-CL" sz="750" dirty="0"/>
          </a:p>
        </p:txBody>
      </p:sp>
      <p:sp>
        <p:nvSpPr>
          <p:cNvPr id="8" name="Shape 5"/>
          <p:cNvSpPr/>
          <p:nvPr/>
        </p:nvSpPr>
        <p:spPr>
          <a:xfrm>
            <a:off x="7726680" y="2331720"/>
            <a:ext cx="3916375" cy="1417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48" y="2468880"/>
            <a:ext cx="35140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INVERSIÓN POR LOCAL · SEIS PUESTOS</a:t>
            </a:r>
            <a:endParaRPr lang="es-CL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927848" y="2679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$81,3 M</a:t>
            </a:r>
            <a:endParaRPr lang="es-CL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2715768"/>
            <a:ext cx="1584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Casi la mitad es el dinamómetro: $36,7 M. El kit es más del 90% del gasto operacional.</a:t>
            </a:r>
            <a:endParaRPr lang="es-CL" sz="1050" dirty="0"/>
          </a:p>
        </p:txBody>
      </p:sp>
      <p:sp>
        <p:nvSpPr>
          <p:cNvPr id="12" name="Shape 9"/>
          <p:cNvSpPr/>
          <p:nvPr/>
        </p:nvSpPr>
        <p:spPr>
          <a:xfrm>
            <a:off x="7726680" y="3977640"/>
            <a:ext cx="3916375" cy="2240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71816" y="392277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71816" y="3922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42471" y="392277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97919" y="3922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71816" y="62727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71816" y="6117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42471" y="62727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697919" y="6117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27848" y="4114800"/>
            <a:ext cx="35140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PROPIO DEL AÑO 5 SEGÚN EL DÓLAR</a:t>
            </a:r>
            <a:endParaRPr lang="es-CL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7927848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−10%</a:t>
            </a:r>
            <a:endParaRPr lang="es-CL" sz="1050" dirty="0"/>
          </a:p>
        </p:txBody>
      </p:sp>
      <p:sp>
        <p:nvSpPr>
          <p:cNvPr id="23" name="Shape 20"/>
          <p:cNvSpPr/>
          <p:nvPr/>
        </p:nvSpPr>
        <p:spPr>
          <a:xfrm>
            <a:off x="9144000" y="4526280"/>
            <a:ext cx="1218895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436047" y="4434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1.646,9</a:t>
            </a:r>
            <a:endParaRPr lang="es-CL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957255" y="4434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14,6%</a:t>
            </a:r>
            <a:endParaRPr lang="es-CL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927848" y="48646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Base: $965,71</a:t>
            </a:r>
            <a:endParaRPr lang="es-CL" sz="1050" dirty="0"/>
          </a:p>
        </p:txBody>
      </p:sp>
      <p:sp>
        <p:nvSpPr>
          <p:cNvPr id="27" name="Shape 24"/>
          <p:cNvSpPr/>
          <p:nvPr/>
        </p:nvSpPr>
        <p:spPr>
          <a:xfrm>
            <a:off x="9144000" y="4956048"/>
            <a:ext cx="643826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860978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869,9</a:t>
            </a:r>
            <a:endParaRPr lang="es-CL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957255" y="48646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7,7%</a:t>
            </a:r>
            <a:endParaRPr lang="es-CL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7927848" y="5294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+10%</a:t>
            </a:r>
            <a:endParaRPr lang="es-CL" sz="1050" dirty="0"/>
          </a:p>
        </p:txBody>
      </p:sp>
      <p:sp>
        <p:nvSpPr>
          <p:cNvPr id="31" name="Shape 28"/>
          <p:cNvSpPr/>
          <p:nvPr/>
        </p:nvSpPr>
        <p:spPr>
          <a:xfrm>
            <a:off x="9144000" y="5385816"/>
            <a:ext cx="68757" cy="2011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285909" y="5294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92,9</a:t>
            </a:r>
            <a:endParaRPr lang="es-CL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957255" y="52943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0,8%</a:t>
            </a:r>
            <a:endParaRPr lang="es-CL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927848" y="5760720"/>
            <a:ext cx="35140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Cerca del 82% del costo del kit se paga en dólares; la red traslada la variación al taller.</a:t>
            </a:r>
            <a:endParaRPr lang="es-C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CONCLUSIONES DEL CAPÍTULO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UN MISMO GATILLO,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80%, mueve los tres planes.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291840" cy="118872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3989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35753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3419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35753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95344" y="3419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46888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GATILLO</a:t>
            </a:r>
            <a:endParaRPr lang="es-CL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715768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Demanda sobre el 80% de la capacidad, dos meses seguidos</a:t>
            </a:r>
            <a:endParaRPr lang="es-CL" sz="1400" dirty="0"/>
          </a:p>
        </p:txBody>
      </p:sp>
      <p:sp>
        <p:nvSpPr>
          <p:cNvPr id="15" name="Shape 13"/>
          <p:cNvSpPr/>
          <p:nvPr/>
        </p:nvSpPr>
        <p:spPr>
          <a:xfrm>
            <a:off x="3913632" y="2926080"/>
            <a:ext cx="45720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2331720"/>
            <a:ext cx="2280818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247802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9432" y="24780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478024"/>
            <a:ext cx="15492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</a:t>
            </a:r>
            <a:endParaRPr lang="es-CL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2834640"/>
            <a:ext cx="1951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Suma un dúo de técnicos</a:t>
            </a:r>
            <a:endParaRPr lang="es-CL" sz="1300" dirty="0"/>
          </a:p>
        </p:txBody>
      </p:sp>
      <p:sp>
        <p:nvSpPr>
          <p:cNvPr id="21" name="Shape 19"/>
          <p:cNvSpPr/>
          <p:nvPr/>
        </p:nvSpPr>
        <p:spPr>
          <a:xfrm>
            <a:off x="6898538" y="2331720"/>
            <a:ext cx="2280818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3130" y="247802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63130" y="24780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492898" y="2478024"/>
            <a:ext cx="15492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RECURSOS HUMANOS</a:t>
            </a:r>
            <a:endParaRPr lang="es-CL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063130" y="2834640"/>
            <a:ext cx="1951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Contrata cuando la carga lo justifica</a:t>
            </a:r>
            <a:endParaRPr lang="es-CL" sz="1300" dirty="0"/>
          </a:p>
        </p:txBody>
      </p:sp>
      <p:sp>
        <p:nvSpPr>
          <p:cNvPr id="26" name="Shape 24"/>
          <p:cNvSpPr/>
          <p:nvPr/>
        </p:nvSpPr>
        <p:spPr>
          <a:xfrm>
            <a:off x="9362237" y="2331720"/>
            <a:ext cx="2280818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6829" y="247802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26829" y="24780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956597" y="2478024"/>
            <a:ext cx="15492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TALLERES</a:t>
            </a:r>
            <a:endParaRPr lang="es-CL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526829" y="2834640"/>
            <a:ext cx="1951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Abre otro cuando el anterior llena sus seis puestos</a:t>
            </a:r>
            <a:endParaRPr lang="es-CL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HOJA DE RUTA · TRES TRAMOS</a:t>
            </a:r>
            <a:endParaRPr lang="es-CL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178808"/>
            <a:ext cx="3716426" cy="329184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17880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</a:t>
            </a:r>
            <a:endParaRPr lang="es-CL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599432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Probar el producto</a:t>
            </a:r>
            <a:endParaRPr lang="es-CL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892040"/>
            <a:ext cx="346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299 instalaciones, 3 casos medidos y 2 modelos calibrados al mes; pérdida de lanzamiento.</a:t>
            </a:r>
            <a:endParaRPr lang="es-CL" sz="1050" dirty="0"/>
          </a:p>
        </p:txBody>
      </p:sp>
      <p:sp>
        <p:nvSpPr>
          <p:cNvPr id="36" name="Text 34"/>
          <p:cNvSpPr/>
          <p:nvPr/>
        </p:nvSpPr>
        <p:spPr>
          <a:xfrm>
            <a:off x="4292498" y="4178808"/>
            <a:ext cx="3716426" cy="329184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4521098" y="417880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AÑOS 2 Y 3</a:t>
            </a:r>
            <a:endParaRPr lang="es-CL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292498" y="4599432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Sumar la red</a:t>
            </a:r>
            <a:endParaRPr lang="es-CL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292498" y="4892040"/>
            <a:ext cx="346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Canal hacia regiones con ingresos recurrentes y el segundo taller propio.</a:t>
            </a:r>
            <a:endParaRPr lang="es-CL" sz="1050" dirty="0"/>
          </a:p>
        </p:txBody>
      </p:sp>
      <p:sp>
        <p:nvSpPr>
          <p:cNvPr id="40" name="Text 38"/>
          <p:cNvSpPr/>
          <p:nvPr/>
        </p:nvSpPr>
        <p:spPr>
          <a:xfrm>
            <a:off x="8036357" y="4178808"/>
            <a:ext cx="3716426" cy="329184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8264957" y="417880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AÑOS 4 Y 5</a:t>
            </a:r>
            <a:endParaRPr lang="es-CL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036357" y="4599432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Escalar</a:t>
            </a:r>
            <a:endParaRPr lang="es-CL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036357" y="4892040"/>
            <a:ext cx="346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Tres talleres propios, 42 talleres certificados y 56 personas.</a:t>
            </a:r>
            <a:endParaRPr lang="es-CL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394960"/>
            <a:ext cx="1109441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486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TRES CONDICIONES ABIERTAS</a:t>
            </a:r>
            <a:endParaRPr lang="es-CL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576072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621792" y="57607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REGULATORIA</a:t>
            </a:r>
            <a:endParaRPr lang="es-CL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1965960" y="5733288"/>
            <a:ext cx="2097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Reglamento de la Ley 21.793 y encuadre del kit aditivo.</a:t>
            </a:r>
            <a:endParaRPr lang="es-CL" sz="1000" dirty="0"/>
          </a:p>
        </p:txBody>
      </p:sp>
      <p:sp>
        <p:nvSpPr>
          <p:cNvPr id="49" name="Shape 47"/>
          <p:cNvSpPr/>
          <p:nvPr/>
        </p:nvSpPr>
        <p:spPr>
          <a:xfrm>
            <a:off x="4338218" y="576072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4411370" y="57607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TÉCNICA</a:t>
            </a:r>
            <a:endParaRPr lang="es-CL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755538" y="5733288"/>
            <a:ext cx="2097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Ahorro simulado hasta medir el primer cliente piloto.</a:t>
            </a:r>
            <a:endParaRPr lang="es-CL" sz="1000" dirty="0"/>
          </a:p>
        </p:txBody>
      </p:sp>
      <p:sp>
        <p:nvSpPr>
          <p:cNvPr id="52" name="Shape 50"/>
          <p:cNvSpPr/>
          <p:nvPr/>
        </p:nvSpPr>
        <p:spPr>
          <a:xfrm>
            <a:off x="8127797" y="5760720"/>
            <a:ext cx="132588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8200949" y="57607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COMERCIAL</a:t>
            </a:r>
            <a:endParaRPr lang="es-CL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9545117" y="5733288"/>
            <a:ext cx="2097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Precios, mezcla de versiones y conversión: los fija la encuesta.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365760"/>
            <a:ext cx="5973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INTEGRADOR II · ICMA 1001 · GRUPO 1</a:t>
            </a:r>
            <a:endParaRPr lang="es-CL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CIERRE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3258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MISMO AUTO, </a:t>
            </a:r>
            <a:pPr algn="l" indent="0" marL="0">
              <a:lnSpc>
                <a:spcPct val="90000"/>
              </a:lnSpc>
              <a:buNone/>
            </a:pPr>
            <a:r>
              <a:rPr lang="en-US" sz="52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ahora híbrido.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40156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29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INTEGRANTES</a:t>
            </a:r>
            <a:endParaRPr lang="es-CL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673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Diego Alarcón · Benjamín Torres · Lukas Verdugo</a:t>
            </a:r>
            <a:endParaRPr lang="es-CL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3767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1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GRACIAS · ¿PREGUNTAS?</a:t>
            </a:r>
            <a:endParaRPr lang="es-C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8251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2026 LUMINE MOTORS · FASE 3 · CAPÍTULO III · PROFESOR ROBERTO BRITO</a:t>
            </a:r>
            <a:endParaRPr lang="es-CL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 DE APOYO</a:t>
            </a:r>
            <a:endParaRPr lang="en-US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ANEXO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preguntas.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Estas diapositivas no se presentan. Si una pregunta toca uno de estos temas, se hace clic en él y se salta directo.</a:t>
            </a:r>
            <a:endParaRPr lang="es-CL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02666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2666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</a:t>
            </a:r>
            <a:endParaRPr lang="es-CL" sz="950" dirty="0"/>
          </a:p>
        </p:txBody>
      </p:sp>
      <p:sp>
        <p:nvSpPr>
          <p:cNvPr id="8" name="Text 6">
            <a:hlinkClick r:id="rId1" tooltip="Ir a Hipótesis de la investigación" action="ppaction://hlinksldjump"/>
          </p:cNvPr>
          <p:cNvSpPr txBox="1"/>
          <p:nvPr/>
        </p:nvSpPr>
        <p:spPr>
          <a:xfrm>
            <a:off x="1188720" y="283464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" action="ppaction://hlinksldjump" tooltip="Ir a Hipótesis de la investig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Hipótesis de la investigación</a:t>
            </a:r>
            <a:endParaRPr lang="en-US" sz="1550" dirty="0"/>
          </a:p>
        </p:txBody>
      </p:sp>
      <p:sp>
        <p:nvSpPr>
          <p:cNvPr id="9" name="Text 7">
            <a:hlinkClick r:id="rId2" tooltip="Ir a Hipótesis de la investigación" action="ppaction://hlinksldjump"/>
          </p:cNvPr>
          <p:cNvSpPr txBox="1"/>
          <p:nvPr/>
        </p:nvSpPr>
        <p:spPr>
          <a:xfrm>
            <a:off x="4267048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action="ppaction://hlinksldjump" tooltip="Ir a Hipótesis de la investig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18 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66674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667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A2</a:t>
            </a:r>
            <a:endParaRPr lang="es-CL" sz="950" dirty="0"/>
          </a:p>
        </p:txBody>
      </p:sp>
      <p:sp>
        <p:nvSpPr>
          <p:cNvPr id="13" name="Text 11">
            <a:hlinkClick r:id="rId3" tooltip="Ir a Dudas del cliente y respaldo" action="ppaction://hlinksldjump"/>
          </p:cNvPr>
          <p:cNvSpPr txBox="1"/>
          <p:nvPr/>
        </p:nvSpPr>
        <p:spPr>
          <a:xfrm>
            <a:off x="1188720" y="347472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3" action="ppaction://hlinksldjump" tooltip="Ir a Dudas del cliente y respal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Dudas del cliente y respaldo</a:t>
            </a:r>
            <a:endParaRPr lang="en-US" sz="1550" dirty="0"/>
          </a:p>
        </p:txBody>
      </p:sp>
      <p:sp>
        <p:nvSpPr>
          <p:cNvPr id="14" name="Text 12">
            <a:hlinkClick r:id="rId4" tooltip="Ir a Dudas del cliente y respaldo" action="ppaction://hlinksldjump"/>
          </p:cNvPr>
          <p:cNvSpPr txBox="1"/>
          <p:nvPr/>
        </p:nvSpPr>
        <p:spPr>
          <a:xfrm>
            <a:off x="4267048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 action="ppaction://hlinksldjump" tooltip="Ir a Dudas del cliente y respal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19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0682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068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A3</a:t>
            </a:r>
            <a:endParaRPr lang="es-CL" sz="950" dirty="0"/>
          </a:p>
        </p:txBody>
      </p:sp>
      <p:sp>
        <p:nvSpPr>
          <p:cNvPr id="18" name="Text 16">
            <a:hlinkClick r:id="rId5" tooltip="Ir a Mezcla de marketing" action="ppaction://hlinksldjump"/>
          </p:cNvPr>
          <p:cNvSpPr txBox="1"/>
          <p:nvPr/>
        </p:nvSpPr>
        <p:spPr>
          <a:xfrm>
            <a:off x="1188720" y="411480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5" action="ppaction://hlinksldjump" tooltip="Ir a Mezcla de marke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Mezcla de marketing</a:t>
            </a:r>
            <a:endParaRPr lang="en-US" sz="1550" dirty="0"/>
          </a:p>
        </p:txBody>
      </p:sp>
      <p:sp>
        <p:nvSpPr>
          <p:cNvPr id="19" name="Text 17">
            <a:hlinkClick r:id="rId6" tooltip="Ir a Mezcla de marketing" action="ppaction://hlinksldjump"/>
          </p:cNvPr>
          <p:cNvSpPr txBox="1"/>
          <p:nvPr/>
        </p:nvSpPr>
        <p:spPr>
          <a:xfrm>
            <a:off x="4267048" y="4114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6" action="ppaction://hlinksldjump" tooltip="Ir a Mezcla de marke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20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4690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469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A4</a:t>
            </a:r>
            <a:endParaRPr lang="es-CL" sz="950" dirty="0"/>
          </a:p>
        </p:txBody>
      </p:sp>
      <p:sp>
        <p:nvSpPr>
          <p:cNvPr id="23" name="Text 21">
            <a:hlinkClick r:id="rId7" tooltip="Ir a Cobros a la red de talleres" action="ppaction://hlinksldjump"/>
          </p:cNvPr>
          <p:cNvSpPr txBox="1"/>
          <p:nvPr/>
        </p:nvSpPr>
        <p:spPr>
          <a:xfrm>
            <a:off x="1188720" y="475488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7" action="ppaction://hlinksldjump" tooltip="Ir a Cobros a la red de talle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Cobros a la red de talleres</a:t>
            </a:r>
            <a:endParaRPr lang="en-US" sz="1550" dirty="0"/>
          </a:p>
        </p:txBody>
      </p:sp>
      <p:sp>
        <p:nvSpPr>
          <p:cNvPr id="24" name="Text 22">
            <a:hlinkClick r:id="rId8" tooltip="Ir a Cobros a la red de talleres" action="ppaction://hlinksldjump"/>
          </p:cNvPr>
          <p:cNvSpPr txBox="1"/>
          <p:nvPr/>
        </p:nvSpPr>
        <p:spPr>
          <a:xfrm>
            <a:off x="4267048" y="4754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8" action="ppaction://hlinksldjump" tooltip="Ir a Cobros a la red de talle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21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58698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869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A5</a:t>
            </a:r>
            <a:endParaRPr lang="es-CL" sz="950" dirty="0"/>
          </a:p>
        </p:txBody>
      </p:sp>
      <p:sp>
        <p:nvSpPr>
          <p:cNvPr id="28" name="Text 26">
            <a:hlinkClick r:id="rId9" tooltip="Ir a Tamaño del mercado y adopción" action="ppaction://hlinksldjump"/>
          </p:cNvPr>
          <p:cNvSpPr txBox="1"/>
          <p:nvPr/>
        </p:nvSpPr>
        <p:spPr>
          <a:xfrm>
            <a:off x="1188720" y="539496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9" action="ppaction://hlinksldjump" tooltip="Ir a Tamaño del mercado y adop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Tamaño del mercado y adopción</a:t>
            </a:r>
            <a:endParaRPr lang="en-US" sz="1550" dirty="0"/>
          </a:p>
        </p:txBody>
      </p:sp>
      <p:sp>
        <p:nvSpPr>
          <p:cNvPr id="29" name="Text 27">
            <a:hlinkClick r:id="rId10" tooltip="Ir a Tamaño del mercado y adopción" action="ppaction://hlinksldjump"/>
          </p:cNvPr>
          <p:cNvSpPr txBox="1"/>
          <p:nvPr/>
        </p:nvSpPr>
        <p:spPr>
          <a:xfrm>
            <a:off x="4267048" y="5394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0" action="ppaction://hlinksldjump" tooltip="Ir a Tamaño del mercado y adop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22 →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4448" y="283464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8" y="302666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4448" y="302666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A6</a:t>
            </a:r>
            <a:endParaRPr lang="es-CL" sz="950" dirty="0"/>
          </a:p>
        </p:txBody>
      </p:sp>
      <p:sp>
        <p:nvSpPr>
          <p:cNvPr id="34" name="Text 32">
            <a:hlinkClick r:id="rId11" tooltip="Ir a Perfiles de cargo" action="ppaction://hlinksldjump"/>
          </p:cNvPr>
          <p:cNvSpPr txBox="1"/>
          <p:nvPr/>
        </p:nvSpPr>
        <p:spPr>
          <a:xfrm>
            <a:off x="6964528" y="283464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1" action="ppaction://hlinksldjump" tooltip="Ir a Perfiles de carg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Perfiles de cargo</a:t>
            </a:r>
            <a:endParaRPr lang="en-US" sz="1550" dirty="0"/>
          </a:p>
        </p:txBody>
      </p:sp>
      <p:sp>
        <p:nvSpPr>
          <p:cNvPr id="35" name="Text 33">
            <a:hlinkClick r:id="rId12" tooltip="Ir a Perfiles de cargo" action="ppaction://hlinksldjump"/>
          </p:cNvPr>
          <p:cNvSpPr txBox="1"/>
          <p:nvPr/>
        </p:nvSpPr>
        <p:spPr>
          <a:xfrm>
            <a:off x="10042855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2" action="ppaction://hlinksldjump" tooltip="Ir a Perfiles de carg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23 →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24448" y="347472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4448" y="366674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24448" y="36667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A7</a:t>
            </a:r>
            <a:endParaRPr lang="es-CL" sz="950" dirty="0"/>
          </a:p>
        </p:txBody>
      </p:sp>
      <p:sp>
        <p:nvSpPr>
          <p:cNvPr id="39" name="Text 37">
            <a:hlinkClick r:id="rId13" tooltip="Ir a Rentas y bonos por nivel" action="ppaction://hlinksldjump"/>
          </p:cNvPr>
          <p:cNvSpPr txBox="1"/>
          <p:nvPr/>
        </p:nvSpPr>
        <p:spPr>
          <a:xfrm>
            <a:off x="6964528" y="347472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3" action="ppaction://hlinksldjump" tooltip="Ir a Rentas y bonos por ni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Rentas y bonos por nivel</a:t>
            </a:r>
            <a:endParaRPr lang="en-US" sz="1550" dirty="0"/>
          </a:p>
        </p:txBody>
      </p:sp>
      <p:sp>
        <p:nvSpPr>
          <p:cNvPr id="40" name="Text 38">
            <a:hlinkClick r:id="rId14" tooltip="Ir a Rentas y bonos por nivel" action="ppaction://hlinksldjump"/>
          </p:cNvPr>
          <p:cNvSpPr txBox="1"/>
          <p:nvPr/>
        </p:nvSpPr>
        <p:spPr>
          <a:xfrm>
            <a:off x="10042855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4" action="ppaction://hlinksldjump" tooltip="Ir a Rentas y bonos por ni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24 →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24448" y="411480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24448" y="430682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24448" y="43068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A8</a:t>
            </a:r>
            <a:endParaRPr lang="es-CL" sz="950" dirty="0"/>
          </a:p>
        </p:txBody>
      </p:sp>
      <p:sp>
        <p:nvSpPr>
          <p:cNvPr id="44" name="Text 42">
            <a:hlinkClick r:id="rId15" tooltip="Ir a Jornada de instalación" action="ppaction://hlinksldjump"/>
          </p:cNvPr>
          <p:cNvSpPr txBox="1"/>
          <p:nvPr/>
        </p:nvSpPr>
        <p:spPr>
          <a:xfrm>
            <a:off x="6964528" y="411480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5" action="ppaction://hlinksldjump" tooltip="Ir a Jornada de instal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Jornada de instalación</a:t>
            </a:r>
            <a:endParaRPr lang="en-US" sz="1550" dirty="0"/>
          </a:p>
        </p:txBody>
      </p:sp>
      <p:sp>
        <p:nvSpPr>
          <p:cNvPr id="45" name="Text 43">
            <a:hlinkClick r:id="rId16" tooltip="Ir a Jornada de instalación" action="ppaction://hlinksldjump"/>
          </p:cNvPr>
          <p:cNvSpPr txBox="1"/>
          <p:nvPr/>
        </p:nvSpPr>
        <p:spPr>
          <a:xfrm>
            <a:off x="10042855" y="4114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6" action="ppaction://hlinksldjump" tooltip="Ir a Jornada de instal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25 →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24448" y="475488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4448" y="494690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324448" y="49469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A9</a:t>
            </a:r>
            <a:endParaRPr lang="es-CL" sz="950" dirty="0"/>
          </a:p>
        </p:txBody>
      </p:sp>
      <p:sp>
        <p:nvSpPr>
          <p:cNvPr id="49" name="Text 47">
            <a:hlinkClick r:id="rId17" tooltip="Ir a Inversión y gasto operacional" action="ppaction://hlinksldjump"/>
          </p:cNvPr>
          <p:cNvSpPr txBox="1"/>
          <p:nvPr/>
        </p:nvSpPr>
        <p:spPr>
          <a:xfrm>
            <a:off x="6964528" y="475488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7" action="ppaction://hlinksldjump" tooltip="Ir a Inversión y gasto operac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Inversión y gasto operacional</a:t>
            </a:r>
            <a:endParaRPr lang="en-US" sz="1550" dirty="0"/>
          </a:p>
        </p:txBody>
      </p:sp>
      <p:sp>
        <p:nvSpPr>
          <p:cNvPr id="50" name="Text 48">
            <a:hlinkClick r:id="rId18" tooltip="Ir a Inversión y gasto operacional" action="ppaction://hlinksldjump"/>
          </p:cNvPr>
          <p:cNvSpPr txBox="1"/>
          <p:nvPr/>
        </p:nvSpPr>
        <p:spPr>
          <a:xfrm>
            <a:off x="10042855" y="4754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8" action="ppaction://hlinksldjump" tooltip="Ir a Inversión y gasto operac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26 →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24448" y="539496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4448" y="5586984"/>
            <a:ext cx="4572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24448" y="55869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A10</a:t>
            </a:r>
            <a:endParaRPr lang="es-CL" sz="950" dirty="0"/>
          </a:p>
        </p:txBody>
      </p:sp>
      <p:sp>
        <p:nvSpPr>
          <p:cNvPr id="54" name="Text 52">
            <a:hlinkClick r:id="rId19" tooltip="Ir a Sensibilidad del resultado" action="ppaction://hlinksldjump"/>
          </p:cNvPr>
          <p:cNvSpPr txBox="1"/>
          <p:nvPr/>
        </p:nvSpPr>
        <p:spPr>
          <a:xfrm>
            <a:off x="6964528" y="5394960"/>
            <a:ext cx="3078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9" action="ppaction://hlinksldjump" tooltip="Ir a Sensibilidad del resulta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Sensibilidad del resultado</a:t>
            </a:r>
            <a:endParaRPr lang="en-US" sz="1550" dirty="0"/>
          </a:p>
        </p:txBody>
      </p:sp>
      <p:sp>
        <p:nvSpPr>
          <p:cNvPr id="55" name="Text 53">
            <a:hlinkClick r:id="rId20" tooltip="Ir a Sensibilidad del resultado" action="ppaction://hlinksldjump"/>
          </p:cNvPr>
          <p:cNvSpPr txBox="1"/>
          <p:nvPr/>
        </p:nvSpPr>
        <p:spPr>
          <a:xfrm>
            <a:off x="10042855" y="5394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0" action="ppaction://hlinksldjump" tooltip="Ir a Sensibilidad del resulta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DIAPOSITIVA 27 →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24448" y="603504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INVESTIGACIÓN DE MERCADO · HIPÓTESIS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SEIS HIPÓTESIS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 su prueba.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77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HIPÓTESIS</a:t>
            </a:r>
            <a:endParaRPr lang="es-CL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716975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PRUEBA</a:t>
            </a:r>
            <a:endParaRPr lang="es-CL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88920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H1</a:t>
            </a:r>
            <a:endParaRPr lang="es-CL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51760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intención de compra es mayor en el uso laboral que en el particular.</a:t>
            </a:r>
            <a:endParaRPr lang="es-CL" sz="1300" dirty="0"/>
          </a:p>
        </p:txBody>
      </p:sp>
      <p:sp>
        <p:nvSpPr>
          <p:cNvPr id="11" name="Shape 9"/>
          <p:cNvSpPr/>
          <p:nvPr/>
        </p:nvSpPr>
        <p:spPr>
          <a:xfrm>
            <a:off x="8899855" y="2761488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973007" y="27614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DE DOS PROPORCIONES</a:t>
            </a:r>
            <a:endParaRPr lang="es-CL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64408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6440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H2</a:t>
            </a:r>
            <a:endParaRPr lang="es-CL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27248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intención no varía según edad ni género (se sostiene si no se rechaza H₀).</a:t>
            </a:r>
            <a:endParaRPr lang="es-CL" sz="1300" dirty="0"/>
          </a:p>
        </p:txBody>
      </p:sp>
      <p:sp>
        <p:nvSpPr>
          <p:cNvPr id="17" name="Shape 15"/>
          <p:cNvSpPr/>
          <p:nvPr/>
        </p:nvSpPr>
        <p:spPr>
          <a:xfrm>
            <a:off x="8899855" y="3236976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973007" y="32369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CHI-CUADRADO</a:t>
            </a:r>
            <a:endParaRPr lang="es-CL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39896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73989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H3</a:t>
            </a:r>
            <a:endParaRPr lang="es-CL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602736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ahorro predomina, pero la mayoría de los interesados valora además otro motivo.</a:t>
            </a:r>
            <a:endParaRPr lang="es-CL" sz="1300" dirty="0"/>
          </a:p>
        </p:txBody>
      </p:sp>
      <p:sp>
        <p:nvSpPr>
          <p:cNvPr id="23" name="Shape 21"/>
          <p:cNvSpPr/>
          <p:nvPr/>
        </p:nvSpPr>
        <p:spPr>
          <a:xfrm>
            <a:off x="8899855" y="3712464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973007" y="37124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DE UNA PROPORCIÓN</a:t>
            </a:r>
            <a:endParaRPr lang="es-CL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07822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15384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21538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H4</a:t>
            </a:r>
            <a:endParaRPr lang="es-CL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078224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barrera principal es la confianza (daño, revisión técnica o seguro), no el precio.</a:t>
            </a:r>
            <a:endParaRPr lang="es-CL" sz="1300" dirty="0"/>
          </a:p>
        </p:txBody>
      </p:sp>
      <p:sp>
        <p:nvSpPr>
          <p:cNvPr id="29" name="Shape 27"/>
          <p:cNvSpPr/>
          <p:nvPr/>
        </p:nvSpPr>
        <p:spPr>
          <a:xfrm>
            <a:off x="8899855" y="4187952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973007" y="41879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DE UNA PROPORCIÓN</a:t>
            </a:r>
            <a:endParaRPr lang="es-CL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55371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690872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690872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H5</a:t>
            </a:r>
            <a:endParaRPr lang="es-CL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553712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Los respaldos externos verificables generan más confianza que los atributos del taller.</a:t>
            </a:r>
            <a:endParaRPr lang="es-CL" sz="1300" dirty="0"/>
          </a:p>
        </p:txBody>
      </p:sp>
      <p:sp>
        <p:nvSpPr>
          <p:cNvPr id="35" name="Shape 33"/>
          <p:cNvSpPr/>
          <p:nvPr/>
        </p:nvSpPr>
        <p:spPr>
          <a:xfrm>
            <a:off x="8899855" y="4663440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8973007" y="46634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PARA MUESTRAS RELACIONADAS</a:t>
            </a:r>
            <a:endParaRPr lang="es-CL" sz="850" dirty="0"/>
          </a:p>
        </p:txBody>
      </p:sp>
      <p:sp>
        <p:nvSpPr>
          <p:cNvPr id="37" name="Shape 35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166360"/>
            <a:ext cx="43891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16636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H6</a:t>
            </a:r>
            <a:endParaRPr lang="es-CL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5029200"/>
            <a:ext cx="72539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prefiere hibridar antes que convertir a gas, cambiar de auto o no hacer nada.</a:t>
            </a:r>
            <a:endParaRPr lang="es-CL" sz="1300" dirty="0"/>
          </a:p>
        </p:txBody>
      </p:sp>
      <p:sp>
        <p:nvSpPr>
          <p:cNvPr id="41" name="Shape 39"/>
          <p:cNvSpPr/>
          <p:nvPr/>
        </p:nvSpPr>
        <p:spPr>
          <a:xfrm>
            <a:off x="8899855" y="5138928"/>
            <a:ext cx="274320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8973007" y="513892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85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DE UNA PROPORCIÓN</a:t>
            </a:r>
            <a:endParaRPr lang="es-CL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50468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Significancia de 5%. Con una muestra por cuotas, no probabilística, los resultados son indicativos. La proporción de uso laboral que responda «definitivamente lo instalaría» se contrasta con los umbrales de 67%, 59% y 40% de la proyección.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POSICIONAMIENTO · DUDAS DEL CLIENTE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CUATRO DUDAS,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cuatro respaldos.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22728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78024"/>
            <a:ext cx="225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¿Funciona?</a:t>
            </a:r>
            <a:endParaRPr lang="es-CL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27832"/>
            <a:ext cx="2256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20% menos bencina en ciudad con Plus y hasta 15% con Esencial, estimado antes de pagar.</a:t>
            </a:r>
            <a:endParaRPr lang="es-CL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22569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42232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RESPALDO</a:t>
            </a:r>
            <a:endParaRPr lang="es-CL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Estimador con intervalo, medición opcional de una semana y telemetría.</a:t>
            </a:r>
            <a:endParaRPr lang="es-CL" sz="1000" dirty="0"/>
          </a:p>
        </p:txBody>
      </p:sp>
      <p:sp>
        <p:nvSpPr>
          <p:cNvPr id="11" name="Shape 9"/>
          <p:cNvSpPr/>
          <p:nvPr/>
        </p:nvSpPr>
        <p:spPr>
          <a:xfrm>
            <a:off x="3372536" y="2331720"/>
            <a:ext cx="2622728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5416" y="2478024"/>
            <a:ext cx="225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¿Le hace daño a mi auto?</a:t>
            </a:r>
            <a:endParaRPr lang="es-CL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55416" y="3227832"/>
            <a:ext cx="2256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reemplaza el motor ni toca la transmisión ni la alimentación.</a:t>
            </a:r>
            <a:endParaRPr lang="es-CL" sz="1150" dirty="0"/>
          </a:p>
        </p:txBody>
      </p:sp>
      <p:sp>
        <p:nvSpPr>
          <p:cNvPr id="14" name="Shape 12"/>
          <p:cNvSpPr/>
          <p:nvPr/>
        </p:nvSpPr>
        <p:spPr>
          <a:xfrm>
            <a:off x="3555416" y="4069080"/>
            <a:ext cx="22569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55416" y="4142232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RESPALDO</a:t>
            </a:r>
            <a:endParaRPr lang="es-CL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555416" y="43434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conservan el circuito hidráulico y el ABS; garantía del taller (art. 18).</a:t>
            </a:r>
            <a:endParaRPr lang="es-CL" sz="1000" dirty="0"/>
          </a:p>
        </p:txBody>
      </p:sp>
      <p:sp>
        <p:nvSpPr>
          <p:cNvPr id="17" name="Shape 15"/>
          <p:cNvSpPr/>
          <p:nvPr/>
        </p:nvSpPr>
        <p:spPr>
          <a:xfrm>
            <a:off x="6196432" y="2331720"/>
            <a:ext cx="2622728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9312" y="2478024"/>
            <a:ext cx="225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¿Pasa la revisión técnica?</a:t>
            </a:r>
            <a:endParaRPr lang="es-CL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379312" y="3227832"/>
            <a:ext cx="2256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auto sale del taller con certificado.</a:t>
            </a:r>
            <a:endParaRPr lang="es-CL" sz="1150" dirty="0"/>
          </a:p>
        </p:txBody>
      </p:sp>
      <p:sp>
        <p:nvSpPr>
          <p:cNvPr id="20" name="Shape 18"/>
          <p:cNvSpPr/>
          <p:nvPr/>
        </p:nvSpPr>
        <p:spPr>
          <a:xfrm>
            <a:off x="6379312" y="4069080"/>
            <a:ext cx="22569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9312" y="4142232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RESPALDO</a:t>
            </a:r>
            <a:endParaRPr lang="es-CL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379312" y="43434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Firmado por el RT y verificado en planta (arts. 14 y 16), sujeto al reglamento.</a:t>
            </a:r>
            <a:endParaRPr lang="es-CL" sz="1000" dirty="0"/>
          </a:p>
        </p:txBody>
      </p:sp>
      <p:sp>
        <p:nvSpPr>
          <p:cNvPr id="23" name="Shape 21"/>
          <p:cNvSpPr/>
          <p:nvPr/>
        </p:nvSpPr>
        <p:spPr>
          <a:xfrm>
            <a:off x="9020327" y="2331720"/>
            <a:ext cx="2622728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03207" y="2478024"/>
            <a:ext cx="225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¿Hay que enchufarlo?</a:t>
            </a:r>
            <a:endParaRPr lang="es-CL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203207" y="3227832"/>
            <a:ext cx="2256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No.</a:t>
            </a:r>
            <a:endParaRPr lang="es-CL" sz="1150" dirty="0"/>
          </a:p>
        </p:txBody>
      </p:sp>
      <p:sp>
        <p:nvSpPr>
          <p:cNvPr id="26" name="Shape 24"/>
          <p:cNvSpPr/>
          <p:nvPr/>
        </p:nvSpPr>
        <p:spPr>
          <a:xfrm>
            <a:off x="9203207" y="4069080"/>
            <a:ext cx="22569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03207" y="4142232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RESPALDO</a:t>
            </a:r>
            <a:endParaRPr lang="es-CL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203207" y="43434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batería se carga con el frenado.</a:t>
            </a:r>
            <a:endParaRPr lang="es-CL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12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LÍMITES DE LA PROMESA · LO QUE LA MARCA NO DICE</a:t>
            </a:r>
            <a:endParaRPr lang="es-CL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5504688"/>
            <a:ext cx="164592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21792" y="550468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«CERO EMISIONES»</a:t>
            </a:r>
            <a:endParaRPr lang="es-CL" sz="850" dirty="0"/>
          </a:p>
        </p:txBody>
      </p:sp>
      <p:sp>
        <p:nvSpPr>
          <p:cNvPr id="32" name="Shape 30"/>
          <p:cNvSpPr/>
          <p:nvPr/>
        </p:nvSpPr>
        <p:spPr>
          <a:xfrm>
            <a:off x="2322576" y="5504688"/>
            <a:ext cx="118872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395728" y="55046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«ECOLÓGICO»</a:t>
            </a:r>
            <a:endParaRPr lang="es-CL" sz="850" dirty="0"/>
          </a:p>
        </p:txBody>
      </p:sp>
      <p:sp>
        <p:nvSpPr>
          <p:cNvPr id="34" name="Shape 32"/>
          <p:cNvSpPr/>
          <p:nvPr/>
        </p:nvSpPr>
        <p:spPr>
          <a:xfrm>
            <a:off x="3639312" y="5504688"/>
            <a:ext cx="169164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712464" y="550468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«20% GARANTIZADO»</a:t>
            </a:r>
            <a:endParaRPr lang="es-CL" sz="850" dirty="0"/>
          </a:p>
        </p:txBody>
      </p:sp>
      <p:sp>
        <p:nvSpPr>
          <p:cNvPr id="36" name="Shape 34"/>
          <p:cNvSpPr/>
          <p:nvPr/>
        </p:nvSpPr>
        <p:spPr>
          <a:xfrm>
            <a:off x="5458968" y="5504688"/>
            <a:ext cx="256032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5532120" y="550468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«HOMOLOGADO» SIN REGLAMENTO</a:t>
            </a:r>
            <a:endParaRPr lang="es-CL" sz="850" dirty="0"/>
          </a:p>
        </p:txBody>
      </p:sp>
      <p:sp>
        <p:nvSpPr>
          <p:cNvPr id="38" name="Shape 36"/>
          <p:cNvSpPr/>
          <p:nvPr/>
        </p:nvSpPr>
        <p:spPr>
          <a:xfrm>
            <a:off x="8147304" y="5504688"/>
            <a:ext cx="301752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8220456" y="550468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85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EXENCIÓN DE RESTRICCIÓN VEHICULAR</a:t>
            </a:r>
            <a:endParaRPr lang="es-CL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70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Protegen la credibilidad y evitan la publicidad engañosa que sanciona la Ley N° 19.496.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MIX DE MARKETING · RESUMEN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DOS LÍNEAS,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una misma mezcla.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2331720"/>
            <a:ext cx="412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INSTALACIÓN AL CLIENTE FINAL</a:t>
            </a:r>
            <a:endParaRPr lang="es-CL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513168" y="2331720"/>
            <a:ext cx="412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CERTIFICADA</a:t>
            </a:r>
            <a:endParaRPr lang="es-CL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34056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3405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157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</a:t>
            </a:r>
            <a:endParaRPr lang="es-CL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715768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Kit Esencial o Plus certificado en una jornada; servicios incluidos; traslado y desinstalación con cargo.</a:t>
            </a:r>
            <a:endParaRPr lang="es-CL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13168" y="2715768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Licencia de patrones, kits, certificación anual y formación en Habilita.</a:t>
            </a:r>
            <a:endParaRPr lang="es-CL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4728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472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29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PRECIO</a:t>
            </a:r>
            <a:endParaRPr lang="es-CL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429000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$4.290.000 y $4.990.000 con IVA, de referencia; cuotas con convenio.</a:t>
            </a:r>
            <a:endParaRPr lang="es-CL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13168" y="3429000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Paquete de entrada y cobros recurrentes por kit, certificación y técnico.</a:t>
            </a:r>
            <a:endParaRPr lang="es-CL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16052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1422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PLAZA</a:t>
            </a:r>
            <a:endParaRPr lang="es-CL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142232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Canal digital y talleres propios en la Región Metropolitana.</a:t>
            </a:r>
            <a:endParaRPr lang="es-CL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13168" y="4142232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Talleres con exclusividad comunal en las regiones.</a:t>
            </a:r>
            <a:endParaRPr lang="es-CL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73752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7375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s-CL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8554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PROMOCIÓN</a:t>
            </a:r>
            <a:endParaRPr lang="es-CL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855464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Estimador, demostraciones, clientes piloto, casos medidos, referidos y mecánicos.</a:t>
            </a:r>
            <a:endParaRPr lang="es-CL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513168" y="4855464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Visitas, ferias del rubro y casos de la red.</a:t>
            </a:r>
            <a:endParaRPr lang="es-CL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77256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58698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58698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s-CL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55686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PERSONAS, PROCESOS Y EVIDENCIA</a:t>
            </a:r>
            <a:endParaRPr lang="es-CL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5568696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Dúos con N3 o N4; flujo de cinco etapas; certificado, sello e informe de ahorro.</a:t>
            </a:r>
            <a:endParaRPr lang="es-CL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513168" y="5568696"/>
            <a:ext cx="41298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Técnicos validados por Lumine; proceso auditado cada año; sello de taller certificado.</a:t>
            </a:r>
            <a:endParaRPr lang="es-CL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619048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MIX · PRECIO PARA LA RED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INGRESO RECURRENTE: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96% del margen al año 5.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22728" cy="2423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87168"/>
            <a:ext cx="225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PAQUETE DE ENTRADA</a:t>
            </a:r>
            <a:endParaRPr lang="es-CL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$7.140.000</a:t>
            </a:r>
            <a:endParaRPr lang="es-CL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10128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 VEZ</a:t>
            </a:r>
            <a:endParaRPr lang="es-CL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3584448"/>
            <a:ext cx="225696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75888"/>
            <a:ext cx="2256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Exclusividad comunal, formación de dos técnicos y certificación del primer año: 15% menos que sus partes.</a:t>
            </a:r>
            <a:endParaRPr lang="es-CL" sz="1050" dirty="0"/>
          </a:p>
        </p:txBody>
      </p:sp>
      <p:sp>
        <p:nvSpPr>
          <p:cNvPr id="11" name="Shape 9"/>
          <p:cNvSpPr/>
          <p:nvPr/>
        </p:nvSpPr>
        <p:spPr>
          <a:xfrm>
            <a:off x="3372536" y="2331720"/>
            <a:ext cx="2622728" cy="242316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7672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7672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4680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0128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7672" y="48097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7672" y="46542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4680" y="48097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0128" y="46542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55416" y="2487168"/>
            <a:ext cx="225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KIT CON LICENCIA</a:t>
            </a:r>
            <a:endParaRPr lang="es-CL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555416" y="27432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$3.808.783</a:t>
            </a:r>
            <a:endParaRPr lang="es-CL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3555416" y="3310128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INSTALACIÓN</a:t>
            </a:r>
            <a:endParaRPr lang="es-CL" sz="750" dirty="0"/>
          </a:p>
        </p:txBody>
      </p:sp>
      <p:sp>
        <p:nvSpPr>
          <p:cNvPr id="23" name="Shape 21"/>
          <p:cNvSpPr/>
          <p:nvPr/>
        </p:nvSpPr>
        <p:spPr>
          <a:xfrm>
            <a:off x="3555416" y="3584448"/>
            <a:ext cx="225696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55416" y="3675888"/>
            <a:ext cx="2256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Plus; Esencial a $3.328.153. Kit al costo más 6% de manejo y licencia de $200.000 o $300.000.</a:t>
            </a:r>
            <a:endParaRPr lang="es-CL" sz="1050" dirty="0"/>
          </a:p>
        </p:txBody>
      </p:sp>
      <p:sp>
        <p:nvSpPr>
          <p:cNvPr id="25" name="Shape 23"/>
          <p:cNvSpPr/>
          <p:nvPr/>
        </p:nvSpPr>
        <p:spPr>
          <a:xfrm>
            <a:off x="6196432" y="2331720"/>
            <a:ext cx="2622728" cy="2423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9312" y="2487168"/>
            <a:ext cx="225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CERTIFICACIÓN</a:t>
            </a:r>
            <a:endParaRPr lang="es-CL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379312" y="27432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$2.400.000</a:t>
            </a:r>
            <a:endParaRPr lang="es-CL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379312" y="3310128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ANUAL, DESDE EL AÑO 2</a:t>
            </a:r>
            <a:endParaRPr lang="es-CL" sz="750" dirty="0"/>
          </a:p>
        </p:txBody>
      </p:sp>
      <p:sp>
        <p:nvSpPr>
          <p:cNvPr id="29" name="Shape 27"/>
          <p:cNvSpPr/>
          <p:nvPr/>
        </p:nvSpPr>
        <p:spPr>
          <a:xfrm>
            <a:off x="6379312" y="3584448"/>
            <a:ext cx="225696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79312" y="3675888"/>
            <a:ext cx="2256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Renovación de la certificación del proceso, auditado cada año.</a:t>
            </a:r>
            <a:endParaRPr lang="es-CL" sz="1050" dirty="0"/>
          </a:p>
        </p:txBody>
      </p:sp>
      <p:sp>
        <p:nvSpPr>
          <p:cNvPr id="31" name="Shape 29"/>
          <p:cNvSpPr/>
          <p:nvPr/>
        </p:nvSpPr>
        <p:spPr>
          <a:xfrm>
            <a:off x="9020327" y="2331720"/>
            <a:ext cx="2622728" cy="2423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03207" y="2487168"/>
            <a:ext cx="225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LUMINE HABILITA</a:t>
            </a:r>
            <a:endParaRPr lang="es-CL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203207" y="2743200"/>
            <a:ext cx="225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$35.000</a:t>
            </a:r>
            <a:endParaRPr lang="es-CL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9203207" y="3310128"/>
            <a:ext cx="225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MENSUAL, POR TÉCNICO</a:t>
            </a:r>
            <a:endParaRPr lang="es-CL" sz="750" dirty="0"/>
          </a:p>
        </p:txBody>
      </p:sp>
      <p:sp>
        <p:nvSpPr>
          <p:cNvPr id="35" name="Shape 33"/>
          <p:cNvSpPr/>
          <p:nvPr/>
        </p:nvSpPr>
        <p:spPr>
          <a:xfrm>
            <a:off x="9203207" y="3584448"/>
            <a:ext cx="225696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03207" y="3675888"/>
            <a:ext cx="2256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Suscripción a la plataforma de formación y validación.</a:t>
            </a:r>
            <a:endParaRPr lang="es-CL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541004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230368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4088" y="5148072"/>
            <a:ext cx="522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KIT, AL PRECIO DE REFERENCIA</a:t>
            </a:r>
            <a:endParaRPr lang="es-CL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22392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 taller le quedan $276.889 (Esencial) y $384.494 (Plus) para su jornada y su margen; a Lumine, $377.065 y $498.610.</a:t>
            </a:r>
            <a:endParaRPr lang="es-CL" sz="1150" dirty="0"/>
          </a:p>
        </p:txBody>
      </p:sp>
      <p:sp>
        <p:nvSpPr>
          <p:cNvPr id="41" name="Shape 39"/>
          <p:cNvSpPr/>
          <p:nvPr/>
        </p:nvSpPr>
        <p:spPr>
          <a:xfrm>
            <a:off x="6233008" y="5074920"/>
            <a:ext cx="541004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3008" y="5230368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88456" y="5148072"/>
            <a:ext cx="522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 QUINTO AÑO</a:t>
            </a:r>
            <a:endParaRPr lang="es-CL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5422392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42 talleres y 7.773 kits, 2,7 veces las instalaciones propias, sin activos fijos.</a:t>
            </a:r>
            <a:endParaRPr lang="es-CL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05332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MONTOS NETOS · NO HAY TARIFAS PÚBLICAS DE REDES DE TALLERES EN CHILE: SE VALIDAN CON LOS PRIMEROS TALLERES</a:t>
            </a:r>
            <a:endParaRPr lang="es-CL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A5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DEMANDA · MERCADO Y ADOPCIÓN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162.780 VEHÍCULOS DE TECHO;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11,1% adoptado al año 5.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SEGMENTO LABORAL · REGIÓN METROPOLITANA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Conductores de aplicación</a:t>
            </a:r>
            <a:endParaRPr lang="es-CL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07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Estimación propia</a:t>
            </a:r>
            <a:endParaRPr lang="es-CL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9319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816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126.960</a:t>
            </a:r>
            <a:endParaRPr lang="es-CL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Taxis básicos y de turismo</a:t>
            </a:r>
            <a:endParaRPr lang="es-CL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INE (2025)</a:t>
            </a:r>
            <a:endParaRPr lang="es-CL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707287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22.838</a:t>
            </a:r>
            <a:endParaRPr lang="es-CL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68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Taxis colectivos</a:t>
            </a:r>
            <a:endParaRPr lang="es-CL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24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INE (2025)</a:t>
            </a:r>
            <a:endParaRPr lang="es-CL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402049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41330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12.982</a:t>
            </a:r>
            <a:endParaRPr lang="es-CL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12064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7640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  </a:t>
            </a:r>
            <a:pPr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162.780</a:t>
            </a:r>
            <a:endParaRPr lang="es-CL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Aplicaciones: 136.000 conductores de Uber y 115.000 de inDrive; DiDi y Cabify al 60% del promedio (supuesto). 401.600 cuentas ÷ 1,217 = 329.992 conductores; 38,47% en la RM.</a:t>
            </a:r>
            <a:endParaRPr lang="es-C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331720"/>
            <a:ext cx="5516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ADOPCIÓN ACUMULADA · BASS · p = 0,0026 · q = 0,709</a:t>
            </a:r>
            <a:endParaRPr lang="es-CL" sz="900" dirty="0"/>
          </a:p>
        </p:txBody>
      </p:sp>
      <p:graphicFrame>
        <p:nvGraphicFramePr>
          <p:cNvPr id="22" name="Adopción acumulada del segmento laboral" descr=""/>
          <p:cNvGraphicFramePr/>
          <p:nvPr/>
        </p:nvGraphicFramePr>
        <p:xfrm>
          <a:off x="6035040" y="2606040"/>
          <a:ext cx="560801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126480" y="5440680"/>
            <a:ext cx="5516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Bajo el 16% de innovadores y adoptadores tempranos. </a:t>
            </a:r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 solo el 67%, 59% o 40% del segmento fuera adoptante, la demanda aún cubriría la capacidad de los años 3, 4 y 5.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A6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RECURSOS HUMANOS · PERFILES DE CARGO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CADA CARGO RESPONDE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un resultado crítico.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CARGO</a:t>
            </a:r>
            <a:endParaRPr lang="es-CL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 DE</a:t>
            </a:r>
            <a:endParaRPr lang="es-CL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2331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RESPONSABILIDAD CRÍTICA</a:t>
            </a:r>
            <a:endParaRPr lang="es-CL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52344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5877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Gerente General</a:t>
            </a:r>
            <a:endParaRPr lang="es-CL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58775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Accionistas</a:t>
            </a:r>
            <a:endParaRPr lang="es-CL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587752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Autorizar cada paso de crecimiento solo si la caja cubre nómina, kits e importaciones.</a:t>
            </a:r>
            <a:endParaRPr lang="es-CL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54680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9900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Responsable Técnico</a:t>
            </a:r>
            <a:endParaRPr lang="es-CL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99008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</a:t>
            </a:r>
            <a:endParaRPr lang="es-CL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990088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Armar los dúos, validar ascensos y firmar cada vehículo certificado.</a:t>
            </a:r>
            <a:endParaRPr lang="es-CL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57016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3924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Ingeniería de Calibración</a:t>
            </a:r>
            <a:endParaRPr lang="es-CL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</a:t>
            </a:r>
            <a:endParaRPr lang="es-CL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392424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Certificado de aptitud del 3CV por modelo y ahorro real dentro del intervalo estimado.</a:t>
            </a:r>
            <a:endParaRPr lang="es-CL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59352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37947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y Postventa</a:t>
            </a:r>
            <a:endParaRPr lang="es-CL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79476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</a:t>
            </a:r>
            <a:endParaRPr lang="es-CL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794760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Convertir cotizaciones en instalaciones sin prometer más ahorro que el estimador.</a:t>
            </a:r>
            <a:endParaRPr lang="es-CL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9709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61688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19709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Administración y Personas</a:t>
            </a:r>
            <a:endParaRPr lang="es-CL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419709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</a:t>
            </a:r>
            <a:endParaRPr lang="es-CL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97096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ninguna instalación espere un kit y que remuneraciones y cotizaciones estén al día.</a:t>
            </a:r>
            <a:endParaRPr lang="es-CL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59943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764024"/>
            <a:ext cx="68580" cy="685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59943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 Instalador (N1 a N4)</a:t>
            </a:r>
            <a:endParaRPr lang="es-CL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45994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Responsable Técnico</a:t>
            </a:r>
            <a:endParaRPr lang="es-CL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599432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instalación según el procedimiento, con las cinco reglas de oro en alta tensión.</a:t>
            </a:r>
            <a:endParaRPr lang="es-CL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00176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166360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3232" y="50017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de Empresas</a:t>
            </a:r>
            <a:endParaRPr lang="es-CL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500176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</a:t>
            </a:r>
            <a:endParaRPr lang="es-CL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5001768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Incorporar solo talleres que cumplan el reglamento y la cláusula comunal.</a:t>
            </a:r>
            <a:endParaRPr lang="es-CL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40410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5568696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3232" y="54041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Postventa</a:t>
            </a:r>
            <a:endParaRPr lang="es-CL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3291840" y="54041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y Postventa</a:t>
            </a:r>
            <a:endParaRPr lang="es-CL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349240" y="5404104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ninguna mantención ni garantía se pierda por falta de aviso o registro.</a:t>
            </a:r>
            <a:endParaRPr lang="es-CL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971032"/>
            <a:ext cx="68580" cy="685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3232" y="58064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Administración</a:t>
            </a:r>
            <a:endParaRPr lang="es-CL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3291840" y="58064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Administración</a:t>
            </a:r>
            <a:endParaRPr lang="es-CL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349240" y="5806440"/>
            <a:ext cx="6293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Despachar cada kit y batería con trazabilidad y documentación de carga peligrosa.</a:t>
            </a:r>
            <a:endParaRPr lang="es-CL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620877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A7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RECURSOS HUMANOS · COMPENSACIONES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SUPERIOR GANA MÁS;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entre áreas decide la escasez.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 MENSUAL · MILES DE PESOS · OCTUBRE 2026</a:t>
            </a:r>
            <a:endParaRPr lang="es-CL" sz="900" dirty="0"/>
          </a:p>
        </p:txBody>
      </p:sp>
      <p:graphicFrame>
        <p:nvGraphicFramePr>
          <p:cNvPr id="6" name="Renta bruta mensual por cargo" descr=""/>
          <p:cNvGraphicFramePr/>
          <p:nvPr/>
        </p:nvGraphicFramePr>
        <p:xfrm>
          <a:off x="457200" y="2587752"/>
          <a:ext cx="7406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217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75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MÁS COMISIÓN · CELESTE: TÉCNICOS · INCLUYEN GRATIFICACIÓN LEGAL</a:t>
            </a:r>
            <a:endParaRPr lang="es-CL" sz="750" dirty="0"/>
          </a:p>
        </p:txBody>
      </p:sp>
      <p:sp>
        <p:nvSpPr>
          <p:cNvPr id="8" name="Shape 5"/>
          <p:cNvSpPr/>
          <p:nvPr/>
        </p:nvSpPr>
        <p:spPr>
          <a:xfrm>
            <a:off x="8275320" y="2331720"/>
            <a:ext cx="3367735" cy="28346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045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045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0456" y="52212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0456" y="5065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42471" y="52212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97919" y="5065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76488" y="2487168"/>
            <a:ext cx="2965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BONO ÚNICO POR NIVEL VALIDADO</a:t>
            </a:r>
            <a:endParaRPr lang="es-CL" sz="850" dirty="0"/>
          </a:p>
        </p:txBody>
      </p:sp>
      <p:sp>
        <p:nvSpPr>
          <p:cNvPr id="18" name="Shape 15"/>
          <p:cNvSpPr/>
          <p:nvPr/>
        </p:nvSpPr>
        <p:spPr>
          <a:xfrm>
            <a:off x="8476488" y="2788920"/>
            <a:ext cx="296539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76488" y="2898648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76488" y="289864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N2</a:t>
            </a:r>
            <a:endParaRPr lang="es-CL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2788920"/>
            <a:ext cx="2407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$200.000</a:t>
            </a:r>
            <a:endParaRPr lang="es-CL" sz="2000" dirty="0"/>
          </a:p>
        </p:txBody>
      </p:sp>
      <p:sp>
        <p:nvSpPr>
          <p:cNvPr id="22" name="Shape 19"/>
          <p:cNvSpPr/>
          <p:nvPr/>
        </p:nvSpPr>
        <p:spPr>
          <a:xfrm>
            <a:off x="8476488" y="3264408"/>
            <a:ext cx="296539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76488" y="3374136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476488" y="337413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N3</a:t>
            </a:r>
            <a:endParaRPr lang="es-CL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006840" y="3264408"/>
            <a:ext cx="2407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$300.000</a:t>
            </a:r>
            <a:endParaRPr lang="es-CL" sz="2000" dirty="0"/>
          </a:p>
        </p:txBody>
      </p:sp>
      <p:sp>
        <p:nvSpPr>
          <p:cNvPr id="26" name="Shape 23"/>
          <p:cNvSpPr/>
          <p:nvPr/>
        </p:nvSpPr>
        <p:spPr>
          <a:xfrm>
            <a:off x="8476488" y="3739896"/>
            <a:ext cx="296539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76488" y="3849624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76488" y="38496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N4</a:t>
            </a:r>
            <a:endParaRPr lang="es-CL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3739896"/>
            <a:ext cx="2407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$350.000</a:t>
            </a:r>
            <a:endParaRPr lang="es-CL" sz="2000" dirty="0"/>
          </a:p>
        </p:txBody>
      </p:sp>
      <p:sp>
        <p:nvSpPr>
          <p:cNvPr id="30" name="Shape 27"/>
          <p:cNvSpPr/>
          <p:nvPr/>
        </p:nvSpPr>
        <p:spPr>
          <a:xfrm>
            <a:off x="8476488" y="4215384"/>
            <a:ext cx="2965399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76488" y="4215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 por técnico</a:t>
            </a:r>
            <a:endParaRPr lang="es-CL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4215384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$850.000</a:t>
            </a:r>
            <a:endParaRPr lang="es-CL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8476488" y="4718304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$929.730 con cargas (9,38%). Se paga solo con la validación presencial aprobada.</a:t>
            </a:r>
            <a:endParaRPr lang="es-CL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34924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Ninguna renta deja el sueldo base bajo el ingreso mínimo de $553.553: los asistentes ganan $692.000, el piso legal con gratificación.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A8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JORNADA DE INSTALACIÓN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UN VEHÍCULO POR JORNADA: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8,4 horas.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DISTRIBUCIÓN DE LA JORNADA · HORAS · DÚO CON UN N3 Y UN N2 O SUPERIOR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491729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52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s-C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528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0,4</a:t>
            </a:r>
            <a:endParaRPr lang="es-CL" sz="1400" dirty="0"/>
          </a:p>
        </p:txBody>
      </p:sp>
      <p:sp>
        <p:nvSpPr>
          <p:cNvPr id="9" name="Shape 7"/>
          <p:cNvSpPr/>
          <p:nvPr/>
        </p:nvSpPr>
        <p:spPr>
          <a:xfrm>
            <a:off x="1095233" y="2697480"/>
            <a:ext cx="491729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6945" y="2697480"/>
            <a:ext cx="52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s-CL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6945" y="3200400"/>
            <a:ext cx="528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0,4</a:t>
            </a:r>
            <a:endParaRPr lang="es-CL" sz="1400" dirty="0"/>
          </a:p>
        </p:txBody>
      </p:sp>
      <p:sp>
        <p:nvSpPr>
          <p:cNvPr id="12" name="Shape 10"/>
          <p:cNvSpPr/>
          <p:nvPr/>
        </p:nvSpPr>
        <p:spPr>
          <a:xfrm>
            <a:off x="1623539" y="2697480"/>
            <a:ext cx="4321944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05251" y="2697480"/>
            <a:ext cx="435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s-CL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605251" y="3200400"/>
            <a:ext cx="435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3,3</a:t>
            </a:r>
            <a:endParaRPr lang="es-CL" sz="1400" dirty="0"/>
          </a:p>
        </p:txBody>
      </p:sp>
      <p:sp>
        <p:nvSpPr>
          <p:cNvPr id="15" name="Shape 13"/>
          <p:cNvSpPr/>
          <p:nvPr/>
        </p:nvSpPr>
        <p:spPr>
          <a:xfrm>
            <a:off x="5982059" y="2697480"/>
            <a:ext cx="2340799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63771" y="2697480"/>
            <a:ext cx="2377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s-CL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63771" y="3200400"/>
            <a:ext cx="2377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1,8</a:t>
            </a:r>
            <a:endParaRPr lang="es-CL" sz="1400" dirty="0"/>
          </a:p>
        </p:txBody>
      </p:sp>
      <p:sp>
        <p:nvSpPr>
          <p:cNvPr id="18" name="Shape 16"/>
          <p:cNvSpPr/>
          <p:nvPr/>
        </p:nvSpPr>
        <p:spPr>
          <a:xfrm>
            <a:off x="8359434" y="2697480"/>
            <a:ext cx="1020035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41146" y="2697480"/>
            <a:ext cx="1056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s-CL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41146" y="3200400"/>
            <a:ext cx="10566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0,8</a:t>
            </a:r>
            <a:endParaRPr lang="es-CL" sz="1400" dirty="0"/>
          </a:p>
        </p:txBody>
      </p:sp>
      <p:sp>
        <p:nvSpPr>
          <p:cNvPr id="21" name="Shape 19"/>
          <p:cNvSpPr/>
          <p:nvPr/>
        </p:nvSpPr>
        <p:spPr>
          <a:xfrm>
            <a:off x="9416045" y="2697480"/>
            <a:ext cx="1284188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97757" y="2697480"/>
            <a:ext cx="132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s-CL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97757" y="3200400"/>
            <a:ext cx="1320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1,0</a:t>
            </a:r>
            <a:endParaRPr lang="es-CL" sz="1400" dirty="0"/>
          </a:p>
        </p:txBody>
      </p:sp>
      <p:sp>
        <p:nvSpPr>
          <p:cNvPr id="24" name="Shape 22"/>
          <p:cNvSpPr/>
          <p:nvPr/>
        </p:nvSpPr>
        <p:spPr>
          <a:xfrm>
            <a:off x="10736809" y="2697480"/>
            <a:ext cx="887959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718521" y="2697480"/>
            <a:ext cx="924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b="1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s-CL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18521" y="3200400"/>
            <a:ext cx="924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4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0,7</a:t>
            </a:r>
            <a:endParaRPr lang="es-CL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Montaje e integración (bloques 2 y 3) concentran 5,1 horas.</a:t>
            </a:r>
            <a:endParaRPr lang="es-CL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04488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904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s-CL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858768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Seguridad y preparación</a:t>
            </a:r>
            <a:endParaRPr lang="es-CL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27168" y="3858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0,4 H</a:t>
            </a:r>
            <a:endParaRPr lang="es-CL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23367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2336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s-CL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187952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Recepción y diagnóstico</a:t>
            </a:r>
            <a:endParaRPr lang="es-CL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27168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0,4 H</a:t>
            </a:r>
            <a:endParaRPr lang="es-CL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562856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456285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s-CL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4517136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Montaje mecánico y pesaje</a:t>
            </a:r>
            <a:endParaRPr lang="es-CL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227168" y="4517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3,3 H</a:t>
            </a:r>
            <a:endParaRPr lang="es-CL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347472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89204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s-CL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4846320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Integración y energización</a:t>
            </a:r>
            <a:endParaRPr lang="es-CL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227168" y="4846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1,8 H</a:t>
            </a:r>
            <a:endParaRPr lang="es-CL" sz="900" dirty="0"/>
          </a:p>
        </p:txBody>
      </p:sp>
      <p:sp>
        <p:nvSpPr>
          <p:cNvPr id="44" name="Shape 42"/>
          <p:cNvSpPr/>
          <p:nvPr/>
        </p:nvSpPr>
        <p:spPr>
          <a:xfrm>
            <a:off x="6233008" y="3904488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33008" y="39044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s-CL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90208" y="3858768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Calibración</a:t>
            </a:r>
            <a:endParaRPr lang="es-CL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0911535" y="3858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0,8 H</a:t>
            </a:r>
            <a:endParaRPr lang="es-CL" sz="900" dirty="0"/>
          </a:p>
        </p:txBody>
      </p:sp>
      <p:sp>
        <p:nvSpPr>
          <p:cNvPr id="48" name="Shape 46"/>
          <p:cNvSpPr/>
          <p:nvPr/>
        </p:nvSpPr>
        <p:spPr>
          <a:xfrm>
            <a:off x="6233008" y="4233672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33008" y="42336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s-CL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690208" y="4187952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Pruebas</a:t>
            </a:r>
            <a:endParaRPr lang="es-CL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10911535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 H</a:t>
            </a:r>
            <a:endParaRPr lang="es-CL" sz="900" dirty="0"/>
          </a:p>
        </p:txBody>
      </p:sp>
      <p:sp>
        <p:nvSpPr>
          <p:cNvPr id="52" name="Shape 50"/>
          <p:cNvSpPr/>
          <p:nvPr/>
        </p:nvSpPr>
        <p:spPr>
          <a:xfrm>
            <a:off x="6233008" y="4562856"/>
            <a:ext cx="347472" cy="2468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33008" y="456285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95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s-CL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690208" y="4517136"/>
            <a:ext cx="422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Documentación y traspaso</a:t>
            </a:r>
            <a:endParaRPr lang="es-CL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0911535" y="4517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0,7 H</a:t>
            </a:r>
            <a:endParaRPr lang="es-CL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175504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5248656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CUATRO PUNTOS DE CONTROL · SI NO SE CUMPLE, SE DETIENE</a:t>
            </a:r>
            <a:endParaRPr lang="es-CL" sz="850" dirty="0"/>
          </a:p>
        </p:txBody>
      </p:sp>
      <p:sp>
        <p:nvSpPr>
          <p:cNvPr id="58" name="Shape 56"/>
          <p:cNvSpPr/>
          <p:nvPr/>
        </p:nvSpPr>
        <p:spPr>
          <a:xfrm>
            <a:off x="548640" y="5550408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04672" y="5504688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¿Vehículo apto para instalar?</a:t>
            </a:r>
            <a:endParaRPr lang="es-CL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04672" y="592531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reprograma; el cliente repara con su mecánico.</a:t>
            </a:r>
            <a:endParaRPr lang="es-CL" sz="950" dirty="0"/>
          </a:p>
        </p:txBody>
      </p:sp>
      <p:sp>
        <p:nvSpPr>
          <p:cNvPr id="61" name="Shape 59"/>
          <p:cNvSpPr/>
          <p:nvPr/>
        </p:nvSpPr>
        <p:spPr>
          <a:xfrm>
            <a:off x="3356534" y="5550408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612566" y="5504688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¿Masa ≤ 20% y reparto entre ejes ≤ 10%?</a:t>
            </a:r>
            <a:endParaRPr lang="es-CL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3612566" y="592531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detiene; IC revisa la configuración.</a:t>
            </a:r>
            <a:endParaRPr lang="es-CL" sz="950" dirty="0"/>
          </a:p>
        </p:txBody>
      </p:sp>
      <p:sp>
        <p:nvSpPr>
          <p:cNvPr id="64" name="Shape 62"/>
          <p:cNvSpPr/>
          <p:nvPr/>
        </p:nvSpPr>
        <p:spPr>
          <a:xfrm>
            <a:off x="6164428" y="5550408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420460" y="5504688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¿Aislación ≥ 100 Ω/V, sin puntos calientes?</a:t>
            </a:r>
            <a:endParaRPr lang="es-CL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6420460" y="592531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Desenergiza, corrige y repite la medición.</a:t>
            </a:r>
            <a:endParaRPr lang="es-CL" sz="950" dirty="0"/>
          </a:p>
        </p:txBody>
      </p:sp>
      <p:sp>
        <p:nvSpPr>
          <p:cNvPr id="67" name="Shape 65"/>
          <p:cNvSpPr/>
          <p:nvPr/>
        </p:nvSpPr>
        <p:spPr>
          <a:xfrm>
            <a:off x="8972321" y="5550408"/>
            <a:ext cx="182880" cy="18288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228353" y="5504688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¿Aprueba asistencia, regeneración y seguridad?</a:t>
            </a:r>
            <a:endParaRPr lang="es-CL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228353" y="592531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Corrige la calibración o el montaje.</a:t>
            </a:r>
            <a:endParaRPr lang="es-C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A9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INVERSIÓN Y GASTO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LA INVERSIÓN SIGUE AL GATILLO;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gasto, al kit.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INVERSIÓN EN EQUIPAMIENTO · MILLONES DE PESOS</a:t>
            </a:r>
            <a:endParaRPr lang="es-CL" sz="900" dirty="0"/>
          </a:p>
        </p:txBody>
      </p:sp>
      <p:graphicFrame>
        <p:nvGraphicFramePr>
          <p:cNvPr id="6" name="Inversión en equipamiento por año" descr=""/>
          <p:cNvGraphicFramePr/>
          <p:nvPr/>
        </p:nvGraphicFramePr>
        <p:xfrm>
          <a:off x="457200" y="2606040"/>
          <a:ext cx="541004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531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Total: $243,8 millones. Dinamómetro de chasis $36,7 M por local, a cotizar de nuevo; elevadores y herramientas entran con cada dúo.</a:t>
            </a:r>
            <a:endParaRPr lang="es-CL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324448" y="233172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GASTO OPERACIONAL DE LA LÍNEA PROPIA · MILLONES</a:t>
            </a:r>
            <a:endParaRPr lang="es-CL" sz="900" dirty="0"/>
          </a:p>
        </p:txBody>
      </p:sp>
      <p:graphicFrame>
        <p:nvGraphicFramePr>
          <p:cNvPr id="9" name="Gasto operacional por año" descr=""/>
          <p:cNvGraphicFramePr/>
          <p:nvPr/>
        </p:nvGraphicFramePr>
        <p:xfrm>
          <a:off x="6233008" y="2606040"/>
          <a:ext cx="541004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34176" y="5303520"/>
            <a:ext cx="1027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1.064,1</a:t>
            </a:r>
            <a:endParaRPr lang="es-CL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461321" y="5303520"/>
            <a:ext cx="1027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2.945,4</a:t>
            </a:r>
            <a:endParaRPr lang="es-CL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488467" y="5303520"/>
            <a:ext cx="1027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5.657,9</a:t>
            </a:r>
            <a:endParaRPr lang="es-CL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9515612" y="5303520"/>
            <a:ext cx="1027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7.623,5</a:t>
            </a:r>
            <a:endParaRPr lang="es-CL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42758" y="5303520"/>
            <a:ext cx="1027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9.605,8</a:t>
            </a:r>
            <a:endParaRPr lang="es-CL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324448" y="5623560"/>
            <a:ext cx="531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kit explica más del 90% del gasto de cada año. Resto: arriendo, servicios, seguros, mantención, cursos, plataformas y garantía (3% del kit).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040880" y="6382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A10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SENSIBILIDAD</a:t>
            </a:r>
            <a:endParaRPr lang="en-US" sz="10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DÓLAR PESA MÁS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 el precio y la mezcla.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9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DE LA LÍNEA PROPIA AL AÑO 5 · MILLONES DE PESOS</a:t>
            </a:r>
            <a:endParaRPr lang="es-CL" sz="900" dirty="0"/>
          </a:p>
        </p:txBody>
      </p:sp>
      <p:graphicFrame>
        <p:nvGraphicFramePr>
          <p:cNvPr id="6" name="Sensibilidad del resultado al quinto año" descr=""/>
          <p:cNvGraphicFramePr/>
          <p:nvPr/>
        </p:nvGraphicFramePr>
        <p:xfrm>
          <a:off x="457200" y="2587752"/>
          <a:ext cx="7680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2331720"/>
            <a:ext cx="3093415" cy="2011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9477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9477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94776" y="43982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94776" y="4242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42471" y="43982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97919" y="4242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0808" y="2487168"/>
            <a:ext cx="26910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5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MARGEN SOBRE VENTAS</a:t>
            </a:r>
            <a:endParaRPr lang="es-CL" sz="850" dirty="0"/>
          </a:p>
        </p:txBody>
      </p:sp>
      <p:sp>
        <p:nvSpPr>
          <p:cNvPr id="17" name="Shape 14"/>
          <p:cNvSpPr/>
          <p:nvPr/>
        </p:nvSpPr>
        <p:spPr>
          <a:xfrm>
            <a:off x="8750808" y="2788920"/>
            <a:ext cx="269107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50808" y="2788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Base</a:t>
            </a:r>
            <a:endParaRPr lang="es-CL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378440" y="2788920"/>
            <a:ext cx="10634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7,7%</a:t>
            </a:r>
            <a:endParaRPr lang="es-CL" sz="2000" dirty="0"/>
          </a:p>
        </p:txBody>
      </p:sp>
      <p:sp>
        <p:nvSpPr>
          <p:cNvPr id="20" name="Shape 17"/>
          <p:cNvSpPr/>
          <p:nvPr/>
        </p:nvSpPr>
        <p:spPr>
          <a:xfrm>
            <a:off x="8750808" y="3264408"/>
            <a:ext cx="269107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50808" y="32644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+10%</a:t>
            </a:r>
            <a:endParaRPr lang="es-CL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378440" y="3264408"/>
            <a:ext cx="10634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accent4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0,8%</a:t>
            </a:r>
            <a:endParaRPr lang="es-CL" sz="2000" dirty="0"/>
          </a:p>
        </p:txBody>
      </p:sp>
      <p:sp>
        <p:nvSpPr>
          <p:cNvPr id="23" name="Shape 20"/>
          <p:cNvSpPr/>
          <p:nvPr/>
        </p:nvSpPr>
        <p:spPr>
          <a:xfrm>
            <a:off x="8750808" y="3739896"/>
            <a:ext cx="2691079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50808" y="3739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−10%</a:t>
            </a:r>
            <a:endParaRPr lang="es-CL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378440" y="3739896"/>
            <a:ext cx="10634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14,6%</a:t>
            </a:r>
            <a:endParaRPr lang="es-CL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45262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$10 de dólar mueve el costo del kit en $25.168 (Esencial) y $28.886 (Plus). El plan financiero deberá evaluar coberturas o precios indexados al dólar.</a:t>
            </a:r>
            <a:endParaRPr lang="es-C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ine">
  <a:themeElements>
    <a:clrScheme name="Lumine">
      <a:dk1>
        <a:srgbClr val="ECECEC"/>
      </a:dk1>
      <a:lt1>
        <a:srgbClr val="020304"/>
      </a:lt1>
      <a:dk2>
        <a:srgbClr val="8B9598"/>
      </a:dk2>
      <a:lt2>
        <a:srgbClr val="0A0D0F"/>
      </a:lt2>
      <a:accent1>
        <a:srgbClr val="22B8F0"/>
      </a:accent1>
      <a:accent2>
        <a:srgbClr val="4ADE80"/>
      </a:accent2>
      <a:accent3>
        <a:srgbClr val="F5B94A"/>
      </a:accent3>
      <a:accent4>
        <a:srgbClr val="F87171"/>
      </a:accent4>
      <a:accent5>
        <a:srgbClr val="2E3438"/>
      </a:accent5>
      <a:accent6>
        <a:srgbClr val="101417"/>
      </a:accent6>
      <a:hlink>
        <a:srgbClr val="22B8F0"/>
      </a:hlink>
      <a:folHlink>
        <a:srgbClr val="0A6F9E"/>
      </a:folHlink>
    </a:clrScheme>
    <a:fontScheme name="Lumine">
      <a:majorFont>
        <a:latin typeface="Archivo SemiExpanded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Lumine Motors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3 · Plan de Marketing, Operaciones y Recursos Humanos · Lumine Motors</dc:title>
  <dc:subject>Integrador II: Taller de Empresas · ICMA 1001 · Grupo 1</dc:subject>
  <dc:creator>Diego Alarcón, Benjamín Torres y Lukas Verdugo</dc:creator>
  <cp:lastModifiedBy>Diego Alarcón, Benjamín Torres y Lukas Verdugo</cp:lastModifiedBy>
  <cp:revision>1</cp:revision>
  <dcterms:created xsi:type="dcterms:W3CDTF">2026-10-17T00:40:49Z</dcterms:created>
  <dcterms:modified xsi:type="dcterms:W3CDTF">2026-10-17T00:40:49Z</dcterms:modified>
</cp:coreProperties>
</file>