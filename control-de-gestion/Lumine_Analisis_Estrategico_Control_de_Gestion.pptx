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63f180f-07da-5f2a-8102-b6e99c7f567e}">
          <p14:sldIdLst>
            <p14:sldId id="256"/>
            <p14:sldId id="257"/>
          </p14:sldIdLst>
        </p14:section>
        <p14:section name="Contexto y fuentes" id="{7b624ab4-40d6-c1ef-72d4-16ef912a55c5}">
          <p14:sldIdLst>
            <p14:sldId id="258"/>
            <p14:sldId id="259"/>
          </p14:sldIdLst>
        </p14:section>
        <p14:section name="Entorno externo" id="{bf613630-aaf5-7baa-3f86-365e93d7c10e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ntorno interno" id="{c0a7b24f-f678-1bc1-158e-5466db1a2b1f}">
          <p14:sldIdLst>
            <p14:sldId id="270"/>
            <p14:sldId id="271"/>
            <p14:sldId id="272"/>
            <p14:sldId id="273"/>
            <p14:sldId id="274"/>
          </p14:sldIdLst>
        </p14:section>
        <p14:section name="Síntesis" id="{7dc1f056-2342-7396-d688-04762bc35556}">
          <p14:sldIdLst>
            <p14:sldId id="275"/>
            <p14:sldId id="276"/>
            <p14:sldId id="277"/>
          </p14:sldIdLst>
        </p14:section>
        <p14:section name="Estrategia" id="{9c8d873b-1bbb-ff8f-8a4a-c77b834821ac}">
          <p14:sldIdLst>
            <p14:sldId id="278"/>
            <p14:sldId id="279"/>
          </p14:sldIdLst>
        </p14:section>
        <p14:section name="Cierre" id="{82c6a539-ae8f-740c-ef56-3ba79209f02c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Oportunidades</c:v>
                </c:pt>
              </c:strCache>
            </c:strRef>
          </c:tx>
          <c:spPr>
            <a:solidFill>
              <a:srgbClr val="4ADE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Político-jurídico</c:v>
                  </c:pt>
                  <c:pt idx="1">
                    <c:v>Económico</c:v>
                  </c:pt>
                  <c:pt idx="2">
                    <c:v>Sociocultural</c:v>
                  </c:pt>
                  <c:pt idx="3">
                    <c:v>Tecnológico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Neutros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Político-jurídico</c:v>
                  </c:pt>
                  <c:pt idx="1">
                    <c:v>Económico</c:v>
                  </c:pt>
                  <c:pt idx="2">
                    <c:v>Sociocultural</c:v>
                  </c:pt>
                  <c:pt idx="3">
                    <c:v>Tecnológico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Amenazas</c:v>
                </c:pt>
              </c:strCache>
            </c:strRef>
          </c:tx>
          <c:spPr>
            <a:solidFill>
              <a:srgbClr val="F871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Político-jurídico</c:v>
                  </c:pt>
                  <c:pt idx="1">
                    <c:v>Económico</c:v>
                  </c:pt>
                  <c:pt idx="2">
                    <c:v>Sociocultural</c:v>
                  </c:pt>
                  <c:pt idx="3">
                    <c:v>Tecnológico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Intensidad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Sustitutos · 30%</c:v>
                  </c:pt>
                  <c:pt idx="1">
                    <c:v>Nuevos entrantes · 20%</c:v>
                  </c:pt>
                  <c:pt idx="2">
                    <c:v>Proveedores · 15%</c:v>
                  </c:pt>
                  <c:pt idx="3">
                    <c:v>Clientes · 25%</c:v>
                  </c:pt>
                  <c:pt idx="4">
                    <c:v>Rivalidad · 10%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3.75</c:v>
                </c:pt>
                <c:pt idx="2">
                  <c:v>2.67</c:v>
                </c:pt>
                <c:pt idx="3">
                  <c:v>2.64</c:v>
                </c:pt>
                <c:pt idx="4">
                  <c:v>1.83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Habilidades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GLP</c:v>
                  </c:pt>
                  <c:pt idx="1">
                    <c:v>Eléctricos nuevos</c:v>
                  </c:pt>
                  <c:pt idx="2">
                    <c:v>Reborn*</c:v>
                  </c:pt>
                  <c:pt idx="3">
                    <c:v>Movener*</c:v>
                  </c:pt>
                  <c:pt idx="4">
                    <c:v>Híbridos usados</c:v>
                  </c:pt>
                  <c:pt idx="5">
                    <c:v>Lumine</c:v>
                  </c:pt>
                  <c:pt idx="6">
                    <c:v>Líder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3.86</c:v>
                </c:pt>
                <c:pt idx="1">
                  <c:v>3.86</c:v>
                </c:pt>
                <c:pt idx="2">
                  <c:v>3.86</c:v>
                </c:pt>
                <c:pt idx="3">
                  <c:v>3.71</c:v>
                </c:pt>
                <c:pt idx="4">
                  <c:v>3.57</c:v>
                </c:pt>
                <c:pt idx="5">
                  <c:v>3</c:v>
                </c:pt>
                <c:pt idx="6">
                  <c:v>4.29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Factores de riesgo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GLP</c:v>
                  </c:pt>
                  <c:pt idx="1">
                    <c:v>Eléctricos nuevos</c:v>
                  </c:pt>
                  <c:pt idx="2">
                    <c:v>Reborn*</c:v>
                  </c:pt>
                  <c:pt idx="3">
                    <c:v>Movener*</c:v>
                  </c:pt>
                  <c:pt idx="4">
                    <c:v>Híbridos usados</c:v>
                  </c:pt>
                  <c:pt idx="5">
                    <c:v>Lumine</c:v>
                  </c:pt>
                  <c:pt idx="6">
                    <c:v>Líder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3.43</c:v>
                </c:pt>
                <c:pt idx="2">
                  <c:v>3.71</c:v>
                </c:pt>
                <c:pt idx="3">
                  <c:v>3.43</c:v>
                </c:pt>
                <c:pt idx="4">
                  <c:v>3.43</c:v>
                </c:pt>
                <c:pt idx="5">
                  <c:v>2.71</c:v>
                </c:pt>
                <c:pt idx="6">
                  <c:v>4.14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análisis estratégico de Lumine Motors Chile SpA para Control de Gestión (Teoría, ICMA901, sección 500, NRC 4118). Lumine es una empresa preoperativa que propone un kit de hibridación: suma un motor eléctrico en el eje trasero de autos a combustión de tracción delantera, sin tocar el motor original. El análisis aplica los marcos del documento 00 (Kovacevic y Reynoso, Francés, Hitt, Porter, Kaplan y Norton) sobre los cuatro instrumentos que completó 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recorrido va de lo externo a lo interno y termina en la síntesis: FODA por perspectivas del CMI y la declaración de la estrategia. Cada sección indica el marco teórico y el instrumento del curso del que salen los datos (02 Industria, 03 PEST, 05 Competencias Centrales, 06 Cadena de Valor).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Lumine suma un motor eléctrico en el eje trasero, un banco de baterías LFP y una unidad de control; el motor original, la transmisión y la alimentación quedan intactos. La empresa es preoperativa: no tiene instalaciones, personal, clientes ni flujo de caja. Por eso, al compararla con competidores en operación, todas sus áreas salen debilidad y sus fortalezas reales están en factores puntuales. El segmento son vehículos de tracción delantera con alto kilometraje, con prioridad en colectiveros y conductores de aplicación. El ahorro de hasta 20% de bencina en ciudad es una estimación de ingeniería, no una medición en autos chilenos.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análisis se basa en los cuatro instrumentos del curso; el informe de las fases 1 y 2 se usó solo como contexto, y cuando difieren priman los instrumentos, que son más recientes. Industria (02): promedio ponderado de 3,49, moderadamente poco atractiva. PEST (03): 2,82 hoy y 2,99 a futuro, con 13 oportunidades, 18 neutros y 20 amenazas. Competencias (05): 2 ventajas sostenibles, 6 temporales y 7 de igualdad. Cadena de valor (06): habilidades 3,00 y riesgo 2,71, con brecha de −1,29 y −1,43 frente al líder. Escenario único: la Ley N° 21.793 sin reglamento, con el borrador de 2021 como referencia. El instrumento 04 de ratios no aplica porque aún no hay estados financieros.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Lumine no tiene hoy ninguna ventaja competitiva efectiva. El instrumento 05 identifica una sola competencia central, el conocimiento de calibración por marca y modelo, pero la biblioteca que lo contiene está vacía y sin protección formal. Las tendencias favorecen el negocio: el parque se conserva, el combustible sube, la batería LFP baja y crece el cliente prioritario. En contra juegan la actividad débil y el dólar alto, que encarece el kit importado. Para mover los márgenes hay tres palancas, aún sin cuantificar: precio por valor percibido, calibración que se paga una vez por modelo e ingresos recurrentes sobre la base instalada.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industria tiene tres dogmas. Primero, que reducir la huella exige reemplazar el vehículo: desafiarlo abre el mercado de quienes conservan su auto. Segundo, que intervenir la propulsión es intervenir la combustión, lo que justifica limitarla a autos de pocos años: la arquitectura en el eje trasero no altera la combustión. Tercero, que transformar es cambiar el motor por uno eléctrico, según el borrador de 2021: se puede plantear al MTT porque la ley habla de «otras adaptaciones y transformaciones». Lo que Lumine puede hacer y los demás no es reunir tres atributos: mejorar el vehículo sin reemplazarlo, no excluirlo por antigüedad y entregar una certificación reconocible.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necesidad central es reducir de forma permanente el gasto en combustible del vehículo que ya se tiene, sin reemplazarlo. Las entrevistas sugieren un orden: primero, que no se intervenga el motor (lo pidieron los tres entrevistados); segundo, confianza institucional; tercero, el precio. Hay una tensión entre fuentes: los instrumentos 02 y 03 muestran un cliente muy sensible al precio, mientras las entrevistas ponen la confianza antes. Ambas cosas pueden ser ciertas. Con n = 3 y muestra por conveniencia, el orden es una hipótesis que exige validar con una muestra aleatoria y cuantitativa.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valor para el cliente es el gasto en combustible que evita. Con 150 a 250 km diarios, 24 días al mes, 10 km por litro y $1.450 por litro, el gasto mensual va de $522.000 a $870.000. Con el ahorro que usan los instrumentos 03 y 06, hasta 20% menos bencina en ciudad, el ahorro mensual queda entre $104.400 y $174.000. Es un techo: supone el máximo de la estimación y todo el recorrido en ciudad. El precio debe quedar muy por debajo de los $7.000.000 del híbrido usado y bajo el ahorro acumulado en la vida útil restante; el piso lo fija el costo, en el Plan Financiero. Se cobraría en cuotas, aunque la TPM de 4,5% las encarece.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socios que deciden si el servicio puede venderse son el regulador, las aseguradoras, las plantas de revisión técnica y la institución financiera; ninguno está formalizado (06, cuentas claves: riesgo 2). No se proponen alianzas hacia atrás: la cadena de proveedores es fragmentada y a la baja. Pero si la homologación es por par modelo-kit, cambiar de proveedor obliga a rehomologar cada modelo, así que conviene un acuerdo de abastecimiento de largo plazo. Para mejorar la cadena de suministro: protocolo de contención ante señales regulatorias adversas, consolidación de embarques con cobertura cambiaria y externalización de aduana y transporte Clase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Ley N° 21.793 abrió una vía formal para intervenir la propulsión de vehículos en uso, y su reglamento decidirá si esa vía incluye a Lumine. Es un cambio abrupto, por evento. El resto del entorno cambia lento, con una excepción: el deterioro macroeconómico de 2026 (PIB recortado, desempleo de 9,5% y dólar alto), que golpea la capacidad de pago del cliente. El nicho que ninguna oferta formal cubre son los vehículos de más de siete años: no pueden convertirse a gas. Y la meta de 100% de ventas cero emisiones al 2035 recae sobre autos nuevos, así que el parque usado sigue envejeciendo y el nicho crece.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más claro del PEST es el conteo: 20 amenazas contra 13 oportunidades. El puntaje global lo confirma, 2,82 hoy y 2,99 a futuro, bajo el neutro de 3, pero subestima el desbalance porque la mayoría de los demás factores son neutros. Las oportunidades se concentran en lo tecnológico (7 de 13): ahorro documentado por ICCT y SEG, Francia legalizó la reconversión en 2020 y los componentes están estandarizados. Las amenazas decisivas son la regulatoria (borrador de 2021 sin vía para la hibridación) y la capacidad de pago del cliente. Lo económico es el sector peor evaluado: 2,38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instrumento 03 clasifica los factores por impacto comercial e incertidumbre. Según Francés, cada cuadrante pide una herramienta distinta: escenarios para los factores críticos, análisis proyectivo para las tendencias y análisis de eventos para lo que se monitorea. Los cinco factores críticos requieren escenarios alternos: el reglamento, el reconocimiento de aseguradoras y plantas, el precio de la bencina, el tipo de cambio y el ahorro real. Tres de ellos (reglamento, aseguradoras y plantas, y ahorro real) dependen de terceros o de una medición que aún no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factor crítico de mayor impacto es el reglamento. Los escenarios salen de dos preguntas abiertas: si la hibridación aditiva cabe en la definición de transformación y si se mantiene la exclusión de vehículos con sistemas de seguridad. Con el borrador de 2021 como referencia, Lumine está en la rama «No» del primer nodo, que lleva a E3 o E4. Solo E1 convierte la barrera regulatoria en protección para el primero que homologa. Ninguna decisión comercial mueve el negocio de una rama a otra: lo hace la respuesta escrita de la autoridad.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industria es moderadamente poco atractiva: promedio ponderado de 3,49 en una escala donde 5 es la fuerza más intensa. La presión viene de los sustitutos (5,00), porque no hacer nada cuesta $0, y de los nuevos entrantes (3,75), porque una vez abierta la vía cualquiera con presupuesto puede homologar. La rivalidad (1,83) y los proveedores (2,67) juegan a favor. Sustitutos y clientes suman 55% de la ponderación y operan por la misma causa. Siguiendo a Porter, la causa de la sensibilidad al precio no es el precio sino la falta de liquidez, por eso el financiamiento en cuotas actúa sobre la causa. Implicancias: posicionarse en conductores de alto kilometraje, incidir en el reglamento y acumular homologaciones.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fortaleza interna de Lumine es de diseño, no de ejecución: la arquitectura, el proceso y la planificación están bien definidos, pero ninguno se ha probado en un vehículo real. De los seis factores críticos de éxito, cuatro están en nivel equilibrado o débil. Los dos que alcanzan fortaleza leve, integración y estandarización, son de diseño y no se han probado. Los dos factores que funcionan como condiciones de entrada, la gestión regulatoria y el financiamiento, están entre los más débiles. La capacidad medular que Lumine aspira a hacer extraordinariamente bien es la integración y calibración por marca y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7S muestran un patrón claro. Las S duras, estrategia y sistemas, están diseñadas: hay misión, visión, ocho objetivos, un CMI y un proceso de taller de cinco etapas, aunque sin operar y sin línea base. Las S blandas que sostienen la ejecución son las más débiles: un estilo de gestión concentrado en fundadores sin trayectoria en la industria, un perfil técnico escaso (mecánica más alta tensión con licencia SEC) y ningún esquema para retener a los técnicos. Los puntajes vienen de las líneas equivalentes del instrumento 06 (habilidad / riesgo).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15 recursos y capacidades evaluados con los cuatro criterios de Hitt, solo dos cumplen todos: la biblioteca de calibraciones (recurso) y la ingeniería de integración y calibración (capacidad). Son dos expresiones de la misma competencia central. Seis dan ventaja temporal, como la homologación, la autorización del taller y los técnicos con licencia SEC, y siete son igualdad competitiva o condiciones de entrada. No hay desventajas. La formación interna cumple tres criterios y se clasifica como temporal porque concentra el conocimiento en pocas personas. Las dos ventajas sostenibles son potenciales: la biblioteca hoy no tiene contenido y su sostenibilidad depende de protegerla como secreto empresarial.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directrices del costo y la fuente de exclusividad no coinciden. El costo se acumula en la logística de entrada (kit importado, mercancía peligrosa Clase 9 y dólar) y en las horas de operaciones; la exclusividad nace en el desarrollo tecnológico, la calibración, y se entrega en operaciones. Tres eslabones son decisivos: infraestructura, porque sin autorización no opera ningún eslabón; desarrollo tecnológico, única fuente de exclusividad; y operaciones, el cuello de botella donde convergen la homologación por modelo, los plazos de internación y la escasez de técnicos. Contabilidad, aduana, transporte de mercancía peligrosa y remuneraciones se pueden externalizar sin perder diferenciación.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los competidores, Lumine obtiene 3,00 en habilidades y 2,71 en factores de riesgo. El líder, armado con el máximo de cada área entre GLP, híbridos usados y eléctricos nuevos, llega a 4,29 y 4,14: la brecha es de −1,29 y −1,43. Las siete áreas salen debilidad por dos razones de diseño que el instrumento declara: se compara una empresa preoperativa con actores en operación, y el líder no es un competidor real. Los puntajes de competidores son estimaciones del equipo. Por eso el insumo correcto para el FODA son las fortalezas puntuales, las líneas con puntaje 4 o más, y no el promedio. Tecnología es el área más fuerte en habilidades (3,33) y, junto con Finanzas, la de mayor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Ordenado por las cuatro perspectivas del Cuadro de Mando Integral, el FODA muestra dónde está el problema: las fortalezas se concentran en procesos internos, es decir, en el diseño técnico. Las amenazas decisivas caen en la perspectiva de clientes (capacidad de pago, desempleo y la opción de no hacer nada a costo $0) y en la habilitación regulatoria. Las fortalezas provienen de las líneas del instrumento 06 con puntaje 4 o más; las oportunidades y amenazas, de la matriz PEST (03) y de los antecedentes de referencia.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cruces son coherentes con los instrumentos. FO: homologar primero los modelos de mayor densidad en el segmento priorizado, aprovechando que nadie ofrece hoy la hibridación certificada. DO: consultar al 3CV y plantear al MTT el precedente del gas licuado mientras elabora el reglamento. FA: frente al híbrido usado y a no hacer nada, vender la cuota mensual contra el ahorro mensual, no la sostenibilidad. DA: cerrar convenios con aseguradoras, plantas de revisión técnica y una institución financiera antes de vender el primer kit. Los instrumentos agregan un quinto cruce DA: cobertura cambiaria y abastecimiento de largo plazo.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cinco problemas clave. Uno, la vía legal: sin un reglamento que reconozca la hibridación aditiva, no hay negocio. Dos, el reconocimiento de terceros: aseguradoras y plantas pueden bloquear la venta aun con reglamento favorable. Tres, la capacidad de pago: ingreso disponible bajo, desempleo de 9,5% y crédito caro; sin financiamiento no hay conversión. Cuatro, el ahorro no medido: el 20% en ciudad es una estimación no verificada en autos chilenos. Cinco, la exposición cambiaria: todo el costo variable está en dólares y sin cobertura.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Lumine compite con diferenciación enfocada. La diferenciación descansa en el servicio y no en el hardware; el enfoque, en un segmento definido por kilometraje y por el peso del combustible en el costo por kilómetro. Objetivo: ser hacia 2031 el taller de referencia en hibridación, como el primer taller autorizado del país; tiene plazo pero no una meta cuantitativa. Ventaja: la única alternativa que reduce el consumo sin reemplazar el vehículo, sin límite de antigüedad y con certificación; es potencial mientras la biblioteca no exista. Las renuncias son coherentes: no competir por precio contra el gas, no atender al conductor de bajo kilometraje y no ofrecer inmediatez. La tensión es que se diferencia ante un cliente muy sensible al precio; se resuelve solo si el enfoque se respeta.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ocho objetivos se agrupan en tres ejes. Habilitación formal (objetivos 1 a 3) ataca la vía legal y el reconocimiento de terceros y se mide en procesos internos y clientes. Acceso comercial (4 y 5) ataca la capacidad de pago del cliente y se mide en clientes y en la perspectiva financiera. Conocimiento y escala (6 a 8) ataca el ahorro no medido y la rotación técnica, en aprendizaje y crecimiento. Hay una brecha: ningún eje ni objetivo aborda la exposición cambiaria, que los instrumentos 03 y 06 identifican como amenaza. Debería incorporarse al eje 2 o al Plan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como concluye el instrumento de cinco fuerzas, la prioridad no es competir con otros talleres sino lograr que el ahorro supere al precio frente a la opción de no hacer nada. Eso depende de tres cosas que hoy no están: la vía legal (reglamento), el reconocimiento de terceros (aseguradoras y plantas) y la medición del ahorro real.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CIERRE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72768"/>
            <a:ext cx="11094415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ctr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DE GESTIÓN · ICMA901 · NRC 4118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MOTORS CHILE SPA · ANÁLISIS ESTRATÉGICO</a:t>
            </a:r>
            <a:endParaRPr lang="en-US" sz="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8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8000"/>
              </a:lnSpc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pic>
        <p:nvPicPr>
          <p:cNvPr id="3" name="Image 1" descr="LUM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24528"/>
            <a:ext cx="11094415" cy="182373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3258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DESARROLLO DE LA ESTRATEGIA · LUMINE MOTORS CHILE SPA</a:t>
            </a:r>
            <a:endParaRPr lang="es-CL" sz="1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72768"/>
            <a:ext cx="110944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ANÁLISIS</a:t>
            </a:r>
            <a:endParaRPr lang="en-US" sz="600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76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estratégico.</a:t>
            </a:r>
            <a:endParaRPr lang="en-US" sz="6000" dirty="0"/>
          </a:p>
        </p:txBody>
      </p:sp>
      <p:pic>
        <p:nvPicPr>
          <p:cNvPr id="5" name="Image 0" descr="Plano del kit Lumine: auto en vista lateral con el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3310128"/>
            <a:ext cx="6766560" cy="20863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5321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6875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8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Control de Gestión · Teoría</a:t>
            </a:r>
            <a:endParaRPr lang="es-CL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568756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CÓDIGO</a:t>
            </a:r>
            <a:endParaRPr lang="es-CL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594360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ICMA901 · Sección 500</a:t>
            </a:r>
            <a:endParaRPr lang="es-CL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568756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NRC</a:t>
            </a:r>
            <a:endParaRPr lang="es-CL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594360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4118</a:t>
            </a:r>
            <a:endParaRPr lang="es-CL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5687568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5943600"/>
            <a:ext cx="5376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ÍNDICE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DE LOS INSTRUMENTOS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la estrategia.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95728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4688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Propósito, fuentes y escenario</a:t>
            </a:r>
            <a:endParaRPr lang="es-CL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743200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INSTRUMENTOS 02 · 03 · 05 · 06</a:t>
            </a:r>
            <a:endParaRPr lang="es-CL" sz="750" dirty="0"/>
          </a:p>
        </p:txBody>
      </p:sp>
      <p:sp>
        <p:nvSpPr>
          <p:cNvPr id="9" name="Shape 6"/>
          <p:cNvSpPr/>
          <p:nvPr/>
        </p:nvSpPr>
        <p:spPr>
          <a:xfrm>
            <a:off x="548640" y="2962656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054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3035808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Escáner de ventajas competitivas</a:t>
            </a:r>
            <a:endParaRPr lang="es-CL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3310128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KOVACEVIC Y REYNOSO</a:t>
            </a:r>
            <a:endParaRPr lang="es-CL" sz="750" dirty="0"/>
          </a:p>
        </p:txBody>
      </p:sp>
      <p:sp>
        <p:nvSpPr>
          <p:cNvPr id="13" name="Shape 10"/>
          <p:cNvSpPr/>
          <p:nvPr/>
        </p:nvSpPr>
        <p:spPr>
          <a:xfrm>
            <a:off x="548640" y="3529584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621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3602736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Relaciones de valor con los clientes</a:t>
            </a:r>
            <a:endParaRPr lang="es-CL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3877056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KOVACEVIC Y REYNOSO</a:t>
            </a:r>
            <a:endParaRPr lang="es-CL" sz="750" dirty="0"/>
          </a:p>
        </p:txBody>
      </p:sp>
      <p:sp>
        <p:nvSpPr>
          <p:cNvPr id="17" name="Shape 14"/>
          <p:cNvSpPr/>
          <p:nvPr/>
        </p:nvSpPr>
        <p:spPr>
          <a:xfrm>
            <a:off x="548640" y="4096512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87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" y="4169664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Redes de valor</a:t>
            </a:r>
            <a:endParaRPr lang="es-CL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" y="4443984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KOVACEVIC Y REYNOSO</a:t>
            </a:r>
            <a:endParaRPr lang="es-CL" sz="750" dirty="0"/>
          </a:p>
        </p:txBody>
      </p:sp>
      <p:sp>
        <p:nvSpPr>
          <p:cNvPr id="21" name="Shape 18"/>
          <p:cNvSpPr/>
          <p:nvPr/>
        </p:nvSpPr>
        <p:spPr>
          <a:xfrm>
            <a:off x="548640" y="46634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4736592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Discontinuidades del entorno</a:t>
            </a:r>
            <a:endParaRPr lang="es-CL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51560" y="5010912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KOVACEVIC Y REYNOSO</a:t>
            </a:r>
            <a:endParaRPr lang="es-CL" sz="750" dirty="0"/>
          </a:p>
        </p:txBody>
      </p:sp>
      <p:sp>
        <p:nvSpPr>
          <p:cNvPr id="25" name="Shape 22"/>
          <p:cNvSpPr/>
          <p:nvPr/>
        </p:nvSpPr>
        <p:spPr>
          <a:xfrm>
            <a:off x="548640" y="5230368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321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s-CL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5303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Análisis externo</a:t>
            </a:r>
            <a:endParaRPr lang="es-CL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5577840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FRANCÉS · PEST (03)</a:t>
            </a:r>
            <a:endParaRPr lang="es-CL" sz="750" dirty="0"/>
          </a:p>
        </p:txBody>
      </p:sp>
      <p:sp>
        <p:nvSpPr>
          <p:cNvPr id="29" name="Shape 26"/>
          <p:cNvSpPr/>
          <p:nvPr/>
        </p:nvSpPr>
        <p:spPr>
          <a:xfrm>
            <a:off x="548640" y="5797296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24448" y="2395728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24448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s-CL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827368" y="24688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Cinco fuerzas competitivas</a:t>
            </a:r>
            <a:endParaRPr lang="es-CL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827368" y="2743200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PORTER · 02</a:t>
            </a:r>
            <a:endParaRPr lang="es-CL" sz="750" dirty="0"/>
          </a:p>
        </p:txBody>
      </p:sp>
      <p:sp>
        <p:nvSpPr>
          <p:cNvPr id="34" name="Shape 31"/>
          <p:cNvSpPr/>
          <p:nvPr/>
        </p:nvSpPr>
        <p:spPr>
          <a:xfrm>
            <a:off x="6324448" y="2962656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324448" y="3054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s-CL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27368" y="3035808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Análisis interno</a:t>
            </a:r>
            <a:endParaRPr lang="es-CL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827368" y="3310128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FRANCÉS · 7S</a:t>
            </a:r>
            <a:endParaRPr lang="es-CL" sz="750" dirty="0"/>
          </a:p>
        </p:txBody>
      </p:sp>
      <p:sp>
        <p:nvSpPr>
          <p:cNvPr id="38" name="Shape 35"/>
          <p:cNvSpPr/>
          <p:nvPr/>
        </p:nvSpPr>
        <p:spPr>
          <a:xfrm>
            <a:off x="6324448" y="3529584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24448" y="3621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s-CL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6827368" y="3602736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Recursos, competencias y cadena de valor</a:t>
            </a:r>
            <a:endParaRPr lang="es-CL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827368" y="3877056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HITT · 05 · 06</a:t>
            </a:r>
            <a:endParaRPr lang="es-CL" sz="750" dirty="0"/>
          </a:p>
        </p:txBody>
      </p:sp>
      <p:sp>
        <p:nvSpPr>
          <p:cNvPr id="42" name="Shape 39"/>
          <p:cNvSpPr/>
          <p:nvPr/>
        </p:nvSpPr>
        <p:spPr>
          <a:xfrm>
            <a:off x="6324448" y="4096512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324448" y="4187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s-CL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6827368" y="4169664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FODA por perspectivas del CMI</a:t>
            </a:r>
            <a:endParaRPr lang="es-CL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827368" y="4443984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KAPLAN Y NORTON</a:t>
            </a:r>
            <a:endParaRPr lang="es-CL" sz="750" dirty="0"/>
          </a:p>
        </p:txBody>
      </p:sp>
      <p:sp>
        <p:nvSpPr>
          <p:cNvPr id="46" name="Shape 43"/>
          <p:cNvSpPr/>
          <p:nvPr/>
        </p:nvSpPr>
        <p:spPr>
          <a:xfrm>
            <a:off x="6324448" y="46634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24448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s-CL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6827368" y="4736592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Declaración de la estrategia</a:t>
            </a:r>
            <a:endParaRPr lang="es-CL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6827368" y="5010912"/>
            <a:ext cx="481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OVA · EJES</a:t>
            </a:r>
            <a:endParaRPr lang="es-CL" sz="750" dirty="0"/>
          </a:p>
        </p:txBody>
      </p:sp>
      <p:sp>
        <p:nvSpPr>
          <p:cNvPr id="50" name="Shape 47"/>
          <p:cNvSpPr/>
          <p:nvPr/>
        </p:nvSpPr>
        <p:spPr>
          <a:xfrm>
            <a:off x="6324448" y="5230368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CONTEXTO · LA EMPRESA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KIT QUE SE SUMA,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reemplaza.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11094415" cy="31546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93776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93776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542471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697919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" y="54955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" y="53400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54955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53400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244144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2688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PLANO · VISTA LATERAL</a:t>
            </a:r>
            <a:endParaRPr lang="es-CL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56855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LM—001 · KIT EJE TRASERO</a:t>
            </a:r>
            <a:endParaRPr lang="es-CL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700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8" name="Image 0" descr="Plano del kit: motor original adelante, unidad de control, banco de baterías y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8368" y="2715768"/>
            <a:ext cx="5394960" cy="166344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48640" y="445236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49808" y="4589526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49808" y="458952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188720" y="4589526"/>
            <a:ext cx="20420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 ORIGINAL</a:t>
            </a:r>
            <a:endParaRPr lang="es-CL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" y="4909566"/>
            <a:ext cx="24078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Intacto, con su tracción delantera.</a:t>
            </a:r>
            <a:endParaRPr lang="es-CL" sz="1200" dirty="0"/>
          </a:p>
        </p:txBody>
      </p:sp>
      <p:sp>
        <p:nvSpPr>
          <p:cNvPr id="24" name="Shape 20"/>
          <p:cNvSpPr/>
          <p:nvPr/>
        </p:nvSpPr>
        <p:spPr>
          <a:xfrm>
            <a:off x="3322244" y="4452366"/>
            <a:ext cx="0" cy="98831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523412" y="458952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3523412" y="458952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3962324" y="4589526"/>
            <a:ext cx="20420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UNIDAD DE CONTROL</a:t>
            </a:r>
            <a:endParaRPr lang="es-CL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3523412" y="4909566"/>
            <a:ext cx="24078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Decide cuándo asistir y corta ante fallas.</a:t>
            </a:r>
            <a:endParaRPr lang="es-CL" sz="1200" dirty="0"/>
          </a:p>
        </p:txBody>
      </p:sp>
      <p:sp>
        <p:nvSpPr>
          <p:cNvPr id="29" name="Shape 25"/>
          <p:cNvSpPr/>
          <p:nvPr/>
        </p:nvSpPr>
        <p:spPr>
          <a:xfrm>
            <a:off x="6095848" y="4452366"/>
            <a:ext cx="0" cy="98831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297016" y="458952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297016" y="458952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6735928" y="4589526"/>
            <a:ext cx="20420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BANCO DE BATERÍAS</a:t>
            </a:r>
            <a:endParaRPr lang="es-CL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6297016" y="4909566"/>
            <a:ext cx="24078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Baterías LFP: guardan la energía del frenado.</a:t>
            </a:r>
            <a:endParaRPr lang="es-CL" sz="1200" dirty="0"/>
          </a:p>
        </p:txBody>
      </p:sp>
      <p:sp>
        <p:nvSpPr>
          <p:cNvPr id="34" name="Shape 30"/>
          <p:cNvSpPr/>
          <p:nvPr/>
        </p:nvSpPr>
        <p:spPr>
          <a:xfrm>
            <a:off x="8869451" y="4452366"/>
            <a:ext cx="0" cy="98831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070619" y="458952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9070619" y="458952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9509531" y="4589526"/>
            <a:ext cx="20420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 ELÉCTRICO</a:t>
            </a:r>
            <a:endParaRPr lang="es-CL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9070619" y="4909566"/>
            <a:ext cx="24078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 el eje trasero, con freno regenerativo.</a:t>
            </a:r>
            <a:endParaRPr lang="es-CL" sz="1200" dirty="0"/>
          </a:p>
        </p:txBody>
      </p:sp>
      <p:sp>
        <p:nvSpPr>
          <p:cNvPr id="39" name="Shape 35"/>
          <p:cNvSpPr/>
          <p:nvPr/>
        </p:nvSpPr>
        <p:spPr>
          <a:xfrm>
            <a:off x="548640" y="564184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94944" y="5550408"/>
            <a:ext cx="3332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PREOPERATIVA</a:t>
            </a:r>
            <a:endParaRPr lang="es-CL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5815584"/>
            <a:ext cx="3515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instalaciones, personal, clientes ni flujo de caja.</a:t>
            </a:r>
            <a:endParaRPr lang="es-CL" sz="1250" dirty="0"/>
          </a:p>
        </p:txBody>
      </p:sp>
      <p:sp>
        <p:nvSpPr>
          <p:cNvPr id="42" name="Shape 38"/>
          <p:cNvSpPr/>
          <p:nvPr/>
        </p:nvSpPr>
        <p:spPr>
          <a:xfrm>
            <a:off x="4338218" y="564184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4484522" y="5550408"/>
            <a:ext cx="3332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</a:t>
            </a:r>
            <a:endParaRPr lang="es-CL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4338218" y="5815584"/>
            <a:ext cx="3515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Tracción delantera y alto kilometraje: colectiveros y apps.</a:t>
            </a:r>
            <a:endParaRPr lang="es-CL" sz="1250" dirty="0"/>
          </a:p>
        </p:txBody>
      </p:sp>
      <p:sp>
        <p:nvSpPr>
          <p:cNvPr id="45" name="Shape 41"/>
          <p:cNvSpPr/>
          <p:nvPr/>
        </p:nvSpPr>
        <p:spPr>
          <a:xfrm>
            <a:off x="8127797" y="5641848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274101" y="5550408"/>
            <a:ext cx="3332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PROMESA</a:t>
            </a:r>
            <a:endParaRPr lang="es-CL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127797" y="5815584"/>
            <a:ext cx="35152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 (estimación, sin medir).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PROPÓSITO, FUENTES Y ESCENARIO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INSTRUMENTOS,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solo escenario.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60215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2496312"/>
            <a:ext cx="22363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INDUSTRIA</a:t>
            </a:r>
            <a:endParaRPr lang="es-CL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432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3,49</a:t>
            </a:r>
            <a:endParaRPr lang="es-CL" sz="58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630168"/>
            <a:ext cx="22363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PONDERADO · 1 A 5</a:t>
            </a:r>
            <a:endParaRPr lang="es-CL" sz="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931920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Cinco fuerzas: industria moderadamente poco atractiva.</a:t>
            </a:r>
            <a:endParaRPr lang="es-CL" sz="1300" dirty="0"/>
          </a:p>
        </p:txBody>
      </p:sp>
      <p:sp>
        <p:nvSpPr>
          <p:cNvPr id="10" name="Shape 7"/>
          <p:cNvSpPr/>
          <p:nvPr/>
        </p:nvSpPr>
        <p:spPr>
          <a:xfrm>
            <a:off x="3379394" y="2331720"/>
            <a:ext cx="260215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80562" y="2496312"/>
            <a:ext cx="22363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PEST</a:t>
            </a:r>
            <a:endParaRPr lang="es-CL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562274" y="27432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2,82</a:t>
            </a:r>
            <a:endParaRPr lang="es-CL" sz="5800" dirty="0"/>
          </a:p>
        </p:txBody>
      </p:sp>
      <p:sp>
        <p:nvSpPr>
          <p:cNvPr id="13" name="Text 10"/>
          <p:cNvSpPr txBox="1"/>
          <p:nvPr/>
        </p:nvSpPr>
        <p:spPr>
          <a:xfrm>
            <a:off x="3580562" y="3630168"/>
            <a:ext cx="22363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GLOBAL HOY · 3 = NEUTRO</a:t>
            </a:r>
            <a:endParaRPr lang="es-CL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3580562" y="3931920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oportunidades, 18 neutros y 20 amenazas.</a:t>
            </a:r>
            <a:endParaRPr lang="es-CL" sz="1300" dirty="0"/>
          </a:p>
        </p:txBody>
      </p:sp>
      <p:sp>
        <p:nvSpPr>
          <p:cNvPr id="15" name="Shape 12"/>
          <p:cNvSpPr/>
          <p:nvPr/>
        </p:nvSpPr>
        <p:spPr>
          <a:xfrm>
            <a:off x="6210148" y="2331720"/>
            <a:ext cx="260215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1316" y="2496312"/>
            <a:ext cx="22363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COMPETENCIAS</a:t>
            </a:r>
            <a:endParaRPr lang="es-CL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393028" y="27432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 / 15</a:t>
            </a:r>
            <a:endParaRPr lang="es-CL" sz="5800" dirty="0"/>
          </a:p>
        </p:txBody>
      </p:sp>
      <p:sp>
        <p:nvSpPr>
          <p:cNvPr id="18" name="Text 15"/>
          <p:cNvSpPr txBox="1"/>
          <p:nvPr/>
        </p:nvSpPr>
        <p:spPr>
          <a:xfrm>
            <a:off x="6411316" y="3630168"/>
            <a:ext cx="22363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VENTAJAS SOSTENIBLES</a:t>
            </a:r>
            <a:endParaRPr lang="es-CL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11316" y="3931920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15 recursos y capacidades: 6 temporales y 7 de igualdad.</a:t>
            </a:r>
            <a:endParaRPr lang="es-CL" sz="1300" dirty="0"/>
          </a:p>
        </p:txBody>
      </p:sp>
      <p:sp>
        <p:nvSpPr>
          <p:cNvPr id="20" name="Shape 17"/>
          <p:cNvSpPr/>
          <p:nvPr/>
        </p:nvSpPr>
        <p:spPr>
          <a:xfrm>
            <a:off x="9040901" y="2331720"/>
            <a:ext cx="2602154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42069" y="2496312"/>
            <a:ext cx="22363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· CADENA DE VALOR</a:t>
            </a:r>
            <a:endParaRPr lang="es-CL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9223781" y="2743200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3,00</a:t>
            </a:r>
            <a:endParaRPr lang="es-CL" sz="5800" dirty="0"/>
          </a:p>
        </p:txBody>
      </p:sp>
      <p:sp>
        <p:nvSpPr>
          <p:cNvPr id="23" name="Text 20"/>
          <p:cNvSpPr txBox="1"/>
          <p:nvPr/>
        </p:nvSpPr>
        <p:spPr>
          <a:xfrm>
            <a:off x="9242069" y="3630168"/>
            <a:ext cx="22363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HABILIDADES · 1 A 5</a:t>
            </a:r>
            <a:endParaRPr lang="es-CL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9242069" y="3931920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Riesgo 2,71; brecha con el líder de −1,29 y −1,43.</a:t>
            </a:r>
            <a:endParaRPr lang="es-CL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4846320"/>
            <a:ext cx="6035040" cy="1298448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93776" y="47914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3776" y="47914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83096" y="47914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38544" y="47914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3776" y="61996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3776" y="6044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83096" y="61996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38544" y="6044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9926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ESCENARIO EVALUADO</a:t>
            </a:r>
            <a:endParaRPr lang="es-CL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527608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Ley N° 21.793 sin reglamento publicado. </a:t>
            </a:r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Única referencia: el borrador que el MTT sometió a consulta en diciembre de 2021, anterior a la ley.</a:t>
            </a:r>
            <a:endParaRPr lang="es-CL" sz="1400" dirty="0"/>
          </a:p>
        </p:txBody>
      </p:sp>
      <p:sp>
        <p:nvSpPr>
          <p:cNvPr id="36" name="Shape 33"/>
          <p:cNvSpPr/>
          <p:nvPr/>
        </p:nvSpPr>
        <p:spPr>
          <a:xfrm>
            <a:off x="6949440" y="4846320"/>
            <a:ext cx="46936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949440" y="4983480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104888" y="4910328"/>
            <a:ext cx="4510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ESTADOS FINANCIEROS</a:t>
            </a:r>
            <a:endParaRPr lang="es-CL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6949440" y="514807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Ratios (04) y análisis financiero comparativo no aplican hasta el Plan Financiero.</a:t>
            </a:r>
            <a:endParaRPr lang="es-CL" sz="1250" dirty="0"/>
          </a:p>
        </p:txBody>
      </p:sp>
      <p:sp>
        <p:nvSpPr>
          <p:cNvPr id="40" name="Shape 37"/>
          <p:cNvSpPr/>
          <p:nvPr/>
        </p:nvSpPr>
        <p:spPr>
          <a:xfrm>
            <a:off x="6949440" y="5522976"/>
            <a:ext cx="46936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49440" y="5660136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104888" y="5586984"/>
            <a:ext cx="4510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CRITERIO DE FUENTES</a:t>
            </a:r>
            <a:endParaRPr lang="es-CL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6949440" y="5824728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 los antecedentes y los instrumentos difieren, priman los instrumentos.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ESCÁNER DE VENTAJAS COMPETITIVAS · KOVACEVIC Y REYNOSO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SIN VENTAJA COMPETITIVA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efectiva, todavía.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TENDENCIAS Y PROYECCIONES</a:t>
            </a:r>
            <a:endParaRPr lang="es-CL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266090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280720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640080" y="28072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FAVOR</a:t>
            </a:r>
            <a:endParaRPr lang="es-CL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783080" y="271576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parque se conserva</a:t>
            </a:r>
            <a:endParaRPr lang="es-CL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29535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3,5 usados transferidos por cada auto nuevo (2026)</a:t>
            </a:r>
            <a:endParaRPr lang="es-CL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954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335584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0080" y="335584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FAVOR</a:t>
            </a:r>
            <a:endParaRPr lang="es-CL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783080" y="326440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combustible sube</a:t>
            </a:r>
            <a:endParaRPr lang="es-CL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35021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Bencina 93 de $1.149 a $1.541 por litro en la RM</a:t>
            </a:r>
            <a:endParaRPr lang="es-CL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75818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390448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640080" y="39044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FAVOR</a:t>
            </a:r>
            <a:endParaRPr lang="es-CL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783080" y="381304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insumo crítico baja</a:t>
            </a:r>
            <a:endParaRPr lang="es-CL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783080" y="40507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Baterías LFP en US$81 por kWh</a:t>
            </a:r>
            <a:endParaRPr lang="es-CL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30682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445312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640080" y="44531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FAVOR</a:t>
            </a:r>
            <a:endParaRPr lang="es-CL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783080" y="436168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Crece el cliente prioritario</a:t>
            </a:r>
            <a:endParaRPr lang="es-CL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783080" y="459943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Empleo en transporte +9,7%; cuenta propia +14,3%</a:t>
            </a:r>
            <a:endParaRPr lang="es-CL" sz="1250" dirty="0"/>
          </a:p>
        </p:txBody>
      </p:sp>
      <p:sp>
        <p:nvSpPr>
          <p:cNvPr id="26" name="Shape 23"/>
          <p:cNvSpPr/>
          <p:nvPr/>
        </p:nvSpPr>
        <p:spPr>
          <a:xfrm>
            <a:off x="548640" y="485546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500176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40080" y="500176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CONTRA</a:t>
            </a:r>
            <a:endParaRPr lang="es-CL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783080" y="491032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actividad se debilita</a:t>
            </a:r>
            <a:endParaRPr lang="es-CL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783080" y="514807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PIB 2026 recortado a 0,25%–0,75%; desempleo 9,5%</a:t>
            </a:r>
            <a:endParaRPr lang="es-CL" sz="1250" dirty="0"/>
          </a:p>
        </p:txBody>
      </p:sp>
      <p:sp>
        <p:nvSpPr>
          <p:cNvPr id="31" name="Shape 28"/>
          <p:cNvSpPr/>
          <p:nvPr/>
        </p:nvSpPr>
        <p:spPr>
          <a:xfrm>
            <a:off x="548640" y="540410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50408"/>
            <a:ext cx="1051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640080" y="55504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CONTRA</a:t>
            </a:r>
            <a:endParaRPr lang="es-CL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783080" y="5458968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se encarece</a:t>
            </a:r>
            <a:endParaRPr lang="es-CL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783080" y="56967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cerca de $970, en máximos de más de un año</a:t>
            </a:r>
            <a:endParaRPr lang="es-CL" sz="1250" dirty="0"/>
          </a:p>
        </p:txBody>
      </p:sp>
      <p:sp>
        <p:nvSpPr>
          <p:cNvPr id="36" name="Shape 33"/>
          <p:cNvSpPr/>
          <p:nvPr/>
        </p:nvSpPr>
        <p:spPr>
          <a:xfrm>
            <a:off x="548640" y="5952744"/>
            <a:ext cx="6903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863840" y="2331720"/>
            <a:ext cx="3779215" cy="3840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8089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8089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808976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808976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542471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97919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92440" y="2514600"/>
            <a:ext cx="332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COMPETENCIA CENTRAL · 05</a:t>
            </a:r>
            <a:endParaRPr lang="es-CL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8092440" y="2788920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por marca y modelo</a:t>
            </a:r>
            <a:endParaRPr lang="es-CL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8092440" y="3374136"/>
            <a:ext cx="3322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Recurso (biblioteca) y capacidad (ingeniería de integración).</a:t>
            </a:r>
            <a:endParaRPr lang="es-CL" sz="1250" dirty="0"/>
          </a:p>
        </p:txBody>
      </p:sp>
      <p:sp>
        <p:nvSpPr>
          <p:cNvPr id="49" name="Shape 46"/>
          <p:cNvSpPr/>
          <p:nvPr/>
        </p:nvSpPr>
        <p:spPr>
          <a:xfrm>
            <a:off x="8092440" y="3886200"/>
            <a:ext cx="21031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50" name="Text 47"/>
          <p:cNvSpPr txBox="1"/>
          <p:nvPr/>
        </p:nvSpPr>
        <p:spPr>
          <a:xfrm>
            <a:off x="8183880" y="38862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POTENCIAL, NO EFECTIVA</a:t>
            </a:r>
            <a:endParaRPr lang="es-CL" sz="850" dirty="0"/>
          </a:p>
        </p:txBody>
      </p:sp>
      <p:sp>
        <p:nvSpPr>
          <p:cNvPr id="51" name="Shape 48"/>
          <p:cNvSpPr/>
          <p:nvPr/>
        </p:nvSpPr>
        <p:spPr>
          <a:xfrm>
            <a:off x="8092440" y="4315968"/>
            <a:ext cx="33220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92440" y="4434840"/>
            <a:ext cx="332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TRES PALANCAS DE MARGEN</a:t>
            </a:r>
            <a:endParaRPr lang="es-CL" sz="850" dirty="0"/>
          </a:p>
        </p:txBody>
      </p:sp>
      <p:sp>
        <p:nvSpPr>
          <p:cNvPr id="53" name="Shape 50"/>
          <p:cNvSpPr/>
          <p:nvPr/>
        </p:nvSpPr>
        <p:spPr>
          <a:xfrm>
            <a:off x="8092440" y="4727448"/>
            <a:ext cx="33220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92440" y="472744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8458200" y="4727448"/>
            <a:ext cx="2956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 según valor y kilometraje</a:t>
            </a:r>
            <a:endParaRPr lang="es-CL" sz="1300" dirty="0"/>
          </a:p>
        </p:txBody>
      </p:sp>
      <p:sp>
        <p:nvSpPr>
          <p:cNvPr id="56" name="Shape 53"/>
          <p:cNvSpPr/>
          <p:nvPr/>
        </p:nvSpPr>
        <p:spPr>
          <a:xfrm>
            <a:off x="8092440" y="5166360"/>
            <a:ext cx="33220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092440" y="51663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58200" y="5166360"/>
            <a:ext cx="2956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pagada una vez por modelo</a:t>
            </a:r>
            <a:endParaRPr lang="es-CL" sz="1300" dirty="0"/>
          </a:p>
        </p:txBody>
      </p:sp>
      <p:sp>
        <p:nvSpPr>
          <p:cNvPr id="59" name="Shape 56"/>
          <p:cNvSpPr/>
          <p:nvPr/>
        </p:nvSpPr>
        <p:spPr>
          <a:xfrm>
            <a:off x="8092440" y="5605272"/>
            <a:ext cx="33220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092440" y="560527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8458200" y="5605272"/>
            <a:ext cx="2956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Ingresos recurrentes de posventa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ESCÁNER · INDUSTRIA Y DOGMAS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DOGMAS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desafiar.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3515258" cy="2971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514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DOGMA 01</a:t>
            </a:r>
            <a:endParaRPr lang="es-CL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07208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Reducir la huella del vehículo propio exige reemplazarlo.</a:t>
            </a:r>
            <a:endParaRPr lang="es-CL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3959352"/>
            <a:ext cx="30580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4142232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688" y="40507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361688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Abre el mercado de los propietarios que conservan su vehículo en vez de reemplazarlo.</a:t>
            </a:r>
            <a:endParaRPr lang="es-CL" sz="1350" dirty="0"/>
          </a:p>
        </p:txBody>
      </p:sp>
      <p:sp>
        <p:nvSpPr>
          <p:cNvPr id="12" name="Shape 9"/>
          <p:cNvSpPr/>
          <p:nvPr/>
        </p:nvSpPr>
        <p:spPr>
          <a:xfrm>
            <a:off x="4338218" y="2331720"/>
            <a:ext cx="3515258" cy="2971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14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DOGMA 02</a:t>
            </a:r>
            <a:endParaRPr lang="es-CL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807208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Intervenir la propulsión es intervenir la combustión: solo autos de pocos años.</a:t>
            </a:r>
            <a:endParaRPr lang="es-CL" sz="1800" dirty="0"/>
          </a:p>
        </p:txBody>
      </p:sp>
      <p:sp>
        <p:nvSpPr>
          <p:cNvPr id="15" name="Shape 12"/>
          <p:cNvSpPr/>
          <p:nvPr/>
        </p:nvSpPr>
        <p:spPr>
          <a:xfrm>
            <a:off x="4566818" y="3959352"/>
            <a:ext cx="30580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66818" y="4142232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22266" y="40507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566818" y="4361688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Justifica la arquitectura sobre el eje trasero, que no altera la combustión.</a:t>
            </a:r>
            <a:endParaRPr lang="es-CL" sz="1350" dirty="0"/>
          </a:p>
        </p:txBody>
      </p:sp>
      <p:sp>
        <p:nvSpPr>
          <p:cNvPr id="19" name="Shape 16"/>
          <p:cNvSpPr/>
          <p:nvPr/>
        </p:nvSpPr>
        <p:spPr>
          <a:xfrm>
            <a:off x="8127797" y="2331720"/>
            <a:ext cx="3515258" cy="29718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56397" y="2514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DOGMA 03</a:t>
            </a:r>
            <a:endParaRPr lang="es-CL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356397" y="2807208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Transformar es reemplazar el motor por uno eléctrico (borrador de 2021).</a:t>
            </a:r>
            <a:endParaRPr lang="es-CL" sz="1800" dirty="0"/>
          </a:p>
        </p:txBody>
      </p:sp>
      <p:sp>
        <p:nvSpPr>
          <p:cNvPr id="22" name="Shape 19"/>
          <p:cNvSpPr/>
          <p:nvPr/>
        </p:nvSpPr>
        <p:spPr>
          <a:xfrm>
            <a:off x="8356397" y="3959352"/>
            <a:ext cx="30580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56397" y="4142232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11845" y="40507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8356397" y="4361688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Plantearlo al MTT mientras elabora el reglamento: la ley habla de «otras adaptaciones y transformaciones».</a:t>
            </a:r>
            <a:endParaRPr lang="es-CL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COMMODITIZACIÓN</a:t>
            </a:r>
            <a:endParaRPr lang="es-CL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2743200" y="5468112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Alta en el hardware, baja en el servicio. </a:t>
            </a:r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valor se traslada de la pieza a la calibración y la certificación: por eso el kit no se vende por separado.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RELACIONES DE VALOR CON LOS CLIENTES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PRECIO DECIDE SI COMPRA;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confianza, si se atreve.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NECESIDAD CENTRAL</a:t>
            </a:r>
            <a:endParaRPr lang="es-CL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060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«Evitar pagar cada vez más por usar el auto.»</a:t>
            </a:r>
            <a:endParaRPr lang="es-CL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310128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ATRIBUTOS VALORADOS · ORDEN TENTATIVO</a:t>
            </a:r>
            <a:endParaRPr lang="es-CL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3611880"/>
            <a:ext cx="6309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8503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01</a:t>
            </a:r>
            <a:endParaRPr lang="es-CL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703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intervenir el motor ni la mecánica original</a:t>
            </a:r>
            <a:endParaRPr lang="es-CL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39959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Condición espontánea en los tres entrevistados.</a:t>
            </a:r>
            <a:endParaRPr lang="es-CL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434840"/>
            <a:ext cx="6309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50799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02</a:t>
            </a:r>
            <a:endParaRPr lang="es-CL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Confianza institucional</a:t>
            </a:r>
            <a:endParaRPr lang="es-CL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8188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Certificación, garantía escrita, mantención, un caso exitoso y quién responde ante fallas.</a:t>
            </a:r>
            <a:endParaRPr lang="es-CL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5257800"/>
            <a:ext cx="6309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3309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03</a:t>
            </a:r>
            <a:endParaRPr lang="es-CL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5349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</a:t>
            </a:r>
            <a:endParaRPr lang="es-CL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56418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fue el temor dominante en las entrevistas.</a:t>
            </a:r>
            <a:endParaRPr lang="es-CL" sz="1250" dirty="0"/>
          </a:p>
        </p:txBody>
      </p:sp>
      <p:sp>
        <p:nvSpPr>
          <p:cNvPr id="20" name="Shape 17"/>
          <p:cNvSpPr/>
          <p:nvPr/>
        </p:nvSpPr>
        <p:spPr>
          <a:xfrm>
            <a:off x="7269480" y="2331720"/>
            <a:ext cx="4373575" cy="3794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2146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1461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214616" y="61813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14616" y="60258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542471" y="61813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697919" y="60258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498080" y="2514600"/>
            <a:ext cx="3916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TENSIÓN ENTRE FUENTES</a:t>
            </a:r>
            <a:endParaRPr lang="es-CL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0" y="2880360"/>
            <a:ext cx="1843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INSTRUMENTOS 02 Y 03</a:t>
            </a:r>
            <a:endParaRPr lang="es-CL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7498080" y="3154680"/>
            <a:ext cx="1843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 muy sensible al precio</a:t>
            </a:r>
            <a:endParaRPr lang="es-CL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498080" y="3749040"/>
            <a:ext cx="1843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Sensibilidad al precio = 1, el factor de mercado peor evaluado.</a:t>
            </a:r>
            <a:endParaRPr lang="es-CL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570568" y="2880360"/>
            <a:ext cx="1843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ENTREVISTAS (n = 3)</a:t>
            </a:r>
            <a:endParaRPr lang="es-CL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9570568" y="3154680"/>
            <a:ext cx="1843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confianza va antes que el precio</a:t>
            </a:r>
            <a:endParaRPr lang="es-CL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570568" y="3749040"/>
            <a:ext cx="1843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es la confianza institucional, no el precio de lista.</a:t>
            </a:r>
            <a:endParaRPr lang="es-CL" sz="1200" dirty="0"/>
          </a:p>
        </p:txBody>
      </p:sp>
      <p:sp>
        <p:nvSpPr>
          <p:cNvPr id="36" name="Shape 33"/>
          <p:cNvSpPr/>
          <p:nvPr/>
        </p:nvSpPr>
        <p:spPr>
          <a:xfrm>
            <a:off x="9456268" y="2880360"/>
            <a:ext cx="0" cy="164592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98080" y="4709160"/>
            <a:ext cx="39163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498080" y="4846320"/>
            <a:ext cx="3916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Ambas pueden ser ciertas: </a:t>
            </a:r>
            <a:pPr indent="0" marL="0">
              <a:buNone/>
            </a:pPr>
            <a:r>
              <a:rPr lang="es-CL" altLang="en-US" sz="13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precio decide si compra y la confianza decide si se atreve. Validarlo exige una muestra aleatoria y cuantitativa.</a:t>
            </a:r>
            <a:endParaRPr lang="es-CL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RELACIONES DE VALOR · ESTRATEGIA DE PRECIO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VALOR ES EL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combustible evitado.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AHORRO MENSUAL DERIVADO · TECHO</a:t>
            </a:r>
            <a:endParaRPr lang="es-CL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$104.400 – $174.000</a:t>
            </a:r>
            <a:endParaRPr lang="es-CL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564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 MES · CON HASTA 20% MENOS BENCINA EN CIUDAD</a:t>
            </a:r>
            <a:endParaRPr lang="es-CL" sz="8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862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HOY GASTAS</a:t>
            </a:r>
            <a:endParaRPr lang="es-CL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3849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$522.000 – $870.000</a:t>
            </a:r>
            <a:endParaRPr lang="es-CL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4178808"/>
            <a:ext cx="6035040" cy="118872"/>
          </a:xfrm>
          <a:prstGeom prst="rect">
            <a:avLst/>
          </a:prstGeom>
          <a:solidFill>
            <a:srgbClr val="D4D7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45079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 LUMINE</a:t>
            </a:r>
            <a:endParaRPr lang="es-CL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44714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$417.600 – $696.000</a:t>
            </a:r>
            <a:endParaRPr lang="es-CL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800600"/>
            <a:ext cx="6035040" cy="11887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4800600"/>
            <a:ext cx="482803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840480" y="49834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−20% DE COMBUSTIBLE</a:t>
            </a:r>
            <a:endParaRPr lang="es-CL" sz="800" dirty="0"/>
          </a:p>
        </p:txBody>
      </p:sp>
      <p:sp>
        <p:nvSpPr>
          <p:cNvPr id="16" name="Shape 13"/>
          <p:cNvSpPr/>
          <p:nvPr/>
        </p:nvSpPr>
        <p:spPr>
          <a:xfrm>
            <a:off x="548640" y="5349240"/>
            <a:ext cx="60350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44068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SUPUESTOS · 150–250 KM/DÍA · 24 DÍAS · 10 KM/L · $1.450/L</a:t>
            </a:r>
            <a:endParaRPr lang="es-CL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6967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Derivaciones aritméticas, no mediciones: el ahorro no se ha verificado en autos chilenos.</a:t>
            </a:r>
            <a:endParaRPr lang="es-CL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23317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CÓMO ALINEAR PRECIO Y VALOR</a:t>
            </a:r>
            <a:endParaRPr lang="es-CL" sz="900" dirty="0"/>
          </a:p>
        </p:txBody>
      </p:sp>
      <p:sp>
        <p:nvSpPr>
          <p:cNvPr id="20" name="Shape 17"/>
          <p:cNvSpPr/>
          <p:nvPr/>
        </p:nvSpPr>
        <p:spPr>
          <a:xfrm>
            <a:off x="7095744" y="2788920"/>
            <a:ext cx="0" cy="260604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40880" y="2734056"/>
            <a:ext cx="109728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60920" y="269748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TECHO EXTERNO</a:t>
            </a:r>
            <a:endParaRPr lang="es-CL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360920" y="2944368"/>
            <a:ext cx="4282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Muy por debajo de los $7.000.000 del híbrido usado.</a:t>
            </a:r>
            <a:endParaRPr lang="es-CL" sz="1350" dirty="0"/>
          </a:p>
        </p:txBody>
      </p:sp>
      <p:sp>
        <p:nvSpPr>
          <p:cNvPr id="24" name="Shape 21"/>
          <p:cNvSpPr/>
          <p:nvPr/>
        </p:nvSpPr>
        <p:spPr>
          <a:xfrm>
            <a:off x="7040880" y="3602736"/>
            <a:ext cx="109728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360920" y="356616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TECHO INTERNO</a:t>
            </a:r>
            <a:endParaRPr lang="es-CL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7360920" y="3813048"/>
            <a:ext cx="4282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el ahorro acumulado en la vida útil restante del vehículo.</a:t>
            </a:r>
            <a:endParaRPr lang="es-CL" sz="1350" dirty="0"/>
          </a:p>
        </p:txBody>
      </p:sp>
      <p:sp>
        <p:nvSpPr>
          <p:cNvPr id="27" name="Shape 24"/>
          <p:cNvSpPr/>
          <p:nvPr/>
        </p:nvSpPr>
        <p:spPr>
          <a:xfrm>
            <a:off x="7040880" y="4471416"/>
            <a:ext cx="109728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60920" y="443484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PISO</a:t>
            </a:r>
            <a:endParaRPr lang="es-CL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360920" y="4681728"/>
            <a:ext cx="4282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Costo de componentes e instalación, que fija el Plan Financiero.</a:t>
            </a:r>
            <a:endParaRPr lang="es-CL" sz="1350" dirty="0"/>
          </a:p>
        </p:txBody>
      </p:sp>
      <p:sp>
        <p:nvSpPr>
          <p:cNvPr id="30" name="Shape 27"/>
          <p:cNvSpPr/>
          <p:nvPr/>
        </p:nvSpPr>
        <p:spPr>
          <a:xfrm>
            <a:off x="7040880" y="5340096"/>
            <a:ext cx="109728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360920" y="530352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FORMA DE COBRO</a:t>
            </a:r>
            <a:endParaRPr lang="es-CL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7360920" y="5550408"/>
            <a:ext cx="4282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Cuota mensual antes que precio de lista; la TPM de 4,5% encarece las cuotas.</a:t>
            </a:r>
            <a:endParaRPr lang="es-CL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REDES DE VALOR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UNA RED MÁS INSTITUCIONAL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comercial.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389120" y="2871216"/>
            <a:ext cx="1020928" cy="1106424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233172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245973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INSUMO ESTANDARIZADO</a:t>
            </a:r>
            <a:endParaRPr lang="es-CL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67919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Fabricantes de motor y baterías LFP</a:t>
            </a:r>
            <a:endParaRPr lang="es-CL" sz="1400" dirty="0"/>
          </a:p>
        </p:txBody>
      </p:sp>
      <p:sp>
        <p:nvSpPr>
          <p:cNvPr id="9" name="Shape 6"/>
          <p:cNvSpPr/>
          <p:nvPr/>
        </p:nvSpPr>
        <p:spPr>
          <a:xfrm>
            <a:off x="749808" y="3044952"/>
            <a:ext cx="1952244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841248" y="3044952"/>
            <a:ext cx="17693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PROVEEDOR SIN VALIDAR</a:t>
            </a:r>
            <a:endParaRPr lang="es-CL" sz="800" dirty="0"/>
          </a:p>
        </p:txBody>
      </p:sp>
      <p:sp>
        <p:nvSpPr>
          <p:cNvPr id="11" name="Shape 8"/>
          <p:cNvSpPr/>
          <p:nvPr/>
        </p:nvSpPr>
        <p:spPr>
          <a:xfrm flipV="1">
            <a:off x="4389120" y="3977640"/>
            <a:ext cx="1020928" cy="12801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356616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369417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HABILITADOR REGULATORIO</a:t>
            </a:r>
            <a:endParaRPr lang="es-CL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" y="391363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3CV y Subsecretaría de Transportes</a:t>
            </a:r>
            <a:endParaRPr lang="es-CL" sz="1400" dirty="0"/>
          </a:p>
        </p:txBody>
      </p:sp>
      <p:sp>
        <p:nvSpPr>
          <p:cNvPr id="15" name="Shape 12"/>
          <p:cNvSpPr/>
          <p:nvPr/>
        </p:nvSpPr>
        <p:spPr>
          <a:xfrm>
            <a:off x="749808" y="4279392"/>
            <a:ext cx="2185416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41248" y="4279392"/>
            <a:ext cx="2002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INTERLOCUCIÓN FORMAL</a:t>
            </a:r>
            <a:endParaRPr lang="es-CL" sz="800" dirty="0"/>
          </a:p>
        </p:txBody>
      </p:sp>
      <p:sp>
        <p:nvSpPr>
          <p:cNvPr id="17" name="Shape 14"/>
          <p:cNvSpPr/>
          <p:nvPr/>
        </p:nvSpPr>
        <p:spPr>
          <a:xfrm flipV="1">
            <a:off x="4389120" y="3977640"/>
            <a:ext cx="1020928" cy="136245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480060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" y="492861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VALIDADOR DE LA COMPRA</a:t>
            </a:r>
            <a:endParaRPr lang="es-CL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14807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Compañías de seguros</a:t>
            </a:r>
            <a:endParaRPr lang="es-CL" sz="1400" dirty="0"/>
          </a:p>
        </p:txBody>
      </p:sp>
      <p:sp>
        <p:nvSpPr>
          <p:cNvPr id="21" name="Shape 18"/>
          <p:cNvSpPr/>
          <p:nvPr/>
        </p:nvSpPr>
        <p:spPr>
          <a:xfrm>
            <a:off x="749808" y="5513832"/>
            <a:ext cx="2107692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841248" y="5513832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EXCLUYEN MODIFICACIONES</a:t>
            </a:r>
            <a:endParaRPr lang="es-CL" sz="8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2871216"/>
            <a:ext cx="1020928" cy="1106424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802575" y="233172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03743" y="245973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VALIDADOR DE CIRCULACIÓN</a:t>
            </a:r>
            <a:endParaRPr lang="es-CL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8003743" y="267919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Plantas de Revisión Técnica</a:t>
            </a:r>
            <a:endParaRPr lang="es-CL" sz="1400" dirty="0"/>
          </a:p>
        </p:txBody>
      </p:sp>
      <p:sp>
        <p:nvSpPr>
          <p:cNvPr id="27" name="Shape 24"/>
          <p:cNvSpPr/>
          <p:nvPr/>
        </p:nvSpPr>
        <p:spPr>
          <a:xfrm>
            <a:off x="8003743" y="3044952"/>
            <a:ext cx="1330452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8095183" y="3044952"/>
            <a:ext cx="1147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PROTOCOLO</a:t>
            </a:r>
            <a:endParaRPr lang="es-CL" sz="800" dirty="0"/>
          </a:p>
        </p:txBody>
      </p:sp>
      <p:sp>
        <p:nvSpPr>
          <p:cNvPr id="29" name="Shape 26"/>
          <p:cNvSpPr/>
          <p:nvPr/>
        </p:nvSpPr>
        <p:spPr>
          <a:xfrm>
            <a:off x="6781648" y="3977640"/>
            <a:ext cx="1020928" cy="12801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802575" y="356616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03743" y="369417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HABILITADOR DE ACCESO</a:t>
            </a:r>
            <a:endParaRPr lang="es-CL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8003743" y="391363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Instituciones financieras</a:t>
            </a:r>
            <a:endParaRPr lang="es-CL" sz="1400" dirty="0"/>
          </a:p>
        </p:txBody>
      </p:sp>
      <p:sp>
        <p:nvSpPr>
          <p:cNvPr id="33" name="Shape 30"/>
          <p:cNvSpPr/>
          <p:nvPr/>
        </p:nvSpPr>
        <p:spPr>
          <a:xfrm>
            <a:off x="8003743" y="4279392"/>
            <a:ext cx="1252728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8095183" y="4279392"/>
            <a:ext cx="1069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CONVENIO</a:t>
            </a:r>
            <a:endParaRPr lang="es-CL" sz="800" dirty="0"/>
          </a:p>
        </p:txBody>
      </p:sp>
      <p:sp>
        <p:nvSpPr>
          <p:cNvPr id="35" name="Shape 32"/>
          <p:cNvSpPr/>
          <p:nvPr/>
        </p:nvSpPr>
        <p:spPr>
          <a:xfrm>
            <a:off x="6781648" y="3977640"/>
            <a:ext cx="1020928" cy="136245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02575" y="4800600"/>
            <a:ext cx="3840480" cy="10789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03743" y="4928616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DE CAPTACIÓN</a:t>
            </a:r>
            <a:endParaRPr lang="es-CL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8003743" y="514807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independientes</a:t>
            </a:r>
            <a:endParaRPr lang="es-CL" sz="1400" dirty="0"/>
          </a:p>
        </p:txBody>
      </p:sp>
      <p:sp>
        <p:nvSpPr>
          <p:cNvPr id="39" name="Shape 36"/>
          <p:cNvSpPr/>
          <p:nvPr/>
        </p:nvSpPr>
        <p:spPr>
          <a:xfrm>
            <a:off x="8003743" y="5513832"/>
            <a:ext cx="1796796" cy="2286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0" name="Text 37"/>
          <p:cNvSpPr txBox="1"/>
          <p:nvPr/>
        </p:nvSpPr>
        <p:spPr>
          <a:xfrm>
            <a:off x="8095183" y="5513832"/>
            <a:ext cx="16139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EXPANSIÓN POSTERIOR</a:t>
            </a:r>
            <a:endParaRPr lang="es-CL" sz="800" dirty="0"/>
          </a:p>
        </p:txBody>
      </p:sp>
      <p:sp>
        <p:nvSpPr>
          <p:cNvPr id="41" name="Shape 38"/>
          <p:cNvSpPr/>
          <p:nvPr/>
        </p:nvSpPr>
        <p:spPr>
          <a:xfrm>
            <a:off x="5410048" y="3291840"/>
            <a:ext cx="1371600" cy="1371600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42" name="Image 0" descr="Emblema de Lum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3657600"/>
            <a:ext cx="640080" cy="64008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4952848" y="47731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</a:t>
            </a:r>
            <a:endParaRPr lang="es-CL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4541368" y="5166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Ninguno está formalizado. </a:t>
            </a:r>
            <a:pPr algn="ct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Elegir el primer proveedor es casi irreversible: cambiarlo obliga a rehomologar cada modelo.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DISCONTINUIDADES DEL ENTORNO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DISCONTINUIDAD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 normativa.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DIMENSIÓN</a:t>
            </a:r>
            <a:endParaRPr lang="es-CL" sz="8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23317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VELOCIDAD DEL CAMBIO</a:t>
            </a:r>
            <a:endParaRPr lang="es-CL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709160" y="2331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EVIDENCIA</a:t>
            </a:r>
            <a:endParaRPr lang="es-CL" sz="85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Regulación</a:t>
            </a:r>
            <a:endParaRPr lang="es-CL" sz="1350" dirty="0"/>
          </a:p>
        </p:txBody>
      </p:sp>
      <p:sp>
        <p:nvSpPr>
          <p:cNvPr id="10" name="Shape 7"/>
          <p:cNvSpPr/>
          <p:nvPr/>
        </p:nvSpPr>
        <p:spPr>
          <a:xfrm>
            <a:off x="2468880" y="2775204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4328" y="2775204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779776" y="2775204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35224" y="2775204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54680" y="2606040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ABRUPTA, POR EVENTO</a:t>
            </a:r>
            <a:endParaRPr lang="es-CL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606040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Ley del 14-01-2026; reglamento sin publicar</a:t>
            </a:r>
            <a:endParaRPr lang="es-CL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054096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054096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Macroeconomía</a:t>
            </a:r>
            <a:endParaRPr lang="es-CL" sz="1350" dirty="0"/>
          </a:p>
        </p:txBody>
      </p:sp>
      <p:sp>
        <p:nvSpPr>
          <p:cNvPr id="18" name="Shape 15"/>
          <p:cNvSpPr/>
          <p:nvPr/>
        </p:nvSpPr>
        <p:spPr>
          <a:xfrm>
            <a:off x="2468880" y="3223260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624328" y="3223260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79776" y="3223260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35224" y="3223260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054096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RÁPIDA, ADVERSA</a:t>
            </a:r>
            <a:endParaRPr lang="es-CL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09160" y="3054096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PIB 2026 a 0,25%–0,75%; desempleo 9,5%</a:t>
            </a:r>
            <a:endParaRPr lang="es-CL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3502152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502152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Tipo de cambio</a:t>
            </a:r>
            <a:endParaRPr lang="es-CL" sz="1350" dirty="0"/>
          </a:p>
        </p:txBody>
      </p:sp>
      <p:sp>
        <p:nvSpPr>
          <p:cNvPr id="26" name="Shape 23"/>
          <p:cNvSpPr/>
          <p:nvPr/>
        </p:nvSpPr>
        <p:spPr>
          <a:xfrm>
            <a:off x="2468880" y="3671316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24328" y="3671316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79776" y="3671316"/>
            <a:ext cx="118872" cy="118872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35224" y="3671316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54680" y="3502152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RÁPIDA, ADVERSA</a:t>
            </a:r>
            <a:endParaRPr lang="es-CL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709160" y="3502152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cerca de $970, máximo en más de un año</a:t>
            </a:r>
            <a:endParaRPr lang="es-CL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950208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3950208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Combustible</a:t>
            </a:r>
            <a:endParaRPr lang="es-CL" sz="1350" dirty="0"/>
          </a:p>
        </p:txBody>
      </p:sp>
      <p:sp>
        <p:nvSpPr>
          <p:cNvPr id="34" name="Shape 31"/>
          <p:cNvSpPr/>
          <p:nvPr/>
        </p:nvSpPr>
        <p:spPr>
          <a:xfrm>
            <a:off x="2468880" y="4119372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328" y="4119372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779776" y="4119372"/>
            <a:ext cx="118872" cy="118872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935224" y="4119372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4680" y="3950208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ALTA Y VOLÁTIL</a:t>
            </a:r>
            <a:endParaRPr lang="es-CL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4709160" y="3950208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Bencina 93: de $1.149 a $1.541 por litro</a:t>
            </a:r>
            <a:endParaRPr lang="es-CL" sz="1200" dirty="0"/>
          </a:p>
        </p:txBody>
      </p:sp>
      <p:sp>
        <p:nvSpPr>
          <p:cNvPr id="40" name="Shape 37"/>
          <p:cNvSpPr/>
          <p:nvPr/>
        </p:nvSpPr>
        <p:spPr>
          <a:xfrm>
            <a:off x="548640" y="4398264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398264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 de baterías</a:t>
            </a:r>
            <a:endParaRPr lang="es-CL" sz="1350" dirty="0"/>
          </a:p>
        </p:txBody>
      </p:sp>
      <p:sp>
        <p:nvSpPr>
          <p:cNvPr id="42" name="Shape 39"/>
          <p:cNvSpPr/>
          <p:nvPr/>
        </p:nvSpPr>
        <p:spPr>
          <a:xfrm>
            <a:off x="2468880" y="4567428"/>
            <a:ext cx="118872" cy="118872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624328" y="4567428"/>
            <a:ext cx="118872" cy="118872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2779776" y="4567428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935224" y="4567428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154680" y="4398264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SOSTENIDA A LA BAJA</a:t>
            </a:r>
            <a:endParaRPr lang="es-CL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398264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LFP en US$81 por kWh</a:t>
            </a:r>
            <a:endParaRPr lang="es-CL" sz="1200" dirty="0"/>
          </a:p>
        </p:txBody>
      </p:sp>
      <p:sp>
        <p:nvSpPr>
          <p:cNvPr id="48" name="Shape 45"/>
          <p:cNvSpPr/>
          <p:nvPr/>
        </p:nvSpPr>
        <p:spPr>
          <a:xfrm>
            <a:off x="548640" y="4846320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8640" y="4846320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Empleo en transporte</a:t>
            </a:r>
            <a:endParaRPr lang="es-CL" sz="1350" dirty="0"/>
          </a:p>
        </p:txBody>
      </p:sp>
      <p:sp>
        <p:nvSpPr>
          <p:cNvPr id="50" name="Shape 47"/>
          <p:cNvSpPr/>
          <p:nvPr/>
        </p:nvSpPr>
        <p:spPr>
          <a:xfrm>
            <a:off x="2468880" y="5015484"/>
            <a:ext cx="118872" cy="118872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24328" y="5015484"/>
            <a:ext cx="118872" cy="118872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2779776" y="5015484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935224" y="5015484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154680" y="4846320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SOSTENIDA AL ALZA</a:t>
            </a:r>
            <a:endParaRPr lang="es-CL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4709160" y="4846320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+9,7%; cuenta propia +14,3%</a:t>
            </a:r>
            <a:endParaRPr lang="es-CL" sz="1200" dirty="0"/>
          </a:p>
        </p:txBody>
      </p:sp>
      <p:sp>
        <p:nvSpPr>
          <p:cNvPr id="56" name="Shape 53"/>
          <p:cNvSpPr/>
          <p:nvPr/>
        </p:nvSpPr>
        <p:spPr>
          <a:xfrm>
            <a:off x="548640" y="5294376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8640" y="5294376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Conducta de compra</a:t>
            </a:r>
            <a:endParaRPr lang="es-CL" sz="1350" dirty="0"/>
          </a:p>
        </p:txBody>
      </p:sp>
      <p:sp>
        <p:nvSpPr>
          <p:cNvPr id="58" name="Shape 55"/>
          <p:cNvSpPr/>
          <p:nvPr/>
        </p:nvSpPr>
        <p:spPr>
          <a:xfrm>
            <a:off x="2468880" y="5463540"/>
            <a:ext cx="118872" cy="118872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624328" y="5463540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2779776" y="5463540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2935224" y="5463540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3154680" y="5294376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LENTA Y ESTABLE</a:t>
            </a:r>
            <a:endParaRPr lang="es-CL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4709160" y="5294376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3,5 usados por cada auto nuevo</a:t>
            </a:r>
            <a:endParaRPr lang="es-CL" sz="1200" dirty="0"/>
          </a:p>
        </p:txBody>
      </p:sp>
      <p:sp>
        <p:nvSpPr>
          <p:cNvPr id="64" name="Shape 61"/>
          <p:cNvSpPr/>
          <p:nvPr/>
        </p:nvSpPr>
        <p:spPr>
          <a:xfrm>
            <a:off x="548640" y="5742432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5742432"/>
            <a:ext cx="1874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Carga eléctrica</a:t>
            </a:r>
            <a:endParaRPr lang="es-CL" sz="1350" dirty="0"/>
          </a:p>
        </p:txBody>
      </p:sp>
      <p:sp>
        <p:nvSpPr>
          <p:cNvPr id="66" name="Shape 63"/>
          <p:cNvSpPr/>
          <p:nvPr/>
        </p:nvSpPr>
        <p:spPr>
          <a:xfrm>
            <a:off x="2468880" y="5911596"/>
            <a:ext cx="118872" cy="118872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624328" y="5911596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2779776" y="5911596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35224" y="5911596"/>
            <a:ext cx="118872" cy="118872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3154680" y="5742432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8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LENTA</a:t>
            </a:r>
            <a:endParaRPr lang="es-CL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4709160" y="5742432"/>
            <a:ext cx="3291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 puntos nuevos en el primer cuatrimestre</a:t>
            </a:r>
            <a:endParaRPr lang="es-CL" sz="1200" dirty="0"/>
          </a:p>
        </p:txBody>
      </p:sp>
      <p:sp>
        <p:nvSpPr>
          <p:cNvPr id="72" name="Shape 69"/>
          <p:cNvSpPr/>
          <p:nvPr/>
        </p:nvSpPr>
        <p:spPr>
          <a:xfrm>
            <a:off x="548640" y="6190488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412480" y="2331720"/>
            <a:ext cx="3230575" cy="3840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3576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35761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357616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357616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542471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1697919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641080" y="2514600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NICHO NO CUBIERTO</a:t>
            </a:r>
            <a:endParaRPr lang="es-CL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8641080" y="2743200"/>
            <a:ext cx="2773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5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+7 AÑOS</a:t>
            </a:r>
            <a:endParaRPr lang="es-CL" sz="5600" dirty="0"/>
          </a:p>
        </p:txBody>
      </p:sp>
      <p:sp>
        <p:nvSpPr>
          <p:cNvPr id="84" name="Text 81"/>
          <p:cNvSpPr txBox="1"/>
          <p:nvPr/>
        </p:nvSpPr>
        <p:spPr>
          <a:xfrm>
            <a:off x="8641080" y="3611880"/>
            <a:ext cx="2773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que no pueden convertirse a gas: a su dueño solo le queda reemplazarlos o seguir igual.</a:t>
            </a:r>
            <a:endParaRPr lang="es-CL" sz="1350" dirty="0"/>
          </a:p>
        </p:txBody>
      </p:sp>
      <p:sp>
        <p:nvSpPr>
          <p:cNvPr id="85" name="Shape 82"/>
          <p:cNvSpPr/>
          <p:nvPr/>
        </p:nvSpPr>
        <p:spPr>
          <a:xfrm>
            <a:off x="8641080" y="4572000"/>
            <a:ext cx="27733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8641080" y="4690872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EFECTO DE SEGUNDO ORDEN</a:t>
            </a:r>
            <a:endParaRPr lang="es-CL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8641080" y="4965192"/>
            <a:ext cx="2773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meta 2035 de ventas cero emisiones recae sobre autos nuevos: el parque usado sigue envejeciendo y el nicho crece.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EXTERNO · PEST (03) · FRANCÉS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20 AMENAZAS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contra 13 oportunidades.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FACTORES POR SECTOR · OPORTUNIDAD · NEUTRO · AMENAZA</a:t>
            </a:r>
            <a:endParaRPr lang="es-CL" sz="900" dirty="0"/>
          </a:p>
        </p:txBody>
      </p:sp>
      <p:graphicFrame>
        <p:nvGraphicFramePr>
          <p:cNvPr id="6" name="Gráfico PEST por sector" descr=""/>
          <p:cNvGraphicFramePr/>
          <p:nvPr/>
        </p:nvGraphicFramePr>
        <p:xfrm>
          <a:off x="457200" y="2606040"/>
          <a:ext cx="67665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680960" y="2331720"/>
            <a:ext cx="24990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PUNTAJE · 1 A 5 · 3 = NEUTRO</a:t>
            </a:r>
            <a:endParaRPr lang="es-CL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0225735" y="23317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HOY</a:t>
            </a:r>
            <a:endParaRPr lang="es-CL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0911535" y="23317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FUTURO</a:t>
            </a:r>
            <a:endParaRPr lang="es-CL" sz="850" dirty="0"/>
          </a:p>
        </p:txBody>
      </p:sp>
      <p:sp>
        <p:nvSpPr>
          <p:cNvPr id="10" name="Shape 6"/>
          <p:cNvSpPr/>
          <p:nvPr/>
        </p:nvSpPr>
        <p:spPr>
          <a:xfrm>
            <a:off x="7680960" y="2624328"/>
            <a:ext cx="396209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0" y="2624328"/>
            <a:ext cx="24990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Político-jurídico</a:t>
            </a:r>
            <a:endParaRPr lang="es-CL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0225735" y="2624328"/>
            <a:ext cx="640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2,67</a:t>
            </a:r>
            <a:endParaRPr lang="es-CL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911535" y="2624328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2,78</a:t>
            </a:r>
            <a:endParaRPr lang="es-CL" sz="1700" dirty="0"/>
          </a:p>
        </p:txBody>
      </p:sp>
      <p:sp>
        <p:nvSpPr>
          <p:cNvPr id="14" name="Shape 10"/>
          <p:cNvSpPr/>
          <p:nvPr/>
        </p:nvSpPr>
        <p:spPr>
          <a:xfrm>
            <a:off x="7680960" y="3054096"/>
            <a:ext cx="396209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680960" y="3054096"/>
            <a:ext cx="24990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Económico</a:t>
            </a:r>
            <a:endParaRPr lang="es-CL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10225735" y="3054096"/>
            <a:ext cx="640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2,38</a:t>
            </a:r>
            <a:endParaRPr lang="es-CL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0911535" y="3054096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2,81</a:t>
            </a:r>
            <a:endParaRPr lang="es-CL" sz="1700" dirty="0"/>
          </a:p>
        </p:txBody>
      </p:sp>
      <p:sp>
        <p:nvSpPr>
          <p:cNvPr id="18" name="Shape 14"/>
          <p:cNvSpPr/>
          <p:nvPr/>
        </p:nvSpPr>
        <p:spPr>
          <a:xfrm>
            <a:off x="7680960" y="3483864"/>
            <a:ext cx="396209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680960" y="3483864"/>
            <a:ext cx="24990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Sociocultural</a:t>
            </a:r>
            <a:endParaRPr lang="es-CL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10225735" y="3483864"/>
            <a:ext cx="640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3,00</a:t>
            </a:r>
            <a:endParaRPr lang="es-CL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348386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3,00</a:t>
            </a:r>
            <a:endParaRPr lang="es-CL" sz="1700" dirty="0"/>
          </a:p>
        </p:txBody>
      </p:sp>
      <p:sp>
        <p:nvSpPr>
          <p:cNvPr id="22" name="Shape 18"/>
          <p:cNvSpPr/>
          <p:nvPr/>
        </p:nvSpPr>
        <p:spPr>
          <a:xfrm>
            <a:off x="7680960" y="3913632"/>
            <a:ext cx="396209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680960" y="3913632"/>
            <a:ext cx="24990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Tecnológico</a:t>
            </a:r>
            <a:endParaRPr lang="es-CL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10225735" y="3913632"/>
            <a:ext cx="640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3,23</a:t>
            </a:r>
            <a:endParaRPr lang="es-CL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10911535" y="3913632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3,38</a:t>
            </a:r>
            <a:endParaRPr lang="es-CL" sz="1700" dirty="0"/>
          </a:p>
        </p:txBody>
      </p:sp>
      <p:sp>
        <p:nvSpPr>
          <p:cNvPr id="26" name="Shape 22"/>
          <p:cNvSpPr/>
          <p:nvPr/>
        </p:nvSpPr>
        <p:spPr>
          <a:xfrm>
            <a:off x="7680960" y="4343400"/>
            <a:ext cx="396209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680960" y="434340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Global</a:t>
            </a:r>
            <a:endParaRPr lang="es-CL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10225735" y="4343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2,82</a:t>
            </a:r>
            <a:endParaRPr lang="es-CL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10911535" y="43434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2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2,99</a:t>
            </a:r>
            <a:endParaRPr lang="es-CL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7680960" y="5029200"/>
            <a:ext cx="3962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oportunidades se concentran en lo tecnológico; las amenazas decisivas son la regulatoria y la capacidad de pago del cliente.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EXTERNO · IMPACTO E INCERTIDUMBRE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CINCO FACTORES CRÍTICOS,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todos inciertos.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280160" y="2286000"/>
            <a:ext cx="5099152" cy="17556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08760" y="2414016"/>
            <a:ext cx="2355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Monitorear</a:t>
            </a:r>
            <a:endParaRPr lang="es-C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64712" y="24140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DE EVENTOS</a:t>
            </a:r>
            <a:endParaRPr lang="es-CL" sz="800" dirty="0"/>
          </a:p>
        </p:txBody>
      </p:sp>
      <p:sp>
        <p:nvSpPr>
          <p:cNvPr id="8" name="Shape 5"/>
          <p:cNvSpPr/>
          <p:nvPr/>
        </p:nvSpPr>
        <p:spPr>
          <a:xfrm>
            <a:off x="1508760" y="288493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673352" y="27980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Recuperación del PIB 2027</a:t>
            </a:r>
            <a:endParaRPr lang="es-CL" sz="1250" dirty="0"/>
          </a:p>
        </p:txBody>
      </p:sp>
      <p:sp>
        <p:nvSpPr>
          <p:cNvPr id="10" name="Shape 7"/>
          <p:cNvSpPr/>
          <p:nvPr/>
        </p:nvSpPr>
        <p:spPr>
          <a:xfrm>
            <a:off x="1508760" y="311353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673352" y="30266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Ley N° 21.553 (registro de conductores)</a:t>
            </a:r>
            <a:endParaRPr lang="es-CL" sz="1250" dirty="0"/>
          </a:p>
        </p:txBody>
      </p:sp>
      <p:sp>
        <p:nvSpPr>
          <p:cNvPr id="12" name="Shape 9"/>
          <p:cNvSpPr/>
          <p:nvPr/>
        </p:nvSpPr>
        <p:spPr>
          <a:xfrm>
            <a:off x="1508760" y="334213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673352" y="32552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TPM y costo del crédito</a:t>
            </a:r>
            <a:endParaRPr lang="es-CL" sz="1250" dirty="0"/>
          </a:p>
        </p:txBody>
      </p:sp>
      <p:sp>
        <p:nvSpPr>
          <p:cNvPr id="14" name="Shape 11"/>
          <p:cNvSpPr/>
          <p:nvPr/>
        </p:nvSpPr>
        <p:spPr>
          <a:xfrm>
            <a:off x="6543904" y="2286000"/>
            <a:ext cx="5099152" cy="17556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89040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9040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22311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22311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40965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89040" y="3941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542471" y="40965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697919" y="39410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72504" y="2414016"/>
            <a:ext cx="2355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Factores críticos</a:t>
            </a:r>
            <a:endParaRPr lang="es-CL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128455" y="24140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ESCENARIOS ALTERNOS</a:t>
            </a:r>
            <a:endParaRPr lang="es-CL" sz="800" dirty="0"/>
          </a:p>
        </p:txBody>
      </p:sp>
      <p:sp>
        <p:nvSpPr>
          <p:cNvPr id="25" name="Shape 22"/>
          <p:cNvSpPr/>
          <p:nvPr/>
        </p:nvSpPr>
        <p:spPr>
          <a:xfrm>
            <a:off x="6772504" y="2884932"/>
            <a:ext cx="54864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37096" y="27980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de la Ley N° 21.793</a:t>
            </a:r>
            <a:endParaRPr lang="es-CL" sz="1250" dirty="0"/>
          </a:p>
        </p:txBody>
      </p:sp>
      <p:sp>
        <p:nvSpPr>
          <p:cNvPr id="27" name="Shape 24"/>
          <p:cNvSpPr/>
          <p:nvPr/>
        </p:nvSpPr>
        <p:spPr>
          <a:xfrm>
            <a:off x="6772504" y="3113532"/>
            <a:ext cx="54864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37096" y="30266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Reconocimiento de aseguradoras y plantas</a:t>
            </a:r>
            <a:endParaRPr lang="es-CL" sz="1250" dirty="0"/>
          </a:p>
        </p:txBody>
      </p:sp>
      <p:sp>
        <p:nvSpPr>
          <p:cNvPr id="29" name="Shape 26"/>
          <p:cNvSpPr/>
          <p:nvPr/>
        </p:nvSpPr>
        <p:spPr>
          <a:xfrm>
            <a:off x="6772504" y="3342132"/>
            <a:ext cx="54864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937096" y="32552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 de la bencina (volátil, MEPCO)</a:t>
            </a:r>
            <a:endParaRPr lang="es-CL" sz="1250" dirty="0"/>
          </a:p>
        </p:txBody>
      </p:sp>
      <p:sp>
        <p:nvSpPr>
          <p:cNvPr id="31" name="Shape 28"/>
          <p:cNvSpPr/>
          <p:nvPr/>
        </p:nvSpPr>
        <p:spPr>
          <a:xfrm>
            <a:off x="6772504" y="3570732"/>
            <a:ext cx="54864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937096" y="34838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Tipo de cambio (kit 100% importado)</a:t>
            </a:r>
            <a:endParaRPr lang="es-CL" sz="1250" dirty="0"/>
          </a:p>
        </p:txBody>
      </p:sp>
      <p:sp>
        <p:nvSpPr>
          <p:cNvPr id="33" name="Shape 30"/>
          <p:cNvSpPr/>
          <p:nvPr/>
        </p:nvSpPr>
        <p:spPr>
          <a:xfrm>
            <a:off x="6772504" y="3799332"/>
            <a:ext cx="54864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937096" y="371246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real, sin medición propia</a:t>
            </a:r>
            <a:endParaRPr lang="es-CL" sz="1250" dirty="0"/>
          </a:p>
        </p:txBody>
      </p:sp>
      <p:sp>
        <p:nvSpPr>
          <p:cNvPr id="35" name="Shape 32"/>
          <p:cNvSpPr/>
          <p:nvPr/>
        </p:nvSpPr>
        <p:spPr>
          <a:xfrm>
            <a:off x="1280160" y="4206240"/>
            <a:ext cx="5099152" cy="17556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508760" y="4334256"/>
            <a:ext cx="2355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Seguimiento menor</a:t>
            </a:r>
            <a:endParaRPr lang="es-CL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3864712" y="43342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BAJA PRIORIDAD</a:t>
            </a:r>
            <a:endParaRPr lang="es-CL" sz="800" dirty="0"/>
          </a:p>
        </p:txBody>
      </p:sp>
      <p:sp>
        <p:nvSpPr>
          <p:cNvPr id="38" name="Shape 35"/>
          <p:cNvSpPr/>
          <p:nvPr/>
        </p:nvSpPr>
        <p:spPr>
          <a:xfrm>
            <a:off x="1508760" y="48051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73352" y="47183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Envejecimiento de la población</a:t>
            </a:r>
            <a:endParaRPr lang="es-CL" sz="1250" dirty="0"/>
          </a:p>
        </p:txBody>
      </p:sp>
      <p:sp>
        <p:nvSpPr>
          <p:cNvPr id="40" name="Shape 37"/>
          <p:cNvSpPr/>
          <p:nvPr/>
        </p:nvSpPr>
        <p:spPr>
          <a:xfrm>
            <a:off x="1508760" y="50337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673352" y="49469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Sindicalización baja</a:t>
            </a:r>
            <a:endParaRPr lang="es-CL" sz="1250" dirty="0"/>
          </a:p>
        </p:txBody>
      </p:sp>
      <p:sp>
        <p:nvSpPr>
          <p:cNvPr id="42" name="Shape 39"/>
          <p:cNvSpPr/>
          <p:nvPr/>
        </p:nvSpPr>
        <p:spPr>
          <a:xfrm>
            <a:off x="1508760" y="52623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73352" y="51755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Libre competencia (DL 211)</a:t>
            </a:r>
            <a:endParaRPr lang="es-CL" sz="1250" dirty="0"/>
          </a:p>
        </p:txBody>
      </p:sp>
      <p:sp>
        <p:nvSpPr>
          <p:cNvPr id="44" name="Shape 41"/>
          <p:cNvSpPr/>
          <p:nvPr/>
        </p:nvSpPr>
        <p:spPr>
          <a:xfrm>
            <a:off x="1508760" y="54909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673352" y="54041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Jornada de 42 y 40 horas</a:t>
            </a:r>
            <a:endParaRPr lang="es-CL" sz="1250" dirty="0"/>
          </a:p>
        </p:txBody>
      </p:sp>
      <p:sp>
        <p:nvSpPr>
          <p:cNvPr id="46" name="Shape 43"/>
          <p:cNvSpPr/>
          <p:nvPr/>
        </p:nvSpPr>
        <p:spPr>
          <a:xfrm>
            <a:off x="1508760" y="57195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73352" y="56327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Conciencia ambiental del consumidor</a:t>
            </a:r>
            <a:endParaRPr lang="es-CL" sz="1250" dirty="0"/>
          </a:p>
        </p:txBody>
      </p:sp>
      <p:sp>
        <p:nvSpPr>
          <p:cNvPr id="48" name="Shape 45"/>
          <p:cNvSpPr/>
          <p:nvPr/>
        </p:nvSpPr>
        <p:spPr>
          <a:xfrm>
            <a:off x="6543904" y="4206240"/>
            <a:ext cx="5099152" cy="17556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72504" y="4334256"/>
            <a:ext cx="2355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Tendencias a planificar</a:t>
            </a:r>
            <a:endParaRPr lang="es-CL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9128455" y="43342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PROYECTIVO</a:t>
            </a:r>
            <a:endParaRPr lang="es-CL" sz="800" dirty="0"/>
          </a:p>
        </p:txBody>
      </p:sp>
      <p:sp>
        <p:nvSpPr>
          <p:cNvPr id="51" name="Shape 48"/>
          <p:cNvSpPr/>
          <p:nvPr/>
        </p:nvSpPr>
        <p:spPr>
          <a:xfrm>
            <a:off x="6772504" y="48051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937096" y="47183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Parque que envejece y se conserva</a:t>
            </a:r>
            <a:endParaRPr lang="es-CL" sz="1250" dirty="0"/>
          </a:p>
        </p:txBody>
      </p:sp>
      <p:sp>
        <p:nvSpPr>
          <p:cNvPr id="53" name="Shape 50"/>
          <p:cNvSpPr/>
          <p:nvPr/>
        </p:nvSpPr>
        <p:spPr>
          <a:xfrm>
            <a:off x="6772504" y="50337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937096" y="49469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Componentes estandarizados</a:t>
            </a:r>
            <a:endParaRPr lang="es-CL" sz="1250" dirty="0"/>
          </a:p>
        </p:txBody>
      </p:sp>
      <p:sp>
        <p:nvSpPr>
          <p:cNvPr id="55" name="Shape 52"/>
          <p:cNvSpPr/>
          <p:nvPr/>
        </p:nvSpPr>
        <p:spPr>
          <a:xfrm>
            <a:off x="6772504" y="52623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6937096" y="51755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Sustitutos: seguir con el auto o híbrido</a:t>
            </a:r>
            <a:endParaRPr lang="es-CL" sz="1250" dirty="0"/>
          </a:p>
        </p:txBody>
      </p:sp>
      <p:sp>
        <p:nvSpPr>
          <p:cNvPr id="57" name="Shape 54"/>
          <p:cNvSpPr/>
          <p:nvPr/>
        </p:nvSpPr>
        <p:spPr>
          <a:xfrm>
            <a:off x="6772504" y="5490972"/>
            <a:ext cx="54864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937096" y="5404104"/>
            <a:ext cx="445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Metas REP para baterías</a:t>
            </a:r>
            <a:endParaRPr lang="es-CL" sz="1250" dirty="0"/>
          </a:p>
        </p:txBody>
      </p:sp>
      <p:sp>
        <p:nvSpPr>
          <p:cNvPr id="59" name="Text 56"/>
          <p:cNvSpPr txBox="1"/>
          <p:nvPr/>
        </p:nvSpPr>
        <p:spPr>
          <a:xfrm>
            <a:off x="731520" y="305409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ALTA</a:t>
            </a:r>
            <a:endParaRPr lang="es-CL" sz="800" dirty="0"/>
          </a:p>
        </p:txBody>
      </p:sp>
      <p:sp>
        <p:nvSpPr>
          <p:cNvPr id="60" name="Text 57"/>
          <p:cNvSpPr txBox="1"/>
          <p:nvPr/>
        </p:nvSpPr>
        <p:spPr>
          <a:xfrm>
            <a:off x="731520" y="497433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BAJA</a:t>
            </a:r>
            <a:endParaRPr lang="es-CL" sz="800" dirty="0"/>
          </a:p>
        </p:txBody>
      </p:sp>
      <p:sp>
        <p:nvSpPr>
          <p:cNvPr id="61" name="Text 58"/>
          <p:cNvSpPr txBox="1"/>
          <p:nvPr/>
        </p:nvSpPr>
        <p:spPr>
          <a:xfrm rot="16200000">
            <a:off x="-1078992" y="400507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2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INCERTIDUMBRE</a:t>
            </a:r>
            <a:endParaRPr lang="es-CL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280160" y="6016752"/>
            <a:ext cx="509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BAJO</a:t>
            </a:r>
            <a:endParaRPr lang="es-CL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6543904" y="6016752"/>
            <a:ext cx="509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ALTO</a:t>
            </a:r>
            <a:endParaRPr lang="es-CL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1280160" y="6199632"/>
            <a:ext cx="10362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2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IMPACTO COMERCIAL</a:t>
            </a:r>
            <a:endParaRPr lang="es-CL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EXTERNO · ESCENARIOS REGULATORIOS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VÍA LEGAL DEPENDE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 la autoridad.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183880" y="2331720"/>
            <a:ext cx="3459175" cy="78638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366760" y="2514600"/>
            <a:ext cx="91440" cy="914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31352" y="24414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E1</a:t>
            </a:r>
            <a:endParaRPr lang="es-CL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96112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Vía legal amplia</a:t>
            </a:r>
            <a:endParaRPr lang="es-CL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531352" y="274320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Protege al primero que homologa</a:t>
            </a:r>
            <a:endParaRPr lang="es-CL" sz="1200" dirty="0"/>
          </a:p>
        </p:txBody>
      </p:sp>
      <p:sp>
        <p:nvSpPr>
          <p:cNvPr id="10" name="Shape 7"/>
          <p:cNvSpPr/>
          <p:nvPr/>
        </p:nvSpPr>
        <p:spPr>
          <a:xfrm>
            <a:off x="8183880" y="3209544"/>
            <a:ext cx="3459175" cy="78638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66760" y="3392424"/>
            <a:ext cx="91440" cy="914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31352" y="33192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E2</a:t>
            </a:r>
            <a:endParaRPr lang="es-CL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3300984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Vía legal acotada</a:t>
            </a:r>
            <a:endParaRPr lang="es-CL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3621024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Solo parque sin ABS ni airbag</a:t>
            </a:r>
            <a:endParaRPr lang="es-CL" sz="1200" dirty="0"/>
          </a:p>
        </p:txBody>
      </p:sp>
      <p:sp>
        <p:nvSpPr>
          <p:cNvPr id="15" name="Shape 12"/>
          <p:cNvSpPr/>
          <p:nvPr/>
        </p:nvSpPr>
        <p:spPr>
          <a:xfrm>
            <a:off x="8183880" y="4361688"/>
            <a:ext cx="3459175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66760" y="4544568"/>
            <a:ext cx="91440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31352" y="44714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E3</a:t>
            </a:r>
            <a:endParaRPr lang="es-CL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4453128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Vía alternativa</a:t>
            </a:r>
            <a:endParaRPr lang="es-CL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531352" y="477316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Alteración de características</a:t>
            </a:r>
            <a:endParaRPr lang="es-CL" sz="1200" dirty="0"/>
          </a:p>
        </p:txBody>
      </p:sp>
      <p:sp>
        <p:nvSpPr>
          <p:cNvPr id="20" name="Shape 17"/>
          <p:cNvSpPr/>
          <p:nvPr/>
        </p:nvSpPr>
        <p:spPr>
          <a:xfrm>
            <a:off x="8183880" y="5239512"/>
            <a:ext cx="3459175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66760" y="5422392"/>
            <a:ext cx="91440" cy="914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31352" y="53492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E4</a:t>
            </a:r>
            <a:endParaRPr lang="es-CL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8961120" y="5330952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vía legal</a:t>
            </a:r>
            <a:endParaRPr lang="es-CL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8531352" y="5650992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negocio no opera</a:t>
            </a:r>
            <a:endParaRPr lang="es-CL" sz="1200" dirty="0"/>
          </a:p>
        </p:txBody>
      </p:sp>
      <p:sp>
        <p:nvSpPr>
          <p:cNvPr id="25" name="Shape 22"/>
          <p:cNvSpPr/>
          <p:nvPr/>
        </p:nvSpPr>
        <p:spPr>
          <a:xfrm>
            <a:off x="4160520" y="2660904"/>
            <a:ext cx="3108960" cy="1005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43400" y="26609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¿Se mantiene la exclusión de vehículos con ABS, airbag o estabilidad?</a:t>
            </a:r>
            <a:endParaRPr lang="es-CL" sz="1400" dirty="0"/>
          </a:p>
        </p:txBody>
      </p:sp>
      <p:sp>
        <p:nvSpPr>
          <p:cNvPr id="27" name="Shape 24"/>
          <p:cNvSpPr/>
          <p:nvPr/>
        </p:nvSpPr>
        <p:spPr>
          <a:xfrm>
            <a:off x="4160520" y="4690872"/>
            <a:ext cx="3108960" cy="10058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43400" y="469087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¿Procede la inscripción general de alteración de características?</a:t>
            </a:r>
            <a:endParaRPr lang="es-CL" sz="1400" dirty="0"/>
          </a:p>
        </p:txBody>
      </p:sp>
      <p:sp>
        <p:nvSpPr>
          <p:cNvPr id="29" name="Shape 26"/>
          <p:cNvSpPr/>
          <p:nvPr/>
        </p:nvSpPr>
        <p:spPr>
          <a:xfrm>
            <a:off x="548640" y="3607308"/>
            <a:ext cx="2971800" cy="1143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360730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¿La transformación incluye una intervención que conserva el motor?</a:t>
            </a:r>
            <a:endParaRPr lang="es-CL" sz="1400" dirty="0"/>
          </a:p>
        </p:txBody>
      </p:sp>
      <p:sp>
        <p:nvSpPr>
          <p:cNvPr id="31" name="Shape 28"/>
          <p:cNvSpPr/>
          <p:nvPr/>
        </p:nvSpPr>
        <p:spPr>
          <a:xfrm>
            <a:off x="3520440" y="4178808"/>
            <a:ext cx="32004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840480" y="3163824"/>
            <a:ext cx="0" cy="1014984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40480" y="3163824"/>
            <a:ext cx="32004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20440" y="4178808"/>
            <a:ext cx="32004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40480" y="4178808"/>
            <a:ext cx="0" cy="1014984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840480" y="5193792"/>
            <a:ext cx="32004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13632" y="323697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3913632" y="49011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s-CL" sz="850" dirty="0"/>
          </a:p>
        </p:txBody>
      </p:sp>
      <p:sp>
        <p:nvSpPr>
          <p:cNvPr id="39" name="Shape 36"/>
          <p:cNvSpPr/>
          <p:nvPr/>
        </p:nvSpPr>
        <p:spPr>
          <a:xfrm>
            <a:off x="7269480" y="3163824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726680" y="2724912"/>
            <a:ext cx="0" cy="438912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726680" y="2724912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99832" y="27614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s-CL" sz="850" dirty="0"/>
          </a:p>
        </p:txBody>
      </p:sp>
      <p:sp>
        <p:nvSpPr>
          <p:cNvPr id="43" name="Shape 40"/>
          <p:cNvSpPr/>
          <p:nvPr/>
        </p:nvSpPr>
        <p:spPr>
          <a:xfrm>
            <a:off x="7269480" y="3163824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26680" y="3163824"/>
            <a:ext cx="0" cy="438912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726680" y="3602736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99832" y="33558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850" dirty="0"/>
          </a:p>
        </p:txBody>
      </p:sp>
      <p:sp>
        <p:nvSpPr>
          <p:cNvPr id="47" name="Shape 44"/>
          <p:cNvSpPr/>
          <p:nvPr/>
        </p:nvSpPr>
        <p:spPr>
          <a:xfrm>
            <a:off x="7269480" y="5193792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726680" y="4754880"/>
            <a:ext cx="0" cy="43891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726680" y="475488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99832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850" dirty="0"/>
          </a:p>
        </p:txBody>
      </p:sp>
      <p:sp>
        <p:nvSpPr>
          <p:cNvPr id="51" name="Shape 48"/>
          <p:cNvSpPr/>
          <p:nvPr/>
        </p:nvSpPr>
        <p:spPr>
          <a:xfrm>
            <a:off x="7269480" y="5193792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726680" y="5193792"/>
            <a:ext cx="0" cy="43891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726680" y="5632704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99832" y="538581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s-CL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48640" y="497890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SITUACIÓN VIGENTE (02 Y 03)</a:t>
            </a:r>
            <a:endParaRPr lang="es-CL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522579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Rama «No» del primer nodo: E3 o E4. Solo E1 convierte la barrera en protección.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CINCO FUERZAS COMPETITIVAS · PORTER (02)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FUERZA DOMINANTE: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hacer nada.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POR FUERZA · 0 A 5 · PONDERACIÓN</a:t>
            </a:r>
            <a:endParaRPr lang="es-CL" sz="900" dirty="0"/>
          </a:p>
        </p:txBody>
      </p:sp>
      <p:graphicFrame>
        <p:nvGraphicFramePr>
          <p:cNvPr id="6" name="Gráfico cinco fuerzas" descr=""/>
          <p:cNvGraphicFramePr/>
          <p:nvPr/>
        </p:nvGraphicFramePr>
        <p:xfrm>
          <a:off x="457200" y="2606040"/>
          <a:ext cx="7040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955280" y="2331720"/>
            <a:ext cx="3687775" cy="3840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9004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0041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900416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00416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542471" y="62270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697919" y="6071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183880" y="2514600"/>
            <a:ext cx="32305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PONDERADO</a:t>
            </a:r>
            <a:endParaRPr lang="es-CL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2651760"/>
            <a:ext cx="3230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9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3,49</a:t>
            </a:r>
            <a:endParaRPr lang="es-CL" sz="9200" dirty="0"/>
          </a:p>
        </p:txBody>
      </p:sp>
      <p:sp>
        <p:nvSpPr>
          <p:cNvPr id="18" name="Text 14"/>
          <p:cNvSpPr txBox="1"/>
          <p:nvPr/>
        </p:nvSpPr>
        <p:spPr>
          <a:xfrm>
            <a:off x="8183880" y="3813048"/>
            <a:ext cx="3230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= FUERZA MÁS INTENSA</a:t>
            </a:r>
            <a:endParaRPr lang="es-CL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8183880" y="4087368"/>
            <a:ext cx="3230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Industria moderadamente poco atractiva.</a:t>
            </a:r>
            <a:endParaRPr lang="es-CL" sz="1400" dirty="0"/>
          </a:p>
        </p:txBody>
      </p:sp>
      <p:sp>
        <p:nvSpPr>
          <p:cNvPr id="20" name="Shape 16"/>
          <p:cNvSpPr/>
          <p:nvPr/>
        </p:nvSpPr>
        <p:spPr>
          <a:xfrm>
            <a:off x="8183880" y="4526280"/>
            <a:ext cx="32305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183880" y="4663440"/>
            <a:ext cx="3230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Sustitutos y clientes suman 55% </a:t>
            </a:r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 operan por la misma causa: el cliente puede quedarse con su auto a costo $0. Las cuotas atacan la causa, la falta de liquidez.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INTERNO · FACTORES CRÍTICOS DE ÉXITO · FRANCÉS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FORTALEZA DE DISEÑO,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de ejecución.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FACTOR CRÍTICO · LÍNEA DEL 06</a:t>
            </a:r>
            <a:endParaRPr lang="es-CL" sz="850" dirty="0"/>
          </a:p>
        </p:txBody>
      </p:sp>
      <p:sp>
        <p:nvSpPr>
          <p:cNvPr id="6" name="Text 3"/>
          <p:cNvSpPr txBox="1"/>
          <p:nvPr/>
        </p:nvSpPr>
        <p:spPr>
          <a:xfrm>
            <a:off x="4617720" y="233172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HABILIDAD</a:t>
            </a:r>
            <a:endParaRPr lang="es-CL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33172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RIESGO</a:t>
            </a:r>
            <a:endParaRPr lang="es-CL" sz="8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331720"/>
            <a:ext cx="4007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ESTADO</a:t>
            </a:r>
            <a:endParaRPr lang="es-CL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8833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Gestión regulatoria e institucional</a:t>
            </a:r>
            <a:endParaRPr lang="es-CL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5351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INFRAESTRUCTURA · LIDERAZGO</a:t>
            </a:r>
            <a:endParaRPr lang="es-CL" sz="750" dirty="0"/>
          </a:p>
        </p:txBody>
      </p:sp>
      <p:sp>
        <p:nvSpPr>
          <p:cNvPr id="12" name="Shape 9"/>
          <p:cNvSpPr/>
          <p:nvPr/>
        </p:nvSpPr>
        <p:spPr>
          <a:xfrm>
            <a:off x="4617720" y="283006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283006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8348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4924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7840" y="262432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18" name="Shape 15"/>
          <p:cNvSpPr/>
          <p:nvPr/>
        </p:nvSpPr>
        <p:spPr>
          <a:xfrm>
            <a:off x="6126480" y="283006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83006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9224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7512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0" y="28300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86600" y="262432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2624328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interlocución formal con la autoridad</a:t>
            </a:r>
            <a:endParaRPr lang="es-CL" sz="1200" dirty="0"/>
          </a:p>
        </p:txBody>
      </p:sp>
      <p:sp>
        <p:nvSpPr>
          <p:cNvPr id="25" name="Shape 22"/>
          <p:cNvSpPr/>
          <p:nvPr/>
        </p:nvSpPr>
        <p:spPr>
          <a:xfrm>
            <a:off x="9859975" y="2779776"/>
            <a:ext cx="178308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9951415" y="277977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DE ENTRADA</a:t>
            </a:r>
            <a:endParaRPr lang="es-CL" sz="750" dirty="0"/>
          </a:p>
        </p:txBody>
      </p:sp>
      <p:sp>
        <p:nvSpPr>
          <p:cNvPr id="27" name="Shape 24"/>
          <p:cNvSpPr/>
          <p:nvPr/>
        </p:nvSpPr>
        <p:spPr>
          <a:xfrm>
            <a:off x="548640" y="31729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23697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Financiamiento en el punto de venta</a:t>
            </a:r>
            <a:endParaRPr lang="es-CL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350215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FINANZAS · COMUNIDAD FINANCIERA</a:t>
            </a:r>
            <a:endParaRPr lang="es-CL" sz="750" dirty="0"/>
          </a:p>
        </p:txBody>
      </p:sp>
      <p:sp>
        <p:nvSpPr>
          <p:cNvPr id="30" name="Shape 27"/>
          <p:cNvSpPr/>
          <p:nvPr/>
        </p:nvSpPr>
        <p:spPr>
          <a:xfrm>
            <a:off x="4617720" y="337870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00600" y="337870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83480" y="337870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66360" y="337870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49240" y="337870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77840" y="317296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36" name="Shape 33"/>
          <p:cNvSpPr/>
          <p:nvPr/>
        </p:nvSpPr>
        <p:spPr>
          <a:xfrm>
            <a:off x="6126480" y="337870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309360" y="337870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92240" y="337870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675120" y="337870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0" y="337870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086600" y="317296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7635240" y="3172968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convenio</a:t>
            </a:r>
            <a:endParaRPr lang="es-CL" sz="1200" dirty="0"/>
          </a:p>
        </p:txBody>
      </p:sp>
      <p:sp>
        <p:nvSpPr>
          <p:cNvPr id="43" name="Shape 40"/>
          <p:cNvSpPr/>
          <p:nvPr/>
        </p:nvSpPr>
        <p:spPr>
          <a:xfrm>
            <a:off x="9859975" y="3328416"/>
            <a:ext cx="178308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9951415" y="33284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DE ENTRADA</a:t>
            </a:r>
            <a:endParaRPr lang="es-CL" sz="750" dirty="0"/>
          </a:p>
        </p:txBody>
      </p:sp>
      <p:sp>
        <p:nvSpPr>
          <p:cNvPr id="45" name="Shape 42"/>
          <p:cNvSpPr/>
          <p:nvPr/>
        </p:nvSpPr>
        <p:spPr>
          <a:xfrm>
            <a:off x="548640" y="372160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37856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integración y calibración</a:t>
            </a:r>
            <a:endParaRPr lang="es-CL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48640" y="405079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FABRICACIÓN · INTEGRACIÓN</a:t>
            </a:r>
            <a:endParaRPr lang="es-CL" sz="750" dirty="0"/>
          </a:p>
        </p:txBody>
      </p:sp>
      <p:sp>
        <p:nvSpPr>
          <p:cNvPr id="48" name="Shape 45"/>
          <p:cNvSpPr/>
          <p:nvPr/>
        </p:nvSpPr>
        <p:spPr>
          <a:xfrm>
            <a:off x="4617720" y="392734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600" y="392734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983480" y="392734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66360" y="392734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349240" y="392734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37216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1800" dirty="0"/>
          </a:p>
        </p:txBody>
      </p:sp>
      <p:sp>
        <p:nvSpPr>
          <p:cNvPr id="54" name="Shape 51"/>
          <p:cNvSpPr/>
          <p:nvPr/>
        </p:nvSpPr>
        <p:spPr>
          <a:xfrm>
            <a:off x="6126480" y="392734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309360" y="392734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492240" y="392734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675120" y="392734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0" y="392734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086600" y="37216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60" name="Text 57"/>
          <p:cNvSpPr txBox="1"/>
          <p:nvPr/>
        </p:nvSpPr>
        <p:spPr>
          <a:xfrm>
            <a:off x="7635240" y="3721608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Diseñada; riesgo de incompatibilidad con la electrónica original</a:t>
            </a:r>
            <a:endParaRPr lang="es-CL" sz="1200" dirty="0"/>
          </a:p>
        </p:txBody>
      </p:sp>
      <p:sp>
        <p:nvSpPr>
          <p:cNvPr id="61" name="Shape 58"/>
          <p:cNvSpPr/>
          <p:nvPr/>
        </p:nvSpPr>
        <p:spPr>
          <a:xfrm>
            <a:off x="548640" y="42702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48640" y="433425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Talento certificado en alta tensión</a:t>
            </a:r>
            <a:endParaRPr lang="es-CL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459943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RR. HH. · SELECCIÓN Y COLOCACIÓN</a:t>
            </a:r>
            <a:endParaRPr lang="es-CL" sz="750" dirty="0"/>
          </a:p>
        </p:txBody>
      </p:sp>
      <p:sp>
        <p:nvSpPr>
          <p:cNvPr id="64" name="Shape 61"/>
          <p:cNvSpPr/>
          <p:nvPr/>
        </p:nvSpPr>
        <p:spPr>
          <a:xfrm>
            <a:off x="4617720" y="447598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800600" y="447598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98348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16636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34924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577840" y="427024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70" name="Shape 67"/>
          <p:cNvSpPr/>
          <p:nvPr/>
        </p:nvSpPr>
        <p:spPr>
          <a:xfrm>
            <a:off x="6126480" y="447598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6309360" y="447598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49224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667512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858000" y="447598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86600" y="427024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76" name="Text 73"/>
          <p:cNvSpPr txBox="1"/>
          <p:nvPr/>
        </p:nvSpPr>
        <p:spPr>
          <a:xfrm>
            <a:off x="7635240" y="4270248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 escaso; sin esquema de retención</a:t>
            </a:r>
            <a:endParaRPr lang="es-CL" sz="1200" dirty="0"/>
          </a:p>
        </p:txBody>
      </p:sp>
      <p:sp>
        <p:nvSpPr>
          <p:cNvPr id="77" name="Shape 74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48640" y="488289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Logística de insumos críticos</a:t>
            </a:r>
            <a:endParaRPr lang="es-CL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548640" y="514807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ADQUISICIONES · MATERIALES</a:t>
            </a:r>
            <a:endParaRPr lang="es-CL" sz="750" dirty="0"/>
          </a:p>
        </p:txBody>
      </p:sp>
      <p:sp>
        <p:nvSpPr>
          <p:cNvPr id="80" name="Shape 77"/>
          <p:cNvSpPr/>
          <p:nvPr/>
        </p:nvSpPr>
        <p:spPr>
          <a:xfrm>
            <a:off x="4617720" y="502462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800600" y="502462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4983480" y="502462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5166360" y="502462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5349240" y="502462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5577840" y="48188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86" name="Shape 83"/>
          <p:cNvSpPr/>
          <p:nvPr/>
        </p:nvSpPr>
        <p:spPr>
          <a:xfrm>
            <a:off x="6126480" y="502462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309360" y="5024628"/>
            <a:ext cx="137160" cy="137160"/>
          </a:xfrm>
          <a:prstGeom prst="rect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492240" y="502462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675120" y="502462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6858000" y="502462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7086600" y="48188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92" name="Text 89"/>
          <p:cNvSpPr txBox="1"/>
          <p:nvPr/>
        </p:nvSpPr>
        <p:spPr>
          <a:xfrm>
            <a:off x="7635240" y="4818888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Protocolo definido; Clase 9 con plazos largos</a:t>
            </a:r>
            <a:endParaRPr lang="es-CL" sz="1200" dirty="0"/>
          </a:p>
        </p:txBody>
      </p:sp>
      <p:sp>
        <p:nvSpPr>
          <p:cNvPr id="93" name="Shape 90"/>
          <p:cNvSpPr/>
          <p:nvPr/>
        </p:nvSpPr>
        <p:spPr>
          <a:xfrm>
            <a:off x="548640" y="53675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548640" y="543153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Estandarización y tiempo de taller</a:t>
            </a:r>
            <a:endParaRPr lang="es-CL" sz="1400" dirty="0"/>
          </a:p>
        </p:txBody>
      </p:sp>
      <p:sp>
        <p:nvSpPr>
          <p:cNvPr id="95" name="Text 92"/>
          <p:cNvSpPr txBox="1"/>
          <p:nvPr/>
        </p:nvSpPr>
        <p:spPr>
          <a:xfrm>
            <a:off x="548640" y="569671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FABRICACIÓN · TECNOLOGÍAS DE PROCESO</a:t>
            </a:r>
            <a:endParaRPr lang="es-CL" sz="750" dirty="0"/>
          </a:p>
        </p:txBody>
      </p:sp>
      <p:sp>
        <p:nvSpPr>
          <p:cNvPr id="96" name="Shape 93"/>
          <p:cNvSpPr/>
          <p:nvPr/>
        </p:nvSpPr>
        <p:spPr>
          <a:xfrm>
            <a:off x="4617720" y="557326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4800600" y="557326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4983480" y="557326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5166360" y="5573268"/>
            <a:ext cx="137160" cy="13716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5349240" y="55732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577840" y="536752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1800" dirty="0"/>
          </a:p>
        </p:txBody>
      </p:sp>
      <p:sp>
        <p:nvSpPr>
          <p:cNvPr id="102" name="Shape 99"/>
          <p:cNvSpPr/>
          <p:nvPr/>
        </p:nvSpPr>
        <p:spPr>
          <a:xfrm>
            <a:off x="6126480" y="557326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6309360" y="557326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492240" y="5573268"/>
            <a:ext cx="137160" cy="137160"/>
          </a:xfrm>
          <a:prstGeom prst="rect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6675120" y="55732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858000" y="5573268"/>
            <a:ext cx="137160" cy="137160"/>
          </a:xfrm>
          <a:prstGeom prst="rect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7086600" y="536752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108" name="Text 105"/>
          <p:cNvSpPr txBox="1"/>
          <p:nvPr/>
        </p:nvSpPr>
        <p:spPr>
          <a:xfrm>
            <a:off x="7635240" y="5367528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Cinco etapas definidas; no probadas</a:t>
            </a:r>
            <a:endParaRPr lang="es-CL" sz="1200" dirty="0"/>
          </a:p>
        </p:txBody>
      </p:sp>
      <p:sp>
        <p:nvSpPr>
          <p:cNvPr id="109" name="Shape 106"/>
          <p:cNvSpPr/>
          <p:nvPr/>
        </p:nvSpPr>
        <p:spPr>
          <a:xfrm>
            <a:off x="548640" y="59161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548640" y="598932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 1 (GRAN DEBILIDAD) A 5 (GRAN FORTALEZA) · EN RIESGO, UN NÚMERO BAJO ES RIESGO ALTO</a:t>
            </a:r>
            <a:endParaRPr lang="es-CL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ANÁLISIS INTERNO · 7S DE MCKINSEY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LAS S DURAS ESTÁN DISEÑADAS;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las blandas, débiles.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 flipV="1">
            <a:off x="3246120" y="2688336"/>
            <a:ext cx="0" cy="1536192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3246120" y="3456432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246120" y="4224528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46120" y="4224528"/>
            <a:ext cx="0" cy="1536192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915739" y="4224528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15739" y="3456432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2688336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6501" y="3456432"/>
            <a:ext cx="0" cy="1536192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3246120" y="4992624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915739" y="4992624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915739" y="3456432"/>
            <a:ext cx="0" cy="1536192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1915739" y="2688336"/>
            <a:ext cx="1330381" cy="768096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06624" y="2148840"/>
            <a:ext cx="1078992" cy="107899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06624" y="245973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Estrategia</a:t>
            </a:r>
            <a:endParaRPr lang="es-CL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706624" y="272491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 / 2</a:t>
            </a:r>
            <a:endParaRPr lang="es-CL" sz="1000" dirty="0"/>
          </a:p>
        </p:txBody>
      </p:sp>
      <p:sp>
        <p:nvSpPr>
          <p:cNvPr id="20" name="Shape 17"/>
          <p:cNvSpPr/>
          <p:nvPr/>
        </p:nvSpPr>
        <p:spPr>
          <a:xfrm>
            <a:off x="4037005" y="2916936"/>
            <a:ext cx="1078992" cy="1078992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37005" y="322783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Estructura</a:t>
            </a:r>
            <a:endParaRPr lang="es-CL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037005" y="3493008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23" name="Shape 20"/>
          <p:cNvSpPr/>
          <p:nvPr/>
        </p:nvSpPr>
        <p:spPr>
          <a:xfrm>
            <a:off x="4037005" y="4453128"/>
            <a:ext cx="1078992" cy="1078992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37005" y="476402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Sistemas</a:t>
            </a:r>
            <a:endParaRPr lang="es-CL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037005" y="502920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26" name="Shape 23"/>
          <p:cNvSpPr/>
          <p:nvPr/>
        </p:nvSpPr>
        <p:spPr>
          <a:xfrm>
            <a:off x="2706624" y="5221224"/>
            <a:ext cx="1078992" cy="1078992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06624" y="55321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Personal</a:t>
            </a:r>
            <a:endParaRPr lang="es-CL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706624" y="579729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29" name="Shape 26"/>
          <p:cNvSpPr/>
          <p:nvPr/>
        </p:nvSpPr>
        <p:spPr>
          <a:xfrm>
            <a:off x="1376243" y="4453128"/>
            <a:ext cx="1078992" cy="1078992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376243" y="476402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Capacidades</a:t>
            </a:r>
            <a:endParaRPr lang="es-CL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376243" y="502920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32" name="Shape 29"/>
          <p:cNvSpPr/>
          <p:nvPr/>
        </p:nvSpPr>
        <p:spPr>
          <a:xfrm>
            <a:off x="1376243" y="2916936"/>
            <a:ext cx="1078992" cy="1078992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376243" y="322783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Estilo</a:t>
            </a:r>
            <a:endParaRPr lang="es-CL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376243" y="3493008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35" name="Shape 32"/>
          <p:cNvSpPr/>
          <p:nvPr/>
        </p:nvSpPr>
        <p:spPr>
          <a:xfrm>
            <a:off x="2651760" y="3630168"/>
            <a:ext cx="1188720" cy="1188720"/>
          </a:xfrm>
          <a:prstGeom prst="ellipse">
            <a:avLst/>
          </a:prstGeom>
          <a:solidFill>
            <a:schemeClr val="accent6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51760" y="39959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Valores</a:t>
            </a:r>
            <a:endParaRPr lang="es-CL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651760" y="4261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26364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 DURAS</a:t>
            </a:r>
            <a:endParaRPr lang="es-CL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0180015" y="2331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HAB. / RIESGO</a:t>
            </a:r>
            <a:endParaRPr lang="es-CL" sz="750" dirty="0"/>
          </a:p>
        </p:txBody>
      </p:sp>
      <p:sp>
        <p:nvSpPr>
          <p:cNvPr id="40" name="Shape 37"/>
          <p:cNvSpPr/>
          <p:nvPr/>
        </p:nvSpPr>
        <p:spPr>
          <a:xfrm>
            <a:off x="6263640" y="2606040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263640" y="2606040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Estrategia</a:t>
            </a:r>
            <a:endParaRPr lang="es-CL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7589520" y="2606040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Plan explícito; sin respuesta a desenlaces adversos</a:t>
            </a:r>
            <a:endParaRPr lang="es-CL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1048695" y="2606040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 / 2</a:t>
            </a:r>
            <a:endParaRPr lang="es-CL" sz="1000" dirty="0"/>
          </a:p>
        </p:txBody>
      </p:sp>
      <p:sp>
        <p:nvSpPr>
          <p:cNvPr id="44" name="Shape 41"/>
          <p:cNvSpPr/>
          <p:nvPr/>
        </p:nvSpPr>
        <p:spPr>
          <a:xfrm>
            <a:off x="6263640" y="3035808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63640" y="3035808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Estructura</a:t>
            </a:r>
            <a:endParaRPr lang="es-CL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589520" y="3035808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SpA liviana; sin roles regulatorios ni organigrama</a:t>
            </a:r>
            <a:endParaRPr lang="es-CL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1048695" y="3035808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48" name="Shape 45"/>
          <p:cNvSpPr/>
          <p:nvPr/>
        </p:nvSpPr>
        <p:spPr>
          <a:xfrm>
            <a:off x="6263640" y="3465576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63640" y="3465576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Sistemas</a:t>
            </a:r>
            <a:endParaRPr lang="es-CL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7589520" y="3465576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CMI y proceso de taller diseñados, sin línea base</a:t>
            </a:r>
            <a:endParaRPr lang="es-CL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3465576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52" name="Shape 49"/>
          <p:cNvSpPr/>
          <p:nvPr/>
        </p:nvSpPr>
        <p:spPr>
          <a:xfrm>
            <a:off x="6263640" y="3895344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263640" y="40782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 BLANDAS</a:t>
            </a:r>
            <a:endParaRPr lang="es-CL" sz="850" dirty="0"/>
          </a:p>
        </p:txBody>
      </p:sp>
      <p:sp>
        <p:nvSpPr>
          <p:cNvPr id="54" name="Text 51"/>
          <p:cNvSpPr txBox="1"/>
          <p:nvPr/>
        </p:nvSpPr>
        <p:spPr>
          <a:xfrm>
            <a:off x="10180015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s-CL" sz="750" dirty="0"/>
          </a:p>
        </p:txBody>
      </p:sp>
      <p:sp>
        <p:nvSpPr>
          <p:cNvPr id="55" name="Shape 52"/>
          <p:cNvSpPr/>
          <p:nvPr/>
        </p:nvSpPr>
        <p:spPr>
          <a:xfrm>
            <a:off x="6263640" y="4352544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263640" y="4352544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Estilo</a:t>
            </a:r>
            <a:endParaRPr lang="es-CL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7589520" y="4352544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Fundadores sin trayectoria en el rubro</a:t>
            </a:r>
            <a:endParaRPr lang="es-CL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1048695" y="4352544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59" name="Shape 56"/>
          <p:cNvSpPr/>
          <p:nvPr/>
        </p:nvSpPr>
        <p:spPr>
          <a:xfrm>
            <a:off x="6263640" y="4782312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263640" y="4782312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Capacidades</a:t>
            </a:r>
            <a:endParaRPr lang="es-CL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7589520" y="4782312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escaso: mecánica y alta tensión SEC</a:t>
            </a:r>
            <a:endParaRPr lang="es-CL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1048695" y="4782312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63" name="Shape 60"/>
          <p:cNvSpPr/>
          <p:nvPr/>
        </p:nvSpPr>
        <p:spPr>
          <a:xfrm>
            <a:off x="6263640" y="5212080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263640" y="5212080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Personal</a:t>
            </a:r>
            <a:endParaRPr lang="es-CL" sz="1300" dirty="0"/>
          </a:p>
        </p:txBody>
      </p:sp>
      <p:sp>
        <p:nvSpPr>
          <p:cNvPr id="65" name="Text 62"/>
          <p:cNvSpPr txBox="1"/>
          <p:nvPr/>
        </p:nvSpPr>
        <p:spPr>
          <a:xfrm>
            <a:off x="7589520" y="5212080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incentivos para retener técnicos</a:t>
            </a:r>
            <a:endParaRPr lang="es-CL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1048695" y="5212080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2</a:t>
            </a:r>
            <a:endParaRPr lang="es-CL" sz="1000" dirty="0"/>
          </a:p>
        </p:txBody>
      </p:sp>
      <p:sp>
        <p:nvSpPr>
          <p:cNvPr id="67" name="Shape 64"/>
          <p:cNvSpPr/>
          <p:nvPr/>
        </p:nvSpPr>
        <p:spPr>
          <a:xfrm>
            <a:off x="6263640" y="5641848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63640" y="5641848"/>
            <a:ext cx="1325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Valores</a:t>
            </a:r>
            <a:endParaRPr lang="es-CL" sz="1300" dirty="0"/>
          </a:p>
        </p:txBody>
      </p:sp>
      <p:sp>
        <p:nvSpPr>
          <p:cNvPr id="69" name="Text 66"/>
          <p:cNvSpPr txBox="1"/>
          <p:nvPr/>
        </p:nvSpPr>
        <p:spPr>
          <a:xfrm>
            <a:off x="7589520" y="5641848"/>
            <a:ext cx="34591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Misión, visión y 8 valores; cultura en formación</a:t>
            </a:r>
            <a:endParaRPr lang="es-CL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1048695" y="5641848"/>
            <a:ext cx="594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3</a:t>
            </a:r>
            <a:endParaRPr lang="es-CL" sz="1000" dirty="0"/>
          </a:p>
        </p:txBody>
      </p:sp>
      <p:sp>
        <p:nvSpPr>
          <p:cNvPr id="71" name="Shape 68"/>
          <p:cNvSpPr/>
          <p:nvPr/>
        </p:nvSpPr>
        <p:spPr>
          <a:xfrm>
            <a:off x="6263640" y="6071616"/>
            <a:ext cx="5379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Y COMPETENCIAS CENTRALES · HITT (05)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UNA SOLA COMPETENCIA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central.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1691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04872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6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278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SOSTENIBLES</a:t>
            </a:r>
            <a:endParaRPr lang="es-CL" sz="850" dirty="0"/>
          </a:p>
        </p:txBody>
      </p:sp>
      <p:sp>
        <p:nvSpPr>
          <p:cNvPr id="8" name="Shape 5"/>
          <p:cNvSpPr/>
          <p:nvPr/>
        </p:nvSpPr>
        <p:spPr>
          <a:xfrm>
            <a:off x="2423160" y="2331720"/>
            <a:ext cx="1691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23160" y="2404872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</a:t>
            </a:r>
            <a:endParaRPr lang="es-CL" sz="64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32278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TEMPORALES</a:t>
            </a:r>
            <a:endParaRPr lang="es-CL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538728"/>
            <a:ext cx="1691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6118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</a:t>
            </a:r>
            <a:endParaRPr lang="es-CL" sz="6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4348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IGUALDAD</a:t>
            </a:r>
            <a:endParaRPr lang="es-CL" sz="850" dirty="0"/>
          </a:p>
        </p:txBody>
      </p:sp>
      <p:sp>
        <p:nvSpPr>
          <p:cNvPr id="14" name="Shape 11"/>
          <p:cNvSpPr/>
          <p:nvPr/>
        </p:nvSpPr>
        <p:spPr>
          <a:xfrm>
            <a:off x="2423160" y="3538728"/>
            <a:ext cx="16916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23160" y="36118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640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44348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DESVENTAJA</a:t>
            </a:r>
            <a:endParaRPr lang="es-CL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920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Conocimiento de calibración por marca y modelo. </a:t>
            </a:r>
            <a:pPr indent="0" marL="0">
              <a:buNone/>
            </a:pPr>
            <a:r>
              <a:rPr lang="es-CL" altLang="en-US" sz="13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 solo si se protege como secreto empresarial.</a:t>
            </a:r>
            <a:endParaRPr lang="es-CL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23317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 O CAPACIDAD</a:t>
            </a:r>
            <a:endParaRPr lang="es-CL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8762695" y="23317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s-CL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9091879" y="23317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s-CL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9421063" y="23317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s-CL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9750247" y="23317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s-CL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225735" y="233172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CONSECUENCIA</a:t>
            </a:r>
            <a:endParaRPr lang="es-CL" sz="850" dirty="0"/>
          </a:p>
        </p:txBody>
      </p:sp>
      <p:sp>
        <p:nvSpPr>
          <p:cNvPr id="24" name="Shape 21"/>
          <p:cNvSpPr/>
          <p:nvPr/>
        </p:nvSpPr>
        <p:spPr>
          <a:xfrm>
            <a:off x="4617720" y="2606040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17720" y="2606040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Biblioteca de calibraciones</a:t>
            </a:r>
            <a:endParaRPr lang="es-CL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738567" y="2606040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</a:t>
            </a:r>
            <a:endParaRPr lang="es-CL" sz="700" dirty="0"/>
          </a:p>
        </p:txBody>
      </p:sp>
      <p:sp>
        <p:nvSpPr>
          <p:cNvPr id="27" name="Shape 24"/>
          <p:cNvSpPr/>
          <p:nvPr/>
        </p:nvSpPr>
        <p:spPr>
          <a:xfrm>
            <a:off x="8835847" y="2738628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65031" y="2738628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94215" y="2738628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823399" y="2738628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225735" y="260604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SOSTENIBLE</a:t>
            </a:r>
            <a:endParaRPr lang="es-CL" sz="850" dirty="0"/>
          </a:p>
        </p:txBody>
      </p:sp>
      <p:sp>
        <p:nvSpPr>
          <p:cNvPr id="32" name="Shape 29"/>
          <p:cNvSpPr/>
          <p:nvPr/>
        </p:nvSpPr>
        <p:spPr>
          <a:xfrm>
            <a:off x="4617720" y="2999232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617720" y="2999232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integración y calibración</a:t>
            </a:r>
            <a:endParaRPr lang="es-CL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7738567" y="2999232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</a:t>
            </a:r>
            <a:endParaRPr lang="es-CL" sz="700" dirty="0"/>
          </a:p>
        </p:txBody>
      </p:sp>
      <p:sp>
        <p:nvSpPr>
          <p:cNvPr id="35" name="Shape 32"/>
          <p:cNvSpPr/>
          <p:nvPr/>
        </p:nvSpPr>
        <p:spPr>
          <a:xfrm>
            <a:off x="8835847" y="3131820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65031" y="3131820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494215" y="3131820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823399" y="3131820"/>
            <a:ext cx="128016" cy="12801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25735" y="299923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SOSTENIBLE</a:t>
            </a:r>
            <a:endParaRPr lang="es-CL" sz="850" dirty="0"/>
          </a:p>
        </p:txBody>
      </p:sp>
      <p:sp>
        <p:nvSpPr>
          <p:cNvPr id="40" name="Shape 37"/>
          <p:cNvSpPr/>
          <p:nvPr/>
        </p:nvSpPr>
        <p:spPr>
          <a:xfrm>
            <a:off x="4617720" y="3392424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617720" y="3392424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interna en proceso y calibración</a:t>
            </a:r>
            <a:endParaRPr lang="es-CL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7738567" y="3392424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</a:t>
            </a:r>
            <a:endParaRPr lang="es-CL" sz="700" dirty="0"/>
          </a:p>
        </p:txBody>
      </p:sp>
      <p:sp>
        <p:nvSpPr>
          <p:cNvPr id="43" name="Shape 40"/>
          <p:cNvSpPr/>
          <p:nvPr/>
        </p:nvSpPr>
        <p:spPr>
          <a:xfrm>
            <a:off x="8835847" y="3525012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165031" y="3525012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494215" y="3525012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823399" y="3525012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225735" y="339242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48" name="Shape 45"/>
          <p:cNvSpPr/>
          <p:nvPr/>
        </p:nvSpPr>
        <p:spPr>
          <a:xfrm>
            <a:off x="4617720" y="3785616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617720" y="3785616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por par modelo-kit</a:t>
            </a:r>
            <a:endParaRPr lang="es-CL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7738567" y="3785616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</a:t>
            </a:r>
            <a:endParaRPr lang="es-CL" sz="700" dirty="0"/>
          </a:p>
        </p:txBody>
      </p:sp>
      <p:sp>
        <p:nvSpPr>
          <p:cNvPr id="51" name="Shape 48"/>
          <p:cNvSpPr/>
          <p:nvPr/>
        </p:nvSpPr>
        <p:spPr>
          <a:xfrm>
            <a:off x="8835847" y="3918204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165031" y="3918204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494215" y="3918204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823399" y="3918204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225735" y="378561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56" name="Shape 53"/>
          <p:cNvSpPr/>
          <p:nvPr/>
        </p:nvSpPr>
        <p:spPr>
          <a:xfrm>
            <a:off x="4617720" y="4178808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617720" y="4178808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Autorización del taller</a:t>
            </a:r>
            <a:endParaRPr lang="es-CL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7738567" y="4178808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</a:t>
            </a:r>
            <a:endParaRPr lang="es-CL" sz="700" dirty="0"/>
          </a:p>
        </p:txBody>
      </p:sp>
      <p:sp>
        <p:nvSpPr>
          <p:cNvPr id="59" name="Shape 56"/>
          <p:cNvSpPr/>
          <p:nvPr/>
        </p:nvSpPr>
        <p:spPr>
          <a:xfrm>
            <a:off x="8835847" y="4311396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165031" y="4311396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494215" y="4311396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823399" y="4311396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225735" y="417880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64" name="Shape 61"/>
          <p:cNvSpPr/>
          <p:nvPr/>
        </p:nvSpPr>
        <p:spPr>
          <a:xfrm>
            <a:off x="4617720" y="4572000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617720" y="4572000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con licencia SEC</a:t>
            </a:r>
            <a:endParaRPr lang="es-CL" sz="1250" dirty="0"/>
          </a:p>
        </p:txBody>
      </p:sp>
      <p:sp>
        <p:nvSpPr>
          <p:cNvPr id="66" name="Text 63"/>
          <p:cNvSpPr txBox="1"/>
          <p:nvPr/>
        </p:nvSpPr>
        <p:spPr>
          <a:xfrm>
            <a:off x="7738567" y="4572000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</a:t>
            </a:r>
            <a:endParaRPr lang="es-CL" sz="700" dirty="0"/>
          </a:p>
        </p:txBody>
      </p:sp>
      <p:sp>
        <p:nvSpPr>
          <p:cNvPr id="67" name="Shape 64"/>
          <p:cNvSpPr/>
          <p:nvPr/>
        </p:nvSpPr>
        <p:spPr>
          <a:xfrm>
            <a:off x="8835847" y="4704588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165031" y="4704588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494215" y="4704588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823399" y="4704588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10225735" y="457200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72" name="Shape 69"/>
          <p:cNvSpPr/>
          <p:nvPr/>
        </p:nvSpPr>
        <p:spPr>
          <a:xfrm>
            <a:off x="4617720" y="4965192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617720" y="4965192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Gestión regulatoria e institucional</a:t>
            </a:r>
            <a:endParaRPr lang="es-CL" sz="1250" dirty="0"/>
          </a:p>
        </p:txBody>
      </p:sp>
      <p:sp>
        <p:nvSpPr>
          <p:cNvPr id="74" name="Text 71"/>
          <p:cNvSpPr txBox="1"/>
          <p:nvPr/>
        </p:nvSpPr>
        <p:spPr>
          <a:xfrm>
            <a:off x="7738567" y="4965192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</a:t>
            </a:r>
            <a:endParaRPr lang="es-CL" sz="700" dirty="0"/>
          </a:p>
        </p:txBody>
      </p:sp>
      <p:sp>
        <p:nvSpPr>
          <p:cNvPr id="75" name="Shape 72"/>
          <p:cNvSpPr/>
          <p:nvPr/>
        </p:nvSpPr>
        <p:spPr>
          <a:xfrm>
            <a:off x="8835847" y="5097780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165031" y="5097780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9494215" y="5097780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9823399" y="5097780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225735" y="496519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80" name="Shape 77"/>
          <p:cNvSpPr/>
          <p:nvPr/>
        </p:nvSpPr>
        <p:spPr>
          <a:xfrm>
            <a:off x="4617720" y="5358384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4617720" y="5358384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Diagnóstico previo y posventa</a:t>
            </a:r>
            <a:endParaRPr lang="es-CL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7738567" y="5358384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</a:t>
            </a:r>
            <a:endParaRPr lang="es-CL" sz="700" dirty="0"/>
          </a:p>
        </p:txBody>
      </p:sp>
      <p:sp>
        <p:nvSpPr>
          <p:cNvPr id="83" name="Shape 80"/>
          <p:cNvSpPr/>
          <p:nvPr/>
        </p:nvSpPr>
        <p:spPr>
          <a:xfrm>
            <a:off x="8835847" y="5490972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165031" y="5490972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9494215" y="5490972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9823399" y="5490972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10225735" y="535838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TEMPORAL</a:t>
            </a:r>
            <a:endParaRPr lang="es-CL" sz="850" dirty="0"/>
          </a:p>
        </p:txBody>
      </p:sp>
      <p:sp>
        <p:nvSpPr>
          <p:cNvPr id="88" name="Shape 85"/>
          <p:cNvSpPr/>
          <p:nvPr/>
        </p:nvSpPr>
        <p:spPr>
          <a:xfrm>
            <a:off x="4617720" y="5751576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617720" y="5751576"/>
            <a:ext cx="309341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Taller, kit, convenio financiero y 4 más</a:t>
            </a:r>
            <a:endParaRPr lang="es-CL" sz="1250" dirty="0"/>
          </a:p>
        </p:txBody>
      </p:sp>
      <p:sp>
        <p:nvSpPr>
          <p:cNvPr id="90" name="Text 87"/>
          <p:cNvSpPr txBox="1"/>
          <p:nvPr/>
        </p:nvSpPr>
        <p:spPr>
          <a:xfrm>
            <a:off x="7738567" y="5751576"/>
            <a:ext cx="914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7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 ÍTEMS</a:t>
            </a:r>
            <a:endParaRPr lang="es-CL" sz="700" dirty="0"/>
          </a:p>
        </p:txBody>
      </p:sp>
      <p:sp>
        <p:nvSpPr>
          <p:cNvPr id="91" name="Shape 88"/>
          <p:cNvSpPr/>
          <p:nvPr/>
        </p:nvSpPr>
        <p:spPr>
          <a:xfrm>
            <a:off x="8835847" y="5884164"/>
            <a:ext cx="128016" cy="128016"/>
          </a:xfrm>
          <a:prstGeom prst="rect">
            <a:avLst/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9165031" y="5884164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9494215" y="5884164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9823399" y="5884164"/>
            <a:ext cx="128016" cy="12801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10225735" y="575157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IGUALDAD</a:t>
            </a:r>
            <a:endParaRPr lang="es-CL" sz="850" dirty="0"/>
          </a:p>
        </p:txBody>
      </p:sp>
      <p:sp>
        <p:nvSpPr>
          <p:cNvPr id="96" name="Shape 93"/>
          <p:cNvSpPr/>
          <p:nvPr/>
        </p:nvSpPr>
        <p:spPr>
          <a:xfrm>
            <a:off x="4617720" y="6144768"/>
            <a:ext cx="70253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617720" y="6217920"/>
            <a:ext cx="7025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 VALIOSO · R RARO · C CARO DE IMITAR · I ÚNICO E INIMITABLE</a:t>
            </a:r>
            <a:endParaRPr lang="es-CL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CADENA DE VALOR · PORTER (06)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COSTO Y LA EXCLUSIVIDAD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coinciden.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7040880" cy="457200"/>
          </a:xfrm>
          <a:prstGeom prst="rect">
            <a:avLst/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INFRAESTRUCTURA DE LA EMPRESA</a:t>
            </a:r>
            <a:endParaRPr lang="es-CL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DE ENTRADA</a:t>
            </a:r>
            <a:endParaRPr lang="es-CL" sz="800" dirty="0"/>
          </a:p>
        </p:txBody>
      </p:sp>
      <p:sp>
        <p:nvSpPr>
          <p:cNvPr id="8" name="Shape 5"/>
          <p:cNvSpPr/>
          <p:nvPr/>
        </p:nvSpPr>
        <p:spPr>
          <a:xfrm>
            <a:off x="548640" y="2862072"/>
            <a:ext cx="7040880" cy="457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8620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GESTIÓN DE RECURSOS HUMANOS</a:t>
            </a:r>
            <a:endParaRPr lang="es-CL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3392424"/>
            <a:ext cx="7040880" cy="457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39242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DESARROLLO TECNOLÓGICO</a:t>
            </a:r>
            <a:endParaRPr lang="es-CL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33924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ÚNICA FUENTE DE EXCLUSIVIDAD</a:t>
            </a:r>
            <a:endParaRPr lang="es-CL" sz="800" dirty="0"/>
          </a:p>
        </p:txBody>
      </p:sp>
      <p:sp>
        <p:nvSpPr>
          <p:cNvPr id="13" name="Shape 10"/>
          <p:cNvSpPr/>
          <p:nvPr/>
        </p:nvSpPr>
        <p:spPr>
          <a:xfrm>
            <a:off x="548640" y="3922776"/>
            <a:ext cx="7040880" cy="457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9227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ADQUISICIONES</a:t>
            </a:r>
            <a:endParaRPr lang="es-CL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4507992"/>
            <a:ext cx="1349654" cy="1481328"/>
          </a:xfrm>
          <a:prstGeom prst="rect">
            <a:avLst/>
          </a:prstGeom>
          <a:solidFill>
            <a:schemeClr val="bg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4636008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Logística de entrada</a:t>
            </a:r>
            <a:endParaRPr lang="es-CL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5221224"/>
            <a:ext cx="1130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DIRECTRIZ DE COSTO</a:t>
            </a:r>
            <a:endParaRPr lang="es-CL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559552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importado, Clase 9, dólar</a:t>
            </a:r>
            <a:endParaRPr lang="es-CL" sz="1050" dirty="0"/>
          </a:p>
        </p:txBody>
      </p:sp>
      <p:sp>
        <p:nvSpPr>
          <p:cNvPr id="19" name="Shape 16"/>
          <p:cNvSpPr/>
          <p:nvPr/>
        </p:nvSpPr>
        <p:spPr>
          <a:xfrm>
            <a:off x="1971446" y="4507992"/>
            <a:ext cx="1349654" cy="1481328"/>
          </a:xfrm>
          <a:prstGeom prst="rect">
            <a:avLst/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81174" y="4636008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Operaciones</a:t>
            </a:r>
            <a:endParaRPr lang="es-CL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081174" y="5221224"/>
            <a:ext cx="1130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CUELLO DE BOTELLA</a:t>
            </a:r>
            <a:endParaRPr lang="es-CL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2081174" y="5559552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Aquí se entrega la exclusividad</a:t>
            </a:r>
            <a:endParaRPr lang="es-CL" sz="1050" dirty="0"/>
          </a:p>
        </p:txBody>
      </p:sp>
      <p:sp>
        <p:nvSpPr>
          <p:cNvPr id="23" name="Shape 20"/>
          <p:cNvSpPr/>
          <p:nvPr/>
        </p:nvSpPr>
        <p:spPr>
          <a:xfrm>
            <a:off x="3394253" y="4507992"/>
            <a:ext cx="1349654" cy="14813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03981" y="4636008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Logística de salida</a:t>
            </a:r>
            <a:endParaRPr lang="es-CL" sz="1250" dirty="0"/>
          </a:p>
        </p:txBody>
      </p:sp>
      <p:sp>
        <p:nvSpPr>
          <p:cNvPr id="25" name="Shape 22"/>
          <p:cNvSpPr/>
          <p:nvPr/>
        </p:nvSpPr>
        <p:spPr>
          <a:xfrm>
            <a:off x="4817059" y="4507992"/>
            <a:ext cx="1349654" cy="14813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926787" y="4636008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y ventas</a:t>
            </a:r>
            <a:endParaRPr lang="es-CL" sz="1250" dirty="0"/>
          </a:p>
        </p:txBody>
      </p:sp>
      <p:sp>
        <p:nvSpPr>
          <p:cNvPr id="27" name="Shape 24"/>
          <p:cNvSpPr/>
          <p:nvPr/>
        </p:nvSpPr>
        <p:spPr>
          <a:xfrm>
            <a:off x="6239866" y="4507992"/>
            <a:ext cx="1349654" cy="14813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49594" y="4636008"/>
            <a:ext cx="11301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Servicio posventa</a:t>
            </a:r>
            <a:endParaRPr lang="es-CL" sz="1250" dirty="0"/>
          </a:p>
        </p:txBody>
      </p:sp>
      <p:sp>
        <p:nvSpPr>
          <p:cNvPr id="29" name="Shape 26"/>
          <p:cNvSpPr/>
          <p:nvPr/>
        </p:nvSpPr>
        <p:spPr>
          <a:xfrm>
            <a:off x="7662672" y="2331720"/>
            <a:ext cx="429768" cy="365760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 rot="5400000">
            <a:off x="6048756" y="3945636"/>
            <a:ext cx="3657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00" spc="3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</a:t>
            </a:r>
            <a:endParaRPr lang="es-CL" sz="900" dirty="0"/>
          </a:p>
        </p:txBody>
      </p:sp>
      <p:sp>
        <p:nvSpPr>
          <p:cNvPr id="31" name="Shape 28"/>
          <p:cNvSpPr/>
          <p:nvPr/>
        </p:nvSpPr>
        <p:spPr>
          <a:xfrm>
            <a:off x="8503920" y="2331720"/>
            <a:ext cx="31391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03920" y="2478024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59368" y="2404872"/>
            <a:ext cx="2956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INFRAESTRUCTURA</a:t>
            </a:r>
            <a:endParaRPr lang="es-CL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8503920" y="2679192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autorización no opera ningún eslabón.</a:t>
            </a:r>
            <a:endParaRPr lang="es-CL" sz="1250" dirty="0"/>
          </a:p>
        </p:txBody>
      </p:sp>
      <p:sp>
        <p:nvSpPr>
          <p:cNvPr id="35" name="Shape 32"/>
          <p:cNvSpPr/>
          <p:nvPr/>
        </p:nvSpPr>
        <p:spPr>
          <a:xfrm>
            <a:off x="8503920" y="3291840"/>
            <a:ext cx="31391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03920" y="343814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659368" y="3364992"/>
            <a:ext cx="2956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DESARROLLO TECNOLÓGICO</a:t>
            </a:r>
            <a:endParaRPr lang="es-CL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8503920" y="3639312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calibración es la única fuente de exclusividad.</a:t>
            </a:r>
            <a:endParaRPr lang="es-CL" sz="1250" dirty="0"/>
          </a:p>
        </p:txBody>
      </p:sp>
      <p:sp>
        <p:nvSpPr>
          <p:cNvPr id="39" name="Shape 36"/>
          <p:cNvSpPr/>
          <p:nvPr/>
        </p:nvSpPr>
        <p:spPr>
          <a:xfrm>
            <a:off x="8503920" y="4251960"/>
            <a:ext cx="31391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503920" y="4398264"/>
            <a:ext cx="68580" cy="685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659368" y="4325112"/>
            <a:ext cx="2956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</a:t>
            </a:r>
            <a:endParaRPr lang="es-CL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503920" y="4599432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Convergen homologación por modelo, internación y escasez de técnicos (06: 2/2).</a:t>
            </a:r>
            <a:endParaRPr lang="es-CL" sz="1250" dirty="0"/>
          </a:p>
        </p:txBody>
      </p:sp>
      <p:sp>
        <p:nvSpPr>
          <p:cNvPr id="43" name="Shape 40"/>
          <p:cNvSpPr/>
          <p:nvPr/>
        </p:nvSpPr>
        <p:spPr>
          <a:xfrm>
            <a:off x="8503920" y="5212080"/>
            <a:ext cx="31391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503920" y="535838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659368" y="5285232"/>
            <a:ext cx="2956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EXTERNALIZABLE</a:t>
            </a:r>
            <a:endParaRPr lang="es-CL" sz="850" dirty="0"/>
          </a:p>
        </p:txBody>
      </p:sp>
      <p:sp>
        <p:nvSpPr>
          <p:cNvPr id="46" name="Text 43"/>
          <p:cNvSpPr txBox="1"/>
          <p:nvPr/>
        </p:nvSpPr>
        <p:spPr>
          <a:xfrm>
            <a:off x="8503920" y="5559552"/>
            <a:ext cx="3139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Contabilidad, aduana, transporte peligroso y remuneraciones.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CAPACIDADES FRENTE A COMPETIDORES (06)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BRECHA CON EL LÍDER: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−1,29 y −1,43.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POR COMPETIDOR · 1 A 5</a:t>
            </a:r>
            <a:endParaRPr lang="es-CL" sz="900" dirty="0"/>
          </a:p>
        </p:txBody>
      </p:sp>
      <p:graphicFrame>
        <p:nvGraphicFramePr>
          <p:cNvPr id="6" name="Gráfico ranking de competidores" descr=""/>
          <p:cNvGraphicFramePr/>
          <p:nvPr/>
        </p:nvGraphicFramePr>
        <p:xfrm>
          <a:off x="457200" y="2606040"/>
          <a:ext cx="73152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9436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REFERENCIA: OPERAN FUERA DEL SEGMENTO LIVIANO</a:t>
            </a:r>
            <a:endParaRPr lang="es-CL" sz="750" dirty="0"/>
          </a:p>
        </p:txBody>
      </p:sp>
      <p:sp>
        <p:nvSpPr>
          <p:cNvPr id="8" name="Text 4"/>
          <p:cNvSpPr txBox="1"/>
          <p:nvPr/>
        </p:nvSpPr>
        <p:spPr>
          <a:xfrm>
            <a:off x="8183880" y="2331720"/>
            <a:ext cx="3459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QUÉ TODO SALE DEBILIDAD</a:t>
            </a:r>
            <a:endParaRPr lang="es-CL" sz="900" dirty="0"/>
          </a:p>
        </p:txBody>
      </p:sp>
      <p:sp>
        <p:nvSpPr>
          <p:cNvPr id="9" name="Shape 5"/>
          <p:cNvSpPr/>
          <p:nvPr/>
        </p:nvSpPr>
        <p:spPr>
          <a:xfrm>
            <a:off x="8183880" y="2651760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83880" y="276148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734056"/>
            <a:ext cx="3047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compara una empresa preoperativa con actores en operación.</a:t>
            </a:r>
            <a:endParaRPr lang="es-CL" sz="1300" dirty="0"/>
          </a:p>
        </p:txBody>
      </p:sp>
      <p:sp>
        <p:nvSpPr>
          <p:cNvPr id="12" name="Shape 8"/>
          <p:cNvSpPr/>
          <p:nvPr/>
        </p:nvSpPr>
        <p:spPr>
          <a:xfrm>
            <a:off x="8183880" y="3429000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83880" y="353872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511296"/>
            <a:ext cx="3047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líder se arma con el máximo de cada área, no es un competidor real.</a:t>
            </a:r>
            <a:endParaRPr lang="es-CL" sz="1300" dirty="0"/>
          </a:p>
        </p:txBody>
      </p:sp>
      <p:sp>
        <p:nvSpPr>
          <p:cNvPr id="15" name="Shape 11"/>
          <p:cNvSpPr/>
          <p:nvPr/>
        </p:nvSpPr>
        <p:spPr>
          <a:xfrm>
            <a:off x="8183880" y="4297680"/>
            <a:ext cx="3459175" cy="1783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29016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29016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542471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697919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129016" y="6135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129016" y="59801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542471" y="6135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697919" y="59801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5048" y="4462272"/>
            <a:ext cx="3056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INSUMO PARA EL FODA</a:t>
            </a:r>
            <a:endParaRPr lang="es-CL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8385048" y="4754880"/>
            <a:ext cx="3056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fortalezas puntuales </a:t>
            </a:r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(11 líneas con puntaje 4), no el promedio: tecnología, procesos, mercado, planificación y gestión del riesgo.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FODA POR PERSPECTIVAS DEL CMI · KAPLAN Y NORTON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FORTALEZAS EN PROCESOS;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amenazas en clientes.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231136" y="235915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386584" y="2286000"/>
            <a:ext cx="2135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FORTALEZAS</a:t>
            </a:r>
            <a:endParaRPr lang="es-CL" sz="850" dirty="0"/>
          </a:p>
        </p:txBody>
      </p:sp>
      <p:sp>
        <p:nvSpPr>
          <p:cNvPr id="7" name="Shape 4"/>
          <p:cNvSpPr/>
          <p:nvPr/>
        </p:nvSpPr>
        <p:spPr>
          <a:xfrm>
            <a:off x="4604690" y="2359152"/>
            <a:ext cx="82296" cy="82296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60138" y="2286000"/>
            <a:ext cx="2135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DEBILIDADES</a:t>
            </a:r>
            <a:endParaRPr lang="es-CL" sz="850" dirty="0"/>
          </a:p>
        </p:txBody>
      </p:sp>
      <p:sp>
        <p:nvSpPr>
          <p:cNvPr id="9" name="Shape 6"/>
          <p:cNvSpPr/>
          <p:nvPr/>
        </p:nvSpPr>
        <p:spPr>
          <a:xfrm>
            <a:off x="6978244" y="2359152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3692" y="2286000"/>
            <a:ext cx="2135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OPORTUNIDADES</a:t>
            </a:r>
            <a:endParaRPr lang="es-CL" sz="850" dirty="0"/>
          </a:p>
        </p:txBody>
      </p:sp>
      <p:sp>
        <p:nvSpPr>
          <p:cNvPr id="11" name="Shape 8"/>
          <p:cNvSpPr/>
          <p:nvPr/>
        </p:nvSpPr>
        <p:spPr>
          <a:xfrm>
            <a:off x="9351797" y="2359152"/>
            <a:ext cx="82296" cy="82296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7245" y="2286000"/>
            <a:ext cx="2135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AMENAZAS</a:t>
            </a:r>
            <a:endParaRPr lang="es-CL" sz="850" dirty="0"/>
          </a:p>
        </p:txBody>
      </p:sp>
      <p:sp>
        <p:nvSpPr>
          <p:cNvPr id="13" name="Shape 10"/>
          <p:cNvSpPr/>
          <p:nvPr/>
        </p:nvSpPr>
        <p:spPr>
          <a:xfrm>
            <a:off x="548640" y="2560320"/>
            <a:ext cx="1600200" cy="82296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56032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Financiera</a:t>
            </a:r>
            <a:endParaRPr lang="es-CL" sz="1300" dirty="0"/>
          </a:p>
        </p:txBody>
      </p:sp>
      <p:sp>
        <p:nvSpPr>
          <p:cNvPr id="15" name="Shape 12"/>
          <p:cNvSpPr/>
          <p:nvPr/>
        </p:nvSpPr>
        <p:spPr>
          <a:xfrm>
            <a:off x="2231136" y="2560320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350008" y="2633472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Riesgos identificados y protocolo de contención (06: 4); ingresos recurrentes</a:t>
            </a:r>
            <a:endParaRPr lang="es-CL" sz="1100" dirty="0"/>
          </a:p>
        </p:txBody>
      </p:sp>
      <p:sp>
        <p:nvSpPr>
          <p:cNvPr id="17" name="Shape 14"/>
          <p:cNvSpPr/>
          <p:nvPr/>
        </p:nvSpPr>
        <p:spPr>
          <a:xfrm>
            <a:off x="4604690" y="2560320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23562" y="2633472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Patrimonio reducido; inventario en dólares sin cobertura cambiaria</a:t>
            </a:r>
            <a:endParaRPr lang="es-CL" sz="1100" dirty="0"/>
          </a:p>
        </p:txBody>
      </p:sp>
      <p:sp>
        <p:nvSpPr>
          <p:cNvPr id="19" name="Shape 16"/>
          <p:cNvSpPr/>
          <p:nvPr/>
        </p:nvSpPr>
        <p:spPr>
          <a:xfrm>
            <a:off x="6978244" y="2560320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7116" y="2633472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LFP a US$81/kWh; cada litro ahorrado ahorra impuesto específico</a:t>
            </a:r>
            <a:endParaRPr lang="es-CL" sz="1100" dirty="0"/>
          </a:p>
        </p:txBody>
      </p:sp>
      <p:sp>
        <p:nvSpPr>
          <p:cNvPr id="21" name="Shape 18"/>
          <p:cNvSpPr/>
          <p:nvPr/>
        </p:nvSpPr>
        <p:spPr>
          <a:xfrm>
            <a:off x="9351797" y="2560320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70669" y="2633472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cerca de $970 con kit 100% importado; IVA completo; REP; TPM 4,5%</a:t>
            </a:r>
            <a:endParaRPr lang="es-CL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3465576"/>
            <a:ext cx="1600200" cy="82296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3465576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</a:t>
            </a:r>
            <a:endParaRPr lang="es-CL" sz="1300" dirty="0"/>
          </a:p>
        </p:txBody>
      </p:sp>
      <p:sp>
        <p:nvSpPr>
          <p:cNvPr id="25" name="Shape 22"/>
          <p:cNvSpPr/>
          <p:nvPr/>
        </p:nvSpPr>
        <p:spPr>
          <a:xfrm>
            <a:off x="2231136" y="3465576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350008" y="3538728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Segmento definido y estrategia de producto única (06: 4)</a:t>
            </a:r>
            <a:endParaRPr lang="es-CL" sz="1100" dirty="0"/>
          </a:p>
        </p:txBody>
      </p:sp>
      <p:sp>
        <p:nvSpPr>
          <p:cNvPr id="27" name="Shape 24"/>
          <p:cNvSpPr/>
          <p:nvPr/>
        </p:nvSpPr>
        <p:spPr>
          <a:xfrm>
            <a:off x="4604690" y="3465576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23562" y="3538728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Marca sin casos; validación con n = 3; sin precio; línea acotada</a:t>
            </a:r>
            <a:endParaRPr lang="es-CL" sz="1100" dirty="0"/>
          </a:p>
        </p:txBody>
      </p:sp>
      <p:sp>
        <p:nvSpPr>
          <p:cNvPr id="29" name="Shape 26"/>
          <p:cNvSpPr/>
          <p:nvPr/>
        </p:nvSpPr>
        <p:spPr>
          <a:xfrm>
            <a:off x="6978244" y="3465576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97116" y="3538728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3,5 usados por nuevo; transporte +9,7%; bencina a $1.541</a:t>
            </a:r>
            <a:endParaRPr lang="es-CL" sz="1100" dirty="0"/>
          </a:p>
        </p:txBody>
      </p:sp>
      <p:sp>
        <p:nvSpPr>
          <p:cNvPr id="31" name="Shape 28"/>
          <p:cNvSpPr/>
          <p:nvPr/>
        </p:nvSpPr>
        <p:spPr>
          <a:xfrm>
            <a:off x="9351797" y="3465576"/>
            <a:ext cx="2291258" cy="822960"/>
          </a:xfrm>
          <a:prstGeom prst="rect">
            <a:avLst/>
          </a:prstGeom>
          <a:solidFill>
            <a:srgbClr val="1F101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70669" y="3538728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ingreso disponible; desempleo 9,5%; no hacer nada a $0; aseguradoras</a:t>
            </a:r>
            <a:endParaRPr lang="es-CL" sz="1100" dirty="0"/>
          </a:p>
        </p:txBody>
      </p:sp>
      <p:sp>
        <p:nvSpPr>
          <p:cNvPr id="33" name="Shape 30"/>
          <p:cNvSpPr/>
          <p:nvPr/>
        </p:nvSpPr>
        <p:spPr>
          <a:xfrm>
            <a:off x="548640" y="4370832"/>
            <a:ext cx="1600200" cy="82296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437083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Procesos internos</a:t>
            </a:r>
            <a:endParaRPr lang="es-CL" sz="1300" dirty="0"/>
          </a:p>
        </p:txBody>
      </p:sp>
      <p:sp>
        <p:nvSpPr>
          <p:cNvPr id="35" name="Shape 32"/>
          <p:cNvSpPr/>
          <p:nvPr/>
        </p:nvSpPr>
        <p:spPr>
          <a:xfrm>
            <a:off x="2231136" y="4370832"/>
            <a:ext cx="2291258" cy="8229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350008" y="4443984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Arquitectura en eje trasero; proceso de cinco etapas, calidad e integración (06: 4)</a:t>
            </a:r>
            <a:endParaRPr lang="es-CL" sz="1100" dirty="0"/>
          </a:p>
        </p:txBody>
      </p:sp>
      <p:sp>
        <p:nvSpPr>
          <p:cNvPr id="37" name="Shape 34"/>
          <p:cNvSpPr/>
          <p:nvPr/>
        </p:nvSpPr>
        <p:spPr>
          <a:xfrm>
            <a:off x="4604690" y="4370832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723562" y="4443984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ensayo ni homologación; biblioteca vacía; operaciones como cuello de botella</a:t>
            </a:r>
            <a:endParaRPr lang="es-CL" sz="1100" dirty="0"/>
          </a:p>
        </p:txBody>
      </p:sp>
      <p:sp>
        <p:nvSpPr>
          <p:cNvPr id="39" name="Shape 36"/>
          <p:cNvSpPr/>
          <p:nvPr/>
        </p:nvSpPr>
        <p:spPr>
          <a:xfrm>
            <a:off x="6978244" y="4370832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97116" y="4443984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documentado (ICCT, SEG); Francia 2020; OBD para medir consumo</a:t>
            </a:r>
            <a:endParaRPr lang="es-CL" sz="1100" dirty="0"/>
          </a:p>
        </p:txBody>
      </p:sp>
      <p:sp>
        <p:nvSpPr>
          <p:cNvPr id="41" name="Shape 38"/>
          <p:cNvSpPr/>
          <p:nvPr/>
        </p:nvSpPr>
        <p:spPr>
          <a:xfrm>
            <a:off x="9351797" y="4370832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470669" y="4443984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Borrador 2021 sin vía para la hibridación; homologación por par modelo-kit</a:t>
            </a:r>
            <a:endParaRPr lang="es-CL" sz="1100" dirty="0"/>
          </a:p>
        </p:txBody>
      </p:sp>
      <p:sp>
        <p:nvSpPr>
          <p:cNvPr id="43" name="Shape 40"/>
          <p:cNvSpPr/>
          <p:nvPr/>
        </p:nvSpPr>
        <p:spPr>
          <a:xfrm>
            <a:off x="548640" y="5276088"/>
            <a:ext cx="1600200" cy="82296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527608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Aprendizaje y crecimiento</a:t>
            </a:r>
            <a:endParaRPr lang="es-CL" sz="1300" dirty="0"/>
          </a:p>
        </p:txBody>
      </p:sp>
      <p:sp>
        <p:nvSpPr>
          <p:cNvPr id="45" name="Shape 42"/>
          <p:cNvSpPr/>
          <p:nvPr/>
        </p:nvSpPr>
        <p:spPr>
          <a:xfrm>
            <a:off x="2231136" y="5276088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350008" y="5349240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Planificación (06: 4); estrategia horizontal de la tecnología (4)</a:t>
            </a:r>
            <a:endParaRPr lang="es-CL" sz="1100" dirty="0"/>
          </a:p>
        </p:txBody>
      </p:sp>
      <p:sp>
        <p:nvSpPr>
          <p:cNvPr id="47" name="Shape 44"/>
          <p:cNvSpPr/>
          <p:nvPr/>
        </p:nvSpPr>
        <p:spPr>
          <a:xfrm>
            <a:off x="4604690" y="5276088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723562" y="5349240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escasos; sin retención; liderazgo sin trayectoria en el rubro</a:t>
            </a:r>
            <a:endParaRPr lang="es-CL" sz="1100" dirty="0"/>
          </a:p>
        </p:txBody>
      </p:sp>
      <p:sp>
        <p:nvSpPr>
          <p:cNvPr id="49" name="Shape 46"/>
          <p:cNvSpPr/>
          <p:nvPr/>
        </p:nvSpPr>
        <p:spPr>
          <a:xfrm>
            <a:off x="6978244" y="5276088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97116" y="5349240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incipiente en alta tensión (INACAP); ecosistema francés</a:t>
            </a:r>
            <a:endParaRPr lang="es-CL" sz="1100" dirty="0"/>
          </a:p>
        </p:txBody>
      </p:sp>
      <p:sp>
        <p:nvSpPr>
          <p:cNvPr id="51" name="Shape 48"/>
          <p:cNvSpPr/>
          <p:nvPr/>
        </p:nvSpPr>
        <p:spPr>
          <a:xfrm>
            <a:off x="9351797" y="5276088"/>
            <a:ext cx="229125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470669" y="5349240"/>
            <a:ext cx="205351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Jornada de 42 y 40 horas; I+D de 0,41% del PIB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FODA · CRUCE ESTRATÉGICO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DEL FODA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las acciones.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5410048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49631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FO</a:t>
            </a:r>
            <a:endParaRPr lang="es-CL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FORTALEZAS × OPORTUNIDADES</a:t>
            </a:r>
            <a:endParaRPr lang="es-CL" sz="7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2496312"/>
            <a:ext cx="339836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Homologar primero los modelos de mayor densidad en el segmento priorizado: nadie ofrece hoy la hibridación certificada.</a:t>
            </a:r>
            <a:endParaRPr lang="es-CL" sz="1500" dirty="0"/>
          </a:p>
        </p:txBody>
      </p:sp>
      <p:sp>
        <p:nvSpPr>
          <p:cNvPr id="9" name="Shape 6"/>
          <p:cNvSpPr/>
          <p:nvPr/>
        </p:nvSpPr>
        <p:spPr>
          <a:xfrm>
            <a:off x="6233008" y="2331720"/>
            <a:ext cx="5410048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61608" y="249631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DO</a:t>
            </a:r>
            <a:endParaRPr lang="es-CL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6479896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DEBILIDADES × OPORTUNIDADES</a:t>
            </a:r>
            <a:endParaRPr lang="es-CL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8016088" y="2496312"/>
            <a:ext cx="339836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Consultar al 3CV y plantear al MTT, mientras elabora el reglamento, el precedente del gas licuado.</a:t>
            </a:r>
            <a:endParaRPr lang="es-CL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4069080"/>
            <a:ext cx="5410048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3367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FA</a:t>
            </a:r>
            <a:endParaRPr lang="es-CL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" y="50932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FORTALEZAS × AMENAZAS</a:t>
            </a:r>
            <a:endParaRPr lang="es-CL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2331720" y="4233672"/>
            <a:ext cx="339836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Frente al híbrido usado y a no hacer nada, vender la cuota mensual contra el ahorro mensual, no la sostenibilidad.</a:t>
            </a:r>
            <a:endParaRPr lang="es-CL" sz="1500" dirty="0"/>
          </a:p>
        </p:txBody>
      </p:sp>
      <p:sp>
        <p:nvSpPr>
          <p:cNvPr id="17" name="Shape 14"/>
          <p:cNvSpPr/>
          <p:nvPr/>
        </p:nvSpPr>
        <p:spPr>
          <a:xfrm>
            <a:off x="6233008" y="4069080"/>
            <a:ext cx="5410048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1608" y="4233672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DA</a:t>
            </a:r>
            <a:endParaRPr lang="es-CL" sz="5200" dirty="0"/>
          </a:p>
        </p:txBody>
      </p:sp>
      <p:sp>
        <p:nvSpPr>
          <p:cNvPr id="19" name="Text 16"/>
          <p:cNvSpPr txBox="1"/>
          <p:nvPr/>
        </p:nvSpPr>
        <p:spPr>
          <a:xfrm>
            <a:off x="6479896" y="50932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DEBILIDADES × AMENAZAS</a:t>
            </a:r>
            <a:endParaRPr lang="es-CL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016088" y="4233672"/>
            <a:ext cx="339836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Cerrar convenios con aseguradoras, plantas de revisión técnica y una institución financiera antes de vender el primer kit.</a:t>
            </a:r>
            <a:endParaRPr lang="es-CL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57607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8704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QUINTO CRUCE · DA</a:t>
            </a:r>
            <a:endParaRPr lang="es-CL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2743200" y="5833872"/>
            <a:ext cx="8899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Contratar cobertura cambiaria y un acuerdo de abastecimiento de largo plazo: el dólar sube y cambiar de proveedor obliga a rehomologar.</a:t>
            </a:r>
            <a:endParaRPr lang="es-CL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PROBLEMAS CLAVE DE LA ESTRATEGIA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CINCO PROBLEMAS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deciden el negocio.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514600"/>
            <a:ext cx="11094415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</a:t>
            </a:r>
            <a:endParaRPr lang="es-CL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853123" y="2679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/ 5</a:t>
            </a:r>
            <a:endParaRPr lang="es-CL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01</a:t>
            </a:r>
            <a:endParaRPr lang="es-CL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31920"/>
            <a:ext cx="1898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3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VÍA LEGAL</a:t>
            </a:r>
            <a:endParaRPr lang="es-CL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17720"/>
            <a:ext cx="18531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un reglamento que reconozca la hibridación aditiva, no hay negocio.</a:t>
            </a:r>
            <a:endParaRPr lang="es-CL" sz="1300" dirty="0"/>
          </a:p>
        </p:txBody>
      </p:sp>
      <p:sp>
        <p:nvSpPr>
          <p:cNvPr id="11" name="Shape 8"/>
          <p:cNvSpPr/>
          <p:nvPr/>
        </p:nvSpPr>
        <p:spPr>
          <a:xfrm>
            <a:off x="2767523" y="2514600"/>
            <a:ext cx="0" cy="342900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50403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</a:t>
            </a:r>
            <a:endParaRPr lang="es-CL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072006" y="2679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/ 5</a:t>
            </a:r>
            <a:endParaRPr lang="es-CL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950403" y="2926080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02</a:t>
            </a:r>
            <a:endParaRPr lang="es-CL" sz="6000" dirty="0"/>
          </a:p>
        </p:txBody>
      </p:sp>
      <p:sp>
        <p:nvSpPr>
          <p:cNvPr id="15" name="Text 12"/>
          <p:cNvSpPr txBox="1"/>
          <p:nvPr/>
        </p:nvSpPr>
        <p:spPr>
          <a:xfrm>
            <a:off x="2950403" y="3931920"/>
            <a:ext cx="1898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3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TERCEROS</a:t>
            </a:r>
            <a:endParaRPr lang="es-CL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50403" y="4617720"/>
            <a:ext cx="18531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Aseguradoras y plantas de revisión técnica pueden bloquear la venta aun con reglamento favorable.</a:t>
            </a:r>
            <a:endParaRPr lang="es-CL" sz="1300" dirty="0"/>
          </a:p>
        </p:txBody>
      </p:sp>
      <p:sp>
        <p:nvSpPr>
          <p:cNvPr id="17" name="Shape 14"/>
          <p:cNvSpPr/>
          <p:nvPr/>
        </p:nvSpPr>
        <p:spPr>
          <a:xfrm>
            <a:off x="4986406" y="2514600"/>
            <a:ext cx="0" cy="342900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69286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</a:t>
            </a:r>
            <a:endParaRPr lang="es-CL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290889" y="2679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/ 5</a:t>
            </a:r>
            <a:endParaRPr lang="es-CL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169286" y="2926080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03</a:t>
            </a:r>
            <a:endParaRPr lang="es-CL" sz="6000" dirty="0"/>
          </a:p>
        </p:txBody>
      </p:sp>
      <p:sp>
        <p:nvSpPr>
          <p:cNvPr id="21" name="Text 18"/>
          <p:cNvSpPr txBox="1"/>
          <p:nvPr/>
        </p:nvSpPr>
        <p:spPr>
          <a:xfrm>
            <a:off x="5169286" y="3931920"/>
            <a:ext cx="1898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3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CAPACIDAD DE PAGO</a:t>
            </a:r>
            <a:endParaRPr lang="es-CL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169286" y="4617720"/>
            <a:ext cx="18531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Ingreso disponible bajo, desempleo de 9,5% y crédito caro: sin financiamiento no hay conversión.</a:t>
            </a:r>
            <a:endParaRPr lang="es-CL" sz="1300" dirty="0"/>
          </a:p>
        </p:txBody>
      </p:sp>
      <p:sp>
        <p:nvSpPr>
          <p:cNvPr id="23" name="Shape 20"/>
          <p:cNvSpPr/>
          <p:nvPr/>
        </p:nvSpPr>
        <p:spPr>
          <a:xfrm>
            <a:off x="7205289" y="2514600"/>
            <a:ext cx="0" cy="342900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88169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</a:t>
            </a:r>
            <a:endParaRPr lang="es-CL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8509772" y="2679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 / 5</a:t>
            </a:r>
            <a:endParaRPr lang="es-CL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7388169" y="2926080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04</a:t>
            </a:r>
            <a:endParaRPr lang="es-CL" sz="6000" dirty="0"/>
          </a:p>
        </p:txBody>
      </p:sp>
      <p:sp>
        <p:nvSpPr>
          <p:cNvPr id="27" name="Text 24"/>
          <p:cNvSpPr txBox="1"/>
          <p:nvPr/>
        </p:nvSpPr>
        <p:spPr>
          <a:xfrm>
            <a:off x="7388169" y="3931920"/>
            <a:ext cx="1898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3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AHORRO NO MEDIDO</a:t>
            </a:r>
            <a:endParaRPr lang="es-CL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388169" y="4617720"/>
            <a:ext cx="18531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20% en ciudad es una estimación de ingeniería, no verificada en autos chilenos.</a:t>
            </a:r>
            <a:endParaRPr lang="es-CL" sz="1300" dirty="0"/>
          </a:p>
        </p:txBody>
      </p:sp>
      <p:sp>
        <p:nvSpPr>
          <p:cNvPr id="29" name="Shape 26"/>
          <p:cNvSpPr/>
          <p:nvPr/>
        </p:nvSpPr>
        <p:spPr>
          <a:xfrm>
            <a:off x="9424172" y="2514600"/>
            <a:ext cx="0" cy="342900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07052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PROBLEMA</a:t>
            </a:r>
            <a:endParaRPr lang="es-CL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2679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/ 5</a:t>
            </a:r>
            <a:endParaRPr lang="es-CL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9607052" y="2926080"/>
            <a:ext cx="18531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05</a:t>
            </a:r>
            <a:endParaRPr lang="es-CL" sz="6000" dirty="0"/>
          </a:p>
        </p:txBody>
      </p:sp>
      <p:sp>
        <p:nvSpPr>
          <p:cNvPr id="33" name="Text 30"/>
          <p:cNvSpPr txBox="1"/>
          <p:nvPr/>
        </p:nvSpPr>
        <p:spPr>
          <a:xfrm>
            <a:off x="9607052" y="3931920"/>
            <a:ext cx="1898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3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EXPOSICIÓN CAMBIARIA</a:t>
            </a:r>
            <a:endParaRPr lang="es-CL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607052" y="4617720"/>
            <a:ext cx="18531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Todo el costo variable está en dólares, sin cobertura.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DECLARACIÓN DE LA ESTRATEGIA · OVA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DIFERENCIACIÓN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enfocada.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22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«Un servicio certificado que reduce el combustible del auto que el cliente ya tiene, para conductores de alto kilometraje, sostenido por un conocimiento de calibración que un competidor no puede comprar.»</a:t>
            </a:r>
            <a:endParaRPr lang="es-CL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47872"/>
            <a:ext cx="3515258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3712464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OBJETIVO</a:t>
            </a:r>
            <a:endParaRPr lang="es-CL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005072"/>
            <a:ext cx="311292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hacia 2031 el taller de referencia en hibridación de vehículos en uso, como primer taller autorizado del país.</a:t>
            </a:r>
            <a:endParaRPr lang="es-CL" sz="1350" dirty="0"/>
          </a:p>
        </p:txBody>
      </p:sp>
      <p:sp>
        <p:nvSpPr>
          <p:cNvPr id="9" name="Shape 6"/>
          <p:cNvSpPr/>
          <p:nvPr/>
        </p:nvSpPr>
        <p:spPr>
          <a:xfrm>
            <a:off x="749808" y="5102352"/>
            <a:ext cx="3112922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841248" y="510235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META CUANTITATIVA</a:t>
            </a:r>
            <a:endParaRPr lang="es-CL" sz="800" dirty="0"/>
          </a:p>
        </p:txBody>
      </p:sp>
      <p:sp>
        <p:nvSpPr>
          <p:cNvPr id="11" name="Shape 8"/>
          <p:cNvSpPr/>
          <p:nvPr/>
        </p:nvSpPr>
        <p:spPr>
          <a:xfrm>
            <a:off x="4338218" y="3547872"/>
            <a:ext cx="3515258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9386" y="3712464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</a:t>
            </a:r>
            <a:endParaRPr lang="es-CL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39386" y="4005072"/>
            <a:ext cx="311292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Única alternativa que reduce el consumo sin reemplazar el vehículo, sin límite de antigüedad y con certificación.</a:t>
            </a:r>
            <a:endParaRPr lang="es-CL" sz="1350" dirty="0"/>
          </a:p>
        </p:txBody>
      </p:sp>
      <p:sp>
        <p:nvSpPr>
          <p:cNvPr id="14" name="Shape 11"/>
          <p:cNvSpPr/>
          <p:nvPr/>
        </p:nvSpPr>
        <p:spPr>
          <a:xfrm>
            <a:off x="4539386" y="5102352"/>
            <a:ext cx="3112922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630826" y="510235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POTENCIAL: BIBLIOTECA VACÍA</a:t>
            </a:r>
            <a:endParaRPr lang="es-CL" sz="800" dirty="0"/>
          </a:p>
        </p:txBody>
      </p:sp>
      <p:sp>
        <p:nvSpPr>
          <p:cNvPr id="16" name="Shape 13"/>
          <p:cNvSpPr/>
          <p:nvPr/>
        </p:nvSpPr>
        <p:spPr>
          <a:xfrm>
            <a:off x="8127797" y="3547872"/>
            <a:ext cx="3515258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8965" y="3712464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ALCANCE</a:t>
            </a:r>
            <a:endParaRPr lang="es-CL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4005072"/>
            <a:ext cx="311292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Tracción delantera y alto kilometraje; RM, un taller propio; integra diagnóstico a posventa; no vende el kit suelto.</a:t>
            </a:r>
            <a:endParaRPr lang="es-CL" sz="1350" dirty="0"/>
          </a:p>
        </p:txBody>
      </p:sp>
      <p:sp>
        <p:nvSpPr>
          <p:cNvPr id="19" name="Shape 16"/>
          <p:cNvSpPr/>
          <p:nvPr/>
        </p:nvSpPr>
        <p:spPr>
          <a:xfrm>
            <a:off x="8328965" y="5102352"/>
            <a:ext cx="3112922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8420405" y="510235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8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ABS O AIRBAG SIN CUANTIFICAR</a:t>
            </a:r>
            <a:endParaRPr lang="es-CL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715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RENUNCIAS</a:t>
            </a:r>
            <a:endParaRPr lang="es-CL" sz="900" dirty="0"/>
          </a:p>
        </p:txBody>
      </p:sp>
      <p:sp>
        <p:nvSpPr>
          <p:cNvPr id="22" name="Shape 19"/>
          <p:cNvSpPr/>
          <p:nvPr/>
        </p:nvSpPr>
        <p:spPr>
          <a:xfrm>
            <a:off x="2011680" y="5815584"/>
            <a:ext cx="73152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176272" y="5715000"/>
            <a:ext cx="2981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competir por precio contra el gas</a:t>
            </a:r>
            <a:endParaRPr lang="es-CL" sz="1250" dirty="0"/>
          </a:p>
        </p:txBody>
      </p:sp>
      <p:sp>
        <p:nvSpPr>
          <p:cNvPr id="24" name="Shape 21"/>
          <p:cNvSpPr/>
          <p:nvPr/>
        </p:nvSpPr>
        <p:spPr>
          <a:xfrm>
            <a:off x="5222138" y="5815584"/>
            <a:ext cx="73152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386730" y="5715000"/>
            <a:ext cx="2981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atender bajo kilometraje</a:t>
            </a:r>
            <a:endParaRPr lang="es-CL" sz="1250" dirty="0"/>
          </a:p>
        </p:txBody>
      </p:sp>
      <p:sp>
        <p:nvSpPr>
          <p:cNvPr id="26" name="Shape 23"/>
          <p:cNvSpPr/>
          <p:nvPr/>
        </p:nvSpPr>
        <p:spPr>
          <a:xfrm>
            <a:off x="8432597" y="5815584"/>
            <a:ext cx="73152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7189" y="5715000"/>
            <a:ext cx="2981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ofrecer inmediatez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EJES ESTRATÉGICOS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EJES,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ocho objetivos.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15258" cy="3127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 1</a:t>
            </a:r>
            <a:endParaRPr lang="es-CL" sz="9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69748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Habilitación formal</a:t>
            </a:r>
            <a:endParaRPr lang="es-CL" sz="1700" dirty="0"/>
          </a:p>
        </p:txBody>
      </p:sp>
      <p:sp>
        <p:nvSpPr>
          <p:cNvPr id="8" name="Shape 5"/>
          <p:cNvSpPr/>
          <p:nvPr/>
        </p:nvSpPr>
        <p:spPr>
          <a:xfrm>
            <a:off x="749808" y="3172968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9808" y="31729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154680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Autorización del taller</a:t>
            </a:r>
            <a:endParaRPr lang="es-CL" sz="1250" dirty="0"/>
          </a:p>
        </p:txBody>
      </p:sp>
      <p:sp>
        <p:nvSpPr>
          <p:cNvPr id="11" name="Shape 8"/>
          <p:cNvSpPr/>
          <p:nvPr/>
        </p:nvSpPr>
        <p:spPr>
          <a:xfrm>
            <a:off x="749808" y="3657600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" y="3657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639312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progresiva y biblioteca</a:t>
            </a:r>
            <a:endParaRPr lang="es-CL" sz="1250" dirty="0"/>
          </a:p>
        </p:txBody>
      </p:sp>
      <p:sp>
        <p:nvSpPr>
          <p:cNvPr id="14" name="Shape 11"/>
          <p:cNvSpPr/>
          <p:nvPr/>
        </p:nvSpPr>
        <p:spPr>
          <a:xfrm>
            <a:off x="749808" y="4142232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49808" y="41422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123944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Reconocimiento de aseguradoras y plantas</a:t>
            </a:r>
            <a:endParaRPr lang="es-CL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4681728"/>
            <a:ext cx="311292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" y="47914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ATACA</a:t>
            </a:r>
            <a:endParaRPr lang="es-CL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4754880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Vía legal y terceros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084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CMI</a:t>
            </a:r>
            <a:endParaRPr lang="es-CL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5047488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Procesos internos y clientes</a:t>
            </a:r>
            <a:endParaRPr lang="es-CL" sz="1200" dirty="0"/>
          </a:p>
        </p:txBody>
      </p:sp>
      <p:sp>
        <p:nvSpPr>
          <p:cNvPr id="22" name="Shape 19"/>
          <p:cNvSpPr/>
          <p:nvPr/>
        </p:nvSpPr>
        <p:spPr>
          <a:xfrm>
            <a:off x="4338218" y="2286000"/>
            <a:ext cx="3515258" cy="3127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39386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 2</a:t>
            </a:r>
            <a:endParaRPr lang="es-CL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539386" y="269748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Acceso comercial</a:t>
            </a:r>
            <a:endParaRPr lang="es-CL" sz="1700" dirty="0"/>
          </a:p>
        </p:txBody>
      </p:sp>
      <p:sp>
        <p:nvSpPr>
          <p:cNvPr id="25" name="Shape 22"/>
          <p:cNvSpPr/>
          <p:nvPr/>
        </p:nvSpPr>
        <p:spPr>
          <a:xfrm>
            <a:off x="4539386" y="3172968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39386" y="31729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024018" y="3154680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Consolidar el segmento priorizado</a:t>
            </a:r>
            <a:endParaRPr lang="es-CL" sz="1250" dirty="0"/>
          </a:p>
        </p:txBody>
      </p:sp>
      <p:sp>
        <p:nvSpPr>
          <p:cNvPr id="28" name="Shape 25"/>
          <p:cNvSpPr/>
          <p:nvPr/>
        </p:nvSpPr>
        <p:spPr>
          <a:xfrm>
            <a:off x="4539386" y="3657600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39386" y="3657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024018" y="3639312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Financiamiento en el punto de venta</a:t>
            </a:r>
            <a:endParaRPr lang="es-CL" sz="1250" dirty="0"/>
          </a:p>
        </p:txBody>
      </p:sp>
      <p:sp>
        <p:nvSpPr>
          <p:cNvPr id="31" name="Shape 28"/>
          <p:cNvSpPr/>
          <p:nvPr/>
        </p:nvSpPr>
        <p:spPr>
          <a:xfrm>
            <a:off x="4539386" y="4681728"/>
            <a:ext cx="311292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539386" y="47914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ATACA</a:t>
            </a:r>
            <a:endParaRPr lang="es-CL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5206898" y="4754880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Capacidad de pago del cliente</a:t>
            </a:r>
            <a:endParaRPr lang="es-CL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539386" y="5084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CMI</a:t>
            </a:r>
            <a:endParaRPr lang="es-CL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5206898" y="5047488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y financiera</a:t>
            </a:r>
            <a:endParaRPr lang="es-CL" sz="1200" dirty="0"/>
          </a:p>
        </p:txBody>
      </p:sp>
      <p:sp>
        <p:nvSpPr>
          <p:cNvPr id="36" name="Shape 33"/>
          <p:cNvSpPr/>
          <p:nvPr/>
        </p:nvSpPr>
        <p:spPr>
          <a:xfrm>
            <a:off x="8127797" y="2286000"/>
            <a:ext cx="3515258" cy="31272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328965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 3</a:t>
            </a:r>
            <a:endParaRPr lang="es-CL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328965" y="269748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Conocimiento y escala</a:t>
            </a:r>
            <a:endParaRPr lang="es-CL" sz="1700" dirty="0"/>
          </a:p>
        </p:txBody>
      </p:sp>
      <p:sp>
        <p:nvSpPr>
          <p:cNvPr id="39" name="Shape 36"/>
          <p:cNvSpPr/>
          <p:nvPr/>
        </p:nvSpPr>
        <p:spPr>
          <a:xfrm>
            <a:off x="8328965" y="3172968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28965" y="31729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s-CL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8813597" y="3154680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Demostrar el ahorro real</a:t>
            </a:r>
            <a:endParaRPr lang="es-CL" sz="1250" dirty="0"/>
          </a:p>
        </p:txBody>
      </p:sp>
      <p:sp>
        <p:nvSpPr>
          <p:cNvPr id="42" name="Shape 39"/>
          <p:cNvSpPr/>
          <p:nvPr/>
        </p:nvSpPr>
        <p:spPr>
          <a:xfrm>
            <a:off x="8328965" y="3657600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328965" y="3657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s-CL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8813597" y="3639312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Retener el conocimiento técnico</a:t>
            </a:r>
            <a:endParaRPr lang="es-CL" sz="1250" dirty="0"/>
          </a:p>
        </p:txBody>
      </p:sp>
      <p:sp>
        <p:nvSpPr>
          <p:cNvPr id="45" name="Shape 42"/>
          <p:cNvSpPr/>
          <p:nvPr/>
        </p:nvSpPr>
        <p:spPr>
          <a:xfrm>
            <a:off x="8328965" y="4142232"/>
            <a:ext cx="36576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328965" y="41422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8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s-CL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813597" y="4123944"/>
            <a:ext cx="26465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Ampliar capacidad</a:t>
            </a:r>
            <a:endParaRPr lang="es-CL" sz="1250" dirty="0"/>
          </a:p>
        </p:txBody>
      </p:sp>
      <p:sp>
        <p:nvSpPr>
          <p:cNvPr id="48" name="Shape 45"/>
          <p:cNvSpPr/>
          <p:nvPr/>
        </p:nvSpPr>
        <p:spPr>
          <a:xfrm>
            <a:off x="8328965" y="4681728"/>
            <a:ext cx="311292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328965" y="47914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ATACA</a:t>
            </a:r>
            <a:endParaRPr lang="es-CL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8996477" y="4754880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no medido y rotación</a:t>
            </a:r>
            <a:endParaRPr lang="es-CL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328965" y="5084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CMI</a:t>
            </a:r>
            <a:endParaRPr lang="es-CL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8996477" y="5047488"/>
            <a:ext cx="2463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Aprendizaje y crecimiento</a:t>
            </a:r>
            <a:endParaRPr lang="es-CL" sz="1200" dirty="0"/>
          </a:p>
        </p:txBody>
      </p:sp>
      <p:sp>
        <p:nvSpPr>
          <p:cNvPr id="53" name="Shape 50"/>
          <p:cNvSpPr/>
          <p:nvPr/>
        </p:nvSpPr>
        <p:spPr>
          <a:xfrm>
            <a:off x="548640" y="5577840"/>
            <a:ext cx="11094415" cy="603504"/>
          </a:xfrm>
          <a:prstGeom prst="rect">
            <a:avLst/>
          </a:prstGeom>
          <a:solidFill>
            <a:srgbClr val="1F1012"/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749808" y="55778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BRECHA DEL PLAN</a:t>
            </a:r>
            <a:endParaRPr lang="es-CL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2743200" y="5577840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Ningún eje aborda la exposición cambiaria </a:t>
            </a:r>
            <a:pPr indent="0" marL="0">
              <a:buNone/>
            </a:pPr>
            <a:r>
              <a:rPr lang="es-CL" altLang="en-US" sz="13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(03: gran amenaza hoy). Debería incorporarse al eje 2 o al Plan Financiero.</a:t>
            </a:r>
            <a:endParaRPr lang="es-CL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DE GESTIÓN · ICMA901 · NRC 4118</a:t>
            </a:r>
            <a:endParaRPr lang="es-CL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CONCLUSIÓN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3258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PRIORIDAD NO ES COMPETIR CON OTROS TALLERES: </a:t>
            </a:r>
            <a:pPr algn="l" indent="0" marL="0">
              <a:lnSpc>
                <a:spcPct val="90000"/>
              </a:lnSpc>
              <a:buNone/>
            </a:pPr>
            <a:r>
              <a:rPr lang="en-US" sz="38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 que el ahorro supere al precio frente a no hacer nada.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401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529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6732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85455" y="3767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8251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© 2026 LUMINE MOTORS · CONTROL DE GESTIÓN · TEORÍA · ICMA901 · SECCIÓN 500</a:t>
            </a:r>
            <a:endParaRPr lang="es-CL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Lumine Motors Chile SpA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Estratégico · Lumine Motors Chile SpA</dc:title>
  <dc:subject>Control de Gestión · Teoría · ICMA901 · Sección 500 · NRC 4118</dc:subject>
  <dc:creator>Diego Alarcón, Benjamín Torres y Lukas Verdugo</dc:creator>
  <cp:lastModifiedBy>Diego Alarcón, Benjamín Torres y Lukas Verdugo</cp:lastModifiedBy>
  <cp:revision>1</cp:revision>
  <dcterms:created xsi:type="dcterms:W3CDTF">2026-10-03T22:00:21Z</dcterms:created>
  <dcterms:modified xsi:type="dcterms:W3CDTF">2026-10-03T22:00:21Z</dcterms:modified>
</cp:coreProperties>
</file>