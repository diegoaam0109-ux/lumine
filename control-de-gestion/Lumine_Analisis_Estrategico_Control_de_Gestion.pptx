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charts/chart1.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charts/chart3.xml" ContentType="application/vnd.openxmlformats-officedocument.drawingml.chart+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1 · Diego Alarcón" id="{aaddc338-5355-7ea7-fe3a-e5c3b7282644}">
          <p14:sldIdLst>
            <p14:sldId id="256"/>
            <p14:sldId id="257"/>
            <p14:sldId id="258"/>
            <p14:sldId id="259"/>
            <p14:sldId id="260"/>
          </p14:sldIdLst>
        </p14:section>
        <p14:section name="2 · Benjamín Torres" id="{8e7f1b75-1ab3-775d-e8e2-6ce55cc41a65}">
          <p14:sldIdLst>
            <p14:sldId id="261"/>
            <p14:sldId id="262"/>
            <p14:sldId id="263"/>
            <p14:sldId id="264"/>
            <p14:sldId id="265"/>
          </p14:sldIdLst>
        </p14:section>
        <p14:section name="3 · Lukas Verdugo" id="{3ffa71c1-54d0-3340-b0cf-71e831e2de4c}">
          <p14:sldIdLst>
            <p14:sldId id="266"/>
            <p14:sldId id="267"/>
            <p14:sldId id="268"/>
            <p14:sldId id="269"/>
            <p14:sldId id="270"/>
            <p14:sldId id="271"/>
          </p14:sldIdLst>
        </p14:section>
        <p14:section name="Anexo" id="{7654d4d7-4f21-0fe3-bc30-601b46f18939}">
          <p14:sldIdLst>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Oportunidades</c:v>
                </c:pt>
              </c:strCache>
            </c:strRef>
          </c:tx>
          <c:spPr>
            <a:solidFill>
              <a:srgbClr val="4ADE80"/>
            </a:solidFill>
            <a:effectLst/>
          </c:spPr>
          <c:invertIfNegative val="0"/>
          <c:dLbls>
            <c:numFmt formatCode="#,##0" sourceLinked="0"/>
            <c:txPr>
              <a:bodyPr/>
              <a:lstStyle/>
              <a:p>
                <a:pPr>
                  <a:defRPr b="1" i="0" strike="noStrike" sz="1100" u="none">
                    <a:solidFill>
                      <a:srgbClr val="020304"/>
                    </a:solidFill>
                    <a:latin typeface="IBM Plex Mono"/>
                  </a:defRPr>
                </a:pPr>
              </a:p>
            </c:txPr>
            <c:dLblPos val="ctr"/>
            <c:showLegendKey val="0"/>
            <c:showVal val="1"/>
            <c:showCatName val="0"/>
            <c:showSerName val="0"/>
            <c:showPercent val="0"/>
            <c:showBubbleSize val="0"/>
            <c:showLeaderLines val="0"/>
          </c:dLbls>
          <c:cat>
            <c:multiLvlStrRef>
              <c:f>Sheet1!$A$2:$A$5</c:f>
              <c:multiLvlStrCache>
                <c:ptCount val="4"/>
                <c:lvl>
                  <c:pt idx="0">
                    <c:v>Político-jurídico</c:v>
                  </c:pt>
                  <c:pt idx="1">
                    <c:v>Económico</c:v>
                  </c:pt>
                  <c:pt idx="2">
                    <c:v>Sociocultural</c:v>
                  </c:pt>
                  <c:pt idx="3">
                    <c:v>Tecnológico</c:v>
                  </c:pt>
                </c:lvl>
              </c:multiLvlStrCache>
            </c:multiLvlStrRef>
          </c:cat>
          <c:val>
            <c:numRef>
              <c:f>Sheet1!$B$2:$B$5</c:f>
              <c:numCache>
                <c:formatCode>General</c:formatCode>
                <c:ptCount val="4"/>
                <c:pt idx="0">
                  <c:v>2</c:v>
                </c:pt>
                <c:pt idx="1">
                  <c:v>2</c:v>
                </c:pt>
                <c:pt idx="2">
                  <c:v>2</c:v>
                </c:pt>
                <c:pt idx="3">
                  <c:v>7</c:v>
                </c:pt>
              </c:numCache>
            </c:numRef>
          </c:val>
        </c:ser>
        <c:ser>
          <c:idx val="1"/>
          <c:order val="1"/>
          <c:tx>
            <c:strRef>
              <c:f>Sheet1!$C$1</c:f>
              <c:strCache>
                <c:ptCount val="1"/>
                <c:pt idx="0">
                  <c:v>Neutros</c:v>
                </c:pt>
              </c:strCache>
            </c:strRef>
          </c:tx>
          <c:spPr>
            <a:solidFill>
              <a:srgbClr val="8B9598"/>
            </a:solidFill>
            <a:effectLst/>
          </c:spPr>
          <c:invertIfNegative val="0"/>
          <c:dLbls>
            <c:numFmt formatCode="#,##0" sourceLinked="0"/>
            <c:txPr>
              <a:bodyPr/>
              <a:lstStyle/>
              <a:p>
                <a:pPr>
                  <a:defRPr b="1" i="0" strike="noStrike" sz="1100" u="none">
                    <a:solidFill>
                      <a:srgbClr val="020304"/>
                    </a:solidFill>
                    <a:latin typeface="IBM Plex Mono"/>
                  </a:defRPr>
                </a:pPr>
              </a:p>
            </c:txPr>
            <c:dLblPos val="ctr"/>
            <c:showLegendKey val="0"/>
            <c:showVal val="1"/>
            <c:showCatName val="0"/>
            <c:showSerName val="0"/>
            <c:showPercent val="0"/>
            <c:showBubbleSize val="0"/>
            <c:showLeaderLines val="0"/>
          </c:dLbls>
          <c:cat>
            <c:multiLvlStrRef>
              <c:f>Sheet1!$A$2:$A$5</c:f>
              <c:multiLvlStrCache>
                <c:ptCount val="4"/>
                <c:lvl>
                  <c:pt idx="0">
                    <c:v>Político-jurídico</c:v>
                  </c:pt>
                  <c:pt idx="1">
                    <c:v>Económico</c:v>
                  </c:pt>
                  <c:pt idx="2">
                    <c:v>Sociocultural</c:v>
                  </c:pt>
                  <c:pt idx="3">
                    <c:v>Tecnológico</c:v>
                  </c:pt>
                </c:lvl>
              </c:multiLvlStrCache>
            </c:multiLvlStrRef>
          </c:cat>
          <c:val>
            <c:numRef>
              <c:f>Sheet1!$C$2:$C$5</c:f>
              <c:numCache>
                <c:formatCode>General</c:formatCode>
                <c:ptCount val="4"/>
                <c:pt idx="0">
                  <c:v>3</c:v>
                </c:pt>
                <c:pt idx="1">
                  <c:v>6</c:v>
                </c:pt>
                <c:pt idx="2">
                  <c:v>7</c:v>
                </c:pt>
                <c:pt idx="3">
                  <c:v>2</c:v>
                </c:pt>
              </c:numCache>
            </c:numRef>
          </c:val>
        </c:ser>
        <c:ser>
          <c:idx val="2"/>
          <c:order val="2"/>
          <c:tx>
            <c:strRef>
              <c:f>Sheet1!$D$1</c:f>
              <c:strCache>
                <c:ptCount val="1"/>
                <c:pt idx="0">
                  <c:v>Amenazas</c:v>
                </c:pt>
              </c:strCache>
            </c:strRef>
          </c:tx>
          <c:spPr>
            <a:solidFill>
              <a:srgbClr val="F87171"/>
            </a:solidFill>
            <a:effectLst/>
          </c:spPr>
          <c:invertIfNegative val="0"/>
          <c:dLbls>
            <c:numFmt formatCode="#,##0" sourceLinked="0"/>
            <c:txPr>
              <a:bodyPr/>
              <a:lstStyle/>
              <a:p>
                <a:pPr>
                  <a:defRPr b="1" i="0" strike="noStrike" sz="1100" u="none">
                    <a:solidFill>
                      <a:srgbClr val="020304"/>
                    </a:solidFill>
                    <a:latin typeface="IBM Plex Mono"/>
                  </a:defRPr>
                </a:pPr>
              </a:p>
            </c:txPr>
            <c:dLblPos val="ctr"/>
            <c:showLegendKey val="0"/>
            <c:showVal val="1"/>
            <c:showCatName val="0"/>
            <c:showSerName val="0"/>
            <c:showPercent val="0"/>
            <c:showBubbleSize val="0"/>
            <c:showLeaderLines val="0"/>
          </c:dLbls>
          <c:cat>
            <c:multiLvlStrRef>
              <c:f>Sheet1!$A$2:$A$5</c:f>
              <c:multiLvlStrCache>
                <c:ptCount val="4"/>
                <c:lvl>
                  <c:pt idx="0">
                    <c:v>Político-jurídico</c:v>
                  </c:pt>
                  <c:pt idx="1">
                    <c:v>Económico</c:v>
                  </c:pt>
                  <c:pt idx="2">
                    <c:v>Sociocultural</c:v>
                  </c:pt>
                  <c:pt idx="3">
                    <c:v>Tecnológico</c:v>
                  </c:pt>
                </c:lvl>
              </c:multiLvlStrCache>
            </c:multiLvlStrRef>
          </c:cat>
          <c:val>
            <c:numRef>
              <c:f>Sheet1!$D$2:$D$5</c:f>
              <c:numCache>
                <c:formatCode>General</c:formatCode>
                <c:ptCount val="4"/>
                <c:pt idx="0">
                  <c:v>4</c:v>
                </c:pt>
                <c:pt idx="1">
                  <c:v>8</c:v>
                </c:pt>
                <c:pt idx="2">
                  <c:v>4</c:v>
                </c:pt>
                <c:pt idx="3">
                  <c:v>4</c:v>
                </c:pt>
              </c:numCache>
            </c:numRef>
          </c:val>
        </c:ser>
        <c:dLbls>
          <c:numFmt formatCode="#,##0" sourceLinked="0"/>
          <c:txPr>
            <a:bodyPr/>
            <a:lstStyle/>
            <a:p>
              <a:pPr>
                <a:defRPr b="1" i="0" strike="noStrike" sz="1100" u="none">
                  <a:solidFill>
                    <a:srgbClr val="020304"/>
                  </a:solidFill>
                  <a:latin typeface="IBM Plex Mono"/>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2E3438"/>
            </a:solidFill>
            <a:prstDash val="solid"/>
            <a:round/>
          </a:ln>
        </c:spPr>
        <c:txPr>
          <a:bodyPr/>
          <a:lstStyle/>
          <a:p>
            <a:pPr>
              <a:defRPr sz="1100" b="0" i="0" u="none" strike="noStrike">
                <a:solidFill>
                  <a:srgbClr val="ECECEC"/>
                </a:solidFill>
                <a:latin typeface="IBM Plex Mono"/>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8B9598"/>
                </a:solidFill>
                <a:latin typeface="IBM Plex Mono"/>
              </a:defRPr>
            </a:pPr>
            <a:endParaRPr lang="en-US"/>
          </a:p>
        </c:txPr>
        <c:crossAx val="2094734554"/>
        <c:crosses val="autoZero"/>
        <c:crossBetween val="between"/>
      </c:valAx>
      <c:spPr>
        <a:solidFill>
          <a:srgbClr val="020304"/>
        </a:solidFill>
        <a:ln>
          <a:noFill/>
        </a:ln>
        <a:effectLst/>
      </c:spPr>
    </c:plotArea>
    <c:legend>
      <c:legendPos val="t"/>
      <c:overlay val="0"/>
      <c:txPr>
        <a:bodyPr/>
        <a:lstStyle/>
        <a:p>
          <a:pPr>
            <a:defRPr sz="1000">
              <a:solidFill>
                <a:srgbClr val="8B9598"/>
              </a:solidFill>
              <a:latin typeface="IBM Plex Mono"/>
              <a:cs typeface="IBM Plex Mono"/>
            </a:defRPr>
          </a:pPr>
          <a:endParaRPr lang="en-US"/>
        </a:p>
      </c:txPr>
    </c:legend>
    <c:plotVisOnly val="1"/>
    <c:dispBlanksAs val="span"/>
  </c:chart>
  <c:spPr>
    <a:solidFill>
      <a:srgbClr val="020304"/>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Intensidad</c:v>
                </c:pt>
              </c:strCache>
            </c:strRef>
          </c:tx>
          <c:spPr>
            <a:solidFill>
              <a:srgbClr val="22B8F0"/>
            </a:solidFill>
            <a:effectLst/>
          </c:spPr>
          <c:invertIfNegative val="0"/>
          <c:dLbls>
            <c:numFmt formatCode="0.00" sourceLinked="0"/>
            <c:txPr>
              <a:bodyPr/>
              <a:lstStyle/>
              <a:p>
                <a:pPr>
                  <a:defRPr b="1" i="0" strike="noStrike" sz="1200" u="none">
                    <a:solidFill>
                      <a:srgbClr val="ECECEC"/>
                    </a:solidFill>
                    <a:latin typeface="IBM Plex Mono"/>
                  </a:defRPr>
                </a:pPr>
              </a:p>
            </c:txPr>
            <c:showLegendKey val="0"/>
            <c:showVal val="1"/>
            <c:showCatName val="0"/>
            <c:showSerName val="0"/>
            <c:showPercent val="0"/>
            <c:showBubbleSize val="0"/>
            <c:showLeaderLines val="0"/>
          </c:dLbls>
          <c:dPt>
            <c:idx val="0"/>
            <c:invertIfNegative val="0"/>
            <c:bubble3D val="0"/>
            <c:spPr>
              <a:solidFill>
                <a:srgbClr val="22B8F0"/>
              </a:solidFill>
              <a:effectLst/>
            </c:spPr>
          </c:dPt>
          <c:dPt>
            <c:idx val="1"/>
            <c:invertIfNegative val="0"/>
            <c:bubble3D val="0"/>
            <c:spPr>
              <a:solidFill>
                <a:srgbClr val="8B9598"/>
              </a:solidFill>
              <a:effectLst/>
            </c:spPr>
          </c:dPt>
          <c:dPt>
            <c:idx val="2"/>
            <c:invertIfNegative val="0"/>
            <c:bubble3D val="0"/>
            <c:spPr>
              <a:solidFill>
                <a:srgbClr val="8B9598"/>
              </a:solidFill>
              <a:effectLst/>
            </c:spPr>
          </c:dPt>
          <c:dPt>
            <c:idx val="3"/>
            <c:invertIfNegative val="0"/>
            <c:bubble3D val="0"/>
            <c:spPr>
              <a:solidFill>
                <a:srgbClr val="8B9598"/>
              </a:solidFill>
              <a:effectLst/>
            </c:spPr>
          </c:dPt>
          <c:dPt>
            <c:idx val="4"/>
            <c:invertIfNegative val="0"/>
            <c:bubble3D val="0"/>
            <c:spPr>
              <a:solidFill>
                <a:srgbClr val="8B9598"/>
              </a:solidFill>
              <a:effectLst/>
            </c:spPr>
          </c:dPt>
          <c:cat>
            <c:multiLvlStrRef>
              <c:f>Sheet1!$A$2:$A$6</c:f>
              <c:multiLvlStrCache>
                <c:ptCount val="5"/>
                <c:lvl>
                  <c:pt idx="0">
                    <c:v>Sustitutos · 30%</c:v>
                  </c:pt>
                  <c:pt idx="1">
                    <c:v>Nuevos entrantes · 20%</c:v>
                  </c:pt>
                  <c:pt idx="2">
                    <c:v>Proveedores · 15%</c:v>
                  </c:pt>
                  <c:pt idx="3">
                    <c:v>Clientes · 25%</c:v>
                  </c:pt>
                  <c:pt idx="4">
                    <c:v>Rivalidad · 10%</c:v>
                  </c:pt>
                </c:lvl>
              </c:multiLvlStrCache>
            </c:multiLvlStrRef>
          </c:cat>
          <c:val>
            <c:numRef>
              <c:f>Sheet1!$B$2:$B$6</c:f>
              <c:numCache>
                <c:formatCode>General</c:formatCode>
                <c:ptCount val="5"/>
                <c:pt idx="0">
                  <c:v>5</c:v>
                </c:pt>
                <c:pt idx="1">
                  <c:v>3.75</c:v>
                </c:pt>
                <c:pt idx="2">
                  <c:v>2.67</c:v>
                </c:pt>
                <c:pt idx="3">
                  <c:v>2.64</c:v>
                </c:pt>
                <c:pt idx="4">
                  <c:v>1.83</c:v>
                </c:pt>
              </c:numCache>
            </c:numRef>
          </c:val>
        </c:ser>
        <c:dLbls>
          <c:numFmt formatCode="0.00" sourceLinked="0"/>
          <c:txPr>
            <a:bodyPr/>
            <a:lstStyle/>
            <a:p>
              <a:pPr>
                <a:defRPr b="1" i="0" strike="noStrike" sz="1200" u="none">
                  <a:solidFill>
                    <a:srgbClr val="ECECEC"/>
                  </a:solidFill>
                  <a:latin typeface="IBM Plex Mono"/>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2E3438"/>
            </a:solidFill>
            <a:prstDash val="solid"/>
            <a:round/>
          </a:ln>
        </c:spPr>
        <c:txPr>
          <a:bodyPr/>
          <a:lstStyle/>
          <a:p>
            <a:pPr>
              <a:defRPr sz="1100" b="0" i="0" u="none" strike="noStrike">
                <a:solidFill>
                  <a:srgbClr val="ECECEC"/>
                </a:solidFill>
                <a:latin typeface="IBM Plex Mono"/>
              </a:defRPr>
            </a:pPr>
            <a:endParaRPr lang="en-US"/>
          </a:p>
        </c:txPr>
        <c:crossAx val="2094734552"/>
        <c:crosses val="autoZero"/>
        <c:auto val="1"/>
        <c:lblAlgn val="ctr"/>
        <c:noMultiLvlLbl val="1"/>
      </c:catAx>
      <c:valAx>
        <c:axId val="2094734552"/>
        <c:scaling>
          <c:orientation val="minMax"/>
          <c:max val="5.4"/>
          <c:min val="0"/>
        </c:scaling>
        <c:delete val="1"/>
        <c:axPos val="b"/>
        <c:numFmt formatCode="General" sourceLinked="0"/>
        <c:majorTickMark val="out"/>
        <c:minorTickMark val="none"/>
        <c:tickLblPos val="low"/>
        <c:spPr>
          <a:ln w="12700" cap="flat">
            <a:noFill/>
            <a:prstDash val="solid"/>
            <a:round/>
          </a:ln>
        </c:spPr>
        <c:txPr>
          <a:bodyPr/>
          <a:lstStyle/>
          <a:p>
            <a:pPr>
              <a:defRPr sz="900" b="0" i="0" u="none" strike="noStrike">
                <a:solidFill>
                  <a:srgbClr val="8B9598"/>
                </a:solidFill>
                <a:latin typeface="IBM Plex Mono"/>
              </a:defRPr>
            </a:pPr>
            <a:endParaRPr lang="en-US"/>
          </a:p>
        </c:txPr>
        <c:crossAx val="2094734554"/>
        <c:crosses val="autoZero"/>
        <c:crossBetween val="between"/>
        <c:majorUnit val="1"/>
      </c:valAx>
      <c:spPr>
        <a:solidFill>
          <a:srgbClr val="020304"/>
        </a:solidFill>
        <a:ln>
          <a:noFill/>
        </a:ln>
        <a:effectLst/>
      </c:spPr>
    </c:plotArea>
    <c:plotVisOnly val="1"/>
    <c:dispBlanksAs val="span"/>
  </c:chart>
  <c:spPr>
    <a:solidFill>
      <a:srgbClr val="020304"/>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Habilidades</c:v>
                </c:pt>
              </c:strCache>
            </c:strRef>
          </c:tx>
          <c:spPr>
            <a:solidFill>
              <a:srgbClr val="22B8F0"/>
            </a:solidFill>
            <a:effectLst/>
          </c:spPr>
          <c:invertIfNegative val="0"/>
          <c:dLbls>
            <c:numFmt formatCode="0.00" sourceLinked="0"/>
            <c:txPr>
              <a:bodyPr/>
              <a:lstStyle/>
              <a:p>
                <a:pPr>
                  <a:defRPr b="0" i="0" strike="noStrike" sz="900" u="none">
                    <a:solidFill>
                      <a:srgbClr val="ECECEC"/>
                    </a:solidFill>
                    <a:latin typeface="IBM Plex Mono"/>
                  </a:defRPr>
                </a:pPr>
              </a:p>
            </c:txPr>
            <c:showLegendKey val="0"/>
            <c:showVal val="1"/>
            <c:showCatName val="0"/>
            <c:showSerName val="0"/>
            <c:showPercent val="0"/>
            <c:showBubbleSize val="0"/>
            <c:showLeaderLines val="0"/>
          </c:dLbls>
          <c:cat>
            <c:multiLvlStrRef>
              <c:f>Sheet1!$A$2:$A$8</c:f>
              <c:multiLvlStrCache>
                <c:ptCount val="7"/>
                <c:lvl>
                  <c:pt idx="0">
                    <c:v>GLP</c:v>
                  </c:pt>
                  <c:pt idx="1">
                    <c:v>Eléctricos nuevos</c:v>
                  </c:pt>
                  <c:pt idx="2">
                    <c:v>Reborn*</c:v>
                  </c:pt>
                  <c:pt idx="3">
                    <c:v>Movener*</c:v>
                  </c:pt>
                  <c:pt idx="4">
                    <c:v>Híbridos usados</c:v>
                  </c:pt>
                  <c:pt idx="5">
                    <c:v>Lumine</c:v>
                  </c:pt>
                  <c:pt idx="6">
                    <c:v>Líder</c:v>
                  </c:pt>
                </c:lvl>
              </c:multiLvlStrCache>
            </c:multiLvlStrRef>
          </c:cat>
          <c:val>
            <c:numRef>
              <c:f>Sheet1!$B$2:$B$8</c:f>
              <c:numCache>
                <c:formatCode>General</c:formatCode>
                <c:ptCount val="7"/>
                <c:pt idx="0">
                  <c:v>3.86</c:v>
                </c:pt>
                <c:pt idx="1">
                  <c:v>3.86</c:v>
                </c:pt>
                <c:pt idx="2">
                  <c:v>3.86</c:v>
                </c:pt>
                <c:pt idx="3">
                  <c:v>3.71</c:v>
                </c:pt>
                <c:pt idx="4">
                  <c:v>3.57</c:v>
                </c:pt>
                <c:pt idx="5">
                  <c:v>3</c:v>
                </c:pt>
                <c:pt idx="6">
                  <c:v>4.29</c:v>
                </c:pt>
              </c:numCache>
            </c:numRef>
          </c:val>
        </c:ser>
        <c:ser>
          <c:idx val="1"/>
          <c:order val="1"/>
          <c:tx>
            <c:strRef>
              <c:f>Sheet1!$C$1</c:f>
              <c:strCache>
                <c:ptCount val="1"/>
                <c:pt idx="0">
                  <c:v>Factores de riesgo</c:v>
                </c:pt>
              </c:strCache>
            </c:strRef>
          </c:tx>
          <c:spPr>
            <a:solidFill>
              <a:srgbClr val="2E3438"/>
            </a:solidFill>
            <a:effectLst/>
          </c:spPr>
          <c:invertIfNegative val="0"/>
          <c:dLbls>
            <c:numFmt formatCode="0.00" sourceLinked="0"/>
            <c:txPr>
              <a:bodyPr/>
              <a:lstStyle/>
              <a:p>
                <a:pPr>
                  <a:defRPr b="0" i="0" strike="noStrike" sz="900" u="none">
                    <a:solidFill>
                      <a:srgbClr val="ECECEC"/>
                    </a:solidFill>
                    <a:latin typeface="IBM Plex Mono"/>
                  </a:defRPr>
                </a:pPr>
              </a:p>
            </c:txPr>
            <c:showLegendKey val="0"/>
            <c:showVal val="1"/>
            <c:showCatName val="0"/>
            <c:showSerName val="0"/>
            <c:showPercent val="0"/>
            <c:showBubbleSize val="0"/>
            <c:showLeaderLines val="0"/>
          </c:dLbls>
          <c:cat>
            <c:multiLvlStrRef>
              <c:f>Sheet1!$A$2:$A$8</c:f>
              <c:multiLvlStrCache>
                <c:ptCount val="7"/>
                <c:lvl>
                  <c:pt idx="0">
                    <c:v>GLP</c:v>
                  </c:pt>
                  <c:pt idx="1">
                    <c:v>Eléctricos nuevos</c:v>
                  </c:pt>
                  <c:pt idx="2">
                    <c:v>Reborn*</c:v>
                  </c:pt>
                  <c:pt idx="3">
                    <c:v>Movener*</c:v>
                  </c:pt>
                  <c:pt idx="4">
                    <c:v>Híbridos usados</c:v>
                  </c:pt>
                  <c:pt idx="5">
                    <c:v>Lumine</c:v>
                  </c:pt>
                  <c:pt idx="6">
                    <c:v>Líder</c:v>
                  </c:pt>
                </c:lvl>
              </c:multiLvlStrCache>
            </c:multiLvlStrRef>
          </c:cat>
          <c:val>
            <c:numRef>
              <c:f>Sheet1!$C$2:$C$8</c:f>
              <c:numCache>
                <c:formatCode>General</c:formatCode>
                <c:ptCount val="7"/>
                <c:pt idx="0">
                  <c:v>4</c:v>
                </c:pt>
                <c:pt idx="1">
                  <c:v>3.43</c:v>
                </c:pt>
                <c:pt idx="2">
                  <c:v>3.71</c:v>
                </c:pt>
                <c:pt idx="3">
                  <c:v>3.43</c:v>
                </c:pt>
                <c:pt idx="4">
                  <c:v>3.43</c:v>
                </c:pt>
                <c:pt idx="5">
                  <c:v>2.71</c:v>
                </c:pt>
                <c:pt idx="6">
                  <c:v>4.14</c:v>
                </c:pt>
              </c:numCache>
            </c:numRef>
          </c:val>
        </c:ser>
        <c:dLbls>
          <c:numFmt formatCode="0.00" sourceLinked="0"/>
          <c:txPr>
            <a:bodyPr/>
            <a:lstStyle/>
            <a:p>
              <a:pPr>
                <a:defRPr b="0" i="0" strike="noStrike" sz="900" u="none">
                  <a:solidFill>
                    <a:srgbClr val="ECECEC"/>
                  </a:solidFill>
                  <a:latin typeface="IBM Plex Mono"/>
                </a:defRPr>
              </a:pPr>
            </a:p>
          </c:txPr>
          <c:showLegendKey val="0"/>
          <c:showVal val="1"/>
          <c:showCatName val="0"/>
          <c:showSerName val="0"/>
          <c:showPercent val="0"/>
          <c:showBubbleSize val="0"/>
          <c:showLeaderLines val="0"/>
        </c:dLbls>
        <c:gapWidth val="60"/>
        <c:overlap val="-1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2E3438"/>
            </a:solidFill>
            <a:prstDash val="solid"/>
            <a:round/>
          </a:ln>
        </c:spPr>
        <c:txPr>
          <a:bodyPr/>
          <a:lstStyle/>
          <a:p>
            <a:pPr>
              <a:defRPr sz="950" b="0" i="0" u="none" strike="noStrike">
                <a:solidFill>
                  <a:srgbClr val="ECECEC"/>
                </a:solidFill>
                <a:latin typeface="IBM Plex Mono"/>
              </a:defRPr>
            </a:pPr>
            <a:endParaRPr lang="en-US"/>
          </a:p>
        </c:txPr>
        <c:crossAx val="2094734552"/>
        <c:crosses val="autoZero"/>
        <c:auto val="1"/>
        <c:lblAlgn val="ctr"/>
        <c:noMultiLvlLbl val="1"/>
      </c:catAx>
      <c:valAx>
        <c:axId val="2094734552"/>
        <c:scaling>
          <c:orientation val="minMax"/>
          <c:max val="5"/>
          <c:min val="0"/>
        </c:scaling>
        <c:delete val="0"/>
        <c:axPos val="l"/>
        <c:majorGridlines>
          <c:spPr>
            <a:ln w="9525" cap="flat">
              <a:solidFill>
                <a:srgbClr val="1F2427"/>
              </a:solidFill>
              <a:prstDash val="solid"/>
              <a:round/>
            </a:ln>
          </c:spPr>
        </c:majorGridlines>
        <c:numFmt formatCode="0" sourceLinked="0"/>
        <c:majorTickMark val="out"/>
        <c:minorTickMark val="none"/>
        <c:tickLblPos val="nextTo"/>
        <c:spPr>
          <a:ln w="12700" cap="flat">
            <a:noFill/>
            <a:prstDash val="solid"/>
            <a:round/>
          </a:ln>
        </c:spPr>
        <c:txPr>
          <a:bodyPr/>
          <a:lstStyle/>
          <a:p>
            <a:pPr>
              <a:defRPr sz="900" b="0" i="0" u="none" strike="noStrike">
                <a:solidFill>
                  <a:srgbClr val="8B9598"/>
                </a:solidFill>
                <a:latin typeface="IBM Plex Mono"/>
              </a:defRPr>
            </a:pPr>
            <a:endParaRPr lang="en-US"/>
          </a:p>
        </c:txPr>
        <c:crossAx val="2094734554"/>
        <c:crosses val="autoZero"/>
        <c:crossBetween val="between"/>
        <c:majorUnit val="1"/>
      </c:valAx>
      <c:spPr>
        <a:solidFill>
          <a:srgbClr val="020304"/>
        </a:solidFill>
        <a:ln>
          <a:noFill/>
        </a:ln>
        <a:effectLst/>
      </c:spPr>
    </c:plotArea>
    <c:legend>
      <c:legendPos val="t"/>
      <c:overlay val="0"/>
      <c:txPr>
        <a:bodyPr/>
        <a:lstStyle/>
        <a:p>
          <a:pPr>
            <a:defRPr sz="1000">
              <a:solidFill>
                <a:srgbClr val="8B9598"/>
              </a:solidFill>
              <a:latin typeface="IBM Plex Mono"/>
              <a:cs typeface="IBM Plex Mono"/>
            </a:defRPr>
          </a:pPr>
          <a:endParaRPr lang="en-US"/>
        </a:p>
      </c:txPr>
    </c:legend>
    <c:plotVisOnly val="1"/>
    <c:dispBlanksAs val="span"/>
  </c:chart>
  <c:spPr>
    <a:solidFill>
      <a:srgbClr val="020304"/>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35 s
Buenos días. Somos Diego Alarcón, Benjamín Torres y Lukas Verdugo, y les vamos a presentar el análisis estratégico de Lumine Motors Chile SpA. Lumine es una empresa que todavía no opera: propone convertir autos a combustión en híbridos, sumándoles un motor eléctrico en el eje trasero. Yo parto con el contexto y el entorno, Benjamín sigue con el análisis externo e interno, y Lukas cierra con la síntesis y la estrategia.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50 s
Primero, qué hace Lumine. Como ven en el plano, el motor original queda intacto, con su tracción delantera. Lo que se suma es una unidad de control, un banco de baterías de litio-ferrofosfato y un motor eléctrico en el eje trasero, que asiste al partir y recupera energía al frenar. El cliente objetivo son autos de tracción delantera con alto kilometraje, sobre todo colectiveros y conductores de aplicación. La promesa es hasta 20% menos bencina en ciudad, pero es una estimación de ingeniería, no una medición en autos chilenos. Y algo clave para leer todo lo que viene: Lumine es preoperativa. No tiene taller, personal, clientes ni flujo de caja.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45 s
El análisis se apoya en cuatro instrumentos del curso. El de industria da 3,49: un sector moderadamente poco atractivo. El PEST da 2,82, bajo el neutro, con 20 amenazas contra 13 oportunidades. Competencias centrales encuentra solo 2 ventajas sostenibles entre 15 recursos y capacidades. Y la cadena de valor da 3,00 en habilidades, 1,29 puntos bajo el líder. Todo se evalúa en un solo escenario: la Ley 21.793 está publicada pero no tiene reglamento, y la única referencia es un borrador de 2021. Como todavía no hay estados financieros, el análisis de ratios no aplica.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50 s
Con el escáner de Kovacevic y Reynoso, la primera conclusión es dura: Lumine no tiene hoy ninguna ventaja competitiva efectiva. Las tendencias sí juegan a favor: el parque se conserva, con 3,5 autos usados transferidos por cada nuevo; la bencina 93 subió de 1.149 a 1.541 pesos el litro, y las baterías LFP están en 81 dólares por kWh. En contra están la economía débil y el dólar cerca de 970 pesos, que encarece un kit que es todo importado. La única competencia central es saber calibrar el kit para cada marca y modelo. Pero esa biblioteca de calibraciones hoy está vacía, así que la ventaja es potencial, no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DIEGO ALARCÓN · 55 s
¿Por qué alguien compraría esto? Porque el cliente decide por margen, no por sostenibilidad. El valor es el combustible que deja de comprar. Un conductor que hace entre 150 y 250 kilómetros al día gasta entre 522 mil y 870 mil pesos al mes; con hasta 20% de ahorro, son entre 104 mil y 174 mil pesos mensuales. Es un techo, no una medición. Por eso el precio tiene que quedar muy por debajo de los 7 millones de un híbrido usado y cobrarse en cuotas. Las entrevistas agregan algo: el precio decide si compra, pero la confianza decide si se atreve. Piden certificación, garantía y saber quién responde si algo falla. Con esto le paso la palabra a Benjamín.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50 s
Gracias, Diego. En el análisis externo, el PEST muestra un entorno desfavorable: 20 amenazas contra 13 oportunidades y un puntaje global de 2,82, bajo el neutro de 3. Lo económico es lo más débil, con 2,38: bajo ingreso disponible, dólar alto y una tasa de política monetaria de 4,5% que encarece las cuotas. Lo tecnológico es lo único sobre 3, porque estudios internacionales como los del ICCT documentan el ahorro y los componentes están estandarizados. La matriz de impacto e incertidumbre deja cinco factores críticos: el reglamento, las aseguradoras y plantas de revisión técnica, el precio de la bencina, el tipo de cambio y el ahorro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50 s
El más crítico es el reglamento, por eso armamos este árbol. La primera pregunta es si la transformación puede conservar el motor. Si la respuesta es sí, queda la duda de si se excluyen los autos con ABS o airbag: sin exclusión hay una vía amplia, E1, donde la barrera protege al primero que homologa; con exclusión, la vía se acota, E2. Pero el borrador de 2021 apunta a la rama del no, en celeste, que lleva a una vía alternativa por alteración de características, E3, o a no tener vía legal, E4. Ninguna decisión comercial cambia de rama: eso lo decide la respuesta escrita de la autoridad.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45 s
Las cinco fuerzas de Porter dan un promedio ponderado de 3,49. La fuerza dominante son los sustitutos, con 5 de 5: el principal competidor de Lumine no es otro taller, es no hacer nada, que cuesta cero pesos. Le siguen los nuevos entrantes, con 3,75, porque una vez abierta la vía cualquiera con presupuesto puede homologar. La rivalidad y los proveedores juegan a favor. Sustitutos y clientes suman 55% del peso y tienen la misma causa: el cliente puede quedarse con su auto. Como esa causa es la falta de liquidez, el financiamiento en cuotas ataca el problema de raíz.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40 s
Pasando al análisis interno, la fortaleza de Lumine es de diseño, no de ejecución. De los seis factores críticos de éxito, solo dos llegan a fortaleza leve: la integración y calibración, y la estandarización del taller. Ninguno se ha probado en un auto real. Lo preocupante son los marcados en amarillo: la gestión regulatoria y el financiamiento son condiciones de entrada y están entre los más débiles, sin interlocución con la autoridad y sin convenio financiero. Además, el talento en alta tensión es escaso y no hay un esquema para retenerlo.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BENJAMÍN TORRES · 40 s
Con los criterios de Hitt evaluamos 15 recursos y capacidades. Solo dos cumplen los cuatro: la biblioteca de calibraciones y la ingeniería de integración. En el fondo son la misma competencia: saber calibrar el kit para cada modelo. Seis dan ventaja temporal, como la homologación, la autorización del taller o los técnicos con licencia SEC, porque un competidor puede conseguirlas con tiempo y presupuesto. Las otras siete son igualdad competitiva. La advertencia es que la ventaja sostenible depende de proteger la biblioteca como secreto empresarial. Lukas sigue con la síntesis.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40 s
Gracias, Benjamín. En la cadena de valor, el costo y la exclusividad no coinciden. El costo se acumula en la logística de entrada: el kit es importado, las baterías viajan como mercancía peligrosa y todo está en dólares. La exclusividad nace en el desarrollo tecnológico, que es la calibración, y se entrega en operaciones. Operaciones es además el cuello de botella: ahí se juntan la homologación por modelo, los plazos de importación y la falta de técnicos. Y la infraestructura es condición de entrada: sin autorización del taller, nada opera.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35 s
Ordenamos el FODA según las cuatro perspectivas del cuadro de mando integral, y el resultado es claro. Las fortalezas están en procesos internos: la arquitectura en el eje trasero y un proceso de cinco etapas bien diseñado. Pero las amenazas que deciden el negocio caen en clientes: bajo ingreso disponible, desempleo de 9,5% y la opción de no hacer nada a costo cero. Es decir, sabemos qué hacer técnicamente; el riesgo está en que el cliente pueda y quiera pagarlo.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40 s
De ese FODA salen cuatro cruces. FO: homologar primero los modelos más comunes en el segmento priorizado, porque nadie ofrece hoy hibridación certificada. DO: plantear al Ministerio de Transportes, mientras escribe el reglamento, el precedente de la conversión a gas. FA: frente al híbrido usado y a no hacer nada, vender la cuota mensual contra el ahorro mensual. Y DA: cerrar convenios con aseguradoras, plantas de revisión técnica y una institución financiera antes de vender el primer kit. Los instrumentos agregan un quinto cruce: cubrir el riesgo cambiario.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45 s
Con todo esto, la estrategia de Lumine es diferenciación enfocada: un servicio certificado que reduce el combustible del auto que el cliente ya tiene, para conductores de alto kilometraje. El objetivo es ser hacia 2031 el taller de referencia en hibridación. La ventaja es ser la única alternativa que reduce el consumo sin cambiar el auto, sin límite de antigüedad y con certificación. Las renuncias son claras: no competir en precio con el gas, no atender a quien maneja poco y no ofrecer inmediatez. Dos observaciones críticas: el objetivo no tiene una meta medible y la ventaja sigue siendo potencial.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40 s
Los ocho objetivos se agrupan en tres ejes. Habilitación formal: la autorización del taller, las homologaciones y el reconocimiento de aseguradoras y plantas. Acceso comercial: consolidar el segmento y ofrecer financiamiento. Y conocimiento y escala: demostrar el ahorro real, retener a los técnicos y ampliar la capacidad. Cada eje se mide en perspectivas concretas del cuadro de mando. Pero encontramos una brecha: ningún eje aborda el riesgo cambiario, que el PEST marca como gran amenaza. Proponemos sumarlo al eje de acceso comercial o al plan financiero.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LUKAS VERDUGO · 30 s
Para cerrar: la prioridad de Lumine no es competir con otros talleres, es lograr que el ahorro supere al precio frente a la opción de no hacer nada. Para eso tiene que resolver cinco problemas: la vía legal, el reconocimiento de aseguradoras y plantas, la capacidad de pago del cliente, la medición del ahorro y el riesgo cambiario. Muchas gracias. Quedamos atentos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 No se presenta. Sirve para saltar a la diapositiva de apoyo cuando una pregunta lo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A1 · Solo si preguntan.
La necesidad central es reducir de forma permanente el gasto en combustible del vehículo que ya se tiene, sin reemplazarlo. Las entrevistas sugieren un orden: primero, que no se intervenga el motor (lo pidieron los tres entrevistados); segundo, confianza institucional; tercero, el precio. Hay una tensión entre fuentes: los instrumentos 02 y 03 muestran un cliente muy sensible al precio, mientras las entrevistas ponen la confianza antes. Ambas cosas pueden ser ciertas. Con n = 3 y muestra por conveniencia, el orden es una hipótesis que exige validar con una muestra aleatoria y cuantitativa.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A2 · Solo si preguntan.
La industria tiene tres dogmas. Primero, que reducir la huella exige reemplazar el vehículo: desafiarlo abre el mercado de quienes conservan su auto. Segundo, que intervenir la propulsión es intervenir la combustión, lo que justifica limitarla a autos de pocos años: la arquitectura en el eje trasero no altera la combustión. Tercero, que transformar es cambiar el motor por uno eléctrico, según el borrador de 2021: se puede plantear al MTT porque la ley habla de «otras adaptaciones y transformaciones». Lo que Lumine puede hacer y los demás no es reunir tres atributos: mejorar el vehículo sin reemplazarlo, no excluirlo por antigüedad y entregar una certificación reconocible.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A3 · Solo si preguntan.
Los socios que deciden si el servicio puede venderse son el regulador, las aseguradoras, las plantas de revisión técnica y la institución financiera; ninguno está formalizado (06, cuentas claves: riesgo 2). No se proponen alianzas hacia atrás: la cadena de proveedores es fragmentada y a la baja. Pero si la homologación es por par modelo-kit, cambiar de proveedor obliga a rehomologar cada modelo, así que conviene un acuerdo de abastecimiento de largo plazo. Para mejorar la cadena de suministro: protocolo de contención ante señales regulatorias adversas, consolidación de embarques con cobertura cambiaria y externalización de aduana y transporte Clase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A4 · Solo si preguntan.
La Ley N° 21.793 abrió una vía formal para intervenir la propulsión de vehículos en uso, y su reglamento decidirá si esa vía incluye a Lumine. Es un cambio abrupto, por evento. El resto del entorno cambia lento, con una excepción: el deterioro macroeconómico de 2026 (PIB recortado, desempleo de 9,5% y dólar alto), que golpea la capacidad de pago del cliente. El nicho que ninguna oferta formal cubre son los vehículos de más de siete años: no pueden convertirse a gas. Y la meta de 100% de ventas cero emisiones al 2035 recae sobre autos nuevos, así que el parque usado sigue envejeciendo y el nicho crece.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A5 · Solo si preguntan.
El instrumento 03 clasifica los factores por impacto comercial e incertidumbre. Según Francés, cada cuadrante pide una herramienta distinta: escenarios para los factores críticos, análisis proyectivo para las tendencias y análisis de eventos para lo que se monitorea. Los cinco factores críticos requieren escenarios alternos: el reglamento, el reconocimiento de aseguradoras y plantas, el precio de la bencina, el tipo de cambio y el ahorro real. Tres de ellos (reglamento, aseguradoras y plantas, y ahorro real) dependen de terceros o de una medición que aún no existe.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A6 · Solo si preguntan.
Las 7S muestran un patrón claro. Las S duras, estrategia y sistemas, están diseñadas: hay misión, visión, ocho objetivos, un CMI y un proceso de taller de cinco etapas, aunque sin operar y sin línea base. Las S blandas que sostienen la ejecución son las más débiles: un estilo de gestión concentrado en fundadores sin trayectoria en la industria, un perfil técnico escaso (mecánica más alta tensión con licencia SEC) y ningún esquema para retener a los técnicos. Los puntajes vienen de las líneas equivalentes del instrumento 06 (habilidad /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A7 · Solo si preguntan.
Frente a los competidores, Lumine obtiene 3,00 en habilidades y 2,71 en factores de riesgo. El líder, armado con el máximo de cada área entre GLP, híbridos usados y eléctricos nuevos, llega a 4,29 y 4,14: la brecha es de −1,29 y −1,43. Las siete áreas salen debilidad por dos razones de diseño que el instrumento declara: se compara una empresa preoperativa con actores en operación, y el líder no es un competidor real. Los puntajes de competidores son estimaciones del equipo. Por eso el insumo correcto para el FODA son las fortalezas puntuales, las líneas con puntaje 4 o más, y no el promedio. Tecnología es el área más fuerte en habilidades (3,33) y, junto con Finanzas, la de mayor riesgo.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ANEXO A8 · Solo si preguntan.
Son cinco problemas clave. Uno, la vía legal: sin un reglamento que reconozca la hibridación aditiva, no hay negocio. Dos, el reconocimiento de terceros: aseguradoras y plantas pueden bloquear la venta aun con reglamento favorable. Tres, la capacidad de pago: ingreso disponible bajo, desempleo de 9,5% y crédito caro; sin financiamiento no hay conversión. Cuatro, el ahorro no medido: el 20% en ciudad es una estimación no verificada en autos chilenos. Cinco, la exposición cambiaria: todo el costo variable está en dólares y sin cobertura.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image" Target="../media/PORTADA-image-2.jpe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image" Target="../media/image-1004-2.png"/><Relationship Id="rId3" Type="http://schemas.openxmlformats.org/officeDocument/2006/relationships/image" Target="../media/CIERRE-image-3.jpeg"/><Relationship Id="rId4"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ph idx="101" type="title" hasCustomPrompt="1"/>
          </p:nvPr>
        </p:nvSpPr>
        <p:spPr>
          <a:xfrm>
            <a:off x="548640" y="1207008"/>
            <a:ext cx="11094415" cy="914400"/>
          </a:xfrm>
          <a:prstGeom prst="rect">
            <a:avLst/>
          </a:prstGeom>
          <a:noFill/>
          <a:ln/>
        </p:spPr>
        <p:txBody>
          <a:bodyPr wrap="square" rtlCol="0"/>
          <a:lstStyle>
            <a:lvl1pPr algn="ctr" indent="0" marL="0">
              <a:lnSpc>
                <a:spcPct val="86000"/>
              </a:lnSpc>
              <a:buNone/>
              <a:defRPr lang="en-US" sz="50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ctr" indent="0" marL="0">
              <a:lnSpc>
                <a:spcPct val="86000"/>
              </a:lnSpc>
              <a:buNone/>
            </a:pPr>
            <a:endParaRPr lang="en-US" sz="5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chemeClr val="bg1"/>
        </a:solidFill>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sp>
        <p:nvSpPr>
          <p:cNvPr id="3" name="Text 0"/>
          <p:cNvSpPr/>
          <p:nvPr/>
        </p:nvSpPr>
        <p:spPr>
          <a:xfrm>
            <a:off x="5669280" y="365760"/>
            <a:ext cx="5973775" cy="237744"/>
          </a:xfrm>
          <a:prstGeom prst="rect">
            <a:avLst/>
          </a:prstGeom>
          <a:noFill/>
          <a:ln/>
        </p:spPr>
        <p:txBody>
          <a:bodyPr wrap="square" lIns="0" tIns="0" rIns="0" bIns="0" rtlCol="0" anchor="ctr"/>
          <a:lstStyle/>
          <a:p>
            <a:pPr algn="r" indent="0" marL="0">
              <a:buNone/>
            </a:pPr>
            <a:r>
              <a:rPr lang="en-US" sz="900" spc="150" kern="0" dirty="0">
                <a:solidFill>
                  <a:schemeClr val="tx2"/>
                </a:solidFill>
                <a:latin typeface="IBM Plex Mono" pitchFamily="34" charset="0"/>
                <a:ea typeface="IBM Plex Mono" pitchFamily="34" charset="-122"/>
                <a:cs typeface="IBM Plex Mono" pitchFamily="34" charset="-120"/>
              </a:rPr>
              <a:t>CONTROL DE GESTIÓN · ICMA901 · NRC 4118</a:t>
            </a:r>
            <a:endParaRPr lang="en-US" sz="900" dirty="0"/>
          </a:p>
        </p:txBody>
      </p:sp>
      <p:sp>
        <p:nvSpPr>
          <p:cNvPr id="4" name="Text 1"/>
          <p:cNvSpPr/>
          <p:nvPr/>
        </p:nvSpPr>
        <p:spPr>
          <a:xfrm>
            <a:off x="548640" y="6382512"/>
            <a:ext cx="6400800" cy="219456"/>
          </a:xfrm>
          <a:prstGeom prst="rect">
            <a:avLst/>
          </a:prstGeom>
          <a:noFill/>
          <a:ln/>
        </p:spPr>
        <p:txBody>
          <a:bodyPr wrap="square" lIns="0" tIns="0" rIns="0" bIns="0" rtlCol="0" anchor="ctr"/>
          <a:lstStyle/>
          <a:p>
            <a:pPr indent="0" marL="0">
              <a:buNone/>
            </a:pPr>
            <a:r>
              <a:rPr lang="en-US" sz="800" spc="150" kern="0" dirty="0">
                <a:solidFill>
                  <a:schemeClr val="tx2"/>
                </a:solidFill>
                <a:latin typeface="IBM Plex Mono" pitchFamily="34" charset="0"/>
                <a:ea typeface="IBM Plex Mono" pitchFamily="34" charset="-122"/>
                <a:cs typeface="IBM Plex Mono" pitchFamily="34" charset="-120"/>
              </a:rPr>
              <a:t>LUMINE MOTORS CHILE SPA · ANÁLISIS ESTRATÉGICO</a:t>
            </a:r>
            <a:endParaRPr lang="en-US" sz="800" dirty="0"/>
          </a:p>
        </p:txBody>
      </p:sp>
      <p:sp>
        <p:nvSpPr>
          <p:cNvPr id="5" name="Text 2"/>
          <p:cNvSpPr/>
          <p:nvPr>
            <p:ph idx="103" type="body" hasCustomPrompt="1"/>
          </p:nvPr>
        </p:nvSpPr>
        <p:spPr>
          <a:xfrm>
            <a:off x="548640" y="914400"/>
            <a:ext cx="11094415" cy="256032"/>
          </a:xfrm>
          <a:prstGeom prst="rect">
            <a:avLst/>
          </a:prstGeom>
          <a:noFill/>
          <a:ln/>
        </p:spPr>
        <p:txBody>
          <a:bodyPr wrap="square" rtlCol="0"/>
          <a:lstStyle>
            <a:lvl1pPr indent="0" marL="0">
              <a:buNone/>
              <a:defRPr lang="en-US" sz="1000" spc="150" kern="0" dirty="0">
                <a:solidFill>
                  <a:schemeClr val="tx2"/>
                </a:solidFill>
                <a:latin typeface="IBM Plex Mono" pitchFamily="34" charset="0"/>
                <a:ea typeface="IBM Plex Mono" pitchFamily="34" charset="-122"/>
                <a:cs typeface="IBM Plex Mono" pitchFamily="34" charset="-120"/>
              </a:defRPr>
            </a:lvl1pPr>
          </a:lstStyle>
          <a:p>
            <a:pPr indent="0" marL="0">
              <a:buNone/>
            </a:pPr>
            <a:endParaRPr lang="en-US" sz="1000" dirty="0"/>
          </a:p>
        </p:txBody>
      </p:sp>
      <p:sp>
        <p:nvSpPr>
          <p:cNvPr id="6" name="Text 2"/>
          <p:cNvSpPr/>
          <p:nvPr>
            <p:ph idx="104" type="title" hasCustomPrompt="1"/>
          </p:nvPr>
        </p:nvSpPr>
        <p:spPr>
          <a:xfrm>
            <a:off x="548640" y="1261872"/>
            <a:ext cx="11094415" cy="932688"/>
          </a:xfrm>
          <a:prstGeom prst="rect">
            <a:avLst/>
          </a:prstGeom>
          <a:noFill/>
          <a:ln/>
        </p:spPr>
        <p:txBody>
          <a:bodyPr wrap="square" rtlCol="0"/>
          <a:lstStyle>
            <a:lvl1pPr algn="l" indent="0" marL="0">
              <a:lnSpc>
                <a:spcPct val="88000"/>
              </a:lnSpc>
              <a:buNone/>
              <a:defRPr lang="en-US" sz="30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88000"/>
              </a:lnSpc>
              <a:buNone/>
            </a:pPr>
            <a:endParaRPr lang="en-US" sz="30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IERRE">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pic>
        <p:nvPicPr>
          <p:cNvPr id="2" name="Image 0" descr="Lumine Motors">    </p:cNvPr>
          <p:cNvPicPr>
            <a:picLocks noChangeAspect="1"/>
          </p:cNvPicPr>
          <p:nvPr/>
        </p:nvPicPr>
        <p:blipFill>
          <a:blip r:embed="rId1"/>
          <a:stretch>
            <a:fillRect/>
          </a:stretch>
        </p:blipFill>
        <p:spPr>
          <a:xfrm>
            <a:off x="548640" y="384048"/>
            <a:ext cx="984563" cy="201168"/>
          </a:xfrm>
          <a:prstGeom prst="rect">
            <a:avLst/>
          </a:prstGeom>
        </p:spPr>
      </p:pic>
      <p:pic>
        <p:nvPicPr>
          <p:cNvPr id="3" name="Image 1" descr="LUMINE">    </p:cNvPr>
          <p:cNvPicPr>
            <a:picLocks noChangeAspect="1"/>
          </p:cNvPicPr>
          <p:nvPr/>
        </p:nvPicPr>
        <p:blipFill>
          <a:blip r:embed="rId2"/>
          <a:stretch>
            <a:fillRect/>
          </a:stretch>
        </p:blipFill>
        <p:spPr>
          <a:xfrm>
            <a:off x="548640" y="4224528"/>
            <a:ext cx="11094415" cy="1823739"/>
          </a:xfrm>
          <a:prstGeom prst="rect">
            <a:avLst/>
          </a:prstGeom>
        </p:spPr>
      </p:pic>
      <p:sp>
        <p:nvSpPr>
          <p:cNvPr id="4" name="Text 0"/>
          <p:cNvSpPr/>
          <p:nvPr>
            <p:ph idx="102" type="title" hasCustomPrompt="1"/>
          </p:nvPr>
        </p:nvSpPr>
        <p:spPr>
          <a:xfrm>
            <a:off x="548640" y="1325880"/>
            <a:ext cx="11094415" cy="1737360"/>
          </a:xfrm>
          <a:prstGeom prst="rect">
            <a:avLst/>
          </a:prstGeom>
          <a:noFill/>
          <a:ln/>
        </p:spPr>
        <p:txBody>
          <a:bodyPr wrap="square" rtlCol="0"/>
          <a:lstStyle>
            <a:lvl1pPr algn="l" indent="0" marL="0">
              <a:lnSpc>
                <a:spcPct val="90000"/>
              </a:lnSpc>
              <a:buNone/>
              <a:defRPr lang="en-US" sz="3000" dirty="0">
                <a:solidFill>
                  <a:schemeClr val="tx1"/>
                </a:solidFill>
                <a:latin typeface="Archivo SemiExpanded ExtraBold" pitchFamily="34" charset="0"/>
                <a:ea typeface="Archivo SemiExpanded ExtraBold" pitchFamily="34" charset="-122"/>
                <a:cs typeface="Archivo SemiExpanded ExtraBold" pitchFamily="34" charset="-120"/>
              </a:defRPr>
            </a:lvl1pPr>
          </a:lstStyle>
          <a:p>
            <a:pPr algn="l" indent="0" marL="0">
              <a:lnSpc>
                <a:spcPct val="90000"/>
              </a:lnSpc>
              <a:buNone/>
            </a:pPr>
            <a:endParaRPr lang="en-US" sz="3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lustración conceptual: auto en rayos X con el kit Lumine (unidad de control, baterías bajo el piso y motor eléctrico en el eje trasero)">    </p:cNvPr>
          <p:cNvPicPr>
            <a:picLocks noChangeAspect="1"/>
          </p:cNvPicPr>
          <p:nvPr/>
        </p:nvPicPr>
        <p:blipFill>
          <a:blip r:embed="rId1"/>
          <a:stretch>
            <a:fillRect/>
          </a:stretch>
        </p:blipFill>
        <p:spPr>
          <a:xfrm>
            <a:off x="0" y="411480"/>
            <a:ext cx="12191695" cy="6861474"/>
          </a:xfrm>
          <a:prstGeom prst="rect">
            <a:avLst/>
          </a:prstGeom>
        </p:spPr>
      </p:pic>
      <p:pic>
        <p:nvPicPr>
          <p:cNvPr id="3" name="Image 1" descr="/home/user/lumine/control-de-gestion/generador/assets/velo.png">    </p:cNvPr>
          <p:cNvPicPr>
            <a:picLocks noChangeAspect="1"/>
          </p:cNvPicPr>
          <p:nvPr/>
        </p:nvPicPr>
        <p:blipFill>
          <a:blip r:embed="rId2"/>
          <a:stretch>
            <a:fillRect/>
          </a:stretch>
        </p:blipFill>
        <p:spPr>
          <a:xfrm>
            <a:off x="0" y="4206240"/>
            <a:ext cx="12191695" cy="2651760"/>
          </a:xfrm>
          <a:prstGeom prst="rect">
            <a:avLst/>
          </a:prstGeom>
        </p:spPr>
      </p:pic>
      <p:sp>
        <p:nvSpPr>
          <p:cNvPr id="4" name="Shape 0"/>
          <p:cNvSpPr/>
          <p:nvPr/>
        </p:nvSpPr>
        <p:spPr>
          <a:xfrm>
            <a:off x="0" y="5669280"/>
            <a:ext cx="12191695" cy="1188720"/>
          </a:xfrm>
          <a:prstGeom prst="rect">
            <a:avLst/>
          </a:prstGeom>
          <a:solidFill>
            <a:schemeClr val="bg1">
              <a:alpha val="75000"/>
            </a:schemeClr>
          </a:solidFill>
          <a:ln/>
        </p:spPr>
      </p:sp>
      <p:pic>
        <p:nvPicPr>
          <p:cNvPr id="5" name="Image 2" descr="Lumine Motors">    </p:cNvPr>
          <p:cNvPicPr>
            <a:picLocks noChangeAspect="1"/>
          </p:cNvPicPr>
          <p:nvPr/>
        </p:nvPicPr>
        <p:blipFill>
          <a:blip r:embed="rId3"/>
          <a:stretch>
            <a:fillRect/>
          </a:stretch>
        </p:blipFill>
        <p:spPr>
          <a:xfrm>
            <a:off x="548640" y="384048"/>
            <a:ext cx="984563" cy="201168"/>
          </a:xfrm>
          <a:prstGeom prst="rect">
            <a:avLst/>
          </a:prstGeom>
        </p:spPr>
      </p:pic>
      <p:sp>
        <p:nvSpPr>
          <p:cNvPr id="6" name="Text 1"/>
          <p:cNvSpPr txBox="1"/>
          <p:nvPr/>
        </p:nvSpPr>
        <p:spPr>
          <a:xfrm>
            <a:off x="6583680" y="365760"/>
            <a:ext cx="5059375" cy="237744"/>
          </a:xfrm>
          <a:prstGeom prst="rect">
            <a:avLst/>
          </a:prstGeom>
          <a:noFill/>
          <a:ln/>
        </p:spPr>
        <p:txBody>
          <a:bodyPr wrap="square" lIns="0" tIns="0" rIns="0" bIns="0" rtlCol="0" anchor="ctr"/>
          <a:lstStyle/>
          <a:p>
            <a:pPr algn="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UNAB · OCTUBRE 2026</a:t>
            </a:r>
            <a:endParaRPr lang="es-CL" sz="900" dirty="0"/>
          </a:p>
        </p:txBody>
      </p:sp>
      <p:sp>
        <p:nvSpPr>
          <p:cNvPr id="7" name="Text 2"/>
          <p:cNvSpPr txBox="1"/>
          <p:nvPr/>
        </p:nvSpPr>
        <p:spPr>
          <a:xfrm>
            <a:off x="548640" y="868680"/>
            <a:ext cx="11094415" cy="274320"/>
          </a:xfrm>
          <a:prstGeom prst="rect">
            <a:avLst/>
          </a:prstGeom>
          <a:noFill/>
          <a:ln/>
        </p:spPr>
        <p:txBody>
          <a:bodyPr wrap="square" lIns="0" tIns="0" rIns="0" bIns="0" rtlCol="0" anchor="ctr"/>
          <a:lstStyle/>
          <a:p>
            <a:pPr algn="ctr" indent="0" marL="0">
              <a:buNone/>
            </a:pPr>
            <a:r>
              <a:rPr lang="es-CL" altLang="en-US" sz="1000" spc="150" kern="0" dirty="0">
                <a:solidFill>
                  <a:schemeClr val="tx2"/>
                </a:solidFill>
                <a:latin typeface="IBM Plex Mono" pitchFamily="34" charset="0"/>
                <a:ea typeface="IBM Plex Mono" pitchFamily="34" charset="-122"/>
                <a:cs typeface="IBM Plex Mono" pitchFamily="34" charset="-120"/>
              </a:rPr>
              <a:t>DESARROLLO DE LA ESTRATEGIA · LUMINE MOTORS CHILE SPA</a:t>
            </a:r>
            <a:endParaRPr lang="es-CL" sz="1000" dirty="0"/>
          </a:p>
        </p:txBody>
      </p:sp>
      <p:sp>
        <p:nvSpPr>
          <p:cNvPr id="8" name="Text 0"/>
          <p:cNvSpPr/>
          <p:nvPr>
            <p:ph idx="101" type="title" hasCustomPrompt="1"/>
          </p:nvPr>
        </p:nvSpPr>
        <p:spPr>
          <a:xfrm>
            <a:off x="548640" y="1207008"/>
            <a:ext cx="11094415" cy="914400"/>
          </a:xfrm>
          <a:prstGeom prst="rect">
            <a:avLst/>
          </a:prstGeom>
          <a:noFill/>
          <a:ln/>
        </p:spPr>
        <p:txBody>
          <a:bodyPr wrap="square" lIns="0" tIns="0" rIns="0" bIns="0" rtlCol="0" anchor="t"/>
          <a:lstStyle/>
          <a:p>
            <a:pPr algn="ctr" indent="0" marL="0">
              <a:lnSpc>
                <a:spcPct val="86000"/>
              </a:lnSpc>
              <a:buNone/>
            </a:pPr>
            <a:r>
              <a:rPr lang="en-US" sz="5000" dirty="0">
                <a:solidFill>
                  <a:schemeClr val="tx1"/>
                </a:solidFill>
                <a:latin typeface="Archivo SemiExpanded ExtraBold" pitchFamily="34" charset="0"/>
                <a:ea typeface="Archivo SemiExpanded ExtraBold" pitchFamily="34" charset="-122"/>
                <a:cs typeface="Archivo SemiExpanded ExtraBold" pitchFamily="34" charset="-120"/>
              </a:rPr>
              <a:t>ANÁLISIS </a:t>
            </a:r>
            <a:pPr algn="ctr" indent="0" marL="0">
              <a:lnSpc>
                <a:spcPct val="86000"/>
              </a:lnSpc>
              <a:buNone/>
            </a:pPr>
            <a:r>
              <a:rPr lang="en-US" sz="6200" i="1" dirty="0">
                <a:solidFill>
                  <a:schemeClr val="accent1"/>
                </a:solidFill>
                <a:latin typeface="Instrument Serif" pitchFamily="34" charset="0"/>
                <a:ea typeface="Instrument Serif" pitchFamily="34" charset="-122"/>
                <a:cs typeface="Instrument Serif" pitchFamily="34" charset="-120"/>
              </a:rPr>
              <a:t>estratégico.</a:t>
            </a:r>
            <a:endParaRPr lang="en-US" sz="5000" dirty="0"/>
          </a:p>
        </p:txBody>
      </p:sp>
      <p:sp>
        <p:nvSpPr>
          <p:cNvPr id="9" name="Shape 4"/>
          <p:cNvSpPr/>
          <p:nvPr/>
        </p:nvSpPr>
        <p:spPr>
          <a:xfrm>
            <a:off x="548640" y="5532120"/>
            <a:ext cx="11094415" cy="0"/>
          </a:xfrm>
          <a:prstGeom prst="line">
            <a:avLst/>
          </a:prstGeom>
          <a:noFill/>
          <a:ln w="9525">
            <a:solidFill>
              <a:schemeClr val="accent5"/>
            </a:solidFill>
            <a:prstDash val="solid"/>
          </a:ln>
        </p:spPr>
      </p:sp>
      <p:sp>
        <p:nvSpPr>
          <p:cNvPr id="10" name="Text 5"/>
          <p:cNvSpPr txBox="1"/>
          <p:nvPr/>
        </p:nvSpPr>
        <p:spPr>
          <a:xfrm>
            <a:off x="548640" y="5687568"/>
            <a:ext cx="251460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CURSO</a:t>
            </a:r>
            <a:endParaRPr lang="es-CL" sz="850" dirty="0"/>
          </a:p>
        </p:txBody>
      </p:sp>
      <p:sp>
        <p:nvSpPr>
          <p:cNvPr id="11" name="Text 6"/>
          <p:cNvSpPr txBox="1"/>
          <p:nvPr/>
        </p:nvSpPr>
        <p:spPr>
          <a:xfrm>
            <a:off x="548640" y="5943600"/>
            <a:ext cx="2514600" cy="329184"/>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Control de Gestión · Teoría</a:t>
            </a:r>
            <a:endParaRPr lang="es-CL" sz="1500" dirty="0"/>
          </a:p>
        </p:txBody>
      </p:sp>
      <p:sp>
        <p:nvSpPr>
          <p:cNvPr id="12" name="Text 7"/>
          <p:cNvSpPr txBox="1"/>
          <p:nvPr/>
        </p:nvSpPr>
        <p:spPr>
          <a:xfrm>
            <a:off x="3063240" y="5687568"/>
            <a:ext cx="224028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CÓDIGO</a:t>
            </a:r>
            <a:endParaRPr lang="es-CL" sz="850" dirty="0"/>
          </a:p>
        </p:txBody>
      </p:sp>
      <p:sp>
        <p:nvSpPr>
          <p:cNvPr id="13" name="Text 8"/>
          <p:cNvSpPr txBox="1"/>
          <p:nvPr/>
        </p:nvSpPr>
        <p:spPr>
          <a:xfrm>
            <a:off x="3063240" y="5943600"/>
            <a:ext cx="2240280" cy="329184"/>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ICMA901 · Sección 500</a:t>
            </a:r>
            <a:endParaRPr lang="es-CL" sz="1500" dirty="0"/>
          </a:p>
        </p:txBody>
      </p:sp>
      <p:sp>
        <p:nvSpPr>
          <p:cNvPr id="14" name="Text 9"/>
          <p:cNvSpPr txBox="1"/>
          <p:nvPr/>
        </p:nvSpPr>
        <p:spPr>
          <a:xfrm>
            <a:off x="5303520" y="5687568"/>
            <a:ext cx="96012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NRC</a:t>
            </a:r>
            <a:endParaRPr lang="es-CL" sz="850" dirty="0"/>
          </a:p>
        </p:txBody>
      </p:sp>
      <p:sp>
        <p:nvSpPr>
          <p:cNvPr id="15" name="Text 10"/>
          <p:cNvSpPr txBox="1"/>
          <p:nvPr/>
        </p:nvSpPr>
        <p:spPr>
          <a:xfrm>
            <a:off x="5303520" y="5943600"/>
            <a:ext cx="960120" cy="329184"/>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4118</a:t>
            </a:r>
            <a:endParaRPr lang="es-CL" sz="1500" dirty="0"/>
          </a:p>
        </p:txBody>
      </p:sp>
      <p:sp>
        <p:nvSpPr>
          <p:cNvPr id="16" name="Text 11"/>
          <p:cNvSpPr txBox="1"/>
          <p:nvPr/>
        </p:nvSpPr>
        <p:spPr>
          <a:xfrm>
            <a:off x="6263640" y="5687568"/>
            <a:ext cx="5376672"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INTEGRANTES</a:t>
            </a:r>
            <a:endParaRPr lang="es-CL" sz="850" dirty="0"/>
          </a:p>
        </p:txBody>
      </p:sp>
      <p:sp>
        <p:nvSpPr>
          <p:cNvPr id="17" name="Text 12"/>
          <p:cNvSpPr txBox="1"/>
          <p:nvPr/>
        </p:nvSpPr>
        <p:spPr>
          <a:xfrm>
            <a:off x="6263640" y="5943600"/>
            <a:ext cx="5376672" cy="329184"/>
          </a:xfrm>
          <a:prstGeom prst="rect">
            <a:avLst/>
          </a:prstGeom>
          <a:noFill/>
          <a:ln/>
        </p:spPr>
        <p:txBody>
          <a:bodyPr wrap="square" lIns="0" tIns="0" rIns="0" bIns="0" rtlCol="0" anchor="t"/>
          <a:lstStyle/>
          <a:p>
            <a:pPr indent="0" marL="0">
              <a:buNone/>
            </a:pPr>
            <a:r>
              <a:rPr lang="es-CL" altLang="en-US" sz="1500" dirty="0">
                <a:solidFill>
                  <a:schemeClr val="tx1"/>
                </a:solidFill>
                <a:latin typeface="Figtree" pitchFamily="34" charset="0"/>
                <a:ea typeface="Figtree" pitchFamily="34" charset="-122"/>
                <a:cs typeface="Figtree" pitchFamily="34" charset="-120"/>
              </a:rPr>
              <a:t>Diego Alarcón · Benjamín Torres · Lukas Verdugo</a:t>
            </a:r>
            <a:endParaRPr lang="es-CL"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00</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CONTEXTO · LA EMPRESA</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UN KIT QUE SE SUMA,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no reemplaza.</a:t>
            </a:r>
            <a:endParaRPr lang="en-US" sz="3000" dirty="0"/>
          </a:p>
        </p:txBody>
      </p:sp>
      <p:sp>
        <p:nvSpPr>
          <p:cNvPr id="4" name="Shape 2"/>
          <p:cNvSpPr/>
          <p:nvPr/>
        </p:nvSpPr>
        <p:spPr>
          <a:xfrm>
            <a:off x="548640" y="2286000"/>
            <a:ext cx="11094415" cy="3154680"/>
          </a:xfrm>
          <a:prstGeom prst="rect">
            <a:avLst/>
          </a:prstGeom>
          <a:solidFill>
            <a:schemeClr val="bg2"/>
          </a:solidFill>
          <a:ln w="9525">
            <a:solidFill>
              <a:schemeClr val="accent5"/>
            </a:solidFill>
            <a:prstDash val="solid"/>
          </a:ln>
        </p:spPr>
      </p:sp>
      <p:sp>
        <p:nvSpPr>
          <p:cNvPr id="5" name="Shape 3"/>
          <p:cNvSpPr/>
          <p:nvPr/>
        </p:nvSpPr>
        <p:spPr>
          <a:xfrm>
            <a:off x="493776" y="2231136"/>
            <a:ext cx="155448" cy="0"/>
          </a:xfrm>
          <a:prstGeom prst="line">
            <a:avLst/>
          </a:prstGeom>
          <a:noFill/>
          <a:ln w="15875">
            <a:solidFill>
              <a:schemeClr val="accent1"/>
            </a:solidFill>
            <a:prstDash val="solid"/>
          </a:ln>
        </p:spPr>
      </p:sp>
      <p:sp>
        <p:nvSpPr>
          <p:cNvPr id="6" name="Shape 4"/>
          <p:cNvSpPr/>
          <p:nvPr/>
        </p:nvSpPr>
        <p:spPr>
          <a:xfrm>
            <a:off x="493776" y="2231136"/>
            <a:ext cx="0" cy="155448"/>
          </a:xfrm>
          <a:prstGeom prst="line">
            <a:avLst/>
          </a:prstGeom>
          <a:noFill/>
          <a:ln w="15875">
            <a:solidFill>
              <a:schemeClr val="accent1"/>
            </a:solidFill>
            <a:prstDash val="solid"/>
          </a:ln>
        </p:spPr>
      </p:sp>
      <p:sp>
        <p:nvSpPr>
          <p:cNvPr id="7" name="Shape 5"/>
          <p:cNvSpPr/>
          <p:nvPr/>
        </p:nvSpPr>
        <p:spPr>
          <a:xfrm>
            <a:off x="11542471" y="2231136"/>
            <a:ext cx="155448" cy="0"/>
          </a:xfrm>
          <a:prstGeom prst="line">
            <a:avLst/>
          </a:prstGeom>
          <a:noFill/>
          <a:ln w="15875">
            <a:solidFill>
              <a:schemeClr val="accent1"/>
            </a:solidFill>
            <a:prstDash val="solid"/>
          </a:ln>
        </p:spPr>
      </p:sp>
      <p:sp>
        <p:nvSpPr>
          <p:cNvPr id="8" name="Shape 6"/>
          <p:cNvSpPr/>
          <p:nvPr/>
        </p:nvSpPr>
        <p:spPr>
          <a:xfrm>
            <a:off x="11697919" y="2231136"/>
            <a:ext cx="0" cy="155448"/>
          </a:xfrm>
          <a:prstGeom prst="line">
            <a:avLst/>
          </a:prstGeom>
          <a:noFill/>
          <a:ln w="15875">
            <a:solidFill>
              <a:schemeClr val="accent1"/>
            </a:solidFill>
            <a:prstDash val="solid"/>
          </a:ln>
        </p:spPr>
      </p:sp>
      <p:sp>
        <p:nvSpPr>
          <p:cNvPr id="9" name="Shape 7"/>
          <p:cNvSpPr/>
          <p:nvPr/>
        </p:nvSpPr>
        <p:spPr>
          <a:xfrm>
            <a:off x="493776" y="5495544"/>
            <a:ext cx="155448" cy="0"/>
          </a:xfrm>
          <a:prstGeom prst="line">
            <a:avLst/>
          </a:prstGeom>
          <a:noFill/>
          <a:ln w="15875">
            <a:solidFill>
              <a:schemeClr val="accent1"/>
            </a:solidFill>
            <a:prstDash val="solid"/>
          </a:ln>
        </p:spPr>
      </p:sp>
      <p:sp>
        <p:nvSpPr>
          <p:cNvPr id="10" name="Shape 8"/>
          <p:cNvSpPr/>
          <p:nvPr/>
        </p:nvSpPr>
        <p:spPr>
          <a:xfrm>
            <a:off x="493776" y="5340096"/>
            <a:ext cx="0" cy="155448"/>
          </a:xfrm>
          <a:prstGeom prst="line">
            <a:avLst/>
          </a:prstGeom>
          <a:noFill/>
          <a:ln w="15875">
            <a:solidFill>
              <a:schemeClr val="accent1"/>
            </a:solidFill>
            <a:prstDash val="solid"/>
          </a:ln>
        </p:spPr>
      </p:sp>
      <p:sp>
        <p:nvSpPr>
          <p:cNvPr id="11" name="Shape 9"/>
          <p:cNvSpPr/>
          <p:nvPr/>
        </p:nvSpPr>
        <p:spPr>
          <a:xfrm>
            <a:off x="11542471" y="5495544"/>
            <a:ext cx="155448" cy="0"/>
          </a:xfrm>
          <a:prstGeom prst="line">
            <a:avLst/>
          </a:prstGeom>
          <a:noFill/>
          <a:ln w="15875">
            <a:solidFill>
              <a:schemeClr val="accent1"/>
            </a:solidFill>
            <a:prstDash val="solid"/>
          </a:ln>
        </p:spPr>
      </p:sp>
      <p:sp>
        <p:nvSpPr>
          <p:cNvPr id="12" name="Shape 10"/>
          <p:cNvSpPr/>
          <p:nvPr/>
        </p:nvSpPr>
        <p:spPr>
          <a:xfrm>
            <a:off x="11697919" y="5340096"/>
            <a:ext cx="0" cy="155448"/>
          </a:xfrm>
          <a:prstGeom prst="line">
            <a:avLst/>
          </a:prstGeom>
          <a:noFill/>
          <a:ln w="15875">
            <a:solidFill>
              <a:schemeClr val="accent1"/>
            </a:solidFill>
            <a:prstDash val="solid"/>
          </a:ln>
        </p:spPr>
      </p:sp>
      <p:sp>
        <p:nvSpPr>
          <p:cNvPr id="13" name="Shape 11"/>
          <p:cNvSpPr/>
          <p:nvPr/>
        </p:nvSpPr>
        <p:spPr>
          <a:xfrm>
            <a:off x="777240" y="2441448"/>
            <a:ext cx="68580" cy="68580"/>
          </a:xfrm>
          <a:prstGeom prst="rect">
            <a:avLst/>
          </a:prstGeom>
          <a:solidFill>
            <a:schemeClr val="accent1"/>
          </a:solidFill>
          <a:ln/>
        </p:spPr>
      </p:sp>
      <p:sp>
        <p:nvSpPr>
          <p:cNvPr id="14" name="Text 12"/>
          <p:cNvSpPr txBox="1"/>
          <p:nvPr/>
        </p:nvSpPr>
        <p:spPr>
          <a:xfrm>
            <a:off x="932688" y="2359152"/>
            <a:ext cx="3657600" cy="237744"/>
          </a:xfrm>
          <a:prstGeom prst="rect">
            <a:avLst/>
          </a:prstGeom>
          <a:noFill/>
          <a:ln/>
        </p:spPr>
        <p:txBody>
          <a:bodyPr wrap="square" lIns="0" tIns="0" rIns="0" bIns="0" rtlCol="0" anchor="ctr"/>
          <a:lstStyle/>
          <a:p>
            <a:pP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PLANO · VISTA LATERAL</a:t>
            </a:r>
            <a:endParaRPr lang="es-CL" sz="900" dirty="0"/>
          </a:p>
        </p:txBody>
      </p:sp>
      <p:sp>
        <p:nvSpPr>
          <p:cNvPr id="15" name="Text 13"/>
          <p:cNvSpPr txBox="1"/>
          <p:nvPr/>
        </p:nvSpPr>
        <p:spPr>
          <a:xfrm>
            <a:off x="7756855" y="2359152"/>
            <a:ext cx="3657600" cy="237744"/>
          </a:xfrm>
          <a:prstGeom prst="rect">
            <a:avLst/>
          </a:prstGeom>
          <a:noFill/>
          <a:ln/>
        </p:spPr>
        <p:txBody>
          <a:bodyPr wrap="square" lIns="0" tIns="0" rIns="0" bIns="0" rtlCol="0" anchor="ctr"/>
          <a:lstStyle/>
          <a:p>
            <a:pPr algn="r" indent="0" marL="0">
              <a:buNone/>
            </a:pPr>
            <a:r>
              <a:rPr lang="es-CL" altLang="en-US" sz="900" spc="150" kern="0" dirty="0">
                <a:solidFill>
                  <a:schemeClr val="accent5"/>
                </a:solidFill>
                <a:latin typeface="IBM Plex Mono" pitchFamily="34" charset="0"/>
                <a:ea typeface="IBM Plex Mono" pitchFamily="34" charset="-122"/>
                <a:cs typeface="IBM Plex Mono" pitchFamily="34" charset="-120"/>
              </a:rPr>
              <a:t>LM—001 · KIT EJE TRASERO</a:t>
            </a:r>
            <a:endParaRPr lang="es-CL" sz="900" dirty="0"/>
          </a:p>
        </p:txBody>
      </p:sp>
      <p:sp>
        <p:nvSpPr>
          <p:cNvPr id="16" name="Shape 14"/>
          <p:cNvSpPr/>
          <p:nvPr/>
        </p:nvSpPr>
        <p:spPr>
          <a:xfrm>
            <a:off x="548640" y="2670048"/>
            <a:ext cx="11094415" cy="0"/>
          </a:xfrm>
          <a:prstGeom prst="line">
            <a:avLst/>
          </a:prstGeom>
          <a:noFill/>
          <a:ln w="9525">
            <a:solidFill>
              <a:schemeClr val="accent5"/>
            </a:solidFill>
            <a:prstDash val="solid"/>
          </a:ln>
        </p:spPr>
      </p:sp>
      <p:pic>
        <p:nvPicPr>
          <p:cNvPr id="17" name="Image 0" descr="Plano del kit: motor original adelante, unidad de control, banco de baterías y motor eléctrico en el eje trasero">    </p:cNvPr>
          <p:cNvPicPr>
            <a:picLocks noChangeAspect="1"/>
          </p:cNvPicPr>
          <p:nvPr/>
        </p:nvPicPr>
        <p:blipFill>
          <a:blip r:embed="rId1"/>
          <a:stretch>
            <a:fillRect/>
          </a:stretch>
        </p:blipFill>
        <p:spPr>
          <a:xfrm>
            <a:off x="3398368" y="2715768"/>
            <a:ext cx="5394960" cy="1663446"/>
          </a:xfrm>
          <a:prstGeom prst="rect">
            <a:avLst/>
          </a:prstGeom>
        </p:spPr>
      </p:pic>
      <p:sp>
        <p:nvSpPr>
          <p:cNvPr id="18" name="Shape 15"/>
          <p:cNvSpPr/>
          <p:nvPr/>
        </p:nvSpPr>
        <p:spPr>
          <a:xfrm>
            <a:off x="548640" y="4452366"/>
            <a:ext cx="11094415" cy="0"/>
          </a:xfrm>
          <a:prstGeom prst="line">
            <a:avLst/>
          </a:prstGeom>
          <a:noFill/>
          <a:ln w="9525">
            <a:solidFill>
              <a:schemeClr val="accent5"/>
            </a:solidFill>
            <a:prstDash val="solid"/>
          </a:ln>
        </p:spPr>
      </p:sp>
      <p:sp>
        <p:nvSpPr>
          <p:cNvPr id="19" name="Shape 16"/>
          <p:cNvSpPr/>
          <p:nvPr/>
        </p:nvSpPr>
        <p:spPr>
          <a:xfrm>
            <a:off x="749808" y="4589526"/>
            <a:ext cx="347472" cy="246888"/>
          </a:xfrm>
          <a:prstGeom prst="rect">
            <a:avLst/>
          </a:prstGeom>
          <a:solidFill>
            <a:schemeClr val="accent5"/>
          </a:solidFill>
          <a:ln/>
        </p:spPr>
      </p:sp>
      <p:sp>
        <p:nvSpPr>
          <p:cNvPr id="20" name="Text 17"/>
          <p:cNvSpPr txBox="1"/>
          <p:nvPr/>
        </p:nvSpPr>
        <p:spPr>
          <a:xfrm>
            <a:off x="749808" y="4589526"/>
            <a:ext cx="347472" cy="246888"/>
          </a:xfrm>
          <a:prstGeom prst="rect">
            <a:avLst/>
          </a:prstGeom>
          <a:noFill/>
          <a:ln/>
        </p:spPr>
        <p:txBody>
          <a:bodyPr wrap="square" lIns="0" tIns="0" rIns="0" bIns="0" rtlCol="0" anchor="ctr"/>
          <a:lstStyle/>
          <a:p>
            <a:pPr algn="ctr" indent="0" marL="0">
              <a:buNone/>
            </a:pPr>
            <a:r>
              <a:rPr lang="es-CL" altLang="en-US" sz="950" b="1" dirty="0">
                <a:solidFill>
                  <a:schemeClr val="tx1"/>
                </a:solidFill>
                <a:latin typeface="IBM Plex Mono" pitchFamily="34" charset="0"/>
                <a:ea typeface="IBM Plex Mono" pitchFamily="34" charset="-122"/>
                <a:cs typeface="IBM Plex Mono" pitchFamily="34" charset="-120"/>
              </a:rPr>
              <a:t>01</a:t>
            </a:r>
            <a:endParaRPr lang="es-CL" sz="950" dirty="0"/>
          </a:p>
        </p:txBody>
      </p:sp>
      <p:sp>
        <p:nvSpPr>
          <p:cNvPr id="21" name="Text 18"/>
          <p:cNvSpPr txBox="1"/>
          <p:nvPr/>
        </p:nvSpPr>
        <p:spPr>
          <a:xfrm>
            <a:off x="1188720" y="4589526"/>
            <a:ext cx="2042084"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MOTOR ORIGINAL</a:t>
            </a:r>
            <a:endParaRPr lang="es-CL" sz="900" dirty="0"/>
          </a:p>
        </p:txBody>
      </p:sp>
      <p:sp>
        <p:nvSpPr>
          <p:cNvPr id="22" name="Text 19"/>
          <p:cNvSpPr txBox="1"/>
          <p:nvPr/>
        </p:nvSpPr>
        <p:spPr>
          <a:xfrm>
            <a:off x="749808" y="4909566"/>
            <a:ext cx="2407844"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Intacto, con su tracción delantera.</a:t>
            </a:r>
            <a:endParaRPr lang="es-CL" sz="1200" dirty="0"/>
          </a:p>
        </p:txBody>
      </p:sp>
      <p:sp>
        <p:nvSpPr>
          <p:cNvPr id="23" name="Shape 20"/>
          <p:cNvSpPr/>
          <p:nvPr/>
        </p:nvSpPr>
        <p:spPr>
          <a:xfrm>
            <a:off x="3322244" y="4452366"/>
            <a:ext cx="0" cy="988314"/>
          </a:xfrm>
          <a:prstGeom prst="line">
            <a:avLst/>
          </a:prstGeom>
          <a:noFill/>
          <a:ln w="9525">
            <a:solidFill>
              <a:schemeClr val="accent5"/>
            </a:solidFill>
            <a:prstDash val="solid"/>
          </a:ln>
        </p:spPr>
      </p:sp>
      <p:sp>
        <p:nvSpPr>
          <p:cNvPr id="24" name="Shape 21"/>
          <p:cNvSpPr/>
          <p:nvPr/>
        </p:nvSpPr>
        <p:spPr>
          <a:xfrm>
            <a:off x="3523412" y="4589526"/>
            <a:ext cx="347472" cy="246888"/>
          </a:xfrm>
          <a:prstGeom prst="rect">
            <a:avLst/>
          </a:prstGeom>
          <a:solidFill>
            <a:schemeClr val="accent1"/>
          </a:solidFill>
          <a:ln/>
        </p:spPr>
      </p:sp>
      <p:sp>
        <p:nvSpPr>
          <p:cNvPr id="25" name="Text 22"/>
          <p:cNvSpPr txBox="1"/>
          <p:nvPr/>
        </p:nvSpPr>
        <p:spPr>
          <a:xfrm>
            <a:off x="3523412" y="4589526"/>
            <a:ext cx="347472"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02</a:t>
            </a:r>
            <a:endParaRPr lang="es-CL" sz="950" dirty="0"/>
          </a:p>
        </p:txBody>
      </p:sp>
      <p:sp>
        <p:nvSpPr>
          <p:cNvPr id="26" name="Text 23"/>
          <p:cNvSpPr txBox="1"/>
          <p:nvPr/>
        </p:nvSpPr>
        <p:spPr>
          <a:xfrm>
            <a:off x="3962324" y="4589526"/>
            <a:ext cx="2042084"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UNIDAD DE CONTROL</a:t>
            </a:r>
            <a:endParaRPr lang="es-CL" sz="900" dirty="0"/>
          </a:p>
        </p:txBody>
      </p:sp>
      <p:sp>
        <p:nvSpPr>
          <p:cNvPr id="27" name="Text 24"/>
          <p:cNvSpPr txBox="1"/>
          <p:nvPr/>
        </p:nvSpPr>
        <p:spPr>
          <a:xfrm>
            <a:off x="3523412" y="4909566"/>
            <a:ext cx="2407844"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Decide cuándo asistir y corta ante fallas.</a:t>
            </a:r>
            <a:endParaRPr lang="es-CL" sz="1200" dirty="0"/>
          </a:p>
        </p:txBody>
      </p:sp>
      <p:sp>
        <p:nvSpPr>
          <p:cNvPr id="28" name="Shape 25"/>
          <p:cNvSpPr/>
          <p:nvPr/>
        </p:nvSpPr>
        <p:spPr>
          <a:xfrm>
            <a:off x="6095848" y="4452366"/>
            <a:ext cx="0" cy="988314"/>
          </a:xfrm>
          <a:prstGeom prst="line">
            <a:avLst/>
          </a:prstGeom>
          <a:noFill/>
          <a:ln w="9525">
            <a:solidFill>
              <a:schemeClr val="accent5"/>
            </a:solidFill>
            <a:prstDash val="solid"/>
          </a:ln>
        </p:spPr>
      </p:sp>
      <p:sp>
        <p:nvSpPr>
          <p:cNvPr id="29" name="Shape 26"/>
          <p:cNvSpPr/>
          <p:nvPr/>
        </p:nvSpPr>
        <p:spPr>
          <a:xfrm>
            <a:off x="6297016" y="4589526"/>
            <a:ext cx="347472" cy="246888"/>
          </a:xfrm>
          <a:prstGeom prst="rect">
            <a:avLst/>
          </a:prstGeom>
          <a:solidFill>
            <a:schemeClr val="accent1"/>
          </a:solidFill>
          <a:ln/>
        </p:spPr>
      </p:sp>
      <p:sp>
        <p:nvSpPr>
          <p:cNvPr id="30" name="Text 27"/>
          <p:cNvSpPr txBox="1"/>
          <p:nvPr/>
        </p:nvSpPr>
        <p:spPr>
          <a:xfrm>
            <a:off x="6297016" y="4589526"/>
            <a:ext cx="347472"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03</a:t>
            </a:r>
            <a:endParaRPr lang="es-CL" sz="950" dirty="0"/>
          </a:p>
        </p:txBody>
      </p:sp>
      <p:sp>
        <p:nvSpPr>
          <p:cNvPr id="31" name="Text 28"/>
          <p:cNvSpPr txBox="1"/>
          <p:nvPr/>
        </p:nvSpPr>
        <p:spPr>
          <a:xfrm>
            <a:off x="6735928" y="4589526"/>
            <a:ext cx="2042084"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BANCO DE BATERÍAS</a:t>
            </a:r>
            <a:endParaRPr lang="es-CL" sz="900" dirty="0"/>
          </a:p>
        </p:txBody>
      </p:sp>
      <p:sp>
        <p:nvSpPr>
          <p:cNvPr id="32" name="Text 29"/>
          <p:cNvSpPr txBox="1"/>
          <p:nvPr/>
        </p:nvSpPr>
        <p:spPr>
          <a:xfrm>
            <a:off x="6297016" y="4909566"/>
            <a:ext cx="2407844"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Baterías LFP: guardan la energía del frenado.</a:t>
            </a:r>
            <a:endParaRPr lang="es-CL" sz="1200" dirty="0"/>
          </a:p>
        </p:txBody>
      </p:sp>
      <p:sp>
        <p:nvSpPr>
          <p:cNvPr id="33" name="Shape 30"/>
          <p:cNvSpPr/>
          <p:nvPr/>
        </p:nvSpPr>
        <p:spPr>
          <a:xfrm>
            <a:off x="8869451" y="4452366"/>
            <a:ext cx="0" cy="988314"/>
          </a:xfrm>
          <a:prstGeom prst="line">
            <a:avLst/>
          </a:prstGeom>
          <a:noFill/>
          <a:ln w="9525">
            <a:solidFill>
              <a:schemeClr val="accent5"/>
            </a:solidFill>
            <a:prstDash val="solid"/>
          </a:ln>
        </p:spPr>
      </p:sp>
      <p:sp>
        <p:nvSpPr>
          <p:cNvPr id="34" name="Shape 31"/>
          <p:cNvSpPr/>
          <p:nvPr/>
        </p:nvSpPr>
        <p:spPr>
          <a:xfrm>
            <a:off x="9070619" y="4589526"/>
            <a:ext cx="347472" cy="246888"/>
          </a:xfrm>
          <a:prstGeom prst="rect">
            <a:avLst/>
          </a:prstGeom>
          <a:solidFill>
            <a:schemeClr val="accent1"/>
          </a:solidFill>
          <a:ln/>
        </p:spPr>
      </p:sp>
      <p:sp>
        <p:nvSpPr>
          <p:cNvPr id="35" name="Text 32"/>
          <p:cNvSpPr txBox="1"/>
          <p:nvPr/>
        </p:nvSpPr>
        <p:spPr>
          <a:xfrm>
            <a:off x="9070619" y="4589526"/>
            <a:ext cx="347472"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04</a:t>
            </a:r>
            <a:endParaRPr lang="es-CL" sz="950" dirty="0"/>
          </a:p>
        </p:txBody>
      </p:sp>
      <p:sp>
        <p:nvSpPr>
          <p:cNvPr id="36" name="Text 33"/>
          <p:cNvSpPr txBox="1"/>
          <p:nvPr/>
        </p:nvSpPr>
        <p:spPr>
          <a:xfrm>
            <a:off x="9509531" y="4589526"/>
            <a:ext cx="2042084"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MOTOR ELÉCTRICO</a:t>
            </a:r>
            <a:endParaRPr lang="es-CL" sz="900" dirty="0"/>
          </a:p>
        </p:txBody>
      </p:sp>
      <p:sp>
        <p:nvSpPr>
          <p:cNvPr id="37" name="Text 34"/>
          <p:cNvSpPr txBox="1"/>
          <p:nvPr/>
        </p:nvSpPr>
        <p:spPr>
          <a:xfrm>
            <a:off x="9070619" y="4909566"/>
            <a:ext cx="2407844" cy="41148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En el eje trasero, con freno regenerativo.</a:t>
            </a:r>
            <a:endParaRPr lang="es-CL" sz="1200" dirty="0"/>
          </a:p>
        </p:txBody>
      </p:sp>
      <p:sp>
        <p:nvSpPr>
          <p:cNvPr id="38" name="Shape 35"/>
          <p:cNvSpPr/>
          <p:nvPr/>
        </p:nvSpPr>
        <p:spPr>
          <a:xfrm>
            <a:off x="548640" y="5641848"/>
            <a:ext cx="68580" cy="68580"/>
          </a:xfrm>
          <a:prstGeom prst="rect">
            <a:avLst/>
          </a:prstGeom>
          <a:solidFill>
            <a:schemeClr val="accent1"/>
          </a:solidFill>
          <a:ln/>
        </p:spPr>
      </p:sp>
      <p:sp>
        <p:nvSpPr>
          <p:cNvPr id="39" name="Text 36"/>
          <p:cNvSpPr txBox="1"/>
          <p:nvPr/>
        </p:nvSpPr>
        <p:spPr>
          <a:xfrm>
            <a:off x="694944" y="5550408"/>
            <a:ext cx="3332378"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PREOPERATIVA</a:t>
            </a:r>
            <a:endParaRPr lang="es-CL" sz="900" dirty="0"/>
          </a:p>
        </p:txBody>
      </p:sp>
      <p:sp>
        <p:nvSpPr>
          <p:cNvPr id="40" name="Text 37"/>
          <p:cNvSpPr txBox="1"/>
          <p:nvPr/>
        </p:nvSpPr>
        <p:spPr>
          <a:xfrm>
            <a:off x="548640" y="5815584"/>
            <a:ext cx="3515258" cy="438912"/>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Sin instalaciones, personal, clientes ni flujo de caja.</a:t>
            </a:r>
            <a:endParaRPr lang="es-CL" sz="1250" dirty="0"/>
          </a:p>
        </p:txBody>
      </p:sp>
      <p:sp>
        <p:nvSpPr>
          <p:cNvPr id="41" name="Shape 38"/>
          <p:cNvSpPr/>
          <p:nvPr/>
        </p:nvSpPr>
        <p:spPr>
          <a:xfrm>
            <a:off x="4338218" y="5641848"/>
            <a:ext cx="68580" cy="68580"/>
          </a:xfrm>
          <a:prstGeom prst="rect">
            <a:avLst/>
          </a:prstGeom>
          <a:solidFill>
            <a:schemeClr val="accent1"/>
          </a:solidFill>
          <a:ln/>
        </p:spPr>
      </p:sp>
      <p:sp>
        <p:nvSpPr>
          <p:cNvPr id="42" name="Text 39"/>
          <p:cNvSpPr txBox="1"/>
          <p:nvPr/>
        </p:nvSpPr>
        <p:spPr>
          <a:xfrm>
            <a:off x="4484522" y="5550408"/>
            <a:ext cx="3332378"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SEGMENTO</a:t>
            </a:r>
            <a:endParaRPr lang="es-CL" sz="900" dirty="0"/>
          </a:p>
        </p:txBody>
      </p:sp>
      <p:sp>
        <p:nvSpPr>
          <p:cNvPr id="43" name="Text 40"/>
          <p:cNvSpPr txBox="1"/>
          <p:nvPr/>
        </p:nvSpPr>
        <p:spPr>
          <a:xfrm>
            <a:off x="4338218" y="5815584"/>
            <a:ext cx="3515258" cy="438912"/>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Tracción delantera y alto kilometraje: colectiveros y apps.</a:t>
            </a:r>
            <a:endParaRPr lang="es-CL" sz="1250" dirty="0"/>
          </a:p>
        </p:txBody>
      </p:sp>
      <p:sp>
        <p:nvSpPr>
          <p:cNvPr id="44" name="Shape 41"/>
          <p:cNvSpPr/>
          <p:nvPr/>
        </p:nvSpPr>
        <p:spPr>
          <a:xfrm>
            <a:off x="8127797" y="5641848"/>
            <a:ext cx="68580" cy="68580"/>
          </a:xfrm>
          <a:prstGeom prst="rect">
            <a:avLst/>
          </a:prstGeom>
          <a:solidFill>
            <a:schemeClr val="accent3"/>
          </a:solidFill>
          <a:ln/>
        </p:spPr>
      </p:sp>
      <p:sp>
        <p:nvSpPr>
          <p:cNvPr id="45" name="Text 42"/>
          <p:cNvSpPr txBox="1"/>
          <p:nvPr/>
        </p:nvSpPr>
        <p:spPr>
          <a:xfrm>
            <a:off x="8274101" y="5550408"/>
            <a:ext cx="3332378" cy="246888"/>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PROMESA</a:t>
            </a:r>
            <a:endParaRPr lang="es-CL" sz="900" dirty="0"/>
          </a:p>
        </p:txBody>
      </p:sp>
      <p:sp>
        <p:nvSpPr>
          <p:cNvPr id="46" name="Text 43"/>
          <p:cNvSpPr txBox="1"/>
          <p:nvPr/>
        </p:nvSpPr>
        <p:spPr>
          <a:xfrm>
            <a:off x="8127797" y="5815584"/>
            <a:ext cx="3515258" cy="438912"/>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Hasta 20% menos bencina en ciudad (estimación, sin medir).</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01</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PROPÓSITO, FUENTES Y ESCENARIO</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CUATRO INSTRUMENTOS,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un solo escenario.</a:t>
            </a:r>
            <a:endParaRPr lang="en-US" sz="3000" dirty="0"/>
          </a:p>
        </p:txBody>
      </p:sp>
      <p:sp>
        <p:nvSpPr>
          <p:cNvPr id="4" name="Shape 2"/>
          <p:cNvSpPr/>
          <p:nvPr/>
        </p:nvSpPr>
        <p:spPr>
          <a:xfrm>
            <a:off x="548640" y="2331720"/>
            <a:ext cx="2602154" cy="2240280"/>
          </a:xfrm>
          <a:prstGeom prst="rect">
            <a:avLst/>
          </a:prstGeom>
          <a:solidFill>
            <a:schemeClr val="bg2"/>
          </a:solidFill>
          <a:ln w="9525">
            <a:solidFill>
              <a:schemeClr val="accent5"/>
            </a:solidFill>
            <a:prstDash val="solid"/>
          </a:ln>
        </p:spPr>
      </p:sp>
      <p:sp>
        <p:nvSpPr>
          <p:cNvPr id="5" name="Text 3"/>
          <p:cNvSpPr txBox="1"/>
          <p:nvPr/>
        </p:nvSpPr>
        <p:spPr>
          <a:xfrm>
            <a:off x="749808" y="2496312"/>
            <a:ext cx="2236394" cy="237744"/>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02 · INDUSTRIA</a:t>
            </a:r>
            <a:endParaRPr lang="es-CL" sz="900" dirty="0"/>
          </a:p>
        </p:txBody>
      </p:sp>
      <p:sp>
        <p:nvSpPr>
          <p:cNvPr id="6" name="Text 4"/>
          <p:cNvSpPr txBox="1"/>
          <p:nvPr/>
        </p:nvSpPr>
        <p:spPr>
          <a:xfrm>
            <a:off x="731520" y="2743200"/>
            <a:ext cx="2236394" cy="868680"/>
          </a:xfrm>
          <a:prstGeom prst="rect">
            <a:avLst/>
          </a:prstGeom>
          <a:noFill/>
          <a:ln/>
        </p:spPr>
        <p:txBody>
          <a:bodyPr wrap="square" lIns="0" tIns="0" rIns="0" bIns="0" rtlCol="0" anchor="b"/>
          <a:lstStyle/>
          <a:p>
            <a:pPr indent="0" marL="0">
              <a:buNone/>
            </a:pPr>
            <a:r>
              <a:rPr lang="es-CL" altLang="en-US" sz="5800" b="1" dirty="0">
                <a:solidFill>
                  <a:schemeClr val="tx1"/>
                </a:solidFill>
                <a:latin typeface="Archivo Condensed" pitchFamily="34" charset="0"/>
                <a:ea typeface="Archivo Condensed" pitchFamily="34" charset="-122"/>
                <a:cs typeface="Archivo Condensed" pitchFamily="34" charset="-120"/>
              </a:rPr>
              <a:t>3,49</a:t>
            </a:r>
            <a:endParaRPr lang="es-CL" sz="5800" dirty="0"/>
          </a:p>
        </p:txBody>
      </p:sp>
      <p:sp>
        <p:nvSpPr>
          <p:cNvPr id="7" name="Text 5"/>
          <p:cNvSpPr txBox="1"/>
          <p:nvPr/>
        </p:nvSpPr>
        <p:spPr>
          <a:xfrm>
            <a:off x="749808" y="3630168"/>
            <a:ext cx="2236394" cy="219456"/>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PROMEDIO PONDERADO · 1 A 5</a:t>
            </a:r>
            <a:endParaRPr lang="es-CL" sz="800" dirty="0"/>
          </a:p>
        </p:txBody>
      </p:sp>
      <p:sp>
        <p:nvSpPr>
          <p:cNvPr id="8" name="Text 6"/>
          <p:cNvSpPr txBox="1"/>
          <p:nvPr/>
        </p:nvSpPr>
        <p:spPr>
          <a:xfrm>
            <a:off x="749808" y="3931920"/>
            <a:ext cx="2199818" cy="54864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Cinco fuerzas: industria moderadamente poco atractiva.</a:t>
            </a:r>
            <a:endParaRPr lang="es-CL" sz="1300" dirty="0"/>
          </a:p>
        </p:txBody>
      </p:sp>
      <p:sp>
        <p:nvSpPr>
          <p:cNvPr id="9" name="Shape 7"/>
          <p:cNvSpPr/>
          <p:nvPr/>
        </p:nvSpPr>
        <p:spPr>
          <a:xfrm>
            <a:off x="3379394" y="2331720"/>
            <a:ext cx="2602154" cy="2240280"/>
          </a:xfrm>
          <a:prstGeom prst="rect">
            <a:avLst/>
          </a:prstGeom>
          <a:solidFill>
            <a:schemeClr val="bg2"/>
          </a:solidFill>
          <a:ln w="9525">
            <a:solidFill>
              <a:schemeClr val="accent5"/>
            </a:solidFill>
            <a:prstDash val="solid"/>
          </a:ln>
        </p:spPr>
      </p:sp>
      <p:sp>
        <p:nvSpPr>
          <p:cNvPr id="10" name="Text 8"/>
          <p:cNvSpPr txBox="1"/>
          <p:nvPr/>
        </p:nvSpPr>
        <p:spPr>
          <a:xfrm>
            <a:off x="3580562" y="2496312"/>
            <a:ext cx="2236394" cy="237744"/>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03 · PEST</a:t>
            </a:r>
            <a:endParaRPr lang="es-CL" sz="900" dirty="0"/>
          </a:p>
        </p:txBody>
      </p:sp>
      <p:sp>
        <p:nvSpPr>
          <p:cNvPr id="11" name="Text 9"/>
          <p:cNvSpPr txBox="1"/>
          <p:nvPr/>
        </p:nvSpPr>
        <p:spPr>
          <a:xfrm>
            <a:off x="3562274" y="2743200"/>
            <a:ext cx="2236394" cy="868680"/>
          </a:xfrm>
          <a:prstGeom prst="rect">
            <a:avLst/>
          </a:prstGeom>
          <a:noFill/>
          <a:ln/>
        </p:spPr>
        <p:txBody>
          <a:bodyPr wrap="square" lIns="0" tIns="0" rIns="0" bIns="0" rtlCol="0" anchor="b"/>
          <a:lstStyle/>
          <a:p>
            <a:pPr indent="0" marL="0">
              <a:buNone/>
            </a:pPr>
            <a:r>
              <a:rPr lang="es-CL" altLang="en-US" sz="5800" b="1" dirty="0">
                <a:solidFill>
                  <a:schemeClr val="tx1"/>
                </a:solidFill>
                <a:latin typeface="Archivo Condensed" pitchFamily="34" charset="0"/>
                <a:ea typeface="Archivo Condensed" pitchFamily="34" charset="-122"/>
                <a:cs typeface="Archivo Condensed" pitchFamily="34" charset="-120"/>
              </a:rPr>
              <a:t>2,82</a:t>
            </a:r>
            <a:endParaRPr lang="es-CL" sz="5800" dirty="0"/>
          </a:p>
        </p:txBody>
      </p:sp>
      <p:sp>
        <p:nvSpPr>
          <p:cNvPr id="12" name="Text 10"/>
          <p:cNvSpPr txBox="1"/>
          <p:nvPr/>
        </p:nvSpPr>
        <p:spPr>
          <a:xfrm>
            <a:off x="3580562" y="3630168"/>
            <a:ext cx="2236394" cy="219456"/>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GLOBAL HOY · 3 = NEUTRO</a:t>
            </a:r>
            <a:endParaRPr lang="es-CL" sz="800" dirty="0"/>
          </a:p>
        </p:txBody>
      </p:sp>
      <p:sp>
        <p:nvSpPr>
          <p:cNvPr id="13" name="Text 11"/>
          <p:cNvSpPr txBox="1"/>
          <p:nvPr/>
        </p:nvSpPr>
        <p:spPr>
          <a:xfrm>
            <a:off x="3580562" y="3931920"/>
            <a:ext cx="2199818" cy="54864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13 oportunidades, 18 neutros y 20 amenazas.</a:t>
            </a:r>
            <a:endParaRPr lang="es-CL" sz="1300" dirty="0"/>
          </a:p>
        </p:txBody>
      </p:sp>
      <p:sp>
        <p:nvSpPr>
          <p:cNvPr id="14" name="Shape 12"/>
          <p:cNvSpPr/>
          <p:nvPr/>
        </p:nvSpPr>
        <p:spPr>
          <a:xfrm>
            <a:off x="6210148" y="2331720"/>
            <a:ext cx="2602154" cy="2240280"/>
          </a:xfrm>
          <a:prstGeom prst="rect">
            <a:avLst/>
          </a:prstGeom>
          <a:solidFill>
            <a:schemeClr val="bg2"/>
          </a:solidFill>
          <a:ln w="9525">
            <a:solidFill>
              <a:schemeClr val="accent5"/>
            </a:solidFill>
            <a:prstDash val="solid"/>
          </a:ln>
        </p:spPr>
      </p:sp>
      <p:sp>
        <p:nvSpPr>
          <p:cNvPr id="15" name="Text 13"/>
          <p:cNvSpPr txBox="1"/>
          <p:nvPr/>
        </p:nvSpPr>
        <p:spPr>
          <a:xfrm>
            <a:off x="6411316" y="2496312"/>
            <a:ext cx="2236394" cy="237744"/>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05 · COMPETENCIAS</a:t>
            </a:r>
            <a:endParaRPr lang="es-CL" sz="900" dirty="0"/>
          </a:p>
        </p:txBody>
      </p:sp>
      <p:sp>
        <p:nvSpPr>
          <p:cNvPr id="16" name="Text 14"/>
          <p:cNvSpPr txBox="1"/>
          <p:nvPr/>
        </p:nvSpPr>
        <p:spPr>
          <a:xfrm>
            <a:off x="6393028" y="2743200"/>
            <a:ext cx="2236394" cy="868680"/>
          </a:xfrm>
          <a:prstGeom prst="rect">
            <a:avLst/>
          </a:prstGeom>
          <a:noFill/>
          <a:ln/>
        </p:spPr>
        <p:txBody>
          <a:bodyPr wrap="square" lIns="0" tIns="0" rIns="0" bIns="0" rtlCol="0" anchor="b"/>
          <a:lstStyle/>
          <a:p>
            <a:pPr indent="0" marL="0">
              <a:buNone/>
            </a:pPr>
            <a:r>
              <a:rPr lang="es-CL" altLang="en-US" sz="5800" b="1" dirty="0">
                <a:solidFill>
                  <a:schemeClr val="tx1"/>
                </a:solidFill>
                <a:latin typeface="Archivo Condensed" pitchFamily="34" charset="0"/>
                <a:ea typeface="Archivo Condensed" pitchFamily="34" charset="-122"/>
                <a:cs typeface="Archivo Condensed" pitchFamily="34" charset="-120"/>
              </a:rPr>
              <a:t>2 / 15</a:t>
            </a:r>
            <a:endParaRPr lang="es-CL" sz="5800" dirty="0"/>
          </a:p>
        </p:txBody>
      </p:sp>
      <p:sp>
        <p:nvSpPr>
          <p:cNvPr id="17" name="Text 15"/>
          <p:cNvSpPr txBox="1"/>
          <p:nvPr/>
        </p:nvSpPr>
        <p:spPr>
          <a:xfrm>
            <a:off x="6411316" y="3630168"/>
            <a:ext cx="2236394" cy="219456"/>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VENTAJAS SOSTENIBLES</a:t>
            </a:r>
            <a:endParaRPr lang="es-CL" sz="800" dirty="0"/>
          </a:p>
        </p:txBody>
      </p:sp>
      <p:sp>
        <p:nvSpPr>
          <p:cNvPr id="18" name="Text 16"/>
          <p:cNvSpPr txBox="1"/>
          <p:nvPr/>
        </p:nvSpPr>
        <p:spPr>
          <a:xfrm>
            <a:off x="6411316" y="3931920"/>
            <a:ext cx="2199818" cy="54864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De 15 recursos y capacidades: 6 temporales y 7 de igualdad.</a:t>
            </a:r>
            <a:endParaRPr lang="es-CL" sz="1300" dirty="0"/>
          </a:p>
        </p:txBody>
      </p:sp>
      <p:sp>
        <p:nvSpPr>
          <p:cNvPr id="19" name="Shape 17"/>
          <p:cNvSpPr/>
          <p:nvPr/>
        </p:nvSpPr>
        <p:spPr>
          <a:xfrm>
            <a:off x="9040901" y="2331720"/>
            <a:ext cx="2602154" cy="2240280"/>
          </a:xfrm>
          <a:prstGeom prst="rect">
            <a:avLst/>
          </a:prstGeom>
          <a:solidFill>
            <a:schemeClr val="bg2"/>
          </a:solidFill>
          <a:ln w="9525">
            <a:solidFill>
              <a:schemeClr val="accent5"/>
            </a:solidFill>
            <a:prstDash val="solid"/>
          </a:ln>
        </p:spPr>
      </p:sp>
      <p:sp>
        <p:nvSpPr>
          <p:cNvPr id="20" name="Text 18"/>
          <p:cNvSpPr txBox="1"/>
          <p:nvPr/>
        </p:nvSpPr>
        <p:spPr>
          <a:xfrm>
            <a:off x="9242069" y="2496312"/>
            <a:ext cx="2236394" cy="237744"/>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06 · CADENA DE VALOR</a:t>
            </a:r>
            <a:endParaRPr lang="es-CL" sz="900" dirty="0"/>
          </a:p>
        </p:txBody>
      </p:sp>
      <p:sp>
        <p:nvSpPr>
          <p:cNvPr id="21" name="Text 19"/>
          <p:cNvSpPr txBox="1"/>
          <p:nvPr/>
        </p:nvSpPr>
        <p:spPr>
          <a:xfrm>
            <a:off x="9223781" y="2743200"/>
            <a:ext cx="2236394" cy="868680"/>
          </a:xfrm>
          <a:prstGeom prst="rect">
            <a:avLst/>
          </a:prstGeom>
          <a:noFill/>
          <a:ln/>
        </p:spPr>
        <p:txBody>
          <a:bodyPr wrap="square" lIns="0" tIns="0" rIns="0" bIns="0" rtlCol="0" anchor="b"/>
          <a:lstStyle/>
          <a:p>
            <a:pPr indent="0" marL="0">
              <a:buNone/>
            </a:pPr>
            <a:r>
              <a:rPr lang="es-CL" altLang="en-US" sz="5800" b="1" dirty="0">
                <a:solidFill>
                  <a:schemeClr val="tx1"/>
                </a:solidFill>
                <a:latin typeface="Archivo Condensed" pitchFamily="34" charset="0"/>
                <a:ea typeface="Archivo Condensed" pitchFamily="34" charset="-122"/>
                <a:cs typeface="Archivo Condensed" pitchFamily="34" charset="-120"/>
              </a:rPr>
              <a:t>3,00</a:t>
            </a:r>
            <a:endParaRPr lang="es-CL" sz="5800" dirty="0"/>
          </a:p>
        </p:txBody>
      </p:sp>
      <p:sp>
        <p:nvSpPr>
          <p:cNvPr id="22" name="Text 20"/>
          <p:cNvSpPr txBox="1"/>
          <p:nvPr/>
        </p:nvSpPr>
        <p:spPr>
          <a:xfrm>
            <a:off x="9242069" y="3630168"/>
            <a:ext cx="2236394" cy="219456"/>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HABILIDADES · 1 A 5</a:t>
            </a:r>
            <a:endParaRPr lang="es-CL" sz="800" dirty="0"/>
          </a:p>
        </p:txBody>
      </p:sp>
      <p:sp>
        <p:nvSpPr>
          <p:cNvPr id="23" name="Text 21"/>
          <p:cNvSpPr txBox="1"/>
          <p:nvPr/>
        </p:nvSpPr>
        <p:spPr>
          <a:xfrm>
            <a:off x="9242069" y="3931920"/>
            <a:ext cx="2199818" cy="54864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Riesgo 2,71; brecha con el líder de −1,29 y −1,43.</a:t>
            </a:r>
            <a:endParaRPr lang="es-CL" sz="1300" dirty="0"/>
          </a:p>
        </p:txBody>
      </p:sp>
      <p:sp>
        <p:nvSpPr>
          <p:cNvPr id="24" name="Shape 22"/>
          <p:cNvSpPr/>
          <p:nvPr/>
        </p:nvSpPr>
        <p:spPr>
          <a:xfrm>
            <a:off x="548640" y="4846320"/>
            <a:ext cx="6035040" cy="1298448"/>
          </a:xfrm>
          <a:prstGeom prst="rect">
            <a:avLst/>
          </a:prstGeom>
          <a:solidFill>
            <a:schemeClr val="accent6"/>
          </a:solidFill>
          <a:ln w="9525">
            <a:solidFill>
              <a:schemeClr val="accent5"/>
            </a:solidFill>
            <a:prstDash val="solid"/>
          </a:ln>
        </p:spPr>
      </p:sp>
      <p:sp>
        <p:nvSpPr>
          <p:cNvPr id="25" name="Shape 23"/>
          <p:cNvSpPr/>
          <p:nvPr/>
        </p:nvSpPr>
        <p:spPr>
          <a:xfrm>
            <a:off x="493776" y="4791456"/>
            <a:ext cx="155448" cy="0"/>
          </a:xfrm>
          <a:prstGeom prst="line">
            <a:avLst/>
          </a:prstGeom>
          <a:noFill/>
          <a:ln w="15875">
            <a:solidFill>
              <a:schemeClr val="accent1"/>
            </a:solidFill>
            <a:prstDash val="solid"/>
          </a:ln>
        </p:spPr>
      </p:sp>
      <p:sp>
        <p:nvSpPr>
          <p:cNvPr id="26" name="Shape 24"/>
          <p:cNvSpPr/>
          <p:nvPr/>
        </p:nvSpPr>
        <p:spPr>
          <a:xfrm>
            <a:off x="493776" y="4791456"/>
            <a:ext cx="0" cy="155448"/>
          </a:xfrm>
          <a:prstGeom prst="line">
            <a:avLst/>
          </a:prstGeom>
          <a:noFill/>
          <a:ln w="15875">
            <a:solidFill>
              <a:schemeClr val="accent1"/>
            </a:solidFill>
            <a:prstDash val="solid"/>
          </a:ln>
        </p:spPr>
      </p:sp>
      <p:sp>
        <p:nvSpPr>
          <p:cNvPr id="27" name="Shape 25"/>
          <p:cNvSpPr/>
          <p:nvPr/>
        </p:nvSpPr>
        <p:spPr>
          <a:xfrm>
            <a:off x="6483096" y="4791456"/>
            <a:ext cx="155448" cy="0"/>
          </a:xfrm>
          <a:prstGeom prst="line">
            <a:avLst/>
          </a:prstGeom>
          <a:noFill/>
          <a:ln w="15875">
            <a:solidFill>
              <a:schemeClr val="accent1"/>
            </a:solidFill>
            <a:prstDash val="solid"/>
          </a:ln>
        </p:spPr>
      </p:sp>
      <p:sp>
        <p:nvSpPr>
          <p:cNvPr id="28" name="Shape 26"/>
          <p:cNvSpPr/>
          <p:nvPr/>
        </p:nvSpPr>
        <p:spPr>
          <a:xfrm>
            <a:off x="6638544" y="4791456"/>
            <a:ext cx="0" cy="155448"/>
          </a:xfrm>
          <a:prstGeom prst="line">
            <a:avLst/>
          </a:prstGeom>
          <a:noFill/>
          <a:ln w="15875">
            <a:solidFill>
              <a:schemeClr val="accent1"/>
            </a:solidFill>
            <a:prstDash val="solid"/>
          </a:ln>
        </p:spPr>
      </p:sp>
      <p:sp>
        <p:nvSpPr>
          <p:cNvPr id="29" name="Shape 27"/>
          <p:cNvSpPr/>
          <p:nvPr/>
        </p:nvSpPr>
        <p:spPr>
          <a:xfrm>
            <a:off x="493776" y="6199632"/>
            <a:ext cx="155448" cy="0"/>
          </a:xfrm>
          <a:prstGeom prst="line">
            <a:avLst/>
          </a:prstGeom>
          <a:noFill/>
          <a:ln w="15875">
            <a:solidFill>
              <a:schemeClr val="accent1"/>
            </a:solidFill>
            <a:prstDash val="solid"/>
          </a:ln>
        </p:spPr>
      </p:sp>
      <p:sp>
        <p:nvSpPr>
          <p:cNvPr id="30" name="Shape 28"/>
          <p:cNvSpPr/>
          <p:nvPr/>
        </p:nvSpPr>
        <p:spPr>
          <a:xfrm>
            <a:off x="493776" y="6044184"/>
            <a:ext cx="0" cy="155448"/>
          </a:xfrm>
          <a:prstGeom prst="line">
            <a:avLst/>
          </a:prstGeom>
          <a:noFill/>
          <a:ln w="15875">
            <a:solidFill>
              <a:schemeClr val="accent1"/>
            </a:solidFill>
            <a:prstDash val="solid"/>
          </a:ln>
        </p:spPr>
      </p:sp>
      <p:sp>
        <p:nvSpPr>
          <p:cNvPr id="31" name="Shape 29"/>
          <p:cNvSpPr/>
          <p:nvPr/>
        </p:nvSpPr>
        <p:spPr>
          <a:xfrm>
            <a:off x="6483096" y="6199632"/>
            <a:ext cx="155448" cy="0"/>
          </a:xfrm>
          <a:prstGeom prst="line">
            <a:avLst/>
          </a:prstGeom>
          <a:noFill/>
          <a:ln w="15875">
            <a:solidFill>
              <a:schemeClr val="accent1"/>
            </a:solidFill>
            <a:prstDash val="solid"/>
          </a:ln>
        </p:spPr>
      </p:sp>
      <p:sp>
        <p:nvSpPr>
          <p:cNvPr id="32" name="Shape 30"/>
          <p:cNvSpPr/>
          <p:nvPr/>
        </p:nvSpPr>
        <p:spPr>
          <a:xfrm>
            <a:off x="6638544" y="6044184"/>
            <a:ext cx="0" cy="155448"/>
          </a:xfrm>
          <a:prstGeom prst="line">
            <a:avLst/>
          </a:prstGeom>
          <a:noFill/>
          <a:ln w="15875">
            <a:solidFill>
              <a:schemeClr val="accent1"/>
            </a:solidFill>
            <a:prstDash val="solid"/>
          </a:ln>
        </p:spPr>
      </p:sp>
      <p:sp>
        <p:nvSpPr>
          <p:cNvPr id="33" name="Text 31"/>
          <p:cNvSpPr txBox="1"/>
          <p:nvPr/>
        </p:nvSpPr>
        <p:spPr>
          <a:xfrm>
            <a:off x="777240" y="4992624"/>
            <a:ext cx="365760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ESCENARIO EVALUADO</a:t>
            </a:r>
            <a:endParaRPr lang="es-CL" sz="900" dirty="0"/>
          </a:p>
        </p:txBody>
      </p:sp>
      <p:sp>
        <p:nvSpPr>
          <p:cNvPr id="34" name="Text 32"/>
          <p:cNvSpPr txBox="1"/>
          <p:nvPr/>
        </p:nvSpPr>
        <p:spPr>
          <a:xfrm>
            <a:off x="777240" y="5276088"/>
            <a:ext cx="5577840" cy="777240"/>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Ley N° 21.793 sin reglamento publicado. </a:t>
            </a:r>
            <a:pPr indent="0" marL="0">
              <a:buNone/>
            </a:pPr>
            <a:r>
              <a:rPr lang="es-CL" altLang="en-US" sz="1400" dirty="0">
                <a:solidFill>
                  <a:schemeClr val="tx2"/>
                </a:solidFill>
                <a:latin typeface="Figtree" pitchFamily="34" charset="0"/>
                <a:ea typeface="Figtree" pitchFamily="34" charset="-122"/>
                <a:cs typeface="Figtree" pitchFamily="34" charset="-120"/>
              </a:rPr>
              <a:t>Única referencia: el borrador que el MTT sometió a consulta en diciembre de 2021, anterior a la ley.</a:t>
            </a:r>
            <a:endParaRPr lang="es-CL" sz="1400" dirty="0"/>
          </a:p>
        </p:txBody>
      </p:sp>
      <p:sp>
        <p:nvSpPr>
          <p:cNvPr id="35" name="Shape 33"/>
          <p:cNvSpPr/>
          <p:nvPr/>
        </p:nvSpPr>
        <p:spPr>
          <a:xfrm>
            <a:off x="6949440" y="4846320"/>
            <a:ext cx="4693615" cy="0"/>
          </a:xfrm>
          <a:prstGeom prst="line">
            <a:avLst/>
          </a:prstGeom>
          <a:noFill/>
          <a:ln w="9525">
            <a:solidFill>
              <a:schemeClr val="accent5"/>
            </a:solidFill>
            <a:prstDash val="solid"/>
          </a:ln>
        </p:spPr>
      </p:sp>
      <p:sp>
        <p:nvSpPr>
          <p:cNvPr id="36" name="Shape 34"/>
          <p:cNvSpPr/>
          <p:nvPr/>
        </p:nvSpPr>
        <p:spPr>
          <a:xfrm>
            <a:off x="6949440" y="4983480"/>
            <a:ext cx="68580" cy="68580"/>
          </a:xfrm>
          <a:prstGeom prst="rect">
            <a:avLst/>
          </a:prstGeom>
          <a:solidFill>
            <a:schemeClr val="accent3"/>
          </a:solidFill>
          <a:ln/>
        </p:spPr>
      </p:sp>
      <p:sp>
        <p:nvSpPr>
          <p:cNvPr id="37" name="Text 35"/>
          <p:cNvSpPr txBox="1"/>
          <p:nvPr/>
        </p:nvSpPr>
        <p:spPr>
          <a:xfrm>
            <a:off x="7104888" y="4910328"/>
            <a:ext cx="451073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SIN ESTADOS FINANCIEROS</a:t>
            </a:r>
            <a:endParaRPr lang="es-CL" sz="850" dirty="0"/>
          </a:p>
        </p:txBody>
      </p:sp>
      <p:sp>
        <p:nvSpPr>
          <p:cNvPr id="38" name="Text 36"/>
          <p:cNvSpPr txBox="1"/>
          <p:nvPr/>
        </p:nvSpPr>
        <p:spPr>
          <a:xfrm>
            <a:off x="6949440" y="5148072"/>
            <a:ext cx="4693615" cy="3657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Ratios (04) y análisis financiero comparativo no aplican hasta el Plan Financiero.</a:t>
            </a:r>
            <a:endParaRPr lang="es-CL" sz="1250" dirty="0"/>
          </a:p>
        </p:txBody>
      </p:sp>
      <p:sp>
        <p:nvSpPr>
          <p:cNvPr id="39" name="Shape 37"/>
          <p:cNvSpPr/>
          <p:nvPr/>
        </p:nvSpPr>
        <p:spPr>
          <a:xfrm>
            <a:off x="6949440" y="5522976"/>
            <a:ext cx="4693615" cy="0"/>
          </a:xfrm>
          <a:prstGeom prst="line">
            <a:avLst/>
          </a:prstGeom>
          <a:noFill/>
          <a:ln w="9525">
            <a:solidFill>
              <a:schemeClr val="accent5"/>
            </a:solidFill>
            <a:prstDash val="solid"/>
          </a:ln>
        </p:spPr>
      </p:sp>
      <p:sp>
        <p:nvSpPr>
          <p:cNvPr id="40" name="Shape 38"/>
          <p:cNvSpPr/>
          <p:nvPr/>
        </p:nvSpPr>
        <p:spPr>
          <a:xfrm>
            <a:off x="6949440" y="5660136"/>
            <a:ext cx="68580" cy="68580"/>
          </a:xfrm>
          <a:prstGeom prst="rect">
            <a:avLst/>
          </a:prstGeom>
          <a:solidFill>
            <a:schemeClr val="accent3"/>
          </a:solidFill>
          <a:ln/>
        </p:spPr>
      </p:sp>
      <p:sp>
        <p:nvSpPr>
          <p:cNvPr id="41" name="Text 39"/>
          <p:cNvSpPr txBox="1"/>
          <p:nvPr/>
        </p:nvSpPr>
        <p:spPr>
          <a:xfrm>
            <a:off x="7104888" y="5586984"/>
            <a:ext cx="451073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CRITERIO DE FUENTES</a:t>
            </a:r>
            <a:endParaRPr lang="es-CL" sz="850" dirty="0"/>
          </a:p>
        </p:txBody>
      </p:sp>
      <p:sp>
        <p:nvSpPr>
          <p:cNvPr id="42" name="Text 40"/>
          <p:cNvSpPr txBox="1"/>
          <p:nvPr/>
        </p:nvSpPr>
        <p:spPr>
          <a:xfrm>
            <a:off x="6949440" y="5824728"/>
            <a:ext cx="4693615" cy="3657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Si los antecedentes y los instrumentos difieren, priman los instrumentos.</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02</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ESCÁNER DE VENTAJAS COMPETITIVAS · KOVACEVIC Y REYNOSO</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SIN VENTAJA COMPETITIVA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efectiva, todavía.</a:t>
            </a:r>
            <a:endParaRPr lang="en-US" sz="3000" dirty="0"/>
          </a:p>
        </p:txBody>
      </p:sp>
      <p:sp>
        <p:nvSpPr>
          <p:cNvPr id="4" name="Text 2"/>
          <p:cNvSpPr txBox="1"/>
          <p:nvPr/>
        </p:nvSpPr>
        <p:spPr>
          <a:xfrm>
            <a:off x="548640" y="2331720"/>
            <a:ext cx="3657600" cy="237744"/>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TENDENCIAS Y PROYECCIONES</a:t>
            </a:r>
            <a:endParaRPr lang="es-CL" sz="900" dirty="0"/>
          </a:p>
        </p:txBody>
      </p:sp>
      <p:sp>
        <p:nvSpPr>
          <p:cNvPr id="5" name="Shape 3"/>
          <p:cNvSpPr/>
          <p:nvPr/>
        </p:nvSpPr>
        <p:spPr>
          <a:xfrm>
            <a:off x="548640" y="2660904"/>
            <a:ext cx="6903720" cy="0"/>
          </a:xfrm>
          <a:prstGeom prst="line">
            <a:avLst/>
          </a:prstGeom>
          <a:noFill/>
          <a:ln w="9525">
            <a:solidFill>
              <a:schemeClr val="accent5"/>
            </a:solidFill>
            <a:prstDash val="solid"/>
          </a:ln>
        </p:spPr>
      </p:sp>
      <p:sp>
        <p:nvSpPr>
          <p:cNvPr id="6" name="Shape 4"/>
          <p:cNvSpPr/>
          <p:nvPr/>
        </p:nvSpPr>
        <p:spPr>
          <a:xfrm>
            <a:off x="548640" y="2807208"/>
            <a:ext cx="1051560" cy="256032"/>
          </a:xfrm>
          <a:prstGeom prst="rect">
            <a:avLst/>
          </a:prstGeom>
          <a:solidFill>
            <a:schemeClr val="bg1">
              <a:alpha val="0"/>
            </a:schemeClr>
          </a:solidFill>
          <a:ln w="9525">
            <a:solidFill>
              <a:schemeClr val="accent2"/>
            </a:solidFill>
            <a:prstDash val="dash"/>
          </a:ln>
        </p:spPr>
      </p:sp>
      <p:sp>
        <p:nvSpPr>
          <p:cNvPr id="7" name="Text 5"/>
          <p:cNvSpPr txBox="1"/>
          <p:nvPr/>
        </p:nvSpPr>
        <p:spPr>
          <a:xfrm>
            <a:off x="640080" y="2807208"/>
            <a:ext cx="86868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2"/>
                </a:solidFill>
                <a:latin typeface="IBM Plex Mono" pitchFamily="34" charset="0"/>
                <a:ea typeface="IBM Plex Mono" pitchFamily="34" charset="-122"/>
                <a:cs typeface="IBM Plex Mono" pitchFamily="34" charset="-120"/>
              </a:rPr>
              <a:t>A FAVOR</a:t>
            </a:r>
            <a:endParaRPr lang="es-CL" sz="850" dirty="0"/>
          </a:p>
        </p:txBody>
      </p:sp>
      <p:sp>
        <p:nvSpPr>
          <p:cNvPr id="8" name="Text 6"/>
          <p:cNvSpPr txBox="1"/>
          <p:nvPr/>
        </p:nvSpPr>
        <p:spPr>
          <a:xfrm>
            <a:off x="1783080" y="2715768"/>
            <a:ext cx="5669280" cy="24688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El parque se conserva</a:t>
            </a:r>
            <a:endParaRPr lang="es-CL" sz="1400" dirty="0"/>
          </a:p>
        </p:txBody>
      </p:sp>
      <p:sp>
        <p:nvSpPr>
          <p:cNvPr id="9" name="Text 7"/>
          <p:cNvSpPr txBox="1"/>
          <p:nvPr/>
        </p:nvSpPr>
        <p:spPr>
          <a:xfrm>
            <a:off x="1783080" y="2953512"/>
            <a:ext cx="5669280" cy="237744"/>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3,5 usados transferidos por cada auto nuevo (2026)</a:t>
            </a:r>
            <a:endParaRPr lang="es-CL" sz="1250" dirty="0"/>
          </a:p>
        </p:txBody>
      </p:sp>
      <p:sp>
        <p:nvSpPr>
          <p:cNvPr id="10" name="Shape 8"/>
          <p:cNvSpPr/>
          <p:nvPr/>
        </p:nvSpPr>
        <p:spPr>
          <a:xfrm>
            <a:off x="548640" y="3209544"/>
            <a:ext cx="6903720" cy="0"/>
          </a:xfrm>
          <a:prstGeom prst="line">
            <a:avLst/>
          </a:prstGeom>
          <a:noFill/>
          <a:ln w="9525">
            <a:solidFill>
              <a:schemeClr val="accent5"/>
            </a:solidFill>
            <a:prstDash val="solid"/>
          </a:ln>
        </p:spPr>
      </p:sp>
      <p:sp>
        <p:nvSpPr>
          <p:cNvPr id="11" name="Shape 9"/>
          <p:cNvSpPr/>
          <p:nvPr/>
        </p:nvSpPr>
        <p:spPr>
          <a:xfrm>
            <a:off x="548640" y="3355848"/>
            <a:ext cx="1051560" cy="256032"/>
          </a:xfrm>
          <a:prstGeom prst="rect">
            <a:avLst/>
          </a:prstGeom>
          <a:solidFill>
            <a:schemeClr val="bg1">
              <a:alpha val="0"/>
            </a:schemeClr>
          </a:solidFill>
          <a:ln w="9525">
            <a:solidFill>
              <a:schemeClr val="accent2"/>
            </a:solidFill>
            <a:prstDash val="dash"/>
          </a:ln>
        </p:spPr>
      </p:sp>
      <p:sp>
        <p:nvSpPr>
          <p:cNvPr id="12" name="Text 10"/>
          <p:cNvSpPr txBox="1"/>
          <p:nvPr/>
        </p:nvSpPr>
        <p:spPr>
          <a:xfrm>
            <a:off x="640080" y="3355848"/>
            <a:ext cx="86868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2"/>
                </a:solidFill>
                <a:latin typeface="IBM Plex Mono" pitchFamily="34" charset="0"/>
                <a:ea typeface="IBM Plex Mono" pitchFamily="34" charset="-122"/>
                <a:cs typeface="IBM Plex Mono" pitchFamily="34" charset="-120"/>
              </a:rPr>
              <a:t>A FAVOR</a:t>
            </a:r>
            <a:endParaRPr lang="es-CL" sz="850" dirty="0"/>
          </a:p>
        </p:txBody>
      </p:sp>
      <p:sp>
        <p:nvSpPr>
          <p:cNvPr id="13" name="Text 11"/>
          <p:cNvSpPr txBox="1"/>
          <p:nvPr/>
        </p:nvSpPr>
        <p:spPr>
          <a:xfrm>
            <a:off x="1783080" y="3264408"/>
            <a:ext cx="5669280" cy="24688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El combustible sube</a:t>
            </a:r>
            <a:endParaRPr lang="es-CL" sz="1400" dirty="0"/>
          </a:p>
        </p:txBody>
      </p:sp>
      <p:sp>
        <p:nvSpPr>
          <p:cNvPr id="14" name="Text 12"/>
          <p:cNvSpPr txBox="1"/>
          <p:nvPr/>
        </p:nvSpPr>
        <p:spPr>
          <a:xfrm>
            <a:off x="1783080" y="3502152"/>
            <a:ext cx="5669280" cy="237744"/>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Bencina 93 de $1.149 a $1.541 por litro en la RM</a:t>
            </a:r>
            <a:endParaRPr lang="es-CL" sz="1250" dirty="0"/>
          </a:p>
        </p:txBody>
      </p:sp>
      <p:sp>
        <p:nvSpPr>
          <p:cNvPr id="15" name="Shape 13"/>
          <p:cNvSpPr/>
          <p:nvPr/>
        </p:nvSpPr>
        <p:spPr>
          <a:xfrm>
            <a:off x="548640" y="3758184"/>
            <a:ext cx="6903720" cy="0"/>
          </a:xfrm>
          <a:prstGeom prst="line">
            <a:avLst/>
          </a:prstGeom>
          <a:noFill/>
          <a:ln w="9525">
            <a:solidFill>
              <a:schemeClr val="accent5"/>
            </a:solidFill>
            <a:prstDash val="solid"/>
          </a:ln>
        </p:spPr>
      </p:sp>
      <p:sp>
        <p:nvSpPr>
          <p:cNvPr id="16" name="Shape 14"/>
          <p:cNvSpPr/>
          <p:nvPr/>
        </p:nvSpPr>
        <p:spPr>
          <a:xfrm>
            <a:off x="548640" y="3904488"/>
            <a:ext cx="1051560" cy="256032"/>
          </a:xfrm>
          <a:prstGeom prst="rect">
            <a:avLst/>
          </a:prstGeom>
          <a:solidFill>
            <a:schemeClr val="bg1">
              <a:alpha val="0"/>
            </a:schemeClr>
          </a:solidFill>
          <a:ln w="9525">
            <a:solidFill>
              <a:schemeClr val="accent2"/>
            </a:solidFill>
            <a:prstDash val="dash"/>
          </a:ln>
        </p:spPr>
      </p:sp>
      <p:sp>
        <p:nvSpPr>
          <p:cNvPr id="17" name="Text 15"/>
          <p:cNvSpPr txBox="1"/>
          <p:nvPr/>
        </p:nvSpPr>
        <p:spPr>
          <a:xfrm>
            <a:off x="640080" y="3904488"/>
            <a:ext cx="86868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2"/>
                </a:solidFill>
                <a:latin typeface="IBM Plex Mono" pitchFamily="34" charset="0"/>
                <a:ea typeface="IBM Plex Mono" pitchFamily="34" charset="-122"/>
                <a:cs typeface="IBM Plex Mono" pitchFamily="34" charset="-120"/>
              </a:rPr>
              <a:t>A FAVOR</a:t>
            </a:r>
            <a:endParaRPr lang="es-CL" sz="850" dirty="0"/>
          </a:p>
        </p:txBody>
      </p:sp>
      <p:sp>
        <p:nvSpPr>
          <p:cNvPr id="18" name="Text 16"/>
          <p:cNvSpPr txBox="1"/>
          <p:nvPr/>
        </p:nvSpPr>
        <p:spPr>
          <a:xfrm>
            <a:off x="1783080" y="3813048"/>
            <a:ext cx="5669280" cy="24688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El insumo crítico baja</a:t>
            </a:r>
            <a:endParaRPr lang="es-CL" sz="1400" dirty="0"/>
          </a:p>
        </p:txBody>
      </p:sp>
      <p:sp>
        <p:nvSpPr>
          <p:cNvPr id="19" name="Text 17"/>
          <p:cNvSpPr txBox="1"/>
          <p:nvPr/>
        </p:nvSpPr>
        <p:spPr>
          <a:xfrm>
            <a:off x="1783080" y="4050792"/>
            <a:ext cx="5669280" cy="237744"/>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Baterías LFP en US$81 por kWh</a:t>
            </a:r>
            <a:endParaRPr lang="es-CL" sz="1250" dirty="0"/>
          </a:p>
        </p:txBody>
      </p:sp>
      <p:sp>
        <p:nvSpPr>
          <p:cNvPr id="20" name="Shape 18"/>
          <p:cNvSpPr/>
          <p:nvPr/>
        </p:nvSpPr>
        <p:spPr>
          <a:xfrm>
            <a:off x="548640" y="4306824"/>
            <a:ext cx="6903720" cy="0"/>
          </a:xfrm>
          <a:prstGeom prst="line">
            <a:avLst/>
          </a:prstGeom>
          <a:noFill/>
          <a:ln w="9525">
            <a:solidFill>
              <a:schemeClr val="accent5"/>
            </a:solidFill>
            <a:prstDash val="solid"/>
          </a:ln>
        </p:spPr>
      </p:sp>
      <p:sp>
        <p:nvSpPr>
          <p:cNvPr id="21" name="Shape 19"/>
          <p:cNvSpPr/>
          <p:nvPr/>
        </p:nvSpPr>
        <p:spPr>
          <a:xfrm>
            <a:off x="548640" y="4453128"/>
            <a:ext cx="1051560" cy="256032"/>
          </a:xfrm>
          <a:prstGeom prst="rect">
            <a:avLst/>
          </a:prstGeom>
          <a:solidFill>
            <a:schemeClr val="bg1">
              <a:alpha val="0"/>
            </a:schemeClr>
          </a:solidFill>
          <a:ln w="9525">
            <a:solidFill>
              <a:schemeClr val="accent2"/>
            </a:solidFill>
            <a:prstDash val="dash"/>
          </a:ln>
        </p:spPr>
      </p:sp>
      <p:sp>
        <p:nvSpPr>
          <p:cNvPr id="22" name="Text 20"/>
          <p:cNvSpPr txBox="1"/>
          <p:nvPr/>
        </p:nvSpPr>
        <p:spPr>
          <a:xfrm>
            <a:off x="640080" y="4453128"/>
            <a:ext cx="86868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2"/>
                </a:solidFill>
                <a:latin typeface="IBM Plex Mono" pitchFamily="34" charset="0"/>
                <a:ea typeface="IBM Plex Mono" pitchFamily="34" charset="-122"/>
                <a:cs typeface="IBM Plex Mono" pitchFamily="34" charset="-120"/>
              </a:rPr>
              <a:t>A FAVOR</a:t>
            </a:r>
            <a:endParaRPr lang="es-CL" sz="850" dirty="0"/>
          </a:p>
        </p:txBody>
      </p:sp>
      <p:sp>
        <p:nvSpPr>
          <p:cNvPr id="23" name="Text 21"/>
          <p:cNvSpPr txBox="1"/>
          <p:nvPr/>
        </p:nvSpPr>
        <p:spPr>
          <a:xfrm>
            <a:off x="1783080" y="4361688"/>
            <a:ext cx="5669280" cy="24688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Crece el cliente prioritario</a:t>
            </a:r>
            <a:endParaRPr lang="es-CL" sz="1400" dirty="0"/>
          </a:p>
        </p:txBody>
      </p:sp>
      <p:sp>
        <p:nvSpPr>
          <p:cNvPr id="24" name="Text 22"/>
          <p:cNvSpPr txBox="1"/>
          <p:nvPr/>
        </p:nvSpPr>
        <p:spPr>
          <a:xfrm>
            <a:off x="1783080" y="4599432"/>
            <a:ext cx="5669280" cy="237744"/>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Empleo en transporte +9,7%; cuenta propia +14,3%</a:t>
            </a:r>
            <a:endParaRPr lang="es-CL" sz="1250" dirty="0"/>
          </a:p>
        </p:txBody>
      </p:sp>
      <p:sp>
        <p:nvSpPr>
          <p:cNvPr id="25" name="Shape 23"/>
          <p:cNvSpPr/>
          <p:nvPr/>
        </p:nvSpPr>
        <p:spPr>
          <a:xfrm>
            <a:off x="548640" y="4855464"/>
            <a:ext cx="6903720" cy="0"/>
          </a:xfrm>
          <a:prstGeom prst="line">
            <a:avLst/>
          </a:prstGeom>
          <a:noFill/>
          <a:ln w="9525">
            <a:solidFill>
              <a:schemeClr val="accent5"/>
            </a:solidFill>
            <a:prstDash val="solid"/>
          </a:ln>
        </p:spPr>
      </p:sp>
      <p:sp>
        <p:nvSpPr>
          <p:cNvPr id="26" name="Shape 24"/>
          <p:cNvSpPr/>
          <p:nvPr/>
        </p:nvSpPr>
        <p:spPr>
          <a:xfrm>
            <a:off x="548640" y="5001768"/>
            <a:ext cx="1051560" cy="256032"/>
          </a:xfrm>
          <a:prstGeom prst="rect">
            <a:avLst/>
          </a:prstGeom>
          <a:solidFill>
            <a:schemeClr val="bg1">
              <a:alpha val="0"/>
            </a:schemeClr>
          </a:solidFill>
          <a:ln w="9525">
            <a:solidFill>
              <a:schemeClr val="accent4"/>
            </a:solidFill>
            <a:prstDash val="dash"/>
          </a:ln>
        </p:spPr>
      </p:sp>
      <p:sp>
        <p:nvSpPr>
          <p:cNvPr id="27" name="Text 25"/>
          <p:cNvSpPr txBox="1"/>
          <p:nvPr/>
        </p:nvSpPr>
        <p:spPr>
          <a:xfrm>
            <a:off x="640080" y="5001768"/>
            <a:ext cx="86868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4"/>
                </a:solidFill>
                <a:latin typeface="IBM Plex Mono" pitchFamily="34" charset="0"/>
                <a:ea typeface="IBM Plex Mono" pitchFamily="34" charset="-122"/>
                <a:cs typeface="IBM Plex Mono" pitchFamily="34" charset="-120"/>
              </a:rPr>
              <a:t>EN CONTRA</a:t>
            </a:r>
            <a:endParaRPr lang="es-CL" sz="850" dirty="0"/>
          </a:p>
        </p:txBody>
      </p:sp>
      <p:sp>
        <p:nvSpPr>
          <p:cNvPr id="28" name="Text 26"/>
          <p:cNvSpPr txBox="1"/>
          <p:nvPr/>
        </p:nvSpPr>
        <p:spPr>
          <a:xfrm>
            <a:off x="1783080" y="4910328"/>
            <a:ext cx="5669280" cy="24688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La actividad se debilita</a:t>
            </a:r>
            <a:endParaRPr lang="es-CL" sz="1400" dirty="0"/>
          </a:p>
        </p:txBody>
      </p:sp>
      <p:sp>
        <p:nvSpPr>
          <p:cNvPr id="29" name="Text 27"/>
          <p:cNvSpPr txBox="1"/>
          <p:nvPr/>
        </p:nvSpPr>
        <p:spPr>
          <a:xfrm>
            <a:off x="1783080" y="5148072"/>
            <a:ext cx="5669280" cy="237744"/>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PIB 2026 recortado a 0,25%–0,75%; desempleo 9,5%</a:t>
            </a:r>
            <a:endParaRPr lang="es-CL" sz="1250" dirty="0"/>
          </a:p>
        </p:txBody>
      </p:sp>
      <p:sp>
        <p:nvSpPr>
          <p:cNvPr id="30" name="Shape 28"/>
          <p:cNvSpPr/>
          <p:nvPr/>
        </p:nvSpPr>
        <p:spPr>
          <a:xfrm>
            <a:off x="548640" y="5404104"/>
            <a:ext cx="6903720" cy="0"/>
          </a:xfrm>
          <a:prstGeom prst="line">
            <a:avLst/>
          </a:prstGeom>
          <a:noFill/>
          <a:ln w="9525">
            <a:solidFill>
              <a:schemeClr val="accent5"/>
            </a:solidFill>
            <a:prstDash val="solid"/>
          </a:ln>
        </p:spPr>
      </p:sp>
      <p:sp>
        <p:nvSpPr>
          <p:cNvPr id="31" name="Shape 29"/>
          <p:cNvSpPr/>
          <p:nvPr/>
        </p:nvSpPr>
        <p:spPr>
          <a:xfrm>
            <a:off x="548640" y="5550408"/>
            <a:ext cx="1051560" cy="256032"/>
          </a:xfrm>
          <a:prstGeom prst="rect">
            <a:avLst/>
          </a:prstGeom>
          <a:solidFill>
            <a:schemeClr val="bg1">
              <a:alpha val="0"/>
            </a:schemeClr>
          </a:solidFill>
          <a:ln w="9525">
            <a:solidFill>
              <a:schemeClr val="accent4"/>
            </a:solidFill>
            <a:prstDash val="dash"/>
          </a:ln>
        </p:spPr>
      </p:sp>
      <p:sp>
        <p:nvSpPr>
          <p:cNvPr id="32" name="Text 30"/>
          <p:cNvSpPr txBox="1"/>
          <p:nvPr/>
        </p:nvSpPr>
        <p:spPr>
          <a:xfrm>
            <a:off x="640080" y="5550408"/>
            <a:ext cx="86868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4"/>
                </a:solidFill>
                <a:latin typeface="IBM Plex Mono" pitchFamily="34" charset="0"/>
                <a:ea typeface="IBM Plex Mono" pitchFamily="34" charset="-122"/>
                <a:cs typeface="IBM Plex Mono" pitchFamily="34" charset="-120"/>
              </a:rPr>
              <a:t>EN CONTRA</a:t>
            </a:r>
            <a:endParaRPr lang="es-CL" sz="850" dirty="0"/>
          </a:p>
        </p:txBody>
      </p:sp>
      <p:sp>
        <p:nvSpPr>
          <p:cNvPr id="33" name="Text 31"/>
          <p:cNvSpPr txBox="1"/>
          <p:nvPr/>
        </p:nvSpPr>
        <p:spPr>
          <a:xfrm>
            <a:off x="1783080" y="5458968"/>
            <a:ext cx="5669280" cy="24688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El kit se encarece</a:t>
            </a:r>
            <a:endParaRPr lang="es-CL" sz="1400" dirty="0"/>
          </a:p>
        </p:txBody>
      </p:sp>
      <p:sp>
        <p:nvSpPr>
          <p:cNvPr id="34" name="Text 32"/>
          <p:cNvSpPr txBox="1"/>
          <p:nvPr/>
        </p:nvSpPr>
        <p:spPr>
          <a:xfrm>
            <a:off x="1783080" y="5696712"/>
            <a:ext cx="5669280" cy="237744"/>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Dólar cerca de $970, en máximos de más de un año</a:t>
            </a:r>
            <a:endParaRPr lang="es-CL" sz="1250" dirty="0"/>
          </a:p>
        </p:txBody>
      </p:sp>
      <p:sp>
        <p:nvSpPr>
          <p:cNvPr id="35" name="Shape 33"/>
          <p:cNvSpPr/>
          <p:nvPr/>
        </p:nvSpPr>
        <p:spPr>
          <a:xfrm>
            <a:off x="548640" y="5952744"/>
            <a:ext cx="6903720" cy="0"/>
          </a:xfrm>
          <a:prstGeom prst="line">
            <a:avLst/>
          </a:prstGeom>
          <a:noFill/>
          <a:ln w="9525">
            <a:solidFill>
              <a:schemeClr val="accent5"/>
            </a:solidFill>
            <a:prstDash val="solid"/>
          </a:ln>
        </p:spPr>
      </p:sp>
      <p:sp>
        <p:nvSpPr>
          <p:cNvPr id="36" name="Shape 34"/>
          <p:cNvSpPr/>
          <p:nvPr/>
        </p:nvSpPr>
        <p:spPr>
          <a:xfrm>
            <a:off x="7863840" y="2331720"/>
            <a:ext cx="3779215" cy="3840480"/>
          </a:xfrm>
          <a:prstGeom prst="rect">
            <a:avLst/>
          </a:prstGeom>
          <a:solidFill>
            <a:schemeClr val="bg2"/>
          </a:solidFill>
          <a:ln w="9525">
            <a:solidFill>
              <a:schemeClr val="accent5"/>
            </a:solidFill>
            <a:prstDash val="solid"/>
          </a:ln>
        </p:spPr>
      </p:sp>
      <p:sp>
        <p:nvSpPr>
          <p:cNvPr id="37" name="Shape 35"/>
          <p:cNvSpPr/>
          <p:nvPr/>
        </p:nvSpPr>
        <p:spPr>
          <a:xfrm>
            <a:off x="7808976" y="2276856"/>
            <a:ext cx="155448" cy="0"/>
          </a:xfrm>
          <a:prstGeom prst="line">
            <a:avLst/>
          </a:prstGeom>
          <a:noFill/>
          <a:ln w="15875">
            <a:solidFill>
              <a:schemeClr val="accent1"/>
            </a:solidFill>
            <a:prstDash val="solid"/>
          </a:ln>
        </p:spPr>
      </p:sp>
      <p:sp>
        <p:nvSpPr>
          <p:cNvPr id="38" name="Shape 36"/>
          <p:cNvSpPr/>
          <p:nvPr/>
        </p:nvSpPr>
        <p:spPr>
          <a:xfrm>
            <a:off x="7808976" y="2276856"/>
            <a:ext cx="0" cy="155448"/>
          </a:xfrm>
          <a:prstGeom prst="line">
            <a:avLst/>
          </a:prstGeom>
          <a:noFill/>
          <a:ln w="15875">
            <a:solidFill>
              <a:schemeClr val="accent1"/>
            </a:solidFill>
            <a:prstDash val="solid"/>
          </a:ln>
        </p:spPr>
      </p:sp>
      <p:sp>
        <p:nvSpPr>
          <p:cNvPr id="39" name="Shape 37"/>
          <p:cNvSpPr/>
          <p:nvPr/>
        </p:nvSpPr>
        <p:spPr>
          <a:xfrm>
            <a:off x="11542471" y="2276856"/>
            <a:ext cx="155448" cy="0"/>
          </a:xfrm>
          <a:prstGeom prst="line">
            <a:avLst/>
          </a:prstGeom>
          <a:noFill/>
          <a:ln w="15875">
            <a:solidFill>
              <a:schemeClr val="accent1"/>
            </a:solidFill>
            <a:prstDash val="solid"/>
          </a:ln>
        </p:spPr>
      </p:sp>
      <p:sp>
        <p:nvSpPr>
          <p:cNvPr id="40" name="Shape 38"/>
          <p:cNvSpPr/>
          <p:nvPr/>
        </p:nvSpPr>
        <p:spPr>
          <a:xfrm>
            <a:off x="11697919" y="2276856"/>
            <a:ext cx="0" cy="155448"/>
          </a:xfrm>
          <a:prstGeom prst="line">
            <a:avLst/>
          </a:prstGeom>
          <a:noFill/>
          <a:ln w="15875">
            <a:solidFill>
              <a:schemeClr val="accent1"/>
            </a:solidFill>
            <a:prstDash val="solid"/>
          </a:ln>
        </p:spPr>
      </p:sp>
      <p:sp>
        <p:nvSpPr>
          <p:cNvPr id="41" name="Shape 39"/>
          <p:cNvSpPr/>
          <p:nvPr/>
        </p:nvSpPr>
        <p:spPr>
          <a:xfrm>
            <a:off x="7808976" y="6227064"/>
            <a:ext cx="155448" cy="0"/>
          </a:xfrm>
          <a:prstGeom prst="line">
            <a:avLst/>
          </a:prstGeom>
          <a:noFill/>
          <a:ln w="15875">
            <a:solidFill>
              <a:schemeClr val="accent1"/>
            </a:solidFill>
            <a:prstDash val="solid"/>
          </a:ln>
        </p:spPr>
      </p:sp>
      <p:sp>
        <p:nvSpPr>
          <p:cNvPr id="42" name="Shape 40"/>
          <p:cNvSpPr/>
          <p:nvPr/>
        </p:nvSpPr>
        <p:spPr>
          <a:xfrm>
            <a:off x="7808976" y="6071616"/>
            <a:ext cx="0" cy="155448"/>
          </a:xfrm>
          <a:prstGeom prst="line">
            <a:avLst/>
          </a:prstGeom>
          <a:noFill/>
          <a:ln w="15875">
            <a:solidFill>
              <a:schemeClr val="accent1"/>
            </a:solidFill>
            <a:prstDash val="solid"/>
          </a:ln>
        </p:spPr>
      </p:sp>
      <p:sp>
        <p:nvSpPr>
          <p:cNvPr id="43" name="Shape 41"/>
          <p:cNvSpPr/>
          <p:nvPr/>
        </p:nvSpPr>
        <p:spPr>
          <a:xfrm>
            <a:off x="11542471" y="6227064"/>
            <a:ext cx="155448" cy="0"/>
          </a:xfrm>
          <a:prstGeom prst="line">
            <a:avLst/>
          </a:prstGeom>
          <a:noFill/>
          <a:ln w="15875">
            <a:solidFill>
              <a:schemeClr val="accent1"/>
            </a:solidFill>
            <a:prstDash val="solid"/>
          </a:ln>
        </p:spPr>
      </p:sp>
      <p:sp>
        <p:nvSpPr>
          <p:cNvPr id="44" name="Shape 42"/>
          <p:cNvSpPr/>
          <p:nvPr/>
        </p:nvSpPr>
        <p:spPr>
          <a:xfrm>
            <a:off x="11697919" y="6071616"/>
            <a:ext cx="0" cy="155448"/>
          </a:xfrm>
          <a:prstGeom prst="line">
            <a:avLst/>
          </a:prstGeom>
          <a:noFill/>
          <a:ln w="15875">
            <a:solidFill>
              <a:schemeClr val="accent1"/>
            </a:solidFill>
            <a:prstDash val="solid"/>
          </a:ln>
        </p:spPr>
      </p:sp>
      <p:sp>
        <p:nvSpPr>
          <p:cNvPr id="45" name="Text 43"/>
          <p:cNvSpPr txBox="1"/>
          <p:nvPr/>
        </p:nvSpPr>
        <p:spPr>
          <a:xfrm>
            <a:off x="8092440" y="2514600"/>
            <a:ext cx="3322015"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COMPETENCIA CENTRAL · 05</a:t>
            </a:r>
            <a:endParaRPr lang="es-CL" sz="900" dirty="0"/>
          </a:p>
        </p:txBody>
      </p:sp>
      <p:sp>
        <p:nvSpPr>
          <p:cNvPr id="46" name="Text 44"/>
          <p:cNvSpPr txBox="1"/>
          <p:nvPr/>
        </p:nvSpPr>
        <p:spPr>
          <a:xfrm>
            <a:off x="8092440" y="2788920"/>
            <a:ext cx="3322015" cy="566928"/>
          </a:xfrm>
          <a:prstGeom prst="rect">
            <a:avLst/>
          </a:prstGeom>
          <a:noFill/>
          <a:ln/>
        </p:spPr>
        <p:txBody>
          <a:bodyPr wrap="square" lIns="0" tIns="0" rIns="0" bIns="0" rtlCol="0" anchor="t"/>
          <a:lstStyle/>
          <a:p>
            <a:pPr indent="0" marL="0">
              <a:buNone/>
            </a:pPr>
            <a:r>
              <a:rPr lang="es-CL" altLang="en-US" sz="1900" b="1" dirty="0">
                <a:solidFill>
                  <a:schemeClr val="tx1"/>
                </a:solidFill>
                <a:latin typeface="Figtree" pitchFamily="34" charset="0"/>
                <a:ea typeface="Figtree" pitchFamily="34" charset="-122"/>
                <a:cs typeface="Figtree" pitchFamily="34" charset="-120"/>
              </a:rPr>
              <a:t>Calibración por marca y modelo</a:t>
            </a:r>
            <a:endParaRPr lang="es-CL" sz="1900" dirty="0"/>
          </a:p>
        </p:txBody>
      </p:sp>
      <p:sp>
        <p:nvSpPr>
          <p:cNvPr id="47" name="Text 45"/>
          <p:cNvSpPr txBox="1"/>
          <p:nvPr/>
        </p:nvSpPr>
        <p:spPr>
          <a:xfrm>
            <a:off x="8092440" y="3374136"/>
            <a:ext cx="3322015" cy="41148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Recurso (biblioteca) y capacidad (ingeniería de integración).</a:t>
            </a:r>
            <a:endParaRPr lang="es-CL" sz="1250" dirty="0"/>
          </a:p>
        </p:txBody>
      </p:sp>
      <p:sp>
        <p:nvSpPr>
          <p:cNvPr id="48" name="Shape 46"/>
          <p:cNvSpPr/>
          <p:nvPr/>
        </p:nvSpPr>
        <p:spPr>
          <a:xfrm>
            <a:off x="8092440" y="3886200"/>
            <a:ext cx="2103120" cy="256032"/>
          </a:xfrm>
          <a:prstGeom prst="rect">
            <a:avLst/>
          </a:prstGeom>
          <a:solidFill>
            <a:schemeClr val="bg1">
              <a:alpha val="0"/>
            </a:schemeClr>
          </a:solidFill>
          <a:ln w="9525">
            <a:solidFill>
              <a:schemeClr val="accent3"/>
            </a:solidFill>
            <a:prstDash val="dash"/>
          </a:ln>
        </p:spPr>
      </p:sp>
      <p:sp>
        <p:nvSpPr>
          <p:cNvPr id="49" name="Text 47"/>
          <p:cNvSpPr txBox="1"/>
          <p:nvPr/>
        </p:nvSpPr>
        <p:spPr>
          <a:xfrm>
            <a:off x="8183880" y="3886200"/>
            <a:ext cx="1920240" cy="256032"/>
          </a:xfrm>
          <a:prstGeom prst="rect">
            <a:avLst/>
          </a:prstGeom>
          <a:noFill/>
          <a:ln/>
        </p:spPr>
        <p:txBody>
          <a:bodyPr wrap="square" lIns="0" tIns="0" rIns="0" bIns="0" rtlCol="0" anchor="ctr">
            <a:normAutofit/>
          </a:bodyPr>
          <a:lstStyle/>
          <a:p>
            <a:pPr indent="0" marL="0">
              <a:buNone/>
            </a:pPr>
            <a:r>
              <a:rPr lang="es-CL" altLang="en-US" sz="850" spc="120" kern="0" dirty="0">
                <a:solidFill>
                  <a:schemeClr val="accent3"/>
                </a:solidFill>
                <a:latin typeface="IBM Plex Mono" pitchFamily="34" charset="0"/>
                <a:ea typeface="IBM Plex Mono" pitchFamily="34" charset="-122"/>
                <a:cs typeface="IBM Plex Mono" pitchFamily="34" charset="-120"/>
              </a:rPr>
              <a:t>POTENCIAL, NO EFECTIVA</a:t>
            </a:r>
            <a:endParaRPr lang="es-CL" sz="850" dirty="0"/>
          </a:p>
        </p:txBody>
      </p:sp>
      <p:sp>
        <p:nvSpPr>
          <p:cNvPr id="50" name="Shape 48"/>
          <p:cNvSpPr/>
          <p:nvPr/>
        </p:nvSpPr>
        <p:spPr>
          <a:xfrm>
            <a:off x="8092440" y="4315968"/>
            <a:ext cx="3322015" cy="0"/>
          </a:xfrm>
          <a:prstGeom prst="line">
            <a:avLst/>
          </a:prstGeom>
          <a:noFill/>
          <a:ln w="9525">
            <a:solidFill>
              <a:schemeClr val="accent5"/>
            </a:solidFill>
            <a:prstDash val="solid"/>
          </a:ln>
        </p:spPr>
      </p:sp>
      <p:sp>
        <p:nvSpPr>
          <p:cNvPr id="51" name="Text 49"/>
          <p:cNvSpPr txBox="1"/>
          <p:nvPr/>
        </p:nvSpPr>
        <p:spPr>
          <a:xfrm>
            <a:off x="8092440" y="4434840"/>
            <a:ext cx="332201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TRES PALANCAS DE MARGEN</a:t>
            </a:r>
            <a:endParaRPr lang="es-CL" sz="850" dirty="0"/>
          </a:p>
        </p:txBody>
      </p:sp>
      <p:sp>
        <p:nvSpPr>
          <p:cNvPr id="52" name="Shape 50"/>
          <p:cNvSpPr/>
          <p:nvPr/>
        </p:nvSpPr>
        <p:spPr>
          <a:xfrm>
            <a:off x="8092440" y="4727448"/>
            <a:ext cx="3322015" cy="0"/>
          </a:xfrm>
          <a:prstGeom prst="line">
            <a:avLst/>
          </a:prstGeom>
          <a:noFill/>
          <a:ln w="9525">
            <a:solidFill>
              <a:schemeClr val="accent6"/>
            </a:solidFill>
            <a:prstDash val="solid"/>
          </a:ln>
        </p:spPr>
      </p:sp>
      <p:sp>
        <p:nvSpPr>
          <p:cNvPr id="53" name="Text 51"/>
          <p:cNvSpPr txBox="1"/>
          <p:nvPr/>
        </p:nvSpPr>
        <p:spPr>
          <a:xfrm>
            <a:off x="8092440" y="4727448"/>
            <a:ext cx="365760" cy="438912"/>
          </a:xfrm>
          <a:prstGeom prst="rect">
            <a:avLst/>
          </a:prstGeom>
          <a:noFill/>
          <a:ln/>
        </p:spPr>
        <p:txBody>
          <a:bodyPr wrap="square" lIns="0" tIns="0" rIns="0" bIns="0" rtlCol="0" anchor="ctr"/>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01</a:t>
            </a:r>
            <a:endParaRPr lang="es-CL" sz="900" dirty="0"/>
          </a:p>
        </p:txBody>
      </p:sp>
      <p:sp>
        <p:nvSpPr>
          <p:cNvPr id="54" name="Text 52"/>
          <p:cNvSpPr txBox="1"/>
          <p:nvPr/>
        </p:nvSpPr>
        <p:spPr>
          <a:xfrm>
            <a:off x="8458200" y="4727448"/>
            <a:ext cx="2956255" cy="438912"/>
          </a:xfrm>
          <a:prstGeom prst="rect">
            <a:avLst/>
          </a:prstGeom>
          <a:noFill/>
          <a:ln/>
        </p:spPr>
        <p:txBody>
          <a:bodyPr wrap="square" lIns="0" tIns="0" rIns="0" bIns="0" rtlCol="0" anchor="ctr"/>
          <a:lstStyle/>
          <a:p>
            <a:pPr indent="0" marL="0">
              <a:buNone/>
            </a:pPr>
            <a:r>
              <a:rPr lang="es-CL" altLang="en-US" sz="1300" dirty="0">
                <a:solidFill>
                  <a:schemeClr val="tx1"/>
                </a:solidFill>
                <a:latin typeface="Figtree" pitchFamily="34" charset="0"/>
                <a:ea typeface="Figtree" pitchFamily="34" charset="-122"/>
                <a:cs typeface="Figtree" pitchFamily="34" charset="-120"/>
              </a:rPr>
              <a:t>Precio según valor y kilometraje</a:t>
            </a:r>
            <a:endParaRPr lang="es-CL" sz="1300" dirty="0"/>
          </a:p>
        </p:txBody>
      </p:sp>
      <p:sp>
        <p:nvSpPr>
          <p:cNvPr id="55" name="Shape 53"/>
          <p:cNvSpPr/>
          <p:nvPr/>
        </p:nvSpPr>
        <p:spPr>
          <a:xfrm>
            <a:off x="8092440" y="5166360"/>
            <a:ext cx="3322015" cy="0"/>
          </a:xfrm>
          <a:prstGeom prst="line">
            <a:avLst/>
          </a:prstGeom>
          <a:noFill/>
          <a:ln w="9525">
            <a:solidFill>
              <a:schemeClr val="accent6"/>
            </a:solidFill>
            <a:prstDash val="solid"/>
          </a:ln>
        </p:spPr>
      </p:sp>
      <p:sp>
        <p:nvSpPr>
          <p:cNvPr id="56" name="Text 54"/>
          <p:cNvSpPr txBox="1"/>
          <p:nvPr/>
        </p:nvSpPr>
        <p:spPr>
          <a:xfrm>
            <a:off x="8092440" y="5166360"/>
            <a:ext cx="365760" cy="438912"/>
          </a:xfrm>
          <a:prstGeom prst="rect">
            <a:avLst/>
          </a:prstGeom>
          <a:noFill/>
          <a:ln/>
        </p:spPr>
        <p:txBody>
          <a:bodyPr wrap="square" lIns="0" tIns="0" rIns="0" bIns="0" rtlCol="0" anchor="ctr"/>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02</a:t>
            </a:r>
            <a:endParaRPr lang="es-CL" sz="900" dirty="0"/>
          </a:p>
        </p:txBody>
      </p:sp>
      <p:sp>
        <p:nvSpPr>
          <p:cNvPr id="57" name="Text 55"/>
          <p:cNvSpPr txBox="1"/>
          <p:nvPr/>
        </p:nvSpPr>
        <p:spPr>
          <a:xfrm>
            <a:off x="8458200" y="5166360"/>
            <a:ext cx="2956255" cy="438912"/>
          </a:xfrm>
          <a:prstGeom prst="rect">
            <a:avLst/>
          </a:prstGeom>
          <a:noFill/>
          <a:ln/>
        </p:spPr>
        <p:txBody>
          <a:bodyPr wrap="square" lIns="0" tIns="0" rIns="0" bIns="0" rtlCol="0" anchor="ctr"/>
          <a:lstStyle/>
          <a:p>
            <a:pPr indent="0" marL="0">
              <a:buNone/>
            </a:pPr>
            <a:r>
              <a:rPr lang="es-CL" altLang="en-US" sz="1300" dirty="0">
                <a:solidFill>
                  <a:schemeClr val="tx1"/>
                </a:solidFill>
                <a:latin typeface="Figtree" pitchFamily="34" charset="0"/>
                <a:ea typeface="Figtree" pitchFamily="34" charset="-122"/>
                <a:cs typeface="Figtree" pitchFamily="34" charset="-120"/>
              </a:rPr>
              <a:t>Calibración pagada una vez por modelo</a:t>
            </a:r>
            <a:endParaRPr lang="es-CL" sz="1300" dirty="0"/>
          </a:p>
        </p:txBody>
      </p:sp>
      <p:sp>
        <p:nvSpPr>
          <p:cNvPr id="58" name="Shape 56"/>
          <p:cNvSpPr/>
          <p:nvPr/>
        </p:nvSpPr>
        <p:spPr>
          <a:xfrm>
            <a:off x="8092440" y="5605272"/>
            <a:ext cx="3322015" cy="0"/>
          </a:xfrm>
          <a:prstGeom prst="line">
            <a:avLst/>
          </a:prstGeom>
          <a:noFill/>
          <a:ln w="9525">
            <a:solidFill>
              <a:schemeClr val="accent6"/>
            </a:solidFill>
            <a:prstDash val="solid"/>
          </a:ln>
        </p:spPr>
      </p:sp>
      <p:sp>
        <p:nvSpPr>
          <p:cNvPr id="59" name="Text 57"/>
          <p:cNvSpPr txBox="1"/>
          <p:nvPr/>
        </p:nvSpPr>
        <p:spPr>
          <a:xfrm>
            <a:off x="8092440" y="5605272"/>
            <a:ext cx="365760" cy="438912"/>
          </a:xfrm>
          <a:prstGeom prst="rect">
            <a:avLst/>
          </a:prstGeom>
          <a:noFill/>
          <a:ln/>
        </p:spPr>
        <p:txBody>
          <a:bodyPr wrap="square" lIns="0" tIns="0" rIns="0" bIns="0" rtlCol="0" anchor="ctr"/>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03</a:t>
            </a:r>
            <a:endParaRPr lang="es-CL" sz="900" dirty="0"/>
          </a:p>
        </p:txBody>
      </p:sp>
      <p:sp>
        <p:nvSpPr>
          <p:cNvPr id="60" name="Text 58"/>
          <p:cNvSpPr txBox="1"/>
          <p:nvPr/>
        </p:nvSpPr>
        <p:spPr>
          <a:xfrm>
            <a:off x="8458200" y="5605272"/>
            <a:ext cx="2956255" cy="438912"/>
          </a:xfrm>
          <a:prstGeom prst="rect">
            <a:avLst/>
          </a:prstGeom>
          <a:noFill/>
          <a:ln/>
        </p:spPr>
        <p:txBody>
          <a:bodyPr wrap="square" lIns="0" tIns="0" rIns="0" bIns="0" rtlCol="0" anchor="ctr"/>
          <a:lstStyle/>
          <a:p>
            <a:pPr indent="0" marL="0">
              <a:buNone/>
            </a:pPr>
            <a:r>
              <a:rPr lang="es-CL" altLang="en-US" sz="1300" dirty="0">
                <a:solidFill>
                  <a:schemeClr val="tx1"/>
                </a:solidFill>
                <a:latin typeface="Figtree" pitchFamily="34" charset="0"/>
                <a:ea typeface="Figtree" pitchFamily="34" charset="-122"/>
                <a:cs typeface="Figtree" pitchFamily="34" charset="-120"/>
              </a:rPr>
              <a:t>Ingresos recurrentes de posventa</a:t>
            </a:r>
            <a:endParaRPr lang="es-CL" sz="13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03</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RELACIONES DE VALOR · ESTRATEGIA DE PRECIO</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EL VALOR ES EL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combustible evitado.</a:t>
            </a:r>
            <a:endParaRPr lang="en-US" sz="3000" dirty="0"/>
          </a:p>
        </p:txBody>
      </p:sp>
      <p:sp>
        <p:nvSpPr>
          <p:cNvPr id="4" name="Text 2"/>
          <p:cNvSpPr txBox="1"/>
          <p:nvPr/>
        </p:nvSpPr>
        <p:spPr>
          <a:xfrm>
            <a:off x="548640" y="2331720"/>
            <a:ext cx="603504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AHORRO MENSUAL DERIVADO · TECHO</a:t>
            </a:r>
            <a:endParaRPr lang="es-CL" sz="900" dirty="0"/>
          </a:p>
        </p:txBody>
      </p:sp>
      <p:sp>
        <p:nvSpPr>
          <p:cNvPr id="5" name="Text 3"/>
          <p:cNvSpPr txBox="1"/>
          <p:nvPr/>
        </p:nvSpPr>
        <p:spPr>
          <a:xfrm>
            <a:off x="548640" y="2560320"/>
            <a:ext cx="6035040" cy="868680"/>
          </a:xfrm>
          <a:prstGeom prst="rect">
            <a:avLst/>
          </a:prstGeom>
          <a:noFill/>
          <a:ln/>
        </p:spPr>
        <p:txBody>
          <a:bodyPr wrap="square" lIns="0" tIns="0" rIns="0" bIns="0" rtlCol="0" anchor="b"/>
          <a:lstStyle/>
          <a:p>
            <a:pPr indent="0" marL="0">
              <a:buNone/>
            </a:pPr>
            <a:r>
              <a:rPr lang="es-CL" altLang="en-US" sz="6000" b="1" dirty="0">
                <a:solidFill>
                  <a:schemeClr val="accent1"/>
                </a:solidFill>
                <a:latin typeface="Archivo Condensed" pitchFamily="34" charset="0"/>
                <a:ea typeface="Archivo Condensed" pitchFamily="34" charset="-122"/>
                <a:cs typeface="Archivo Condensed" pitchFamily="34" charset="-120"/>
              </a:rPr>
              <a:t>$104.400 – $174.000</a:t>
            </a:r>
            <a:endParaRPr lang="es-CL" sz="6000" dirty="0"/>
          </a:p>
        </p:txBody>
      </p:sp>
      <p:sp>
        <p:nvSpPr>
          <p:cNvPr id="6" name="Text 4"/>
          <p:cNvSpPr txBox="1"/>
          <p:nvPr/>
        </p:nvSpPr>
        <p:spPr>
          <a:xfrm>
            <a:off x="548640" y="3456432"/>
            <a:ext cx="603504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AL MES · CON HASTA 20% MENOS BENCINA EN CIUDAD</a:t>
            </a:r>
            <a:endParaRPr lang="es-CL" sz="850" dirty="0"/>
          </a:p>
        </p:txBody>
      </p:sp>
      <p:sp>
        <p:nvSpPr>
          <p:cNvPr id="7" name="Text 5"/>
          <p:cNvSpPr txBox="1"/>
          <p:nvPr/>
        </p:nvSpPr>
        <p:spPr>
          <a:xfrm>
            <a:off x="548640" y="3886200"/>
            <a:ext cx="274320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HOY GASTAS</a:t>
            </a:r>
            <a:endParaRPr lang="es-CL" sz="850" dirty="0"/>
          </a:p>
        </p:txBody>
      </p:sp>
      <p:sp>
        <p:nvSpPr>
          <p:cNvPr id="8" name="Text 6"/>
          <p:cNvSpPr txBox="1"/>
          <p:nvPr/>
        </p:nvSpPr>
        <p:spPr>
          <a:xfrm>
            <a:off x="3657600" y="3849624"/>
            <a:ext cx="2926080" cy="274320"/>
          </a:xfrm>
          <a:prstGeom prst="rect">
            <a:avLst/>
          </a:prstGeom>
          <a:noFill/>
          <a:ln/>
        </p:spPr>
        <p:txBody>
          <a:bodyPr wrap="square" lIns="0" tIns="0" rIns="0" bIns="0" rtlCol="0" anchor="t"/>
          <a:lstStyle/>
          <a:p>
            <a:pPr algn="r" indent="0" marL="0">
              <a:buNone/>
            </a:pPr>
            <a:r>
              <a:rPr lang="es-CL" altLang="en-US" sz="1800" b="1" dirty="0">
                <a:solidFill>
                  <a:schemeClr val="tx1"/>
                </a:solidFill>
                <a:latin typeface="Archivo Condensed" pitchFamily="34" charset="0"/>
                <a:ea typeface="Archivo Condensed" pitchFamily="34" charset="-122"/>
                <a:cs typeface="Archivo Condensed" pitchFamily="34" charset="-120"/>
              </a:rPr>
              <a:t>$522.000 – $870.000</a:t>
            </a:r>
            <a:endParaRPr lang="es-CL" sz="1800" dirty="0"/>
          </a:p>
        </p:txBody>
      </p:sp>
      <p:sp>
        <p:nvSpPr>
          <p:cNvPr id="9" name="Shape 7"/>
          <p:cNvSpPr/>
          <p:nvPr/>
        </p:nvSpPr>
        <p:spPr>
          <a:xfrm>
            <a:off x="548640" y="4178808"/>
            <a:ext cx="6035040" cy="118872"/>
          </a:xfrm>
          <a:prstGeom prst="rect">
            <a:avLst/>
          </a:prstGeom>
          <a:solidFill>
            <a:srgbClr val="D4D7D9"/>
          </a:solidFill>
          <a:ln/>
        </p:spPr>
      </p:sp>
      <p:sp>
        <p:nvSpPr>
          <p:cNvPr id="10" name="Text 8"/>
          <p:cNvSpPr txBox="1"/>
          <p:nvPr/>
        </p:nvSpPr>
        <p:spPr>
          <a:xfrm>
            <a:off x="548640" y="4507992"/>
            <a:ext cx="274320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CON LUMINE</a:t>
            </a:r>
            <a:endParaRPr lang="es-CL" sz="850" dirty="0"/>
          </a:p>
        </p:txBody>
      </p:sp>
      <p:sp>
        <p:nvSpPr>
          <p:cNvPr id="11" name="Text 9"/>
          <p:cNvSpPr txBox="1"/>
          <p:nvPr/>
        </p:nvSpPr>
        <p:spPr>
          <a:xfrm>
            <a:off x="3657600" y="4471416"/>
            <a:ext cx="2926080" cy="274320"/>
          </a:xfrm>
          <a:prstGeom prst="rect">
            <a:avLst/>
          </a:prstGeom>
          <a:noFill/>
          <a:ln/>
        </p:spPr>
        <p:txBody>
          <a:bodyPr wrap="square" lIns="0" tIns="0" rIns="0" bIns="0" rtlCol="0" anchor="t"/>
          <a:lstStyle/>
          <a:p>
            <a:pPr algn="r" indent="0" marL="0">
              <a:buNone/>
            </a:pPr>
            <a:r>
              <a:rPr lang="es-CL" altLang="en-US" sz="1800" b="1" dirty="0">
                <a:solidFill>
                  <a:schemeClr val="tx1"/>
                </a:solidFill>
                <a:latin typeface="Archivo Condensed" pitchFamily="34" charset="0"/>
                <a:ea typeface="Archivo Condensed" pitchFamily="34" charset="-122"/>
                <a:cs typeface="Archivo Condensed" pitchFamily="34" charset="-120"/>
              </a:rPr>
              <a:t>$417.600 – $696.000</a:t>
            </a:r>
            <a:endParaRPr lang="es-CL" sz="1800" dirty="0"/>
          </a:p>
        </p:txBody>
      </p:sp>
      <p:sp>
        <p:nvSpPr>
          <p:cNvPr id="12" name="Shape 10"/>
          <p:cNvSpPr/>
          <p:nvPr/>
        </p:nvSpPr>
        <p:spPr>
          <a:xfrm>
            <a:off x="548640" y="4800600"/>
            <a:ext cx="6035040" cy="118872"/>
          </a:xfrm>
          <a:prstGeom prst="rect">
            <a:avLst/>
          </a:prstGeom>
          <a:solidFill>
            <a:schemeClr val="accent6"/>
          </a:solidFill>
          <a:ln/>
        </p:spPr>
      </p:sp>
      <p:sp>
        <p:nvSpPr>
          <p:cNvPr id="13" name="Shape 11"/>
          <p:cNvSpPr/>
          <p:nvPr/>
        </p:nvSpPr>
        <p:spPr>
          <a:xfrm>
            <a:off x="548640" y="4800600"/>
            <a:ext cx="4828032" cy="118872"/>
          </a:xfrm>
          <a:prstGeom prst="rect">
            <a:avLst/>
          </a:prstGeom>
          <a:solidFill>
            <a:schemeClr val="accent1"/>
          </a:solidFill>
          <a:ln/>
        </p:spPr>
      </p:sp>
      <p:sp>
        <p:nvSpPr>
          <p:cNvPr id="14" name="Text 12"/>
          <p:cNvSpPr txBox="1"/>
          <p:nvPr/>
        </p:nvSpPr>
        <p:spPr>
          <a:xfrm>
            <a:off x="3840480" y="4983480"/>
            <a:ext cx="2743200" cy="201168"/>
          </a:xfrm>
          <a:prstGeom prst="rect">
            <a:avLst/>
          </a:prstGeom>
          <a:noFill/>
          <a:ln/>
        </p:spPr>
        <p:txBody>
          <a:bodyPr wrap="square" lIns="0" tIns="0" rIns="0" bIns="0" rtlCol="0" anchor="t"/>
          <a:lstStyle/>
          <a:p>
            <a:pPr algn="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−20% DE COMBUSTIBLE</a:t>
            </a:r>
            <a:endParaRPr lang="es-CL" sz="800" dirty="0"/>
          </a:p>
        </p:txBody>
      </p:sp>
      <p:sp>
        <p:nvSpPr>
          <p:cNvPr id="15" name="Shape 13"/>
          <p:cNvSpPr/>
          <p:nvPr/>
        </p:nvSpPr>
        <p:spPr>
          <a:xfrm>
            <a:off x="548640" y="5349240"/>
            <a:ext cx="6035040" cy="0"/>
          </a:xfrm>
          <a:prstGeom prst="line">
            <a:avLst/>
          </a:prstGeom>
          <a:noFill/>
          <a:ln w="9525">
            <a:solidFill>
              <a:schemeClr val="accent5"/>
            </a:solidFill>
            <a:prstDash val="solid"/>
          </a:ln>
        </p:spPr>
      </p:sp>
      <p:sp>
        <p:nvSpPr>
          <p:cNvPr id="16" name="Text 14"/>
          <p:cNvSpPr txBox="1"/>
          <p:nvPr/>
        </p:nvSpPr>
        <p:spPr>
          <a:xfrm>
            <a:off x="548640" y="5440680"/>
            <a:ext cx="603504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SUPUESTOS · 150–250 KM/DÍA · 24 DÍAS · 10 KM/L · $1.450/L</a:t>
            </a:r>
            <a:endParaRPr lang="es-CL" sz="850" dirty="0"/>
          </a:p>
        </p:txBody>
      </p:sp>
      <p:sp>
        <p:nvSpPr>
          <p:cNvPr id="17" name="Text 15"/>
          <p:cNvSpPr txBox="1"/>
          <p:nvPr/>
        </p:nvSpPr>
        <p:spPr>
          <a:xfrm>
            <a:off x="548640" y="5696712"/>
            <a:ext cx="6035040" cy="45720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Derivaciones aritméticas, no mediciones: el ahorro no se ha verificado en autos chilenos.</a:t>
            </a:r>
            <a:endParaRPr lang="es-CL" sz="1250" dirty="0"/>
          </a:p>
        </p:txBody>
      </p:sp>
      <p:sp>
        <p:nvSpPr>
          <p:cNvPr id="18" name="Text 16"/>
          <p:cNvSpPr txBox="1"/>
          <p:nvPr/>
        </p:nvSpPr>
        <p:spPr>
          <a:xfrm>
            <a:off x="7040880" y="2331720"/>
            <a:ext cx="4602175" cy="219456"/>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CÓMO ALINEAR PRECIO Y VALOR</a:t>
            </a:r>
            <a:endParaRPr lang="es-CL" sz="900" dirty="0"/>
          </a:p>
        </p:txBody>
      </p:sp>
      <p:sp>
        <p:nvSpPr>
          <p:cNvPr id="19" name="Shape 17"/>
          <p:cNvSpPr/>
          <p:nvPr/>
        </p:nvSpPr>
        <p:spPr>
          <a:xfrm>
            <a:off x="7095744" y="2788920"/>
            <a:ext cx="0" cy="2606040"/>
          </a:xfrm>
          <a:prstGeom prst="line">
            <a:avLst/>
          </a:prstGeom>
          <a:noFill/>
          <a:ln w="15875">
            <a:solidFill>
              <a:schemeClr val="accent5"/>
            </a:solidFill>
            <a:prstDash val="solid"/>
          </a:ln>
        </p:spPr>
      </p:sp>
      <p:sp>
        <p:nvSpPr>
          <p:cNvPr id="20" name="Shape 18"/>
          <p:cNvSpPr/>
          <p:nvPr/>
        </p:nvSpPr>
        <p:spPr>
          <a:xfrm>
            <a:off x="7040880" y="2734056"/>
            <a:ext cx="109728" cy="109728"/>
          </a:xfrm>
          <a:prstGeom prst="rect">
            <a:avLst/>
          </a:prstGeom>
          <a:solidFill>
            <a:schemeClr val="accent4"/>
          </a:solidFill>
          <a:ln/>
        </p:spPr>
      </p:sp>
      <p:sp>
        <p:nvSpPr>
          <p:cNvPr id="21" name="Text 19"/>
          <p:cNvSpPr txBox="1"/>
          <p:nvPr/>
        </p:nvSpPr>
        <p:spPr>
          <a:xfrm>
            <a:off x="7360920" y="2697480"/>
            <a:ext cx="4282135" cy="201168"/>
          </a:xfrm>
          <a:prstGeom prst="rect">
            <a:avLst/>
          </a:prstGeom>
          <a:noFill/>
          <a:ln/>
        </p:spPr>
        <p:txBody>
          <a:bodyPr wrap="square" lIns="0" tIns="0" rIns="0" bIns="0" rtlCol="0" anchor="t"/>
          <a:lstStyle/>
          <a:p>
            <a:pPr indent="0" marL="0">
              <a:buNone/>
            </a:pPr>
            <a:r>
              <a:rPr lang="es-CL" altLang="en-US" sz="900" spc="150" kern="0" dirty="0">
                <a:solidFill>
                  <a:schemeClr val="accent4"/>
                </a:solidFill>
                <a:latin typeface="IBM Plex Mono" pitchFamily="34" charset="0"/>
                <a:ea typeface="IBM Plex Mono" pitchFamily="34" charset="-122"/>
                <a:cs typeface="IBM Plex Mono" pitchFamily="34" charset="-120"/>
              </a:rPr>
              <a:t>TECHO EXTERNO</a:t>
            </a:r>
            <a:endParaRPr lang="es-CL" sz="900" dirty="0"/>
          </a:p>
        </p:txBody>
      </p:sp>
      <p:sp>
        <p:nvSpPr>
          <p:cNvPr id="22" name="Text 20"/>
          <p:cNvSpPr txBox="1"/>
          <p:nvPr/>
        </p:nvSpPr>
        <p:spPr>
          <a:xfrm>
            <a:off x="7360920" y="2944368"/>
            <a:ext cx="4282135" cy="566928"/>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Muy por debajo de los $7.000.000 del híbrido usado.</a:t>
            </a:r>
            <a:endParaRPr lang="es-CL" sz="1350" dirty="0"/>
          </a:p>
        </p:txBody>
      </p:sp>
      <p:sp>
        <p:nvSpPr>
          <p:cNvPr id="23" name="Shape 21"/>
          <p:cNvSpPr/>
          <p:nvPr/>
        </p:nvSpPr>
        <p:spPr>
          <a:xfrm>
            <a:off x="7040880" y="3602736"/>
            <a:ext cx="109728" cy="109728"/>
          </a:xfrm>
          <a:prstGeom prst="rect">
            <a:avLst/>
          </a:prstGeom>
          <a:solidFill>
            <a:schemeClr val="accent3"/>
          </a:solidFill>
          <a:ln/>
        </p:spPr>
      </p:sp>
      <p:sp>
        <p:nvSpPr>
          <p:cNvPr id="24" name="Text 22"/>
          <p:cNvSpPr txBox="1"/>
          <p:nvPr/>
        </p:nvSpPr>
        <p:spPr>
          <a:xfrm>
            <a:off x="7360920" y="3566160"/>
            <a:ext cx="4282135" cy="201168"/>
          </a:xfrm>
          <a:prstGeom prst="rect">
            <a:avLst/>
          </a:prstGeom>
          <a:noFill/>
          <a:ln/>
        </p:spPr>
        <p:txBody>
          <a:bodyPr wrap="square" lIns="0" tIns="0" rIns="0" bIns="0" rtlCol="0" anchor="t"/>
          <a:lstStyle/>
          <a:p>
            <a:pPr indent="0" marL="0">
              <a:buNone/>
            </a:pPr>
            <a:r>
              <a:rPr lang="es-CL" altLang="en-US" sz="900" spc="150" kern="0" dirty="0">
                <a:solidFill>
                  <a:schemeClr val="accent3"/>
                </a:solidFill>
                <a:latin typeface="IBM Plex Mono" pitchFamily="34" charset="0"/>
                <a:ea typeface="IBM Plex Mono" pitchFamily="34" charset="-122"/>
                <a:cs typeface="IBM Plex Mono" pitchFamily="34" charset="-120"/>
              </a:rPr>
              <a:t>TECHO INTERNO</a:t>
            </a:r>
            <a:endParaRPr lang="es-CL" sz="900" dirty="0"/>
          </a:p>
        </p:txBody>
      </p:sp>
      <p:sp>
        <p:nvSpPr>
          <p:cNvPr id="25" name="Text 23"/>
          <p:cNvSpPr txBox="1"/>
          <p:nvPr/>
        </p:nvSpPr>
        <p:spPr>
          <a:xfrm>
            <a:off x="7360920" y="3813048"/>
            <a:ext cx="4282135" cy="566928"/>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Bajo el ahorro acumulado en la vida útil restante del vehículo.</a:t>
            </a:r>
            <a:endParaRPr lang="es-CL" sz="1350" dirty="0"/>
          </a:p>
        </p:txBody>
      </p:sp>
      <p:sp>
        <p:nvSpPr>
          <p:cNvPr id="26" name="Shape 24"/>
          <p:cNvSpPr/>
          <p:nvPr/>
        </p:nvSpPr>
        <p:spPr>
          <a:xfrm>
            <a:off x="7040880" y="4471416"/>
            <a:ext cx="109728" cy="109728"/>
          </a:xfrm>
          <a:prstGeom prst="rect">
            <a:avLst/>
          </a:prstGeom>
          <a:solidFill>
            <a:schemeClr val="tx2"/>
          </a:solidFill>
          <a:ln/>
        </p:spPr>
      </p:sp>
      <p:sp>
        <p:nvSpPr>
          <p:cNvPr id="27" name="Text 25"/>
          <p:cNvSpPr txBox="1"/>
          <p:nvPr/>
        </p:nvSpPr>
        <p:spPr>
          <a:xfrm>
            <a:off x="7360920" y="4434840"/>
            <a:ext cx="4282135" cy="201168"/>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PISO</a:t>
            </a:r>
            <a:endParaRPr lang="es-CL" sz="900" dirty="0"/>
          </a:p>
        </p:txBody>
      </p:sp>
      <p:sp>
        <p:nvSpPr>
          <p:cNvPr id="28" name="Text 26"/>
          <p:cNvSpPr txBox="1"/>
          <p:nvPr/>
        </p:nvSpPr>
        <p:spPr>
          <a:xfrm>
            <a:off x="7360920" y="4681728"/>
            <a:ext cx="4282135" cy="566928"/>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Costo de componentes e instalación, que fija el Plan Financiero.</a:t>
            </a:r>
            <a:endParaRPr lang="es-CL" sz="1350" dirty="0"/>
          </a:p>
        </p:txBody>
      </p:sp>
      <p:sp>
        <p:nvSpPr>
          <p:cNvPr id="29" name="Shape 27"/>
          <p:cNvSpPr/>
          <p:nvPr/>
        </p:nvSpPr>
        <p:spPr>
          <a:xfrm>
            <a:off x="7040880" y="5340096"/>
            <a:ext cx="109728" cy="109728"/>
          </a:xfrm>
          <a:prstGeom prst="rect">
            <a:avLst/>
          </a:prstGeom>
          <a:solidFill>
            <a:schemeClr val="accent1"/>
          </a:solidFill>
          <a:ln/>
        </p:spPr>
      </p:sp>
      <p:sp>
        <p:nvSpPr>
          <p:cNvPr id="30" name="Text 28"/>
          <p:cNvSpPr txBox="1"/>
          <p:nvPr/>
        </p:nvSpPr>
        <p:spPr>
          <a:xfrm>
            <a:off x="7360920" y="5303520"/>
            <a:ext cx="4282135" cy="201168"/>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FORMA DE COBRO</a:t>
            </a:r>
            <a:endParaRPr lang="es-CL" sz="900" dirty="0"/>
          </a:p>
        </p:txBody>
      </p:sp>
      <p:sp>
        <p:nvSpPr>
          <p:cNvPr id="31" name="Text 29"/>
          <p:cNvSpPr txBox="1"/>
          <p:nvPr/>
        </p:nvSpPr>
        <p:spPr>
          <a:xfrm>
            <a:off x="7360920" y="5550408"/>
            <a:ext cx="4282135" cy="566928"/>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Cuota mensual antes que precio de lista; la TPM de 4,5% encarece las cuotas.</a:t>
            </a:r>
            <a:endParaRPr lang="es-CL" sz="13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06</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ANÁLISIS EXTERNO · PEST (03) · FRANCÉS</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20 AMENAZAS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contra 13 oportunidades.</a:t>
            </a:r>
            <a:endParaRPr lang="en-US" sz="3000" dirty="0"/>
          </a:p>
        </p:txBody>
      </p:sp>
      <p:sp>
        <p:nvSpPr>
          <p:cNvPr id="4" name="Text 2"/>
          <p:cNvSpPr txBox="1"/>
          <p:nvPr/>
        </p:nvSpPr>
        <p:spPr>
          <a:xfrm>
            <a:off x="548640" y="2331720"/>
            <a:ext cx="6675120" cy="219456"/>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FACTORES POR SECTOR · OPORTUNIDAD · NEUTRO · AMENAZA</a:t>
            </a:r>
            <a:endParaRPr lang="es-CL" sz="900" dirty="0"/>
          </a:p>
        </p:txBody>
      </p:sp>
      <p:graphicFrame>
        <p:nvGraphicFramePr>
          <p:cNvPr id="5" name="Gráfico PEST por sector" descr=""/>
          <p:cNvGraphicFramePr/>
          <p:nvPr/>
        </p:nvGraphicFramePr>
        <p:xfrm>
          <a:off x="457200" y="2606040"/>
          <a:ext cx="6766560" cy="352044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7680960" y="2331720"/>
            <a:ext cx="2499055" cy="219456"/>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PUNTAJE · 1 A 5 · 3 = NEUTRO</a:t>
            </a:r>
            <a:endParaRPr lang="es-CL" sz="900" dirty="0"/>
          </a:p>
        </p:txBody>
      </p:sp>
      <p:sp>
        <p:nvSpPr>
          <p:cNvPr id="7" name="Text 4"/>
          <p:cNvSpPr txBox="1"/>
          <p:nvPr/>
        </p:nvSpPr>
        <p:spPr>
          <a:xfrm>
            <a:off x="10225735" y="2331720"/>
            <a:ext cx="640080" cy="219456"/>
          </a:xfrm>
          <a:prstGeom prst="rect">
            <a:avLst/>
          </a:prstGeom>
          <a:noFill/>
          <a:ln/>
        </p:spPr>
        <p:txBody>
          <a:bodyPr wrap="square" lIns="0" tIns="0" rIns="0" bIns="0" rtlCol="0" anchor="t"/>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HOY</a:t>
            </a:r>
            <a:endParaRPr lang="es-CL" sz="850" dirty="0"/>
          </a:p>
        </p:txBody>
      </p:sp>
      <p:sp>
        <p:nvSpPr>
          <p:cNvPr id="8" name="Text 5"/>
          <p:cNvSpPr txBox="1"/>
          <p:nvPr/>
        </p:nvSpPr>
        <p:spPr>
          <a:xfrm>
            <a:off x="10911535" y="2331720"/>
            <a:ext cx="731520" cy="219456"/>
          </a:xfrm>
          <a:prstGeom prst="rect">
            <a:avLst/>
          </a:prstGeom>
          <a:noFill/>
          <a:ln/>
        </p:spPr>
        <p:txBody>
          <a:bodyPr wrap="square" lIns="0" tIns="0" rIns="0" bIns="0" rtlCol="0" anchor="t"/>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FUTURO</a:t>
            </a:r>
            <a:endParaRPr lang="es-CL" sz="850" dirty="0"/>
          </a:p>
        </p:txBody>
      </p:sp>
      <p:sp>
        <p:nvSpPr>
          <p:cNvPr id="9" name="Shape 6"/>
          <p:cNvSpPr/>
          <p:nvPr/>
        </p:nvSpPr>
        <p:spPr>
          <a:xfrm>
            <a:off x="7680960" y="2624328"/>
            <a:ext cx="3962095" cy="0"/>
          </a:xfrm>
          <a:prstGeom prst="line">
            <a:avLst/>
          </a:prstGeom>
          <a:noFill/>
          <a:ln w="9525">
            <a:solidFill>
              <a:schemeClr val="accent5"/>
            </a:solidFill>
            <a:prstDash val="solid"/>
          </a:ln>
        </p:spPr>
      </p:sp>
      <p:sp>
        <p:nvSpPr>
          <p:cNvPr id="10" name="Text 7"/>
          <p:cNvSpPr txBox="1"/>
          <p:nvPr/>
        </p:nvSpPr>
        <p:spPr>
          <a:xfrm>
            <a:off x="7680960" y="2624328"/>
            <a:ext cx="2499055" cy="429768"/>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Político-jurídico</a:t>
            </a:r>
            <a:endParaRPr lang="es-CL" sz="1350" dirty="0"/>
          </a:p>
        </p:txBody>
      </p:sp>
      <p:sp>
        <p:nvSpPr>
          <p:cNvPr id="11" name="Text 8"/>
          <p:cNvSpPr txBox="1"/>
          <p:nvPr/>
        </p:nvSpPr>
        <p:spPr>
          <a:xfrm>
            <a:off x="10225735" y="2624328"/>
            <a:ext cx="640080" cy="429768"/>
          </a:xfrm>
          <a:prstGeom prst="rect">
            <a:avLst/>
          </a:prstGeom>
          <a:noFill/>
          <a:ln/>
        </p:spPr>
        <p:txBody>
          <a:bodyPr wrap="square" lIns="0" tIns="0" rIns="0" bIns="0" rtlCol="0" anchor="ctr"/>
          <a:lstStyle/>
          <a:p>
            <a:pPr algn="r" indent="0" marL="0">
              <a:buNone/>
            </a:pPr>
            <a:r>
              <a:rPr lang="es-CL" altLang="en-US" sz="1700" b="1" dirty="0">
                <a:solidFill>
                  <a:schemeClr val="accent4"/>
                </a:solidFill>
                <a:latin typeface="Archivo Condensed" pitchFamily="34" charset="0"/>
                <a:ea typeface="Archivo Condensed" pitchFamily="34" charset="-122"/>
                <a:cs typeface="Archivo Condensed" pitchFamily="34" charset="-120"/>
              </a:rPr>
              <a:t>2,67</a:t>
            </a:r>
            <a:endParaRPr lang="es-CL" sz="1700" dirty="0"/>
          </a:p>
        </p:txBody>
      </p:sp>
      <p:sp>
        <p:nvSpPr>
          <p:cNvPr id="12" name="Text 9"/>
          <p:cNvSpPr txBox="1"/>
          <p:nvPr/>
        </p:nvSpPr>
        <p:spPr>
          <a:xfrm>
            <a:off x="10911535" y="2624328"/>
            <a:ext cx="731520" cy="429768"/>
          </a:xfrm>
          <a:prstGeom prst="rect">
            <a:avLst/>
          </a:prstGeom>
          <a:noFill/>
          <a:ln/>
        </p:spPr>
        <p:txBody>
          <a:bodyPr wrap="square" lIns="0" tIns="0" rIns="0" bIns="0" rtlCol="0" anchor="ctr"/>
          <a:lstStyle/>
          <a:p>
            <a:pPr algn="r" indent="0" marL="0">
              <a:buNone/>
            </a:pPr>
            <a:r>
              <a:rPr lang="es-CL" altLang="en-US" sz="1700" b="1" dirty="0">
                <a:solidFill>
                  <a:schemeClr val="tx2"/>
                </a:solidFill>
                <a:latin typeface="Archivo Condensed" pitchFamily="34" charset="0"/>
                <a:ea typeface="Archivo Condensed" pitchFamily="34" charset="-122"/>
                <a:cs typeface="Archivo Condensed" pitchFamily="34" charset="-120"/>
              </a:rPr>
              <a:t>2,78</a:t>
            </a:r>
            <a:endParaRPr lang="es-CL" sz="1700" dirty="0"/>
          </a:p>
        </p:txBody>
      </p:sp>
      <p:sp>
        <p:nvSpPr>
          <p:cNvPr id="13" name="Shape 10"/>
          <p:cNvSpPr/>
          <p:nvPr/>
        </p:nvSpPr>
        <p:spPr>
          <a:xfrm>
            <a:off x="7680960" y="3054096"/>
            <a:ext cx="3962095" cy="0"/>
          </a:xfrm>
          <a:prstGeom prst="line">
            <a:avLst/>
          </a:prstGeom>
          <a:noFill/>
          <a:ln w="9525">
            <a:solidFill>
              <a:schemeClr val="accent5"/>
            </a:solidFill>
            <a:prstDash val="solid"/>
          </a:ln>
        </p:spPr>
      </p:sp>
      <p:sp>
        <p:nvSpPr>
          <p:cNvPr id="14" name="Text 11"/>
          <p:cNvSpPr txBox="1"/>
          <p:nvPr/>
        </p:nvSpPr>
        <p:spPr>
          <a:xfrm>
            <a:off x="7680960" y="3054096"/>
            <a:ext cx="2499055" cy="429768"/>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Económico</a:t>
            </a:r>
            <a:endParaRPr lang="es-CL" sz="1350" dirty="0"/>
          </a:p>
        </p:txBody>
      </p:sp>
      <p:sp>
        <p:nvSpPr>
          <p:cNvPr id="15" name="Text 12"/>
          <p:cNvSpPr txBox="1"/>
          <p:nvPr/>
        </p:nvSpPr>
        <p:spPr>
          <a:xfrm>
            <a:off x="10225735" y="3054096"/>
            <a:ext cx="640080" cy="429768"/>
          </a:xfrm>
          <a:prstGeom prst="rect">
            <a:avLst/>
          </a:prstGeom>
          <a:noFill/>
          <a:ln/>
        </p:spPr>
        <p:txBody>
          <a:bodyPr wrap="square" lIns="0" tIns="0" rIns="0" bIns="0" rtlCol="0" anchor="ctr"/>
          <a:lstStyle/>
          <a:p>
            <a:pPr algn="r" indent="0" marL="0">
              <a:buNone/>
            </a:pPr>
            <a:r>
              <a:rPr lang="es-CL" altLang="en-US" sz="1700" b="1" dirty="0">
                <a:solidFill>
                  <a:schemeClr val="accent4"/>
                </a:solidFill>
                <a:latin typeface="Archivo Condensed" pitchFamily="34" charset="0"/>
                <a:ea typeface="Archivo Condensed" pitchFamily="34" charset="-122"/>
                <a:cs typeface="Archivo Condensed" pitchFamily="34" charset="-120"/>
              </a:rPr>
              <a:t>2,38</a:t>
            </a:r>
            <a:endParaRPr lang="es-CL" sz="1700" dirty="0"/>
          </a:p>
        </p:txBody>
      </p:sp>
      <p:sp>
        <p:nvSpPr>
          <p:cNvPr id="16" name="Text 13"/>
          <p:cNvSpPr txBox="1"/>
          <p:nvPr/>
        </p:nvSpPr>
        <p:spPr>
          <a:xfrm>
            <a:off x="10911535" y="3054096"/>
            <a:ext cx="731520" cy="429768"/>
          </a:xfrm>
          <a:prstGeom prst="rect">
            <a:avLst/>
          </a:prstGeom>
          <a:noFill/>
          <a:ln/>
        </p:spPr>
        <p:txBody>
          <a:bodyPr wrap="square" lIns="0" tIns="0" rIns="0" bIns="0" rtlCol="0" anchor="ctr"/>
          <a:lstStyle/>
          <a:p>
            <a:pPr algn="r" indent="0" marL="0">
              <a:buNone/>
            </a:pPr>
            <a:r>
              <a:rPr lang="es-CL" altLang="en-US" sz="1700" b="1" dirty="0">
                <a:solidFill>
                  <a:schemeClr val="tx2"/>
                </a:solidFill>
                <a:latin typeface="Archivo Condensed" pitchFamily="34" charset="0"/>
                <a:ea typeface="Archivo Condensed" pitchFamily="34" charset="-122"/>
                <a:cs typeface="Archivo Condensed" pitchFamily="34" charset="-120"/>
              </a:rPr>
              <a:t>2,81</a:t>
            </a:r>
            <a:endParaRPr lang="es-CL" sz="1700" dirty="0"/>
          </a:p>
        </p:txBody>
      </p:sp>
      <p:sp>
        <p:nvSpPr>
          <p:cNvPr id="17" name="Shape 14"/>
          <p:cNvSpPr/>
          <p:nvPr/>
        </p:nvSpPr>
        <p:spPr>
          <a:xfrm>
            <a:off x="7680960" y="3483864"/>
            <a:ext cx="3962095" cy="0"/>
          </a:xfrm>
          <a:prstGeom prst="line">
            <a:avLst/>
          </a:prstGeom>
          <a:noFill/>
          <a:ln w="9525">
            <a:solidFill>
              <a:schemeClr val="accent5"/>
            </a:solidFill>
            <a:prstDash val="solid"/>
          </a:ln>
        </p:spPr>
      </p:sp>
      <p:sp>
        <p:nvSpPr>
          <p:cNvPr id="18" name="Text 15"/>
          <p:cNvSpPr txBox="1"/>
          <p:nvPr/>
        </p:nvSpPr>
        <p:spPr>
          <a:xfrm>
            <a:off x="7680960" y="3483864"/>
            <a:ext cx="2499055" cy="429768"/>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Sociocultural</a:t>
            </a:r>
            <a:endParaRPr lang="es-CL" sz="1350" dirty="0"/>
          </a:p>
        </p:txBody>
      </p:sp>
      <p:sp>
        <p:nvSpPr>
          <p:cNvPr id="19" name="Text 16"/>
          <p:cNvSpPr txBox="1"/>
          <p:nvPr/>
        </p:nvSpPr>
        <p:spPr>
          <a:xfrm>
            <a:off x="10225735" y="3483864"/>
            <a:ext cx="640080" cy="429768"/>
          </a:xfrm>
          <a:prstGeom prst="rect">
            <a:avLst/>
          </a:prstGeom>
          <a:noFill/>
          <a:ln/>
        </p:spPr>
        <p:txBody>
          <a:bodyPr wrap="square" lIns="0" tIns="0" rIns="0" bIns="0" rtlCol="0" anchor="ctr"/>
          <a:lstStyle/>
          <a:p>
            <a:pPr algn="r" indent="0" marL="0">
              <a:buNone/>
            </a:pPr>
            <a:r>
              <a:rPr lang="es-CL" altLang="en-US" sz="1700" b="1" dirty="0">
                <a:solidFill>
                  <a:schemeClr val="tx1"/>
                </a:solidFill>
                <a:latin typeface="Archivo Condensed" pitchFamily="34" charset="0"/>
                <a:ea typeface="Archivo Condensed" pitchFamily="34" charset="-122"/>
                <a:cs typeface="Archivo Condensed" pitchFamily="34" charset="-120"/>
              </a:rPr>
              <a:t>3,00</a:t>
            </a:r>
            <a:endParaRPr lang="es-CL" sz="1700" dirty="0"/>
          </a:p>
        </p:txBody>
      </p:sp>
      <p:sp>
        <p:nvSpPr>
          <p:cNvPr id="20" name="Text 17"/>
          <p:cNvSpPr txBox="1"/>
          <p:nvPr/>
        </p:nvSpPr>
        <p:spPr>
          <a:xfrm>
            <a:off x="10911535" y="3483864"/>
            <a:ext cx="731520" cy="429768"/>
          </a:xfrm>
          <a:prstGeom prst="rect">
            <a:avLst/>
          </a:prstGeom>
          <a:noFill/>
          <a:ln/>
        </p:spPr>
        <p:txBody>
          <a:bodyPr wrap="square" lIns="0" tIns="0" rIns="0" bIns="0" rtlCol="0" anchor="ctr"/>
          <a:lstStyle/>
          <a:p>
            <a:pPr algn="r" indent="0" marL="0">
              <a:buNone/>
            </a:pPr>
            <a:r>
              <a:rPr lang="es-CL" altLang="en-US" sz="1700" b="1" dirty="0">
                <a:solidFill>
                  <a:schemeClr val="tx2"/>
                </a:solidFill>
                <a:latin typeface="Archivo Condensed" pitchFamily="34" charset="0"/>
                <a:ea typeface="Archivo Condensed" pitchFamily="34" charset="-122"/>
                <a:cs typeface="Archivo Condensed" pitchFamily="34" charset="-120"/>
              </a:rPr>
              <a:t>3,00</a:t>
            </a:r>
            <a:endParaRPr lang="es-CL" sz="1700" dirty="0"/>
          </a:p>
        </p:txBody>
      </p:sp>
      <p:sp>
        <p:nvSpPr>
          <p:cNvPr id="21" name="Shape 18"/>
          <p:cNvSpPr/>
          <p:nvPr/>
        </p:nvSpPr>
        <p:spPr>
          <a:xfrm>
            <a:off x="7680960" y="3913632"/>
            <a:ext cx="3962095" cy="0"/>
          </a:xfrm>
          <a:prstGeom prst="line">
            <a:avLst/>
          </a:prstGeom>
          <a:noFill/>
          <a:ln w="9525">
            <a:solidFill>
              <a:schemeClr val="accent5"/>
            </a:solidFill>
            <a:prstDash val="solid"/>
          </a:ln>
        </p:spPr>
      </p:sp>
      <p:sp>
        <p:nvSpPr>
          <p:cNvPr id="22" name="Text 19"/>
          <p:cNvSpPr txBox="1"/>
          <p:nvPr/>
        </p:nvSpPr>
        <p:spPr>
          <a:xfrm>
            <a:off x="7680960" y="3913632"/>
            <a:ext cx="2499055" cy="429768"/>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Tecnológico</a:t>
            </a:r>
            <a:endParaRPr lang="es-CL" sz="1350" dirty="0"/>
          </a:p>
        </p:txBody>
      </p:sp>
      <p:sp>
        <p:nvSpPr>
          <p:cNvPr id="23" name="Text 20"/>
          <p:cNvSpPr txBox="1"/>
          <p:nvPr/>
        </p:nvSpPr>
        <p:spPr>
          <a:xfrm>
            <a:off x="10225735" y="3913632"/>
            <a:ext cx="640080" cy="429768"/>
          </a:xfrm>
          <a:prstGeom prst="rect">
            <a:avLst/>
          </a:prstGeom>
          <a:noFill/>
          <a:ln/>
        </p:spPr>
        <p:txBody>
          <a:bodyPr wrap="square" lIns="0" tIns="0" rIns="0" bIns="0" rtlCol="0" anchor="ctr"/>
          <a:lstStyle/>
          <a:p>
            <a:pPr algn="r" indent="0" marL="0">
              <a:buNone/>
            </a:pPr>
            <a:r>
              <a:rPr lang="es-CL" altLang="en-US" sz="1700" b="1" dirty="0">
                <a:solidFill>
                  <a:schemeClr val="tx1"/>
                </a:solidFill>
                <a:latin typeface="Archivo Condensed" pitchFamily="34" charset="0"/>
                <a:ea typeface="Archivo Condensed" pitchFamily="34" charset="-122"/>
                <a:cs typeface="Archivo Condensed" pitchFamily="34" charset="-120"/>
              </a:rPr>
              <a:t>3,23</a:t>
            </a:r>
            <a:endParaRPr lang="es-CL" sz="1700" dirty="0"/>
          </a:p>
        </p:txBody>
      </p:sp>
      <p:sp>
        <p:nvSpPr>
          <p:cNvPr id="24" name="Text 21"/>
          <p:cNvSpPr txBox="1"/>
          <p:nvPr/>
        </p:nvSpPr>
        <p:spPr>
          <a:xfrm>
            <a:off x="10911535" y="3913632"/>
            <a:ext cx="731520" cy="429768"/>
          </a:xfrm>
          <a:prstGeom prst="rect">
            <a:avLst/>
          </a:prstGeom>
          <a:noFill/>
          <a:ln/>
        </p:spPr>
        <p:txBody>
          <a:bodyPr wrap="square" lIns="0" tIns="0" rIns="0" bIns="0" rtlCol="0" anchor="ctr"/>
          <a:lstStyle/>
          <a:p>
            <a:pPr algn="r" indent="0" marL="0">
              <a:buNone/>
            </a:pPr>
            <a:r>
              <a:rPr lang="es-CL" altLang="en-US" sz="1700" b="1" dirty="0">
                <a:solidFill>
                  <a:schemeClr val="tx2"/>
                </a:solidFill>
                <a:latin typeface="Archivo Condensed" pitchFamily="34" charset="0"/>
                <a:ea typeface="Archivo Condensed" pitchFamily="34" charset="-122"/>
                <a:cs typeface="Archivo Condensed" pitchFamily="34" charset="-120"/>
              </a:rPr>
              <a:t>3,38</a:t>
            </a:r>
            <a:endParaRPr lang="es-CL" sz="1700" dirty="0"/>
          </a:p>
        </p:txBody>
      </p:sp>
      <p:sp>
        <p:nvSpPr>
          <p:cNvPr id="25" name="Shape 22"/>
          <p:cNvSpPr/>
          <p:nvPr/>
        </p:nvSpPr>
        <p:spPr>
          <a:xfrm>
            <a:off x="7680960" y="4343400"/>
            <a:ext cx="3962095" cy="0"/>
          </a:xfrm>
          <a:prstGeom prst="line">
            <a:avLst/>
          </a:prstGeom>
          <a:noFill/>
          <a:ln w="12700">
            <a:solidFill>
              <a:schemeClr val="accent1"/>
            </a:solidFill>
            <a:prstDash val="solid"/>
          </a:ln>
        </p:spPr>
      </p:sp>
      <p:sp>
        <p:nvSpPr>
          <p:cNvPr id="26" name="Text 23"/>
          <p:cNvSpPr txBox="1"/>
          <p:nvPr/>
        </p:nvSpPr>
        <p:spPr>
          <a:xfrm>
            <a:off x="7680960" y="4343400"/>
            <a:ext cx="2499055" cy="502920"/>
          </a:xfrm>
          <a:prstGeom prst="rect">
            <a:avLst/>
          </a:prstGeom>
          <a:noFill/>
          <a:ln/>
        </p:spPr>
        <p:txBody>
          <a:bodyPr wrap="square" lIns="0" tIns="0" rIns="0" bIns="0" rtlCol="0" anchor="ctr"/>
          <a:lstStyle/>
          <a:p>
            <a:pPr indent="0" marL="0">
              <a:buNone/>
            </a:pPr>
            <a:r>
              <a:rPr lang="es-CL" altLang="en-US" sz="1500" b="1" dirty="0">
                <a:solidFill>
                  <a:schemeClr val="tx1"/>
                </a:solidFill>
                <a:latin typeface="Figtree" pitchFamily="34" charset="0"/>
                <a:ea typeface="Figtree" pitchFamily="34" charset="-122"/>
                <a:cs typeface="Figtree" pitchFamily="34" charset="-120"/>
              </a:rPr>
              <a:t>Global</a:t>
            </a:r>
            <a:endParaRPr lang="es-CL" sz="1500" dirty="0"/>
          </a:p>
        </p:txBody>
      </p:sp>
      <p:sp>
        <p:nvSpPr>
          <p:cNvPr id="27" name="Text 24"/>
          <p:cNvSpPr txBox="1"/>
          <p:nvPr/>
        </p:nvSpPr>
        <p:spPr>
          <a:xfrm>
            <a:off x="10225735" y="4343400"/>
            <a:ext cx="640080" cy="502920"/>
          </a:xfrm>
          <a:prstGeom prst="rect">
            <a:avLst/>
          </a:prstGeom>
          <a:noFill/>
          <a:ln/>
        </p:spPr>
        <p:txBody>
          <a:bodyPr wrap="square" lIns="0" tIns="0" rIns="0" bIns="0" rtlCol="0" anchor="ctr"/>
          <a:lstStyle/>
          <a:p>
            <a:pPr algn="r" indent="0" marL="0">
              <a:buNone/>
            </a:pPr>
            <a:r>
              <a:rPr lang="es-CL" altLang="en-US" sz="2200" b="1" dirty="0">
                <a:solidFill>
                  <a:schemeClr val="accent1"/>
                </a:solidFill>
                <a:latin typeface="Archivo Condensed" pitchFamily="34" charset="0"/>
                <a:ea typeface="Archivo Condensed" pitchFamily="34" charset="-122"/>
                <a:cs typeface="Archivo Condensed" pitchFamily="34" charset="-120"/>
              </a:rPr>
              <a:t>2,82</a:t>
            </a:r>
            <a:endParaRPr lang="es-CL" sz="2200" dirty="0"/>
          </a:p>
        </p:txBody>
      </p:sp>
      <p:sp>
        <p:nvSpPr>
          <p:cNvPr id="28" name="Text 25"/>
          <p:cNvSpPr txBox="1"/>
          <p:nvPr/>
        </p:nvSpPr>
        <p:spPr>
          <a:xfrm>
            <a:off x="10911535" y="4343400"/>
            <a:ext cx="731520" cy="502920"/>
          </a:xfrm>
          <a:prstGeom prst="rect">
            <a:avLst/>
          </a:prstGeom>
          <a:noFill/>
          <a:ln/>
        </p:spPr>
        <p:txBody>
          <a:bodyPr wrap="square" lIns="0" tIns="0" rIns="0" bIns="0" rtlCol="0" anchor="ctr"/>
          <a:lstStyle/>
          <a:p>
            <a:pPr algn="r" indent="0" marL="0">
              <a:buNone/>
            </a:pPr>
            <a:r>
              <a:rPr lang="es-CL" altLang="en-US" sz="2200" b="1" dirty="0">
                <a:solidFill>
                  <a:schemeClr val="tx2"/>
                </a:solidFill>
                <a:latin typeface="Archivo Condensed" pitchFamily="34" charset="0"/>
                <a:ea typeface="Archivo Condensed" pitchFamily="34" charset="-122"/>
                <a:cs typeface="Archivo Condensed" pitchFamily="34" charset="-120"/>
              </a:rPr>
              <a:t>2,99</a:t>
            </a:r>
            <a:endParaRPr lang="es-CL" sz="2200" dirty="0"/>
          </a:p>
        </p:txBody>
      </p:sp>
      <p:sp>
        <p:nvSpPr>
          <p:cNvPr id="29" name="Text 26"/>
          <p:cNvSpPr txBox="1"/>
          <p:nvPr/>
        </p:nvSpPr>
        <p:spPr>
          <a:xfrm>
            <a:off x="7680960" y="5029200"/>
            <a:ext cx="3962095" cy="91440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Las oportunidades se concentran en lo tecnológico; las amenazas decisivas son la regulatoria y la capacidad de pago del cliente.</a:t>
            </a:r>
            <a:endParaRPr lang="es-CL" sz="13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06</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ANÁLISIS EXTERNO · ESCENARIOS REGULATORIOS</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LA VÍA LEGAL DEPENDE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de la autoridad.</a:t>
            </a:r>
            <a:endParaRPr lang="en-US" sz="3000" dirty="0"/>
          </a:p>
        </p:txBody>
      </p:sp>
      <p:sp>
        <p:nvSpPr>
          <p:cNvPr id="4" name="Shape 2"/>
          <p:cNvSpPr/>
          <p:nvPr/>
        </p:nvSpPr>
        <p:spPr>
          <a:xfrm>
            <a:off x="8183880" y="2331720"/>
            <a:ext cx="3459175" cy="786384"/>
          </a:xfrm>
          <a:prstGeom prst="rect">
            <a:avLst/>
          </a:prstGeom>
          <a:solidFill>
            <a:schemeClr val="bg2"/>
          </a:solidFill>
          <a:ln w="9525">
            <a:solidFill>
              <a:schemeClr val="accent5"/>
            </a:solidFill>
            <a:prstDash val="solid"/>
          </a:ln>
        </p:spPr>
      </p:sp>
      <p:sp>
        <p:nvSpPr>
          <p:cNvPr id="5" name="Shape 3"/>
          <p:cNvSpPr/>
          <p:nvPr/>
        </p:nvSpPr>
        <p:spPr>
          <a:xfrm>
            <a:off x="8366760" y="2514600"/>
            <a:ext cx="91440" cy="91440"/>
          </a:xfrm>
          <a:prstGeom prst="rect">
            <a:avLst/>
          </a:prstGeom>
          <a:solidFill>
            <a:schemeClr val="accent2"/>
          </a:solidFill>
          <a:ln/>
        </p:spPr>
      </p:sp>
      <p:sp>
        <p:nvSpPr>
          <p:cNvPr id="6" name="Text 4"/>
          <p:cNvSpPr txBox="1"/>
          <p:nvPr/>
        </p:nvSpPr>
        <p:spPr>
          <a:xfrm>
            <a:off x="8531352" y="2441448"/>
            <a:ext cx="548640" cy="237744"/>
          </a:xfrm>
          <a:prstGeom prst="rect">
            <a:avLst/>
          </a:prstGeom>
          <a:noFill/>
          <a:ln/>
        </p:spPr>
        <p:txBody>
          <a:bodyPr wrap="square" lIns="0" tIns="0" rIns="0" bIns="0" rtlCol="0" anchor="ctr"/>
          <a:lstStyle/>
          <a:p>
            <a:pPr indent="0" marL="0">
              <a:buNone/>
            </a:pPr>
            <a:r>
              <a:rPr lang="es-CL" altLang="en-US" sz="900" spc="150" kern="0" dirty="0">
                <a:solidFill>
                  <a:schemeClr val="accent2"/>
                </a:solidFill>
                <a:latin typeface="IBM Plex Mono" pitchFamily="34" charset="0"/>
                <a:ea typeface="IBM Plex Mono" pitchFamily="34" charset="-122"/>
                <a:cs typeface="IBM Plex Mono" pitchFamily="34" charset="-120"/>
              </a:rPr>
              <a:t>E1</a:t>
            </a:r>
            <a:endParaRPr lang="es-CL" sz="900" dirty="0"/>
          </a:p>
        </p:txBody>
      </p:sp>
      <p:sp>
        <p:nvSpPr>
          <p:cNvPr id="7" name="Text 5"/>
          <p:cNvSpPr txBox="1"/>
          <p:nvPr/>
        </p:nvSpPr>
        <p:spPr>
          <a:xfrm>
            <a:off x="8961120" y="2423160"/>
            <a:ext cx="2544775" cy="274320"/>
          </a:xfrm>
          <a:prstGeom prst="rect">
            <a:avLst/>
          </a:prstGeom>
          <a:noFill/>
          <a:ln/>
        </p:spPr>
        <p:txBody>
          <a:bodyPr wrap="square" lIns="0" tIns="0" rIns="0" bIns="0" rtlCol="0" anchor="t"/>
          <a:lstStyle/>
          <a:p>
            <a:pPr indent="0" marL="0">
              <a:buNone/>
            </a:pPr>
            <a:r>
              <a:rPr lang="es-CL" altLang="en-US" sz="1450" b="1" dirty="0">
                <a:solidFill>
                  <a:schemeClr val="tx1"/>
                </a:solidFill>
                <a:latin typeface="Figtree" pitchFamily="34" charset="0"/>
                <a:ea typeface="Figtree" pitchFamily="34" charset="-122"/>
                <a:cs typeface="Figtree" pitchFamily="34" charset="-120"/>
              </a:rPr>
              <a:t>Vía legal amplia</a:t>
            </a:r>
            <a:endParaRPr lang="es-CL" sz="1450" dirty="0"/>
          </a:p>
        </p:txBody>
      </p:sp>
      <p:sp>
        <p:nvSpPr>
          <p:cNvPr id="8" name="Text 6"/>
          <p:cNvSpPr txBox="1"/>
          <p:nvPr/>
        </p:nvSpPr>
        <p:spPr>
          <a:xfrm>
            <a:off x="8531352" y="2743200"/>
            <a:ext cx="2956255" cy="32004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Protege al primero que homologa</a:t>
            </a:r>
            <a:endParaRPr lang="es-CL" sz="1200" dirty="0"/>
          </a:p>
        </p:txBody>
      </p:sp>
      <p:sp>
        <p:nvSpPr>
          <p:cNvPr id="9" name="Shape 7"/>
          <p:cNvSpPr/>
          <p:nvPr/>
        </p:nvSpPr>
        <p:spPr>
          <a:xfrm>
            <a:off x="8183880" y="3209544"/>
            <a:ext cx="3459175" cy="786384"/>
          </a:xfrm>
          <a:prstGeom prst="rect">
            <a:avLst/>
          </a:prstGeom>
          <a:solidFill>
            <a:schemeClr val="bg2"/>
          </a:solidFill>
          <a:ln w="9525">
            <a:solidFill>
              <a:schemeClr val="accent5"/>
            </a:solidFill>
            <a:prstDash val="solid"/>
          </a:ln>
        </p:spPr>
      </p:sp>
      <p:sp>
        <p:nvSpPr>
          <p:cNvPr id="10" name="Shape 8"/>
          <p:cNvSpPr/>
          <p:nvPr/>
        </p:nvSpPr>
        <p:spPr>
          <a:xfrm>
            <a:off x="8366760" y="3392424"/>
            <a:ext cx="91440" cy="91440"/>
          </a:xfrm>
          <a:prstGeom prst="rect">
            <a:avLst/>
          </a:prstGeom>
          <a:solidFill>
            <a:schemeClr val="accent3"/>
          </a:solidFill>
          <a:ln/>
        </p:spPr>
      </p:sp>
      <p:sp>
        <p:nvSpPr>
          <p:cNvPr id="11" name="Text 9"/>
          <p:cNvSpPr txBox="1"/>
          <p:nvPr/>
        </p:nvSpPr>
        <p:spPr>
          <a:xfrm>
            <a:off x="8531352" y="3319272"/>
            <a:ext cx="548640" cy="237744"/>
          </a:xfrm>
          <a:prstGeom prst="rect">
            <a:avLst/>
          </a:prstGeom>
          <a:noFill/>
          <a:ln/>
        </p:spPr>
        <p:txBody>
          <a:bodyPr wrap="square" lIns="0" tIns="0" rIns="0" bIns="0" rtlCol="0" anchor="ctr"/>
          <a:lstStyle/>
          <a:p>
            <a:pPr indent="0" marL="0">
              <a:buNone/>
            </a:pPr>
            <a:r>
              <a:rPr lang="es-CL" altLang="en-US" sz="900" spc="150" kern="0" dirty="0">
                <a:solidFill>
                  <a:schemeClr val="accent3"/>
                </a:solidFill>
                <a:latin typeface="IBM Plex Mono" pitchFamily="34" charset="0"/>
                <a:ea typeface="IBM Plex Mono" pitchFamily="34" charset="-122"/>
                <a:cs typeface="IBM Plex Mono" pitchFamily="34" charset="-120"/>
              </a:rPr>
              <a:t>E2</a:t>
            </a:r>
            <a:endParaRPr lang="es-CL" sz="900" dirty="0"/>
          </a:p>
        </p:txBody>
      </p:sp>
      <p:sp>
        <p:nvSpPr>
          <p:cNvPr id="12" name="Text 10"/>
          <p:cNvSpPr txBox="1"/>
          <p:nvPr/>
        </p:nvSpPr>
        <p:spPr>
          <a:xfrm>
            <a:off x="8961120" y="3300984"/>
            <a:ext cx="2544775" cy="274320"/>
          </a:xfrm>
          <a:prstGeom prst="rect">
            <a:avLst/>
          </a:prstGeom>
          <a:noFill/>
          <a:ln/>
        </p:spPr>
        <p:txBody>
          <a:bodyPr wrap="square" lIns="0" tIns="0" rIns="0" bIns="0" rtlCol="0" anchor="t"/>
          <a:lstStyle/>
          <a:p>
            <a:pPr indent="0" marL="0">
              <a:buNone/>
            </a:pPr>
            <a:r>
              <a:rPr lang="es-CL" altLang="en-US" sz="1450" b="1" dirty="0">
                <a:solidFill>
                  <a:schemeClr val="tx1"/>
                </a:solidFill>
                <a:latin typeface="Figtree" pitchFamily="34" charset="0"/>
                <a:ea typeface="Figtree" pitchFamily="34" charset="-122"/>
                <a:cs typeface="Figtree" pitchFamily="34" charset="-120"/>
              </a:rPr>
              <a:t>Vía legal acotada</a:t>
            </a:r>
            <a:endParaRPr lang="es-CL" sz="1450" dirty="0"/>
          </a:p>
        </p:txBody>
      </p:sp>
      <p:sp>
        <p:nvSpPr>
          <p:cNvPr id="13" name="Text 11"/>
          <p:cNvSpPr txBox="1"/>
          <p:nvPr/>
        </p:nvSpPr>
        <p:spPr>
          <a:xfrm>
            <a:off x="8531352" y="3621024"/>
            <a:ext cx="2956255" cy="32004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Solo parque sin ABS ni airbag</a:t>
            </a:r>
            <a:endParaRPr lang="es-CL" sz="1200" dirty="0"/>
          </a:p>
        </p:txBody>
      </p:sp>
      <p:sp>
        <p:nvSpPr>
          <p:cNvPr id="14" name="Shape 12"/>
          <p:cNvSpPr/>
          <p:nvPr/>
        </p:nvSpPr>
        <p:spPr>
          <a:xfrm>
            <a:off x="8183880" y="4361688"/>
            <a:ext cx="3459175" cy="786384"/>
          </a:xfrm>
          <a:prstGeom prst="rect">
            <a:avLst/>
          </a:prstGeom>
          <a:solidFill>
            <a:schemeClr val="bg2"/>
          </a:solidFill>
          <a:ln w="12700">
            <a:solidFill>
              <a:schemeClr val="tx2"/>
            </a:solidFill>
            <a:prstDash val="solid"/>
          </a:ln>
        </p:spPr>
      </p:sp>
      <p:sp>
        <p:nvSpPr>
          <p:cNvPr id="15" name="Shape 13"/>
          <p:cNvSpPr/>
          <p:nvPr/>
        </p:nvSpPr>
        <p:spPr>
          <a:xfrm>
            <a:off x="8366760" y="4544568"/>
            <a:ext cx="91440" cy="91440"/>
          </a:xfrm>
          <a:prstGeom prst="rect">
            <a:avLst/>
          </a:prstGeom>
          <a:solidFill>
            <a:schemeClr val="tx2"/>
          </a:solidFill>
          <a:ln/>
        </p:spPr>
      </p:sp>
      <p:sp>
        <p:nvSpPr>
          <p:cNvPr id="16" name="Text 14"/>
          <p:cNvSpPr txBox="1"/>
          <p:nvPr/>
        </p:nvSpPr>
        <p:spPr>
          <a:xfrm>
            <a:off x="8531352" y="4471416"/>
            <a:ext cx="548640" cy="237744"/>
          </a:xfrm>
          <a:prstGeom prst="rect">
            <a:avLst/>
          </a:prstGeom>
          <a:noFill/>
          <a:ln/>
        </p:spPr>
        <p:txBody>
          <a:bodyPr wrap="square" lIns="0" tIns="0" rIns="0" bIns="0" rtlCol="0" anchor="ctr"/>
          <a:lstStyle/>
          <a:p>
            <a:pP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E3</a:t>
            </a:r>
            <a:endParaRPr lang="es-CL" sz="900" dirty="0"/>
          </a:p>
        </p:txBody>
      </p:sp>
      <p:sp>
        <p:nvSpPr>
          <p:cNvPr id="17" name="Text 15"/>
          <p:cNvSpPr txBox="1"/>
          <p:nvPr/>
        </p:nvSpPr>
        <p:spPr>
          <a:xfrm>
            <a:off x="8961120" y="4453128"/>
            <a:ext cx="2544775" cy="274320"/>
          </a:xfrm>
          <a:prstGeom prst="rect">
            <a:avLst/>
          </a:prstGeom>
          <a:noFill/>
          <a:ln/>
        </p:spPr>
        <p:txBody>
          <a:bodyPr wrap="square" lIns="0" tIns="0" rIns="0" bIns="0" rtlCol="0" anchor="t"/>
          <a:lstStyle/>
          <a:p>
            <a:pPr indent="0" marL="0">
              <a:buNone/>
            </a:pPr>
            <a:r>
              <a:rPr lang="es-CL" altLang="en-US" sz="1450" b="1" dirty="0">
                <a:solidFill>
                  <a:schemeClr val="tx1"/>
                </a:solidFill>
                <a:latin typeface="Figtree" pitchFamily="34" charset="0"/>
                <a:ea typeface="Figtree" pitchFamily="34" charset="-122"/>
                <a:cs typeface="Figtree" pitchFamily="34" charset="-120"/>
              </a:rPr>
              <a:t>Vía alternativa</a:t>
            </a:r>
            <a:endParaRPr lang="es-CL" sz="1450" dirty="0"/>
          </a:p>
        </p:txBody>
      </p:sp>
      <p:sp>
        <p:nvSpPr>
          <p:cNvPr id="18" name="Text 16"/>
          <p:cNvSpPr txBox="1"/>
          <p:nvPr/>
        </p:nvSpPr>
        <p:spPr>
          <a:xfrm>
            <a:off x="8531352" y="4773168"/>
            <a:ext cx="2956255" cy="32004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Alteración de características</a:t>
            </a:r>
            <a:endParaRPr lang="es-CL" sz="1200" dirty="0"/>
          </a:p>
        </p:txBody>
      </p:sp>
      <p:sp>
        <p:nvSpPr>
          <p:cNvPr id="19" name="Shape 17"/>
          <p:cNvSpPr/>
          <p:nvPr/>
        </p:nvSpPr>
        <p:spPr>
          <a:xfrm>
            <a:off x="8183880" y="5239512"/>
            <a:ext cx="3459175" cy="786384"/>
          </a:xfrm>
          <a:prstGeom prst="rect">
            <a:avLst/>
          </a:prstGeom>
          <a:solidFill>
            <a:schemeClr val="bg2"/>
          </a:solidFill>
          <a:ln w="12700">
            <a:solidFill>
              <a:schemeClr val="accent4"/>
            </a:solidFill>
            <a:prstDash val="solid"/>
          </a:ln>
        </p:spPr>
      </p:sp>
      <p:sp>
        <p:nvSpPr>
          <p:cNvPr id="20" name="Shape 18"/>
          <p:cNvSpPr/>
          <p:nvPr/>
        </p:nvSpPr>
        <p:spPr>
          <a:xfrm>
            <a:off x="8366760" y="5422392"/>
            <a:ext cx="91440" cy="91440"/>
          </a:xfrm>
          <a:prstGeom prst="rect">
            <a:avLst/>
          </a:prstGeom>
          <a:solidFill>
            <a:schemeClr val="accent4"/>
          </a:solidFill>
          <a:ln/>
        </p:spPr>
      </p:sp>
      <p:sp>
        <p:nvSpPr>
          <p:cNvPr id="21" name="Text 19"/>
          <p:cNvSpPr txBox="1"/>
          <p:nvPr/>
        </p:nvSpPr>
        <p:spPr>
          <a:xfrm>
            <a:off x="8531352" y="5349240"/>
            <a:ext cx="548640" cy="237744"/>
          </a:xfrm>
          <a:prstGeom prst="rect">
            <a:avLst/>
          </a:prstGeom>
          <a:noFill/>
          <a:ln/>
        </p:spPr>
        <p:txBody>
          <a:bodyPr wrap="square" lIns="0" tIns="0" rIns="0" bIns="0" rtlCol="0" anchor="ctr"/>
          <a:lstStyle/>
          <a:p>
            <a:pPr indent="0" marL="0">
              <a:buNone/>
            </a:pPr>
            <a:r>
              <a:rPr lang="es-CL" altLang="en-US" sz="900" spc="150" kern="0" dirty="0">
                <a:solidFill>
                  <a:schemeClr val="accent4"/>
                </a:solidFill>
                <a:latin typeface="IBM Plex Mono" pitchFamily="34" charset="0"/>
                <a:ea typeface="IBM Plex Mono" pitchFamily="34" charset="-122"/>
                <a:cs typeface="IBM Plex Mono" pitchFamily="34" charset="-120"/>
              </a:rPr>
              <a:t>E4</a:t>
            </a:r>
            <a:endParaRPr lang="es-CL" sz="900" dirty="0"/>
          </a:p>
        </p:txBody>
      </p:sp>
      <p:sp>
        <p:nvSpPr>
          <p:cNvPr id="22" name="Text 20"/>
          <p:cNvSpPr txBox="1"/>
          <p:nvPr/>
        </p:nvSpPr>
        <p:spPr>
          <a:xfrm>
            <a:off x="8961120" y="5330952"/>
            <a:ext cx="2544775" cy="274320"/>
          </a:xfrm>
          <a:prstGeom prst="rect">
            <a:avLst/>
          </a:prstGeom>
          <a:noFill/>
          <a:ln/>
        </p:spPr>
        <p:txBody>
          <a:bodyPr wrap="square" lIns="0" tIns="0" rIns="0" bIns="0" rtlCol="0" anchor="t"/>
          <a:lstStyle/>
          <a:p>
            <a:pPr indent="0" marL="0">
              <a:buNone/>
            </a:pPr>
            <a:r>
              <a:rPr lang="es-CL" altLang="en-US" sz="1450" b="1" dirty="0">
                <a:solidFill>
                  <a:schemeClr val="tx1"/>
                </a:solidFill>
                <a:latin typeface="Figtree" pitchFamily="34" charset="0"/>
                <a:ea typeface="Figtree" pitchFamily="34" charset="-122"/>
                <a:cs typeface="Figtree" pitchFamily="34" charset="-120"/>
              </a:rPr>
              <a:t>Sin vía legal</a:t>
            </a:r>
            <a:endParaRPr lang="es-CL" sz="1450" dirty="0"/>
          </a:p>
        </p:txBody>
      </p:sp>
      <p:sp>
        <p:nvSpPr>
          <p:cNvPr id="23" name="Text 21"/>
          <p:cNvSpPr txBox="1"/>
          <p:nvPr/>
        </p:nvSpPr>
        <p:spPr>
          <a:xfrm>
            <a:off x="8531352" y="5650992"/>
            <a:ext cx="2956255" cy="32004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El negocio no opera</a:t>
            </a:r>
            <a:endParaRPr lang="es-CL" sz="1200" dirty="0"/>
          </a:p>
        </p:txBody>
      </p:sp>
      <p:sp>
        <p:nvSpPr>
          <p:cNvPr id="24" name="Shape 22"/>
          <p:cNvSpPr/>
          <p:nvPr/>
        </p:nvSpPr>
        <p:spPr>
          <a:xfrm>
            <a:off x="4160520" y="2660904"/>
            <a:ext cx="3108960" cy="1005840"/>
          </a:xfrm>
          <a:prstGeom prst="rect">
            <a:avLst/>
          </a:prstGeom>
          <a:solidFill>
            <a:schemeClr val="bg2"/>
          </a:solidFill>
          <a:ln w="9525">
            <a:solidFill>
              <a:schemeClr val="accent5"/>
            </a:solidFill>
            <a:prstDash val="solid"/>
          </a:ln>
        </p:spPr>
      </p:sp>
      <p:sp>
        <p:nvSpPr>
          <p:cNvPr id="25" name="Text 23"/>
          <p:cNvSpPr txBox="1"/>
          <p:nvPr/>
        </p:nvSpPr>
        <p:spPr>
          <a:xfrm>
            <a:off x="4343400" y="2660904"/>
            <a:ext cx="2743200" cy="1005840"/>
          </a:xfrm>
          <a:prstGeom prst="rect">
            <a:avLst/>
          </a:prstGeom>
          <a:noFill/>
          <a:ln/>
        </p:spPr>
        <p:txBody>
          <a:bodyPr wrap="square" lIns="0" tIns="0" rIns="0" bIns="0" rtlCol="0" anchor="ctr"/>
          <a:lstStyle/>
          <a:p>
            <a:pPr algn="ctr" indent="0" marL="0">
              <a:buNone/>
            </a:pPr>
            <a:r>
              <a:rPr lang="es-CL" altLang="en-US" sz="1400" dirty="0">
                <a:solidFill>
                  <a:schemeClr val="tx1"/>
                </a:solidFill>
                <a:latin typeface="Figtree" pitchFamily="34" charset="0"/>
                <a:ea typeface="Figtree" pitchFamily="34" charset="-122"/>
                <a:cs typeface="Figtree" pitchFamily="34" charset="-120"/>
              </a:rPr>
              <a:t>¿Se mantiene la exclusión de vehículos con ABS, airbag o estabilidad?</a:t>
            </a:r>
            <a:endParaRPr lang="es-CL" sz="1400" dirty="0"/>
          </a:p>
        </p:txBody>
      </p:sp>
      <p:sp>
        <p:nvSpPr>
          <p:cNvPr id="26" name="Shape 24"/>
          <p:cNvSpPr/>
          <p:nvPr/>
        </p:nvSpPr>
        <p:spPr>
          <a:xfrm>
            <a:off x="4160520" y="4690872"/>
            <a:ext cx="3108960" cy="1005840"/>
          </a:xfrm>
          <a:prstGeom prst="rect">
            <a:avLst/>
          </a:prstGeom>
          <a:solidFill>
            <a:srgbClr val="0B1A22"/>
          </a:solidFill>
          <a:ln w="15875">
            <a:solidFill>
              <a:schemeClr val="accent1"/>
            </a:solidFill>
            <a:prstDash val="solid"/>
          </a:ln>
        </p:spPr>
      </p:sp>
      <p:sp>
        <p:nvSpPr>
          <p:cNvPr id="27" name="Text 25"/>
          <p:cNvSpPr txBox="1"/>
          <p:nvPr/>
        </p:nvSpPr>
        <p:spPr>
          <a:xfrm>
            <a:off x="4343400" y="4690872"/>
            <a:ext cx="2743200" cy="1005840"/>
          </a:xfrm>
          <a:prstGeom prst="rect">
            <a:avLst/>
          </a:prstGeom>
          <a:noFill/>
          <a:ln/>
        </p:spPr>
        <p:txBody>
          <a:bodyPr wrap="square" lIns="0" tIns="0" rIns="0" bIns="0" rtlCol="0" anchor="ctr"/>
          <a:lstStyle/>
          <a:p>
            <a:pPr algn="ctr" indent="0" marL="0">
              <a:buNone/>
            </a:pPr>
            <a:r>
              <a:rPr lang="es-CL" altLang="en-US" sz="1400" dirty="0">
                <a:solidFill>
                  <a:schemeClr val="tx1"/>
                </a:solidFill>
                <a:latin typeface="Figtree" pitchFamily="34" charset="0"/>
                <a:ea typeface="Figtree" pitchFamily="34" charset="-122"/>
                <a:cs typeface="Figtree" pitchFamily="34" charset="-120"/>
              </a:rPr>
              <a:t>¿Procede la inscripción general de alteración de características?</a:t>
            </a:r>
            <a:endParaRPr lang="es-CL" sz="1400" dirty="0"/>
          </a:p>
        </p:txBody>
      </p:sp>
      <p:sp>
        <p:nvSpPr>
          <p:cNvPr id="28" name="Shape 26"/>
          <p:cNvSpPr/>
          <p:nvPr/>
        </p:nvSpPr>
        <p:spPr>
          <a:xfrm>
            <a:off x="548640" y="3607308"/>
            <a:ext cx="2971800" cy="1143000"/>
          </a:xfrm>
          <a:prstGeom prst="rect">
            <a:avLst/>
          </a:prstGeom>
          <a:solidFill>
            <a:srgbClr val="0B1A22"/>
          </a:solidFill>
          <a:ln w="15875">
            <a:solidFill>
              <a:schemeClr val="accent1"/>
            </a:solidFill>
            <a:prstDash val="solid"/>
          </a:ln>
        </p:spPr>
      </p:sp>
      <p:sp>
        <p:nvSpPr>
          <p:cNvPr id="29" name="Text 27"/>
          <p:cNvSpPr txBox="1"/>
          <p:nvPr/>
        </p:nvSpPr>
        <p:spPr>
          <a:xfrm>
            <a:off x="731520" y="3607308"/>
            <a:ext cx="2606040" cy="1143000"/>
          </a:xfrm>
          <a:prstGeom prst="rect">
            <a:avLst/>
          </a:prstGeom>
          <a:noFill/>
          <a:ln/>
        </p:spPr>
        <p:txBody>
          <a:bodyPr wrap="square" lIns="0" tIns="0" rIns="0" bIns="0" rtlCol="0" anchor="ctr"/>
          <a:lstStyle/>
          <a:p>
            <a:pPr algn="ctr" indent="0" marL="0">
              <a:buNone/>
            </a:pPr>
            <a:r>
              <a:rPr lang="es-CL" altLang="en-US" sz="1400" dirty="0">
                <a:solidFill>
                  <a:schemeClr val="tx1"/>
                </a:solidFill>
                <a:latin typeface="Figtree" pitchFamily="34" charset="0"/>
                <a:ea typeface="Figtree" pitchFamily="34" charset="-122"/>
                <a:cs typeface="Figtree" pitchFamily="34" charset="-120"/>
              </a:rPr>
              <a:t>¿La transformación incluye una intervención que conserva el motor?</a:t>
            </a:r>
            <a:endParaRPr lang="es-CL" sz="1400" dirty="0"/>
          </a:p>
        </p:txBody>
      </p:sp>
      <p:sp>
        <p:nvSpPr>
          <p:cNvPr id="30" name="Shape 28"/>
          <p:cNvSpPr/>
          <p:nvPr/>
        </p:nvSpPr>
        <p:spPr>
          <a:xfrm>
            <a:off x="3520440" y="4178808"/>
            <a:ext cx="320040" cy="0"/>
          </a:xfrm>
          <a:prstGeom prst="line">
            <a:avLst/>
          </a:prstGeom>
          <a:noFill/>
          <a:ln w="15875">
            <a:solidFill>
              <a:schemeClr val="accent5"/>
            </a:solidFill>
            <a:prstDash val="solid"/>
          </a:ln>
        </p:spPr>
      </p:sp>
      <p:sp>
        <p:nvSpPr>
          <p:cNvPr id="31" name="Shape 29"/>
          <p:cNvSpPr/>
          <p:nvPr/>
        </p:nvSpPr>
        <p:spPr>
          <a:xfrm>
            <a:off x="3840480" y="3163824"/>
            <a:ext cx="0" cy="1014984"/>
          </a:xfrm>
          <a:prstGeom prst="line">
            <a:avLst/>
          </a:prstGeom>
          <a:noFill/>
          <a:ln w="15875">
            <a:solidFill>
              <a:schemeClr val="accent5"/>
            </a:solidFill>
            <a:prstDash val="solid"/>
          </a:ln>
        </p:spPr>
      </p:sp>
      <p:sp>
        <p:nvSpPr>
          <p:cNvPr id="32" name="Shape 30"/>
          <p:cNvSpPr/>
          <p:nvPr/>
        </p:nvSpPr>
        <p:spPr>
          <a:xfrm>
            <a:off x="3840480" y="3163824"/>
            <a:ext cx="320040" cy="0"/>
          </a:xfrm>
          <a:prstGeom prst="line">
            <a:avLst/>
          </a:prstGeom>
          <a:noFill/>
          <a:ln w="15875">
            <a:solidFill>
              <a:schemeClr val="accent5"/>
            </a:solidFill>
            <a:prstDash val="solid"/>
          </a:ln>
        </p:spPr>
      </p:sp>
      <p:sp>
        <p:nvSpPr>
          <p:cNvPr id="33" name="Shape 31"/>
          <p:cNvSpPr/>
          <p:nvPr/>
        </p:nvSpPr>
        <p:spPr>
          <a:xfrm>
            <a:off x="3520440" y="4178808"/>
            <a:ext cx="320040" cy="0"/>
          </a:xfrm>
          <a:prstGeom prst="line">
            <a:avLst/>
          </a:prstGeom>
          <a:noFill/>
          <a:ln w="28575">
            <a:solidFill>
              <a:schemeClr val="accent1"/>
            </a:solidFill>
            <a:prstDash val="solid"/>
          </a:ln>
        </p:spPr>
      </p:sp>
      <p:sp>
        <p:nvSpPr>
          <p:cNvPr id="34" name="Shape 32"/>
          <p:cNvSpPr/>
          <p:nvPr/>
        </p:nvSpPr>
        <p:spPr>
          <a:xfrm>
            <a:off x="3840480" y="4178808"/>
            <a:ext cx="0" cy="1014984"/>
          </a:xfrm>
          <a:prstGeom prst="line">
            <a:avLst/>
          </a:prstGeom>
          <a:noFill/>
          <a:ln w="28575">
            <a:solidFill>
              <a:schemeClr val="accent1"/>
            </a:solidFill>
            <a:prstDash val="solid"/>
          </a:ln>
        </p:spPr>
      </p:sp>
      <p:sp>
        <p:nvSpPr>
          <p:cNvPr id="35" name="Shape 33"/>
          <p:cNvSpPr/>
          <p:nvPr/>
        </p:nvSpPr>
        <p:spPr>
          <a:xfrm>
            <a:off x="3840480" y="5193792"/>
            <a:ext cx="320040" cy="0"/>
          </a:xfrm>
          <a:prstGeom prst="line">
            <a:avLst/>
          </a:prstGeom>
          <a:noFill/>
          <a:ln w="28575">
            <a:solidFill>
              <a:schemeClr val="accent1"/>
            </a:solidFill>
            <a:prstDash val="solid"/>
          </a:ln>
        </p:spPr>
      </p:sp>
      <p:sp>
        <p:nvSpPr>
          <p:cNvPr id="36" name="Text 34"/>
          <p:cNvSpPr txBox="1"/>
          <p:nvPr/>
        </p:nvSpPr>
        <p:spPr>
          <a:xfrm>
            <a:off x="3913632" y="3236976"/>
            <a:ext cx="365760" cy="201168"/>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SÍ</a:t>
            </a:r>
            <a:endParaRPr lang="es-CL" sz="850" dirty="0"/>
          </a:p>
        </p:txBody>
      </p:sp>
      <p:sp>
        <p:nvSpPr>
          <p:cNvPr id="37" name="Text 35"/>
          <p:cNvSpPr txBox="1"/>
          <p:nvPr/>
        </p:nvSpPr>
        <p:spPr>
          <a:xfrm>
            <a:off x="3913632" y="4901184"/>
            <a:ext cx="365760" cy="201168"/>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NO</a:t>
            </a:r>
            <a:endParaRPr lang="es-CL" sz="850" dirty="0"/>
          </a:p>
        </p:txBody>
      </p:sp>
      <p:sp>
        <p:nvSpPr>
          <p:cNvPr id="38" name="Shape 36"/>
          <p:cNvSpPr/>
          <p:nvPr/>
        </p:nvSpPr>
        <p:spPr>
          <a:xfrm>
            <a:off x="7269480" y="3163824"/>
            <a:ext cx="457200" cy="0"/>
          </a:xfrm>
          <a:prstGeom prst="line">
            <a:avLst/>
          </a:prstGeom>
          <a:noFill/>
          <a:ln w="15875">
            <a:solidFill>
              <a:schemeClr val="accent5"/>
            </a:solidFill>
            <a:prstDash val="solid"/>
          </a:ln>
        </p:spPr>
      </p:sp>
      <p:sp>
        <p:nvSpPr>
          <p:cNvPr id="39" name="Shape 37"/>
          <p:cNvSpPr/>
          <p:nvPr/>
        </p:nvSpPr>
        <p:spPr>
          <a:xfrm>
            <a:off x="7726680" y="2724912"/>
            <a:ext cx="0" cy="438912"/>
          </a:xfrm>
          <a:prstGeom prst="line">
            <a:avLst/>
          </a:prstGeom>
          <a:noFill/>
          <a:ln w="15875">
            <a:solidFill>
              <a:schemeClr val="accent5"/>
            </a:solidFill>
            <a:prstDash val="solid"/>
          </a:ln>
        </p:spPr>
      </p:sp>
      <p:sp>
        <p:nvSpPr>
          <p:cNvPr id="40" name="Shape 38"/>
          <p:cNvSpPr/>
          <p:nvPr/>
        </p:nvSpPr>
        <p:spPr>
          <a:xfrm>
            <a:off x="7726680" y="2724912"/>
            <a:ext cx="457200" cy="0"/>
          </a:xfrm>
          <a:prstGeom prst="line">
            <a:avLst/>
          </a:prstGeom>
          <a:noFill/>
          <a:ln w="15875">
            <a:solidFill>
              <a:schemeClr val="accent5"/>
            </a:solidFill>
            <a:prstDash val="solid"/>
          </a:ln>
        </p:spPr>
      </p:sp>
      <p:sp>
        <p:nvSpPr>
          <p:cNvPr id="41" name="Text 39"/>
          <p:cNvSpPr txBox="1"/>
          <p:nvPr/>
        </p:nvSpPr>
        <p:spPr>
          <a:xfrm>
            <a:off x="7799832" y="2761488"/>
            <a:ext cx="365760" cy="201168"/>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NO</a:t>
            </a:r>
            <a:endParaRPr lang="es-CL" sz="850" dirty="0"/>
          </a:p>
        </p:txBody>
      </p:sp>
      <p:sp>
        <p:nvSpPr>
          <p:cNvPr id="42" name="Shape 40"/>
          <p:cNvSpPr/>
          <p:nvPr/>
        </p:nvSpPr>
        <p:spPr>
          <a:xfrm>
            <a:off x="7269480" y="3163824"/>
            <a:ext cx="457200" cy="0"/>
          </a:xfrm>
          <a:prstGeom prst="line">
            <a:avLst/>
          </a:prstGeom>
          <a:noFill/>
          <a:ln w="15875">
            <a:solidFill>
              <a:schemeClr val="accent5"/>
            </a:solidFill>
            <a:prstDash val="solid"/>
          </a:ln>
        </p:spPr>
      </p:sp>
      <p:sp>
        <p:nvSpPr>
          <p:cNvPr id="43" name="Shape 41"/>
          <p:cNvSpPr/>
          <p:nvPr/>
        </p:nvSpPr>
        <p:spPr>
          <a:xfrm>
            <a:off x="7726680" y="3163824"/>
            <a:ext cx="0" cy="438912"/>
          </a:xfrm>
          <a:prstGeom prst="line">
            <a:avLst/>
          </a:prstGeom>
          <a:noFill/>
          <a:ln w="15875">
            <a:solidFill>
              <a:schemeClr val="accent5"/>
            </a:solidFill>
            <a:prstDash val="solid"/>
          </a:ln>
        </p:spPr>
      </p:sp>
      <p:sp>
        <p:nvSpPr>
          <p:cNvPr id="44" name="Shape 42"/>
          <p:cNvSpPr/>
          <p:nvPr/>
        </p:nvSpPr>
        <p:spPr>
          <a:xfrm>
            <a:off x="7726680" y="3602736"/>
            <a:ext cx="457200" cy="0"/>
          </a:xfrm>
          <a:prstGeom prst="line">
            <a:avLst/>
          </a:prstGeom>
          <a:noFill/>
          <a:ln w="15875">
            <a:solidFill>
              <a:schemeClr val="accent5"/>
            </a:solidFill>
            <a:prstDash val="solid"/>
          </a:ln>
        </p:spPr>
      </p:sp>
      <p:sp>
        <p:nvSpPr>
          <p:cNvPr id="45" name="Text 43"/>
          <p:cNvSpPr txBox="1"/>
          <p:nvPr/>
        </p:nvSpPr>
        <p:spPr>
          <a:xfrm>
            <a:off x="7799832" y="3355848"/>
            <a:ext cx="365760" cy="201168"/>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SÍ</a:t>
            </a:r>
            <a:endParaRPr lang="es-CL" sz="850" dirty="0"/>
          </a:p>
        </p:txBody>
      </p:sp>
      <p:sp>
        <p:nvSpPr>
          <p:cNvPr id="46" name="Shape 44"/>
          <p:cNvSpPr/>
          <p:nvPr/>
        </p:nvSpPr>
        <p:spPr>
          <a:xfrm>
            <a:off x="7269480" y="5193792"/>
            <a:ext cx="457200" cy="0"/>
          </a:xfrm>
          <a:prstGeom prst="line">
            <a:avLst/>
          </a:prstGeom>
          <a:noFill/>
          <a:ln w="22225">
            <a:solidFill>
              <a:schemeClr val="accent1"/>
            </a:solidFill>
            <a:prstDash val="solid"/>
          </a:ln>
        </p:spPr>
      </p:sp>
      <p:sp>
        <p:nvSpPr>
          <p:cNvPr id="47" name="Shape 45"/>
          <p:cNvSpPr/>
          <p:nvPr/>
        </p:nvSpPr>
        <p:spPr>
          <a:xfrm>
            <a:off x="7726680" y="4754880"/>
            <a:ext cx="0" cy="438912"/>
          </a:xfrm>
          <a:prstGeom prst="line">
            <a:avLst/>
          </a:prstGeom>
          <a:noFill/>
          <a:ln w="22225">
            <a:solidFill>
              <a:schemeClr val="accent1"/>
            </a:solidFill>
            <a:prstDash val="solid"/>
          </a:ln>
        </p:spPr>
      </p:sp>
      <p:sp>
        <p:nvSpPr>
          <p:cNvPr id="48" name="Shape 46"/>
          <p:cNvSpPr/>
          <p:nvPr/>
        </p:nvSpPr>
        <p:spPr>
          <a:xfrm>
            <a:off x="7726680" y="4754880"/>
            <a:ext cx="457200" cy="0"/>
          </a:xfrm>
          <a:prstGeom prst="line">
            <a:avLst/>
          </a:prstGeom>
          <a:noFill/>
          <a:ln w="22225">
            <a:solidFill>
              <a:schemeClr val="accent1"/>
            </a:solidFill>
            <a:prstDash val="solid"/>
          </a:ln>
        </p:spPr>
      </p:sp>
      <p:sp>
        <p:nvSpPr>
          <p:cNvPr id="49" name="Text 47"/>
          <p:cNvSpPr txBox="1"/>
          <p:nvPr/>
        </p:nvSpPr>
        <p:spPr>
          <a:xfrm>
            <a:off x="7799832" y="4791456"/>
            <a:ext cx="365760" cy="201168"/>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SÍ</a:t>
            </a:r>
            <a:endParaRPr lang="es-CL" sz="850" dirty="0"/>
          </a:p>
        </p:txBody>
      </p:sp>
      <p:sp>
        <p:nvSpPr>
          <p:cNvPr id="50" name="Shape 48"/>
          <p:cNvSpPr/>
          <p:nvPr/>
        </p:nvSpPr>
        <p:spPr>
          <a:xfrm>
            <a:off x="7269480" y="5193792"/>
            <a:ext cx="457200" cy="0"/>
          </a:xfrm>
          <a:prstGeom prst="line">
            <a:avLst/>
          </a:prstGeom>
          <a:noFill/>
          <a:ln w="22225">
            <a:solidFill>
              <a:schemeClr val="accent1"/>
            </a:solidFill>
            <a:prstDash val="solid"/>
          </a:ln>
        </p:spPr>
      </p:sp>
      <p:sp>
        <p:nvSpPr>
          <p:cNvPr id="51" name="Shape 49"/>
          <p:cNvSpPr/>
          <p:nvPr/>
        </p:nvSpPr>
        <p:spPr>
          <a:xfrm>
            <a:off x="7726680" y="5193792"/>
            <a:ext cx="0" cy="438912"/>
          </a:xfrm>
          <a:prstGeom prst="line">
            <a:avLst/>
          </a:prstGeom>
          <a:noFill/>
          <a:ln w="22225">
            <a:solidFill>
              <a:schemeClr val="accent1"/>
            </a:solidFill>
            <a:prstDash val="solid"/>
          </a:ln>
        </p:spPr>
      </p:sp>
      <p:sp>
        <p:nvSpPr>
          <p:cNvPr id="52" name="Shape 50"/>
          <p:cNvSpPr/>
          <p:nvPr/>
        </p:nvSpPr>
        <p:spPr>
          <a:xfrm>
            <a:off x="7726680" y="5632704"/>
            <a:ext cx="457200" cy="0"/>
          </a:xfrm>
          <a:prstGeom prst="line">
            <a:avLst/>
          </a:prstGeom>
          <a:noFill/>
          <a:ln w="22225">
            <a:solidFill>
              <a:schemeClr val="accent1"/>
            </a:solidFill>
            <a:prstDash val="solid"/>
          </a:ln>
        </p:spPr>
      </p:sp>
      <p:sp>
        <p:nvSpPr>
          <p:cNvPr id="53" name="Text 51"/>
          <p:cNvSpPr txBox="1"/>
          <p:nvPr/>
        </p:nvSpPr>
        <p:spPr>
          <a:xfrm>
            <a:off x="7799832" y="5385816"/>
            <a:ext cx="365760" cy="201168"/>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NO</a:t>
            </a:r>
            <a:endParaRPr lang="es-CL" sz="850" dirty="0"/>
          </a:p>
        </p:txBody>
      </p:sp>
      <p:sp>
        <p:nvSpPr>
          <p:cNvPr id="54" name="Text 52"/>
          <p:cNvSpPr txBox="1"/>
          <p:nvPr/>
        </p:nvSpPr>
        <p:spPr>
          <a:xfrm>
            <a:off x="548640" y="4978908"/>
            <a:ext cx="2971800" cy="201168"/>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SITUACIÓN VIGENTE (02 Y 03)</a:t>
            </a:r>
            <a:endParaRPr lang="es-CL" sz="850" dirty="0"/>
          </a:p>
        </p:txBody>
      </p:sp>
      <p:sp>
        <p:nvSpPr>
          <p:cNvPr id="55" name="Text 53"/>
          <p:cNvSpPr txBox="1"/>
          <p:nvPr/>
        </p:nvSpPr>
        <p:spPr>
          <a:xfrm>
            <a:off x="548640" y="5225796"/>
            <a:ext cx="2971800" cy="77724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Rama «No» del primer nodo: E3 o E4. Solo E1 convierte la barrera en protección.</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07</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CINCO FUERZAS COMPETITIVAS · PORTER (02)</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LA FUERZA DOMINANTE: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no hacer nada.</a:t>
            </a:r>
            <a:endParaRPr lang="en-US" sz="3000" dirty="0"/>
          </a:p>
        </p:txBody>
      </p:sp>
      <p:sp>
        <p:nvSpPr>
          <p:cNvPr id="4" name="Text 2"/>
          <p:cNvSpPr txBox="1"/>
          <p:nvPr/>
        </p:nvSpPr>
        <p:spPr>
          <a:xfrm>
            <a:off x="548640" y="2331720"/>
            <a:ext cx="6949440" cy="219456"/>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PROMEDIO POR FUERZA · 0 A 5 · PONDERACIÓN</a:t>
            </a:r>
            <a:endParaRPr lang="es-CL" sz="900" dirty="0"/>
          </a:p>
        </p:txBody>
      </p:sp>
      <p:graphicFrame>
        <p:nvGraphicFramePr>
          <p:cNvPr id="5" name="Gráfico cinco fuerzas" descr=""/>
          <p:cNvGraphicFramePr/>
          <p:nvPr/>
        </p:nvGraphicFramePr>
        <p:xfrm>
          <a:off x="457200" y="2606040"/>
          <a:ext cx="7040880" cy="356616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7955280" y="2331720"/>
            <a:ext cx="3687775" cy="3840480"/>
          </a:xfrm>
          <a:prstGeom prst="rect">
            <a:avLst/>
          </a:prstGeom>
          <a:solidFill>
            <a:schemeClr val="bg2"/>
          </a:solidFill>
          <a:ln w="9525">
            <a:solidFill>
              <a:schemeClr val="accent5"/>
            </a:solidFill>
            <a:prstDash val="solid"/>
          </a:ln>
        </p:spPr>
      </p:sp>
      <p:sp>
        <p:nvSpPr>
          <p:cNvPr id="7" name="Shape 4"/>
          <p:cNvSpPr/>
          <p:nvPr/>
        </p:nvSpPr>
        <p:spPr>
          <a:xfrm>
            <a:off x="7900416" y="2276856"/>
            <a:ext cx="155448" cy="0"/>
          </a:xfrm>
          <a:prstGeom prst="line">
            <a:avLst/>
          </a:prstGeom>
          <a:noFill/>
          <a:ln w="15875">
            <a:solidFill>
              <a:schemeClr val="accent1"/>
            </a:solidFill>
            <a:prstDash val="solid"/>
          </a:ln>
        </p:spPr>
      </p:sp>
      <p:sp>
        <p:nvSpPr>
          <p:cNvPr id="8" name="Shape 5"/>
          <p:cNvSpPr/>
          <p:nvPr/>
        </p:nvSpPr>
        <p:spPr>
          <a:xfrm>
            <a:off x="7900416" y="2276856"/>
            <a:ext cx="0" cy="155448"/>
          </a:xfrm>
          <a:prstGeom prst="line">
            <a:avLst/>
          </a:prstGeom>
          <a:noFill/>
          <a:ln w="15875">
            <a:solidFill>
              <a:schemeClr val="accent1"/>
            </a:solidFill>
            <a:prstDash val="solid"/>
          </a:ln>
        </p:spPr>
      </p:sp>
      <p:sp>
        <p:nvSpPr>
          <p:cNvPr id="9" name="Shape 6"/>
          <p:cNvSpPr/>
          <p:nvPr/>
        </p:nvSpPr>
        <p:spPr>
          <a:xfrm>
            <a:off x="11542471" y="2276856"/>
            <a:ext cx="155448" cy="0"/>
          </a:xfrm>
          <a:prstGeom prst="line">
            <a:avLst/>
          </a:prstGeom>
          <a:noFill/>
          <a:ln w="15875">
            <a:solidFill>
              <a:schemeClr val="accent1"/>
            </a:solidFill>
            <a:prstDash val="solid"/>
          </a:ln>
        </p:spPr>
      </p:sp>
      <p:sp>
        <p:nvSpPr>
          <p:cNvPr id="10" name="Shape 7"/>
          <p:cNvSpPr/>
          <p:nvPr/>
        </p:nvSpPr>
        <p:spPr>
          <a:xfrm>
            <a:off x="11697919" y="2276856"/>
            <a:ext cx="0" cy="155448"/>
          </a:xfrm>
          <a:prstGeom prst="line">
            <a:avLst/>
          </a:prstGeom>
          <a:noFill/>
          <a:ln w="15875">
            <a:solidFill>
              <a:schemeClr val="accent1"/>
            </a:solidFill>
            <a:prstDash val="solid"/>
          </a:ln>
        </p:spPr>
      </p:sp>
      <p:sp>
        <p:nvSpPr>
          <p:cNvPr id="11" name="Shape 8"/>
          <p:cNvSpPr/>
          <p:nvPr/>
        </p:nvSpPr>
        <p:spPr>
          <a:xfrm>
            <a:off x="7900416" y="6227064"/>
            <a:ext cx="155448" cy="0"/>
          </a:xfrm>
          <a:prstGeom prst="line">
            <a:avLst/>
          </a:prstGeom>
          <a:noFill/>
          <a:ln w="15875">
            <a:solidFill>
              <a:schemeClr val="accent1"/>
            </a:solidFill>
            <a:prstDash val="solid"/>
          </a:ln>
        </p:spPr>
      </p:sp>
      <p:sp>
        <p:nvSpPr>
          <p:cNvPr id="12" name="Shape 9"/>
          <p:cNvSpPr/>
          <p:nvPr/>
        </p:nvSpPr>
        <p:spPr>
          <a:xfrm>
            <a:off x="7900416" y="6071616"/>
            <a:ext cx="0" cy="155448"/>
          </a:xfrm>
          <a:prstGeom prst="line">
            <a:avLst/>
          </a:prstGeom>
          <a:noFill/>
          <a:ln w="15875">
            <a:solidFill>
              <a:schemeClr val="accent1"/>
            </a:solidFill>
            <a:prstDash val="solid"/>
          </a:ln>
        </p:spPr>
      </p:sp>
      <p:sp>
        <p:nvSpPr>
          <p:cNvPr id="13" name="Shape 10"/>
          <p:cNvSpPr/>
          <p:nvPr/>
        </p:nvSpPr>
        <p:spPr>
          <a:xfrm>
            <a:off x="11542471" y="6227064"/>
            <a:ext cx="155448" cy="0"/>
          </a:xfrm>
          <a:prstGeom prst="line">
            <a:avLst/>
          </a:prstGeom>
          <a:noFill/>
          <a:ln w="15875">
            <a:solidFill>
              <a:schemeClr val="accent1"/>
            </a:solidFill>
            <a:prstDash val="solid"/>
          </a:ln>
        </p:spPr>
      </p:sp>
      <p:sp>
        <p:nvSpPr>
          <p:cNvPr id="14" name="Shape 11"/>
          <p:cNvSpPr/>
          <p:nvPr/>
        </p:nvSpPr>
        <p:spPr>
          <a:xfrm>
            <a:off x="11697919" y="6071616"/>
            <a:ext cx="0" cy="155448"/>
          </a:xfrm>
          <a:prstGeom prst="line">
            <a:avLst/>
          </a:prstGeom>
          <a:noFill/>
          <a:ln w="15875">
            <a:solidFill>
              <a:schemeClr val="accent1"/>
            </a:solidFill>
            <a:prstDash val="solid"/>
          </a:ln>
        </p:spPr>
      </p:sp>
      <p:sp>
        <p:nvSpPr>
          <p:cNvPr id="15" name="Text 12"/>
          <p:cNvSpPr txBox="1"/>
          <p:nvPr/>
        </p:nvSpPr>
        <p:spPr>
          <a:xfrm>
            <a:off x="8183880" y="2514600"/>
            <a:ext cx="3230575"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PROMEDIO PONDERADO</a:t>
            </a:r>
            <a:endParaRPr lang="es-CL" sz="900" dirty="0"/>
          </a:p>
        </p:txBody>
      </p:sp>
      <p:sp>
        <p:nvSpPr>
          <p:cNvPr id="16" name="Text 13"/>
          <p:cNvSpPr txBox="1"/>
          <p:nvPr/>
        </p:nvSpPr>
        <p:spPr>
          <a:xfrm>
            <a:off x="8183880" y="2651760"/>
            <a:ext cx="3230575" cy="1143000"/>
          </a:xfrm>
          <a:prstGeom prst="rect">
            <a:avLst/>
          </a:prstGeom>
          <a:noFill/>
          <a:ln/>
        </p:spPr>
        <p:txBody>
          <a:bodyPr wrap="square" lIns="0" tIns="0" rIns="0" bIns="0" rtlCol="0" anchor="b"/>
          <a:lstStyle/>
          <a:p>
            <a:pPr indent="0" marL="0">
              <a:buNone/>
            </a:pPr>
            <a:r>
              <a:rPr lang="es-CL" altLang="en-US" sz="9200" b="1" dirty="0">
                <a:solidFill>
                  <a:schemeClr val="accent1"/>
                </a:solidFill>
                <a:latin typeface="Archivo Condensed" pitchFamily="34" charset="0"/>
                <a:ea typeface="Archivo Condensed" pitchFamily="34" charset="-122"/>
                <a:cs typeface="Archivo Condensed" pitchFamily="34" charset="-120"/>
              </a:rPr>
              <a:t>3,49</a:t>
            </a:r>
            <a:endParaRPr lang="es-CL" sz="9200" dirty="0"/>
          </a:p>
        </p:txBody>
      </p:sp>
      <p:sp>
        <p:nvSpPr>
          <p:cNvPr id="17" name="Text 14"/>
          <p:cNvSpPr txBox="1"/>
          <p:nvPr/>
        </p:nvSpPr>
        <p:spPr>
          <a:xfrm>
            <a:off x="8183880" y="3813048"/>
            <a:ext cx="3230575" cy="201168"/>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5 = FUERZA MÁS INTENSA</a:t>
            </a:r>
            <a:endParaRPr lang="es-CL" sz="800" dirty="0"/>
          </a:p>
        </p:txBody>
      </p:sp>
      <p:sp>
        <p:nvSpPr>
          <p:cNvPr id="18" name="Text 15"/>
          <p:cNvSpPr txBox="1"/>
          <p:nvPr/>
        </p:nvSpPr>
        <p:spPr>
          <a:xfrm>
            <a:off x="8183880" y="4087368"/>
            <a:ext cx="3230575"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Industria moderadamente poco atractiva.</a:t>
            </a:r>
            <a:endParaRPr lang="es-CL" sz="1400" dirty="0"/>
          </a:p>
        </p:txBody>
      </p:sp>
      <p:sp>
        <p:nvSpPr>
          <p:cNvPr id="19" name="Shape 16"/>
          <p:cNvSpPr/>
          <p:nvPr/>
        </p:nvSpPr>
        <p:spPr>
          <a:xfrm>
            <a:off x="8183880" y="4526280"/>
            <a:ext cx="3230575" cy="0"/>
          </a:xfrm>
          <a:prstGeom prst="line">
            <a:avLst/>
          </a:prstGeom>
          <a:noFill/>
          <a:ln w="9525">
            <a:solidFill>
              <a:schemeClr val="accent5"/>
            </a:solidFill>
            <a:prstDash val="solid"/>
          </a:ln>
        </p:spPr>
      </p:sp>
      <p:sp>
        <p:nvSpPr>
          <p:cNvPr id="20" name="Text 17"/>
          <p:cNvSpPr txBox="1"/>
          <p:nvPr/>
        </p:nvSpPr>
        <p:spPr>
          <a:xfrm>
            <a:off x="8183880" y="4663440"/>
            <a:ext cx="3230575" cy="1371600"/>
          </a:xfrm>
          <a:prstGeom prst="rect">
            <a:avLst/>
          </a:prstGeom>
          <a:noFill/>
          <a:ln/>
        </p:spPr>
        <p:txBody>
          <a:bodyPr wrap="square" lIns="0" tIns="0" rIns="0" bIns="0" rtlCol="0" anchor="t"/>
          <a:lstStyle/>
          <a:p>
            <a:pPr indent="0" marL="0">
              <a:buNone/>
            </a:pPr>
            <a:r>
              <a:rPr lang="es-CL" altLang="en-US" sz="1300" b="1" dirty="0">
                <a:solidFill>
                  <a:schemeClr val="tx1"/>
                </a:solidFill>
                <a:latin typeface="Figtree" pitchFamily="34" charset="0"/>
                <a:ea typeface="Figtree" pitchFamily="34" charset="-122"/>
                <a:cs typeface="Figtree" pitchFamily="34" charset="-120"/>
              </a:rPr>
              <a:t>Sustitutos y clientes suman 55% </a:t>
            </a:r>
            <a:pPr indent="0" marL="0">
              <a:buNone/>
            </a:pPr>
            <a:r>
              <a:rPr lang="es-CL" altLang="en-US" sz="1300" dirty="0">
                <a:solidFill>
                  <a:schemeClr val="tx2"/>
                </a:solidFill>
                <a:latin typeface="Figtree" pitchFamily="34" charset="0"/>
                <a:ea typeface="Figtree" pitchFamily="34" charset="-122"/>
                <a:cs typeface="Figtree" pitchFamily="34" charset="-120"/>
              </a:rPr>
              <a:t>y operan por la misma causa: el cliente puede quedarse con su auto a costo $0. Las cuotas atacan la causa, la falta de liquidez.</a:t>
            </a:r>
            <a:endParaRPr lang="es-CL" sz="13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08</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ANÁLISIS INTERNO · FACTORES CRÍTICOS DE ÉXITO · FRANCÉS</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FORTALEZA DE DISEÑO,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no de ejecución.</a:t>
            </a:r>
            <a:endParaRPr lang="en-US" sz="3000" dirty="0"/>
          </a:p>
        </p:txBody>
      </p:sp>
      <p:sp>
        <p:nvSpPr>
          <p:cNvPr id="4" name="Text 2"/>
          <p:cNvSpPr txBox="1"/>
          <p:nvPr/>
        </p:nvSpPr>
        <p:spPr>
          <a:xfrm>
            <a:off x="548640" y="2331720"/>
            <a:ext cx="397764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FACTOR CRÍTICO · LÍNEA DEL 06</a:t>
            </a:r>
            <a:endParaRPr lang="es-CL" sz="850" dirty="0"/>
          </a:p>
        </p:txBody>
      </p:sp>
      <p:sp>
        <p:nvSpPr>
          <p:cNvPr id="5" name="Text 3"/>
          <p:cNvSpPr txBox="1"/>
          <p:nvPr/>
        </p:nvSpPr>
        <p:spPr>
          <a:xfrm>
            <a:off x="4617720" y="2331720"/>
            <a:ext cx="141732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HABILIDAD</a:t>
            </a:r>
            <a:endParaRPr lang="es-CL" sz="850" dirty="0"/>
          </a:p>
        </p:txBody>
      </p:sp>
      <p:sp>
        <p:nvSpPr>
          <p:cNvPr id="6" name="Text 4"/>
          <p:cNvSpPr txBox="1"/>
          <p:nvPr/>
        </p:nvSpPr>
        <p:spPr>
          <a:xfrm>
            <a:off x="6126480" y="2331720"/>
            <a:ext cx="141732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RIESGO</a:t>
            </a:r>
            <a:endParaRPr lang="es-CL" sz="850" dirty="0"/>
          </a:p>
        </p:txBody>
      </p:sp>
      <p:sp>
        <p:nvSpPr>
          <p:cNvPr id="7" name="Text 5"/>
          <p:cNvSpPr txBox="1"/>
          <p:nvPr/>
        </p:nvSpPr>
        <p:spPr>
          <a:xfrm>
            <a:off x="7635240" y="2331720"/>
            <a:ext cx="4007815"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ESTADO</a:t>
            </a:r>
            <a:endParaRPr lang="es-CL" sz="850" dirty="0"/>
          </a:p>
        </p:txBody>
      </p:sp>
      <p:sp>
        <p:nvSpPr>
          <p:cNvPr id="8" name="Shape 6"/>
          <p:cNvSpPr/>
          <p:nvPr/>
        </p:nvSpPr>
        <p:spPr>
          <a:xfrm>
            <a:off x="548640" y="2624328"/>
            <a:ext cx="11094415" cy="0"/>
          </a:xfrm>
          <a:prstGeom prst="line">
            <a:avLst/>
          </a:prstGeom>
          <a:noFill/>
          <a:ln w="9525">
            <a:solidFill>
              <a:schemeClr val="accent5"/>
            </a:solidFill>
            <a:prstDash val="solid"/>
          </a:ln>
        </p:spPr>
      </p:sp>
      <p:sp>
        <p:nvSpPr>
          <p:cNvPr id="9" name="Text 7"/>
          <p:cNvSpPr txBox="1"/>
          <p:nvPr/>
        </p:nvSpPr>
        <p:spPr>
          <a:xfrm>
            <a:off x="548640" y="2688336"/>
            <a:ext cx="3977640" cy="256032"/>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Gestión regulatoria e institucional</a:t>
            </a:r>
            <a:endParaRPr lang="es-CL" sz="1400" dirty="0"/>
          </a:p>
        </p:txBody>
      </p:sp>
      <p:sp>
        <p:nvSpPr>
          <p:cNvPr id="10" name="Text 8"/>
          <p:cNvSpPr txBox="1"/>
          <p:nvPr/>
        </p:nvSpPr>
        <p:spPr>
          <a:xfrm>
            <a:off x="548640" y="2953512"/>
            <a:ext cx="3977640" cy="182880"/>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INFRAESTRUCTURA · LIDERAZGO</a:t>
            </a:r>
            <a:endParaRPr lang="es-CL" sz="750" dirty="0"/>
          </a:p>
        </p:txBody>
      </p:sp>
      <p:sp>
        <p:nvSpPr>
          <p:cNvPr id="11" name="Shape 9"/>
          <p:cNvSpPr/>
          <p:nvPr/>
        </p:nvSpPr>
        <p:spPr>
          <a:xfrm>
            <a:off x="4617720" y="2830068"/>
            <a:ext cx="137160" cy="137160"/>
          </a:xfrm>
          <a:prstGeom prst="rect">
            <a:avLst/>
          </a:prstGeom>
          <a:solidFill>
            <a:schemeClr val="accent4"/>
          </a:solidFill>
          <a:ln w="6350">
            <a:solidFill>
              <a:schemeClr val="accent4"/>
            </a:solidFill>
            <a:prstDash val="solid"/>
          </a:ln>
        </p:spPr>
      </p:sp>
      <p:sp>
        <p:nvSpPr>
          <p:cNvPr id="12" name="Shape 10"/>
          <p:cNvSpPr/>
          <p:nvPr/>
        </p:nvSpPr>
        <p:spPr>
          <a:xfrm>
            <a:off x="4800600" y="2830068"/>
            <a:ext cx="137160" cy="137160"/>
          </a:xfrm>
          <a:prstGeom prst="rect">
            <a:avLst/>
          </a:prstGeom>
          <a:solidFill>
            <a:schemeClr val="accent4"/>
          </a:solidFill>
          <a:ln w="6350">
            <a:solidFill>
              <a:schemeClr val="accent4"/>
            </a:solidFill>
            <a:prstDash val="solid"/>
          </a:ln>
        </p:spPr>
      </p:sp>
      <p:sp>
        <p:nvSpPr>
          <p:cNvPr id="13" name="Shape 11"/>
          <p:cNvSpPr/>
          <p:nvPr/>
        </p:nvSpPr>
        <p:spPr>
          <a:xfrm>
            <a:off x="4983480" y="2830068"/>
            <a:ext cx="137160" cy="137160"/>
          </a:xfrm>
          <a:prstGeom prst="rect">
            <a:avLst/>
          </a:prstGeom>
          <a:solidFill>
            <a:schemeClr val="accent6"/>
          </a:solidFill>
          <a:ln w="6350">
            <a:solidFill>
              <a:schemeClr val="accent5"/>
            </a:solidFill>
            <a:prstDash val="solid"/>
          </a:ln>
        </p:spPr>
      </p:sp>
      <p:sp>
        <p:nvSpPr>
          <p:cNvPr id="14" name="Shape 12"/>
          <p:cNvSpPr/>
          <p:nvPr/>
        </p:nvSpPr>
        <p:spPr>
          <a:xfrm>
            <a:off x="5166360" y="2830068"/>
            <a:ext cx="137160" cy="137160"/>
          </a:xfrm>
          <a:prstGeom prst="rect">
            <a:avLst/>
          </a:prstGeom>
          <a:solidFill>
            <a:schemeClr val="accent6"/>
          </a:solidFill>
          <a:ln w="6350">
            <a:solidFill>
              <a:schemeClr val="accent5"/>
            </a:solidFill>
            <a:prstDash val="solid"/>
          </a:ln>
        </p:spPr>
      </p:sp>
      <p:sp>
        <p:nvSpPr>
          <p:cNvPr id="15" name="Shape 13"/>
          <p:cNvSpPr/>
          <p:nvPr/>
        </p:nvSpPr>
        <p:spPr>
          <a:xfrm>
            <a:off x="5349240" y="2830068"/>
            <a:ext cx="137160" cy="137160"/>
          </a:xfrm>
          <a:prstGeom prst="rect">
            <a:avLst/>
          </a:prstGeom>
          <a:solidFill>
            <a:schemeClr val="accent6"/>
          </a:solidFill>
          <a:ln w="6350">
            <a:solidFill>
              <a:schemeClr val="accent5"/>
            </a:solidFill>
            <a:prstDash val="solid"/>
          </a:ln>
        </p:spPr>
      </p:sp>
      <p:sp>
        <p:nvSpPr>
          <p:cNvPr id="16" name="Text 14"/>
          <p:cNvSpPr txBox="1"/>
          <p:nvPr/>
        </p:nvSpPr>
        <p:spPr>
          <a:xfrm>
            <a:off x="5577840" y="262432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17" name="Shape 15"/>
          <p:cNvSpPr/>
          <p:nvPr/>
        </p:nvSpPr>
        <p:spPr>
          <a:xfrm>
            <a:off x="6126480" y="2830068"/>
            <a:ext cx="137160" cy="137160"/>
          </a:xfrm>
          <a:prstGeom prst="rect">
            <a:avLst/>
          </a:prstGeom>
          <a:solidFill>
            <a:schemeClr val="accent4"/>
          </a:solidFill>
          <a:ln w="6350">
            <a:solidFill>
              <a:schemeClr val="accent4"/>
            </a:solidFill>
            <a:prstDash val="solid"/>
          </a:ln>
        </p:spPr>
      </p:sp>
      <p:sp>
        <p:nvSpPr>
          <p:cNvPr id="18" name="Shape 16"/>
          <p:cNvSpPr/>
          <p:nvPr/>
        </p:nvSpPr>
        <p:spPr>
          <a:xfrm>
            <a:off x="6309360" y="2830068"/>
            <a:ext cx="137160" cy="137160"/>
          </a:xfrm>
          <a:prstGeom prst="rect">
            <a:avLst/>
          </a:prstGeom>
          <a:solidFill>
            <a:schemeClr val="accent4"/>
          </a:solidFill>
          <a:ln w="6350">
            <a:solidFill>
              <a:schemeClr val="accent4"/>
            </a:solidFill>
            <a:prstDash val="solid"/>
          </a:ln>
        </p:spPr>
      </p:sp>
      <p:sp>
        <p:nvSpPr>
          <p:cNvPr id="19" name="Shape 17"/>
          <p:cNvSpPr/>
          <p:nvPr/>
        </p:nvSpPr>
        <p:spPr>
          <a:xfrm>
            <a:off x="6492240" y="2830068"/>
            <a:ext cx="137160" cy="137160"/>
          </a:xfrm>
          <a:prstGeom prst="rect">
            <a:avLst/>
          </a:prstGeom>
          <a:solidFill>
            <a:schemeClr val="accent6"/>
          </a:solidFill>
          <a:ln w="6350">
            <a:solidFill>
              <a:schemeClr val="accent5"/>
            </a:solidFill>
            <a:prstDash val="solid"/>
          </a:ln>
        </p:spPr>
      </p:sp>
      <p:sp>
        <p:nvSpPr>
          <p:cNvPr id="20" name="Shape 18"/>
          <p:cNvSpPr/>
          <p:nvPr/>
        </p:nvSpPr>
        <p:spPr>
          <a:xfrm>
            <a:off x="6675120" y="2830068"/>
            <a:ext cx="137160" cy="137160"/>
          </a:xfrm>
          <a:prstGeom prst="rect">
            <a:avLst/>
          </a:prstGeom>
          <a:solidFill>
            <a:schemeClr val="accent6"/>
          </a:solidFill>
          <a:ln w="6350">
            <a:solidFill>
              <a:schemeClr val="accent5"/>
            </a:solidFill>
            <a:prstDash val="solid"/>
          </a:ln>
        </p:spPr>
      </p:sp>
      <p:sp>
        <p:nvSpPr>
          <p:cNvPr id="21" name="Shape 19"/>
          <p:cNvSpPr/>
          <p:nvPr/>
        </p:nvSpPr>
        <p:spPr>
          <a:xfrm>
            <a:off x="6858000" y="2830068"/>
            <a:ext cx="137160" cy="137160"/>
          </a:xfrm>
          <a:prstGeom prst="rect">
            <a:avLst/>
          </a:prstGeom>
          <a:solidFill>
            <a:schemeClr val="accent6"/>
          </a:solidFill>
          <a:ln w="6350">
            <a:solidFill>
              <a:schemeClr val="accent5"/>
            </a:solidFill>
            <a:prstDash val="solid"/>
          </a:ln>
        </p:spPr>
      </p:sp>
      <p:sp>
        <p:nvSpPr>
          <p:cNvPr id="22" name="Text 20"/>
          <p:cNvSpPr txBox="1"/>
          <p:nvPr/>
        </p:nvSpPr>
        <p:spPr>
          <a:xfrm>
            <a:off x="7086600" y="262432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23" name="Text 21"/>
          <p:cNvSpPr txBox="1"/>
          <p:nvPr/>
        </p:nvSpPr>
        <p:spPr>
          <a:xfrm>
            <a:off x="7635240" y="2624328"/>
            <a:ext cx="2133295" cy="54864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Sin interlocución formal con la autoridad</a:t>
            </a:r>
            <a:endParaRPr lang="es-CL" sz="1200" dirty="0"/>
          </a:p>
        </p:txBody>
      </p:sp>
      <p:sp>
        <p:nvSpPr>
          <p:cNvPr id="24" name="Shape 22"/>
          <p:cNvSpPr/>
          <p:nvPr/>
        </p:nvSpPr>
        <p:spPr>
          <a:xfrm>
            <a:off x="9859975" y="2779776"/>
            <a:ext cx="1783080" cy="237744"/>
          </a:xfrm>
          <a:prstGeom prst="rect">
            <a:avLst/>
          </a:prstGeom>
          <a:solidFill>
            <a:schemeClr val="bg1">
              <a:alpha val="0"/>
            </a:schemeClr>
          </a:solidFill>
          <a:ln w="9525">
            <a:solidFill>
              <a:schemeClr val="accent3"/>
            </a:solidFill>
            <a:prstDash val="dash"/>
          </a:ln>
        </p:spPr>
      </p:sp>
      <p:sp>
        <p:nvSpPr>
          <p:cNvPr id="25" name="Text 23"/>
          <p:cNvSpPr txBox="1"/>
          <p:nvPr/>
        </p:nvSpPr>
        <p:spPr>
          <a:xfrm>
            <a:off x="9951415" y="2779776"/>
            <a:ext cx="1600200" cy="237744"/>
          </a:xfrm>
          <a:prstGeom prst="rect">
            <a:avLst/>
          </a:prstGeom>
          <a:noFill/>
          <a:ln/>
        </p:spPr>
        <p:txBody>
          <a:bodyPr wrap="square" lIns="0" tIns="0" rIns="0" bIns="0" rtlCol="0" anchor="ctr">
            <a:normAutofit/>
          </a:bodyPr>
          <a:lstStyle/>
          <a:p>
            <a:pPr indent="0" marL="0">
              <a:buNone/>
            </a:pPr>
            <a:r>
              <a:rPr lang="es-CL" altLang="en-US" sz="750" spc="120" kern="0" dirty="0">
                <a:solidFill>
                  <a:schemeClr val="accent3"/>
                </a:solidFill>
                <a:latin typeface="IBM Plex Mono" pitchFamily="34" charset="0"/>
                <a:ea typeface="IBM Plex Mono" pitchFamily="34" charset="-122"/>
                <a:cs typeface="IBM Plex Mono" pitchFamily="34" charset="-120"/>
              </a:rPr>
              <a:t>CONDICIÓN DE ENTRADA</a:t>
            </a:r>
            <a:endParaRPr lang="es-CL" sz="750" dirty="0"/>
          </a:p>
        </p:txBody>
      </p:sp>
      <p:sp>
        <p:nvSpPr>
          <p:cNvPr id="26" name="Shape 24"/>
          <p:cNvSpPr/>
          <p:nvPr/>
        </p:nvSpPr>
        <p:spPr>
          <a:xfrm>
            <a:off x="548640" y="3172968"/>
            <a:ext cx="11094415" cy="0"/>
          </a:xfrm>
          <a:prstGeom prst="line">
            <a:avLst/>
          </a:prstGeom>
          <a:noFill/>
          <a:ln w="9525">
            <a:solidFill>
              <a:schemeClr val="accent5"/>
            </a:solidFill>
            <a:prstDash val="solid"/>
          </a:ln>
        </p:spPr>
      </p:sp>
      <p:sp>
        <p:nvSpPr>
          <p:cNvPr id="27" name="Text 25"/>
          <p:cNvSpPr txBox="1"/>
          <p:nvPr/>
        </p:nvSpPr>
        <p:spPr>
          <a:xfrm>
            <a:off x="548640" y="3236976"/>
            <a:ext cx="3977640" cy="256032"/>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Financiamiento en el punto de venta</a:t>
            </a:r>
            <a:endParaRPr lang="es-CL" sz="1400" dirty="0"/>
          </a:p>
        </p:txBody>
      </p:sp>
      <p:sp>
        <p:nvSpPr>
          <p:cNvPr id="28" name="Text 26"/>
          <p:cNvSpPr txBox="1"/>
          <p:nvPr/>
        </p:nvSpPr>
        <p:spPr>
          <a:xfrm>
            <a:off x="548640" y="3502152"/>
            <a:ext cx="3977640" cy="182880"/>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FINANZAS · COMUNIDAD FINANCIERA</a:t>
            </a:r>
            <a:endParaRPr lang="es-CL" sz="750" dirty="0"/>
          </a:p>
        </p:txBody>
      </p:sp>
      <p:sp>
        <p:nvSpPr>
          <p:cNvPr id="29" name="Shape 27"/>
          <p:cNvSpPr/>
          <p:nvPr/>
        </p:nvSpPr>
        <p:spPr>
          <a:xfrm>
            <a:off x="4617720" y="3378708"/>
            <a:ext cx="137160" cy="137160"/>
          </a:xfrm>
          <a:prstGeom prst="rect">
            <a:avLst/>
          </a:prstGeom>
          <a:solidFill>
            <a:schemeClr val="tx2"/>
          </a:solidFill>
          <a:ln w="6350">
            <a:solidFill>
              <a:schemeClr val="tx2"/>
            </a:solidFill>
            <a:prstDash val="solid"/>
          </a:ln>
        </p:spPr>
      </p:sp>
      <p:sp>
        <p:nvSpPr>
          <p:cNvPr id="30" name="Shape 28"/>
          <p:cNvSpPr/>
          <p:nvPr/>
        </p:nvSpPr>
        <p:spPr>
          <a:xfrm>
            <a:off x="4800600" y="3378708"/>
            <a:ext cx="137160" cy="137160"/>
          </a:xfrm>
          <a:prstGeom prst="rect">
            <a:avLst/>
          </a:prstGeom>
          <a:solidFill>
            <a:schemeClr val="tx2"/>
          </a:solidFill>
          <a:ln w="6350">
            <a:solidFill>
              <a:schemeClr val="tx2"/>
            </a:solidFill>
            <a:prstDash val="solid"/>
          </a:ln>
        </p:spPr>
      </p:sp>
      <p:sp>
        <p:nvSpPr>
          <p:cNvPr id="31" name="Shape 29"/>
          <p:cNvSpPr/>
          <p:nvPr/>
        </p:nvSpPr>
        <p:spPr>
          <a:xfrm>
            <a:off x="4983480" y="3378708"/>
            <a:ext cx="137160" cy="137160"/>
          </a:xfrm>
          <a:prstGeom prst="rect">
            <a:avLst/>
          </a:prstGeom>
          <a:solidFill>
            <a:schemeClr val="tx2"/>
          </a:solidFill>
          <a:ln w="6350">
            <a:solidFill>
              <a:schemeClr val="tx2"/>
            </a:solidFill>
            <a:prstDash val="solid"/>
          </a:ln>
        </p:spPr>
      </p:sp>
      <p:sp>
        <p:nvSpPr>
          <p:cNvPr id="32" name="Shape 30"/>
          <p:cNvSpPr/>
          <p:nvPr/>
        </p:nvSpPr>
        <p:spPr>
          <a:xfrm>
            <a:off x="5166360" y="3378708"/>
            <a:ext cx="137160" cy="137160"/>
          </a:xfrm>
          <a:prstGeom prst="rect">
            <a:avLst/>
          </a:prstGeom>
          <a:solidFill>
            <a:schemeClr val="accent6"/>
          </a:solidFill>
          <a:ln w="6350">
            <a:solidFill>
              <a:schemeClr val="accent5"/>
            </a:solidFill>
            <a:prstDash val="solid"/>
          </a:ln>
        </p:spPr>
      </p:sp>
      <p:sp>
        <p:nvSpPr>
          <p:cNvPr id="33" name="Shape 31"/>
          <p:cNvSpPr/>
          <p:nvPr/>
        </p:nvSpPr>
        <p:spPr>
          <a:xfrm>
            <a:off x="5349240" y="3378708"/>
            <a:ext cx="137160" cy="137160"/>
          </a:xfrm>
          <a:prstGeom prst="rect">
            <a:avLst/>
          </a:prstGeom>
          <a:solidFill>
            <a:schemeClr val="accent6"/>
          </a:solidFill>
          <a:ln w="6350">
            <a:solidFill>
              <a:schemeClr val="accent5"/>
            </a:solidFill>
            <a:prstDash val="solid"/>
          </a:ln>
        </p:spPr>
      </p:sp>
      <p:sp>
        <p:nvSpPr>
          <p:cNvPr id="34" name="Text 32"/>
          <p:cNvSpPr txBox="1"/>
          <p:nvPr/>
        </p:nvSpPr>
        <p:spPr>
          <a:xfrm>
            <a:off x="5577840" y="3172968"/>
            <a:ext cx="365760" cy="548640"/>
          </a:xfrm>
          <a:prstGeom prst="rect">
            <a:avLst/>
          </a:prstGeom>
          <a:noFill/>
          <a:ln/>
        </p:spPr>
        <p:txBody>
          <a:bodyPr wrap="square" lIns="0" tIns="0" rIns="0" bIns="0" rtlCol="0" anchor="ctr"/>
          <a:lstStyle/>
          <a:p>
            <a:pPr indent="0" marL="0">
              <a:buNone/>
            </a:pPr>
            <a:r>
              <a:rPr lang="es-CL" altLang="en-US" sz="1800" b="1" dirty="0">
                <a:solidFill>
                  <a:schemeClr val="tx2"/>
                </a:solidFill>
                <a:latin typeface="Archivo Condensed" pitchFamily="34" charset="0"/>
                <a:ea typeface="Archivo Condensed" pitchFamily="34" charset="-122"/>
                <a:cs typeface="Archivo Condensed" pitchFamily="34" charset="-120"/>
              </a:rPr>
              <a:t>3</a:t>
            </a:r>
            <a:endParaRPr lang="es-CL" sz="1800" dirty="0"/>
          </a:p>
        </p:txBody>
      </p:sp>
      <p:sp>
        <p:nvSpPr>
          <p:cNvPr id="35" name="Shape 33"/>
          <p:cNvSpPr/>
          <p:nvPr/>
        </p:nvSpPr>
        <p:spPr>
          <a:xfrm>
            <a:off x="6126480" y="3378708"/>
            <a:ext cx="137160" cy="137160"/>
          </a:xfrm>
          <a:prstGeom prst="rect">
            <a:avLst/>
          </a:prstGeom>
          <a:solidFill>
            <a:schemeClr val="accent4"/>
          </a:solidFill>
          <a:ln w="6350">
            <a:solidFill>
              <a:schemeClr val="accent4"/>
            </a:solidFill>
            <a:prstDash val="solid"/>
          </a:ln>
        </p:spPr>
      </p:sp>
      <p:sp>
        <p:nvSpPr>
          <p:cNvPr id="36" name="Shape 34"/>
          <p:cNvSpPr/>
          <p:nvPr/>
        </p:nvSpPr>
        <p:spPr>
          <a:xfrm>
            <a:off x="6309360" y="3378708"/>
            <a:ext cx="137160" cy="137160"/>
          </a:xfrm>
          <a:prstGeom prst="rect">
            <a:avLst/>
          </a:prstGeom>
          <a:solidFill>
            <a:schemeClr val="accent4"/>
          </a:solidFill>
          <a:ln w="6350">
            <a:solidFill>
              <a:schemeClr val="accent4"/>
            </a:solidFill>
            <a:prstDash val="solid"/>
          </a:ln>
        </p:spPr>
      </p:sp>
      <p:sp>
        <p:nvSpPr>
          <p:cNvPr id="37" name="Shape 35"/>
          <p:cNvSpPr/>
          <p:nvPr/>
        </p:nvSpPr>
        <p:spPr>
          <a:xfrm>
            <a:off x="6492240" y="3378708"/>
            <a:ext cx="137160" cy="137160"/>
          </a:xfrm>
          <a:prstGeom prst="rect">
            <a:avLst/>
          </a:prstGeom>
          <a:solidFill>
            <a:schemeClr val="accent6"/>
          </a:solidFill>
          <a:ln w="6350">
            <a:solidFill>
              <a:schemeClr val="accent5"/>
            </a:solidFill>
            <a:prstDash val="solid"/>
          </a:ln>
        </p:spPr>
      </p:sp>
      <p:sp>
        <p:nvSpPr>
          <p:cNvPr id="38" name="Shape 36"/>
          <p:cNvSpPr/>
          <p:nvPr/>
        </p:nvSpPr>
        <p:spPr>
          <a:xfrm>
            <a:off x="6675120" y="3378708"/>
            <a:ext cx="137160" cy="137160"/>
          </a:xfrm>
          <a:prstGeom prst="rect">
            <a:avLst/>
          </a:prstGeom>
          <a:solidFill>
            <a:schemeClr val="accent6"/>
          </a:solidFill>
          <a:ln w="6350">
            <a:solidFill>
              <a:schemeClr val="accent5"/>
            </a:solidFill>
            <a:prstDash val="solid"/>
          </a:ln>
        </p:spPr>
      </p:sp>
      <p:sp>
        <p:nvSpPr>
          <p:cNvPr id="39" name="Shape 37"/>
          <p:cNvSpPr/>
          <p:nvPr/>
        </p:nvSpPr>
        <p:spPr>
          <a:xfrm>
            <a:off x="6858000" y="3378708"/>
            <a:ext cx="137160" cy="137160"/>
          </a:xfrm>
          <a:prstGeom prst="rect">
            <a:avLst/>
          </a:prstGeom>
          <a:solidFill>
            <a:schemeClr val="accent6"/>
          </a:solidFill>
          <a:ln w="6350">
            <a:solidFill>
              <a:schemeClr val="accent5"/>
            </a:solidFill>
            <a:prstDash val="solid"/>
          </a:ln>
        </p:spPr>
      </p:sp>
      <p:sp>
        <p:nvSpPr>
          <p:cNvPr id="40" name="Text 38"/>
          <p:cNvSpPr txBox="1"/>
          <p:nvPr/>
        </p:nvSpPr>
        <p:spPr>
          <a:xfrm>
            <a:off x="7086600" y="317296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41" name="Text 39"/>
          <p:cNvSpPr txBox="1"/>
          <p:nvPr/>
        </p:nvSpPr>
        <p:spPr>
          <a:xfrm>
            <a:off x="7635240" y="3172968"/>
            <a:ext cx="2133295" cy="54864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Sin convenio</a:t>
            </a:r>
            <a:endParaRPr lang="es-CL" sz="1200" dirty="0"/>
          </a:p>
        </p:txBody>
      </p:sp>
      <p:sp>
        <p:nvSpPr>
          <p:cNvPr id="42" name="Shape 40"/>
          <p:cNvSpPr/>
          <p:nvPr/>
        </p:nvSpPr>
        <p:spPr>
          <a:xfrm>
            <a:off x="9859975" y="3328416"/>
            <a:ext cx="1783080" cy="237744"/>
          </a:xfrm>
          <a:prstGeom prst="rect">
            <a:avLst/>
          </a:prstGeom>
          <a:solidFill>
            <a:schemeClr val="bg1">
              <a:alpha val="0"/>
            </a:schemeClr>
          </a:solidFill>
          <a:ln w="9525">
            <a:solidFill>
              <a:schemeClr val="accent3"/>
            </a:solidFill>
            <a:prstDash val="dash"/>
          </a:ln>
        </p:spPr>
      </p:sp>
      <p:sp>
        <p:nvSpPr>
          <p:cNvPr id="43" name="Text 41"/>
          <p:cNvSpPr txBox="1"/>
          <p:nvPr/>
        </p:nvSpPr>
        <p:spPr>
          <a:xfrm>
            <a:off x="9951415" y="3328416"/>
            <a:ext cx="1600200" cy="237744"/>
          </a:xfrm>
          <a:prstGeom prst="rect">
            <a:avLst/>
          </a:prstGeom>
          <a:noFill/>
          <a:ln/>
        </p:spPr>
        <p:txBody>
          <a:bodyPr wrap="square" lIns="0" tIns="0" rIns="0" bIns="0" rtlCol="0" anchor="ctr">
            <a:normAutofit/>
          </a:bodyPr>
          <a:lstStyle/>
          <a:p>
            <a:pPr indent="0" marL="0">
              <a:buNone/>
            </a:pPr>
            <a:r>
              <a:rPr lang="es-CL" altLang="en-US" sz="750" spc="120" kern="0" dirty="0">
                <a:solidFill>
                  <a:schemeClr val="accent3"/>
                </a:solidFill>
                <a:latin typeface="IBM Plex Mono" pitchFamily="34" charset="0"/>
                <a:ea typeface="IBM Plex Mono" pitchFamily="34" charset="-122"/>
                <a:cs typeface="IBM Plex Mono" pitchFamily="34" charset="-120"/>
              </a:rPr>
              <a:t>CONDICIÓN DE ENTRADA</a:t>
            </a:r>
            <a:endParaRPr lang="es-CL" sz="750" dirty="0"/>
          </a:p>
        </p:txBody>
      </p:sp>
      <p:sp>
        <p:nvSpPr>
          <p:cNvPr id="44" name="Shape 42"/>
          <p:cNvSpPr/>
          <p:nvPr/>
        </p:nvSpPr>
        <p:spPr>
          <a:xfrm>
            <a:off x="548640" y="3721608"/>
            <a:ext cx="11094415" cy="0"/>
          </a:xfrm>
          <a:prstGeom prst="line">
            <a:avLst/>
          </a:prstGeom>
          <a:noFill/>
          <a:ln w="9525">
            <a:solidFill>
              <a:schemeClr val="accent5"/>
            </a:solidFill>
            <a:prstDash val="solid"/>
          </a:ln>
        </p:spPr>
      </p:sp>
      <p:sp>
        <p:nvSpPr>
          <p:cNvPr id="45" name="Text 43"/>
          <p:cNvSpPr txBox="1"/>
          <p:nvPr/>
        </p:nvSpPr>
        <p:spPr>
          <a:xfrm>
            <a:off x="548640" y="3785616"/>
            <a:ext cx="3977640" cy="256032"/>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Ingeniería de integración y calibración</a:t>
            </a:r>
            <a:endParaRPr lang="es-CL" sz="1400" dirty="0"/>
          </a:p>
        </p:txBody>
      </p:sp>
      <p:sp>
        <p:nvSpPr>
          <p:cNvPr id="46" name="Text 44"/>
          <p:cNvSpPr txBox="1"/>
          <p:nvPr/>
        </p:nvSpPr>
        <p:spPr>
          <a:xfrm>
            <a:off x="548640" y="4050792"/>
            <a:ext cx="3977640" cy="182880"/>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FABRICACIÓN · INTEGRACIÓN</a:t>
            </a:r>
            <a:endParaRPr lang="es-CL" sz="750" dirty="0"/>
          </a:p>
        </p:txBody>
      </p:sp>
      <p:sp>
        <p:nvSpPr>
          <p:cNvPr id="47" name="Shape 45"/>
          <p:cNvSpPr/>
          <p:nvPr/>
        </p:nvSpPr>
        <p:spPr>
          <a:xfrm>
            <a:off x="4617720" y="3927348"/>
            <a:ext cx="137160" cy="137160"/>
          </a:xfrm>
          <a:prstGeom prst="rect">
            <a:avLst/>
          </a:prstGeom>
          <a:solidFill>
            <a:schemeClr val="accent1"/>
          </a:solidFill>
          <a:ln w="6350">
            <a:solidFill>
              <a:schemeClr val="accent1"/>
            </a:solidFill>
            <a:prstDash val="solid"/>
          </a:ln>
        </p:spPr>
      </p:sp>
      <p:sp>
        <p:nvSpPr>
          <p:cNvPr id="48" name="Shape 46"/>
          <p:cNvSpPr/>
          <p:nvPr/>
        </p:nvSpPr>
        <p:spPr>
          <a:xfrm>
            <a:off x="4800600" y="3927348"/>
            <a:ext cx="137160" cy="137160"/>
          </a:xfrm>
          <a:prstGeom prst="rect">
            <a:avLst/>
          </a:prstGeom>
          <a:solidFill>
            <a:schemeClr val="accent1"/>
          </a:solidFill>
          <a:ln w="6350">
            <a:solidFill>
              <a:schemeClr val="accent1"/>
            </a:solidFill>
            <a:prstDash val="solid"/>
          </a:ln>
        </p:spPr>
      </p:sp>
      <p:sp>
        <p:nvSpPr>
          <p:cNvPr id="49" name="Shape 47"/>
          <p:cNvSpPr/>
          <p:nvPr/>
        </p:nvSpPr>
        <p:spPr>
          <a:xfrm>
            <a:off x="4983480" y="3927348"/>
            <a:ext cx="137160" cy="137160"/>
          </a:xfrm>
          <a:prstGeom prst="rect">
            <a:avLst/>
          </a:prstGeom>
          <a:solidFill>
            <a:schemeClr val="accent1"/>
          </a:solidFill>
          <a:ln w="6350">
            <a:solidFill>
              <a:schemeClr val="accent1"/>
            </a:solidFill>
            <a:prstDash val="solid"/>
          </a:ln>
        </p:spPr>
      </p:sp>
      <p:sp>
        <p:nvSpPr>
          <p:cNvPr id="50" name="Shape 48"/>
          <p:cNvSpPr/>
          <p:nvPr/>
        </p:nvSpPr>
        <p:spPr>
          <a:xfrm>
            <a:off x="5166360" y="3927348"/>
            <a:ext cx="137160" cy="137160"/>
          </a:xfrm>
          <a:prstGeom prst="rect">
            <a:avLst/>
          </a:prstGeom>
          <a:solidFill>
            <a:schemeClr val="accent1"/>
          </a:solidFill>
          <a:ln w="6350">
            <a:solidFill>
              <a:schemeClr val="accent1"/>
            </a:solidFill>
            <a:prstDash val="solid"/>
          </a:ln>
        </p:spPr>
      </p:sp>
      <p:sp>
        <p:nvSpPr>
          <p:cNvPr id="51" name="Shape 49"/>
          <p:cNvSpPr/>
          <p:nvPr/>
        </p:nvSpPr>
        <p:spPr>
          <a:xfrm>
            <a:off x="5349240" y="3927348"/>
            <a:ext cx="137160" cy="137160"/>
          </a:xfrm>
          <a:prstGeom prst="rect">
            <a:avLst/>
          </a:prstGeom>
          <a:solidFill>
            <a:schemeClr val="accent6"/>
          </a:solidFill>
          <a:ln w="6350">
            <a:solidFill>
              <a:schemeClr val="accent5"/>
            </a:solidFill>
            <a:prstDash val="solid"/>
          </a:ln>
        </p:spPr>
      </p:sp>
      <p:sp>
        <p:nvSpPr>
          <p:cNvPr id="52" name="Text 50"/>
          <p:cNvSpPr txBox="1"/>
          <p:nvPr/>
        </p:nvSpPr>
        <p:spPr>
          <a:xfrm>
            <a:off x="5577840" y="3721608"/>
            <a:ext cx="365760" cy="548640"/>
          </a:xfrm>
          <a:prstGeom prst="rect">
            <a:avLst/>
          </a:prstGeom>
          <a:noFill/>
          <a:ln/>
        </p:spPr>
        <p:txBody>
          <a:bodyPr wrap="square" lIns="0" tIns="0" rIns="0" bIns="0" rtlCol="0" anchor="ctr"/>
          <a:lstStyle/>
          <a:p>
            <a:pPr indent="0" marL="0">
              <a:buNone/>
            </a:pPr>
            <a:r>
              <a:rPr lang="es-CL" altLang="en-US" sz="1800" b="1" dirty="0">
                <a:solidFill>
                  <a:schemeClr val="accent1"/>
                </a:solidFill>
                <a:latin typeface="Archivo Condensed" pitchFamily="34" charset="0"/>
                <a:ea typeface="Archivo Condensed" pitchFamily="34" charset="-122"/>
                <a:cs typeface="Archivo Condensed" pitchFamily="34" charset="-120"/>
              </a:rPr>
              <a:t>4</a:t>
            </a:r>
            <a:endParaRPr lang="es-CL" sz="1800" dirty="0"/>
          </a:p>
        </p:txBody>
      </p:sp>
      <p:sp>
        <p:nvSpPr>
          <p:cNvPr id="53" name="Shape 51"/>
          <p:cNvSpPr/>
          <p:nvPr/>
        </p:nvSpPr>
        <p:spPr>
          <a:xfrm>
            <a:off x="6126480" y="3927348"/>
            <a:ext cx="137160" cy="137160"/>
          </a:xfrm>
          <a:prstGeom prst="rect">
            <a:avLst/>
          </a:prstGeom>
          <a:solidFill>
            <a:schemeClr val="accent4"/>
          </a:solidFill>
          <a:ln w="6350">
            <a:solidFill>
              <a:schemeClr val="accent4"/>
            </a:solidFill>
            <a:prstDash val="solid"/>
          </a:ln>
        </p:spPr>
      </p:sp>
      <p:sp>
        <p:nvSpPr>
          <p:cNvPr id="54" name="Shape 52"/>
          <p:cNvSpPr/>
          <p:nvPr/>
        </p:nvSpPr>
        <p:spPr>
          <a:xfrm>
            <a:off x="6309360" y="3927348"/>
            <a:ext cx="137160" cy="137160"/>
          </a:xfrm>
          <a:prstGeom prst="rect">
            <a:avLst/>
          </a:prstGeom>
          <a:solidFill>
            <a:schemeClr val="accent4"/>
          </a:solidFill>
          <a:ln w="6350">
            <a:solidFill>
              <a:schemeClr val="accent4"/>
            </a:solidFill>
            <a:prstDash val="solid"/>
          </a:ln>
        </p:spPr>
      </p:sp>
      <p:sp>
        <p:nvSpPr>
          <p:cNvPr id="55" name="Shape 53"/>
          <p:cNvSpPr/>
          <p:nvPr/>
        </p:nvSpPr>
        <p:spPr>
          <a:xfrm>
            <a:off x="6492240" y="3927348"/>
            <a:ext cx="137160" cy="137160"/>
          </a:xfrm>
          <a:prstGeom prst="rect">
            <a:avLst/>
          </a:prstGeom>
          <a:solidFill>
            <a:schemeClr val="accent6"/>
          </a:solidFill>
          <a:ln w="6350">
            <a:solidFill>
              <a:schemeClr val="accent5"/>
            </a:solidFill>
            <a:prstDash val="solid"/>
          </a:ln>
        </p:spPr>
      </p:sp>
      <p:sp>
        <p:nvSpPr>
          <p:cNvPr id="56" name="Shape 54"/>
          <p:cNvSpPr/>
          <p:nvPr/>
        </p:nvSpPr>
        <p:spPr>
          <a:xfrm>
            <a:off x="6675120" y="3927348"/>
            <a:ext cx="137160" cy="137160"/>
          </a:xfrm>
          <a:prstGeom prst="rect">
            <a:avLst/>
          </a:prstGeom>
          <a:solidFill>
            <a:schemeClr val="accent6"/>
          </a:solidFill>
          <a:ln w="6350">
            <a:solidFill>
              <a:schemeClr val="accent5"/>
            </a:solidFill>
            <a:prstDash val="solid"/>
          </a:ln>
        </p:spPr>
      </p:sp>
      <p:sp>
        <p:nvSpPr>
          <p:cNvPr id="57" name="Shape 55"/>
          <p:cNvSpPr/>
          <p:nvPr/>
        </p:nvSpPr>
        <p:spPr>
          <a:xfrm>
            <a:off x="6858000" y="3927348"/>
            <a:ext cx="137160" cy="137160"/>
          </a:xfrm>
          <a:prstGeom prst="rect">
            <a:avLst/>
          </a:prstGeom>
          <a:solidFill>
            <a:schemeClr val="accent6"/>
          </a:solidFill>
          <a:ln w="6350">
            <a:solidFill>
              <a:schemeClr val="accent5"/>
            </a:solidFill>
            <a:prstDash val="solid"/>
          </a:ln>
        </p:spPr>
      </p:sp>
      <p:sp>
        <p:nvSpPr>
          <p:cNvPr id="58" name="Text 56"/>
          <p:cNvSpPr txBox="1"/>
          <p:nvPr/>
        </p:nvSpPr>
        <p:spPr>
          <a:xfrm>
            <a:off x="7086600" y="372160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59" name="Text 57"/>
          <p:cNvSpPr txBox="1"/>
          <p:nvPr/>
        </p:nvSpPr>
        <p:spPr>
          <a:xfrm>
            <a:off x="7635240" y="3721608"/>
            <a:ext cx="4007815" cy="54864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Diseñada; riesgo de incompatibilidad con la electrónica original</a:t>
            </a:r>
            <a:endParaRPr lang="es-CL" sz="1200" dirty="0"/>
          </a:p>
        </p:txBody>
      </p:sp>
      <p:sp>
        <p:nvSpPr>
          <p:cNvPr id="60" name="Shape 58"/>
          <p:cNvSpPr/>
          <p:nvPr/>
        </p:nvSpPr>
        <p:spPr>
          <a:xfrm>
            <a:off x="548640" y="4270248"/>
            <a:ext cx="11094415" cy="0"/>
          </a:xfrm>
          <a:prstGeom prst="line">
            <a:avLst/>
          </a:prstGeom>
          <a:noFill/>
          <a:ln w="9525">
            <a:solidFill>
              <a:schemeClr val="accent5"/>
            </a:solidFill>
            <a:prstDash val="solid"/>
          </a:ln>
        </p:spPr>
      </p:sp>
      <p:sp>
        <p:nvSpPr>
          <p:cNvPr id="61" name="Text 59"/>
          <p:cNvSpPr txBox="1"/>
          <p:nvPr/>
        </p:nvSpPr>
        <p:spPr>
          <a:xfrm>
            <a:off x="548640" y="4334256"/>
            <a:ext cx="3977640" cy="256032"/>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Talento certificado en alta tensión</a:t>
            </a:r>
            <a:endParaRPr lang="es-CL" sz="1400" dirty="0"/>
          </a:p>
        </p:txBody>
      </p:sp>
      <p:sp>
        <p:nvSpPr>
          <p:cNvPr id="62" name="Text 60"/>
          <p:cNvSpPr txBox="1"/>
          <p:nvPr/>
        </p:nvSpPr>
        <p:spPr>
          <a:xfrm>
            <a:off x="548640" y="4599432"/>
            <a:ext cx="3977640" cy="182880"/>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RR. HH. · SELECCIÓN Y COLOCACIÓN</a:t>
            </a:r>
            <a:endParaRPr lang="es-CL" sz="750" dirty="0"/>
          </a:p>
        </p:txBody>
      </p:sp>
      <p:sp>
        <p:nvSpPr>
          <p:cNvPr id="63" name="Shape 61"/>
          <p:cNvSpPr/>
          <p:nvPr/>
        </p:nvSpPr>
        <p:spPr>
          <a:xfrm>
            <a:off x="4617720" y="4475988"/>
            <a:ext cx="137160" cy="137160"/>
          </a:xfrm>
          <a:prstGeom prst="rect">
            <a:avLst/>
          </a:prstGeom>
          <a:solidFill>
            <a:schemeClr val="accent4"/>
          </a:solidFill>
          <a:ln w="6350">
            <a:solidFill>
              <a:schemeClr val="accent4"/>
            </a:solidFill>
            <a:prstDash val="solid"/>
          </a:ln>
        </p:spPr>
      </p:sp>
      <p:sp>
        <p:nvSpPr>
          <p:cNvPr id="64" name="Shape 62"/>
          <p:cNvSpPr/>
          <p:nvPr/>
        </p:nvSpPr>
        <p:spPr>
          <a:xfrm>
            <a:off x="4800600" y="4475988"/>
            <a:ext cx="137160" cy="137160"/>
          </a:xfrm>
          <a:prstGeom prst="rect">
            <a:avLst/>
          </a:prstGeom>
          <a:solidFill>
            <a:schemeClr val="accent4"/>
          </a:solidFill>
          <a:ln w="6350">
            <a:solidFill>
              <a:schemeClr val="accent4"/>
            </a:solidFill>
            <a:prstDash val="solid"/>
          </a:ln>
        </p:spPr>
      </p:sp>
      <p:sp>
        <p:nvSpPr>
          <p:cNvPr id="65" name="Shape 63"/>
          <p:cNvSpPr/>
          <p:nvPr/>
        </p:nvSpPr>
        <p:spPr>
          <a:xfrm>
            <a:off x="4983480" y="4475988"/>
            <a:ext cx="137160" cy="137160"/>
          </a:xfrm>
          <a:prstGeom prst="rect">
            <a:avLst/>
          </a:prstGeom>
          <a:solidFill>
            <a:schemeClr val="accent6"/>
          </a:solidFill>
          <a:ln w="6350">
            <a:solidFill>
              <a:schemeClr val="accent5"/>
            </a:solidFill>
            <a:prstDash val="solid"/>
          </a:ln>
        </p:spPr>
      </p:sp>
      <p:sp>
        <p:nvSpPr>
          <p:cNvPr id="66" name="Shape 64"/>
          <p:cNvSpPr/>
          <p:nvPr/>
        </p:nvSpPr>
        <p:spPr>
          <a:xfrm>
            <a:off x="5166360" y="4475988"/>
            <a:ext cx="137160" cy="137160"/>
          </a:xfrm>
          <a:prstGeom prst="rect">
            <a:avLst/>
          </a:prstGeom>
          <a:solidFill>
            <a:schemeClr val="accent6"/>
          </a:solidFill>
          <a:ln w="6350">
            <a:solidFill>
              <a:schemeClr val="accent5"/>
            </a:solidFill>
            <a:prstDash val="solid"/>
          </a:ln>
        </p:spPr>
      </p:sp>
      <p:sp>
        <p:nvSpPr>
          <p:cNvPr id="67" name="Shape 65"/>
          <p:cNvSpPr/>
          <p:nvPr/>
        </p:nvSpPr>
        <p:spPr>
          <a:xfrm>
            <a:off x="5349240" y="4475988"/>
            <a:ext cx="137160" cy="137160"/>
          </a:xfrm>
          <a:prstGeom prst="rect">
            <a:avLst/>
          </a:prstGeom>
          <a:solidFill>
            <a:schemeClr val="accent6"/>
          </a:solidFill>
          <a:ln w="6350">
            <a:solidFill>
              <a:schemeClr val="accent5"/>
            </a:solidFill>
            <a:prstDash val="solid"/>
          </a:ln>
        </p:spPr>
      </p:sp>
      <p:sp>
        <p:nvSpPr>
          <p:cNvPr id="68" name="Text 66"/>
          <p:cNvSpPr txBox="1"/>
          <p:nvPr/>
        </p:nvSpPr>
        <p:spPr>
          <a:xfrm>
            <a:off x="5577840" y="427024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69" name="Shape 67"/>
          <p:cNvSpPr/>
          <p:nvPr/>
        </p:nvSpPr>
        <p:spPr>
          <a:xfrm>
            <a:off x="6126480" y="4475988"/>
            <a:ext cx="137160" cy="137160"/>
          </a:xfrm>
          <a:prstGeom prst="rect">
            <a:avLst/>
          </a:prstGeom>
          <a:solidFill>
            <a:schemeClr val="accent4"/>
          </a:solidFill>
          <a:ln w="6350">
            <a:solidFill>
              <a:schemeClr val="accent4"/>
            </a:solidFill>
            <a:prstDash val="solid"/>
          </a:ln>
        </p:spPr>
      </p:sp>
      <p:sp>
        <p:nvSpPr>
          <p:cNvPr id="70" name="Shape 68"/>
          <p:cNvSpPr/>
          <p:nvPr/>
        </p:nvSpPr>
        <p:spPr>
          <a:xfrm>
            <a:off x="6309360" y="4475988"/>
            <a:ext cx="137160" cy="137160"/>
          </a:xfrm>
          <a:prstGeom prst="rect">
            <a:avLst/>
          </a:prstGeom>
          <a:solidFill>
            <a:schemeClr val="accent4"/>
          </a:solidFill>
          <a:ln w="6350">
            <a:solidFill>
              <a:schemeClr val="accent4"/>
            </a:solidFill>
            <a:prstDash val="solid"/>
          </a:ln>
        </p:spPr>
      </p:sp>
      <p:sp>
        <p:nvSpPr>
          <p:cNvPr id="71" name="Shape 69"/>
          <p:cNvSpPr/>
          <p:nvPr/>
        </p:nvSpPr>
        <p:spPr>
          <a:xfrm>
            <a:off x="6492240" y="4475988"/>
            <a:ext cx="137160" cy="137160"/>
          </a:xfrm>
          <a:prstGeom prst="rect">
            <a:avLst/>
          </a:prstGeom>
          <a:solidFill>
            <a:schemeClr val="accent6"/>
          </a:solidFill>
          <a:ln w="6350">
            <a:solidFill>
              <a:schemeClr val="accent5"/>
            </a:solidFill>
            <a:prstDash val="solid"/>
          </a:ln>
        </p:spPr>
      </p:sp>
      <p:sp>
        <p:nvSpPr>
          <p:cNvPr id="72" name="Shape 70"/>
          <p:cNvSpPr/>
          <p:nvPr/>
        </p:nvSpPr>
        <p:spPr>
          <a:xfrm>
            <a:off x="6675120" y="4475988"/>
            <a:ext cx="137160" cy="137160"/>
          </a:xfrm>
          <a:prstGeom prst="rect">
            <a:avLst/>
          </a:prstGeom>
          <a:solidFill>
            <a:schemeClr val="accent6"/>
          </a:solidFill>
          <a:ln w="6350">
            <a:solidFill>
              <a:schemeClr val="accent5"/>
            </a:solidFill>
            <a:prstDash val="solid"/>
          </a:ln>
        </p:spPr>
      </p:sp>
      <p:sp>
        <p:nvSpPr>
          <p:cNvPr id="73" name="Shape 71"/>
          <p:cNvSpPr/>
          <p:nvPr/>
        </p:nvSpPr>
        <p:spPr>
          <a:xfrm>
            <a:off x="6858000" y="4475988"/>
            <a:ext cx="137160" cy="137160"/>
          </a:xfrm>
          <a:prstGeom prst="rect">
            <a:avLst/>
          </a:prstGeom>
          <a:solidFill>
            <a:schemeClr val="accent6"/>
          </a:solidFill>
          <a:ln w="6350">
            <a:solidFill>
              <a:schemeClr val="accent5"/>
            </a:solidFill>
            <a:prstDash val="solid"/>
          </a:ln>
        </p:spPr>
      </p:sp>
      <p:sp>
        <p:nvSpPr>
          <p:cNvPr id="74" name="Text 72"/>
          <p:cNvSpPr txBox="1"/>
          <p:nvPr/>
        </p:nvSpPr>
        <p:spPr>
          <a:xfrm>
            <a:off x="7086600" y="427024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75" name="Text 73"/>
          <p:cNvSpPr txBox="1"/>
          <p:nvPr/>
        </p:nvSpPr>
        <p:spPr>
          <a:xfrm>
            <a:off x="7635240" y="4270248"/>
            <a:ext cx="4007815" cy="54864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Perfil escaso; sin esquema de retención</a:t>
            </a:r>
            <a:endParaRPr lang="es-CL" sz="1200" dirty="0"/>
          </a:p>
        </p:txBody>
      </p:sp>
      <p:sp>
        <p:nvSpPr>
          <p:cNvPr id="76" name="Shape 74"/>
          <p:cNvSpPr/>
          <p:nvPr/>
        </p:nvSpPr>
        <p:spPr>
          <a:xfrm>
            <a:off x="548640" y="4818888"/>
            <a:ext cx="11094415" cy="0"/>
          </a:xfrm>
          <a:prstGeom prst="line">
            <a:avLst/>
          </a:prstGeom>
          <a:noFill/>
          <a:ln w="9525">
            <a:solidFill>
              <a:schemeClr val="accent5"/>
            </a:solidFill>
            <a:prstDash val="solid"/>
          </a:ln>
        </p:spPr>
      </p:sp>
      <p:sp>
        <p:nvSpPr>
          <p:cNvPr id="77" name="Text 75"/>
          <p:cNvSpPr txBox="1"/>
          <p:nvPr/>
        </p:nvSpPr>
        <p:spPr>
          <a:xfrm>
            <a:off x="548640" y="4882896"/>
            <a:ext cx="3977640" cy="256032"/>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Logística de insumos críticos</a:t>
            </a:r>
            <a:endParaRPr lang="es-CL" sz="1400" dirty="0"/>
          </a:p>
        </p:txBody>
      </p:sp>
      <p:sp>
        <p:nvSpPr>
          <p:cNvPr id="78" name="Text 76"/>
          <p:cNvSpPr txBox="1"/>
          <p:nvPr/>
        </p:nvSpPr>
        <p:spPr>
          <a:xfrm>
            <a:off x="548640" y="5148072"/>
            <a:ext cx="3977640" cy="182880"/>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ADQUISICIONES · MATERIALES</a:t>
            </a:r>
            <a:endParaRPr lang="es-CL" sz="750" dirty="0"/>
          </a:p>
        </p:txBody>
      </p:sp>
      <p:sp>
        <p:nvSpPr>
          <p:cNvPr id="79" name="Shape 77"/>
          <p:cNvSpPr/>
          <p:nvPr/>
        </p:nvSpPr>
        <p:spPr>
          <a:xfrm>
            <a:off x="4617720" y="5024628"/>
            <a:ext cx="137160" cy="137160"/>
          </a:xfrm>
          <a:prstGeom prst="rect">
            <a:avLst/>
          </a:prstGeom>
          <a:solidFill>
            <a:schemeClr val="tx2"/>
          </a:solidFill>
          <a:ln w="6350">
            <a:solidFill>
              <a:schemeClr val="tx2"/>
            </a:solidFill>
            <a:prstDash val="solid"/>
          </a:ln>
        </p:spPr>
      </p:sp>
      <p:sp>
        <p:nvSpPr>
          <p:cNvPr id="80" name="Shape 78"/>
          <p:cNvSpPr/>
          <p:nvPr/>
        </p:nvSpPr>
        <p:spPr>
          <a:xfrm>
            <a:off x="4800600" y="5024628"/>
            <a:ext cx="137160" cy="137160"/>
          </a:xfrm>
          <a:prstGeom prst="rect">
            <a:avLst/>
          </a:prstGeom>
          <a:solidFill>
            <a:schemeClr val="tx2"/>
          </a:solidFill>
          <a:ln w="6350">
            <a:solidFill>
              <a:schemeClr val="tx2"/>
            </a:solidFill>
            <a:prstDash val="solid"/>
          </a:ln>
        </p:spPr>
      </p:sp>
      <p:sp>
        <p:nvSpPr>
          <p:cNvPr id="81" name="Shape 79"/>
          <p:cNvSpPr/>
          <p:nvPr/>
        </p:nvSpPr>
        <p:spPr>
          <a:xfrm>
            <a:off x="4983480" y="5024628"/>
            <a:ext cx="137160" cy="137160"/>
          </a:xfrm>
          <a:prstGeom prst="rect">
            <a:avLst/>
          </a:prstGeom>
          <a:solidFill>
            <a:schemeClr val="tx2"/>
          </a:solidFill>
          <a:ln w="6350">
            <a:solidFill>
              <a:schemeClr val="tx2"/>
            </a:solidFill>
            <a:prstDash val="solid"/>
          </a:ln>
        </p:spPr>
      </p:sp>
      <p:sp>
        <p:nvSpPr>
          <p:cNvPr id="82" name="Shape 80"/>
          <p:cNvSpPr/>
          <p:nvPr/>
        </p:nvSpPr>
        <p:spPr>
          <a:xfrm>
            <a:off x="5166360" y="5024628"/>
            <a:ext cx="137160" cy="137160"/>
          </a:xfrm>
          <a:prstGeom prst="rect">
            <a:avLst/>
          </a:prstGeom>
          <a:solidFill>
            <a:schemeClr val="accent6"/>
          </a:solidFill>
          <a:ln w="6350">
            <a:solidFill>
              <a:schemeClr val="accent5"/>
            </a:solidFill>
            <a:prstDash val="solid"/>
          </a:ln>
        </p:spPr>
      </p:sp>
      <p:sp>
        <p:nvSpPr>
          <p:cNvPr id="83" name="Shape 81"/>
          <p:cNvSpPr/>
          <p:nvPr/>
        </p:nvSpPr>
        <p:spPr>
          <a:xfrm>
            <a:off x="5349240" y="5024628"/>
            <a:ext cx="137160" cy="137160"/>
          </a:xfrm>
          <a:prstGeom prst="rect">
            <a:avLst/>
          </a:prstGeom>
          <a:solidFill>
            <a:schemeClr val="accent6"/>
          </a:solidFill>
          <a:ln w="6350">
            <a:solidFill>
              <a:schemeClr val="accent5"/>
            </a:solidFill>
            <a:prstDash val="solid"/>
          </a:ln>
        </p:spPr>
      </p:sp>
      <p:sp>
        <p:nvSpPr>
          <p:cNvPr id="84" name="Text 82"/>
          <p:cNvSpPr txBox="1"/>
          <p:nvPr/>
        </p:nvSpPr>
        <p:spPr>
          <a:xfrm>
            <a:off x="5577840" y="4818888"/>
            <a:ext cx="365760" cy="548640"/>
          </a:xfrm>
          <a:prstGeom prst="rect">
            <a:avLst/>
          </a:prstGeom>
          <a:noFill/>
          <a:ln/>
        </p:spPr>
        <p:txBody>
          <a:bodyPr wrap="square" lIns="0" tIns="0" rIns="0" bIns="0" rtlCol="0" anchor="ctr"/>
          <a:lstStyle/>
          <a:p>
            <a:pPr indent="0" marL="0">
              <a:buNone/>
            </a:pPr>
            <a:r>
              <a:rPr lang="es-CL" altLang="en-US" sz="1800" b="1" dirty="0">
                <a:solidFill>
                  <a:schemeClr val="tx2"/>
                </a:solidFill>
                <a:latin typeface="Archivo Condensed" pitchFamily="34" charset="0"/>
                <a:ea typeface="Archivo Condensed" pitchFamily="34" charset="-122"/>
                <a:cs typeface="Archivo Condensed" pitchFamily="34" charset="-120"/>
              </a:rPr>
              <a:t>3</a:t>
            </a:r>
            <a:endParaRPr lang="es-CL" sz="1800" dirty="0"/>
          </a:p>
        </p:txBody>
      </p:sp>
      <p:sp>
        <p:nvSpPr>
          <p:cNvPr id="85" name="Shape 83"/>
          <p:cNvSpPr/>
          <p:nvPr/>
        </p:nvSpPr>
        <p:spPr>
          <a:xfrm>
            <a:off x="6126480" y="5024628"/>
            <a:ext cx="137160" cy="137160"/>
          </a:xfrm>
          <a:prstGeom prst="rect">
            <a:avLst/>
          </a:prstGeom>
          <a:solidFill>
            <a:schemeClr val="accent4"/>
          </a:solidFill>
          <a:ln w="6350">
            <a:solidFill>
              <a:schemeClr val="accent4"/>
            </a:solidFill>
            <a:prstDash val="solid"/>
          </a:ln>
        </p:spPr>
      </p:sp>
      <p:sp>
        <p:nvSpPr>
          <p:cNvPr id="86" name="Shape 84"/>
          <p:cNvSpPr/>
          <p:nvPr/>
        </p:nvSpPr>
        <p:spPr>
          <a:xfrm>
            <a:off x="6309360" y="5024628"/>
            <a:ext cx="137160" cy="137160"/>
          </a:xfrm>
          <a:prstGeom prst="rect">
            <a:avLst/>
          </a:prstGeom>
          <a:solidFill>
            <a:schemeClr val="accent4"/>
          </a:solidFill>
          <a:ln w="6350">
            <a:solidFill>
              <a:schemeClr val="accent4"/>
            </a:solidFill>
            <a:prstDash val="solid"/>
          </a:ln>
        </p:spPr>
      </p:sp>
      <p:sp>
        <p:nvSpPr>
          <p:cNvPr id="87" name="Shape 85"/>
          <p:cNvSpPr/>
          <p:nvPr/>
        </p:nvSpPr>
        <p:spPr>
          <a:xfrm>
            <a:off x="6492240" y="5024628"/>
            <a:ext cx="137160" cy="137160"/>
          </a:xfrm>
          <a:prstGeom prst="rect">
            <a:avLst/>
          </a:prstGeom>
          <a:solidFill>
            <a:schemeClr val="accent6"/>
          </a:solidFill>
          <a:ln w="6350">
            <a:solidFill>
              <a:schemeClr val="accent5"/>
            </a:solidFill>
            <a:prstDash val="solid"/>
          </a:ln>
        </p:spPr>
      </p:sp>
      <p:sp>
        <p:nvSpPr>
          <p:cNvPr id="88" name="Shape 86"/>
          <p:cNvSpPr/>
          <p:nvPr/>
        </p:nvSpPr>
        <p:spPr>
          <a:xfrm>
            <a:off x="6675120" y="5024628"/>
            <a:ext cx="137160" cy="137160"/>
          </a:xfrm>
          <a:prstGeom prst="rect">
            <a:avLst/>
          </a:prstGeom>
          <a:solidFill>
            <a:schemeClr val="accent6"/>
          </a:solidFill>
          <a:ln w="6350">
            <a:solidFill>
              <a:schemeClr val="accent5"/>
            </a:solidFill>
            <a:prstDash val="solid"/>
          </a:ln>
        </p:spPr>
      </p:sp>
      <p:sp>
        <p:nvSpPr>
          <p:cNvPr id="89" name="Shape 87"/>
          <p:cNvSpPr/>
          <p:nvPr/>
        </p:nvSpPr>
        <p:spPr>
          <a:xfrm>
            <a:off x="6858000" y="5024628"/>
            <a:ext cx="137160" cy="137160"/>
          </a:xfrm>
          <a:prstGeom prst="rect">
            <a:avLst/>
          </a:prstGeom>
          <a:solidFill>
            <a:schemeClr val="accent6"/>
          </a:solidFill>
          <a:ln w="6350">
            <a:solidFill>
              <a:schemeClr val="accent5"/>
            </a:solidFill>
            <a:prstDash val="solid"/>
          </a:ln>
        </p:spPr>
      </p:sp>
      <p:sp>
        <p:nvSpPr>
          <p:cNvPr id="90" name="Text 88"/>
          <p:cNvSpPr txBox="1"/>
          <p:nvPr/>
        </p:nvSpPr>
        <p:spPr>
          <a:xfrm>
            <a:off x="7086600" y="4818888"/>
            <a:ext cx="365760" cy="548640"/>
          </a:xfrm>
          <a:prstGeom prst="rect">
            <a:avLst/>
          </a:prstGeom>
          <a:noFill/>
          <a:ln/>
        </p:spPr>
        <p:txBody>
          <a:bodyPr wrap="square" lIns="0" tIns="0" rIns="0" bIns="0" rtlCol="0" anchor="ctr"/>
          <a:lstStyle/>
          <a:p>
            <a:pPr indent="0" marL="0">
              <a:buNone/>
            </a:pPr>
            <a:r>
              <a:rPr lang="es-CL" altLang="en-US" sz="1800" b="1" dirty="0">
                <a:solidFill>
                  <a:schemeClr val="accent4"/>
                </a:solidFill>
                <a:latin typeface="Archivo Condensed" pitchFamily="34" charset="0"/>
                <a:ea typeface="Archivo Condensed" pitchFamily="34" charset="-122"/>
                <a:cs typeface="Archivo Condensed" pitchFamily="34" charset="-120"/>
              </a:rPr>
              <a:t>2</a:t>
            </a:r>
            <a:endParaRPr lang="es-CL" sz="1800" dirty="0"/>
          </a:p>
        </p:txBody>
      </p:sp>
      <p:sp>
        <p:nvSpPr>
          <p:cNvPr id="91" name="Text 89"/>
          <p:cNvSpPr txBox="1"/>
          <p:nvPr/>
        </p:nvSpPr>
        <p:spPr>
          <a:xfrm>
            <a:off x="7635240" y="4818888"/>
            <a:ext cx="4007815" cy="54864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Protocolo definido; Clase 9 con plazos largos</a:t>
            </a:r>
            <a:endParaRPr lang="es-CL" sz="1200" dirty="0"/>
          </a:p>
        </p:txBody>
      </p:sp>
      <p:sp>
        <p:nvSpPr>
          <p:cNvPr id="92" name="Shape 90"/>
          <p:cNvSpPr/>
          <p:nvPr/>
        </p:nvSpPr>
        <p:spPr>
          <a:xfrm>
            <a:off x="548640" y="5367528"/>
            <a:ext cx="11094415" cy="0"/>
          </a:xfrm>
          <a:prstGeom prst="line">
            <a:avLst/>
          </a:prstGeom>
          <a:noFill/>
          <a:ln w="9525">
            <a:solidFill>
              <a:schemeClr val="accent5"/>
            </a:solidFill>
            <a:prstDash val="solid"/>
          </a:ln>
        </p:spPr>
      </p:sp>
      <p:sp>
        <p:nvSpPr>
          <p:cNvPr id="93" name="Text 91"/>
          <p:cNvSpPr txBox="1"/>
          <p:nvPr/>
        </p:nvSpPr>
        <p:spPr>
          <a:xfrm>
            <a:off x="548640" y="5431536"/>
            <a:ext cx="3977640" cy="256032"/>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Estandarización y tiempo de taller</a:t>
            </a:r>
            <a:endParaRPr lang="es-CL" sz="1400" dirty="0"/>
          </a:p>
        </p:txBody>
      </p:sp>
      <p:sp>
        <p:nvSpPr>
          <p:cNvPr id="94" name="Text 92"/>
          <p:cNvSpPr txBox="1"/>
          <p:nvPr/>
        </p:nvSpPr>
        <p:spPr>
          <a:xfrm>
            <a:off x="548640" y="5696712"/>
            <a:ext cx="3977640" cy="182880"/>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FABRICACIÓN · TECNOLOGÍAS DE PROCESO</a:t>
            </a:r>
            <a:endParaRPr lang="es-CL" sz="750" dirty="0"/>
          </a:p>
        </p:txBody>
      </p:sp>
      <p:sp>
        <p:nvSpPr>
          <p:cNvPr id="95" name="Shape 93"/>
          <p:cNvSpPr/>
          <p:nvPr/>
        </p:nvSpPr>
        <p:spPr>
          <a:xfrm>
            <a:off x="4617720" y="5573268"/>
            <a:ext cx="137160" cy="137160"/>
          </a:xfrm>
          <a:prstGeom prst="rect">
            <a:avLst/>
          </a:prstGeom>
          <a:solidFill>
            <a:schemeClr val="accent1"/>
          </a:solidFill>
          <a:ln w="6350">
            <a:solidFill>
              <a:schemeClr val="accent1"/>
            </a:solidFill>
            <a:prstDash val="solid"/>
          </a:ln>
        </p:spPr>
      </p:sp>
      <p:sp>
        <p:nvSpPr>
          <p:cNvPr id="96" name="Shape 94"/>
          <p:cNvSpPr/>
          <p:nvPr/>
        </p:nvSpPr>
        <p:spPr>
          <a:xfrm>
            <a:off x="4800600" y="5573268"/>
            <a:ext cx="137160" cy="137160"/>
          </a:xfrm>
          <a:prstGeom prst="rect">
            <a:avLst/>
          </a:prstGeom>
          <a:solidFill>
            <a:schemeClr val="accent1"/>
          </a:solidFill>
          <a:ln w="6350">
            <a:solidFill>
              <a:schemeClr val="accent1"/>
            </a:solidFill>
            <a:prstDash val="solid"/>
          </a:ln>
        </p:spPr>
      </p:sp>
      <p:sp>
        <p:nvSpPr>
          <p:cNvPr id="97" name="Shape 95"/>
          <p:cNvSpPr/>
          <p:nvPr/>
        </p:nvSpPr>
        <p:spPr>
          <a:xfrm>
            <a:off x="4983480" y="5573268"/>
            <a:ext cx="137160" cy="137160"/>
          </a:xfrm>
          <a:prstGeom prst="rect">
            <a:avLst/>
          </a:prstGeom>
          <a:solidFill>
            <a:schemeClr val="accent1"/>
          </a:solidFill>
          <a:ln w="6350">
            <a:solidFill>
              <a:schemeClr val="accent1"/>
            </a:solidFill>
            <a:prstDash val="solid"/>
          </a:ln>
        </p:spPr>
      </p:sp>
      <p:sp>
        <p:nvSpPr>
          <p:cNvPr id="98" name="Shape 96"/>
          <p:cNvSpPr/>
          <p:nvPr/>
        </p:nvSpPr>
        <p:spPr>
          <a:xfrm>
            <a:off x="5166360" y="5573268"/>
            <a:ext cx="137160" cy="137160"/>
          </a:xfrm>
          <a:prstGeom prst="rect">
            <a:avLst/>
          </a:prstGeom>
          <a:solidFill>
            <a:schemeClr val="accent1"/>
          </a:solidFill>
          <a:ln w="6350">
            <a:solidFill>
              <a:schemeClr val="accent1"/>
            </a:solidFill>
            <a:prstDash val="solid"/>
          </a:ln>
        </p:spPr>
      </p:sp>
      <p:sp>
        <p:nvSpPr>
          <p:cNvPr id="99" name="Shape 97"/>
          <p:cNvSpPr/>
          <p:nvPr/>
        </p:nvSpPr>
        <p:spPr>
          <a:xfrm>
            <a:off x="5349240" y="5573268"/>
            <a:ext cx="137160" cy="137160"/>
          </a:xfrm>
          <a:prstGeom prst="rect">
            <a:avLst/>
          </a:prstGeom>
          <a:solidFill>
            <a:schemeClr val="accent6"/>
          </a:solidFill>
          <a:ln w="6350">
            <a:solidFill>
              <a:schemeClr val="accent5"/>
            </a:solidFill>
            <a:prstDash val="solid"/>
          </a:ln>
        </p:spPr>
      </p:sp>
      <p:sp>
        <p:nvSpPr>
          <p:cNvPr id="100" name="Text 98"/>
          <p:cNvSpPr txBox="1"/>
          <p:nvPr/>
        </p:nvSpPr>
        <p:spPr>
          <a:xfrm>
            <a:off x="5577840" y="5367528"/>
            <a:ext cx="365760" cy="548640"/>
          </a:xfrm>
          <a:prstGeom prst="rect">
            <a:avLst/>
          </a:prstGeom>
          <a:noFill/>
          <a:ln/>
        </p:spPr>
        <p:txBody>
          <a:bodyPr wrap="square" lIns="0" tIns="0" rIns="0" bIns="0" rtlCol="0" anchor="ctr"/>
          <a:lstStyle/>
          <a:p>
            <a:pPr indent="0" marL="0">
              <a:buNone/>
            </a:pPr>
            <a:r>
              <a:rPr lang="es-CL" altLang="en-US" sz="1800" b="1" dirty="0">
                <a:solidFill>
                  <a:schemeClr val="accent1"/>
                </a:solidFill>
                <a:latin typeface="Archivo Condensed" pitchFamily="34" charset="0"/>
                <a:ea typeface="Archivo Condensed" pitchFamily="34" charset="-122"/>
                <a:cs typeface="Archivo Condensed" pitchFamily="34" charset="-120"/>
              </a:rPr>
              <a:t>4</a:t>
            </a:r>
            <a:endParaRPr lang="es-CL" sz="1800" dirty="0"/>
          </a:p>
        </p:txBody>
      </p:sp>
      <p:sp>
        <p:nvSpPr>
          <p:cNvPr id="101" name="Shape 99"/>
          <p:cNvSpPr/>
          <p:nvPr/>
        </p:nvSpPr>
        <p:spPr>
          <a:xfrm>
            <a:off x="6126480" y="5573268"/>
            <a:ext cx="137160" cy="137160"/>
          </a:xfrm>
          <a:prstGeom prst="rect">
            <a:avLst/>
          </a:prstGeom>
          <a:solidFill>
            <a:schemeClr val="tx2"/>
          </a:solidFill>
          <a:ln w="6350">
            <a:solidFill>
              <a:schemeClr val="tx2"/>
            </a:solidFill>
            <a:prstDash val="solid"/>
          </a:ln>
        </p:spPr>
      </p:sp>
      <p:sp>
        <p:nvSpPr>
          <p:cNvPr id="102" name="Shape 100"/>
          <p:cNvSpPr/>
          <p:nvPr/>
        </p:nvSpPr>
        <p:spPr>
          <a:xfrm>
            <a:off x="6309360" y="5573268"/>
            <a:ext cx="137160" cy="137160"/>
          </a:xfrm>
          <a:prstGeom prst="rect">
            <a:avLst/>
          </a:prstGeom>
          <a:solidFill>
            <a:schemeClr val="tx2"/>
          </a:solidFill>
          <a:ln w="6350">
            <a:solidFill>
              <a:schemeClr val="tx2"/>
            </a:solidFill>
            <a:prstDash val="solid"/>
          </a:ln>
        </p:spPr>
      </p:sp>
      <p:sp>
        <p:nvSpPr>
          <p:cNvPr id="103" name="Shape 101"/>
          <p:cNvSpPr/>
          <p:nvPr/>
        </p:nvSpPr>
        <p:spPr>
          <a:xfrm>
            <a:off x="6492240" y="5573268"/>
            <a:ext cx="137160" cy="137160"/>
          </a:xfrm>
          <a:prstGeom prst="rect">
            <a:avLst/>
          </a:prstGeom>
          <a:solidFill>
            <a:schemeClr val="tx2"/>
          </a:solidFill>
          <a:ln w="6350">
            <a:solidFill>
              <a:schemeClr val="tx2"/>
            </a:solidFill>
            <a:prstDash val="solid"/>
          </a:ln>
        </p:spPr>
      </p:sp>
      <p:sp>
        <p:nvSpPr>
          <p:cNvPr id="104" name="Shape 102"/>
          <p:cNvSpPr/>
          <p:nvPr/>
        </p:nvSpPr>
        <p:spPr>
          <a:xfrm>
            <a:off x="6675120" y="5573268"/>
            <a:ext cx="137160" cy="137160"/>
          </a:xfrm>
          <a:prstGeom prst="rect">
            <a:avLst/>
          </a:prstGeom>
          <a:solidFill>
            <a:schemeClr val="accent6"/>
          </a:solidFill>
          <a:ln w="6350">
            <a:solidFill>
              <a:schemeClr val="accent5"/>
            </a:solidFill>
            <a:prstDash val="solid"/>
          </a:ln>
        </p:spPr>
      </p:sp>
      <p:sp>
        <p:nvSpPr>
          <p:cNvPr id="105" name="Shape 103"/>
          <p:cNvSpPr/>
          <p:nvPr/>
        </p:nvSpPr>
        <p:spPr>
          <a:xfrm>
            <a:off x="6858000" y="5573268"/>
            <a:ext cx="137160" cy="137160"/>
          </a:xfrm>
          <a:prstGeom prst="rect">
            <a:avLst/>
          </a:prstGeom>
          <a:solidFill>
            <a:schemeClr val="accent6"/>
          </a:solidFill>
          <a:ln w="6350">
            <a:solidFill>
              <a:schemeClr val="accent5"/>
            </a:solidFill>
            <a:prstDash val="solid"/>
          </a:ln>
        </p:spPr>
      </p:sp>
      <p:sp>
        <p:nvSpPr>
          <p:cNvPr id="106" name="Text 104"/>
          <p:cNvSpPr txBox="1"/>
          <p:nvPr/>
        </p:nvSpPr>
        <p:spPr>
          <a:xfrm>
            <a:off x="7086600" y="5367528"/>
            <a:ext cx="365760" cy="548640"/>
          </a:xfrm>
          <a:prstGeom prst="rect">
            <a:avLst/>
          </a:prstGeom>
          <a:noFill/>
          <a:ln/>
        </p:spPr>
        <p:txBody>
          <a:bodyPr wrap="square" lIns="0" tIns="0" rIns="0" bIns="0" rtlCol="0" anchor="ctr"/>
          <a:lstStyle/>
          <a:p>
            <a:pPr indent="0" marL="0">
              <a:buNone/>
            </a:pPr>
            <a:r>
              <a:rPr lang="es-CL" altLang="en-US" sz="1800" b="1" dirty="0">
                <a:solidFill>
                  <a:schemeClr val="tx2"/>
                </a:solidFill>
                <a:latin typeface="Archivo Condensed" pitchFamily="34" charset="0"/>
                <a:ea typeface="Archivo Condensed" pitchFamily="34" charset="-122"/>
                <a:cs typeface="Archivo Condensed" pitchFamily="34" charset="-120"/>
              </a:rPr>
              <a:t>3</a:t>
            </a:r>
            <a:endParaRPr lang="es-CL" sz="1800" dirty="0"/>
          </a:p>
        </p:txBody>
      </p:sp>
      <p:sp>
        <p:nvSpPr>
          <p:cNvPr id="107" name="Text 105"/>
          <p:cNvSpPr txBox="1"/>
          <p:nvPr/>
        </p:nvSpPr>
        <p:spPr>
          <a:xfrm>
            <a:off x="7635240" y="5367528"/>
            <a:ext cx="4007815" cy="54864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Cinco etapas definidas; no probadas</a:t>
            </a:r>
            <a:endParaRPr lang="es-CL" sz="1200" dirty="0"/>
          </a:p>
        </p:txBody>
      </p:sp>
      <p:sp>
        <p:nvSpPr>
          <p:cNvPr id="108" name="Shape 106"/>
          <p:cNvSpPr/>
          <p:nvPr/>
        </p:nvSpPr>
        <p:spPr>
          <a:xfrm>
            <a:off x="548640" y="5916168"/>
            <a:ext cx="11094415" cy="0"/>
          </a:xfrm>
          <a:prstGeom prst="line">
            <a:avLst/>
          </a:prstGeom>
          <a:noFill/>
          <a:ln w="9525">
            <a:solidFill>
              <a:schemeClr val="accent5"/>
            </a:solidFill>
            <a:prstDash val="solid"/>
          </a:ln>
        </p:spPr>
      </p:sp>
      <p:sp>
        <p:nvSpPr>
          <p:cNvPr id="109" name="Text 107"/>
          <p:cNvSpPr txBox="1"/>
          <p:nvPr/>
        </p:nvSpPr>
        <p:spPr>
          <a:xfrm>
            <a:off x="548640" y="5989320"/>
            <a:ext cx="11094415" cy="201168"/>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ESCALA 1 (GRAN DEBILIDAD) A 5 (GRAN FORTALEZA) · EN RIESGO, UN NÚMERO BAJO ES RIESGO ALTO</a:t>
            </a:r>
            <a:endParaRPr lang="es-CL" sz="7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09</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RECURSOS Y COMPETENCIAS CENTRALES · HITT (05)</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UNA SOLA COMPETENCIA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central.</a:t>
            </a:r>
            <a:endParaRPr lang="en-US" sz="3000" dirty="0"/>
          </a:p>
        </p:txBody>
      </p:sp>
      <p:sp>
        <p:nvSpPr>
          <p:cNvPr id="4" name="Shape 2"/>
          <p:cNvSpPr/>
          <p:nvPr/>
        </p:nvSpPr>
        <p:spPr>
          <a:xfrm>
            <a:off x="548640" y="2331720"/>
            <a:ext cx="1691640" cy="0"/>
          </a:xfrm>
          <a:prstGeom prst="line">
            <a:avLst/>
          </a:prstGeom>
          <a:noFill/>
          <a:ln w="9525">
            <a:solidFill>
              <a:schemeClr val="accent5"/>
            </a:solidFill>
            <a:prstDash val="solid"/>
          </a:ln>
        </p:spPr>
      </p:sp>
      <p:sp>
        <p:nvSpPr>
          <p:cNvPr id="5" name="Text 3"/>
          <p:cNvSpPr txBox="1"/>
          <p:nvPr/>
        </p:nvSpPr>
        <p:spPr>
          <a:xfrm>
            <a:off x="548640" y="2404872"/>
            <a:ext cx="1691640" cy="822960"/>
          </a:xfrm>
          <a:prstGeom prst="rect">
            <a:avLst/>
          </a:prstGeom>
          <a:noFill/>
          <a:ln/>
        </p:spPr>
        <p:txBody>
          <a:bodyPr wrap="square" lIns="0" tIns="0" rIns="0" bIns="0" rtlCol="0" anchor="t"/>
          <a:lstStyle/>
          <a:p>
            <a:pPr indent="0" marL="0">
              <a:buNone/>
            </a:pPr>
            <a:r>
              <a:rPr lang="es-CL" altLang="en-US" sz="6400" b="1" dirty="0">
                <a:solidFill>
                  <a:schemeClr val="accent1"/>
                </a:solidFill>
                <a:latin typeface="Archivo Condensed" pitchFamily="34" charset="0"/>
                <a:ea typeface="Archivo Condensed" pitchFamily="34" charset="-122"/>
                <a:cs typeface="Archivo Condensed" pitchFamily="34" charset="-120"/>
              </a:rPr>
              <a:t>2</a:t>
            </a:r>
            <a:endParaRPr lang="es-CL" sz="6400" dirty="0"/>
          </a:p>
        </p:txBody>
      </p:sp>
      <p:sp>
        <p:nvSpPr>
          <p:cNvPr id="6" name="Text 4"/>
          <p:cNvSpPr txBox="1"/>
          <p:nvPr/>
        </p:nvSpPr>
        <p:spPr>
          <a:xfrm>
            <a:off x="548640" y="3227832"/>
            <a:ext cx="1691640" cy="201168"/>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SOSTENIBLES</a:t>
            </a:r>
            <a:endParaRPr lang="es-CL" sz="850" dirty="0"/>
          </a:p>
        </p:txBody>
      </p:sp>
      <p:sp>
        <p:nvSpPr>
          <p:cNvPr id="7" name="Shape 5"/>
          <p:cNvSpPr/>
          <p:nvPr/>
        </p:nvSpPr>
        <p:spPr>
          <a:xfrm>
            <a:off x="2423160" y="2331720"/>
            <a:ext cx="1691640" cy="0"/>
          </a:xfrm>
          <a:prstGeom prst="line">
            <a:avLst/>
          </a:prstGeom>
          <a:noFill/>
          <a:ln w="9525">
            <a:solidFill>
              <a:schemeClr val="accent5"/>
            </a:solidFill>
            <a:prstDash val="solid"/>
          </a:ln>
        </p:spPr>
      </p:sp>
      <p:sp>
        <p:nvSpPr>
          <p:cNvPr id="8" name="Text 6"/>
          <p:cNvSpPr txBox="1"/>
          <p:nvPr/>
        </p:nvSpPr>
        <p:spPr>
          <a:xfrm>
            <a:off x="2423160" y="2404872"/>
            <a:ext cx="1691640" cy="822960"/>
          </a:xfrm>
          <a:prstGeom prst="rect">
            <a:avLst/>
          </a:prstGeom>
          <a:noFill/>
          <a:ln/>
        </p:spPr>
        <p:txBody>
          <a:bodyPr wrap="square" lIns="0" tIns="0" rIns="0" bIns="0" rtlCol="0" anchor="t"/>
          <a:lstStyle/>
          <a:p>
            <a:pPr indent="0" marL="0">
              <a:buNone/>
            </a:pPr>
            <a:r>
              <a:rPr lang="es-CL" altLang="en-US" sz="6400" b="1" dirty="0">
                <a:solidFill>
                  <a:schemeClr val="tx1"/>
                </a:solidFill>
                <a:latin typeface="Archivo Condensed" pitchFamily="34" charset="0"/>
                <a:ea typeface="Archivo Condensed" pitchFamily="34" charset="-122"/>
                <a:cs typeface="Archivo Condensed" pitchFamily="34" charset="-120"/>
              </a:rPr>
              <a:t>6</a:t>
            </a:r>
            <a:endParaRPr lang="es-CL" sz="6400" dirty="0"/>
          </a:p>
        </p:txBody>
      </p:sp>
      <p:sp>
        <p:nvSpPr>
          <p:cNvPr id="9" name="Text 7"/>
          <p:cNvSpPr txBox="1"/>
          <p:nvPr/>
        </p:nvSpPr>
        <p:spPr>
          <a:xfrm>
            <a:off x="2423160" y="3227832"/>
            <a:ext cx="1691640" cy="201168"/>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TEMPORALES</a:t>
            </a:r>
            <a:endParaRPr lang="es-CL" sz="850" dirty="0"/>
          </a:p>
        </p:txBody>
      </p:sp>
      <p:sp>
        <p:nvSpPr>
          <p:cNvPr id="10" name="Shape 8"/>
          <p:cNvSpPr/>
          <p:nvPr/>
        </p:nvSpPr>
        <p:spPr>
          <a:xfrm>
            <a:off x="548640" y="3538728"/>
            <a:ext cx="1691640" cy="0"/>
          </a:xfrm>
          <a:prstGeom prst="line">
            <a:avLst/>
          </a:prstGeom>
          <a:noFill/>
          <a:ln w="9525">
            <a:solidFill>
              <a:schemeClr val="accent5"/>
            </a:solidFill>
            <a:prstDash val="solid"/>
          </a:ln>
        </p:spPr>
      </p:sp>
      <p:sp>
        <p:nvSpPr>
          <p:cNvPr id="11" name="Text 9"/>
          <p:cNvSpPr txBox="1"/>
          <p:nvPr/>
        </p:nvSpPr>
        <p:spPr>
          <a:xfrm>
            <a:off x="548640" y="3611880"/>
            <a:ext cx="1691640" cy="822960"/>
          </a:xfrm>
          <a:prstGeom prst="rect">
            <a:avLst/>
          </a:prstGeom>
          <a:noFill/>
          <a:ln/>
        </p:spPr>
        <p:txBody>
          <a:bodyPr wrap="square" lIns="0" tIns="0" rIns="0" bIns="0" rtlCol="0" anchor="t"/>
          <a:lstStyle/>
          <a:p>
            <a:pPr indent="0" marL="0">
              <a:buNone/>
            </a:pPr>
            <a:r>
              <a:rPr lang="es-CL" altLang="en-US" sz="6400" b="1" dirty="0">
                <a:solidFill>
                  <a:schemeClr val="tx2"/>
                </a:solidFill>
                <a:latin typeface="Archivo Condensed" pitchFamily="34" charset="0"/>
                <a:ea typeface="Archivo Condensed" pitchFamily="34" charset="-122"/>
                <a:cs typeface="Archivo Condensed" pitchFamily="34" charset="-120"/>
              </a:rPr>
              <a:t>7</a:t>
            </a:r>
            <a:endParaRPr lang="es-CL" sz="6400" dirty="0"/>
          </a:p>
        </p:txBody>
      </p:sp>
      <p:sp>
        <p:nvSpPr>
          <p:cNvPr id="12" name="Text 10"/>
          <p:cNvSpPr txBox="1"/>
          <p:nvPr/>
        </p:nvSpPr>
        <p:spPr>
          <a:xfrm>
            <a:off x="548640" y="4434840"/>
            <a:ext cx="1691640" cy="201168"/>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IGUALDAD</a:t>
            </a:r>
            <a:endParaRPr lang="es-CL" sz="850" dirty="0"/>
          </a:p>
        </p:txBody>
      </p:sp>
      <p:sp>
        <p:nvSpPr>
          <p:cNvPr id="13" name="Shape 11"/>
          <p:cNvSpPr/>
          <p:nvPr/>
        </p:nvSpPr>
        <p:spPr>
          <a:xfrm>
            <a:off x="2423160" y="3538728"/>
            <a:ext cx="1691640" cy="0"/>
          </a:xfrm>
          <a:prstGeom prst="line">
            <a:avLst/>
          </a:prstGeom>
          <a:noFill/>
          <a:ln w="9525">
            <a:solidFill>
              <a:schemeClr val="accent5"/>
            </a:solidFill>
            <a:prstDash val="solid"/>
          </a:ln>
        </p:spPr>
      </p:sp>
      <p:sp>
        <p:nvSpPr>
          <p:cNvPr id="14" name="Text 12"/>
          <p:cNvSpPr txBox="1"/>
          <p:nvPr/>
        </p:nvSpPr>
        <p:spPr>
          <a:xfrm>
            <a:off x="2423160" y="3611880"/>
            <a:ext cx="1691640" cy="822960"/>
          </a:xfrm>
          <a:prstGeom prst="rect">
            <a:avLst/>
          </a:prstGeom>
          <a:noFill/>
          <a:ln/>
        </p:spPr>
        <p:txBody>
          <a:bodyPr wrap="square" lIns="0" tIns="0" rIns="0" bIns="0" rtlCol="0" anchor="t"/>
          <a:lstStyle/>
          <a:p>
            <a:pPr indent="0" marL="0">
              <a:buNone/>
            </a:pPr>
            <a:r>
              <a:rPr lang="es-CL" altLang="en-US" sz="6400" b="1" dirty="0">
                <a:solidFill>
                  <a:schemeClr val="tx2"/>
                </a:solidFill>
                <a:latin typeface="Archivo Condensed" pitchFamily="34" charset="0"/>
                <a:ea typeface="Archivo Condensed" pitchFamily="34" charset="-122"/>
                <a:cs typeface="Archivo Condensed" pitchFamily="34" charset="-120"/>
              </a:rPr>
              <a:t>0</a:t>
            </a:r>
            <a:endParaRPr lang="es-CL" sz="6400" dirty="0"/>
          </a:p>
        </p:txBody>
      </p:sp>
      <p:sp>
        <p:nvSpPr>
          <p:cNvPr id="15" name="Text 13"/>
          <p:cNvSpPr txBox="1"/>
          <p:nvPr/>
        </p:nvSpPr>
        <p:spPr>
          <a:xfrm>
            <a:off x="2423160" y="4434840"/>
            <a:ext cx="1691640" cy="201168"/>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DESVENTAJA</a:t>
            </a:r>
            <a:endParaRPr lang="es-CL" sz="850" dirty="0"/>
          </a:p>
        </p:txBody>
      </p:sp>
      <p:sp>
        <p:nvSpPr>
          <p:cNvPr id="16" name="Text 14"/>
          <p:cNvSpPr txBox="1"/>
          <p:nvPr/>
        </p:nvSpPr>
        <p:spPr>
          <a:xfrm>
            <a:off x="548640" y="4892040"/>
            <a:ext cx="3566160" cy="1188720"/>
          </a:xfrm>
          <a:prstGeom prst="rect">
            <a:avLst/>
          </a:prstGeom>
          <a:noFill/>
          <a:ln/>
        </p:spPr>
        <p:txBody>
          <a:bodyPr wrap="square" lIns="0" tIns="0" rIns="0" bIns="0" rtlCol="0" anchor="t"/>
          <a:lstStyle/>
          <a:p>
            <a:pPr indent="0" marL="0">
              <a:buNone/>
            </a:pPr>
            <a:r>
              <a:rPr lang="es-CL" altLang="en-US" sz="1350" b="1" dirty="0">
                <a:solidFill>
                  <a:schemeClr val="tx1"/>
                </a:solidFill>
                <a:latin typeface="Figtree" pitchFamily="34" charset="0"/>
                <a:ea typeface="Figtree" pitchFamily="34" charset="-122"/>
                <a:cs typeface="Figtree" pitchFamily="34" charset="-120"/>
              </a:rPr>
              <a:t>Conocimiento de calibración por marca y modelo. </a:t>
            </a:r>
            <a:pPr indent="0" marL="0">
              <a:buNone/>
            </a:pPr>
            <a:r>
              <a:rPr lang="es-CL" altLang="en-US" sz="1350" dirty="0">
                <a:solidFill>
                  <a:schemeClr val="tx2"/>
                </a:solidFill>
                <a:latin typeface="Figtree" pitchFamily="34" charset="0"/>
                <a:ea typeface="Figtree" pitchFamily="34" charset="-122"/>
                <a:cs typeface="Figtree" pitchFamily="34" charset="-120"/>
              </a:rPr>
              <a:t>Sostenible solo si se protege como secreto empresarial.</a:t>
            </a:r>
            <a:endParaRPr lang="es-CL" sz="1350" dirty="0"/>
          </a:p>
        </p:txBody>
      </p:sp>
      <p:sp>
        <p:nvSpPr>
          <p:cNvPr id="17" name="Text 15"/>
          <p:cNvSpPr txBox="1"/>
          <p:nvPr/>
        </p:nvSpPr>
        <p:spPr>
          <a:xfrm>
            <a:off x="4617720" y="2331720"/>
            <a:ext cx="365760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RECURSO O CAPACIDAD</a:t>
            </a:r>
            <a:endParaRPr lang="es-CL" sz="850" dirty="0"/>
          </a:p>
        </p:txBody>
      </p:sp>
      <p:sp>
        <p:nvSpPr>
          <p:cNvPr id="18" name="Text 16"/>
          <p:cNvSpPr txBox="1"/>
          <p:nvPr/>
        </p:nvSpPr>
        <p:spPr>
          <a:xfrm>
            <a:off x="8762695" y="2331720"/>
            <a:ext cx="274320" cy="219456"/>
          </a:xfrm>
          <a:prstGeom prst="rect">
            <a:avLst/>
          </a:prstGeom>
          <a:noFill/>
          <a:ln/>
        </p:spPr>
        <p:txBody>
          <a:bodyPr wrap="square" lIns="0" tIns="0" rIns="0" bIns="0" rtlCol="0" anchor="t"/>
          <a:lstStyle/>
          <a:p>
            <a:pPr algn="ct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V</a:t>
            </a:r>
            <a:endParaRPr lang="es-CL" sz="850" dirty="0"/>
          </a:p>
        </p:txBody>
      </p:sp>
      <p:sp>
        <p:nvSpPr>
          <p:cNvPr id="19" name="Text 17"/>
          <p:cNvSpPr txBox="1"/>
          <p:nvPr/>
        </p:nvSpPr>
        <p:spPr>
          <a:xfrm>
            <a:off x="9091879" y="2331720"/>
            <a:ext cx="274320" cy="219456"/>
          </a:xfrm>
          <a:prstGeom prst="rect">
            <a:avLst/>
          </a:prstGeom>
          <a:noFill/>
          <a:ln/>
        </p:spPr>
        <p:txBody>
          <a:bodyPr wrap="square" lIns="0" tIns="0" rIns="0" bIns="0" rtlCol="0" anchor="t"/>
          <a:lstStyle/>
          <a:p>
            <a:pPr algn="ct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R</a:t>
            </a:r>
            <a:endParaRPr lang="es-CL" sz="850" dirty="0"/>
          </a:p>
        </p:txBody>
      </p:sp>
      <p:sp>
        <p:nvSpPr>
          <p:cNvPr id="20" name="Text 18"/>
          <p:cNvSpPr txBox="1"/>
          <p:nvPr/>
        </p:nvSpPr>
        <p:spPr>
          <a:xfrm>
            <a:off x="9421063" y="2331720"/>
            <a:ext cx="274320" cy="219456"/>
          </a:xfrm>
          <a:prstGeom prst="rect">
            <a:avLst/>
          </a:prstGeom>
          <a:noFill/>
          <a:ln/>
        </p:spPr>
        <p:txBody>
          <a:bodyPr wrap="square" lIns="0" tIns="0" rIns="0" bIns="0" rtlCol="0" anchor="t"/>
          <a:lstStyle/>
          <a:p>
            <a:pPr algn="ct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C</a:t>
            </a:r>
            <a:endParaRPr lang="es-CL" sz="850" dirty="0"/>
          </a:p>
        </p:txBody>
      </p:sp>
      <p:sp>
        <p:nvSpPr>
          <p:cNvPr id="21" name="Text 19"/>
          <p:cNvSpPr txBox="1"/>
          <p:nvPr/>
        </p:nvSpPr>
        <p:spPr>
          <a:xfrm>
            <a:off x="9750247" y="2331720"/>
            <a:ext cx="274320" cy="219456"/>
          </a:xfrm>
          <a:prstGeom prst="rect">
            <a:avLst/>
          </a:prstGeom>
          <a:noFill/>
          <a:ln/>
        </p:spPr>
        <p:txBody>
          <a:bodyPr wrap="square" lIns="0" tIns="0" rIns="0" bIns="0" rtlCol="0" anchor="t"/>
          <a:lstStyle/>
          <a:p>
            <a:pPr algn="ct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I</a:t>
            </a:r>
            <a:endParaRPr lang="es-CL" sz="850" dirty="0"/>
          </a:p>
        </p:txBody>
      </p:sp>
      <p:sp>
        <p:nvSpPr>
          <p:cNvPr id="22" name="Text 20"/>
          <p:cNvSpPr txBox="1"/>
          <p:nvPr/>
        </p:nvSpPr>
        <p:spPr>
          <a:xfrm>
            <a:off x="10225735" y="2331720"/>
            <a:ext cx="1417320" cy="219456"/>
          </a:xfrm>
          <a:prstGeom prst="rect">
            <a:avLst/>
          </a:prstGeom>
          <a:noFill/>
          <a:ln/>
        </p:spPr>
        <p:txBody>
          <a:bodyPr wrap="square" lIns="0" tIns="0" rIns="0" bIns="0" rtlCol="0" anchor="t"/>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CONSECUENCIA</a:t>
            </a:r>
            <a:endParaRPr lang="es-CL" sz="850" dirty="0"/>
          </a:p>
        </p:txBody>
      </p:sp>
      <p:sp>
        <p:nvSpPr>
          <p:cNvPr id="23" name="Shape 21"/>
          <p:cNvSpPr/>
          <p:nvPr/>
        </p:nvSpPr>
        <p:spPr>
          <a:xfrm>
            <a:off x="4617720" y="2606040"/>
            <a:ext cx="7025335" cy="0"/>
          </a:xfrm>
          <a:prstGeom prst="line">
            <a:avLst/>
          </a:prstGeom>
          <a:noFill/>
          <a:ln w="9525">
            <a:solidFill>
              <a:schemeClr val="accent5"/>
            </a:solidFill>
            <a:prstDash val="solid"/>
          </a:ln>
        </p:spPr>
      </p:sp>
      <p:sp>
        <p:nvSpPr>
          <p:cNvPr id="24" name="Text 22"/>
          <p:cNvSpPr txBox="1"/>
          <p:nvPr/>
        </p:nvSpPr>
        <p:spPr>
          <a:xfrm>
            <a:off x="4617720" y="2606040"/>
            <a:ext cx="3093415" cy="393192"/>
          </a:xfrm>
          <a:prstGeom prst="rect">
            <a:avLst/>
          </a:prstGeom>
          <a:noFill/>
          <a:ln/>
        </p:spPr>
        <p:txBody>
          <a:bodyPr wrap="square" lIns="0" tIns="0" rIns="0" bIns="0" rtlCol="0" anchor="ctr"/>
          <a:lstStyle/>
          <a:p>
            <a:pPr indent="0" marL="0">
              <a:buNone/>
            </a:pPr>
            <a:r>
              <a:rPr lang="es-CL" altLang="en-US" sz="1250" b="1" dirty="0">
                <a:solidFill>
                  <a:schemeClr val="tx1"/>
                </a:solidFill>
                <a:latin typeface="Figtree" pitchFamily="34" charset="0"/>
                <a:ea typeface="Figtree" pitchFamily="34" charset="-122"/>
                <a:cs typeface="Figtree" pitchFamily="34" charset="-120"/>
              </a:rPr>
              <a:t>Biblioteca de calibraciones</a:t>
            </a:r>
            <a:endParaRPr lang="es-CL" sz="1250" dirty="0"/>
          </a:p>
        </p:txBody>
      </p:sp>
      <p:sp>
        <p:nvSpPr>
          <p:cNvPr id="25" name="Text 23"/>
          <p:cNvSpPr txBox="1"/>
          <p:nvPr/>
        </p:nvSpPr>
        <p:spPr>
          <a:xfrm>
            <a:off x="7738567" y="2606040"/>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RECURSO</a:t>
            </a:r>
            <a:endParaRPr lang="es-CL" sz="700" dirty="0"/>
          </a:p>
        </p:txBody>
      </p:sp>
      <p:sp>
        <p:nvSpPr>
          <p:cNvPr id="26" name="Shape 24"/>
          <p:cNvSpPr/>
          <p:nvPr/>
        </p:nvSpPr>
        <p:spPr>
          <a:xfrm>
            <a:off x="8835847" y="2738628"/>
            <a:ext cx="128016" cy="128016"/>
          </a:xfrm>
          <a:prstGeom prst="rect">
            <a:avLst/>
          </a:prstGeom>
          <a:solidFill>
            <a:schemeClr val="accent1"/>
          </a:solidFill>
          <a:ln w="9525">
            <a:solidFill>
              <a:schemeClr val="accent1"/>
            </a:solidFill>
            <a:prstDash val="solid"/>
          </a:ln>
        </p:spPr>
      </p:sp>
      <p:sp>
        <p:nvSpPr>
          <p:cNvPr id="27" name="Shape 25"/>
          <p:cNvSpPr/>
          <p:nvPr/>
        </p:nvSpPr>
        <p:spPr>
          <a:xfrm>
            <a:off x="9165031" y="2738628"/>
            <a:ext cx="128016" cy="128016"/>
          </a:xfrm>
          <a:prstGeom prst="rect">
            <a:avLst/>
          </a:prstGeom>
          <a:solidFill>
            <a:schemeClr val="accent1"/>
          </a:solidFill>
          <a:ln w="9525">
            <a:solidFill>
              <a:schemeClr val="accent1"/>
            </a:solidFill>
            <a:prstDash val="solid"/>
          </a:ln>
        </p:spPr>
      </p:sp>
      <p:sp>
        <p:nvSpPr>
          <p:cNvPr id="28" name="Shape 26"/>
          <p:cNvSpPr/>
          <p:nvPr/>
        </p:nvSpPr>
        <p:spPr>
          <a:xfrm>
            <a:off x="9494215" y="2738628"/>
            <a:ext cx="128016" cy="128016"/>
          </a:xfrm>
          <a:prstGeom prst="rect">
            <a:avLst/>
          </a:prstGeom>
          <a:solidFill>
            <a:schemeClr val="accent1"/>
          </a:solidFill>
          <a:ln w="9525">
            <a:solidFill>
              <a:schemeClr val="accent1"/>
            </a:solidFill>
            <a:prstDash val="solid"/>
          </a:ln>
        </p:spPr>
      </p:sp>
      <p:sp>
        <p:nvSpPr>
          <p:cNvPr id="29" name="Shape 27"/>
          <p:cNvSpPr/>
          <p:nvPr/>
        </p:nvSpPr>
        <p:spPr>
          <a:xfrm>
            <a:off x="9823399" y="2738628"/>
            <a:ext cx="128016" cy="128016"/>
          </a:xfrm>
          <a:prstGeom prst="rect">
            <a:avLst/>
          </a:prstGeom>
          <a:solidFill>
            <a:schemeClr val="accent1"/>
          </a:solidFill>
          <a:ln w="9525">
            <a:solidFill>
              <a:schemeClr val="accent1"/>
            </a:solidFill>
            <a:prstDash val="solid"/>
          </a:ln>
        </p:spPr>
      </p:sp>
      <p:sp>
        <p:nvSpPr>
          <p:cNvPr id="30" name="Text 28"/>
          <p:cNvSpPr txBox="1"/>
          <p:nvPr/>
        </p:nvSpPr>
        <p:spPr>
          <a:xfrm>
            <a:off x="10225735" y="2606040"/>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SOSTENIBLE</a:t>
            </a:r>
            <a:endParaRPr lang="es-CL" sz="850" dirty="0"/>
          </a:p>
        </p:txBody>
      </p:sp>
      <p:sp>
        <p:nvSpPr>
          <p:cNvPr id="31" name="Shape 29"/>
          <p:cNvSpPr/>
          <p:nvPr/>
        </p:nvSpPr>
        <p:spPr>
          <a:xfrm>
            <a:off x="4617720" y="2999232"/>
            <a:ext cx="7025335" cy="0"/>
          </a:xfrm>
          <a:prstGeom prst="line">
            <a:avLst/>
          </a:prstGeom>
          <a:noFill/>
          <a:ln w="9525">
            <a:solidFill>
              <a:schemeClr val="accent5"/>
            </a:solidFill>
            <a:prstDash val="solid"/>
          </a:ln>
        </p:spPr>
      </p:sp>
      <p:sp>
        <p:nvSpPr>
          <p:cNvPr id="32" name="Text 30"/>
          <p:cNvSpPr txBox="1"/>
          <p:nvPr/>
        </p:nvSpPr>
        <p:spPr>
          <a:xfrm>
            <a:off x="4617720" y="2999232"/>
            <a:ext cx="3093415" cy="393192"/>
          </a:xfrm>
          <a:prstGeom prst="rect">
            <a:avLst/>
          </a:prstGeom>
          <a:noFill/>
          <a:ln/>
        </p:spPr>
        <p:txBody>
          <a:bodyPr wrap="square" lIns="0" tIns="0" rIns="0" bIns="0" rtlCol="0" anchor="ctr"/>
          <a:lstStyle/>
          <a:p>
            <a:pPr indent="0" marL="0">
              <a:buNone/>
            </a:pPr>
            <a:r>
              <a:rPr lang="es-CL" altLang="en-US" sz="1250" b="1" dirty="0">
                <a:solidFill>
                  <a:schemeClr val="tx1"/>
                </a:solidFill>
                <a:latin typeface="Figtree" pitchFamily="34" charset="0"/>
                <a:ea typeface="Figtree" pitchFamily="34" charset="-122"/>
                <a:cs typeface="Figtree" pitchFamily="34" charset="-120"/>
              </a:rPr>
              <a:t>Ingeniería de integración y calibración</a:t>
            </a:r>
            <a:endParaRPr lang="es-CL" sz="1250" dirty="0"/>
          </a:p>
        </p:txBody>
      </p:sp>
      <p:sp>
        <p:nvSpPr>
          <p:cNvPr id="33" name="Text 31"/>
          <p:cNvSpPr txBox="1"/>
          <p:nvPr/>
        </p:nvSpPr>
        <p:spPr>
          <a:xfrm>
            <a:off x="7738567" y="2999232"/>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CAPACIDAD</a:t>
            </a:r>
            <a:endParaRPr lang="es-CL" sz="700" dirty="0"/>
          </a:p>
        </p:txBody>
      </p:sp>
      <p:sp>
        <p:nvSpPr>
          <p:cNvPr id="34" name="Shape 32"/>
          <p:cNvSpPr/>
          <p:nvPr/>
        </p:nvSpPr>
        <p:spPr>
          <a:xfrm>
            <a:off x="8835847" y="3131820"/>
            <a:ext cx="128016" cy="128016"/>
          </a:xfrm>
          <a:prstGeom prst="rect">
            <a:avLst/>
          </a:prstGeom>
          <a:solidFill>
            <a:schemeClr val="accent1"/>
          </a:solidFill>
          <a:ln w="9525">
            <a:solidFill>
              <a:schemeClr val="accent1"/>
            </a:solidFill>
            <a:prstDash val="solid"/>
          </a:ln>
        </p:spPr>
      </p:sp>
      <p:sp>
        <p:nvSpPr>
          <p:cNvPr id="35" name="Shape 33"/>
          <p:cNvSpPr/>
          <p:nvPr/>
        </p:nvSpPr>
        <p:spPr>
          <a:xfrm>
            <a:off x="9165031" y="3131820"/>
            <a:ext cx="128016" cy="128016"/>
          </a:xfrm>
          <a:prstGeom prst="rect">
            <a:avLst/>
          </a:prstGeom>
          <a:solidFill>
            <a:schemeClr val="accent1"/>
          </a:solidFill>
          <a:ln w="9525">
            <a:solidFill>
              <a:schemeClr val="accent1"/>
            </a:solidFill>
            <a:prstDash val="solid"/>
          </a:ln>
        </p:spPr>
      </p:sp>
      <p:sp>
        <p:nvSpPr>
          <p:cNvPr id="36" name="Shape 34"/>
          <p:cNvSpPr/>
          <p:nvPr/>
        </p:nvSpPr>
        <p:spPr>
          <a:xfrm>
            <a:off x="9494215" y="3131820"/>
            <a:ext cx="128016" cy="128016"/>
          </a:xfrm>
          <a:prstGeom prst="rect">
            <a:avLst/>
          </a:prstGeom>
          <a:solidFill>
            <a:schemeClr val="accent1"/>
          </a:solidFill>
          <a:ln w="9525">
            <a:solidFill>
              <a:schemeClr val="accent1"/>
            </a:solidFill>
            <a:prstDash val="solid"/>
          </a:ln>
        </p:spPr>
      </p:sp>
      <p:sp>
        <p:nvSpPr>
          <p:cNvPr id="37" name="Shape 35"/>
          <p:cNvSpPr/>
          <p:nvPr/>
        </p:nvSpPr>
        <p:spPr>
          <a:xfrm>
            <a:off x="9823399" y="3131820"/>
            <a:ext cx="128016" cy="128016"/>
          </a:xfrm>
          <a:prstGeom prst="rect">
            <a:avLst/>
          </a:prstGeom>
          <a:solidFill>
            <a:schemeClr val="accent1"/>
          </a:solidFill>
          <a:ln w="9525">
            <a:solidFill>
              <a:schemeClr val="accent1"/>
            </a:solidFill>
            <a:prstDash val="solid"/>
          </a:ln>
        </p:spPr>
      </p:sp>
      <p:sp>
        <p:nvSpPr>
          <p:cNvPr id="38" name="Text 36"/>
          <p:cNvSpPr txBox="1"/>
          <p:nvPr/>
        </p:nvSpPr>
        <p:spPr>
          <a:xfrm>
            <a:off x="10225735" y="2999232"/>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SOSTENIBLE</a:t>
            </a:r>
            <a:endParaRPr lang="es-CL" sz="850" dirty="0"/>
          </a:p>
        </p:txBody>
      </p:sp>
      <p:sp>
        <p:nvSpPr>
          <p:cNvPr id="39" name="Shape 37"/>
          <p:cNvSpPr/>
          <p:nvPr/>
        </p:nvSpPr>
        <p:spPr>
          <a:xfrm>
            <a:off x="4617720" y="3392424"/>
            <a:ext cx="7025335" cy="0"/>
          </a:xfrm>
          <a:prstGeom prst="line">
            <a:avLst/>
          </a:prstGeom>
          <a:noFill/>
          <a:ln w="9525">
            <a:solidFill>
              <a:schemeClr val="accent5"/>
            </a:solidFill>
            <a:prstDash val="solid"/>
          </a:ln>
        </p:spPr>
      </p:sp>
      <p:sp>
        <p:nvSpPr>
          <p:cNvPr id="40" name="Text 38"/>
          <p:cNvSpPr txBox="1"/>
          <p:nvPr/>
        </p:nvSpPr>
        <p:spPr>
          <a:xfrm>
            <a:off x="4617720" y="3392424"/>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Formación interna en proceso y calibración</a:t>
            </a:r>
            <a:endParaRPr lang="es-CL" sz="1250" dirty="0"/>
          </a:p>
        </p:txBody>
      </p:sp>
      <p:sp>
        <p:nvSpPr>
          <p:cNvPr id="41" name="Text 39"/>
          <p:cNvSpPr txBox="1"/>
          <p:nvPr/>
        </p:nvSpPr>
        <p:spPr>
          <a:xfrm>
            <a:off x="7738567" y="3392424"/>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CAPACIDAD</a:t>
            </a:r>
            <a:endParaRPr lang="es-CL" sz="700" dirty="0"/>
          </a:p>
        </p:txBody>
      </p:sp>
      <p:sp>
        <p:nvSpPr>
          <p:cNvPr id="42" name="Shape 40"/>
          <p:cNvSpPr/>
          <p:nvPr/>
        </p:nvSpPr>
        <p:spPr>
          <a:xfrm>
            <a:off x="8835847" y="3525012"/>
            <a:ext cx="128016" cy="128016"/>
          </a:xfrm>
          <a:prstGeom prst="rect">
            <a:avLst/>
          </a:prstGeom>
          <a:solidFill>
            <a:schemeClr val="tx2"/>
          </a:solidFill>
          <a:ln w="9525">
            <a:solidFill>
              <a:schemeClr val="tx2"/>
            </a:solidFill>
            <a:prstDash val="solid"/>
          </a:ln>
        </p:spPr>
      </p:sp>
      <p:sp>
        <p:nvSpPr>
          <p:cNvPr id="43" name="Shape 41"/>
          <p:cNvSpPr/>
          <p:nvPr/>
        </p:nvSpPr>
        <p:spPr>
          <a:xfrm>
            <a:off x="9165031" y="3525012"/>
            <a:ext cx="128016" cy="128016"/>
          </a:xfrm>
          <a:prstGeom prst="rect">
            <a:avLst/>
          </a:prstGeom>
          <a:solidFill>
            <a:schemeClr val="tx2"/>
          </a:solidFill>
          <a:ln w="9525">
            <a:solidFill>
              <a:schemeClr val="tx2"/>
            </a:solidFill>
            <a:prstDash val="solid"/>
          </a:ln>
        </p:spPr>
      </p:sp>
      <p:sp>
        <p:nvSpPr>
          <p:cNvPr id="44" name="Shape 42"/>
          <p:cNvSpPr/>
          <p:nvPr/>
        </p:nvSpPr>
        <p:spPr>
          <a:xfrm>
            <a:off x="9494215" y="3525012"/>
            <a:ext cx="128016" cy="128016"/>
          </a:xfrm>
          <a:prstGeom prst="rect">
            <a:avLst/>
          </a:prstGeom>
          <a:solidFill>
            <a:schemeClr val="tx2"/>
          </a:solidFill>
          <a:ln w="9525">
            <a:solidFill>
              <a:schemeClr val="tx2"/>
            </a:solidFill>
            <a:prstDash val="solid"/>
          </a:ln>
        </p:spPr>
      </p:sp>
      <p:sp>
        <p:nvSpPr>
          <p:cNvPr id="45" name="Shape 43"/>
          <p:cNvSpPr/>
          <p:nvPr/>
        </p:nvSpPr>
        <p:spPr>
          <a:xfrm>
            <a:off x="9823399" y="3525012"/>
            <a:ext cx="128016" cy="128016"/>
          </a:xfrm>
          <a:prstGeom prst="rect">
            <a:avLst/>
          </a:prstGeom>
          <a:solidFill>
            <a:schemeClr val="bg1"/>
          </a:solidFill>
          <a:ln w="9525">
            <a:solidFill>
              <a:schemeClr val="accent5"/>
            </a:solidFill>
            <a:prstDash val="solid"/>
          </a:ln>
        </p:spPr>
      </p:sp>
      <p:sp>
        <p:nvSpPr>
          <p:cNvPr id="46" name="Text 44"/>
          <p:cNvSpPr txBox="1"/>
          <p:nvPr/>
        </p:nvSpPr>
        <p:spPr>
          <a:xfrm>
            <a:off x="10225735" y="3392424"/>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TEMPORAL</a:t>
            </a:r>
            <a:endParaRPr lang="es-CL" sz="850" dirty="0"/>
          </a:p>
        </p:txBody>
      </p:sp>
      <p:sp>
        <p:nvSpPr>
          <p:cNvPr id="47" name="Shape 45"/>
          <p:cNvSpPr/>
          <p:nvPr/>
        </p:nvSpPr>
        <p:spPr>
          <a:xfrm>
            <a:off x="4617720" y="3785616"/>
            <a:ext cx="7025335" cy="0"/>
          </a:xfrm>
          <a:prstGeom prst="line">
            <a:avLst/>
          </a:prstGeom>
          <a:noFill/>
          <a:ln w="9525">
            <a:solidFill>
              <a:schemeClr val="accent5"/>
            </a:solidFill>
            <a:prstDash val="solid"/>
          </a:ln>
        </p:spPr>
      </p:sp>
      <p:sp>
        <p:nvSpPr>
          <p:cNvPr id="48" name="Text 46"/>
          <p:cNvSpPr txBox="1"/>
          <p:nvPr/>
        </p:nvSpPr>
        <p:spPr>
          <a:xfrm>
            <a:off x="4617720" y="3785616"/>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Homologación por par modelo-kit</a:t>
            </a:r>
            <a:endParaRPr lang="es-CL" sz="1250" dirty="0"/>
          </a:p>
        </p:txBody>
      </p:sp>
      <p:sp>
        <p:nvSpPr>
          <p:cNvPr id="49" name="Text 47"/>
          <p:cNvSpPr txBox="1"/>
          <p:nvPr/>
        </p:nvSpPr>
        <p:spPr>
          <a:xfrm>
            <a:off x="7738567" y="3785616"/>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RECURSO</a:t>
            </a:r>
            <a:endParaRPr lang="es-CL" sz="700" dirty="0"/>
          </a:p>
        </p:txBody>
      </p:sp>
      <p:sp>
        <p:nvSpPr>
          <p:cNvPr id="50" name="Shape 48"/>
          <p:cNvSpPr/>
          <p:nvPr/>
        </p:nvSpPr>
        <p:spPr>
          <a:xfrm>
            <a:off x="8835847" y="3918204"/>
            <a:ext cx="128016" cy="128016"/>
          </a:xfrm>
          <a:prstGeom prst="rect">
            <a:avLst/>
          </a:prstGeom>
          <a:solidFill>
            <a:schemeClr val="tx2"/>
          </a:solidFill>
          <a:ln w="9525">
            <a:solidFill>
              <a:schemeClr val="tx2"/>
            </a:solidFill>
            <a:prstDash val="solid"/>
          </a:ln>
        </p:spPr>
      </p:sp>
      <p:sp>
        <p:nvSpPr>
          <p:cNvPr id="51" name="Shape 49"/>
          <p:cNvSpPr/>
          <p:nvPr/>
        </p:nvSpPr>
        <p:spPr>
          <a:xfrm>
            <a:off x="9165031" y="3918204"/>
            <a:ext cx="128016" cy="128016"/>
          </a:xfrm>
          <a:prstGeom prst="rect">
            <a:avLst/>
          </a:prstGeom>
          <a:solidFill>
            <a:schemeClr val="tx2"/>
          </a:solidFill>
          <a:ln w="9525">
            <a:solidFill>
              <a:schemeClr val="tx2"/>
            </a:solidFill>
            <a:prstDash val="solid"/>
          </a:ln>
        </p:spPr>
      </p:sp>
      <p:sp>
        <p:nvSpPr>
          <p:cNvPr id="52" name="Shape 50"/>
          <p:cNvSpPr/>
          <p:nvPr/>
        </p:nvSpPr>
        <p:spPr>
          <a:xfrm>
            <a:off x="9494215" y="3918204"/>
            <a:ext cx="128016" cy="128016"/>
          </a:xfrm>
          <a:prstGeom prst="rect">
            <a:avLst/>
          </a:prstGeom>
          <a:solidFill>
            <a:schemeClr val="bg1"/>
          </a:solidFill>
          <a:ln w="9525">
            <a:solidFill>
              <a:schemeClr val="accent5"/>
            </a:solidFill>
            <a:prstDash val="solid"/>
          </a:ln>
        </p:spPr>
      </p:sp>
      <p:sp>
        <p:nvSpPr>
          <p:cNvPr id="53" name="Shape 51"/>
          <p:cNvSpPr/>
          <p:nvPr/>
        </p:nvSpPr>
        <p:spPr>
          <a:xfrm>
            <a:off x="9823399" y="3918204"/>
            <a:ext cx="128016" cy="128016"/>
          </a:xfrm>
          <a:prstGeom prst="rect">
            <a:avLst/>
          </a:prstGeom>
          <a:solidFill>
            <a:schemeClr val="bg1"/>
          </a:solidFill>
          <a:ln w="9525">
            <a:solidFill>
              <a:schemeClr val="accent5"/>
            </a:solidFill>
            <a:prstDash val="solid"/>
          </a:ln>
        </p:spPr>
      </p:sp>
      <p:sp>
        <p:nvSpPr>
          <p:cNvPr id="54" name="Text 52"/>
          <p:cNvSpPr txBox="1"/>
          <p:nvPr/>
        </p:nvSpPr>
        <p:spPr>
          <a:xfrm>
            <a:off x="10225735" y="3785616"/>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TEMPORAL</a:t>
            </a:r>
            <a:endParaRPr lang="es-CL" sz="850" dirty="0"/>
          </a:p>
        </p:txBody>
      </p:sp>
      <p:sp>
        <p:nvSpPr>
          <p:cNvPr id="55" name="Shape 53"/>
          <p:cNvSpPr/>
          <p:nvPr/>
        </p:nvSpPr>
        <p:spPr>
          <a:xfrm>
            <a:off x="4617720" y="4178808"/>
            <a:ext cx="7025335" cy="0"/>
          </a:xfrm>
          <a:prstGeom prst="line">
            <a:avLst/>
          </a:prstGeom>
          <a:noFill/>
          <a:ln w="9525">
            <a:solidFill>
              <a:schemeClr val="accent5"/>
            </a:solidFill>
            <a:prstDash val="solid"/>
          </a:ln>
        </p:spPr>
      </p:sp>
      <p:sp>
        <p:nvSpPr>
          <p:cNvPr id="56" name="Text 54"/>
          <p:cNvSpPr txBox="1"/>
          <p:nvPr/>
        </p:nvSpPr>
        <p:spPr>
          <a:xfrm>
            <a:off x="4617720" y="4178808"/>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Autorización del taller</a:t>
            </a:r>
            <a:endParaRPr lang="es-CL" sz="1250" dirty="0"/>
          </a:p>
        </p:txBody>
      </p:sp>
      <p:sp>
        <p:nvSpPr>
          <p:cNvPr id="57" name="Text 55"/>
          <p:cNvSpPr txBox="1"/>
          <p:nvPr/>
        </p:nvSpPr>
        <p:spPr>
          <a:xfrm>
            <a:off x="7738567" y="4178808"/>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RECURSO</a:t>
            </a:r>
            <a:endParaRPr lang="es-CL" sz="700" dirty="0"/>
          </a:p>
        </p:txBody>
      </p:sp>
      <p:sp>
        <p:nvSpPr>
          <p:cNvPr id="58" name="Shape 56"/>
          <p:cNvSpPr/>
          <p:nvPr/>
        </p:nvSpPr>
        <p:spPr>
          <a:xfrm>
            <a:off x="8835847" y="4311396"/>
            <a:ext cx="128016" cy="128016"/>
          </a:xfrm>
          <a:prstGeom prst="rect">
            <a:avLst/>
          </a:prstGeom>
          <a:solidFill>
            <a:schemeClr val="tx2"/>
          </a:solidFill>
          <a:ln w="9525">
            <a:solidFill>
              <a:schemeClr val="tx2"/>
            </a:solidFill>
            <a:prstDash val="solid"/>
          </a:ln>
        </p:spPr>
      </p:sp>
      <p:sp>
        <p:nvSpPr>
          <p:cNvPr id="59" name="Shape 57"/>
          <p:cNvSpPr/>
          <p:nvPr/>
        </p:nvSpPr>
        <p:spPr>
          <a:xfrm>
            <a:off x="9165031" y="4311396"/>
            <a:ext cx="128016" cy="128016"/>
          </a:xfrm>
          <a:prstGeom prst="rect">
            <a:avLst/>
          </a:prstGeom>
          <a:solidFill>
            <a:schemeClr val="tx2"/>
          </a:solidFill>
          <a:ln w="9525">
            <a:solidFill>
              <a:schemeClr val="tx2"/>
            </a:solidFill>
            <a:prstDash val="solid"/>
          </a:ln>
        </p:spPr>
      </p:sp>
      <p:sp>
        <p:nvSpPr>
          <p:cNvPr id="60" name="Shape 58"/>
          <p:cNvSpPr/>
          <p:nvPr/>
        </p:nvSpPr>
        <p:spPr>
          <a:xfrm>
            <a:off x="9494215" y="4311396"/>
            <a:ext cx="128016" cy="128016"/>
          </a:xfrm>
          <a:prstGeom prst="rect">
            <a:avLst/>
          </a:prstGeom>
          <a:solidFill>
            <a:schemeClr val="bg1"/>
          </a:solidFill>
          <a:ln w="9525">
            <a:solidFill>
              <a:schemeClr val="accent5"/>
            </a:solidFill>
            <a:prstDash val="solid"/>
          </a:ln>
        </p:spPr>
      </p:sp>
      <p:sp>
        <p:nvSpPr>
          <p:cNvPr id="61" name="Shape 59"/>
          <p:cNvSpPr/>
          <p:nvPr/>
        </p:nvSpPr>
        <p:spPr>
          <a:xfrm>
            <a:off x="9823399" y="4311396"/>
            <a:ext cx="128016" cy="128016"/>
          </a:xfrm>
          <a:prstGeom prst="rect">
            <a:avLst/>
          </a:prstGeom>
          <a:solidFill>
            <a:schemeClr val="bg1"/>
          </a:solidFill>
          <a:ln w="9525">
            <a:solidFill>
              <a:schemeClr val="accent5"/>
            </a:solidFill>
            <a:prstDash val="solid"/>
          </a:ln>
        </p:spPr>
      </p:sp>
      <p:sp>
        <p:nvSpPr>
          <p:cNvPr id="62" name="Text 60"/>
          <p:cNvSpPr txBox="1"/>
          <p:nvPr/>
        </p:nvSpPr>
        <p:spPr>
          <a:xfrm>
            <a:off x="10225735" y="4178808"/>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TEMPORAL</a:t>
            </a:r>
            <a:endParaRPr lang="es-CL" sz="850" dirty="0"/>
          </a:p>
        </p:txBody>
      </p:sp>
      <p:sp>
        <p:nvSpPr>
          <p:cNvPr id="63" name="Shape 61"/>
          <p:cNvSpPr/>
          <p:nvPr/>
        </p:nvSpPr>
        <p:spPr>
          <a:xfrm>
            <a:off x="4617720" y="4572000"/>
            <a:ext cx="7025335" cy="0"/>
          </a:xfrm>
          <a:prstGeom prst="line">
            <a:avLst/>
          </a:prstGeom>
          <a:noFill/>
          <a:ln w="9525">
            <a:solidFill>
              <a:schemeClr val="accent5"/>
            </a:solidFill>
            <a:prstDash val="solid"/>
          </a:ln>
        </p:spPr>
      </p:sp>
      <p:sp>
        <p:nvSpPr>
          <p:cNvPr id="64" name="Text 62"/>
          <p:cNvSpPr txBox="1"/>
          <p:nvPr/>
        </p:nvSpPr>
        <p:spPr>
          <a:xfrm>
            <a:off x="4617720" y="4572000"/>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Técnicos con licencia SEC</a:t>
            </a:r>
            <a:endParaRPr lang="es-CL" sz="1250" dirty="0"/>
          </a:p>
        </p:txBody>
      </p:sp>
      <p:sp>
        <p:nvSpPr>
          <p:cNvPr id="65" name="Text 63"/>
          <p:cNvSpPr txBox="1"/>
          <p:nvPr/>
        </p:nvSpPr>
        <p:spPr>
          <a:xfrm>
            <a:off x="7738567" y="4572000"/>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RECURSO</a:t>
            </a:r>
            <a:endParaRPr lang="es-CL" sz="700" dirty="0"/>
          </a:p>
        </p:txBody>
      </p:sp>
      <p:sp>
        <p:nvSpPr>
          <p:cNvPr id="66" name="Shape 64"/>
          <p:cNvSpPr/>
          <p:nvPr/>
        </p:nvSpPr>
        <p:spPr>
          <a:xfrm>
            <a:off x="8835847" y="4704588"/>
            <a:ext cx="128016" cy="128016"/>
          </a:xfrm>
          <a:prstGeom prst="rect">
            <a:avLst/>
          </a:prstGeom>
          <a:solidFill>
            <a:schemeClr val="tx2"/>
          </a:solidFill>
          <a:ln w="9525">
            <a:solidFill>
              <a:schemeClr val="tx2"/>
            </a:solidFill>
            <a:prstDash val="solid"/>
          </a:ln>
        </p:spPr>
      </p:sp>
      <p:sp>
        <p:nvSpPr>
          <p:cNvPr id="67" name="Shape 65"/>
          <p:cNvSpPr/>
          <p:nvPr/>
        </p:nvSpPr>
        <p:spPr>
          <a:xfrm>
            <a:off x="9165031" y="4704588"/>
            <a:ext cx="128016" cy="128016"/>
          </a:xfrm>
          <a:prstGeom prst="rect">
            <a:avLst/>
          </a:prstGeom>
          <a:solidFill>
            <a:schemeClr val="tx2"/>
          </a:solidFill>
          <a:ln w="9525">
            <a:solidFill>
              <a:schemeClr val="tx2"/>
            </a:solidFill>
            <a:prstDash val="solid"/>
          </a:ln>
        </p:spPr>
      </p:sp>
      <p:sp>
        <p:nvSpPr>
          <p:cNvPr id="68" name="Shape 66"/>
          <p:cNvSpPr/>
          <p:nvPr/>
        </p:nvSpPr>
        <p:spPr>
          <a:xfrm>
            <a:off x="9494215" y="4704588"/>
            <a:ext cx="128016" cy="128016"/>
          </a:xfrm>
          <a:prstGeom prst="rect">
            <a:avLst/>
          </a:prstGeom>
          <a:solidFill>
            <a:schemeClr val="bg1"/>
          </a:solidFill>
          <a:ln w="9525">
            <a:solidFill>
              <a:schemeClr val="accent5"/>
            </a:solidFill>
            <a:prstDash val="solid"/>
          </a:ln>
        </p:spPr>
      </p:sp>
      <p:sp>
        <p:nvSpPr>
          <p:cNvPr id="69" name="Shape 67"/>
          <p:cNvSpPr/>
          <p:nvPr/>
        </p:nvSpPr>
        <p:spPr>
          <a:xfrm>
            <a:off x="9823399" y="4704588"/>
            <a:ext cx="128016" cy="128016"/>
          </a:xfrm>
          <a:prstGeom prst="rect">
            <a:avLst/>
          </a:prstGeom>
          <a:solidFill>
            <a:schemeClr val="bg1"/>
          </a:solidFill>
          <a:ln w="9525">
            <a:solidFill>
              <a:schemeClr val="accent5"/>
            </a:solidFill>
            <a:prstDash val="solid"/>
          </a:ln>
        </p:spPr>
      </p:sp>
      <p:sp>
        <p:nvSpPr>
          <p:cNvPr id="70" name="Text 68"/>
          <p:cNvSpPr txBox="1"/>
          <p:nvPr/>
        </p:nvSpPr>
        <p:spPr>
          <a:xfrm>
            <a:off x="10225735" y="4572000"/>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TEMPORAL</a:t>
            </a:r>
            <a:endParaRPr lang="es-CL" sz="850" dirty="0"/>
          </a:p>
        </p:txBody>
      </p:sp>
      <p:sp>
        <p:nvSpPr>
          <p:cNvPr id="71" name="Shape 69"/>
          <p:cNvSpPr/>
          <p:nvPr/>
        </p:nvSpPr>
        <p:spPr>
          <a:xfrm>
            <a:off x="4617720" y="4965192"/>
            <a:ext cx="7025335" cy="0"/>
          </a:xfrm>
          <a:prstGeom prst="line">
            <a:avLst/>
          </a:prstGeom>
          <a:noFill/>
          <a:ln w="9525">
            <a:solidFill>
              <a:schemeClr val="accent5"/>
            </a:solidFill>
            <a:prstDash val="solid"/>
          </a:ln>
        </p:spPr>
      </p:sp>
      <p:sp>
        <p:nvSpPr>
          <p:cNvPr id="72" name="Text 70"/>
          <p:cNvSpPr txBox="1"/>
          <p:nvPr/>
        </p:nvSpPr>
        <p:spPr>
          <a:xfrm>
            <a:off x="4617720" y="4965192"/>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Gestión regulatoria e institucional</a:t>
            </a:r>
            <a:endParaRPr lang="es-CL" sz="1250" dirty="0"/>
          </a:p>
        </p:txBody>
      </p:sp>
      <p:sp>
        <p:nvSpPr>
          <p:cNvPr id="73" name="Text 71"/>
          <p:cNvSpPr txBox="1"/>
          <p:nvPr/>
        </p:nvSpPr>
        <p:spPr>
          <a:xfrm>
            <a:off x="7738567" y="4965192"/>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CAPACIDAD</a:t>
            </a:r>
            <a:endParaRPr lang="es-CL" sz="700" dirty="0"/>
          </a:p>
        </p:txBody>
      </p:sp>
      <p:sp>
        <p:nvSpPr>
          <p:cNvPr id="74" name="Shape 72"/>
          <p:cNvSpPr/>
          <p:nvPr/>
        </p:nvSpPr>
        <p:spPr>
          <a:xfrm>
            <a:off x="8835847" y="5097780"/>
            <a:ext cx="128016" cy="128016"/>
          </a:xfrm>
          <a:prstGeom prst="rect">
            <a:avLst/>
          </a:prstGeom>
          <a:solidFill>
            <a:schemeClr val="tx2"/>
          </a:solidFill>
          <a:ln w="9525">
            <a:solidFill>
              <a:schemeClr val="tx2"/>
            </a:solidFill>
            <a:prstDash val="solid"/>
          </a:ln>
        </p:spPr>
      </p:sp>
      <p:sp>
        <p:nvSpPr>
          <p:cNvPr id="75" name="Shape 73"/>
          <p:cNvSpPr/>
          <p:nvPr/>
        </p:nvSpPr>
        <p:spPr>
          <a:xfrm>
            <a:off x="9165031" y="5097780"/>
            <a:ext cx="128016" cy="128016"/>
          </a:xfrm>
          <a:prstGeom prst="rect">
            <a:avLst/>
          </a:prstGeom>
          <a:solidFill>
            <a:schemeClr val="tx2"/>
          </a:solidFill>
          <a:ln w="9525">
            <a:solidFill>
              <a:schemeClr val="tx2"/>
            </a:solidFill>
            <a:prstDash val="solid"/>
          </a:ln>
        </p:spPr>
      </p:sp>
      <p:sp>
        <p:nvSpPr>
          <p:cNvPr id="76" name="Shape 74"/>
          <p:cNvSpPr/>
          <p:nvPr/>
        </p:nvSpPr>
        <p:spPr>
          <a:xfrm>
            <a:off x="9494215" y="5097780"/>
            <a:ext cx="128016" cy="128016"/>
          </a:xfrm>
          <a:prstGeom prst="rect">
            <a:avLst/>
          </a:prstGeom>
          <a:solidFill>
            <a:schemeClr val="bg1"/>
          </a:solidFill>
          <a:ln w="9525">
            <a:solidFill>
              <a:schemeClr val="accent5"/>
            </a:solidFill>
            <a:prstDash val="solid"/>
          </a:ln>
        </p:spPr>
      </p:sp>
      <p:sp>
        <p:nvSpPr>
          <p:cNvPr id="77" name="Shape 75"/>
          <p:cNvSpPr/>
          <p:nvPr/>
        </p:nvSpPr>
        <p:spPr>
          <a:xfrm>
            <a:off x="9823399" y="5097780"/>
            <a:ext cx="128016" cy="128016"/>
          </a:xfrm>
          <a:prstGeom prst="rect">
            <a:avLst/>
          </a:prstGeom>
          <a:solidFill>
            <a:schemeClr val="bg1"/>
          </a:solidFill>
          <a:ln w="9525">
            <a:solidFill>
              <a:schemeClr val="accent5"/>
            </a:solidFill>
            <a:prstDash val="solid"/>
          </a:ln>
        </p:spPr>
      </p:sp>
      <p:sp>
        <p:nvSpPr>
          <p:cNvPr id="78" name="Text 76"/>
          <p:cNvSpPr txBox="1"/>
          <p:nvPr/>
        </p:nvSpPr>
        <p:spPr>
          <a:xfrm>
            <a:off x="10225735" y="4965192"/>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TEMPORAL</a:t>
            </a:r>
            <a:endParaRPr lang="es-CL" sz="850" dirty="0"/>
          </a:p>
        </p:txBody>
      </p:sp>
      <p:sp>
        <p:nvSpPr>
          <p:cNvPr id="79" name="Shape 77"/>
          <p:cNvSpPr/>
          <p:nvPr/>
        </p:nvSpPr>
        <p:spPr>
          <a:xfrm>
            <a:off x="4617720" y="5358384"/>
            <a:ext cx="7025335" cy="0"/>
          </a:xfrm>
          <a:prstGeom prst="line">
            <a:avLst/>
          </a:prstGeom>
          <a:noFill/>
          <a:ln w="9525">
            <a:solidFill>
              <a:schemeClr val="accent5"/>
            </a:solidFill>
            <a:prstDash val="solid"/>
          </a:ln>
        </p:spPr>
      </p:sp>
      <p:sp>
        <p:nvSpPr>
          <p:cNvPr id="80" name="Text 78"/>
          <p:cNvSpPr txBox="1"/>
          <p:nvPr/>
        </p:nvSpPr>
        <p:spPr>
          <a:xfrm>
            <a:off x="4617720" y="5358384"/>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Diagnóstico previo y posventa</a:t>
            </a:r>
            <a:endParaRPr lang="es-CL" sz="1250" dirty="0"/>
          </a:p>
        </p:txBody>
      </p:sp>
      <p:sp>
        <p:nvSpPr>
          <p:cNvPr id="81" name="Text 79"/>
          <p:cNvSpPr txBox="1"/>
          <p:nvPr/>
        </p:nvSpPr>
        <p:spPr>
          <a:xfrm>
            <a:off x="7738567" y="5358384"/>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CAPACIDAD</a:t>
            </a:r>
            <a:endParaRPr lang="es-CL" sz="700" dirty="0"/>
          </a:p>
        </p:txBody>
      </p:sp>
      <p:sp>
        <p:nvSpPr>
          <p:cNvPr id="82" name="Shape 80"/>
          <p:cNvSpPr/>
          <p:nvPr/>
        </p:nvSpPr>
        <p:spPr>
          <a:xfrm>
            <a:off x="8835847" y="5490972"/>
            <a:ext cx="128016" cy="128016"/>
          </a:xfrm>
          <a:prstGeom prst="rect">
            <a:avLst/>
          </a:prstGeom>
          <a:solidFill>
            <a:schemeClr val="tx2"/>
          </a:solidFill>
          <a:ln w="9525">
            <a:solidFill>
              <a:schemeClr val="tx2"/>
            </a:solidFill>
            <a:prstDash val="solid"/>
          </a:ln>
        </p:spPr>
      </p:sp>
      <p:sp>
        <p:nvSpPr>
          <p:cNvPr id="83" name="Shape 81"/>
          <p:cNvSpPr/>
          <p:nvPr/>
        </p:nvSpPr>
        <p:spPr>
          <a:xfrm>
            <a:off x="9165031" y="5490972"/>
            <a:ext cx="128016" cy="128016"/>
          </a:xfrm>
          <a:prstGeom prst="rect">
            <a:avLst/>
          </a:prstGeom>
          <a:solidFill>
            <a:schemeClr val="tx2"/>
          </a:solidFill>
          <a:ln w="9525">
            <a:solidFill>
              <a:schemeClr val="tx2"/>
            </a:solidFill>
            <a:prstDash val="solid"/>
          </a:ln>
        </p:spPr>
      </p:sp>
      <p:sp>
        <p:nvSpPr>
          <p:cNvPr id="84" name="Shape 82"/>
          <p:cNvSpPr/>
          <p:nvPr/>
        </p:nvSpPr>
        <p:spPr>
          <a:xfrm>
            <a:off x="9494215" y="5490972"/>
            <a:ext cx="128016" cy="128016"/>
          </a:xfrm>
          <a:prstGeom prst="rect">
            <a:avLst/>
          </a:prstGeom>
          <a:solidFill>
            <a:schemeClr val="bg1"/>
          </a:solidFill>
          <a:ln w="9525">
            <a:solidFill>
              <a:schemeClr val="accent5"/>
            </a:solidFill>
            <a:prstDash val="solid"/>
          </a:ln>
        </p:spPr>
      </p:sp>
      <p:sp>
        <p:nvSpPr>
          <p:cNvPr id="85" name="Shape 83"/>
          <p:cNvSpPr/>
          <p:nvPr/>
        </p:nvSpPr>
        <p:spPr>
          <a:xfrm>
            <a:off x="9823399" y="5490972"/>
            <a:ext cx="128016" cy="128016"/>
          </a:xfrm>
          <a:prstGeom prst="rect">
            <a:avLst/>
          </a:prstGeom>
          <a:solidFill>
            <a:schemeClr val="bg1"/>
          </a:solidFill>
          <a:ln w="9525">
            <a:solidFill>
              <a:schemeClr val="accent5"/>
            </a:solidFill>
            <a:prstDash val="solid"/>
          </a:ln>
        </p:spPr>
      </p:sp>
      <p:sp>
        <p:nvSpPr>
          <p:cNvPr id="86" name="Text 84"/>
          <p:cNvSpPr txBox="1"/>
          <p:nvPr/>
        </p:nvSpPr>
        <p:spPr>
          <a:xfrm>
            <a:off x="10225735" y="5358384"/>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TEMPORAL</a:t>
            </a:r>
            <a:endParaRPr lang="es-CL" sz="850" dirty="0"/>
          </a:p>
        </p:txBody>
      </p:sp>
      <p:sp>
        <p:nvSpPr>
          <p:cNvPr id="87" name="Shape 85"/>
          <p:cNvSpPr/>
          <p:nvPr/>
        </p:nvSpPr>
        <p:spPr>
          <a:xfrm>
            <a:off x="4617720" y="5751576"/>
            <a:ext cx="7025335" cy="0"/>
          </a:xfrm>
          <a:prstGeom prst="line">
            <a:avLst/>
          </a:prstGeom>
          <a:noFill/>
          <a:ln w="9525">
            <a:solidFill>
              <a:schemeClr val="accent5"/>
            </a:solidFill>
            <a:prstDash val="solid"/>
          </a:ln>
        </p:spPr>
      </p:sp>
      <p:sp>
        <p:nvSpPr>
          <p:cNvPr id="88" name="Text 86"/>
          <p:cNvSpPr txBox="1"/>
          <p:nvPr/>
        </p:nvSpPr>
        <p:spPr>
          <a:xfrm>
            <a:off x="4617720" y="5751576"/>
            <a:ext cx="3093415" cy="393192"/>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Taller, kit, convenio financiero y 4 más</a:t>
            </a:r>
            <a:endParaRPr lang="es-CL" sz="1250" dirty="0"/>
          </a:p>
        </p:txBody>
      </p:sp>
      <p:sp>
        <p:nvSpPr>
          <p:cNvPr id="89" name="Text 87"/>
          <p:cNvSpPr txBox="1"/>
          <p:nvPr/>
        </p:nvSpPr>
        <p:spPr>
          <a:xfrm>
            <a:off x="7738567" y="5751576"/>
            <a:ext cx="914400" cy="393192"/>
          </a:xfrm>
          <a:prstGeom prst="rect">
            <a:avLst/>
          </a:prstGeom>
          <a:noFill/>
          <a:ln/>
        </p:spPr>
        <p:txBody>
          <a:bodyPr wrap="square" lIns="0" tIns="0" rIns="0" bIns="0" rtlCol="0" anchor="ctr"/>
          <a:lstStyle/>
          <a:p>
            <a:pPr algn="r" indent="0" marL="0">
              <a:buNone/>
            </a:pPr>
            <a:r>
              <a:rPr lang="es-CL" altLang="en-US" sz="700" spc="150" kern="0" dirty="0">
                <a:solidFill>
                  <a:schemeClr val="tx2"/>
                </a:solidFill>
                <a:latin typeface="IBM Plex Mono" pitchFamily="34" charset="0"/>
                <a:ea typeface="IBM Plex Mono" pitchFamily="34" charset="-122"/>
                <a:cs typeface="IBM Plex Mono" pitchFamily="34" charset="-120"/>
              </a:rPr>
              <a:t>7 ÍTEMS</a:t>
            </a:r>
            <a:endParaRPr lang="es-CL" sz="700" dirty="0"/>
          </a:p>
        </p:txBody>
      </p:sp>
      <p:sp>
        <p:nvSpPr>
          <p:cNvPr id="90" name="Shape 88"/>
          <p:cNvSpPr/>
          <p:nvPr/>
        </p:nvSpPr>
        <p:spPr>
          <a:xfrm>
            <a:off x="8835847" y="5884164"/>
            <a:ext cx="128016" cy="128016"/>
          </a:xfrm>
          <a:prstGeom prst="rect">
            <a:avLst/>
          </a:prstGeom>
          <a:solidFill>
            <a:schemeClr val="tx2"/>
          </a:solidFill>
          <a:ln w="9525">
            <a:solidFill>
              <a:schemeClr val="tx2"/>
            </a:solidFill>
            <a:prstDash val="solid"/>
          </a:ln>
        </p:spPr>
      </p:sp>
      <p:sp>
        <p:nvSpPr>
          <p:cNvPr id="91" name="Shape 89"/>
          <p:cNvSpPr/>
          <p:nvPr/>
        </p:nvSpPr>
        <p:spPr>
          <a:xfrm>
            <a:off x="9165031" y="5884164"/>
            <a:ext cx="128016" cy="128016"/>
          </a:xfrm>
          <a:prstGeom prst="rect">
            <a:avLst/>
          </a:prstGeom>
          <a:solidFill>
            <a:schemeClr val="bg1"/>
          </a:solidFill>
          <a:ln w="9525">
            <a:solidFill>
              <a:schemeClr val="accent5"/>
            </a:solidFill>
            <a:prstDash val="solid"/>
          </a:ln>
        </p:spPr>
      </p:sp>
      <p:sp>
        <p:nvSpPr>
          <p:cNvPr id="92" name="Shape 90"/>
          <p:cNvSpPr/>
          <p:nvPr/>
        </p:nvSpPr>
        <p:spPr>
          <a:xfrm>
            <a:off x="9494215" y="5884164"/>
            <a:ext cx="128016" cy="128016"/>
          </a:xfrm>
          <a:prstGeom prst="rect">
            <a:avLst/>
          </a:prstGeom>
          <a:solidFill>
            <a:schemeClr val="bg1"/>
          </a:solidFill>
          <a:ln w="9525">
            <a:solidFill>
              <a:schemeClr val="accent5"/>
            </a:solidFill>
            <a:prstDash val="solid"/>
          </a:ln>
        </p:spPr>
      </p:sp>
      <p:sp>
        <p:nvSpPr>
          <p:cNvPr id="93" name="Shape 91"/>
          <p:cNvSpPr/>
          <p:nvPr/>
        </p:nvSpPr>
        <p:spPr>
          <a:xfrm>
            <a:off x="9823399" y="5884164"/>
            <a:ext cx="128016" cy="128016"/>
          </a:xfrm>
          <a:prstGeom prst="rect">
            <a:avLst/>
          </a:prstGeom>
          <a:solidFill>
            <a:schemeClr val="bg1"/>
          </a:solidFill>
          <a:ln w="9525">
            <a:solidFill>
              <a:schemeClr val="accent5"/>
            </a:solidFill>
            <a:prstDash val="solid"/>
          </a:ln>
        </p:spPr>
      </p:sp>
      <p:sp>
        <p:nvSpPr>
          <p:cNvPr id="94" name="Text 92"/>
          <p:cNvSpPr txBox="1"/>
          <p:nvPr/>
        </p:nvSpPr>
        <p:spPr>
          <a:xfrm>
            <a:off x="10225735" y="5751576"/>
            <a:ext cx="1417320" cy="393192"/>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IGUALDAD</a:t>
            </a:r>
            <a:endParaRPr lang="es-CL" sz="850" dirty="0"/>
          </a:p>
        </p:txBody>
      </p:sp>
      <p:sp>
        <p:nvSpPr>
          <p:cNvPr id="95" name="Shape 93"/>
          <p:cNvSpPr/>
          <p:nvPr/>
        </p:nvSpPr>
        <p:spPr>
          <a:xfrm>
            <a:off x="4617720" y="6144768"/>
            <a:ext cx="7025335" cy="0"/>
          </a:xfrm>
          <a:prstGeom prst="line">
            <a:avLst/>
          </a:prstGeom>
          <a:noFill/>
          <a:ln w="9525">
            <a:solidFill>
              <a:schemeClr val="accent5"/>
            </a:solidFill>
            <a:prstDash val="solid"/>
          </a:ln>
        </p:spPr>
      </p:sp>
      <p:sp>
        <p:nvSpPr>
          <p:cNvPr id="96" name="Text 94"/>
          <p:cNvSpPr txBox="1"/>
          <p:nvPr/>
        </p:nvSpPr>
        <p:spPr>
          <a:xfrm>
            <a:off x="4617720" y="6217920"/>
            <a:ext cx="7025335" cy="201168"/>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V VALIOSO · R RARO · C CARO DE IMITAR · I ÚNICO E INIMITABLE</a:t>
            </a:r>
            <a:endParaRPr lang="es-CL" sz="7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09</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CADENA DE VALOR · PORTER (06)</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EL COSTO Y LA EXCLUSIVIDAD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no coinciden.</a:t>
            </a:r>
            <a:endParaRPr lang="en-US" sz="3000" dirty="0"/>
          </a:p>
        </p:txBody>
      </p:sp>
      <p:sp>
        <p:nvSpPr>
          <p:cNvPr id="4" name="Shape 2"/>
          <p:cNvSpPr/>
          <p:nvPr/>
        </p:nvSpPr>
        <p:spPr>
          <a:xfrm>
            <a:off x="548640" y="2331720"/>
            <a:ext cx="7040880" cy="457200"/>
          </a:xfrm>
          <a:prstGeom prst="rect">
            <a:avLst/>
          </a:prstGeom>
          <a:solidFill>
            <a:schemeClr val="bg2"/>
          </a:solidFill>
          <a:ln w="15875">
            <a:solidFill>
              <a:schemeClr val="accent3"/>
            </a:solidFill>
            <a:prstDash val="solid"/>
          </a:ln>
        </p:spPr>
      </p:sp>
      <p:sp>
        <p:nvSpPr>
          <p:cNvPr id="5" name="Text 3"/>
          <p:cNvSpPr txBox="1"/>
          <p:nvPr/>
        </p:nvSpPr>
        <p:spPr>
          <a:xfrm>
            <a:off x="731520" y="2331720"/>
            <a:ext cx="3840480" cy="457200"/>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INFRAESTRUCTURA DE LA EMPRESA</a:t>
            </a:r>
            <a:endParaRPr lang="es-CL" sz="900" dirty="0"/>
          </a:p>
        </p:txBody>
      </p:sp>
      <p:sp>
        <p:nvSpPr>
          <p:cNvPr id="6" name="Text 4"/>
          <p:cNvSpPr txBox="1"/>
          <p:nvPr/>
        </p:nvSpPr>
        <p:spPr>
          <a:xfrm>
            <a:off x="4297680" y="2331720"/>
            <a:ext cx="3108960" cy="457200"/>
          </a:xfrm>
          <a:prstGeom prst="rect">
            <a:avLst/>
          </a:prstGeom>
          <a:noFill/>
          <a:ln/>
        </p:spPr>
        <p:txBody>
          <a:bodyPr wrap="square" lIns="0" tIns="0" rIns="0" bIns="0" rtlCol="0" anchor="ctr"/>
          <a:lstStyle/>
          <a:p>
            <a:pPr algn="r" indent="0" marL="0">
              <a:buNone/>
            </a:pPr>
            <a:r>
              <a:rPr lang="es-CL" altLang="en-US" sz="800" spc="150" kern="0" dirty="0">
                <a:solidFill>
                  <a:schemeClr val="accent3"/>
                </a:solidFill>
                <a:latin typeface="IBM Plex Mono" pitchFamily="34" charset="0"/>
                <a:ea typeface="IBM Plex Mono" pitchFamily="34" charset="-122"/>
                <a:cs typeface="IBM Plex Mono" pitchFamily="34" charset="-120"/>
              </a:rPr>
              <a:t>CONDICIÓN DE ENTRADA</a:t>
            </a:r>
            <a:endParaRPr lang="es-CL" sz="800" dirty="0"/>
          </a:p>
        </p:txBody>
      </p:sp>
      <p:sp>
        <p:nvSpPr>
          <p:cNvPr id="7" name="Shape 5"/>
          <p:cNvSpPr/>
          <p:nvPr/>
        </p:nvSpPr>
        <p:spPr>
          <a:xfrm>
            <a:off x="548640" y="2862072"/>
            <a:ext cx="7040880" cy="457200"/>
          </a:xfrm>
          <a:prstGeom prst="rect">
            <a:avLst/>
          </a:prstGeom>
          <a:solidFill>
            <a:schemeClr val="bg2"/>
          </a:solidFill>
          <a:ln w="9525">
            <a:solidFill>
              <a:schemeClr val="accent5"/>
            </a:solidFill>
            <a:prstDash val="solid"/>
          </a:ln>
        </p:spPr>
      </p:sp>
      <p:sp>
        <p:nvSpPr>
          <p:cNvPr id="8" name="Text 6"/>
          <p:cNvSpPr txBox="1"/>
          <p:nvPr/>
        </p:nvSpPr>
        <p:spPr>
          <a:xfrm>
            <a:off x="731520" y="2862072"/>
            <a:ext cx="3840480" cy="457200"/>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GESTIÓN DE RECURSOS HUMANOS</a:t>
            </a:r>
            <a:endParaRPr lang="es-CL" sz="900" dirty="0"/>
          </a:p>
        </p:txBody>
      </p:sp>
      <p:sp>
        <p:nvSpPr>
          <p:cNvPr id="9" name="Shape 7"/>
          <p:cNvSpPr/>
          <p:nvPr/>
        </p:nvSpPr>
        <p:spPr>
          <a:xfrm>
            <a:off x="548640" y="3392424"/>
            <a:ext cx="7040880" cy="457200"/>
          </a:xfrm>
          <a:prstGeom prst="rect">
            <a:avLst/>
          </a:prstGeom>
          <a:solidFill>
            <a:srgbClr val="0B1A22"/>
          </a:solidFill>
          <a:ln w="15875">
            <a:solidFill>
              <a:schemeClr val="accent1"/>
            </a:solidFill>
            <a:prstDash val="solid"/>
          </a:ln>
        </p:spPr>
      </p:sp>
      <p:sp>
        <p:nvSpPr>
          <p:cNvPr id="10" name="Text 8"/>
          <p:cNvSpPr txBox="1"/>
          <p:nvPr/>
        </p:nvSpPr>
        <p:spPr>
          <a:xfrm>
            <a:off x="731520" y="3392424"/>
            <a:ext cx="3840480" cy="457200"/>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DESARROLLO TECNOLÓGICO</a:t>
            </a:r>
            <a:endParaRPr lang="es-CL" sz="900" dirty="0"/>
          </a:p>
        </p:txBody>
      </p:sp>
      <p:sp>
        <p:nvSpPr>
          <p:cNvPr id="11" name="Text 9"/>
          <p:cNvSpPr txBox="1"/>
          <p:nvPr/>
        </p:nvSpPr>
        <p:spPr>
          <a:xfrm>
            <a:off x="4297680" y="3392424"/>
            <a:ext cx="3108960" cy="457200"/>
          </a:xfrm>
          <a:prstGeom prst="rect">
            <a:avLst/>
          </a:prstGeom>
          <a:noFill/>
          <a:ln/>
        </p:spPr>
        <p:txBody>
          <a:bodyPr wrap="square" lIns="0" tIns="0" rIns="0" bIns="0" rtlCol="0" anchor="ctr"/>
          <a:lstStyle/>
          <a:p>
            <a:pPr algn="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ÚNICA FUENTE DE EXCLUSIVIDAD</a:t>
            </a:r>
            <a:endParaRPr lang="es-CL" sz="800" dirty="0"/>
          </a:p>
        </p:txBody>
      </p:sp>
      <p:sp>
        <p:nvSpPr>
          <p:cNvPr id="12" name="Shape 10"/>
          <p:cNvSpPr/>
          <p:nvPr/>
        </p:nvSpPr>
        <p:spPr>
          <a:xfrm>
            <a:off x="548640" y="3922776"/>
            <a:ext cx="7040880" cy="457200"/>
          </a:xfrm>
          <a:prstGeom prst="rect">
            <a:avLst/>
          </a:prstGeom>
          <a:solidFill>
            <a:schemeClr val="bg2"/>
          </a:solidFill>
          <a:ln w="9525">
            <a:solidFill>
              <a:schemeClr val="accent5"/>
            </a:solidFill>
            <a:prstDash val="solid"/>
          </a:ln>
        </p:spPr>
      </p:sp>
      <p:sp>
        <p:nvSpPr>
          <p:cNvPr id="13" name="Text 11"/>
          <p:cNvSpPr txBox="1"/>
          <p:nvPr/>
        </p:nvSpPr>
        <p:spPr>
          <a:xfrm>
            <a:off x="731520" y="3922776"/>
            <a:ext cx="3840480" cy="457200"/>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ADQUISICIONES</a:t>
            </a:r>
            <a:endParaRPr lang="es-CL" sz="900" dirty="0"/>
          </a:p>
        </p:txBody>
      </p:sp>
      <p:sp>
        <p:nvSpPr>
          <p:cNvPr id="14" name="Shape 12"/>
          <p:cNvSpPr/>
          <p:nvPr/>
        </p:nvSpPr>
        <p:spPr>
          <a:xfrm>
            <a:off x="548640" y="4507992"/>
            <a:ext cx="1349654" cy="1481328"/>
          </a:xfrm>
          <a:prstGeom prst="rect">
            <a:avLst/>
          </a:prstGeom>
          <a:solidFill>
            <a:schemeClr val="bg2"/>
          </a:solidFill>
          <a:ln w="15875">
            <a:solidFill>
              <a:schemeClr val="accent3"/>
            </a:solidFill>
            <a:prstDash val="solid"/>
          </a:ln>
        </p:spPr>
      </p:sp>
      <p:sp>
        <p:nvSpPr>
          <p:cNvPr id="15" name="Text 13"/>
          <p:cNvSpPr txBox="1"/>
          <p:nvPr/>
        </p:nvSpPr>
        <p:spPr>
          <a:xfrm>
            <a:off x="658368" y="4636008"/>
            <a:ext cx="1130198" cy="502920"/>
          </a:xfrm>
          <a:prstGeom prst="rect">
            <a:avLst/>
          </a:prstGeom>
          <a:noFill/>
          <a:ln/>
        </p:spPr>
        <p:txBody>
          <a:bodyPr wrap="square" lIns="0" tIns="0" rIns="0" bIns="0" rtlCol="0" anchor="t"/>
          <a:lstStyle/>
          <a:p>
            <a:pPr indent="0" marL="0">
              <a:buNone/>
            </a:pPr>
            <a:r>
              <a:rPr lang="es-CL" altLang="en-US" sz="1250" b="1" dirty="0">
                <a:solidFill>
                  <a:schemeClr val="tx1"/>
                </a:solidFill>
                <a:latin typeface="Figtree" pitchFamily="34" charset="0"/>
                <a:ea typeface="Figtree" pitchFamily="34" charset="-122"/>
                <a:cs typeface="Figtree" pitchFamily="34" charset="-120"/>
              </a:rPr>
              <a:t>Logística de entrada</a:t>
            </a:r>
            <a:endParaRPr lang="es-CL" sz="1250" dirty="0"/>
          </a:p>
        </p:txBody>
      </p:sp>
      <p:sp>
        <p:nvSpPr>
          <p:cNvPr id="16" name="Text 14"/>
          <p:cNvSpPr txBox="1"/>
          <p:nvPr/>
        </p:nvSpPr>
        <p:spPr>
          <a:xfrm>
            <a:off x="658368" y="5221224"/>
            <a:ext cx="1130198" cy="365760"/>
          </a:xfrm>
          <a:prstGeom prst="rect">
            <a:avLst/>
          </a:prstGeom>
          <a:noFill/>
          <a:ln/>
        </p:spPr>
        <p:txBody>
          <a:bodyPr wrap="square" lIns="0" tIns="0" rIns="0" bIns="0" rtlCol="0" anchor="t"/>
          <a:lstStyle/>
          <a:p>
            <a:pPr indent="0" marL="0">
              <a:buNone/>
            </a:pPr>
            <a:r>
              <a:rPr lang="es-CL" altLang="en-US" sz="750" spc="150" kern="0" dirty="0">
                <a:solidFill>
                  <a:schemeClr val="accent3"/>
                </a:solidFill>
                <a:latin typeface="IBM Plex Mono" pitchFamily="34" charset="0"/>
                <a:ea typeface="IBM Plex Mono" pitchFamily="34" charset="-122"/>
                <a:cs typeface="IBM Plex Mono" pitchFamily="34" charset="-120"/>
              </a:rPr>
              <a:t>DIRECTRIZ DE COSTO</a:t>
            </a:r>
            <a:endParaRPr lang="es-CL" sz="750" dirty="0"/>
          </a:p>
        </p:txBody>
      </p:sp>
      <p:sp>
        <p:nvSpPr>
          <p:cNvPr id="17" name="Text 15"/>
          <p:cNvSpPr txBox="1"/>
          <p:nvPr/>
        </p:nvSpPr>
        <p:spPr>
          <a:xfrm>
            <a:off x="658368" y="5559552"/>
            <a:ext cx="1130198" cy="502920"/>
          </a:xfrm>
          <a:prstGeom prst="rect">
            <a:avLst/>
          </a:prstGeom>
          <a:noFill/>
          <a:ln/>
        </p:spPr>
        <p:txBody>
          <a:bodyPr wrap="square" lIns="0" tIns="0" rIns="0" bIns="0" rtlCol="0" anchor="t"/>
          <a:lstStyle/>
          <a:p>
            <a:pPr indent="0" marL="0">
              <a:buNone/>
            </a:pPr>
            <a:r>
              <a:rPr lang="es-CL" altLang="en-US" sz="1050" dirty="0">
                <a:solidFill>
                  <a:schemeClr val="tx2"/>
                </a:solidFill>
                <a:latin typeface="Figtree" pitchFamily="34" charset="0"/>
                <a:ea typeface="Figtree" pitchFamily="34" charset="-122"/>
                <a:cs typeface="Figtree" pitchFamily="34" charset="-120"/>
              </a:rPr>
              <a:t>Kit importado, Clase 9, dólar</a:t>
            </a:r>
            <a:endParaRPr lang="es-CL" sz="1050" dirty="0"/>
          </a:p>
        </p:txBody>
      </p:sp>
      <p:sp>
        <p:nvSpPr>
          <p:cNvPr id="18" name="Shape 16"/>
          <p:cNvSpPr/>
          <p:nvPr/>
        </p:nvSpPr>
        <p:spPr>
          <a:xfrm>
            <a:off x="1971446" y="4507992"/>
            <a:ext cx="1349654" cy="1481328"/>
          </a:xfrm>
          <a:prstGeom prst="rect">
            <a:avLst/>
          </a:prstGeom>
          <a:solidFill>
            <a:schemeClr val="bg2"/>
          </a:solidFill>
          <a:ln w="15875">
            <a:solidFill>
              <a:schemeClr val="accent4"/>
            </a:solidFill>
            <a:prstDash val="solid"/>
          </a:ln>
        </p:spPr>
      </p:sp>
      <p:sp>
        <p:nvSpPr>
          <p:cNvPr id="19" name="Text 17"/>
          <p:cNvSpPr txBox="1"/>
          <p:nvPr/>
        </p:nvSpPr>
        <p:spPr>
          <a:xfrm>
            <a:off x="2081174" y="4636008"/>
            <a:ext cx="1130198" cy="502920"/>
          </a:xfrm>
          <a:prstGeom prst="rect">
            <a:avLst/>
          </a:prstGeom>
          <a:noFill/>
          <a:ln/>
        </p:spPr>
        <p:txBody>
          <a:bodyPr wrap="square" lIns="0" tIns="0" rIns="0" bIns="0" rtlCol="0" anchor="t"/>
          <a:lstStyle/>
          <a:p>
            <a:pPr indent="0" marL="0">
              <a:buNone/>
            </a:pPr>
            <a:r>
              <a:rPr lang="es-CL" altLang="en-US" sz="1250" b="1" dirty="0">
                <a:solidFill>
                  <a:schemeClr val="tx1"/>
                </a:solidFill>
                <a:latin typeface="Figtree" pitchFamily="34" charset="0"/>
                <a:ea typeface="Figtree" pitchFamily="34" charset="-122"/>
                <a:cs typeface="Figtree" pitchFamily="34" charset="-120"/>
              </a:rPr>
              <a:t>Operaciones</a:t>
            </a:r>
            <a:endParaRPr lang="es-CL" sz="1250" dirty="0"/>
          </a:p>
        </p:txBody>
      </p:sp>
      <p:sp>
        <p:nvSpPr>
          <p:cNvPr id="20" name="Text 18"/>
          <p:cNvSpPr txBox="1"/>
          <p:nvPr/>
        </p:nvSpPr>
        <p:spPr>
          <a:xfrm>
            <a:off x="2081174" y="5221224"/>
            <a:ext cx="1130198" cy="365760"/>
          </a:xfrm>
          <a:prstGeom prst="rect">
            <a:avLst/>
          </a:prstGeom>
          <a:noFill/>
          <a:ln/>
        </p:spPr>
        <p:txBody>
          <a:bodyPr wrap="square" lIns="0" tIns="0" rIns="0" bIns="0" rtlCol="0" anchor="t"/>
          <a:lstStyle/>
          <a:p>
            <a:pPr indent="0" marL="0">
              <a:buNone/>
            </a:pPr>
            <a:r>
              <a:rPr lang="es-CL" altLang="en-US" sz="750" spc="150" kern="0" dirty="0">
                <a:solidFill>
                  <a:schemeClr val="accent4"/>
                </a:solidFill>
                <a:latin typeface="IBM Plex Mono" pitchFamily="34" charset="0"/>
                <a:ea typeface="IBM Plex Mono" pitchFamily="34" charset="-122"/>
                <a:cs typeface="IBM Plex Mono" pitchFamily="34" charset="-120"/>
              </a:rPr>
              <a:t>CUELLO DE BOTELLA</a:t>
            </a:r>
            <a:endParaRPr lang="es-CL" sz="750" dirty="0"/>
          </a:p>
        </p:txBody>
      </p:sp>
      <p:sp>
        <p:nvSpPr>
          <p:cNvPr id="21" name="Text 19"/>
          <p:cNvSpPr txBox="1"/>
          <p:nvPr/>
        </p:nvSpPr>
        <p:spPr>
          <a:xfrm>
            <a:off x="2081174" y="5559552"/>
            <a:ext cx="1130198" cy="502920"/>
          </a:xfrm>
          <a:prstGeom prst="rect">
            <a:avLst/>
          </a:prstGeom>
          <a:noFill/>
          <a:ln/>
        </p:spPr>
        <p:txBody>
          <a:bodyPr wrap="square" lIns="0" tIns="0" rIns="0" bIns="0" rtlCol="0" anchor="t"/>
          <a:lstStyle/>
          <a:p>
            <a:pPr indent="0" marL="0">
              <a:buNone/>
            </a:pPr>
            <a:r>
              <a:rPr lang="es-CL" altLang="en-US" sz="1050" dirty="0">
                <a:solidFill>
                  <a:schemeClr val="tx2"/>
                </a:solidFill>
                <a:latin typeface="Figtree" pitchFamily="34" charset="0"/>
                <a:ea typeface="Figtree" pitchFamily="34" charset="-122"/>
                <a:cs typeface="Figtree" pitchFamily="34" charset="-120"/>
              </a:rPr>
              <a:t>Aquí se entrega la exclusividad</a:t>
            </a:r>
            <a:endParaRPr lang="es-CL" sz="1050" dirty="0"/>
          </a:p>
        </p:txBody>
      </p:sp>
      <p:sp>
        <p:nvSpPr>
          <p:cNvPr id="22" name="Shape 20"/>
          <p:cNvSpPr/>
          <p:nvPr/>
        </p:nvSpPr>
        <p:spPr>
          <a:xfrm>
            <a:off x="3394253" y="4507992"/>
            <a:ext cx="1349654" cy="1481328"/>
          </a:xfrm>
          <a:prstGeom prst="rect">
            <a:avLst/>
          </a:prstGeom>
          <a:solidFill>
            <a:schemeClr val="bg2"/>
          </a:solidFill>
          <a:ln w="9525">
            <a:solidFill>
              <a:schemeClr val="accent5"/>
            </a:solidFill>
            <a:prstDash val="solid"/>
          </a:ln>
        </p:spPr>
      </p:sp>
      <p:sp>
        <p:nvSpPr>
          <p:cNvPr id="23" name="Text 21"/>
          <p:cNvSpPr txBox="1"/>
          <p:nvPr/>
        </p:nvSpPr>
        <p:spPr>
          <a:xfrm>
            <a:off x="3503981" y="4636008"/>
            <a:ext cx="1130198" cy="502920"/>
          </a:xfrm>
          <a:prstGeom prst="rect">
            <a:avLst/>
          </a:prstGeom>
          <a:noFill/>
          <a:ln/>
        </p:spPr>
        <p:txBody>
          <a:bodyPr wrap="square" lIns="0" tIns="0" rIns="0" bIns="0" rtlCol="0" anchor="t"/>
          <a:lstStyle/>
          <a:p>
            <a:pPr indent="0" marL="0">
              <a:buNone/>
            </a:pPr>
            <a:r>
              <a:rPr lang="es-CL" altLang="en-US" sz="1250" b="1" dirty="0">
                <a:solidFill>
                  <a:schemeClr val="tx1"/>
                </a:solidFill>
                <a:latin typeface="Figtree" pitchFamily="34" charset="0"/>
                <a:ea typeface="Figtree" pitchFamily="34" charset="-122"/>
                <a:cs typeface="Figtree" pitchFamily="34" charset="-120"/>
              </a:rPr>
              <a:t>Logística de salida</a:t>
            </a:r>
            <a:endParaRPr lang="es-CL" sz="1250" dirty="0"/>
          </a:p>
        </p:txBody>
      </p:sp>
      <p:sp>
        <p:nvSpPr>
          <p:cNvPr id="24" name="Shape 22"/>
          <p:cNvSpPr/>
          <p:nvPr/>
        </p:nvSpPr>
        <p:spPr>
          <a:xfrm>
            <a:off x="4817059" y="4507992"/>
            <a:ext cx="1349654" cy="1481328"/>
          </a:xfrm>
          <a:prstGeom prst="rect">
            <a:avLst/>
          </a:prstGeom>
          <a:solidFill>
            <a:schemeClr val="bg2"/>
          </a:solidFill>
          <a:ln w="9525">
            <a:solidFill>
              <a:schemeClr val="accent5"/>
            </a:solidFill>
            <a:prstDash val="solid"/>
          </a:ln>
        </p:spPr>
      </p:sp>
      <p:sp>
        <p:nvSpPr>
          <p:cNvPr id="25" name="Text 23"/>
          <p:cNvSpPr txBox="1"/>
          <p:nvPr/>
        </p:nvSpPr>
        <p:spPr>
          <a:xfrm>
            <a:off x="4926787" y="4636008"/>
            <a:ext cx="1130198" cy="502920"/>
          </a:xfrm>
          <a:prstGeom prst="rect">
            <a:avLst/>
          </a:prstGeom>
          <a:noFill/>
          <a:ln/>
        </p:spPr>
        <p:txBody>
          <a:bodyPr wrap="square" lIns="0" tIns="0" rIns="0" bIns="0" rtlCol="0" anchor="t"/>
          <a:lstStyle/>
          <a:p>
            <a:pPr indent="0" marL="0">
              <a:buNone/>
            </a:pPr>
            <a:r>
              <a:rPr lang="es-CL" altLang="en-US" sz="1250" b="1" dirty="0">
                <a:solidFill>
                  <a:schemeClr val="tx1"/>
                </a:solidFill>
                <a:latin typeface="Figtree" pitchFamily="34" charset="0"/>
                <a:ea typeface="Figtree" pitchFamily="34" charset="-122"/>
                <a:cs typeface="Figtree" pitchFamily="34" charset="-120"/>
              </a:rPr>
              <a:t>Marketing y ventas</a:t>
            </a:r>
            <a:endParaRPr lang="es-CL" sz="1250" dirty="0"/>
          </a:p>
        </p:txBody>
      </p:sp>
      <p:sp>
        <p:nvSpPr>
          <p:cNvPr id="26" name="Shape 24"/>
          <p:cNvSpPr/>
          <p:nvPr/>
        </p:nvSpPr>
        <p:spPr>
          <a:xfrm>
            <a:off x="6239866" y="4507992"/>
            <a:ext cx="1349654" cy="1481328"/>
          </a:xfrm>
          <a:prstGeom prst="rect">
            <a:avLst/>
          </a:prstGeom>
          <a:solidFill>
            <a:schemeClr val="bg2"/>
          </a:solidFill>
          <a:ln w="9525">
            <a:solidFill>
              <a:schemeClr val="accent5"/>
            </a:solidFill>
            <a:prstDash val="solid"/>
          </a:ln>
        </p:spPr>
      </p:sp>
      <p:sp>
        <p:nvSpPr>
          <p:cNvPr id="27" name="Text 25"/>
          <p:cNvSpPr txBox="1"/>
          <p:nvPr/>
        </p:nvSpPr>
        <p:spPr>
          <a:xfrm>
            <a:off x="6349594" y="4636008"/>
            <a:ext cx="1130198" cy="502920"/>
          </a:xfrm>
          <a:prstGeom prst="rect">
            <a:avLst/>
          </a:prstGeom>
          <a:noFill/>
          <a:ln/>
        </p:spPr>
        <p:txBody>
          <a:bodyPr wrap="square" lIns="0" tIns="0" rIns="0" bIns="0" rtlCol="0" anchor="t"/>
          <a:lstStyle/>
          <a:p>
            <a:pPr indent="0" marL="0">
              <a:buNone/>
            </a:pPr>
            <a:r>
              <a:rPr lang="es-CL" altLang="en-US" sz="1250" b="1" dirty="0">
                <a:solidFill>
                  <a:schemeClr val="tx1"/>
                </a:solidFill>
                <a:latin typeface="Figtree" pitchFamily="34" charset="0"/>
                <a:ea typeface="Figtree" pitchFamily="34" charset="-122"/>
                <a:cs typeface="Figtree" pitchFamily="34" charset="-120"/>
              </a:rPr>
              <a:t>Servicio posventa</a:t>
            </a:r>
            <a:endParaRPr lang="es-CL" sz="1250" dirty="0"/>
          </a:p>
        </p:txBody>
      </p:sp>
      <p:sp>
        <p:nvSpPr>
          <p:cNvPr id="28" name="Shape 26"/>
          <p:cNvSpPr/>
          <p:nvPr/>
        </p:nvSpPr>
        <p:spPr>
          <a:xfrm>
            <a:off x="7662672" y="2331720"/>
            <a:ext cx="429768" cy="3657600"/>
          </a:xfrm>
          <a:prstGeom prst="rect">
            <a:avLst/>
          </a:prstGeom>
          <a:solidFill>
            <a:schemeClr val="accent6"/>
          </a:solidFill>
          <a:ln w="9525">
            <a:solidFill>
              <a:schemeClr val="accent5"/>
            </a:solidFill>
            <a:prstDash val="solid"/>
          </a:ln>
        </p:spPr>
      </p:sp>
      <p:sp>
        <p:nvSpPr>
          <p:cNvPr id="29" name="Text 27"/>
          <p:cNvSpPr txBox="1"/>
          <p:nvPr/>
        </p:nvSpPr>
        <p:spPr>
          <a:xfrm rot="5400000">
            <a:off x="6048756" y="3945636"/>
            <a:ext cx="3657600" cy="429768"/>
          </a:xfrm>
          <a:prstGeom prst="rect">
            <a:avLst/>
          </a:prstGeom>
          <a:noFill/>
          <a:ln/>
        </p:spPr>
        <p:txBody>
          <a:bodyPr wrap="square" lIns="0" tIns="0" rIns="0" bIns="0" rtlCol="0" anchor="ctr"/>
          <a:lstStyle/>
          <a:p>
            <a:pPr algn="ctr" indent="0" marL="0">
              <a:buNone/>
            </a:pPr>
            <a:r>
              <a:rPr lang="es-CL" altLang="en-US" sz="900" spc="300" kern="0" dirty="0">
                <a:solidFill>
                  <a:schemeClr val="tx2"/>
                </a:solidFill>
                <a:latin typeface="IBM Plex Mono" pitchFamily="34" charset="0"/>
                <a:ea typeface="IBM Plex Mono" pitchFamily="34" charset="-122"/>
                <a:cs typeface="IBM Plex Mono" pitchFamily="34" charset="-120"/>
              </a:rPr>
              <a:t>MARGEN</a:t>
            </a:r>
            <a:endParaRPr lang="es-CL" sz="900" dirty="0"/>
          </a:p>
        </p:txBody>
      </p:sp>
      <p:sp>
        <p:nvSpPr>
          <p:cNvPr id="30" name="Shape 28"/>
          <p:cNvSpPr/>
          <p:nvPr/>
        </p:nvSpPr>
        <p:spPr>
          <a:xfrm>
            <a:off x="8503920" y="2331720"/>
            <a:ext cx="3139135" cy="0"/>
          </a:xfrm>
          <a:prstGeom prst="line">
            <a:avLst/>
          </a:prstGeom>
          <a:noFill/>
          <a:ln w="9525">
            <a:solidFill>
              <a:schemeClr val="accent5"/>
            </a:solidFill>
            <a:prstDash val="solid"/>
          </a:ln>
        </p:spPr>
      </p:sp>
      <p:sp>
        <p:nvSpPr>
          <p:cNvPr id="31" name="Shape 29"/>
          <p:cNvSpPr/>
          <p:nvPr/>
        </p:nvSpPr>
        <p:spPr>
          <a:xfrm>
            <a:off x="8503920" y="2478024"/>
            <a:ext cx="68580" cy="68580"/>
          </a:xfrm>
          <a:prstGeom prst="rect">
            <a:avLst/>
          </a:prstGeom>
          <a:solidFill>
            <a:schemeClr val="accent3"/>
          </a:solidFill>
          <a:ln/>
        </p:spPr>
      </p:sp>
      <p:sp>
        <p:nvSpPr>
          <p:cNvPr id="32" name="Text 30"/>
          <p:cNvSpPr txBox="1"/>
          <p:nvPr/>
        </p:nvSpPr>
        <p:spPr>
          <a:xfrm>
            <a:off x="8659368" y="2404872"/>
            <a:ext cx="295625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INFRAESTRUCTURA</a:t>
            </a:r>
            <a:endParaRPr lang="es-CL" sz="850" dirty="0"/>
          </a:p>
        </p:txBody>
      </p:sp>
      <p:sp>
        <p:nvSpPr>
          <p:cNvPr id="33" name="Text 31"/>
          <p:cNvSpPr txBox="1"/>
          <p:nvPr/>
        </p:nvSpPr>
        <p:spPr>
          <a:xfrm>
            <a:off x="8503920" y="2679192"/>
            <a:ext cx="3139135" cy="5943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Sin autorización no opera ningún eslabón.</a:t>
            </a:r>
            <a:endParaRPr lang="es-CL" sz="1250" dirty="0"/>
          </a:p>
        </p:txBody>
      </p:sp>
      <p:sp>
        <p:nvSpPr>
          <p:cNvPr id="34" name="Shape 32"/>
          <p:cNvSpPr/>
          <p:nvPr/>
        </p:nvSpPr>
        <p:spPr>
          <a:xfrm>
            <a:off x="8503920" y="3291840"/>
            <a:ext cx="3139135" cy="0"/>
          </a:xfrm>
          <a:prstGeom prst="line">
            <a:avLst/>
          </a:prstGeom>
          <a:noFill/>
          <a:ln w="9525">
            <a:solidFill>
              <a:schemeClr val="accent5"/>
            </a:solidFill>
            <a:prstDash val="solid"/>
          </a:ln>
        </p:spPr>
      </p:sp>
      <p:sp>
        <p:nvSpPr>
          <p:cNvPr id="35" name="Shape 33"/>
          <p:cNvSpPr/>
          <p:nvPr/>
        </p:nvSpPr>
        <p:spPr>
          <a:xfrm>
            <a:off x="8503920" y="3438144"/>
            <a:ext cx="68580" cy="68580"/>
          </a:xfrm>
          <a:prstGeom prst="rect">
            <a:avLst/>
          </a:prstGeom>
          <a:solidFill>
            <a:schemeClr val="accent1"/>
          </a:solidFill>
          <a:ln/>
        </p:spPr>
      </p:sp>
      <p:sp>
        <p:nvSpPr>
          <p:cNvPr id="36" name="Text 34"/>
          <p:cNvSpPr txBox="1"/>
          <p:nvPr/>
        </p:nvSpPr>
        <p:spPr>
          <a:xfrm>
            <a:off x="8659368" y="3364992"/>
            <a:ext cx="295625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DESARROLLO TECNOLÓGICO</a:t>
            </a:r>
            <a:endParaRPr lang="es-CL" sz="850" dirty="0"/>
          </a:p>
        </p:txBody>
      </p:sp>
      <p:sp>
        <p:nvSpPr>
          <p:cNvPr id="37" name="Text 35"/>
          <p:cNvSpPr txBox="1"/>
          <p:nvPr/>
        </p:nvSpPr>
        <p:spPr>
          <a:xfrm>
            <a:off x="8503920" y="3639312"/>
            <a:ext cx="3139135" cy="5943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La calibración es la única fuente de exclusividad.</a:t>
            </a:r>
            <a:endParaRPr lang="es-CL" sz="1250" dirty="0"/>
          </a:p>
        </p:txBody>
      </p:sp>
      <p:sp>
        <p:nvSpPr>
          <p:cNvPr id="38" name="Shape 36"/>
          <p:cNvSpPr/>
          <p:nvPr/>
        </p:nvSpPr>
        <p:spPr>
          <a:xfrm>
            <a:off x="8503920" y="4251960"/>
            <a:ext cx="3139135" cy="0"/>
          </a:xfrm>
          <a:prstGeom prst="line">
            <a:avLst/>
          </a:prstGeom>
          <a:noFill/>
          <a:ln w="9525">
            <a:solidFill>
              <a:schemeClr val="accent5"/>
            </a:solidFill>
            <a:prstDash val="solid"/>
          </a:ln>
        </p:spPr>
      </p:sp>
      <p:sp>
        <p:nvSpPr>
          <p:cNvPr id="39" name="Shape 37"/>
          <p:cNvSpPr/>
          <p:nvPr/>
        </p:nvSpPr>
        <p:spPr>
          <a:xfrm>
            <a:off x="8503920" y="4398264"/>
            <a:ext cx="68580" cy="68580"/>
          </a:xfrm>
          <a:prstGeom prst="rect">
            <a:avLst/>
          </a:prstGeom>
          <a:solidFill>
            <a:schemeClr val="accent4"/>
          </a:solidFill>
          <a:ln/>
        </p:spPr>
      </p:sp>
      <p:sp>
        <p:nvSpPr>
          <p:cNvPr id="40" name="Text 38"/>
          <p:cNvSpPr txBox="1"/>
          <p:nvPr/>
        </p:nvSpPr>
        <p:spPr>
          <a:xfrm>
            <a:off x="8659368" y="4325112"/>
            <a:ext cx="295625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OPERACIONES</a:t>
            </a:r>
            <a:endParaRPr lang="es-CL" sz="850" dirty="0"/>
          </a:p>
        </p:txBody>
      </p:sp>
      <p:sp>
        <p:nvSpPr>
          <p:cNvPr id="41" name="Text 39"/>
          <p:cNvSpPr txBox="1"/>
          <p:nvPr/>
        </p:nvSpPr>
        <p:spPr>
          <a:xfrm>
            <a:off x="8503920" y="4599432"/>
            <a:ext cx="3139135" cy="5943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Convergen homologación por modelo, internación y escasez de técnicos (06: 2/2).</a:t>
            </a:r>
            <a:endParaRPr lang="es-CL" sz="1250" dirty="0"/>
          </a:p>
        </p:txBody>
      </p:sp>
      <p:sp>
        <p:nvSpPr>
          <p:cNvPr id="42" name="Shape 40"/>
          <p:cNvSpPr/>
          <p:nvPr/>
        </p:nvSpPr>
        <p:spPr>
          <a:xfrm>
            <a:off x="8503920" y="5212080"/>
            <a:ext cx="3139135" cy="0"/>
          </a:xfrm>
          <a:prstGeom prst="line">
            <a:avLst/>
          </a:prstGeom>
          <a:noFill/>
          <a:ln w="9525">
            <a:solidFill>
              <a:schemeClr val="accent5"/>
            </a:solidFill>
            <a:prstDash val="solid"/>
          </a:ln>
        </p:spPr>
      </p:sp>
      <p:sp>
        <p:nvSpPr>
          <p:cNvPr id="43" name="Shape 41"/>
          <p:cNvSpPr/>
          <p:nvPr/>
        </p:nvSpPr>
        <p:spPr>
          <a:xfrm>
            <a:off x="8503920" y="5358384"/>
            <a:ext cx="68580" cy="68580"/>
          </a:xfrm>
          <a:prstGeom prst="rect">
            <a:avLst/>
          </a:prstGeom>
          <a:solidFill>
            <a:schemeClr val="tx2"/>
          </a:solidFill>
          <a:ln/>
        </p:spPr>
      </p:sp>
      <p:sp>
        <p:nvSpPr>
          <p:cNvPr id="44" name="Text 42"/>
          <p:cNvSpPr txBox="1"/>
          <p:nvPr/>
        </p:nvSpPr>
        <p:spPr>
          <a:xfrm>
            <a:off x="8659368" y="5285232"/>
            <a:ext cx="295625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EXTERNALIZABLE</a:t>
            </a:r>
            <a:endParaRPr lang="es-CL" sz="850" dirty="0"/>
          </a:p>
        </p:txBody>
      </p:sp>
      <p:sp>
        <p:nvSpPr>
          <p:cNvPr id="45" name="Text 43"/>
          <p:cNvSpPr txBox="1"/>
          <p:nvPr/>
        </p:nvSpPr>
        <p:spPr>
          <a:xfrm>
            <a:off x="8503920" y="5559552"/>
            <a:ext cx="3139135" cy="5943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Contabilidad, aduana, transporte peligroso y remuneraciones.</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10</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FODA POR PERSPECTIVAS DEL CMI · KAPLAN Y NORTON</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FORTALEZAS EN PROCESOS;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amenazas en clientes.</a:t>
            </a:r>
            <a:endParaRPr lang="en-US" sz="3000" dirty="0"/>
          </a:p>
        </p:txBody>
      </p:sp>
      <p:sp>
        <p:nvSpPr>
          <p:cNvPr id="4" name="Shape 2"/>
          <p:cNvSpPr/>
          <p:nvPr/>
        </p:nvSpPr>
        <p:spPr>
          <a:xfrm>
            <a:off x="2231136" y="2359152"/>
            <a:ext cx="82296" cy="82296"/>
          </a:xfrm>
          <a:prstGeom prst="rect">
            <a:avLst/>
          </a:prstGeom>
          <a:solidFill>
            <a:schemeClr val="accent1"/>
          </a:solidFill>
          <a:ln/>
        </p:spPr>
      </p:sp>
      <p:sp>
        <p:nvSpPr>
          <p:cNvPr id="5" name="Text 3"/>
          <p:cNvSpPr txBox="1"/>
          <p:nvPr/>
        </p:nvSpPr>
        <p:spPr>
          <a:xfrm>
            <a:off x="2386584" y="2286000"/>
            <a:ext cx="2135810" cy="219456"/>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FORTALEZAS</a:t>
            </a:r>
            <a:endParaRPr lang="es-CL" sz="850" dirty="0"/>
          </a:p>
        </p:txBody>
      </p:sp>
      <p:sp>
        <p:nvSpPr>
          <p:cNvPr id="6" name="Shape 4"/>
          <p:cNvSpPr/>
          <p:nvPr/>
        </p:nvSpPr>
        <p:spPr>
          <a:xfrm>
            <a:off x="4604690" y="2359152"/>
            <a:ext cx="82296" cy="82296"/>
          </a:xfrm>
          <a:prstGeom prst="rect">
            <a:avLst/>
          </a:prstGeom>
          <a:solidFill>
            <a:schemeClr val="tx1"/>
          </a:solidFill>
          <a:ln/>
        </p:spPr>
      </p:sp>
      <p:sp>
        <p:nvSpPr>
          <p:cNvPr id="7" name="Text 5"/>
          <p:cNvSpPr txBox="1"/>
          <p:nvPr/>
        </p:nvSpPr>
        <p:spPr>
          <a:xfrm>
            <a:off x="4760138" y="2286000"/>
            <a:ext cx="2135810"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DEBILIDADES</a:t>
            </a:r>
            <a:endParaRPr lang="es-CL" sz="850" dirty="0"/>
          </a:p>
        </p:txBody>
      </p:sp>
      <p:sp>
        <p:nvSpPr>
          <p:cNvPr id="8" name="Shape 6"/>
          <p:cNvSpPr/>
          <p:nvPr/>
        </p:nvSpPr>
        <p:spPr>
          <a:xfrm>
            <a:off x="6978244" y="2359152"/>
            <a:ext cx="82296" cy="82296"/>
          </a:xfrm>
          <a:prstGeom prst="rect">
            <a:avLst/>
          </a:prstGeom>
          <a:solidFill>
            <a:schemeClr val="accent2"/>
          </a:solidFill>
          <a:ln/>
        </p:spPr>
      </p:sp>
      <p:sp>
        <p:nvSpPr>
          <p:cNvPr id="9" name="Text 7"/>
          <p:cNvSpPr txBox="1"/>
          <p:nvPr/>
        </p:nvSpPr>
        <p:spPr>
          <a:xfrm>
            <a:off x="7133692" y="2286000"/>
            <a:ext cx="2135810" cy="219456"/>
          </a:xfrm>
          <a:prstGeom prst="rect">
            <a:avLst/>
          </a:prstGeom>
          <a:noFill/>
          <a:ln/>
        </p:spPr>
        <p:txBody>
          <a:bodyPr wrap="square" lIns="0" tIns="0" rIns="0" bIns="0" rtlCol="0" anchor="t"/>
          <a:lstStyle/>
          <a:p>
            <a:pPr indent="0" marL="0">
              <a:buNone/>
            </a:pPr>
            <a:r>
              <a:rPr lang="es-CL" altLang="en-US" sz="850" spc="150" kern="0" dirty="0">
                <a:solidFill>
                  <a:schemeClr val="accent2"/>
                </a:solidFill>
                <a:latin typeface="IBM Plex Mono" pitchFamily="34" charset="0"/>
                <a:ea typeface="IBM Plex Mono" pitchFamily="34" charset="-122"/>
                <a:cs typeface="IBM Plex Mono" pitchFamily="34" charset="-120"/>
              </a:rPr>
              <a:t>OPORTUNIDADES</a:t>
            </a:r>
            <a:endParaRPr lang="es-CL" sz="850" dirty="0"/>
          </a:p>
        </p:txBody>
      </p:sp>
      <p:sp>
        <p:nvSpPr>
          <p:cNvPr id="10" name="Shape 8"/>
          <p:cNvSpPr/>
          <p:nvPr/>
        </p:nvSpPr>
        <p:spPr>
          <a:xfrm>
            <a:off x="9351797" y="2359152"/>
            <a:ext cx="82296" cy="82296"/>
          </a:xfrm>
          <a:prstGeom prst="rect">
            <a:avLst/>
          </a:prstGeom>
          <a:solidFill>
            <a:schemeClr val="accent4"/>
          </a:solidFill>
          <a:ln/>
        </p:spPr>
      </p:sp>
      <p:sp>
        <p:nvSpPr>
          <p:cNvPr id="11" name="Text 9"/>
          <p:cNvSpPr txBox="1"/>
          <p:nvPr/>
        </p:nvSpPr>
        <p:spPr>
          <a:xfrm>
            <a:off x="9507245" y="2286000"/>
            <a:ext cx="2135810" cy="219456"/>
          </a:xfrm>
          <a:prstGeom prst="rect">
            <a:avLst/>
          </a:prstGeom>
          <a:noFill/>
          <a:ln/>
        </p:spPr>
        <p:txBody>
          <a:bodyPr wrap="square" lIns="0" tIns="0" rIns="0" bIns="0" rtlCol="0" anchor="t"/>
          <a:lstStyle/>
          <a:p>
            <a:pPr indent="0" marL="0">
              <a:buNone/>
            </a:pPr>
            <a:r>
              <a:rPr lang="es-CL" altLang="en-US" sz="850" spc="150" kern="0" dirty="0">
                <a:solidFill>
                  <a:schemeClr val="accent4"/>
                </a:solidFill>
                <a:latin typeface="IBM Plex Mono" pitchFamily="34" charset="0"/>
                <a:ea typeface="IBM Plex Mono" pitchFamily="34" charset="-122"/>
                <a:cs typeface="IBM Plex Mono" pitchFamily="34" charset="-120"/>
              </a:rPr>
              <a:t>AMENAZAS</a:t>
            </a:r>
            <a:endParaRPr lang="es-CL" sz="850" dirty="0"/>
          </a:p>
        </p:txBody>
      </p:sp>
      <p:sp>
        <p:nvSpPr>
          <p:cNvPr id="12" name="Shape 10"/>
          <p:cNvSpPr/>
          <p:nvPr/>
        </p:nvSpPr>
        <p:spPr>
          <a:xfrm>
            <a:off x="548640" y="2560320"/>
            <a:ext cx="1600200" cy="822960"/>
          </a:xfrm>
          <a:prstGeom prst="rect">
            <a:avLst/>
          </a:prstGeom>
          <a:solidFill>
            <a:schemeClr val="accent6"/>
          </a:solidFill>
          <a:ln w="9525">
            <a:solidFill>
              <a:schemeClr val="accent5"/>
            </a:solidFill>
            <a:prstDash val="solid"/>
          </a:ln>
        </p:spPr>
      </p:sp>
      <p:sp>
        <p:nvSpPr>
          <p:cNvPr id="13" name="Text 11"/>
          <p:cNvSpPr txBox="1"/>
          <p:nvPr/>
        </p:nvSpPr>
        <p:spPr>
          <a:xfrm>
            <a:off x="685800" y="2560320"/>
            <a:ext cx="1325880" cy="822960"/>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Financiera</a:t>
            </a:r>
            <a:endParaRPr lang="es-CL" sz="1300" dirty="0"/>
          </a:p>
        </p:txBody>
      </p:sp>
      <p:sp>
        <p:nvSpPr>
          <p:cNvPr id="14" name="Shape 12"/>
          <p:cNvSpPr/>
          <p:nvPr/>
        </p:nvSpPr>
        <p:spPr>
          <a:xfrm>
            <a:off x="2231136" y="2560320"/>
            <a:ext cx="2291258" cy="822960"/>
          </a:xfrm>
          <a:prstGeom prst="rect">
            <a:avLst/>
          </a:prstGeom>
          <a:solidFill>
            <a:schemeClr val="bg2"/>
          </a:solidFill>
          <a:ln w="9525">
            <a:solidFill>
              <a:schemeClr val="accent5"/>
            </a:solidFill>
            <a:prstDash val="solid"/>
          </a:ln>
        </p:spPr>
      </p:sp>
      <p:sp>
        <p:nvSpPr>
          <p:cNvPr id="15" name="Text 13"/>
          <p:cNvSpPr txBox="1"/>
          <p:nvPr/>
        </p:nvSpPr>
        <p:spPr>
          <a:xfrm>
            <a:off x="2350008" y="2633472"/>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Riesgos identificados y protocolo de contención (06: 4); ingresos recurrentes</a:t>
            </a:r>
            <a:endParaRPr lang="es-CL" sz="1100" dirty="0"/>
          </a:p>
        </p:txBody>
      </p:sp>
      <p:sp>
        <p:nvSpPr>
          <p:cNvPr id="16" name="Shape 14"/>
          <p:cNvSpPr/>
          <p:nvPr/>
        </p:nvSpPr>
        <p:spPr>
          <a:xfrm>
            <a:off x="4604690" y="2560320"/>
            <a:ext cx="2291258" cy="822960"/>
          </a:xfrm>
          <a:prstGeom prst="rect">
            <a:avLst/>
          </a:prstGeom>
          <a:solidFill>
            <a:schemeClr val="bg2"/>
          </a:solidFill>
          <a:ln w="9525">
            <a:solidFill>
              <a:schemeClr val="accent5"/>
            </a:solidFill>
            <a:prstDash val="solid"/>
          </a:ln>
        </p:spPr>
      </p:sp>
      <p:sp>
        <p:nvSpPr>
          <p:cNvPr id="17" name="Text 15"/>
          <p:cNvSpPr txBox="1"/>
          <p:nvPr/>
        </p:nvSpPr>
        <p:spPr>
          <a:xfrm>
            <a:off x="4723562" y="2633472"/>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Patrimonio reducido; inventario en dólares sin cobertura cambiaria</a:t>
            </a:r>
            <a:endParaRPr lang="es-CL" sz="1100" dirty="0"/>
          </a:p>
        </p:txBody>
      </p:sp>
      <p:sp>
        <p:nvSpPr>
          <p:cNvPr id="18" name="Shape 16"/>
          <p:cNvSpPr/>
          <p:nvPr/>
        </p:nvSpPr>
        <p:spPr>
          <a:xfrm>
            <a:off x="6978244" y="2560320"/>
            <a:ext cx="2291258" cy="822960"/>
          </a:xfrm>
          <a:prstGeom prst="rect">
            <a:avLst/>
          </a:prstGeom>
          <a:solidFill>
            <a:schemeClr val="bg2"/>
          </a:solidFill>
          <a:ln w="9525">
            <a:solidFill>
              <a:schemeClr val="accent5"/>
            </a:solidFill>
            <a:prstDash val="solid"/>
          </a:ln>
        </p:spPr>
      </p:sp>
      <p:sp>
        <p:nvSpPr>
          <p:cNvPr id="19" name="Text 17"/>
          <p:cNvSpPr txBox="1"/>
          <p:nvPr/>
        </p:nvSpPr>
        <p:spPr>
          <a:xfrm>
            <a:off x="7097116" y="2633472"/>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LFP a US$81/kWh; cada litro ahorrado ahorra impuesto específico</a:t>
            </a:r>
            <a:endParaRPr lang="es-CL" sz="1100" dirty="0"/>
          </a:p>
        </p:txBody>
      </p:sp>
      <p:sp>
        <p:nvSpPr>
          <p:cNvPr id="20" name="Shape 18"/>
          <p:cNvSpPr/>
          <p:nvPr/>
        </p:nvSpPr>
        <p:spPr>
          <a:xfrm>
            <a:off x="9351797" y="2560320"/>
            <a:ext cx="2291258" cy="822960"/>
          </a:xfrm>
          <a:prstGeom prst="rect">
            <a:avLst/>
          </a:prstGeom>
          <a:solidFill>
            <a:schemeClr val="bg2"/>
          </a:solidFill>
          <a:ln w="9525">
            <a:solidFill>
              <a:schemeClr val="accent5"/>
            </a:solidFill>
            <a:prstDash val="solid"/>
          </a:ln>
        </p:spPr>
      </p:sp>
      <p:sp>
        <p:nvSpPr>
          <p:cNvPr id="21" name="Text 19"/>
          <p:cNvSpPr txBox="1"/>
          <p:nvPr/>
        </p:nvSpPr>
        <p:spPr>
          <a:xfrm>
            <a:off x="9470669" y="2633472"/>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Dólar cerca de $970 con kit 100% importado; IVA completo; REP; TPM 4,5%</a:t>
            </a:r>
            <a:endParaRPr lang="es-CL" sz="1100" dirty="0"/>
          </a:p>
        </p:txBody>
      </p:sp>
      <p:sp>
        <p:nvSpPr>
          <p:cNvPr id="22" name="Shape 20"/>
          <p:cNvSpPr/>
          <p:nvPr/>
        </p:nvSpPr>
        <p:spPr>
          <a:xfrm>
            <a:off x="548640" y="3465576"/>
            <a:ext cx="1600200" cy="822960"/>
          </a:xfrm>
          <a:prstGeom prst="rect">
            <a:avLst/>
          </a:prstGeom>
          <a:solidFill>
            <a:schemeClr val="accent6"/>
          </a:solidFill>
          <a:ln w="9525">
            <a:solidFill>
              <a:schemeClr val="accent5"/>
            </a:solidFill>
            <a:prstDash val="solid"/>
          </a:ln>
        </p:spPr>
      </p:sp>
      <p:sp>
        <p:nvSpPr>
          <p:cNvPr id="23" name="Text 21"/>
          <p:cNvSpPr txBox="1"/>
          <p:nvPr/>
        </p:nvSpPr>
        <p:spPr>
          <a:xfrm>
            <a:off x="685800" y="3465576"/>
            <a:ext cx="1325880" cy="822960"/>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Clientes</a:t>
            </a:r>
            <a:endParaRPr lang="es-CL" sz="1300" dirty="0"/>
          </a:p>
        </p:txBody>
      </p:sp>
      <p:sp>
        <p:nvSpPr>
          <p:cNvPr id="24" name="Shape 22"/>
          <p:cNvSpPr/>
          <p:nvPr/>
        </p:nvSpPr>
        <p:spPr>
          <a:xfrm>
            <a:off x="2231136" y="3465576"/>
            <a:ext cx="2291258" cy="822960"/>
          </a:xfrm>
          <a:prstGeom prst="rect">
            <a:avLst/>
          </a:prstGeom>
          <a:solidFill>
            <a:schemeClr val="bg2"/>
          </a:solidFill>
          <a:ln w="9525">
            <a:solidFill>
              <a:schemeClr val="accent5"/>
            </a:solidFill>
            <a:prstDash val="solid"/>
          </a:ln>
        </p:spPr>
      </p:sp>
      <p:sp>
        <p:nvSpPr>
          <p:cNvPr id="25" name="Text 23"/>
          <p:cNvSpPr txBox="1"/>
          <p:nvPr/>
        </p:nvSpPr>
        <p:spPr>
          <a:xfrm>
            <a:off x="2350008" y="3538728"/>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Segmento definido y estrategia de producto única (06: 4)</a:t>
            </a:r>
            <a:endParaRPr lang="es-CL" sz="1100" dirty="0"/>
          </a:p>
        </p:txBody>
      </p:sp>
      <p:sp>
        <p:nvSpPr>
          <p:cNvPr id="26" name="Shape 24"/>
          <p:cNvSpPr/>
          <p:nvPr/>
        </p:nvSpPr>
        <p:spPr>
          <a:xfrm>
            <a:off x="4604690" y="3465576"/>
            <a:ext cx="2291258" cy="822960"/>
          </a:xfrm>
          <a:prstGeom prst="rect">
            <a:avLst/>
          </a:prstGeom>
          <a:solidFill>
            <a:schemeClr val="bg2"/>
          </a:solidFill>
          <a:ln w="9525">
            <a:solidFill>
              <a:schemeClr val="accent5"/>
            </a:solidFill>
            <a:prstDash val="solid"/>
          </a:ln>
        </p:spPr>
      </p:sp>
      <p:sp>
        <p:nvSpPr>
          <p:cNvPr id="27" name="Text 25"/>
          <p:cNvSpPr txBox="1"/>
          <p:nvPr/>
        </p:nvSpPr>
        <p:spPr>
          <a:xfrm>
            <a:off x="4723562" y="3538728"/>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Marca sin casos; validación con n = 3; sin precio; línea acotada</a:t>
            </a:r>
            <a:endParaRPr lang="es-CL" sz="1100" dirty="0"/>
          </a:p>
        </p:txBody>
      </p:sp>
      <p:sp>
        <p:nvSpPr>
          <p:cNvPr id="28" name="Shape 26"/>
          <p:cNvSpPr/>
          <p:nvPr/>
        </p:nvSpPr>
        <p:spPr>
          <a:xfrm>
            <a:off x="6978244" y="3465576"/>
            <a:ext cx="2291258" cy="822960"/>
          </a:xfrm>
          <a:prstGeom prst="rect">
            <a:avLst/>
          </a:prstGeom>
          <a:solidFill>
            <a:schemeClr val="bg2"/>
          </a:solidFill>
          <a:ln w="9525">
            <a:solidFill>
              <a:schemeClr val="accent5"/>
            </a:solidFill>
            <a:prstDash val="solid"/>
          </a:ln>
        </p:spPr>
      </p:sp>
      <p:sp>
        <p:nvSpPr>
          <p:cNvPr id="29" name="Text 27"/>
          <p:cNvSpPr txBox="1"/>
          <p:nvPr/>
        </p:nvSpPr>
        <p:spPr>
          <a:xfrm>
            <a:off x="7097116" y="3538728"/>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3,5 usados por nuevo; transporte +9,7%; bencina a $1.541</a:t>
            </a:r>
            <a:endParaRPr lang="es-CL" sz="1100" dirty="0"/>
          </a:p>
        </p:txBody>
      </p:sp>
      <p:sp>
        <p:nvSpPr>
          <p:cNvPr id="30" name="Shape 28"/>
          <p:cNvSpPr/>
          <p:nvPr/>
        </p:nvSpPr>
        <p:spPr>
          <a:xfrm>
            <a:off x="9351797" y="3465576"/>
            <a:ext cx="2291258" cy="822960"/>
          </a:xfrm>
          <a:prstGeom prst="rect">
            <a:avLst/>
          </a:prstGeom>
          <a:solidFill>
            <a:srgbClr val="1F1012"/>
          </a:solidFill>
          <a:ln w="15875">
            <a:solidFill>
              <a:schemeClr val="accent4"/>
            </a:solidFill>
            <a:prstDash val="solid"/>
          </a:ln>
        </p:spPr>
      </p:sp>
      <p:sp>
        <p:nvSpPr>
          <p:cNvPr id="31" name="Text 29"/>
          <p:cNvSpPr txBox="1"/>
          <p:nvPr/>
        </p:nvSpPr>
        <p:spPr>
          <a:xfrm>
            <a:off x="9470669" y="3538728"/>
            <a:ext cx="2053514" cy="676656"/>
          </a:xfrm>
          <a:prstGeom prst="rect">
            <a:avLst/>
          </a:prstGeom>
          <a:noFill/>
          <a:ln/>
        </p:spPr>
        <p:txBody>
          <a:bodyPr wrap="square" lIns="0" tIns="0" rIns="0" bIns="0" rtlCol="0" anchor="ctr"/>
          <a:lstStyle/>
          <a:p>
            <a:pPr indent="0" marL="0">
              <a:buNone/>
            </a:pPr>
            <a:r>
              <a:rPr lang="es-CL" altLang="en-US" sz="1100" dirty="0">
                <a:solidFill>
                  <a:schemeClr val="tx1"/>
                </a:solidFill>
                <a:latin typeface="Figtree" pitchFamily="34" charset="0"/>
                <a:ea typeface="Figtree" pitchFamily="34" charset="-122"/>
                <a:cs typeface="Figtree" pitchFamily="34" charset="-120"/>
              </a:rPr>
              <a:t>Bajo ingreso disponible; desempleo 9,5%; no hacer nada a $0; aseguradoras</a:t>
            </a:r>
            <a:endParaRPr lang="es-CL" sz="1100" dirty="0"/>
          </a:p>
        </p:txBody>
      </p:sp>
      <p:sp>
        <p:nvSpPr>
          <p:cNvPr id="32" name="Shape 30"/>
          <p:cNvSpPr/>
          <p:nvPr/>
        </p:nvSpPr>
        <p:spPr>
          <a:xfrm>
            <a:off x="548640" y="4370832"/>
            <a:ext cx="1600200" cy="822960"/>
          </a:xfrm>
          <a:prstGeom prst="rect">
            <a:avLst/>
          </a:prstGeom>
          <a:solidFill>
            <a:schemeClr val="accent6"/>
          </a:solidFill>
          <a:ln w="9525">
            <a:solidFill>
              <a:schemeClr val="accent5"/>
            </a:solidFill>
            <a:prstDash val="solid"/>
          </a:ln>
        </p:spPr>
      </p:sp>
      <p:sp>
        <p:nvSpPr>
          <p:cNvPr id="33" name="Text 31"/>
          <p:cNvSpPr txBox="1"/>
          <p:nvPr/>
        </p:nvSpPr>
        <p:spPr>
          <a:xfrm>
            <a:off x="685800" y="4370832"/>
            <a:ext cx="1325880" cy="822960"/>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Procesos internos</a:t>
            </a:r>
            <a:endParaRPr lang="es-CL" sz="1300" dirty="0"/>
          </a:p>
        </p:txBody>
      </p:sp>
      <p:sp>
        <p:nvSpPr>
          <p:cNvPr id="34" name="Shape 32"/>
          <p:cNvSpPr/>
          <p:nvPr/>
        </p:nvSpPr>
        <p:spPr>
          <a:xfrm>
            <a:off x="2231136" y="4370832"/>
            <a:ext cx="2291258" cy="822960"/>
          </a:xfrm>
          <a:prstGeom prst="rect">
            <a:avLst/>
          </a:prstGeom>
          <a:solidFill>
            <a:srgbClr val="0B1A22"/>
          </a:solidFill>
          <a:ln w="15875">
            <a:solidFill>
              <a:schemeClr val="accent1"/>
            </a:solidFill>
            <a:prstDash val="solid"/>
          </a:ln>
        </p:spPr>
      </p:sp>
      <p:sp>
        <p:nvSpPr>
          <p:cNvPr id="35" name="Text 33"/>
          <p:cNvSpPr txBox="1"/>
          <p:nvPr/>
        </p:nvSpPr>
        <p:spPr>
          <a:xfrm>
            <a:off x="2350008" y="4443984"/>
            <a:ext cx="2053514" cy="676656"/>
          </a:xfrm>
          <a:prstGeom prst="rect">
            <a:avLst/>
          </a:prstGeom>
          <a:noFill/>
          <a:ln/>
        </p:spPr>
        <p:txBody>
          <a:bodyPr wrap="square" lIns="0" tIns="0" rIns="0" bIns="0" rtlCol="0" anchor="ctr"/>
          <a:lstStyle/>
          <a:p>
            <a:pPr indent="0" marL="0">
              <a:buNone/>
            </a:pPr>
            <a:r>
              <a:rPr lang="es-CL" altLang="en-US" sz="1100" dirty="0">
                <a:solidFill>
                  <a:schemeClr val="tx1"/>
                </a:solidFill>
                <a:latin typeface="Figtree" pitchFamily="34" charset="0"/>
                <a:ea typeface="Figtree" pitchFamily="34" charset="-122"/>
                <a:cs typeface="Figtree" pitchFamily="34" charset="-120"/>
              </a:rPr>
              <a:t>Arquitectura en eje trasero; proceso de cinco etapas, calidad e integración (06: 4)</a:t>
            </a:r>
            <a:endParaRPr lang="es-CL" sz="1100" dirty="0"/>
          </a:p>
        </p:txBody>
      </p:sp>
      <p:sp>
        <p:nvSpPr>
          <p:cNvPr id="36" name="Shape 34"/>
          <p:cNvSpPr/>
          <p:nvPr/>
        </p:nvSpPr>
        <p:spPr>
          <a:xfrm>
            <a:off x="4604690" y="4370832"/>
            <a:ext cx="2291258" cy="822960"/>
          </a:xfrm>
          <a:prstGeom prst="rect">
            <a:avLst/>
          </a:prstGeom>
          <a:solidFill>
            <a:schemeClr val="bg2"/>
          </a:solidFill>
          <a:ln w="9525">
            <a:solidFill>
              <a:schemeClr val="accent5"/>
            </a:solidFill>
            <a:prstDash val="solid"/>
          </a:ln>
        </p:spPr>
      </p:sp>
      <p:sp>
        <p:nvSpPr>
          <p:cNvPr id="37" name="Text 35"/>
          <p:cNvSpPr txBox="1"/>
          <p:nvPr/>
        </p:nvSpPr>
        <p:spPr>
          <a:xfrm>
            <a:off x="4723562" y="4443984"/>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Sin ensayo ni homologación; biblioteca vacía; operaciones como cuello de botella</a:t>
            </a:r>
            <a:endParaRPr lang="es-CL" sz="1100" dirty="0"/>
          </a:p>
        </p:txBody>
      </p:sp>
      <p:sp>
        <p:nvSpPr>
          <p:cNvPr id="38" name="Shape 36"/>
          <p:cNvSpPr/>
          <p:nvPr/>
        </p:nvSpPr>
        <p:spPr>
          <a:xfrm>
            <a:off x="6978244" y="4370832"/>
            <a:ext cx="2291258" cy="822960"/>
          </a:xfrm>
          <a:prstGeom prst="rect">
            <a:avLst/>
          </a:prstGeom>
          <a:solidFill>
            <a:schemeClr val="bg2"/>
          </a:solidFill>
          <a:ln w="9525">
            <a:solidFill>
              <a:schemeClr val="accent5"/>
            </a:solidFill>
            <a:prstDash val="solid"/>
          </a:ln>
        </p:spPr>
      </p:sp>
      <p:sp>
        <p:nvSpPr>
          <p:cNvPr id="39" name="Text 37"/>
          <p:cNvSpPr txBox="1"/>
          <p:nvPr/>
        </p:nvSpPr>
        <p:spPr>
          <a:xfrm>
            <a:off x="7097116" y="4443984"/>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Ahorro documentado (ICCT, SEG); Francia 2020; OBD para medir consumo</a:t>
            </a:r>
            <a:endParaRPr lang="es-CL" sz="1100" dirty="0"/>
          </a:p>
        </p:txBody>
      </p:sp>
      <p:sp>
        <p:nvSpPr>
          <p:cNvPr id="40" name="Shape 38"/>
          <p:cNvSpPr/>
          <p:nvPr/>
        </p:nvSpPr>
        <p:spPr>
          <a:xfrm>
            <a:off x="9351797" y="4370832"/>
            <a:ext cx="2291258" cy="822960"/>
          </a:xfrm>
          <a:prstGeom prst="rect">
            <a:avLst/>
          </a:prstGeom>
          <a:solidFill>
            <a:schemeClr val="bg2"/>
          </a:solidFill>
          <a:ln w="9525">
            <a:solidFill>
              <a:schemeClr val="accent5"/>
            </a:solidFill>
            <a:prstDash val="solid"/>
          </a:ln>
        </p:spPr>
      </p:sp>
      <p:sp>
        <p:nvSpPr>
          <p:cNvPr id="41" name="Text 39"/>
          <p:cNvSpPr txBox="1"/>
          <p:nvPr/>
        </p:nvSpPr>
        <p:spPr>
          <a:xfrm>
            <a:off x="9470669" y="4443984"/>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Borrador 2021 sin vía para la hibridación; homologación por par modelo-kit</a:t>
            </a:r>
            <a:endParaRPr lang="es-CL" sz="1100" dirty="0"/>
          </a:p>
        </p:txBody>
      </p:sp>
      <p:sp>
        <p:nvSpPr>
          <p:cNvPr id="42" name="Shape 40"/>
          <p:cNvSpPr/>
          <p:nvPr/>
        </p:nvSpPr>
        <p:spPr>
          <a:xfrm>
            <a:off x="548640" y="5276088"/>
            <a:ext cx="1600200" cy="822960"/>
          </a:xfrm>
          <a:prstGeom prst="rect">
            <a:avLst/>
          </a:prstGeom>
          <a:solidFill>
            <a:schemeClr val="accent6"/>
          </a:solidFill>
          <a:ln w="9525">
            <a:solidFill>
              <a:schemeClr val="accent5"/>
            </a:solidFill>
            <a:prstDash val="solid"/>
          </a:ln>
        </p:spPr>
      </p:sp>
      <p:sp>
        <p:nvSpPr>
          <p:cNvPr id="43" name="Text 41"/>
          <p:cNvSpPr txBox="1"/>
          <p:nvPr/>
        </p:nvSpPr>
        <p:spPr>
          <a:xfrm>
            <a:off x="685800" y="5276088"/>
            <a:ext cx="1325880" cy="822960"/>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Aprendizaje y crecimiento</a:t>
            </a:r>
            <a:endParaRPr lang="es-CL" sz="1300" dirty="0"/>
          </a:p>
        </p:txBody>
      </p:sp>
      <p:sp>
        <p:nvSpPr>
          <p:cNvPr id="44" name="Shape 42"/>
          <p:cNvSpPr/>
          <p:nvPr/>
        </p:nvSpPr>
        <p:spPr>
          <a:xfrm>
            <a:off x="2231136" y="5276088"/>
            <a:ext cx="2291258" cy="822960"/>
          </a:xfrm>
          <a:prstGeom prst="rect">
            <a:avLst/>
          </a:prstGeom>
          <a:solidFill>
            <a:schemeClr val="bg2"/>
          </a:solidFill>
          <a:ln w="9525">
            <a:solidFill>
              <a:schemeClr val="accent5"/>
            </a:solidFill>
            <a:prstDash val="solid"/>
          </a:ln>
        </p:spPr>
      </p:sp>
      <p:sp>
        <p:nvSpPr>
          <p:cNvPr id="45" name="Text 43"/>
          <p:cNvSpPr txBox="1"/>
          <p:nvPr/>
        </p:nvSpPr>
        <p:spPr>
          <a:xfrm>
            <a:off x="2350008" y="5349240"/>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Planificación (06: 4); estrategia horizontal de la tecnología (4)</a:t>
            </a:r>
            <a:endParaRPr lang="es-CL" sz="1100" dirty="0"/>
          </a:p>
        </p:txBody>
      </p:sp>
      <p:sp>
        <p:nvSpPr>
          <p:cNvPr id="46" name="Shape 44"/>
          <p:cNvSpPr/>
          <p:nvPr/>
        </p:nvSpPr>
        <p:spPr>
          <a:xfrm>
            <a:off x="4604690" y="5276088"/>
            <a:ext cx="2291258" cy="822960"/>
          </a:xfrm>
          <a:prstGeom prst="rect">
            <a:avLst/>
          </a:prstGeom>
          <a:solidFill>
            <a:schemeClr val="bg2"/>
          </a:solidFill>
          <a:ln w="9525">
            <a:solidFill>
              <a:schemeClr val="accent5"/>
            </a:solidFill>
            <a:prstDash val="solid"/>
          </a:ln>
        </p:spPr>
      </p:sp>
      <p:sp>
        <p:nvSpPr>
          <p:cNvPr id="47" name="Text 45"/>
          <p:cNvSpPr txBox="1"/>
          <p:nvPr/>
        </p:nvSpPr>
        <p:spPr>
          <a:xfrm>
            <a:off x="4723562" y="5349240"/>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Técnicos escasos; sin retención; liderazgo sin trayectoria en el rubro</a:t>
            </a:r>
            <a:endParaRPr lang="es-CL" sz="1100" dirty="0"/>
          </a:p>
        </p:txBody>
      </p:sp>
      <p:sp>
        <p:nvSpPr>
          <p:cNvPr id="48" name="Shape 46"/>
          <p:cNvSpPr/>
          <p:nvPr/>
        </p:nvSpPr>
        <p:spPr>
          <a:xfrm>
            <a:off x="6978244" y="5276088"/>
            <a:ext cx="2291258" cy="822960"/>
          </a:xfrm>
          <a:prstGeom prst="rect">
            <a:avLst/>
          </a:prstGeom>
          <a:solidFill>
            <a:schemeClr val="bg2"/>
          </a:solidFill>
          <a:ln w="9525">
            <a:solidFill>
              <a:schemeClr val="accent5"/>
            </a:solidFill>
            <a:prstDash val="solid"/>
          </a:ln>
        </p:spPr>
      </p:sp>
      <p:sp>
        <p:nvSpPr>
          <p:cNvPr id="49" name="Text 47"/>
          <p:cNvSpPr txBox="1"/>
          <p:nvPr/>
        </p:nvSpPr>
        <p:spPr>
          <a:xfrm>
            <a:off x="7097116" y="5349240"/>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Formación incipiente en alta tensión (INACAP); ecosistema francés</a:t>
            </a:r>
            <a:endParaRPr lang="es-CL" sz="1100" dirty="0"/>
          </a:p>
        </p:txBody>
      </p:sp>
      <p:sp>
        <p:nvSpPr>
          <p:cNvPr id="50" name="Shape 48"/>
          <p:cNvSpPr/>
          <p:nvPr/>
        </p:nvSpPr>
        <p:spPr>
          <a:xfrm>
            <a:off x="9351797" y="5276088"/>
            <a:ext cx="2291258" cy="822960"/>
          </a:xfrm>
          <a:prstGeom prst="rect">
            <a:avLst/>
          </a:prstGeom>
          <a:solidFill>
            <a:schemeClr val="bg2"/>
          </a:solidFill>
          <a:ln w="9525">
            <a:solidFill>
              <a:schemeClr val="accent5"/>
            </a:solidFill>
            <a:prstDash val="solid"/>
          </a:ln>
        </p:spPr>
      </p:sp>
      <p:sp>
        <p:nvSpPr>
          <p:cNvPr id="51" name="Text 49"/>
          <p:cNvSpPr txBox="1"/>
          <p:nvPr/>
        </p:nvSpPr>
        <p:spPr>
          <a:xfrm>
            <a:off x="9470669" y="5349240"/>
            <a:ext cx="2053514" cy="676656"/>
          </a:xfrm>
          <a:prstGeom prst="rect">
            <a:avLst/>
          </a:prstGeom>
          <a:noFill/>
          <a:ln/>
        </p:spPr>
        <p:txBody>
          <a:bodyPr wrap="square" lIns="0" tIns="0" rIns="0" bIns="0" rtlCol="0" anchor="ctr"/>
          <a:lstStyle/>
          <a:p>
            <a:pPr indent="0" marL="0">
              <a:buNone/>
            </a:pPr>
            <a:r>
              <a:rPr lang="es-CL" altLang="en-US" sz="1100" dirty="0">
                <a:solidFill>
                  <a:schemeClr val="tx2"/>
                </a:solidFill>
                <a:latin typeface="Figtree" pitchFamily="34" charset="0"/>
                <a:ea typeface="Figtree" pitchFamily="34" charset="-122"/>
                <a:cs typeface="Figtree" pitchFamily="34" charset="-120"/>
              </a:rPr>
              <a:t>Jornada de 42 y 40 horas; I+D de 0,41% del PIB</a:t>
            </a:r>
            <a:endParaRPr lang="es-CL" sz="11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10</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FODA · CRUCE ESTRATÉGICO</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DEL FODA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a las acciones.</a:t>
            </a:r>
            <a:endParaRPr lang="en-US" sz="3000" dirty="0"/>
          </a:p>
        </p:txBody>
      </p:sp>
      <p:sp>
        <p:nvSpPr>
          <p:cNvPr id="4" name="Shape 2"/>
          <p:cNvSpPr/>
          <p:nvPr/>
        </p:nvSpPr>
        <p:spPr>
          <a:xfrm>
            <a:off x="548640" y="2331720"/>
            <a:ext cx="5410048" cy="1508760"/>
          </a:xfrm>
          <a:prstGeom prst="rect">
            <a:avLst/>
          </a:prstGeom>
          <a:solidFill>
            <a:schemeClr val="bg2"/>
          </a:solidFill>
          <a:ln w="9525">
            <a:solidFill>
              <a:schemeClr val="accent5"/>
            </a:solidFill>
            <a:prstDash val="solid"/>
          </a:ln>
        </p:spPr>
      </p:sp>
      <p:sp>
        <p:nvSpPr>
          <p:cNvPr id="5" name="Text 3"/>
          <p:cNvSpPr txBox="1"/>
          <p:nvPr/>
        </p:nvSpPr>
        <p:spPr>
          <a:xfrm>
            <a:off x="777240" y="2496312"/>
            <a:ext cx="1097280" cy="777240"/>
          </a:xfrm>
          <a:prstGeom prst="rect">
            <a:avLst/>
          </a:prstGeom>
          <a:noFill/>
          <a:ln/>
        </p:spPr>
        <p:txBody>
          <a:bodyPr wrap="square" lIns="0" tIns="0" rIns="0" bIns="0" rtlCol="0" anchor="t"/>
          <a:lstStyle/>
          <a:p>
            <a:pPr indent="0" marL="0">
              <a:buNone/>
            </a:pPr>
            <a:r>
              <a:rPr lang="es-CL" altLang="en-US" sz="5200" b="1" dirty="0">
                <a:solidFill>
                  <a:schemeClr val="accent1"/>
                </a:solidFill>
                <a:latin typeface="Archivo Condensed" pitchFamily="34" charset="0"/>
                <a:ea typeface="Archivo Condensed" pitchFamily="34" charset="-122"/>
                <a:cs typeface="Archivo Condensed" pitchFamily="34" charset="-120"/>
              </a:rPr>
              <a:t>FO</a:t>
            </a:r>
            <a:endParaRPr lang="es-CL" sz="5200" dirty="0"/>
          </a:p>
        </p:txBody>
      </p:sp>
      <p:sp>
        <p:nvSpPr>
          <p:cNvPr id="6" name="Text 4"/>
          <p:cNvSpPr txBox="1"/>
          <p:nvPr/>
        </p:nvSpPr>
        <p:spPr>
          <a:xfrm>
            <a:off x="795528" y="3355848"/>
            <a:ext cx="1463040" cy="365760"/>
          </a:xfrm>
          <a:prstGeom prst="rect">
            <a:avLst/>
          </a:prstGeom>
          <a:noFill/>
          <a:ln/>
        </p:spPr>
        <p:txBody>
          <a:bodyPr wrap="square" lIns="0" tIns="0" rIns="0" bIns="0" rtlCol="0" anchor="t"/>
          <a:lstStyle/>
          <a:p>
            <a:pPr indent="0" marL="0">
              <a:buNone/>
            </a:pPr>
            <a:r>
              <a:rPr lang="es-CL" altLang="en-US" sz="700" spc="100" kern="0" dirty="0">
                <a:solidFill>
                  <a:schemeClr val="tx2"/>
                </a:solidFill>
                <a:latin typeface="IBM Plex Mono" pitchFamily="34" charset="0"/>
                <a:ea typeface="IBM Plex Mono" pitchFamily="34" charset="-122"/>
                <a:cs typeface="IBM Plex Mono" pitchFamily="34" charset="-120"/>
              </a:rPr>
              <a:t>FORTALEZAS × OPORTUNIDADES</a:t>
            </a:r>
            <a:endParaRPr lang="es-CL" sz="700" dirty="0"/>
          </a:p>
        </p:txBody>
      </p:sp>
      <p:sp>
        <p:nvSpPr>
          <p:cNvPr id="7" name="Text 5"/>
          <p:cNvSpPr txBox="1"/>
          <p:nvPr/>
        </p:nvSpPr>
        <p:spPr>
          <a:xfrm>
            <a:off x="2331720" y="2496312"/>
            <a:ext cx="3398368" cy="1179576"/>
          </a:xfrm>
          <a:prstGeom prst="rect">
            <a:avLst/>
          </a:prstGeom>
          <a:noFill/>
          <a:ln/>
        </p:spPr>
        <p:txBody>
          <a:bodyPr wrap="square" lIns="0" tIns="0" rIns="0" bIns="0" rtlCol="0" anchor="ctr"/>
          <a:lstStyle/>
          <a:p>
            <a:pPr indent="0" marL="0">
              <a:buNone/>
            </a:pPr>
            <a:r>
              <a:rPr lang="es-CL" altLang="en-US" sz="1500" dirty="0">
                <a:solidFill>
                  <a:schemeClr val="tx1"/>
                </a:solidFill>
                <a:latin typeface="Figtree" pitchFamily="34" charset="0"/>
                <a:ea typeface="Figtree" pitchFamily="34" charset="-122"/>
                <a:cs typeface="Figtree" pitchFamily="34" charset="-120"/>
              </a:rPr>
              <a:t>Homologar primero los modelos de mayor densidad en el segmento priorizado: nadie ofrece hoy la hibridación certificada.</a:t>
            </a:r>
            <a:endParaRPr lang="es-CL" sz="1500" dirty="0"/>
          </a:p>
        </p:txBody>
      </p:sp>
      <p:sp>
        <p:nvSpPr>
          <p:cNvPr id="8" name="Shape 6"/>
          <p:cNvSpPr/>
          <p:nvPr/>
        </p:nvSpPr>
        <p:spPr>
          <a:xfrm>
            <a:off x="6233008" y="2331720"/>
            <a:ext cx="5410048" cy="1508760"/>
          </a:xfrm>
          <a:prstGeom prst="rect">
            <a:avLst/>
          </a:prstGeom>
          <a:solidFill>
            <a:schemeClr val="bg2"/>
          </a:solidFill>
          <a:ln w="9525">
            <a:solidFill>
              <a:schemeClr val="accent5"/>
            </a:solidFill>
            <a:prstDash val="solid"/>
          </a:ln>
        </p:spPr>
      </p:sp>
      <p:sp>
        <p:nvSpPr>
          <p:cNvPr id="9" name="Text 7"/>
          <p:cNvSpPr txBox="1"/>
          <p:nvPr/>
        </p:nvSpPr>
        <p:spPr>
          <a:xfrm>
            <a:off x="6461608" y="2496312"/>
            <a:ext cx="1097280" cy="777240"/>
          </a:xfrm>
          <a:prstGeom prst="rect">
            <a:avLst/>
          </a:prstGeom>
          <a:noFill/>
          <a:ln/>
        </p:spPr>
        <p:txBody>
          <a:bodyPr wrap="square" lIns="0" tIns="0" rIns="0" bIns="0" rtlCol="0" anchor="t"/>
          <a:lstStyle/>
          <a:p>
            <a:pPr indent="0" marL="0">
              <a:buNone/>
            </a:pPr>
            <a:r>
              <a:rPr lang="es-CL" altLang="en-US" sz="5200" b="1" dirty="0">
                <a:solidFill>
                  <a:schemeClr val="accent1"/>
                </a:solidFill>
                <a:latin typeface="Archivo Condensed" pitchFamily="34" charset="0"/>
                <a:ea typeface="Archivo Condensed" pitchFamily="34" charset="-122"/>
                <a:cs typeface="Archivo Condensed" pitchFamily="34" charset="-120"/>
              </a:rPr>
              <a:t>DO</a:t>
            </a:r>
            <a:endParaRPr lang="es-CL" sz="5200" dirty="0"/>
          </a:p>
        </p:txBody>
      </p:sp>
      <p:sp>
        <p:nvSpPr>
          <p:cNvPr id="10" name="Text 8"/>
          <p:cNvSpPr txBox="1"/>
          <p:nvPr/>
        </p:nvSpPr>
        <p:spPr>
          <a:xfrm>
            <a:off x="6479896" y="3355848"/>
            <a:ext cx="1463040" cy="365760"/>
          </a:xfrm>
          <a:prstGeom prst="rect">
            <a:avLst/>
          </a:prstGeom>
          <a:noFill/>
          <a:ln/>
        </p:spPr>
        <p:txBody>
          <a:bodyPr wrap="square" lIns="0" tIns="0" rIns="0" bIns="0" rtlCol="0" anchor="t"/>
          <a:lstStyle/>
          <a:p>
            <a:pPr indent="0" marL="0">
              <a:buNone/>
            </a:pPr>
            <a:r>
              <a:rPr lang="es-CL" altLang="en-US" sz="700" spc="100" kern="0" dirty="0">
                <a:solidFill>
                  <a:schemeClr val="tx2"/>
                </a:solidFill>
                <a:latin typeface="IBM Plex Mono" pitchFamily="34" charset="0"/>
                <a:ea typeface="IBM Plex Mono" pitchFamily="34" charset="-122"/>
                <a:cs typeface="IBM Plex Mono" pitchFamily="34" charset="-120"/>
              </a:rPr>
              <a:t>DEBILIDADES × OPORTUNIDADES</a:t>
            </a:r>
            <a:endParaRPr lang="es-CL" sz="700" dirty="0"/>
          </a:p>
        </p:txBody>
      </p:sp>
      <p:sp>
        <p:nvSpPr>
          <p:cNvPr id="11" name="Text 9"/>
          <p:cNvSpPr txBox="1"/>
          <p:nvPr/>
        </p:nvSpPr>
        <p:spPr>
          <a:xfrm>
            <a:off x="8016088" y="2496312"/>
            <a:ext cx="3398368" cy="1179576"/>
          </a:xfrm>
          <a:prstGeom prst="rect">
            <a:avLst/>
          </a:prstGeom>
          <a:noFill/>
          <a:ln/>
        </p:spPr>
        <p:txBody>
          <a:bodyPr wrap="square" lIns="0" tIns="0" rIns="0" bIns="0" rtlCol="0" anchor="ctr"/>
          <a:lstStyle/>
          <a:p>
            <a:pPr indent="0" marL="0">
              <a:buNone/>
            </a:pPr>
            <a:r>
              <a:rPr lang="es-CL" altLang="en-US" sz="1500" dirty="0">
                <a:solidFill>
                  <a:schemeClr val="tx1"/>
                </a:solidFill>
                <a:latin typeface="Figtree" pitchFamily="34" charset="0"/>
                <a:ea typeface="Figtree" pitchFamily="34" charset="-122"/>
                <a:cs typeface="Figtree" pitchFamily="34" charset="-120"/>
              </a:rPr>
              <a:t>Consultar al 3CV y plantear al MTT, mientras elabora el reglamento, el precedente del gas licuado.</a:t>
            </a:r>
            <a:endParaRPr lang="es-CL" sz="1500" dirty="0"/>
          </a:p>
        </p:txBody>
      </p:sp>
      <p:sp>
        <p:nvSpPr>
          <p:cNvPr id="12" name="Shape 10"/>
          <p:cNvSpPr/>
          <p:nvPr/>
        </p:nvSpPr>
        <p:spPr>
          <a:xfrm>
            <a:off x="548640" y="4069080"/>
            <a:ext cx="5410048" cy="1508760"/>
          </a:xfrm>
          <a:prstGeom prst="rect">
            <a:avLst/>
          </a:prstGeom>
          <a:solidFill>
            <a:schemeClr val="bg2"/>
          </a:solidFill>
          <a:ln w="9525">
            <a:solidFill>
              <a:schemeClr val="accent5"/>
            </a:solidFill>
            <a:prstDash val="solid"/>
          </a:ln>
        </p:spPr>
      </p:sp>
      <p:sp>
        <p:nvSpPr>
          <p:cNvPr id="13" name="Text 11"/>
          <p:cNvSpPr txBox="1"/>
          <p:nvPr/>
        </p:nvSpPr>
        <p:spPr>
          <a:xfrm>
            <a:off x="777240" y="4233672"/>
            <a:ext cx="1097280" cy="777240"/>
          </a:xfrm>
          <a:prstGeom prst="rect">
            <a:avLst/>
          </a:prstGeom>
          <a:noFill/>
          <a:ln/>
        </p:spPr>
        <p:txBody>
          <a:bodyPr wrap="square" lIns="0" tIns="0" rIns="0" bIns="0" rtlCol="0" anchor="t"/>
          <a:lstStyle/>
          <a:p>
            <a:pPr indent="0" marL="0">
              <a:buNone/>
            </a:pPr>
            <a:r>
              <a:rPr lang="es-CL" altLang="en-US" sz="5200" b="1" dirty="0">
                <a:solidFill>
                  <a:schemeClr val="accent1"/>
                </a:solidFill>
                <a:latin typeface="Archivo Condensed" pitchFamily="34" charset="0"/>
                <a:ea typeface="Archivo Condensed" pitchFamily="34" charset="-122"/>
                <a:cs typeface="Archivo Condensed" pitchFamily="34" charset="-120"/>
              </a:rPr>
              <a:t>FA</a:t>
            </a:r>
            <a:endParaRPr lang="es-CL" sz="5200" dirty="0"/>
          </a:p>
        </p:txBody>
      </p:sp>
      <p:sp>
        <p:nvSpPr>
          <p:cNvPr id="14" name="Text 12"/>
          <p:cNvSpPr txBox="1"/>
          <p:nvPr/>
        </p:nvSpPr>
        <p:spPr>
          <a:xfrm>
            <a:off x="795528" y="5093208"/>
            <a:ext cx="1463040" cy="365760"/>
          </a:xfrm>
          <a:prstGeom prst="rect">
            <a:avLst/>
          </a:prstGeom>
          <a:noFill/>
          <a:ln/>
        </p:spPr>
        <p:txBody>
          <a:bodyPr wrap="square" lIns="0" tIns="0" rIns="0" bIns="0" rtlCol="0" anchor="t"/>
          <a:lstStyle/>
          <a:p>
            <a:pPr indent="0" marL="0">
              <a:buNone/>
            </a:pPr>
            <a:r>
              <a:rPr lang="es-CL" altLang="en-US" sz="700" spc="100" kern="0" dirty="0">
                <a:solidFill>
                  <a:schemeClr val="tx2"/>
                </a:solidFill>
                <a:latin typeface="IBM Plex Mono" pitchFamily="34" charset="0"/>
                <a:ea typeface="IBM Plex Mono" pitchFamily="34" charset="-122"/>
                <a:cs typeface="IBM Plex Mono" pitchFamily="34" charset="-120"/>
              </a:rPr>
              <a:t>FORTALEZAS × AMENAZAS</a:t>
            </a:r>
            <a:endParaRPr lang="es-CL" sz="700" dirty="0"/>
          </a:p>
        </p:txBody>
      </p:sp>
      <p:sp>
        <p:nvSpPr>
          <p:cNvPr id="15" name="Text 13"/>
          <p:cNvSpPr txBox="1"/>
          <p:nvPr/>
        </p:nvSpPr>
        <p:spPr>
          <a:xfrm>
            <a:off x="2331720" y="4233672"/>
            <a:ext cx="3398368" cy="1179576"/>
          </a:xfrm>
          <a:prstGeom prst="rect">
            <a:avLst/>
          </a:prstGeom>
          <a:noFill/>
          <a:ln/>
        </p:spPr>
        <p:txBody>
          <a:bodyPr wrap="square" lIns="0" tIns="0" rIns="0" bIns="0" rtlCol="0" anchor="ctr"/>
          <a:lstStyle/>
          <a:p>
            <a:pPr indent="0" marL="0">
              <a:buNone/>
            </a:pPr>
            <a:r>
              <a:rPr lang="es-CL" altLang="en-US" sz="1500" dirty="0">
                <a:solidFill>
                  <a:schemeClr val="tx1"/>
                </a:solidFill>
                <a:latin typeface="Figtree" pitchFamily="34" charset="0"/>
                <a:ea typeface="Figtree" pitchFamily="34" charset="-122"/>
                <a:cs typeface="Figtree" pitchFamily="34" charset="-120"/>
              </a:rPr>
              <a:t>Frente al híbrido usado y a no hacer nada, vender la cuota mensual contra el ahorro mensual, no la sostenibilidad.</a:t>
            </a:r>
            <a:endParaRPr lang="es-CL" sz="1500" dirty="0"/>
          </a:p>
        </p:txBody>
      </p:sp>
      <p:sp>
        <p:nvSpPr>
          <p:cNvPr id="16" name="Shape 14"/>
          <p:cNvSpPr/>
          <p:nvPr/>
        </p:nvSpPr>
        <p:spPr>
          <a:xfrm>
            <a:off x="6233008" y="4069080"/>
            <a:ext cx="5410048" cy="1508760"/>
          </a:xfrm>
          <a:prstGeom prst="rect">
            <a:avLst/>
          </a:prstGeom>
          <a:solidFill>
            <a:schemeClr val="bg2"/>
          </a:solidFill>
          <a:ln w="9525">
            <a:solidFill>
              <a:schemeClr val="accent5"/>
            </a:solidFill>
            <a:prstDash val="solid"/>
          </a:ln>
        </p:spPr>
      </p:sp>
      <p:sp>
        <p:nvSpPr>
          <p:cNvPr id="17" name="Text 15"/>
          <p:cNvSpPr txBox="1"/>
          <p:nvPr/>
        </p:nvSpPr>
        <p:spPr>
          <a:xfrm>
            <a:off x="6461608" y="4233672"/>
            <a:ext cx="1097280" cy="777240"/>
          </a:xfrm>
          <a:prstGeom prst="rect">
            <a:avLst/>
          </a:prstGeom>
          <a:noFill/>
          <a:ln/>
        </p:spPr>
        <p:txBody>
          <a:bodyPr wrap="square" lIns="0" tIns="0" rIns="0" bIns="0" rtlCol="0" anchor="t"/>
          <a:lstStyle/>
          <a:p>
            <a:pPr indent="0" marL="0">
              <a:buNone/>
            </a:pPr>
            <a:r>
              <a:rPr lang="es-CL" altLang="en-US" sz="5200" b="1" dirty="0">
                <a:solidFill>
                  <a:schemeClr val="accent1"/>
                </a:solidFill>
                <a:latin typeface="Archivo Condensed" pitchFamily="34" charset="0"/>
                <a:ea typeface="Archivo Condensed" pitchFamily="34" charset="-122"/>
                <a:cs typeface="Archivo Condensed" pitchFamily="34" charset="-120"/>
              </a:rPr>
              <a:t>DA</a:t>
            </a:r>
            <a:endParaRPr lang="es-CL" sz="5200" dirty="0"/>
          </a:p>
        </p:txBody>
      </p:sp>
      <p:sp>
        <p:nvSpPr>
          <p:cNvPr id="18" name="Text 16"/>
          <p:cNvSpPr txBox="1"/>
          <p:nvPr/>
        </p:nvSpPr>
        <p:spPr>
          <a:xfrm>
            <a:off x="6479896" y="5093208"/>
            <a:ext cx="1463040" cy="365760"/>
          </a:xfrm>
          <a:prstGeom prst="rect">
            <a:avLst/>
          </a:prstGeom>
          <a:noFill/>
          <a:ln/>
        </p:spPr>
        <p:txBody>
          <a:bodyPr wrap="square" lIns="0" tIns="0" rIns="0" bIns="0" rtlCol="0" anchor="t"/>
          <a:lstStyle/>
          <a:p>
            <a:pPr indent="0" marL="0">
              <a:buNone/>
            </a:pPr>
            <a:r>
              <a:rPr lang="es-CL" altLang="en-US" sz="700" spc="100" kern="0" dirty="0">
                <a:solidFill>
                  <a:schemeClr val="tx2"/>
                </a:solidFill>
                <a:latin typeface="IBM Plex Mono" pitchFamily="34" charset="0"/>
                <a:ea typeface="IBM Plex Mono" pitchFamily="34" charset="-122"/>
                <a:cs typeface="IBM Plex Mono" pitchFamily="34" charset="-120"/>
              </a:rPr>
              <a:t>DEBILIDADES × AMENAZAS</a:t>
            </a:r>
            <a:endParaRPr lang="es-CL" sz="700" dirty="0"/>
          </a:p>
        </p:txBody>
      </p:sp>
      <p:sp>
        <p:nvSpPr>
          <p:cNvPr id="19" name="Text 17"/>
          <p:cNvSpPr txBox="1"/>
          <p:nvPr/>
        </p:nvSpPr>
        <p:spPr>
          <a:xfrm>
            <a:off x="8016088" y="4233672"/>
            <a:ext cx="3398368" cy="1179576"/>
          </a:xfrm>
          <a:prstGeom prst="rect">
            <a:avLst/>
          </a:prstGeom>
          <a:noFill/>
          <a:ln/>
        </p:spPr>
        <p:txBody>
          <a:bodyPr wrap="square" lIns="0" tIns="0" rIns="0" bIns="0" rtlCol="0" anchor="ctr"/>
          <a:lstStyle/>
          <a:p>
            <a:pPr indent="0" marL="0">
              <a:buNone/>
            </a:pPr>
            <a:r>
              <a:rPr lang="es-CL" altLang="en-US" sz="1500" dirty="0">
                <a:solidFill>
                  <a:schemeClr val="tx1"/>
                </a:solidFill>
                <a:latin typeface="Figtree" pitchFamily="34" charset="0"/>
                <a:ea typeface="Figtree" pitchFamily="34" charset="-122"/>
                <a:cs typeface="Figtree" pitchFamily="34" charset="-120"/>
              </a:rPr>
              <a:t>Cerrar convenios con aseguradoras, plantas de revisión técnica y una institución financiera antes de vender el primer kit.</a:t>
            </a:r>
            <a:endParaRPr lang="es-CL" sz="1500" dirty="0"/>
          </a:p>
        </p:txBody>
      </p:sp>
      <p:sp>
        <p:nvSpPr>
          <p:cNvPr id="20" name="Shape 18"/>
          <p:cNvSpPr/>
          <p:nvPr/>
        </p:nvSpPr>
        <p:spPr>
          <a:xfrm>
            <a:off x="548640" y="5760720"/>
            <a:ext cx="11094415" cy="0"/>
          </a:xfrm>
          <a:prstGeom prst="line">
            <a:avLst/>
          </a:prstGeom>
          <a:noFill/>
          <a:ln w="9525">
            <a:solidFill>
              <a:schemeClr val="accent5"/>
            </a:solidFill>
            <a:prstDash val="solid"/>
          </a:ln>
        </p:spPr>
      </p:sp>
      <p:sp>
        <p:nvSpPr>
          <p:cNvPr id="21" name="Text 19"/>
          <p:cNvSpPr txBox="1"/>
          <p:nvPr/>
        </p:nvSpPr>
        <p:spPr>
          <a:xfrm>
            <a:off x="548640" y="5870448"/>
            <a:ext cx="2194560" cy="219456"/>
          </a:xfrm>
          <a:prstGeom prst="rect">
            <a:avLst/>
          </a:prstGeom>
          <a:noFill/>
          <a:ln/>
        </p:spPr>
        <p:txBody>
          <a:bodyPr wrap="square" lIns="0" tIns="0" rIns="0" bIns="0" rtlCol="0" anchor="t"/>
          <a:lstStyle/>
          <a:p>
            <a:pPr indent="0" marL="0">
              <a:buNone/>
            </a:pPr>
            <a:r>
              <a:rPr lang="es-CL" altLang="en-US" sz="900" spc="150" kern="0" dirty="0">
                <a:solidFill>
                  <a:schemeClr val="accent3"/>
                </a:solidFill>
                <a:latin typeface="IBM Plex Mono" pitchFamily="34" charset="0"/>
                <a:ea typeface="IBM Plex Mono" pitchFamily="34" charset="-122"/>
                <a:cs typeface="IBM Plex Mono" pitchFamily="34" charset="-120"/>
              </a:rPr>
              <a:t>QUINTO CRUCE · DA</a:t>
            </a:r>
            <a:endParaRPr lang="es-CL" sz="900" dirty="0"/>
          </a:p>
        </p:txBody>
      </p:sp>
      <p:sp>
        <p:nvSpPr>
          <p:cNvPr id="22" name="Text 20"/>
          <p:cNvSpPr txBox="1"/>
          <p:nvPr/>
        </p:nvSpPr>
        <p:spPr>
          <a:xfrm>
            <a:off x="2743200" y="5833872"/>
            <a:ext cx="8899855" cy="502920"/>
          </a:xfrm>
          <a:prstGeom prst="rect">
            <a:avLst/>
          </a:prstGeom>
          <a:noFill/>
          <a:ln/>
        </p:spPr>
        <p:txBody>
          <a:bodyPr wrap="square" lIns="0" tIns="0" rIns="0" bIns="0" rtlCol="0" anchor="t"/>
          <a:lstStyle/>
          <a:p>
            <a:pPr indent="0" marL="0">
              <a:buNone/>
            </a:pPr>
            <a:r>
              <a:rPr lang="es-CL" altLang="en-US" sz="1350" dirty="0">
                <a:solidFill>
                  <a:schemeClr val="tx2"/>
                </a:solidFill>
                <a:latin typeface="Figtree" pitchFamily="34" charset="0"/>
                <a:ea typeface="Figtree" pitchFamily="34" charset="-122"/>
                <a:cs typeface="Figtree" pitchFamily="34" charset="-120"/>
              </a:rPr>
              <a:t>Contratar cobertura cambiaria y un acuerdo de abastecimiento de largo plazo: el dólar sube y cambiar de proveedor obliga a rehomologar.</a:t>
            </a:r>
            <a:endParaRPr lang="es-CL" sz="13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DECLARACIÓN DE LA ESTRATEGIA · OVA</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DIFERENCIACIÓN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enfocada.</a:t>
            </a:r>
            <a:endParaRPr lang="en-US" sz="3000" dirty="0"/>
          </a:p>
        </p:txBody>
      </p:sp>
      <p:sp>
        <p:nvSpPr>
          <p:cNvPr id="4" name="Text 2"/>
          <p:cNvSpPr txBox="1"/>
          <p:nvPr/>
        </p:nvSpPr>
        <p:spPr>
          <a:xfrm>
            <a:off x="548640" y="2240280"/>
            <a:ext cx="11094415" cy="1097280"/>
          </a:xfrm>
          <a:prstGeom prst="rect">
            <a:avLst/>
          </a:prstGeom>
          <a:noFill/>
          <a:ln/>
        </p:spPr>
        <p:txBody>
          <a:bodyPr wrap="square" lIns="0" tIns="0" rIns="0" bIns="0" rtlCol="0" anchor="t"/>
          <a:lstStyle/>
          <a:p>
            <a:pPr indent="0" marL="0">
              <a:lnSpc>
                <a:spcPct val="98000"/>
              </a:lnSpc>
              <a:buNone/>
            </a:pPr>
            <a:r>
              <a:rPr lang="es-CL" altLang="en-US" sz="2200" i="1" dirty="0">
                <a:solidFill>
                  <a:schemeClr val="tx1"/>
                </a:solidFill>
                <a:latin typeface="Instrument Serif" pitchFamily="34" charset="0"/>
                <a:ea typeface="Instrument Serif" pitchFamily="34" charset="-122"/>
                <a:cs typeface="Instrument Serif" pitchFamily="34" charset="-120"/>
              </a:rPr>
              <a:t>«Un servicio certificado que reduce el combustible del auto que el cliente ya tiene, para conductores de alto kilometraje, sostenido por un conocimiento de calibración que un competidor no puede comprar.»</a:t>
            </a:r>
            <a:endParaRPr lang="es-CL" sz="2200" dirty="0"/>
          </a:p>
        </p:txBody>
      </p:sp>
      <p:sp>
        <p:nvSpPr>
          <p:cNvPr id="5" name="Shape 3"/>
          <p:cNvSpPr/>
          <p:nvPr/>
        </p:nvSpPr>
        <p:spPr>
          <a:xfrm>
            <a:off x="548640" y="3547872"/>
            <a:ext cx="3515258" cy="1965960"/>
          </a:xfrm>
          <a:prstGeom prst="rect">
            <a:avLst/>
          </a:prstGeom>
          <a:solidFill>
            <a:schemeClr val="bg2"/>
          </a:solidFill>
          <a:ln w="9525">
            <a:solidFill>
              <a:schemeClr val="accent5"/>
            </a:solidFill>
            <a:prstDash val="solid"/>
          </a:ln>
        </p:spPr>
      </p:sp>
      <p:sp>
        <p:nvSpPr>
          <p:cNvPr id="6" name="Text 4"/>
          <p:cNvSpPr txBox="1"/>
          <p:nvPr/>
        </p:nvSpPr>
        <p:spPr>
          <a:xfrm>
            <a:off x="749808" y="3712464"/>
            <a:ext cx="3112922"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OBJETIVO</a:t>
            </a:r>
            <a:endParaRPr lang="es-CL" sz="900" dirty="0"/>
          </a:p>
        </p:txBody>
      </p:sp>
      <p:sp>
        <p:nvSpPr>
          <p:cNvPr id="7" name="Text 5"/>
          <p:cNvSpPr txBox="1"/>
          <p:nvPr/>
        </p:nvSpPr>
        <p:spPr>
          <a:xfrm>
            <a:off x="749808" y="4005072"/>
            <a:ext cx="3112922" cy="100584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Ser hacia 2031 el taller de referencia en hibridación de vehículos en uso, como primer taller autorizado del país.</a:t>
            </a:r>
            <a:endParaRPr lang="es-CL" sz="1350" dirty="0"/>
          </a:p>
        </p:txBody>
      </p:sp>
      <p:sp>
        <p:nvSpPr>
          <p:cNvPr id="8" name="Shape 6"/>
          <p:cNvSpPr/>
          <p:nvPr/>
        </p:nvSpPr>
        <p:spPr>
          <a:xfrm>
            <a:off x="749808" y="5102352"/>
            <a:ext cx="3112922" cy="237744"/>
          </a:xfrm>
          <a:prstGeom prst="rect">
            <a:avLst/>
          </a:prstGeom>
          <a:solidFill>
            <a:schemeClr val="bg1">
              <a:alpha val="0"/>
            </a:schemeClr>
          </a:solidFill>
          <a:ln w="9525">
            <a:solidFill>
              <a:schemeClr val="accent3"/>
            </a:solidFill>
            <a:prstDash val="dash"/>
          </a:ln>
        </p:spPr>
      </p:sp>
      <p:sp>
        <p:nvSpPr>
          <p:cNvPr id="9" name="Text 7"/>
          <p:cNvSpPr txBox="1"/>
          <p:nvPr/>
        </p:nvSpPr>
        <p:spPr>
          <a:xfrm>
            <a:off x="841248" y="5102352"/>
            <a:ext cx="2930042" cy="237744"/>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3"/>
                </a:solidFill>
                <a:latin typeface="IBM Plex Mono" pitchFamily="34" charset="0"/>
                <a:ea typeface="IBM Plex Mono" pitchFamily="34" charset="-122"/>
                <a:cs typeface="IBM Plex Mono" pitchFamily="34" charset="-120"/>
              </a:rPr>
              <a:t>SIN META CUANTITATIVA</a:t>
            </a:r>
            <a:endParaRPr lang="es-CL" sz="800" dirty="0"/>
          </a:p>
        </p:txBody>
      </p:sp>
      <p:sp>
        <p:nvSpPr>
          <p:cNvPr id="10" name="Shape 8"/>
          <p:cNvSpPr/>
          <p:nvPr/>
        </p:nvSpPr>
        <p:spPr>
          <a:xfrm>
            <a:off x="4338218" y="3547872"/>
            <a:ext cx="3515258" cy="1965960"/>
          </a:xfrm>
          <a:prstGeom prst="rect">
            <a:avLst/>
          </a:prstGeom>
          <a:solidFill>
            <a:schemeClr val="bg2"/>
          </a:solidFill>
          <a:ln w="9525">
            <a:solidFill>
              <a:schemeClr val="accent5"/>
            </a:solidFill>
            <a:prstDash val="solid"/>
          </a:ln>
        </p:spPr>
      </p:sp>
      <p:sp>
        <p:nvSpPr>
          <p:cNvPr id="11" name="Text 9"/>
          <p:cNvSpPr txBox="1"/>
          <p:nvPr/>
        </p:nvSpPr>
        <p:spPr>
          <a:xfrm>
            <a:off x="4539386" y="3712464"/>
            <a:ext cx="3112922"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VENTAJA</a:t>
            </a:r>
            <a:endParaRPr lang="es-CL" sz="900" dirty="0"/>
          </a:p>
        </p:txBody>
      </p:sp>
      <p:sp>
        <p:nvSpPr>
          <p:cNvPr id="12" name="Text 10"/>
          <p:cNvSpPr txBox="1"/>
          <p:nvPr/>
        </p:nvSpPr>
        <p:spPr>
          <a:xfrm>
            <a:off x="4539386" y="4005072"/>
            <a:ext cx="3112922" cy="100584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Única alternativa que reduce el consumo sin reemplazar el vehículo, sin límite de antigüedad y con certificación.</a:t>
            </a:r>
            <a:endParaRPr lang="es-CL" sz="1350" dirty="0"/>
          </a:p>
        </p:txBody>
      </p:sp>
      <p:sp>
        <p:nvSpPr>
          <p:cNvPr id="13" name="Shape 11"/>
          <p:cNvSpPr/>
          <p:nvPr/>
        </p:nvSpPr>
        <p:spPr>
          <a:xfrm>
            <a:off x="4539386" y="5102352"/>
            <a:ext cx="3112922" cy="237744"/>
          </a:xfrm>
          <a:prstGeom prst="rect">
            <a:avLst/>
          </a:prstGeom>
          <a:solidFill>
            <a:schemeClr val="bg1">
              <a:alpha val="0"/>
            </a:schemeClr>
          </a:solidFill>
          <a:ln w="9525">
            <a:solidFill>
              <a:schemeClr val="accent3"/>
            </a:solidFill>
            <a:prstDash val="dash"/>
          </a:ln>
        </p:spPr>
      </p:sp>
      <p:sp>
        <p:nvSpPr>
          <p:cNvPr id="14" name="Text 12"/>
          <p:cNvSpPr txBox="1"/>
          <p:nvPr/>
        </p:nvSpPr>
        <p:spPr>
          <a:xfrm>
            <a:off x="4630826" y="5102352"/>
            <a:ext cx="2930042" cy="237744"/>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3"/>
                </a:solidFill>
                <a:latin typeface="IBM Plex Mono" pitchFamily="34" charset="0"/>
                <a:ea typeface="IBM Plex Mono" pitchFamily="34" charset="-122"/>
                <a:cs typeface="IBM Plex Mono" pitchFamily="34" charset="-120"/>
              </a:rPr>
              <a:t>POTENCIAL: BIBLIOTECA VACÍA</a:t>
            </a:r>
            <a:endParaRPr lang="es-CL" sz="800" dirty="0"/>
          </a:p>
        </p:txBody>
      </p:sp>
      <p:sp>
        <p:nvSpPr>
          <p:cNvPr id="15" name="Shape 13"/>
          <p:cNvSpPr/>
          <p:nvPr/>
        </p:nvSpPr>
        <p:spPr>
          <a:xfrm>
            <a:off x="8127797" y="3547872"/>
            <a:ext cx="3515258" cy="1965960"/>
          </a:xfrm>
          <a:prstGeom prst="rect">
            <a:avLst/>
          </a:prstGeom>
          <a:solidFill>
            <a:schemeClr val="bg2"/>
          </a:solidFill>
          <a:ln w="9525">
            <a:solidFill>
              <a:schemeClr val="accent5"/>
            </a:solidFill>
            <a:prstDash val="solid"/>
          </a:ln>
        </p:spPr>
      </p:sp>
      <p:sp>
        <p:nvSpPr>
          <p:cNvPr id="16" name="Text 14"/>
          <p:cNvSpPr txBox="1"/>
          <p:nvPr/>
        </p:nvSpPr>
        <p:spPr>
          <a:xfrm>
            <a:off x="8328965" y="3712464"/>
            <a:ext cx="3112922"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ALCANCE</a:t>
            </a:r>
            <a:endParaRPr lang="es-CL" sz="900" dirty="0"/>
          </a:p>
        </p:txBody>
      </p:sp>
      <p:sp>
        <p:nvSpPr>
          <p:cNvPr id="17" name="Text 15"/>
          <p:cNvSpPr txBox="1"/>
          <p:nvPr/>
        </p:nvSpPr>
        <p:spPr>
          <a:xfrm>
            <a:off x="8328965" y="4005072"/>
            <a:ext cx="3112922" cy="100584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Tracción delantera y alto kilometraje; RM, un taller propio; integra diagnóstico a posventa; no vende el kit suelto.</a:t>
            </a:r>
            <a:endParaRPr lang="es-CL" sz="1350" dirty="0"/>
          </a:p>
        </p:txBody>
      </p:sp>
      <p:sp>
        <p:nvSpPr>
          <p:cNvPr id="18" name="Shape 16"/>
          <p:cNvSpPr/>
          <p:nvPr/>
        </p:nvSpPr>
        <p:spPr>
          <a:xfrm>
            <a:off x="8328965" y="5102352"/>
            <a:ext cx="3112922" cy="237744"/>
          </a:xfrm>
          <a:prstGeom prst="rect">
            <a:avLst/>
          </a:prstGeom>
          <a:solidFill>
            <a:schemeClr val="bg1">
              <a:alpha val="0"/>
            </a:schemeClr>
          </a:solidFill>
          <a:ln w="9525">
            <a:solidFill>
              <a:schemeClr val="accent3"/>
            </a:solidFill>
            <a:prstDash val="dash"/>
          </a:ln>
        </p:spPr>
      </p:sp>
      <p:sp>
        <p:nvSpPr>
          <p:cNvPr id="19" name="Text 17"/>
          <p:cNvSpPr txBox="1"/>
          <p:nvPr/>
        </p:nvSpPr>
        <p:spPr>
          <a:xfrm>
            <a:off x="8420405" y="5102352"/>
            <a:ext cx="2930042" cy="237744"/>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3"/>
                </a:solidFill>
                <a:latin typeface="IBM Plex Mono" pitchFamily="34" charset="0"/>
                <a:ea typeface="IBM Plex Mono" pitchFamily="34" charset="-122"/>
                <a:cs typeface="IBM Plex Mono" pitchFamily="34" charset="-120"/>
              </a:rPr>
              <a:t>ABS O AIRBAG SIN CUANTIFICAR</a:t>
            </a:r>
            <a:endParaRPr lang="es-CL" sz="800" dirty="0"/>
          </a:p>
        </p:txBody>
      </p:sp>
      <p:sp>
        <p:nvSpPr>
          <p:cNvPr id="20" name="Text 18"/>
          <p:cNvSpPr txBox="1"/>
          <p:nvPr/>
        </p:nvSpPr>
        <p:spPr>
          <a:xfrm>
            <a:off x="548640" y="5715000"/>
            <a:ext cx="1463040" cy="274320"/>
          </a:xfrm>
          <a:prstGeom prst="rect">
            <a:avLst/>
          </a:prstGeom>
          <a:noFill/>
          <a:ln/>
        </p:spPr>
        <p:txBody>
          <a:bodyPr wrap="square" lIns="0" tIns="0" rIns="0" bIns="0" rtlCol="0" anchor="ctr"/>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RENUNCIAS</a:t>
            </a:r>
            <a:endParaRPr lang="es-CL" sz="900" dirty="0"/>
          </a:p>
        </p:txBody>
      </p:sp>
      <p:sp>
        <p:nvSpPr>
          <p:cNvPr id="21" name="Shape 19"/>
          <p:cNvSpPr/>
          <p:nvPr/>
        </p:nvSpPr>
        <p:spPr>
          <a:xfrm>
            <a:off x="2011680" y="5815584"/>
            <a:ext cx="73152" cy="73152"/>
          </a:xfrm>
          <a:prstGeom prst="rect">
            <a:avLst/>
          </a:prstGeom>
          <a:solidFill>
            <a:schemeClr val="accent4"/>
          </a:solidFill>
          <a:ln/>
        </p:spPr>
      </p:sp>
      <p:sp>
        <p:nvSpPr>
          <p:cNvPr id="22" name="Text 20"/>
          <p:cNvSpPr txBox="1"/>
          <p:nvPr/>
        </p:nvSpPr>
        <p:spPr>
          <a:xfrm>
            <a:off x="2176272" y="5715000"/>
            <a:ext cx="2981858" cy="27432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No competir por precio contra el gas</a:t>
            </a:r>
            <a:endParaRPr lang="es-CL" sz="1250" dirty="0"/>
          </a:p>
        </p:txBody>
      </p:sp>
      <p:sp>
        <p:nvSpPr>
          <p:cNvPr id="23" name="Shape 21"/>
          <p:cNvSpPr/>
          <p:nvPr/>
        </p:nvSpPr>
        <p:spPr>
          <a:xfrm>
            <a:off x="5222138" y="5815584"/>
            <a:ext cx="73152" cy="73152"/>
          </a:xfrm>
          <a:prstGeom prst="rect">
            <a:avLst/>
          </a:prstGeom>
          <a:solidFill>
            <a:schemeClr val="accent4"/>
          </a:solidFill>
          <a:ln/>
        </p:spPr>
      </p:sp>
      <p:sp>
        <p:nvSpPr>
          <p:cNvPr id="24" name="Text 22"/>
          <p:cNvSpPr txBox="1"/>
          <p:nvPr/>
        </p:nvSpPr>
        <p:spPr>
          <a:xfrm>
            <a:off x="5386730" y="5715000"/>
            <a:ext cx="2981858" cy="27432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No atender bajo kilometraje</a:t>
            </a:r>
            <a:endParaRPr lang="es-CL" sz="1250" dirty="0"/>
          </a:p>
        </p:txBody>
      </p:sp>
      <p:sp>
        <p:nvSpPr>
          <p:cNvPr id="25" name="Shape 23"/>
          <p:cNvSpPr/>
          <p:nvPr/>
        </p:nvSpPr>
        <p:spPr>
          <a:xfrm>
            <a:off x="8432597" y="5815584"/>
            <a:ext cx="73152" cy="73152"/>
          </a:xfrm>
          <a:prstGeom prst="rect">
            <a:avLst/>
          </a:prstGeom>
          <a:solidFill>
            <a:schemeClr val="accent4"/>
          </a:solidFill>
          <a:ln/>
        </p:spPr>
      </p:sp>
      <p:sp>
        <p:nvSpPr>
          <p:cNvPr id="26" name="Text 24"/>
          <p:cNvSpPr txBox="1"/>
          <p:nvPr/>
        </p:nvSpPr>
        <p:spPr>
          <a:xfrm>
            <a:off x="8597189" y="5715000"/>
            <a:ext cx="2981858" cy="27432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No ofrecer inmediatez</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EJES ESTRATÉGICOS</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TRES EJES,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ocho objetivos.</a:t>
            </a:r>
            <a:endParaRPr lang="en-US" sz="3000" dirty="0"/>
          </a:p>
        </p:txBody>
      </p:sp>
      <p:sp>
        <p:nvSpPr>
          <p:cNvPr id="4" name="Shape 2"/>
          <p:cNvSpPr/>
          <p:nvPr/>
        </p:nvSpPr>
        <p:spPr>
          <a:xfrm>
            <a:off x="548640" y="2286000"/>
            <a:ext cx="3515258" cy="3127248"/>
          </a:xfrm>
          <a:prstGeom prst="rect">
            <a:avLst/>
          </a:prstGeom>
          <a:solidFill>
            <a:schemeClr val="bg2"/>
          </a:solidFill>
          <a:ln w="9525">
            <a:solidFill>
              <a:schemeClr val="accent5"/>
            </a:solidFill>
            <a:prstDash val="solid"/>
          </a:ln>
        </p:spPr>
      </p:sp>
      <p:sp>
        <p:nvSpPr>
          <p:cNvPr id="5" name="Text 3"/>
          <p:cNvSpPr txBox="1"/>
          <p:nvPr/>
        </p:nvSpPr>
        <p:spPr>
          <a:xfrm>
            <a:off x="749808" y="2450592"/>
            <a:ext cx="91440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EJE 1</a:t>
            </a:r>
            <a:endParaRPr lang="es-CL" sz="900" dirty="0"/>
          </a:p>
        </p:txBody>
      </p:sp>
      <p:sp>
        <p:nvSpPr>
          <p:cNvPr id="6" name="Text 4"/>
          <p:cNvSpPr txBox="1"/>
          <p:nvPr/>
        </p:nvSpPr>
        <p:spPr>
          <a:xfrm>
            <a:off x="749808" y="2697480"/>
            <a:ext cx="3112922" cy="329184"/>
          </a:xfrm>
          <a:prstGeom prst="rect">
            <a:avLst/>
          </a:prstGeom>
          <a:noFill/>
          <a:ln/>
        </p:spPr>
        <p:txBody>
          <a:bodyPr wrap="square" lIns="0" tIns="0" rIns="0" bIns="0" rtlCol="0" anchor="t"/>
          <a:lstStyle/>
          <a:p>
            <a:pPr indent="0" marL="0">
              <a:buNone/>
            </a:pPr>
            <a:r>
              <a:rPr lang="es-CL" altLang="en-US" sz="1700" b="1" dirty="0">
                <a:solidFill>
                  <a:schemeClr val="tx1"/>
                </a:solidFill>
                <a:latin typeface="Figtree" pitchFamily="34" charset="0"/>
                <a:ea typeface="Figtree" pitchFamily="34" charset="-122"/>
                <a:cs typeface="Figtree" pitchFamily="34" charset="-120"/>
              </a:rPr>
              <a:t>Habilitación formal</a:t>
            </a:r>
            <a:endParaRPr lang="es-CL" sz="1700" dirty="0"/>
          </a:p>
        </p:txBody>
      </p:sp>
      <p:sp>
        <p:nvSpPr>
          <p:cNvPr id="7" name="Shape 5"/>
          <p:cNvSpPr/>
          <p:nvPr/>
        </p:nvSpPr>
        <p:spPr>
          <a:xfrm>
            <a:off x="749808" y="3172968"/>
            <a:ext cx="365760" cy="228600"/>
          </a:xfrm>
          <a:prstGeom prst="rect">
            <a:avLst/>
          </a:prstGeom>
          <a:solidFill>
            <a:schemeClr val="accent1"/>
          </a:solidFill>
          <a:ln/>
        </p:spPr>
      </p:sp>
      <p:sp>
        <p:nvSpPr>
          <p:cNvPr id="8" name="Text 6"/>
          <p:cNvSpPr txBox="1"/>
          <p:nvPr/>
        </p:nvSpPr>
        <p:spPr>
          <a:xfrm>
            <a:off x="749808" y="3172968"/>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01</a:t>
            </a:r>
            <a:endParaRPr lang="es-CL" sz="850" dirty="0"/>
          </a:p>
        </p:txBody>
      </p:sp>
      <p:sp>
        <p:nvSpPr>
          <p:cNvPr id="9" name="Text 7"/>
          <p:cNvSpPr txBox="1"/>
          <p:nvPr/>
        </p:nvSpPr>
        <p:spPr>
          <a:xfrm>
            <a:off x="1234440" y="3154680"/>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Autorización del taller</a:t>
            </a:r>
            <a:endParaRPr lang="es-CL" sz="1250" dirty="0"/>
          </a:p>
        </p:txBody>
      </p:sp>
      <p:sp>
        <p:nvSpPr>
          <p:cNvPr id="10" name="Shape 8"/>
          <p:cNvSpPr/>
          <p:nvPr/>
        </p:nvSpPr>
        <p:spPr>
          <a:xfrm>
            <a:off x="749808" y="3657600"/>
            <a:ext cx="365760" cy="228600"/>
          </a:xfrm>
          <a:prstGeom prst="rect">
            <a:avLst/>
          </a:prstGeom>
          <a:solidFill>
            <a:schemeClr val="accent1"/>
          </a:solidFill>
          <a:ln/>
        </p:spPr>
      </p:sp>
      <p:sp>
        <p:nvSpPr>
          <p:cNvPr id="11" name="Text 9"/>
          <p:cNvSpPr txBox="1"/>
          <p:nvPr/>
        </p:nvSpPr>
        <p:spPr>
          <a:xfrm>
            <a:off x="749808" y="3657600"/>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02</a:t>
            </a:r>
            <a:endParaRPr lang="es-CL" sz="850" dirty="0"/>
          </a:p>
        </p:txBody>
      </p:sp>
      <p:sp>
        <p:nvSpPr>
          <p:cNvPr id="12" name="Text 10"/>
          <p:cNvSpPr txBox="1"/>
          <p:nvPr/>
        </p:nvSpPr>
        <p:spPr>
          <a:xfrm>
            <a:off x="1234440" y="3639312"/>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Homologación progresiva y biblioteca</a:t>
            </a:r>
            <a:endParaRPr lang="es-CL" sz="1250" dirty="0"/>
          </a:p>
        </p:txBody>
      </p:sp>
      <p:sp>
        <p:nvSpPr>
          <p:cNvPr id="13" name="Shape 11"/>
          <p:cNvSpPr/>
          <p:nvPr/>
        </p:nvSpPr>
        <p:spPr>
          <a:xfrm>
            <a:off x="749808" y="4142232"/>
            <a:ext cx="365760" cy="228600"/>
          </a:xfrm>
          <a:prstGeom prst="rect">
            <a:avLst/>
          </a:prstGeom>
          <a:solidFill>
            <a:schemeClr val="accent1"/>
          </a:solidFill>
          <a:ln/>
        </p:spPr>
      </p:sp>
      <p:sp>
        <p:nvSpPr>
          <p:cNvPr id="14" name="Text 12"/>
          <p:cNvSpPr txBox="1"/>
          <p:nvPr/>
        </p:nvSpPr>
        <p:spPr>
          <a:xfrm>
            <a:off x="749808" y="4142232"/>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03</a:t>
            </a:r>
            <a:endParaRPr lang="es-CL" sz="850" dirty="0"/>
          </a:p>
        </p:txBody>
      </p:sp>
      <p:sp>
        <p:nvSpPr>
          <p:cNvPr id="15" name="Text 13"/>
          <p:cNvSpPr txBox="1"/>
          <p:nvPr/>
        </p:nvSpPr>
        <p:spPr>
          <a:xfrm>
            <a:off x="1234440" y="4123944"/>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Reconocimiento de aseguradoras y plantas</a:t>
            </a:r>
            <a:endParaRPr lang="es-CL" sz="1250" dirty="0"/>
          </a:p>
        </p:txBody>
      </p:sp>
      <p:sp>
        <p:nvSpPr>
          <p:cNvPr id="16" name="Shape 14"/>
          <p:cNvSpPr/>
          <p:nvPr/>
        </p:nvSpPr>
        <p:spPr>
          <a:xfrm>
            <a:off x="749808" y="4681728"/>
            <a:ext cx="3112922" cy="0"/>
          </a:xfrm>
          <a:prstGeom prst="line">
            <a:avLst/>
          </a:prstGeom>
          <a:noFill/>
          <a:ln w="9525">
            <a:solidFill>
              <a:schemeClr val="accent5"/>
            </a:solidFill>
            <a:prstDash val="solid"/>
          </a:ln>
        </p:spPr>
      </p:sp>
      <p:sp>
        <p:nvSpPr>
          <p:cNvPr id="17" name="Text 15"/>
          <p:cNvSpPr txBox="1"/>
          <p:nvPr/>
        </p:nvSpPr>
        <p:spPr>
          <a:xfrm>
            <a:off x="749808" y="4791456"/>
            <a:ext cx="914400" cy="201168"/>
          </a:xfrm>
          <a:prstGeom prst="rect">
            <a:avLst/>
          </a:prstGeom>
          <a:noFill/>
          <a:ln/>
        </p:spPr>
        <p:txBody>
          <a:bodyPr wrap="square" lIns="0" tIns="0" rIns="0" bIns="0" rtlCol="0" anchor="ctr"/>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ATACA</a:t>
            </a:r>
            <a:endParaRPr lang="es-CL" sz="750" dirty="0"/>
          </a:p>
        </p:txBody>
      </p:sp>
      <p:sp>
        <p:nvSpPr>
          <p:cNvPr id="18" name="Text 16"/>
          <p:cNvSpPr txBox="1"/>
          <p:nvPr/>
        </p:nvSpPr>
        <p:spPr>
          <a:xfrm>
            <a:off x="1417320" y="4754880"/>
            <a:ext cx="2463698"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Vía legal y terceros</a:t>
            </a:r>
            <a:endParaRPr lang="es-CL" sz="1200" dirty="0"/>
          </a:p>
        </p:txBody>
      </p:sp>
      <p:sp>
        <p:nvSpPr>
          <p:cNvPr id="19" name="Text 17"/>
          <p:cNvSpPr txBox="1"/>
          <p:nvPr/>
        </p:nvSpPr>
        <p:spPr>
          <a:xfrm>
            <a:off x="749808" y="5084064"/>
            <a:ext cx="914400" cy="201168"/>
          </a:xfrm>
          <a:prstGeom prst="rect">
            <a:avLst/>
          </a:prstGeom>
          <a:noFill/>
          <a:ln/>
        </p:spPr>
        <p:txBody>
          <a:bodyPr wrap="square" lIns="0" tIns="0" rIns="0" bIns="0" rtlCol="0" anchor="ctr"/>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CMI</a:t>
            </a:r>
            <a:endParaRPr lang="es-CL" sz="750" dirty="0"/>
          </a:p>
        </p:txBody>
      </p:sp>
      <p:sp>
        <p:nvSpPr>
          <p:cNvPr id="20" name="Text 18"/>
          <p:cNvSpPr txBox="1"/>
          <p:nvPr/>
        </p:nvSpPr>
        <p:spPr>
          <a:xfrm>
            <a:off x="1417320" y="5047488"/>
            <a:ext cx="2463698"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Procesos internos y clientes</a:t>
            </a:r>
            <a:endParaRPr lang="es-CL" sz="1200" dirty="0"/>
          </a:p>
        </p:txBody>
      </p:sp>
      <p:sp>
        <p:nvSpPr>
          <p:cNvPr id="21" name="Shape 19"/>
          <p:cNvSpPr/>
          <p:nvPr/>
        </p:nvSpPr>
        <p:spPr>
          <a:xfrm>
            <a:off x="4338218" y="2286000"/>
            <a:ext cx="3515258" cy="3127248"/>
          </a:xfrm>
          <a:prstGeom prst="rect">
            <a:avLst/>
          </a:prstGeom>
          <a:solidFill>
            <a:schemeClr val="bg2"/>
          </a:solidFill>
          <a:ln w="9525">
            <a:solidFill>
              <a:schemeClr val="accent5"/>
            </a:solidFill>
            <a:prstDash val="solid"/>
          </a:ln>
        </p:spPr>
      </p:sp>
      <p:sp>
        <p:nvSpPr>
          <p:cNvPr id="22" name="Text 20"/>
          <p:cNvSpPr txBox="1"/>
          <p:nvPr/>
        </p:nvSpPr>
        <p:spPr>
          <a:xfrm>
            <a:off x="4539386" y="2450592"/>
            <a:ext cx="91440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EJE 2</a:t>
            </a:r>
            <a:endParaRPr lang="es-CL" sz="900" dirty="0"/>
          </a:p>
        </p:txBody>
      </p:sp>
      <p:sp>
        <p:nvSpPr>
          <p:cNvPr id="23" name="Text 21"/>
          <p:cNvSpPr txBox="1"/>
          <p:nvPr/>
        </p:nvSpPr>
        <p:spPr>
          <a:xfrm>
            <a:off x="4539386" y="2697480"/>
            <a:ext cx="3112922" cy="329184"/>
          </a:xfrm>
          <a:prstGeom prst="rect">
            <a:avLst/>
          </a:prstGeom>
          <a:noFill/>
          <a:ln/>
        </p:spPr>
        <p:txBody>
          <a:bodyPr wrap="square" lIns="0" tIns="0" rIns="0" bIns="0" rtlCol="0" anchor="t"/>
          <a:lstStyle/>
          <a:p>
            <a:pPr indent="0" marL="0">
              <a:buNone/>
            </a:pPr>
            <a:r>
              <a:rPr lang="es-CL" altLang="en-US" sz="1700" b="1" dirty="0">
                <a:solidFill>
                  <a:schemeClr val="tx1"/>
                </a:solidFill>
                <a:latin typeface="Figtree" pitchFamily="34" charset="0"/>
                <a:ea typeface="Figtree" pitchFamily="34" charset="-122"/>
                <a:cs typeface="Figtree" pitchFamily="34" charset="-120"/>
              </a:rPr>
              <a:t>Acceso comercial</a:t>
            </a:r>
            <a:endParaRPr lang="es-CL" sz="1700" dirty="0"/>
          </a:p>
        </p:txBody>
      </p:sp>
      <p:sp>
        <p:nvSpPr>
          <p:cNvPr id="24" name="Shape 22"/>
          <p:cNvSpPr/>
          <p:nvPr/>
        </p:nvSpPr>
        <p:spPr>
          <a:xfrm>
            <a:off x="4539386" y="3172968"/>
            <a:ext cx="365760" cy="228600"/>
          </a:xfrm>
          <a:prstGeom prst="rect">
            <a:avLst/>
          </a:prstGeom>
          <a:solidFill>
            <a:schemeClr val="accent1"/>
          </a:solidFill>
          <a:ln/>
        </p:spPr>
      </p:sp>
      <p:sp>
        <p:nvSpPr>
          <p:cNvPr id="25" name="Text 23"/>
          <p:cNvSpPr txBox="1"/>
          <p:nvPr/>
        </p:nvSpPr>
        <p:spPr>
          <a:xfrm>
            <a:off x="4539386" y="3172968"/>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04</a:t>
            </a:r>
            <a:endParaRPr lang="es-CL" sz="850" dirty="0"/>
          </a:p>
        </p:txBody>
      </p:sp>
      <p:sp>
        <p:nvSpPr>
          <p:cNvPr id="26" name="Text 24"/>
          <p:cNvSpPr txBox="1"/>
          <p:nvPr/>
        </p:nvSpPr>
        <p:spPr>
          <a:xfrm>
            <a:off x="5024018" y="3154680"/>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Consolidar el segmento priorizado</a:t>
            </a:r>
            <a:endParaRPr lang="es-CL" sz="1250" dirty="0"/>
          </a:p>
        </p:txBody>
      </p:sp>
      <p:sp>
        <p:nvSpPr>
          <p:cNvPr id="27" name="Shape 25"/>
          <p:cNvSpPr/>
          <p:nvPr/>
        </p:nvSpPr>
        <p:spPr>
          <a:xfrm>
            <a:off x="4539386" y="3657600"/>
            <a:ext cx="365760" cy="228600"/>
          </a:xfrm>
          <a:prstGeom prst="rect">
            <a:avLst/>
          </a:prstGeom>
          <a:solidFill>
            <a:schemeClr val="accent1"/>
          </a:solidFill>
          <a:ln/>
        </p:spPr>
      </p:sp>
      <p:sp>
        <p:nvSpPr>
          <p:cNvPr id="28" name="Text 26"/>
          <p:cNvSpPr txBox="1"/>
          <p:nvPr/>
        </p:nvSpPr>
        <p:spPr>
          <a:xfrm>
            <a:off x="4539386" y="3657600"/>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05</a:t>
            </a:r>
            <a:endParaRPr lang="es-CL" sz="850" dirty="0"/>
          </a:p>
        </p:txBody>
      </p:sp>
      <p:sp>
        <p:nvSpPr>
          <p:cNvPr id="29" name="Text 27"/>
          <p:cNvSpPr txBox="1"/>
          <p:nvPr/>
        </p:nvSpPr>
        <p:spPr>
          <a:xfrm>
            <a:off x="5024018" y="3639312"/>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Financiamiento en el punto de venta</a:t>
            </a:r>
            <a:endParaRPr lang="es-CL" sz="1250" dirty="0"/>
          </a:p>
        </p:txBody>
      </p:sp>
      <p:sp>
        <p:nvSpPr>
          <p:cNvPr id="30" name="Shape 28"/>
          <p:cNvSpPr/>
          <p:nvPr/>
        </p:nvSpPr>
        <p:spPr>
          <a:xfrm>
            <a:off x="4539386" y="4681728"/>
            <a:ext cx="3112922" cy="0"/>
          </a:xfrm>
          <a:prstGeom prst="line">
            <a:avLst/>
          </a:prstGeom>
          <a:noFill/>
          <a:ln w="9525">
            <a:solidFill>
              <a:schemeClr val="accent5"/>
            </a:solidFill>
            <a:prstDash val="solid"/>
          </a:ln>
        </p:spPr>
      </p:sp>
      <p:sp>
        <p:nvSpPr>
          <p:cNvPr id="31" name="Text 29"/>
          <p:cNvSpPr txBox="1"/>
          <p:nvPr/>
        </p:nvSpPr>
        <p:spPr>
          <a:xfrm>
            <a:off x="4539386" y="4791456"/>
            <a:ext cx="914400" cy="201168"/>
          </a:xfrm>
          <a:prstGeom prst="rect">
            <a:avLst/>
          </a:prstGeom>
          <a:noFill/>
          <a:ln/>
        </p:spPr>
        <p:txBody>
          <a:bodyPr wrap="square" lIns="0" tIns="0" rIns="0" bIns="0" rtlCol="0" anchor="ctr"/>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ATACA</a:t>
            </a:r>
            <a:endParaRPr lang="es-CL" sz="750" dirty="0"/>
          </a:p>
        </p:txBody>
      </p:sp>
      <p:sp>
        <p:nvSpPr>
          <p:cNvPr id="32" name="Text 30"/>
          <p:cNvSpPr txBox="1"/>
          <p:nvPr/>
        </p:nvSpPr>
        <p:spPr>
          <a:xfrm>
            <a:off x="5206898" y="4754880"/>
            <a:ext cx="2463698"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Capacidad de pago del cliente</a:t>
            </a:r>
            <a:endParaRPr lang="es-CL" sz="1200" dirty="0"/>
          </a:p>
        </p:txBody>
      </p:sp>
      <p:sp>
        <p:nvSpPr>
          <p:cNvPr id="33" name="Text 31"/>
          <p:cNvSpPr txBox="1"/>
          <p:nvPr/>
        </p:nvSpPr>
        <p:spPr>
          <a:xfrm>
            <a:off x="4539386" y="5084064"/>
            <a:ext cx="914400" cy="201168"/>
          </a:xfrm>
          <a:prstGeom prst="rect">
            <a:avLst/>
          </a:prstGeom>
          <a:noFill/>
          <a:ln/>
        </p:spPr>
        <p:txBody>
          <a:bodyPr wrap="square" lIns="0" tIns="0" rIns="0" bIns="0" rtlCol="0" anchor="ctr"/>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CMI</a:t>
            </a:r>
            <a:endParaRPr lang="es-CL" sz="750" dirty="0"/>
          </a:p>
        </p:txBody>
      </p:sp>
      <p:sp>
        <p:nvSpPr>
          <p:cNvPr id="34" name="Text 32"/>
          <p:cNvSpPr txBox="1"/>
          <p:nvPr/>
        </p:nvSpPr>
        <p:spPr>
          <a:xfrm>
            <a:off x="5206898" y="5047488"/>
            <a:ext cx="2463698"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Clientes y financiera</a:t>
            </a:r>
            <a:endParaRPr lang="es-CL" sz="1200" dirty="0"/>
          </a:p>
        </p:txBody>
      </p:sp>
      <p:sp>
        <p:nvSpPr>
          <p:cNvPr id="35" name="Shape 33"/>
          <p:cNvSpPr/>
          <p:nvPr/>
        </p:nvSpPr>
        <p:spPr>
          <a:xfrm>
            <a:off x="8127797" y="2286000"/>
            <a:ext cx="3515258" cy="3127248"/>
          </a:xfrm>
          <a:prstGeom prst="rect">
            <a:avLst/>
          </a:prstGeom>
          <a:solidFill>
            <a:schemeClr val="bg2"/>
          </a:solidFill>
          <a:ln w="9525">
            <a:solidFill>
              <a:schemeClr val="accent5"/>
            </a:solidFill>
            <a:prstDash val="solid"/>
          </a:ln>
        </p:spPr>
      </p:sp>
      <p:sp>
        <p:nvSpPr>
          <p:cNvPr id="36" name="Text 34"/>
          <p:cNvSpPr txBox="1"/>
          <p:nvPr/>
        </p:nvSpPr>
        <p:spPr>
          <a:xfrm>
            <a:off x="8328965" y="2450592"/>
            <a:ext cx="91440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EJE 3</a:t>
            </a:r>
            <a:endParaRPr lang="es-CL" sz="900" dirty="0"/>
          </a:p>
        </p:txBody>
      </p:sp>
      <p:sp>
        <p:nvSpPr>
          <p:cNvPr id="37" name="Text 35"/>
          <p:cNvSpPr txBox="1"/>
          <p:nvPr/>
        </p:nvSpPr>
        <p:spPr>
          <a:xfrm>
            <a:off x="8328965" y="2697480"/>
            <a:ext cx="3112922" cy="329184"/>
          </a:xfrm>
          <a:prstGeom prst="rect">
            <a:avLst/>
          </a:prstGeom>
          <a:noFill/>
          <a:ln/>
        </p:spPr>
        <p:txBody>
          <a:bodyPr wrap="square" lIns="0" tIns="0" rIns="0" bIns="0" rtlCol="0" anchor="t"/>
          <a:lstStyle/>
          <a:p>
            <a:pPr indent="0" marL="0">
              <a:buNone/>
            </a:pPr>
            <a:r>
              <a:rPr lang="es-CL" altLang="en-US" sz="1700" b="1" dirty="0">
                <a:solidFill>
                  <a:schemeClr val="tx1"/>
                </a:solidFill>
                <a:latin typeface="Figtree" pitchFamily="34" charset="0"/>
                <a:ea typeface="Figtree" pitchFamily="34" charset="-122"/>
                <a:cs typeface="Figtree" pitchFamily="34" charset="-120"/>
              </a:rPr>
              <a:t>Conocimiento y escala</a:t>
            </a:r>
            <a:endParaRPr lang="es-CL" sz="1700" dirty="0"/>
          </a:p>
        </p:txBody>
      </p:sp>
      <p:sp>
        <p:nvSpPr>
          <p:cNvPr id="38" name="Shape 36"/>
          <p:cNvSpPr/>
          <p:nvPr/>
        </p:nvSpPr>
        <p:spPr>
          <a:xfrm>
            <a:off x="8328965" y="3172968"/>
            <a:ext cx="365760" cy="228600"/>
          </a:xfrm>
          <a:prstGeom prst="rect">
            <a:avLst/>
          </a:prstGeom>
          <a:solidFill>
            <a:schemeClr val="accent1"/>
          </a:solidFill>
          <a:ln/>
        </p:spPr>
      </p:sp>
      <p:sp>
        <p:nvSpPr>
          <p:cNvPr id="39" name="Text 37"/>
          <p:cNvSpPr txBox="1"/>
          <p:nvPr/>
        </p:nvSpPr>
        <p:spPr>
          <a:xfrm>
            <a:off x="8328965" y="3172968"/>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06</a:t>
            </a:r>
            <a:endParaRPr lang="es-CL" sz="850" dirty="0"/>
          </a:p>
        </p:txBody>
      </p:sp>
      <p:sp>
        <p:nvSpPr>
          <p:cNvPr id="40" name="Text 38"/>
          <p:cNvSpPr txBox="1"/>
          <p:nvPr/>
        </p:nvSpPr>
        <p:spPr>
          <a:xfrm>
            <a:off x="8813597" y="3154680"/>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Demostrar el ahorro real</a:t>
            </a:r>
            <a:endParaRPr lang="es-CL" sz="1250" dirty="0"/>
          </a:p>
        </p:txBody>
      </p:sp>
      <p:sp>
        <p:nvSpPr>
          <p:cNvPr id="41" name="Shape 39"/>
          <p:cNvSpPr/>
          <p:nvPr/>
        </p:nvSpPr>
        <p:spPr>
          <a:xfrm>
            <a:off x="8328965" y="3657600"/>
            <a:ext cx="365760" cy="228600"/>
          </a:xfrm>
          <a:prstGeom prst="rect">
            <a:avLst/>
          </a:prstGeom>
          <a:solidFill>
            <a:schemeClr val="accent1"/>
          </a:solidFill>
          <a:ln/>
        </p:spPr>
      </p:sp>
      <p:sp>
        <p:nvSpPr>
          <p:cNvPr id="42" name="Text 40"/>
          <p:cNvSpPr txBox="1"/>
          <p:nvPr/>
        </p:nvSpPr>
        <p:spPr>
          <a:xfrm>
            <a:off x="8328965" y="3657600"/>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07</a:t>
            </a:r>
            <a:endParaRPr lang="es-CL" sz="850" dirty="0"/>
          </a:p>
        </p:txBody>
      </p:sp>
      <p:sp>
        <p:nvSpPr>
          <p:cNvPr id="43" name="Text 41"/>
          <p:cNvSpPr txBox="1"/>
          <p:nvPr/>
        </p:nvSpPr>
        <p:spPr>
          <a:xfrm>
            <a:off x="8813597" y="3639312"/>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Retener el conocimiento técnico</a:t>
            </a:r>
            <a:endParaRPr lang="es-CL" sz="1250" dirty="0"/>
          </a:p>
        </p:txBody>
      </p:sp>
      <p:sp>
        <p:nvSpPr>
          <p:cNvPr id="44" name="Shape 42"/>
          <p:cNvSpPr/>
          <p:nvPr/>
        </p:nvSpPr>
        <p:spPr>
          <a:xfrm>
            <a:off x="8328965" y="4142232"/>
            <a:ext cx="365760" cy="228600"/>
          </a:xfrm>
          <a:prstGeom prst="rect">
            <a:avLst/>
          </a:prstGeom>
          <a:solidFill>
            <a:schemeClr val="accent1"/>
          </a:solidFill>
          <a:ln/>
        </p:spPr>
      </p:sp>
      <p:sp>
        <p:nvSpPr>
          <p:cNvPr id="45" name="Text 43"/>
          <p:cNvSpPr txBox="1"/>
          <p:nvPr/>
        </p:nvSpPr>
        <p:spPr>
          <a:xfrm>
            <a:off x="8328965" y="4142232"/>
            <a:ext cx="365760" cy="228600"/>
          </a:xfrm>
          <a:prstGeom prst="rect">
            <a:avLst/>
          </a:prstGeom>
          <a:noFill/>
          <a:ln/>
        </p:spPr>
        <p:txBody>
          <a:bodyPr wrap="square" lIns="0" tIns="0" rIns="0" bIns="0" rtlCol="0" anchor="ctr"/>
          <a:lstStyle/>
          <a:p>
            <a:pPr algn="ctr" indent="0" marL="0">
              <a:buNone/>
            </a:pPr>
            <a:r>
              <a:rPr lang="es-CL" altLang="en-US" sz="850" b="1" dirty="0">
                <a:solidFill>
                  <a:schemeClr val="bg1"/>
                </a:solidFill>
                <a:latin typeface="IBM Plex Mono" pitchFamily="34" charset="0"/>
                <a:ea typeface="IBM Plex Mono" pitchFamily="34" charset="-122"/>
                <a:cs typeface="IBM Plex Mono" pitchFamily="34" charset="-120"/>
              </a:rPr>
              <a:t>08</a:t>
            </a:r>
            <a:endParaRPr lang="es-CL" sz="850" dirty="0"/>
          </a:p>
        </p:txBody>
      </p:sp>
      <p:sp>
        <p:nvSpPr>
          <p:cNvPr id="46" name="Text 44"/>
          <p:cNvSpPr txBox="1"/>
          <p:nvPr/>
        </p:nvSpPr>
        <p:spPr>
          <a:xfrm>
            <a:off x="8813597" y="4123944"/>
            <a:ext cx="2646578" cy="420624"/>
          </a:xfrm>
          <a:prstGeom prst="rect">
            <a:avLst/>
          </a:prstGeom>
          <a:noFill/>
          <a:ln/>
        </p:spPr>
        <p:txBody>
          <a:bodyPr wrap="square" lIns="0" tIns="0" rIns="0" bIns="0" rtlCol="0" anchor="t"/>
          <a:lstStyle/>
          <a:p>
            <a:pPr indent="0" marL="0">
              <a:buNone/>
            </a:pPr>
            <a:r>
              <a:rPr lang="es-CL" altLang="en-US" sz="1250" dirty="0">
                <a:solidFill>
                  <a:schemeClr val="tx1"/>
                </a:solidFill>
                <a:latin typeface="Figtree" pitchFamily="34" charset="0"/>
                <a:ea typeface="Figtree" pitchFamily="34" charset="-122"/>
                <a:cs typeface="Figtree" pitchFamily="34" charset="-120"/>
              </a:rPr>
              <a:t>Ampliar capacidad</a:t>
            </a:r>
            <a:endParaRPr lang="es-CL" sz="1250" dirty="0"/>
          </a:p>
        </p:txBody>
      </p:sp>
      <p:sp>
        <p:nvSpPr>
          <p:cNvPr id="47" name="Shape 45"/>
          <p:cNvSpPr/>
          <p:nvPr/>
        </p:nvSpPr>
        <p:spPr>
          <a:xfrm>
            <a:off x="8328965" y="4681728"/>
            <a:ext cx="3112922" cy="0"/>
          </a:xfrm>
          <a:prstGeom prst="line">
            <a:avLst/>
          </a:prstGeom>
          <a:noFill/>
          <a:ln w="9525">
            <a:solidFill>
              <a:schemeClr val="accent5"/>
            </a:solidFill>
            <a:prstDash val="solid"/>
          </a:ln>
        </p:spPr>
      </p:sp>
      <p:sp>
        <p:nvSpPr>
          <p:cNvPr id="48" name="Text 46"/>
          <p:cNvSpPr txBox="1"/>
          <p:nvPr/>
        </p:nvSpPr>
        <p:spPr>
          <a:xfrm>
            <a:off x="8328965" y="4791456"/>
            <a:ext cx="914400" cy="201168"/>
          </a:xfrm>
          <a:prstGeom prst="rect">
            <a:avLst/>
          </a:prstGeom>
          <a:noFill/>
          <a:ln/>
        </p:spPr>
        <p:txBody>
          <a:bodyPr wrap="square" lIns="0" tIns="0" rIns="0" bIns="0" rtlCol="0" anchor="ctr"/>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ATACA</a:t>
            </a:r>
            <a:endParaRPr lang="es-CL" sz="750" dirty="0"/>
          </a:p>
        </p:txBody>
      </p:sp>
      <p:sp>
        <p:nvSpPr>
          <p:cNvPr id="49" name="Text 47"/>
          <p:cNvSpPr txBox="1"/>
          <p:nvPr/>
        </p:nvSpPr>
        <p:spPr>
          <a:xfrm>
            <a:off x="8996477" y="4754880"/>
            <a:ext cx="2463698"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Ahorro no medido y rotación</a:t>
            </a:r>
            <a:endParaRPr lang="es-CL" sz="1200" dirty="0"/>
          </a:p>
        </p:txBody>
      </p:sp>
      <p:sp>
        <p:nvSpPr>
          <p:cNvPr id="50" name="Text 48"/>
          <p:cNvSpPr txBox="1"/>
          <p:nvPr/>
        </p:nvSpPr>
        <p:spPr>
          <a:xfrm>
            <a:off x="8328965" y="5084064"/>
            <a:ext cx="914400" cy="201168"/>
          </a:xfrm>
          <a:prstGeom prst="rect">
            <a:avLst/>
          </a:prstGeom>
          <a:noFill/>
          <a:ln/>
        </p:spPr>
        <p:txBody>
          <a:bodyPr wrap="square" lIns="0" tIns="0" rIns="0" bIns="0" rtlCol="0" anchor="ctr"/>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CMI</a:t>
            </a:r>
            <a:endParaRPr lang="es-CL" sz="750" dirty="0"/>
          </a:p>
        </p:txBody>
      </p:sp>
      <p:sp>
        <p:nvSpPr>
          <p:cNvPr id="51" name="Text 49"/>
          <p:cNvSpPr txBox="1"/>
          <p:nvPr/>
        </p:nvSpPr>
        <p:spPr>
          <a:xfrm>
            <a:off x="8996477" y="5047488"/>
            <a:ext cx="2463698" cy="274320"/>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Aprendizaje y crecimiento</a:t>
            </a:r>
            <a:endParaRPr lang="es-CL" sz="1200" dirty="0"/>
          </a:p>
        </p:txBody>
      </p:sp>
      <p:sp>
        <p:nvSpPr>
          <p:cNvPr id="52" name="Shape 50"/>
          <p:cNvSpPr/>
          <p:nvPr/>
        </p:nvSpPr>
        <p:spPr>
          <a:xfrm>
            <a:off x="548640" y="5577840"/>
            <a:ext cx="11094415" cy="603504"/>
          </a:xfrm>
          <a:prstGeom prst="rect">
            <a:avLst/>
          </a:prstGeom>
          <a:solidFill>
            <a:srgbClr val="1F1012"/>
          </a:solidFill>
          <a:ln w="9525">
            <a:solidFill>
              <a:schemeClr val="accent4"/>
            </a:solidFill>
            <a:prstDash val="dash"/>
          </a:ln>
        </p:spPr>
      </p:sp>
      <p:sp>
        <p:nvSpPr>
          <p:cNvPr id="53" name="Text 51"/>
          <p:cNvSpPr txBox="1"/>
          <p:nvPr/>
        </p:nvSpPr>
        <p:spPr>
          <a:xfrm>
            <a:off x="749808" y="5577840"/>
            <a:ext cx="2011680" cy="603504"/>
          </a:xfrm>
          <a:prstGeom prst="rect">
            <a:avLst/>
          </a:prstGeom>
          <a:noFill/>
          <a:ln/>
        </p:spPr>
        <p:txBody>
          <a:bodyPr wrap="square" lIns="0" tIns="0" rIns="0" bIns="0" rtlCol="0" anchor="ctr"/>
          <a:lstStyle/>
          <a:p>
            <a:pPr indent="0" marL="0">
              <a:buNone/>
            </a:pPr>
            <a:r>
              <a:rPr lang="es-CL" altLang="en-US" sz="900" spc="150" kern="0" dirty="0">
                <a:solidFill>
                  <a:schemeClr val="accent4"/>
                </a:solidFill>
                <a:latin typeface="IBM Plex Mono" pitchFamily="34" charset="0"/>
                <a:ea typeface="IBM Plex Mono" pitchFamily="34" charset="-122"/>
                <a:cs typeface="IBM Plex Mono" pitchFamily="34" charset="-120"/>
              </a:rPr>
              <a:t>BRECHA DEL PLAN</a:t>
            </a:r>
            <a:endParaRPr lang="es-CL" sz="900" dirty="0"/>
          </a:p>
        </p:txBody>
      </p:sp>
      <p:sp>
        <p:nvSpPr>
          <p:cNvPr id="54" name="Text 52"/>
          <p:cNvSpPr txBox="1"/>
          <p:nvPr/>
        </p:nvSpPr>
        <p:spPr>
          <a:xfrm>
            <a:off x="2743200" y="5577840"/>
            <a:ext cx="8716975" cy="603504"/>
          </a:xfrm>
          <a:prstGeom prst="rect">
            <a:avLst/>
          </a:prstGeom>
          <a:noFill/>
          <a:ln/>
        </p:spPr>
        <p:txBody>
          <a:bodyPr wrap="square" lIns="0" tIns="0" rIns="0" bIns="0" rtlCol="0" anchor="ctr"/>
          <a:lstStyle/>
          <a:p>
            <a:pPr indent="0" marL="0">
              <a:buNone/>
            </a:pPr>
            <a:r>
              <a:rPr lang="es-CL" altLang="en-US" sz="1350" b="1" dirty="0">
                <a:solidFill>
                  <a:schemeClr val="tx1"/>
                </a:solidFill>
                <a:latin typeface="Figtree" pitchFamily="34" charset="0"/>
                <a:ea typeface="Figtree" pitchFamily="34" charset="-122"/>
                <a:cs typeface="Figtree" pitchFamily="34" charset="-120"/>
              </a:rPr>
              <a:t>Ningún eje aborda la exposición cambiaria </a:t>
            </a:r>
            <a:pPr indent="0" marL="0">
              <a:buNone/>
            </a:pPr>
            <a:r>
              <a:rPr lang="es-CL" altLang="en-US" sz="1350" dirty="0">
                <a:solidFill>
                  <a:schemeClr val="tx2"/>
                </a:solidFill>
                <a:latin typeface="Figtree" pitchFamily="34" charset="0"/>
                <a:ea typeface="Figtree" pitchFamily="34" charset="-122"/>
                <a:cs typeface="Figtree" pitchFamily="34" charset="-120"/>
              </a:rPr>
              <a:t>(03: gran amenaza hoy). Debería incorporarse al eje 2 o al Plan Financiero.</a:t>
            </a:r>
            <a:endParaRPr lang="es-CL" sz="13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669280" y="365760"/>
            <a:ext cx="5973775" cy="237744"/>
          </a:xfrm>
          <a:prstGeom prst="rect">
            <a:avLst/>
          </a:prstGeom>
          <a:noFill/>
          <a:ln/>
        </p:spPr>
        <p:txBody>
          <a:bodyPr wrap="square" lIns="0" tIns="0" rIns="0" bIns="0" rtlCol="0" anchor="ctr"/>
          <a:lstStyle/>
          <a:p>
            <a:pPr algn="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CONTROL DE GESTIÓN · ICMA901 · NRC 4118</a:t>
            </a:r>
            <a:endParaRPr lang="es-CL" sz="900" dirty="0"/>
          </a:p>
        </p:txBody>
      </p:sp>
      <p:sp>
        <p:nvSpPr>
          <p:cNvPr id="3" name="Text 1"/>
          <p:cNvSpPr txBox="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11</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  —— CONCLUSIÓN</a:t>
            </a:r>
            <a:endParaRPr lang="en-US" sz="1000" dirty="0"/>
          </a:p>
        </p:txBody>
      </p:sp>
      <p:sp>
        <p:nvSpPr>
          <p:cNvPr id="4" name="Text 0"/>
          <p:cNvSpPr/>
          <p:nvPr>
            <p:ph idx="102" type="title" hasCustomPrompt="1"/>
          </p:nvPr>
        </p:nvSpPr>
        <p:spPr>
          <a:xfrm>
            <a:off x="548640" y="1325880"/>
            <a:ext cx="11094415" cy="1737360"/>
          </a:xfrm>
          <a:prstGeom prst="rect">
            <a:avLst/>
          </a:prstGeom>
          <a:noFill/>
          <a:ln/>
        </p:spPr>
        <p:txBody>
          <a:bodyPr wrap="square" lIns="0" tIns="0" rIns="0" bIns="0" rtlCol="0" anchor="t"/>
          <a:lstStyle/>
          <a:p>
            <a:pPr algn="l" indent="0" marL="0">
              <a:lnSpc>
                <a:spcPct val="90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LA PRIORIDAD NO ES COMPETIR CON OTROS TALLERES: </a:t>
            </a:r>
            <a:pPr algn="l" indent="0" marL="0">
              <a:lnSpc>
                <a:spcPct val="90000"/>
              </a:lnSpc>
              <a:buNone/>
            </a:pPr>
            <a:r>
              <a:rPr lang="en-US" sz="3800" i="1" dirty="0">
                <a:solidFill>
                  <a:schemeClr val="accent1"/>
                </a:solidFill>
                <a:latin typeface="Instrument Serif" pitchFamily="34" charset="0"/>
                <a:ea typeface="Instrument Serif" pitchFamily="34" charset="-122"/>
                <a:cs typeface="Instrument Serif" pitchFamily="34" charset="-120"/>
              </a:rPr>
              <a:t>es que el ahorro supere al precio frente a no hacer nada.</a:t>
            </a:r>
            <a:endParaRPr lang="en-US" sz="3000" dirty="0"/>
          </a:p>
        </p:txBody>
      </p:sp>
      <p:sp>
        <p:nvSpPr>
          <p:cNvPr id="5" name="Shape 3"/>
          <p:cNvSpPr/>
          <p:nvPr/>
        </p:nvSpPr>
        <p:spPr>
          <a:xfrm>
            <a:off x="548640" y="3401568"/>
            <a:ext cx="11094415" cy="0"/>
          </a:xfrm>
          <a:prstGeom prst="line">
            <a:avLst/>
          </a:prstGeom>
          <a:noFill/>
          <a:ln w="9525">
            <a:solidFill>
              <a:schemeClr val="accent5"/>
            </a:solidFill>
            <a:prstDash val="solid"/>
          </a:ln>
        </p:spPr>
      </p:sp>
      <p:sp>
        <p:nvSpPr>
          <p:cNvPr id="6" name="Text 4"/>
          <p:cNvSpPr txBox="1"/>
          <p:nvPr/>
        </p:nvSpPr>
        <p:spPr>
          <a:xfrm>
            <a:off x="548640" y="3529584"/>
            <a:ext cx="182880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INTEGRANTES</a:t>
            </a:r>
            <a:endParaRPr lang="es-CL" sz="850" dirty="0"/>
          </a:p>
        </p:txBody>
      </p:sp>
      <p:sp>
        <p:nvSpPr>
          <p:cNvPr id="7" name="Text 5"/>
          <p:cNvSpPr txBox="1"/>
          <p:nvPr/>
        </p:nvSpPr>
        <p:spPr>
          <a:xfrm>
            <a:off x="548640" y="3767328"/>
            <a:ext cx="6858000" cy="329184"/>
          </a:xfrm>
          <a:prstGeom prst="rect">
            <a:avLst/>
          </a:prstGeom>
          <a:noFill/>
          <a:ln/>
        </p:spPr>
        <p:txBody>
          <a:bodyPr wrap="square" lIns="0" tIns="0" rIns="0" bIns="0" rtlCol="0" anchor="t"/>
          <a:lstStyle/>
          <a:p>
            <a:pPr indent="0" marL="0">
              <a:buNone/>
            </a:pPr>
            <a:r>
              <a:rPr lang="es-CL" altLang="en-US" sz="1600" dirty="0">
                <a:solidFill>
                  <a:schemeClr val="tx1"/>
                </a:solidFill>
                <a:latin typeface="Figtree" pitchFamily="34" charset="0"/>
                <a:ea typeface="Figtree" pitchFamily="34" charset="-122"/>
                <a:cs typeface="Figtree" pitchFamily="34" charset="-120"/>
              </a:rPr>
              <a:t>Diego Alarcón · Benjamín Torres · Lukas Verdugo</a:t>
            </a:r>
            <a:endParaRPr lang="es-CL" sz="1600" dirty="0"/>
          </a:p>
        </p:txBody>
      </p:sp>
      <p:sp>
        <p:nvSpPr>
          <p:cNvPr id="8" name="Text 6"/>
          <p:cNvSpPr txBox="1"/>
          <p:nvPr/>
        </p:nvSpPr>
        <p:spPr>
          <a:xfrm>
            <a:off x="7985455" y="3767328"/>
            <a:ext cx="3657600" cy="329184"/>
          </a:xfrm>
          <a:prstGeom prst="rect">
            <a:avLst/>
          </a:prstGeom>
          <a:noFill/>
          <a:ln/>
        </p:spPr>
        <p:txBody>
          <a:bodyPr wrap="square" lIns="0" tIns="0" rIns="0" bIns="0" rtlCol="0" anchor="ctr"/>
          <a:lstStyle/>
          <a:p>
            <a:pPr algn="r" indent="0" marL="0">
              <a:buNone/>
            </a:pPr>
            <a:r>
              <a:rPr lang="es-CL" altLang="en-US" sz="1100" spc="150" kern="0" dirty="0">
                <a:solidFill>
                  <a:schemeClr val="accent1"/>
                </a:solidFill>
                <a:latin typeface="IBM Plex Mono" pitchFamily="34" charset="0"/>
                <a:ea typeface="IBM Plex Mono" pitchFamily="34" charset="-122"/>
                <a:cs typeface="IBM Plex Mono" pitchFamily="34" charset="-120"/>
              </a:rPr>
              <a:t>GRACIAS · ¿PREGUNTAS?</a:t>
            </a:r>
            <a:endParaRPr lang="es-CL" sz="1100" dirty="0"/>
          </a:p>
        </p:txBody>
      </p:sp>
      <p:sp>
        <p:nvSpPr>
          <p:cNvPr id="9" name="Text 7"/>
          <p:cNvSpPr txBox="1"/>
          <p:nvPr/>
        </p:nvSpPr>
        <p:spPr>
          <a:xfrm>
            <a:off x="548640" y="6382512"/>
            <a:ext cx="11094415" cy="219456"/>
          </a:xfrm>
          <a:prstGeom prst="rect">
            <a:avLst/>
          </a:prstGeom>
          <a:noFill/>
          <a:ln/>
        </p:spPr>
        <p:txBody>
          <a:bodyPr wrap="square" lIns="0" tIns="0" rIns="0" bIns="0" rtlCol="0" anchor="ctr"/>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 2026 LUMINE MOTORS · CONTROL DE GESTIÓN · TEORÍA · ICMA901 · SECCIÓN 500</a:t>
            </a:r>
            <a:endParaRPr lang="es-CL"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MATERIAL DE APOYO</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ANEXO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para preguntas.</a:t>
            </a:r>
            <a:endParaRPr lang="en-US" sz="3000" dirty="0"/>
          </a:p>
        </p:txBody>
      </p:sp>
      <p:sp>
        <p:nvSpPr>
          <p:cNvPr id="4" name="Text 2"/>
          <p:cNvSpPr txBox="1"/>
          <p:nvPr/>
        </p:nvSpPr>
        <p:spPr>
          <a:xfrm>
            <a:off x="548640" y="2286000"/>
            <a:ext cx="11094415" cy="320040"/>
          </a:xfrm>
          <a:prstGeom prst="rect">
            <a:avLst/>
          </a:prstGeom>
          <a:noFill/>
          <a:ln/>
        </p:spPr>
        <p:txBody>
          <a:bodyPr wrap="square" lIns="0" tIns="0" rIns="0" bIns="0" rtlCol="0" anchor="t"/>
          <a:lstStyle/>
          <a:p>
            <a:pPr indent="0" marL="0">
              <a:buNone/>
            </a:pPr>
            <a:r>
              <a:rPr lang="es-CL" altLang="en-US" sz="1400" dirty="0">
                <a:solidFill>
                  <a:schemeClr val="tx2"/>
                </a:solidFill>
                <a:latin typeface="Figtree" pitchFamily="34" charset="0"/>
                <a:ea typeface="Figtree" pitchFamily="34" charset="-122"/>
                <a:cs typeface="Figtree" pitchFamily="34" charset="-120"/>
              </a:rPr>
              <a:t>Estas diapositivas no se presentan: si una pregunta toca uno de estos temas, se salta directo a la indicada.</a:t>
            </a:r>
            <a:endParaRPr lang="es-CL" sz="1400" dirty="0"/>
          </a:p>
        </p:txBody>
      </p:sp>
      <p:sp>
        <p:nvSpPr>
          <p:cNvPr id="5" name="Shape 3"/>
          <p:cNvSpPr/>
          <p:nvPr/>
        </p:nvSpPr>
        <p:spPr>
          <a:xfrm>
            <a:off x="548640" y="2880360"/>
            <a:ext cx="5318608" cy="0"/>
          </a:xfrm>
          <a:prstGeom prst="line">
            <a:avLst/>
          </a:prstGeom>
          <a:noFill/>
          <a:ln w="9525">
            <a:solidFill>
              <a:schemeClr val="accent5"/>
            </a:solidFill>
            <a:prstDash val="solid"/>
          </a:ln>
        </p:spPr>
      </p:sp>
      <p:sp>
        <p:nvSpPr>
          <p:cNvPr id="6" name="Shape 4"/>
          <p:cNvSpPr/>
          <p:nvPr/>
        </p:nvSpPr>
        <p:spPr>
          <a:xfrm>
            <a:off x="548640" y="3081528"/>
            <a:ext cx="420624" cy="246888"/>
          </a:xfrm>
          <a:prstGeom prst="rect">
            <a:avLst/>
          </a:prstGeom>
          <a:solidFill>
            <a:schemeClr val="accent1"/>
          </a:solidFill>
          <a:ln/>
        </p:spPr>
      </p:sp>
      <p:sp>
        <p:nvSpPr>
          <p:cNvPr id="7" name="Text 5"/>
          <p:cNvSpPr txBox="1"/>
          <p:nvPr/>
        </p:nvSpPr>
        <p:spPr>
          <a:xfrm>
            <a:off x="548640" y="3081528"/>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A1</a:t>
            </a:r>
            <a:endParaRPr lang="es-CL" sz="950" dirty="0"/>
          </a:p>
        </p:txBody>
      </p:sp>
      <p:sp>
        <p:nvSpPr>
          <p:cNvPr id="8" name="Text 6"/>
          <p:cNvSpPr txBox="1"/>
          <p:nvPr/>
        </p:nvSpPr>
        <p:spPr>
          <a:xfrm>
            <a:off x="1143000" y="2880360"/>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Atributos que valora el cliente</a:t>
            </a:r>
            <a:endParaRPr lang="es-CL" sz="1600" dirty="0"/>
          </a:p>
        </p:txBody>
      </p:sp>
      <p:sp>
        <p:nvSpPr>
          <p:cNvPr id="9" name="Text 7"/>
          <p:cNvSpPr txBox="1"/>
          <p:nvPr/>
        </p:nvSpPr>
        <p:spPr>
          <a:xfrm>
            <a:off x="4267048" y="2880360"/>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18</a:t>
            </a:r>
            <a:endParaRPr lang="es-CL" sz="850" dirty="0"/>
          </a:p>
        </p:txBody>
      </p:sp>
      <p:sp>
        <p:nvSpPr>
          <p:cNvPr id="10" name="Shape 8"/>
          <p:cNvSpPr/>
          <p:nvPr/>
        </p:nvSpPr>
        <p:spPr>
          <a:xfrm>
            <a:off x="548640" y="3538728"/>
            <a:ext cx="5318608" cy="0"/>
          </a:xfrm>
          <a:prstGeom prst="line">
            <a:avLst/>
          </a:prstGeom>
          <a:noFill/>
          <a:ln w="9525">
            <a:solidFill>
              <a:schemeClr val="accent5"/>
            </a:solidFill>
            <a:prstDash val="solid"/>
          </a:ln>
        </p:spPr>
      </p:sp>
      <p:sp>
        <p:nvSpPr>
          <p:cNvPr id="11" name="Shape 9"/>
          <p:cNvSpPr/>
          <p:nvPr/>
        </p:nvSpPr>
        <p:spPr>
          <a:xfrm>
            <a:off x="548640" y="3739896"/>
            <a:ext cx="420624" cy="246888"/>
          </a:xfrm>
          <a:prstGeom prst="rect">
            <a:avLst/>
          </a:prstGeom>
          <a:solidFill>
            <a:schemeClr val="accent1"/>
          </a:solidFill>
          <a:ln/>
        </p:spPr>
      </p:sp>
      <p:sp>
        <p:nvSpPr>
          <p:cNvPr id="12" name="Text 10"/>
          <p:cNvSpPr txBox="1"/>
          <p:nvPr/>
        </p:nvSpPr>
        <p:spPr>
          <a:xfrm>
            <a:off x="548640" y="3739896"/>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A2</a:t>
            </a:r>
            <a:endParaRPr lang="es-CL" sz="950" dirty="0"/>
          </a:p>
        </p:txBody>
      </p:sp>
      <p:sp>
        <p:nvSpPr>
          <p:cNvPr id="13" name="Text 11"/>
          <p:cNvSpPr txBox="1"/>
          <p:nvPr/>
        </p:nvSpPr>
        <p:spPr>
          <a:xfrm>
            <a:off x="1143000" y="3538728"/>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Tres dogmas de la industria</a:t>
            </a:r>
            <a:endParaRPr lang="es-CL" sz="1600" dirty="0"/>
          </a:p>
        </p:txBody>
      </p:sp>
      <p:sp>
        <p:nvSpPr>
          <p:cNvPr id="14" name="Text 12"/>
          <p:cNvSpPr txBox="1"/>
          <p:nvPr/>
        </p:nvSpPr>
        <p:spPr>
          <a:xfrm>
            <a:off x="4267048" y="3538728"/>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19</a:t>
            </a:r>
            <a:endParaRPr lang="es-CL" sz="850" dirty="0"/>
          </a:p>
        </p:txBody>
      </p:sp>
      <p:sp>
        <p:nvSpPr>
          <p:cNvPr id="15" name="Shape 13"/>
          <p:cNvSpPr/>
          <p:nvPr/>
        </p:nvSpPr>
        <p:spPr>
          <a:xfrm>
            <a:off x="548640" y="4197096"/>
            <a:ext cx="5318608" cy="0"/>
          </a:xfrm>
          <a:prstGeom prst="line">
            <a:avLst/>
          </a:prstGeom>
          <a:noFill/>
          <a:ln w="9525">
            <a:solidFill>
              <a:schemeClr val="accent5"/>
            </a:solidFill>
            <a:prstDash val="solid"/>
          </a:ln>
        </p:spPr>
      </p:sp>
      <p:sp>
        <p:nvSpPr>
          <p:cNvPr id="16" name="Shape 14"/>
          <p:cNvSpPr/>
          <p:nvPr/>
        </p:nvSpPr>
        <p:spPr>
          <a:xfrm>
            <a:off x="548640" y="4398264"/>
            <a:ext cx="420624" cy="246888"/>
          </a:xfrm>
          <a:prstGeom prst="rect">
            <a:avLst/>
          </a:prstGeom>
          <a:solidFill>
            <a:schemeClr val="accent1"/>
          </a:solidFill>
          <a:ln/>
        </p:spPr>
      </p:sp>
      <p:sp>
        <p:nvSpPr>
          <p:cNvPr id="17" name="Text 15"/>
          <p:cNvSpPr txBox="1"/>
          <p:nvPr/>
        </p:nvSpPr>
        <p:spPr>
          <a:xfrm>
            <a:off x="548640" y="4398264"/>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A3</a:t>
            </a:r>
            <a:endParaRPr lang="es-CL" sz="950" dirty="0"/>
          </a:p>
        </p:txBody>
      </p:sp>
      <p:sp>
        <p:nvSpPr>
          <p:cNvPr id="18" name="Text 16"/>
          <p:cNvSpPr txBox="1"/>
          <p:nvPr/>
        </p:nvSpPr>
        <p:spPr>
          <a:xfrm>
            <a:off x="1143000" y="4197096"/>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Redes de valor</a:t>
            </a:r>
            <a:endParaRPr lang="es-CL" sz="1600" dirty="0"/>
          </a:p>
        </p:txBody>
      </p:sp>
      <p:sp>
        <p:nvSpPr>
          <p:cNvPr id="19" name="Text 17"/>
          <p:cNvSpPr txBox="1"/>
          <p:nvPr/>
        </p:nvSpPr>
        <p:spPr>
          <a:xfrm>
            <a:off x="4267048" y="4197096"/>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20</a:t>
            </a:r>
            <a:endParaRPr lang="es-CL" sz="850" dirty="0"/>
          </a:p>
        </p:txBody>
      </p:sp>
      <p:sp>
        <p:nvSpPr>
          <p:cNvPr id="20" name="Shape 18"/>
          <p:cNvSpPr/>
          <p:nvPr/>
        </p:nvSpPr>
        <p:spPr>
          <a:xfrm>
            <a:off x="548640" y="4855464"/>
            <a:ext cx="5318608" cy="0"/>
          </a:xfrm>
          <a:prstGeom prst="line">
            <a:avLst/>
          </a:prstGeom>
          <a:noFill/>
          <a:ln w="9525">
            <a:solidFill>
              <a:schemeClr val="accent5"/>
            </a:solidFill>
            <a:prstDash val="solid"/>
          </a:ln>
        </p:spPr>
      </p:sp>
      <p:sp>
        <p:nvSpPr>
          <p:cNvPr id="21" name="Shape 19"/>
          <p:cNvSpPr/>
          <p:nvPr/>
        </p:nvSpPr>
        <p:spPr>
          <a:xfrm>
            <a:off x="548640" y="5056632"/>
            <a:ext cx="420624" cy="246888"/>
          </a:xfrm>
          <a:prstGeom prst="rect">
            <a:avLst/>
          </a:prstGeom>
          <a:solidFill>
            <a:schemeClr val="accent1"/>
          </a:solidFill>
          <a:ln/>
        </p:spPr>
      </p:sp>
      <p:sp>
        <p:nvSpPr>
          <p:cNvPr id="22" name="Text 20"/>
          <p:cNvSpPr txBox="1"/>
          <p:nvPr/>
        </p:nvSpPr>
        <p:spPr>
          <a:xfrm>
            <a:off x="548640" y="5056632"/>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A4</a:t>
            </a:r>
            <a:endParaRPr lang="es-CL" sz="950" dirty="0"/>
          </a:p>
        </p:txBody>
      </p:sp>
      <p:sp>
        <p:nvSpPr>
          <p:cNvPr id="23" name="Text 21"/>
          <p:cNvSpPr txBox="1"/>
          <p:nvPr/>
        </p:nvSpPr>
        <p:spPr>
          <a:xfrm>
            <a:off x="1143000" y="4855464"/>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Discontinuidades del entorno</a:t>
            </a:r>
            <a:endParaRPr lang="es-CL" sz="1600" dirty="0"/>
          </a:p>
        </p:txBody>
      </p:sp>
      <p:sp>
        <p:nvSpPr>
          <p:cNvPr id="24" name="Text 22"/>
          <p:cNvSpPr txBox="1"/>
          <p:nvPr/>
        </p:nvSpPr>
        <p:spPr>
          <a:xfrm>
            <a:off x="4267048" y="4855464"/>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21</a:t>
            </a:r>
            <a:endParaRPr lang="es-CL" sz="850" dirty="0"/>
          </a:p>
        </p:txBody>
      </p:sp>
      <p:sp>
        <p:nvSpPr>
          <p:cNvPr id="25" name="Shape 23"/>
          <p:cNvSpPr/>
          <p:nvPr/>
        </p:nvSpPr>
        <p:spPr>
          <a:xfrm>
            <a:off x="548640" y="5513832"/>
            <a:ext cx="5318608" cy="0"/>
          </a:xfrm>
          <a:prstGeom prst="line">
            <a:avLst/>
          </a:prstGeom>
          <a:noFill/>
          <a:ln w="9525">
            <a:solidFill>
              <a:schemeClr val="accent5"/>
            </a:solidFill>
            <a:prstDash val="solid"/>
          </a:ln>
        </p:spPr>
      </p:sp>
      <p:sp>
        <p:nvSpPr>
          <p:cNvPr id="26" name="Shape 24"/>
          <p:cNvSpPr/>
          <p:nvPr/>
        </p:nvSpPr>
        <p:spPr>
          <a:xfrm>
            <a:off x="6324448" y="2880360"/>
            <a:ext cx="5318608" cy="0"/>
          </a:xfrm>
          <a:prstGeom prst="line">
            <a:avLst/>
          </a:prstGeom>
          <a:noFill/>
          <a:ln w="9525">
            <a:solidFill>
              <a:schemeClr val="accent5"/>
            </a:solidFill>
            <a:prstDash val="solid"/>
          </a:ln>
        </p:spPr>
      </p:sp>
      <p:sp>
        <p:nvSpPr>
          <p:cNvPr id="27" name="Shape 25"/>
          <p:cNvSpPr/>
          <p:nvPr/>
        </p:nvSpPr>
        <p:spPr>
          <a:xfrm>
            <a:off x="6324448" y="3081528"/>
            <a:ext cx="420624" cy="246888"/>
          </a:xfrm>
          <a:prstGeom prst="rect">
            <a:avLst/>
          </a:prstGeom>
          <a:solidFill>
            <a:schemeClr val="accent1"/>
          </a:solidFill>
          <a:ln/>
        </p:spPr>
      </p:sp>
      <p:sp>
        <p:nvSpPr>
          <p:cNvPr id="28" name="Text 26"/>
          <p:cNvSpPr txBox="1"/>
          <p:nvPr/>
        </p:nvSpPr>
        <p:spPr>
          <a:xfrm>
            <a:off x="6324448" y="3081528"/>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A5</a:t>
            </a:r>
            <a:endParaRPr lang="es-CL" sz="950" dirty="0"/>
          </a:p>
        </p:txBody>
      </p:sp>
      <p:sp>
        <p:nvSpPr>
          <p:cNvPr id="29" name="Text 27"/>
          <p:cNvSpPr txBox="1"/>
          <p:nvPr/>
        </p:nvSpPr>
        <p:spPr>
          <a:xfrm>
            <a:off x="6918808" y="2880360"/>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Matriz impacto-incertidumbre</a:t>
            </a:r>
            <a:endParaRPr lang="es-CL" sz="1600" dirty="0"/>
          </a:p>
        </p:txBody>
      </p:sp>
      <p:sp>
        <p:nvSpPr>
          <p:cNvPr id="30" name="Text 28"/>
          <p:cNvSpPr txBox="1"/>
          <p:nvPr/>
        </p:nvSpPr>
        <p:spPr>
          <a:xfrm>
            <a:off x="10042855" y="2880360"/>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22</a:t>
            </a:r>
            <a:endParaRPr lang="es-CL" sz="850" dirty="0"/>
          </a:p>
        </p:txBody>
      </p:sp>
      <p:sp>
        <p:nvSpPr>
          <p:cNvPr id="31" name="Shape 29"/>
          <p:cNvSpPr/>
          <p:nvPr/>
        </p:nvSpPr>
        <p:spPr>
          <a:xfrm>
            <a:off x="6324448" y="3538728"/>
            <a:ext cx="5318608" cy="0"/>
          </a:xfrm>
          <a:prstGeom prst="line">
            <a:avLst/>
          </a:prstGeom>
          <a:noFill/>
          <a:ln w="9525">
            <a:solidFill>
              <a:schemeClr val="accent5"/>
            </a:solidFill>
            <a:prstDash val="solid"/>
          </a:ln>
        </p:spPr>
      </p:sp>
      <p:sp>
        <p:nvSpPr>
          <p:cNvPr id="32" name="Shape 30"/>
          <p:cNvSpPr/>
          <p:nvPr/>
        </p:nvSpPr>
        <p:spPr>
          <a:xfrm>
            <a:off x="6324448" y="3739896"/>
            <a:ext cx="420624" cy="246888"/>
          </a:xfrm>
          <a:prstGeom prst="rect">
            <a:avLst/>
          </a:prstGeom>
          <a:solidFill>
            <a:schemeClr val="accent1"/>
          </a:solidFill>
          <a:ln/>
        </p:spPr>
      </p:sp>
      <p:sp>
        <p:nvSpPr>
          <p:cNvPr id="33" name="Text 31"/>
          <p:cNvSpPr txBox="1"/>
          <p:nvPr/>
        </p:nvSpPr>
        <p:spPr>
          <a:xfrm>
            <a:off x="6324448" y="3739896"/>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A6</a:t>
            </a:r>
            <a:endParaRPr lang="es-CL" sz="950" dirty="0"/>
          </a:p>
        </p:txBody>
      </p:sp>
      <p:sp>
        <p:nvSpPr>
          <p:cNvPr id="34" name="Text 32"/>
          <p:cNvSpPr txBox="1"/>
          <p:nvPr/>
        </p:nvSpPr>
        <p:spPr>
          <a:xfrm>
            <a:off x="6918808" y="3538728"/>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7S de McKinsey</a:t>
            </a:r>
            <a:endParaRPr lang="es-CL" sz="1600" dirty="0"/>
          </a:p>
        </p:txBody>
      </p:sp>
      <p:sp>
        <p:nvSpPr>
          <p:cNvPr id="35" name="Text 33"/>
          <p:cNvSpPr txBox="1"/>
          <p:nvPr/>
        </p:nvSpPr>
        <p:spPr>
          <a:xfrm>
            <a:off x="10042855" y="3538728"/>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23</a:t>
            </a:r>
            <a:endParaRPr lang="es-CL" sz="850" dirty="0"/>
          </a:p>
        </p:txBody>
      </p:sp>
      <p:sp>
        <p:nvSpPr>
          <p:cNvPr id="36" name="Shape 34"/>
          <p:cNvSpPr/>
          <p:nvPr/>
        </p:nvSpPr>
        <p:spPr>
          <a:xfrm>
            <a:off x="6324448" y="4197096"/>
            <a:ext cx="5318608" cy="0"/>
          </a:xfrm>
          <a:prstGeom prst="line">
            <a:avLst/>
          </a:prstGeom>
          <a:noFill/>
          <a:ln w="9525">
            <a:solidFill>
              <a:schemeClr val="accent5"/>
            </a:solidFill>
            <a:prstDash val="solid"/>
          </a:ln>
        </p:spPr>
      </p:sp>
      <p:sp>
        <p:nvSpPr>
          <p:cNvPr id="37" name="Shape 35"/>
          <p:cNvSpPr/>
          <p:nvPr/>
        </p:nvSpPr>
        <p:spPr>
          <a:xfrm>
            <a:off x="6324448" y="4398264"/>
            <a:ext cx="420624" cy="246888"/>
          </a:xfrm>
          <a:prstGeom prst="rect">
            <a:avLst/>
          </a:prstGeom>
          <a:solidFill>
            <a:schemeClr val="accent1"/>
          </a:solidFill>
          <a:ln/>
        </p:spPr>
      </p:sp>
      <p:sp>
        <p:nvSpPr>
          <p:cNvPr id="38" name="Text 36"/>
          <p:cNvSpPr txBox="1"/>
          <p:nvPr/>
        </p:nvSpPr>
        <p:spPr>
          <a:xfrm>
            <a:off x="6324448" y="4398264"/>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A7</a:t>
            </a:r>
            <a:endParaRPr lang="es-CL" sz="950" dirty="0"/>
          </a:p>
        </p:txBody>
      </p:sp>
      <p:sp>
        <p:nvSpPr>
          <p:cNvPr id="39" name="Text 37"/>
          <p:cNvSpPr txBox="1"/>
          <p:nvPr/>
        </p:nvSpPr>
        <p:spPr>
          <a:xfrm>
            <a:off x="6918808" y="4197096"/>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Ranking frente a competidores</a:t>
            </a:r>
            <a:endParaRPr lang="es-CL" sz="1600" dirty="0"/>
          </a:p>
        </p:txBody>
      </p:sp>
      <p:sp>
        <p:nvSpPr>
          <p:cNvPr id="40" name="Text 38"/>
          <p:cNvSpPr txBox="1"/>
          <p:nvPr/>
        </p:nvSpPr>
        <p:spPr>
          <a:xfrm>
            <a:off x="10042855" y="4197096"/>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24</a:t>
            </a:r>
            <a:endParaRPr lang="es-CL" sz="850" dirty="0"/>
          </a:p>
        </p:txBody>
      </p:sp>
      <p:sp>
        <p:nvSpPr>
          <p:cNvPr id="41" name="Shape 39"/>
          <p:cNvSpPr/>
          <p:nvPr/>
        </p:nvSpPr>
        <p:spPr>
          <a:xfrm>
            <a:off x="6324448" y="4855464"/>
            <a:ext cx="5318608" cy="0"/>
          </a:xfrm>
          <a:prstGeom prst="line">
            <a:avLst/>
          </a:prstGeom>
          <a:noFill/>
          <a:ln w="9525">
            <a:solidFill>
              <a:schemeClr val="accent5"/>
            </a:solidFill>
            <a:prstDash val="solid"/>
          </a:ln>
        </p:spPr>
      </p:sp>
      <p:sp>
        <p:nvSpPr>
          <p:cNvPr id="42" name="Shape 40"/>
          <p:cNvSpPr/>
          <p:nvPr/>
        </p:nvSpPr>
        <p:spPr>
          <a:xfrm>
            <a:off x="6324448" y="5056632"/>
            <a:ext cx="420624" cy="246888"/>
          </a:xfrm>
          <a:prstGeom prst="rect">
            <a:avLst/>
          </a:prstGeom>
          <a:solidFill>
            <a:schemeClr val="accent1"/>
          </a:solidFill>
          <a:ln/>
        </p:spPr>
      </p:sp>
      <p:sp>
        <p:nvSpPr>
          <p:cNvPr id="43" name="Text 41"/>
          <p:cNvSpPr txBox="1"/>
          <p:nvPr/>
        </p:nvSpPr>
        <p:spPr>
          <a:xfrm>
            <a:off x="6324448" y="5056632"/>
            <a:ext cx="420624" cy="246888"/>
          </a:xfrm>
          <a:prstGeom prst="rect">
            <a:avLst/>
          </a:prstGeom>
          <a:noFill/>
          <a:ln/>
        </p:spPr>
        <p:txBody>
          <a:bodyPr wrap="square" lIns="0" tIns="0" rIns="0" bIns="0" rtlCol="0" anchor="ctr"/>
          <a:lstStyle/>
          <a:p>
            <a:pPr algn="ctr" indent="0" marL="0">
              <a:buNone/>
            </a:pPr>
            <a:r>
              <a:rPr lang="es-CL" altLang="en-US" sz="950" b="1" dirty="0">
                <a:solidFill>
                  <a:schemeClr val="bg1"/>
                </a:solidFill>
                <a:latin typeface="IBM Plex Mono" pitchFamily="34" charset="0"/>
                <a:ea typeface="IBM Plex Mono" pitchFamily="34" charset="-122"/>
                <a:cs typeface="IBM Plex Mono" pitchFamily="34" charset="-120"/>
              </a:rPr>
              <a:t>A8</a:t>
            </a:r>
            <a:endParaRPr lang="es-CL" sz="950" dirty="0"/>
          </a:p>
        </p:txBody>
      </p:sp>
      <p:sp>
        <p:nvSpPr>
          <p:cNvPr id="44" name="Text 42"/>
          <p:cNvSpPr txBox="1"/>
          <p:nvPr/>
        </p:nvSpPr>
        <p:spPr>
          <a:xfrm>
            <a:off x="6918808" y="4855464"/>
            <a:ext cx="3124048" cy="658368"/>
          </a:xfrm>
          <a:prstGeom prst="rect">
            <a:avLst/>
          </a:prstGeom>
          <a:noFill/>
          <a:ln/>
        </p:spPr>
        <p:txBody>
          <a:bodyPr wrap="square" lIns="0" tIns="0" rIns="0" bIns="0" rtlCol="0" anchor="ctr"/>
          <a:lstStyle/>
          <a:p>
            <a:pPr indent="0" marL="0">
              <a:buNone/>
            </a:pPr>
            <a:r>
              <a:rPr lang="es-CL" altLang="en-US" sz="1600" dirty="0">
                <a:solidFill>
                  <a:schemeClr val="tx1"/>
                </a:solidFill>
                <a:latin typeface="Figtree" pitchFamily="34" charset="0"/>
                <a:ea typeface="Figtree" pitchFamily="34" charset="-122"/>
                <a:cs typeface="Figtree" pitchFamily="34" charset="-120"/>
              </a:rPr>
              <a:t>Cinco problemas clave</a:t>
            </a:r>
            <a:endParaRPr lang="es-CL" sz="1600" dirty="0"/>
          </a:p>
        </p:txBody>
      </p:sp>
      <p:sp>
        <p:nvSpPr>
          <p:cNvPr id="45" name="Text 43"/>
          <p:cNvSpPr txBox="1"/>
          <p:nvPr/>
        </p:nvSpPr>
        <p:spPr>
          <a:xfrm>
            <a:off x="10042855" y="4855464"/>
            <a:ext cx="1600200" cy="658368"/>
          </a:xfrm>
          <a:prstGeom prst="rect">
            <a:avLst/>
          </a:prstGeom>
          <a:noFill/>
          <a:ln/>
        </p:spPr>
        <p:txBody>
          <a:bodyPr wrap="square" lIns="0" tIns="0" rIns="0" bIns="0" rtlCol="0" anchor="ctr"/>
          <a:lstStyle/>
          <a:p>
            <a:pPr algn="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DIAPOSITIVA 25</a:t>
            </a:r>
            <a:endParaRPr lang="es-CL" sz="850" dirty="0"/>
          </a:p>
        </p:txBody>
      </p:sp>
      <p:sp>
        <p:nvSpPr>
          <p:cNvPr id="46" name="Shape 44"/>
          <p:cNvSpPr/>
          <p:nvPr/>
        </p:nvSpPr>
        <p:spPr>
          <a:xfrm>
            <a:off x="6324448" y="5513832"/>
            <a:ext cx="5318608"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A1</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RELACIONES DE VALOR CON LOS CLIENTES</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EL PRECIO DECIDE SI COMPRA;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la confianza, si se atreve.</a:t>
            </a:r>
            <a:endParaRPr lang="en-US" sz="3000" dirty="0"/>
          </a:p>
        </p:txBody>
      </p:sp>
      <p:sp>
        <p:nvSpPr>
          <p:cNvPr id="4" name="Text 2"/>
          <p:cNvSpPr txBox="1"/>
          <p:nvPr/>
        </p:nvSpPr>
        <p:spPr>
          <a:xfrm>
            <a:off x="548640" y="2331720"/>
            <a:ext cx="365760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NECESIDAD CENTRAL</a:t>
            </a:r>
            <a:endParaRPr lang="es-CL" sz="900" dirty="0"/>
          </a:p>
        </p:txBody>
      </p:sp>
      <p:sp>
        <p:nvSpPr>
          <p:cNvPr id="5" name="Text 3"/>
          <p:cNvSpPr txBox="1"/>
          <p:nvPr/>
        </p:nvSpPr>
        <p:spPr>
          <a:xfrm>
            <a:off x="548640" y="2606040"/>
            <a:ext cx="6309360" cy="502920"/>
          </a:xfrm>
          <a:prstGeom prst="rect">
            <a:avLst/>
          </a:prstGeom>
          <a:noFill/>
          <a:ln/>
        </p:spPr>
        <p:txBody>
          <a:bodyPr wrap="square" lIns="0" tIns="0" rIns="0" bIns="0" rtlCol="0" anchor="t"/>
          <a:lstStyle/>
          <a:p>
            <a:pPr indent="0" marL="0">
              <a:buNone/>
            </a:pPr>
            <a:r>
              <a:rPr lang="es-CL" altLang="en-US" sz="2600" i="1" dirty="0">
                <a:solidFill>
                  <a:schemeClr val="tx1"/>
                </a:solidFill>
                <a:latin typeface="Instrument Serif" pitchFamily="34" charset="0"/>
                <a:ea typeface="Instrument Serif" pitchFamily="34" charset="-122"/>
                <a:cs typeface="Instrument Serif" pitchFamily="34" charset="-120"/>
              </a:rPr>
              <a:t>«Evitar pagar cada vez más por usar el auto.»</a:t>
            </a:r>
            <a:endParaRPr lang="es-CL" sz="2600" dirty="0"/>
          </a:p>
        </p:txBody>
      </p:sp>
      <p:sp>
        <p:nvSpPr>
          <p:cNvPr id="6" name="Text 4"/>
          <p:cNvSpPr txBox="1"/>
          <p:nvPr/>
        </p:nvSpPr>
        <p:spPr>
          <a:xfrm>
            <a:off x="548640" y="3310128"/>
            <a:ext cx="6309360" cy="219456"/>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ATRIBUTOS VALORADOS · ORDEN TENTATIVO</a:t>
            </a:r>
            <a:endParaRPr lang="es-CL" sz="900" dirty="0"/>
          </a:p>
        </p:txBody>
      </p:sp>
      <p:sp>
        <p:nvSpPr>
          <p:cNvPr id="7" name="Shape 5"/>
          <p:cNvSpPr/>
          <p:nvPr/>
        </p:nvSpPr>
        <p:spPr>
          <a:xfrm>
            <a:off x="548640" y="3611880"/>
            <a:ext cx="6309360" cy="0"/>
          </a:xfrm>
          <a:prstGeom prst="line">
            <a:avLst/>
          </a:prstGeom>
          <a:noFill/>
          <a:ln w="9525">
            <a:solidFill>
              <a:schemeClr val="accent5"/>
            </a:solidFill>
            <a:prstDash val="solid"/>
          </a:ln>
        </p:spPr>
      </p:sp>
      <p:sp>
        <p:nvSpPr>
          <p:cNvPr id="8" name="Text 6"/>
          <p:cNvSpPr txBox="1"/>
          <p:nvPr/>
        </p:nvSpPr>
        <p:spPr>
          <a:xfrm>
            <a:off x="548640" y="3685032"/>
            <a:ext cx="777240" cy="640080"/>
          </a:xfrm>
          <a:prstGeom prst="rect">
            <a:avLst/>
          </a:prstGeom>
          <a:noFill/>
          <a:ln/>
        </p:spPr>
        <p:txBody>
          <a:bodyPr wrap="square" lIns="0" tIns="0" rIns="0" bIns="0" rtlCol="0" anchor="t"/>
          <a:lstStyle/>
          <a:p>
            <a:pPr indent="0" marL="0">
              <a:buNone/>
            </a:pPr>
            <a:r>
              <a:rPr lang="es-CL" altLang="en-US" sz="4000" b="1" dirty="0">
                <a:solidFill>
                  <a:schemeClr val="accent1"/>
                </a:solidFill>
                <a:latin typeface="Archivo Condensed" pitchFamily="34" charset="0"/>
                <a:ea typeface="Archivo Condensed" pitchFamily="34" charset="-122"/>
                <a:cs typeface="Archivo Condensed" pitchFamily="34" charset="-120"/>
              </a:rPr>
              <a:t>01</a:t>
            </a:r>
            <a:endParaRPr lang="es-CL" sz="4000" dirty="0"/>
          </a:p>
        </p:txBody>
      </p:sp>
      <p:sp>
        <p:nvSpPr>
          <p:cNvPr id="9" name="Text 7"/>
          <p:cNvSpPr txBox="1"/>
          <p:nvPr/>
        </p:nvSpPr>
        <p:spPr>
          <a:xfrm>
            <a:off x="1463040" y="3703320"/>
            <a:ext cx="5394960" cy="2743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No intervenir el motor ni la mecánica original</a:t>
            </a:r>
            <a:endParaRPr lang="es-CL" sz="1500" dirty="0"/>
          </a:p>
        </p:txBody>
      </p:sp>
      <p:sp>
        <p:nvSpPr>
          <p:cNvPr id="10" name="Text 8"/>
          <p:cNvSpPr txBox="1"/>
          <p:nvPr/>
        </p:nvSpPr>
        <p:spPr>
          <a:xfrm>
            <a:off x="1463040" y="3995928"/>
            <a:ext cx="5394960" cy="3657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Condición espontánea en los tres entrevistados.</a:t>
            </a:r>
            <a:endParaRPr lang="es-CL" sz="1250" dirty="0"/>
          </a:p>
        </p:txBody>
      </p:sp>
      <p:sp>
        <p:nvSpPr>
          <p:cNvPr id="11" name="Shape 9"/>
          <p:cNvSpPr/>
          <p:nvPr/>
        </p:nvSpPr>
        <p:spPr>
          <a:xfrm>
            <a:off x="548640" y="4434840"/>
            <a:ext cx="6309360" cy="0"/>
          </a:xfrm>
          <a:prstGeom prst="line">
            <a:avLst/>
          </a:prstGeom>
          <a:noFill/>
          <a:ln w="9525">
            <a:solidFill>
              <a:schemeClr val="accent5"/>
            </a:solidFill>
            <a:prstDash val="solid"/>
          </a:ln>
        </p:spPr>
      </p:sp>
      <p:sp>
        <p:nvSpPr>
          <p:cNvPr id="12" name="Text 10"/>
          <p:cNvSpPr txBox="1"/>
          <p:nvPr/>
        </p:nvSpPr>
        <p:spPr>
          <a:xfrm>
            <a:off x="548640" y="4507992"/>
            <a:ext cx="777240" cy="640080"/>
          </a:xfrm>
          <a:prstGeom prst="rect">
            <a:avLst/>
          </a:prstGeom>
          <a:noFill/>
          <a:ln/>
        </p:spPr>
        <p:txBody>
          <a:bodyPr wrap="square" lIns="0" tIns="0" rIns="0" bIns="0" rtlCol="0" anchor="t"/>
          <a:lstStyle/>
          <a:p>
            <a:pPr indent="0" marL="0">
              <a:buNone/>
            </a:pPr>
            <a:r>
              <a:rPr lang="es-CL" altLang="en-US" sz="4000" b="1" dirty="0">
                <a:solidFill>
                  <a:schemeClr val="accent1"/>
                </a:solidFill>
                <a:latin typeface="Archivo Condensed" pitchFamily="34" charset="0"/>
                <a:ea typeface="Archivo Condensed" pitchFamily="34" charset="-122"/>
                <a:cs typeface="Archivo Condensed" pitchFamily="34" charset="-120"/>
              </a:rPr>
              <a:t>02</a:t>
            </a:r>
            <a:endParaRPr lang="es-CL" sz="4000" dirty="0"/>
          </a:p>
        </p:txBody>
      </p:sp>
      <p:sp>
        <p:nvSpPr>
          <p:cNvPr id="13" name="Text 11"/>
          <p:cNvSpPr txBox="1"/>
          <p:nvPr/>
        </p:nvSpPr>
        <p:spPr>
          <a:xfrm>
            <a:off x="1463040" y="4526280"/>
            <a:ext cx="5394960" cy="2743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Confianza institucional</a:t>
            </a:r>
            <a:endParaRPr lang="es-CL" sz="1500" dirty="0"/>
          </a:p>
        </p:txBody>
      </p:sp>
      <p:sp>
        <p:nvSpPr>
          <p:cNvPr id="14" name="Text 12"/>
          <p:cNvSpPr txBox="1"/>
          <p:nvPr/>
        </p:nvSpPr>
        <p:spPr>
          <a:xfrm>
            <a:off x="1463040" y="4818888"/>
            <a:ext cx="5394960" cy="3657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Certificación, garantía escrita, mantención, un caso exitoso y quién responde ante fallas.</a:t>
            </a:r>
            <a:endParaRPr lang="es-CL" sz="1250" dirty="0"/>
          </a:p>
        </p:txBody>
      </p:sp>
      <p:sp>
        <p:nvSpPr>
          <p:cNvPr id="15" name="Shape 13"/>
          <p:cNvSpPr/>
          <p:nvPr/>
        </p:nvSpPr>
        <p:spPr>
          <a:xfrm>
            <a:off x="548640" y="5257800"/>
            <a:ext cx="6309360" cy="0"/>
          </a:xfrm>
          <a:prstGeom prst="line">
            <a:avLst/>
          </a:prstGeom>
          <a:noFill/>
          <a:ln w="9525">
            <a:solidFill>
              <a:schemeClr val="accent5"/>
            </a:solidFill>
            <a:prstDash val="solid"/>
          </a:ln>
        </p:spPr>
      </p:sp>
      <p:sp>
        <p:nvSpPr>
          <p:cNvPr id="16" name="Text 14"/>
          <p:cNvSpPr txBox="1"/>
          <p:nvPr/>
        </p:nvSpPr>
        <p:spPr>
          <a:xfrm>
            <a:off x="548640" y="5330952"/>
            <a:ext cx="777240" cy="640080"/>
          </a:xfrm>
          <a:prstGeom prst="rect">
            <a:avLst/>
          </a:prstGeom>
          <a:noFill/>
          <a:ln/>
        </p:spPr>
        <p:txBody>
          <a:bodyPr wrap="square" lIns="0" tIns="0" rIns="0" bIns="0" rtlCol="0" anchor="t"/>
          <a:lstStyle/>
          <a:p>
            <a:pPr indent="0" marL="0">
              <a:buNone/>
            </a:pPr>
            <a:r>
              <a:rPr lang="es-CL" altLang="en-US" sz="4000" b="1" dirty="0">
                <a:solidFill>
                  <a:schemeClr val="tx2"/>
                </a:solidFill>
                <a:latin typeface="Archivo Condensed" pitchFamily="34" charset="0"/>
                <a:ea typeface="Archivo Condensed" pitchFamily="34" charset="-122"/>
                <a:cs typeface="Archivo Condensed" pitchFamily="34" charset="-120"/>
              </a:rPr>
              <a:t>03</a:t>
            </a:r>
            <a:endParaRPr lang="es-CL" sz="4000" dirty="0"/>
          </a:p>
        </p:txBody>
      </p:sp>
      <p:sp>
        <p:nvSpPr>
          <p:cNvPr id="17" name="Text 15"/>
          <p:cNvSpPr txBox="1"/>
          <p:nvPr/>
        </p:nvSpPr>
        <p:spPr>
          <a:xfrm>
            <a:off x="1463040" y="5349240"/>
            <a:ext cx="5394960" cy="274320"/>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Precio</a:t>
            </a:r>
            <a:endParaRPr lang="es-CL" sz="1500" dirty="0"/>
          </a:p>
        </p:txBody>
      </p:sp>
      <p:sp>
        <p:nvSpPr>
          <p:cNvPr id="18" name="Text 16"/>
          <p:cNvSpPr txBox="1"/>
          <p:nvPr/>
        </p:nvSpPr>
        <p:spPr>
          <a:xfrm>
            <a:off x="1463040" y="5641848"/>
            <a:ext cx="5394960" cy="3657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No fue el temor dominante en las entrevistas.</a:t>
            </a:r>
            <a:endParaRPr lang="es-CL" sz="1250" dirty="0"/>
          </a:p>
        </p:txBody>
      </p:sp>
      <p:sp>
        <p:nvSpPr>
          <p:cNvPr id="19" name="Shape 17"/>
          <p:cNvSpPr/>
          <p:nvPr/>
        </p:nvSpPr>
        <p:spPr>
          <a:xfrm>
            <a:off x="7269480" y="2331720"/>
            <a:ext cx="4373575" cy="3794760"/>
          </a:xfrm>
          <a:prstGeom prst="rect">
            <a:avLst/>
          </a:prstGeom>
          <a:solidFill>
            <a:schemeClr val="bg2"/>
          </a:solidFill>
          <a:ln w="9525">
            <a:solidFill>
              <a:schemeClr val="accent5"/>
            </a:solidFill>
            <a:prstDash val="solid"/>
          </a:ln>
        </p:spPr>
      </p:sp>
      <p:sp>
        <p:nvSpPr>
          <p:cNvPr id="20" name="Shape 18"/>
          <p:cNvSpPr/>
          <p:nvPr/>
        </p:nvSpPr>
        <p:spPr>
          <a:xfrm>
            <a:off x="7214616" y="2276856"/>
            <a:ext cx="155448" cy="0"/>
          </a:xfrm>
          <a:prstGeom prst="line">
            <a:avLst/>
          </a:prstGeom>
          <a:noFill/>
          <a:ln w="15875">
            <a:solidFill>
              <a:schemeClr val="accent1"/>
            </a:solidFill>
            <a:prstDash val="solid"/>
          </a:ln>
        </p:spPr>
      </p:sp>
      <p:sp>
        <p:nvSpPr>
          <p:cNvPr id="21" name="Shape 19"/>
          <p:cNvSpPr/>
          <p:nvPr/>
        </p:nvSpPr>
        <p:spPr>
          <a:xfrm>
            <a:off x="7214616" y="2276856"/>
            <a:ext cx="0" cy="155448"/>
          </a:xfrm>
          <a:prstGeom prst="line">
            <a:avLst/>
          </a:prstGeom>
          <a:noFill/>
          <a:ln w="15875">
            <a:solidFill>
              <a:schemeClr val="accent1"/>
            </a:solidFill>
            <a:prstDash val="solid"/>
          </a:ln>
        </p:spPr>
      </p:sp>
      <p:sp>
        <p:nvSpPr>
          <p:cNvPr id="22" name="Shape 20"/>
          <p:cNvSpPr/>
          <p:nvPr/>
        </p:nvSpPr>
        <p:spPr>
          <a:xfrm>
            <a:off x="11542471" y="2276856"/>
            <a:ext cx="155448" cy="0"/>
          </a:xfrm>
          <a:prstGeom prst="line">
            <a:avLst/>
          </a:prstGeom>
          <a:noFill/>
          <a:ln w="15875">
            <a:solidFill>
              <a:schemeClr val="accent1"/>
            </a:solidFill>
            <a:prstDash val="solid"/>
          </a:ln>
        </p:spPr>
      </p:sp>
      <p:sp>
        <p:nvSpPr>
          <p:cNvPr id="23" name="Shape 21"/>
          <p:cNvSpPr/>
          <p:nvPr/>
        </p:nvSpPr>
        <p:spPr>
          <a:xfrm>
            <a:off x="11697919" y="2276856"/>
            <a:ext cx="0" cy="155448"/>
          </a:xfrm>
          <a:prstGeom prst="line">
            <a:avLst/>
          </a:prstGeom>
          <a:noFill/>
          <a:ln w="15875">
            <a:solidFill>
              <a:schemeClr val="accent1"/>
            </a:solidFill>
            <a:prstDash val="solid"/>
          </a:ln>
        </p:spPr>
      </p:sp>
      <p:sp>
        <p:nvSpPr>
          <p:cNvPr id="24" name="Shape 22"/>
          <p:cNvSpPr/>
          <p:nvPr/>
        </p:nvSpPr>
        <p:spPr>
          <a:xfrm>
            <a:off x="7214616" y="6181344"/>
            <a:ext cx="155448" cy="0"/>
          </a:xfrm>
          <a:prstGeom prst="line">
            <a:avLst/>
          </a:prstGeom>
          <a:noFill/>
          <a:ln w="15875">
            <a:solidFill>
              <a:schemeClr val="accent1"/>
            </a:solidFill>
            <a:prstDash val="solid"/>
          </a:ln>
        </p:spPr>
      </p:sp>
      <p:sp>
        <p:nvSpPr>
          <p:cNvPr id="25" name="Shape 23"/>
          <p:cNvSpPr/>
          <p:nvPr/>
        </p:nvSpPr>
        <p:spPr>
          <a:xfrm>
            <a:off x="7214616" y="6025896"/>
            <a:ext cx="0" cy="155448"/>
          </a:xfrm>
          <a:prstGeom prst="line">
            <a:avLst/>
          </a:prstGeom>
          <a:noFill/>
          <a:ln w="15875">
            <a:solidFill>
              <a:schemeClr val="accent1"/>
            </a:solidFill>
            <a:prstDash val="solid"/>
          </a:ln>
        </p:spPr>
      </p:sp>
      <p:sp>
        <p:nvSpPr>
          <p:cNvPr id="26" name="Shape 24"/>
          <p:cNvSpPr/>
          <p:nvPr/>
        </p:nvSpPr>
        <p:spPr>
          <a:xfrm>
            <a:off x="11542471" y="6181344"/>
            <a:ext cx="155448" cy="0"/>
          </a:xfrm>
          <a:prstGeom prst="line">
            <a:avLst/>
          </a:prstGeom>
          <a:noFill/>
          <a:ln w="15875">
            <a:solidFill>
              <a:schemeClr val="accent1"/>
            </a:solidFill>
            <a:prstDash val="solid"/>
          </a:ln>
        </p:spPr>
      </p:sp>
      <p:sp>
        <p:nvSpPr>
          <p:cNvPr id="27" name="Shape 25"/>
          <p:cNvSpPr/>
          <p:nvPr/>
        </p:nvSpPr>
        <p:spPr>
          <a:xfrm>
            <a:off x="11697919" y="6025896"/>
            <a:ext cx="0" cy="155448"/>
          </a:xfrm>
          <a:prstGeom prst="line">
            <a:avLst/>
          </a:prstGeom>
          <a:noFill/>
          <a:ln w="15875">
            <a:solidFill>
              <a:schemeClr val="accent1"/>
            </a:solidFill>
            <a:prstDash val="solid"/>
          </a:ln>
        </p:spPr>
      </p:sp>
      <p:sp>
        <p:nvSpPr>
          <p:cNvPr id="28" name="Text 26"/>
          <p:cNvSpPr txBox="1"/>
          <p:nvPr/>
        </p:nvSpPr>
        <p:spPr>
          <a:xfrm>
            <a:off x="7498080" y="2514600"/>
            <a:ext cx="3916375"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TENSIÓN ENTRE FUENTES</a:t>
            </a:r>
            <a:endParaRPr lang="es-CL" sz="900" dirty="0"/>
          </a:p>
        </p:txBody>
      </p:sp>
      <p:sp>
        <p:nvSpPr>
          <p:cNvPr id="29" name="Text 27"/>
          <p:cNvSpPr txBox="1"/>
          <p:nvPr/>
        </p:nvSpPr>
        <p:spPr>
          <a:xfrm>
            <a:off x="7498080" y="2880360"/>
            <a:ext cx="1843888" cy="219456"/>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INSTRUMENTOS 02 Y 03</a:t>
            </a:r>
            <a:endParaRPr lang="es-CL" sz="800" dirty="0"/>
          </a:p>
        </p:txBody>
      </p:sp>
      <p:sp>
        <p:nvSpPr>
          <p:cNvPr id="30" name="Text 28"/>
          <p:cNvSpPr txBox="1"/>
          <p:nvPr/>
        </p:nvSpPr>
        <p:spPr>
          <a:xfrm>
            <a:off x="7498080" y="3154680"/>
            <a:ext cx="1843888" cy="566928"/>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Cliente muy sensible al precio</a:t>
            </a:r>
            <a:endParaRPr lang="es-CL" sz="1500" dirty="0"/>
          </a:p>
        </p:txBody>
      </p:sp>
      <p:sp>
        <p:nvSpPr>
          <p:cNvPr id="31" name="Text 29"/>
          <p:cNvSpPr txBox="1"/>
          <p:nvPr/>
        </p:nvSpPr>
        <p:spPr>
          <a:xfrm>
            <a:off x="7498080" y="3749040"/>
            <a:ext cx="1843888" cy="73152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Sensibilidad al precio = 1, el factor de mercado peor evaluado.</a:t>
            </a:r>
            <a:endParaRPr lang="es-CL" sz="1200" dirty="0"/>
          </a:p>
        </p:txBody>
      </p:sp>
      <p:sp>
        <p:nvSpPr>
          <p:cNvPr id="32" name="Text 30"/>
          <p:cNvSpPr txBox="1"/>
          <p:nvPr/>
        </p:nvSpPr>
        <p:spPr>
          <a:xfrm>
            <a:off x="9570568" y="2880360"/>
            <a:ext cx="1843888" cy="219456"/>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ENTREVISTAS (n = 3)</a:t>
            </a:r>
            <a:endParaRPr lang="es-CL" sz="800" dirty="0"/>
          </a:p>
        </p:txBody>
      </p:sp>
      <p:sp>
        <p:nvSpPr>
          <p:cNvPr id="33" name="Text 31"/>
          <p:cNvSpPr txBox="1"/>
          <p:nvPr/>
        </p:nvSpPr>
        <p:spPr>
          <a:xfrm>
            <a:off x="9570568" y="3154680"/>
            <a:ext cx="1843888" cy="566928"/>
          </a:xfrm>
          <a:prstGeom prst="rect">
            <a:avLst/>
          </a:prstGeom>
          <a:noFill/>
          <a:ln/>
        </p:spPr>
        <p:txBody>
          <a:bodyPr wrap="square" lIns="0" tIns="0" rIns="0" bIns="0" rtlCol="0" anchor="t"/>
          <a:lstStyle/>
          <a:p>
            <a:pPr indent="0" marL="0">
              <a:buNone/>
            </a:pPr>
            <a:r>
              <a:rPr lang="es-CL" altLang="en-US" sz="1500" b="1" dirty="0">
                <a:solidFill>
                  <a:schemeClr val="tx1"/>
                </a:solidFill>
                <a:latin typeface="Figtree" pitchFamily="34" charset="0"/>
                <a:ea typeface="Figtree" pitchFamily="34" charset="-122"/>
                <a:cs typeface="Figtree" pitchFamily="34" charset="-120"/>
              </a:rPr>
              <a:t>La confianza va antes que el precio</a:t>
            </a:r>
            <a:endParaRPr lang="es-CL" sz="1500" dirty="0"/>
          </a:p>
        </p:txBody>
      </p:sp>
      <p:sp>
        <p:nvSpPr>
          <p:cNvPr id="34" name="Text 32"/>
          <p:cNvSpPr txBox="1"/>
          <p:nvPr/>
        </p:nvSpPr>
        <p:spPr>
          <a:xfrm>
            <a:off x="9570568" y="3749040"/>
            <a:ext cx="1843888" cy="731520"/>
          </a:xfrm>
          <a:prstGeom prst="rect">
            <a:avLst/>
          </a:prstGeom>
          <a:noFill/>
          <a:ln/>
        </p:spPr>
        <p:txBody>
          <a:bodyPr wrap="square" lIns="0" tIns="0" rIns="0" bIns="0" rtlCol="0" anchor="t"/>
          <a:lstStyle/>
          <a:p>
            <a:pPr indent="0" marL="0">
              <a:buNone/>
            </a:pPr>
            <a:r>
              <a:rPr lang="es-CL" altLang="en-US" sz="1200" dirty="0">
                <a:solidFill>
                  <a:schemeClr val="tx2"/>
                </a:solidFill>
                <a:latin typeface="Figtree" pitchFamily="34" charset="0"/>
                <a:ea typeface="Figtree" pitchFamily="34" charset="-122"/>
                <a:cs typeface="Figtree" pitchFamily="34" charset="-120"/>
              </a:rPr>
              <a:t>La barrera es la confianza institucional, no el precio de lista.</a:t>
            </a:r>
            <a:endParaRPr lang="es-CL" sz="1200" dirty="0"/>
          </a:p>
        </p:txBody>
      </p:sp>
      <p:sp>
        <p:nvSpPr>
          <p:cNvPr id="35" name="Shape 33"/>
          <p:cNvSpPr/>
          <p:nvPr/>
        </p:nvSpPr>
        <p:spPr>
          <a:xfrm>
            <a:off x="9456268" y="2880360"/>
            <a:ext cx="0" cy="1645920"/>
          </a:xfrm>
          <a:prstGeom prst="line">
            <a:avLst/>
          </a:prstGeom>
          <a:noFill/>
          <a:ln w="9525">
            <a:solidFill>
              <a:schemeClr val="accent5"/>
            </a:solidFill>
            <a:prstDash val="solid"/>
          </a:ln>
        </p:spPr>
      </p:sp>
      <p:sp>
        <p:nvSpPr>
          <p:cNvPr id="36" name="Shape 34"/>
          <p:cNvSpPr/>
          <p:nvPr/>
        </p:nvSpPr>
        <p:spPr>
          <a:xfrm>
            <a:off x="7498080" y="4709160"/>
            <a:ext cx="3916375" cy="0"/>
          </a:xfrm>
          <a:prstGeom prst="line">
            <a:avLst/>
          </a:prstGeom>
          <a:noFill/>
          <a:ln w="9525">
            <a:solidFill>
              <a:schemeClr val="accent5"/>
            </a:solidFill>
            <a:prstDash val="solid"/>
          </a:ln>
        </p:spPr>
      </p:sp>
      <p:sp>
        <p:nvSpPr>
          <p:cNvPr id="37" name="Text 35"/>
          <p:cNvSpPr txBox="1"/>
          <p:nvPr/>
        </p:nvSpPr>
        <p:spPr>
          <a:xfrm>
            <a:off x="7498080" y="4846320"/>
            <a:ext cx="3916375" cy="1097280"/>
          </a:xfrm>
          <a:prstGeom prst="rect">
            <a:avLst/>
          </a:prstGeom>
          <a:noFill/>
          <a:ln/>
        </p:spPr>
        <p:txBody>
          <a:bodyPr wrap="square" lIns="0" tIns="0" rIns="0" bIns="0" rtlCol="0" anchor="t"/>
          <a:lstStyle/>
          <a:p>
            <a:pPr indent="0" marL="0">
              <a:buNone/>
            </a:pPr>
            <a:r>
              <a:rPr lang="es-CL" altLang="en-US" sz="1350" b="1" dirty="0">
                <a:solidFill>
                  <a:schemeClr val="tx1"/>
                </a:solidFill>
                <a:latin typeface="Figtree" pitchFamily="34" charset="0"/>
                <a:ea typeface="Figtree" pitchFamily="34" charset="-122"/>
                <a:cs typeface="Figtree" pitchFamily="34" charset="-120"/>
              </a:rPr>
              <a:t>Ambas pueden ser ciertas: </a:t>
            </a:r>
            <a:pPr indent="0" marL="0">
              <a:buNone/>
            </a:pPr>
            <a:r>
              <a:rPr lang="es-CL" altLang="en-US" sz="1350" dirty="0">
                <a:solidFill>
                  <a:schemeClr val="tx2"/>
                </a:solidFill>
                <a:latin typeface="Figtree" pitchFamily="34" charset="0"/>
                <a:ea typeface="Figtree" pitchFamily="34" charset="-122"/>
                <a:cs typeface="Figtree" pitchFamily="34" charset="-120"/>
              </a:rPr>
              <a:t>el precio decide si compra y la confianza decide si se atreve. Validarlo exige una muestra aleatoria y cuantitativa.</a:t>
            </a:r>
            <a:endParaRPr lang="es-CL" sz="13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A2</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ESCÁNER · INDUSTRIA Y DOGMAS</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TRES DOGMAS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por desafiar.</a:t>
            </a:r>
            <a:endParaRPr lang="en-US" sz="3000" dirty="0"/>
          </a:p>
        </p:txBody>
      </p:sp>
      <p:sp>
        <p:nvSpPr>
          <p:cNvPr id="4" name="Shape 2"/>
          <p:cNvSpPr/>
          <p:nvPr/>
        </p:nvSpPr>
        <p:spPr>
          <a:xfrm>
            <a:off x="548640" y="2331720"/>
            <a:ext cx="3515258" cy="2971800"/>
          </a:xfrm>
          <a:prstGeom prst="rect">
            <a:avLst/>
          </a:prstGeom>
          <a:solidFill>
            <a:schemeClr val="bg2"/>
          </a:solidFill>
          <a:ln w="9525">
            <a:solidFill>
              <a:schemeClr val="accent5"/>
            </a:solidFill>
            <a:prstDash val="solid"/>
          </a:ln>
        </p:spPr>
      </p:sp>
      <p:sp>
        <p:nvSpPr>
          <p:cNvPr id="5" name="Text 3"/>
          <p:cNvSpPr txBox="1"/>
          <p:nvPr/>
        </p:nvSpPr>
        <p:spPr>
          <a:xfrm>
            <a:off x="777240" y="2514600"/>
            <a:ext cx="1828800" cy="219456"/>
          </a:xfrm>
          <a:prstGeom prst="rect">
            <a:avLst/>
          </a:prstGeom>
          <a:noFill/>
          <a:ln/>
        </p:spPr>
        <p:txBody>
          <a:bodyPr wrap="square" lIns="0" tIns="0" rIns="0" bIns="0" rtlCol="0" anchor="t"/>
          <a:lstStyle/>
          <a:p>
            <a:pP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DOGMA 01</a:t>
            </a:r>
            <a:endParaRPr lang="es-CL" sz="900" dirty="0"/>
          </a:p>
        </p:txBody>
      </p:sp>
      <p:sp>
        <p:nvSpPr>
          <p:cNvPr id="6" name="Text 4"/>
          <p:cNvSpPr txBox="1"/>
          <p:nvPr/>
        </p:nvSpPr>
        <p:spPr>
          <a:xfrm>
            <a:off x="777240" y="2807208"/>
            <a:ext cx="3058058" cy="1051560"/>
          </a:xfrm>
          <a:prstGeom prst="rect">
            <a:avLst/>
          </a:prstGeom>
          <a:noFill/>
          <a:ln/>
        </p:spPr>
        <p:txBody>
          <a:bodyPr wrap="square" lIns="0" tIns="0" rIns="0" bIns="0" rtlCol="0" anchor="t"/>
          <a:lstStyle/>
          <a:p>
            <a:pPr indent="0" marL="0">
              <a:buNone/>
            </a:pPr>
            <a:r>
              <a:rPr lang="es-CL" altLang="en-US" sz="1800" i="1" dirty="0">
                <a:solidFill>
                  <a:schemeClr val="tx1"/>
                </a:solidFill>
                <a:latin typeface="Instrument Serif" pitchFamily="34" charset="0"/>
                <a:ea typeface="Instrument Serif" pitchFamily="34" charset="-122"/>
                <a:cs typeface="Instrument Serif" pitchFamily="34" charset="-120"/>
              </a:rPr>
              <a:t>Reducir la huella del vehículo propio exige reemplazarlo.</a:t>
            </a:r>
            <a:endParaRPr lang="es-CL" sz="1800" dirty="0"/>
          </a:p>
        </p:txBody>
      </p:sp>
      <p:sp>
        <p:nvSpPr>
          <p:cNvPr id="7" name="Shape 5"/>
          <p:cNvSpPr/>
          <p:nvPr/>
        </p:nvSpPr>
        <p:spPr>
          <a:xfrm>
            <a:off x="777240" y="3959352"/>
            <a:ext cx="3058058" cy="0"/>
          </a:xfrm>
          <a:prstGeom prst="line">
            <a:avLst/>
          </a:prstGeom>
          <a:noFill/>
          <a:ln w="9525">
            <a:solidFill>
              <a:schemeClr val="accent5"/>
            </a:solidFill>
            <a:prstDash val="solid"/>
          </a:ln>
        </p:spPr>
      </p:sp>
      <p:sp>
        <p:nvSpPr>
          <p:cNvPr id="8" name="Shape 6"/>
          <p:cNvSpPr/>
          <p:nvPr/>
        </p:nvSpPr>
        <p:spPr>
          <a:xfrm>
            <a:off x="777240" y="4142232"/>
            <a:ext cx="68580" cy="68580"/>
          </a:xfrm>
          <a:prstGeom prst="rect">
            <a:avLst/>
          </a:prstGeom>
          <a:solidFill>
            <a:schemeClr val="accent1"/>
          </a:solidFill>
          <a:ln/>
        </p:spPr>
      </p:sp>
      <p:sp>
        <p:nvSpPr>
          <p:cNvPr id="9" name="Text 7"/>
          <p:cNvSpPr txBox="1"/>
          <p:nvPr/>
        </p:nvSpPr>
        <p:spPr>
          <a:xfrm>
            <a:off x="932688" y="4050792"/>
            <a:ext cx="1828800" cy="237744"/>
          </a:xfrm>
          <a:prstGeom prst="rect">
            <a:avLst/>
          </a:prstGeom>
          <a:noFill/>
          <a:ln/>
        </p:spPr>
        <p:txBody>
          <a:bodyPr wrap="square" lIns="0" tIns="0" rIns="0" bIns="0" rtlCol="0" anchor="ctr"/>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OPORTUNIDAD</a:t>
            </a:r>
            <a:endParaRPr lang="es-CL" sz="900" dirty="0"/>
          </a:p>
        </p:txBody>
      </p:sp>
      <p:sp>
        <p:nvSpPr>
          <p:cNvPr id="10" name="Text 8"/>
          <p:cNvSpPr txBox="1"/>
          <p:nvPr/>
        </p:nvSpPr>
        <p:spPr>
          <a:xfrm>
            <a:off x="777240" y="4361688"/>
            <a:ext cx="3058058" cy="86868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Abre el mercado de los propietarios que conservan su vehículo en vez de reemplazarlo.</a:t>
            </a:r>
            <a:endParaRPr lang="es-CL" sz="1350" dirty="0"/>
          </a:p>
        </p:txBody>
      </p:sp>
      <p:sp>
        <p:nvSpPr>
          <p:cNvPr id="11" name="Shape 9"/>
          <p:cNvSpPr/>
          <p:nvPr/>
        </p:nvSpPr>
        <p:spPr>
          <a:xfrm>
            <a:off x="4338218" y="2331720"/>
            <a:ext cx="3515258" cy="2971800"/>
          </a:xfrm>
          <a:prstGeom prst="rect">
            <a:avLst/>
          </a:prstGeom>
          <a:solidFill>
            <a:schemeClr val="bg2"/>
          </a:solidFill>
          <a:ln w="9525">
            <a:solidFill>
              <a:schemeClr val="accent5"/>
            </a:solidFill>
            <a:prstDash val="solid"/>
          </a:ln>
        </p:spPr>
      </p:sp>
      <p:sp>
        <p:nvSpPr>
          <p:cNvPr id="12" name="Text 10"/>
          <p:cNvSpPr txBox="1"/>
          <p:nvPr/>
        </p:nvSpPr>
        <p:spPr>
          <a:xfrm>
            <a:off x="4566818" y="2514600"/>
            <a:ext cx="1828800" cy="219456"/>
          </a:xfrm>
          <a:prstGeom prst="rect">
            <a:avLst/>
          </a:prstGeom>
          <a:noFill/>
          <a:ln/>
        </p:spPr>
        <p:txBody>
          <a:bodyPr wrap="square" lIns="0" tIns="0" rIns="0" bIns="0" rtlCol="0" anchor="t"/>
          <a:lstStyle/>
          <a:p>
            <a:pP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DOGMA 02</a:t>
            </a:r>
            <a:endParaRPr lang="es-CL" sz="900" dirty="0"/>
          </a:p>
        </p:txBody>
      </p:sp>
      <p:sp>
        <p:nvSpPr>
          <p:cNvPr id="13" name="Text 11"/>
          <p:cNvSpPr txBox="1"/>
          <p:nvPr/>
        </p:nvSpPr>
        <p:spPr>
          <a:xfrm>
            <a:off x="4566818" y="2807208"/>
            <a:ext cx="3058058" cy="1051560"/>
          </a:xfrm>
          <a:prstGeom prst="rect">
            <a:avLst/>
          </a:prstGeom>
          <a:noFill/>
          <a:ln/>
        </p:spPr>
        <p:txBody>
          <a:bodyPr wrap="square" lIns="0" tIns="0" rIns="0" bIns="0" rtlCol="0" anchor="t"/>
          <a:lstStyle/>
          <a:p>
            <a:pPr indent="0" marL="0">
              <a:buNone/>
            </a:pPr>
            <a:r>
              <a:rPr lang="es-CL" altLang="en-US" sz="1800" i="1" dirty="0">
                <a:solidFill>
                  <a:schemeClr val="tx1"/>
                </a:solidFill>
                <a:latin typeface="Instrument Serif" pitchFamily="34" charset="0"/>
                <a:ea typeface="Instrument Serif" pitchFamily="34" charset="-122"/>
                <a:cs typeface="Instrument Serif" pitchFamily="34" charset="-120"/>
              </a:rPr>
              <a:t>Intervenir la propulsión es intervenir la combustión: solo autos de pocos años.</a:t>
            </a:r>
            <a:endParaRPr lang="es-CL" sz="1800" dirty="0"/>
          </a:p>
        </p:txBody>
      </p:sp>
      <p:sp>
        <p:nvSpPr>
          <p:cNvPr id="14" name="Shape 12"/>
          <p:cNvSpPr/>
          <p:nvPr/>
        </p:nvSpPr>
        <p:spPr>
          <a:xfrm>
            <a:off x="4566818" y="3959352"/>
            <a:ext cx="3058058" cy="0"/>
          </a:xfrm>
          <a:prstGeom prst="line">
            <a:avLst/>
          </a:prstGeom>
          <a:noFill/>
          <a:ln w="9525">
            <a:solidFill>
              <a:schemeClr val="accent5"/>
            </a:solidFill>
            <a:prstDash val="solid"/>
          </a:ln>
        </p:spPr>
      </p:sp>
      <p:sp>
        <p:nvSpPr>
          <p:cNvPr id="15" name="Shape 13"/>
          <p:cNvSpPr/>
          <p:nvPr/>
        </p:nvSpPr>
        <p:spPr>
          <a:xfrm>
            <a:off x="4566818" y="4142232"/>
            <a:ext cx="68580" cy="68580"/>
          </a:xfrm>
          <a:prstGeom prst="rect">
            <a:avLst/>
          </a:prstGeom>
          <a:solidFill>
            <a:schemeClr val="accent1"/>
          </a:solidFill>
          <a:ln/>
        </p:spPr>
      </p:sp>
      <p:sp>
        <p:nvSpPr>
          <p:cNvPr id="16" name="Text 14"/>
          <p:cNvSpPr txBox="1"/>
          <p:nvPr/>
        </p:nvSpPr>
        <p:spPr>
          <a:xfrm>
            <a:off x="4722266" y="4050792"/>
            <a:ext cx="1828800" cy="237744"/>
          </a:xfrm>
          <a:prstGeom prst="rect">
            <a:avLst/>
          </a:prstGeom>
          <a:noFill/>
          <a:ln/>
        </p:spPr>
        <p:txBody>
          <a:bodyPr wrap="square" lIns="0" tIns="0" rIns="0" bIns="0" rtlCol="0" anchor="ctr"/>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OPORTUNIDAD</a:t>
            </a:r>
            <a:endParaRPr lang="es-CL" sz="900" dirty="0"/>
          </a:p>
        </p:txBody>
      </p:sp>
      <p:sp>
        <p:nvSpPr>
          <p:cNvPr id="17" name="Text 15"/>
          <p:cNvSpPr txBox="1"/>
          <p:nvPr/>
        </p:nvSpPr>
        <p:spPr>
          <a:xfrm>
            <a:off x="4566818" y="4361688"/>
            <a:ext cx="3058058" cy="86868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Justifica la arquitectura sobre el eje trasero, que no altera la combustión.</a:t>
            </a:r>
            <a:endParaRPr lang="es-CL" sz="1350" dirty="0"/>
          </a:p>
        </p:txBody>
      </p:sp>
      <p:sp>
        <p:nvSpPr>
          <p:cNvPr id="18" name="Shape 16"/>
          <p:cNvSpPr/>
          <p:nvPr/>
        </p:nvSpPr>
        <p:spPr>
          <a:xfrm>
            <a:off x="8127797" y="2331720"/>
            <a:ext cx="3515258" cy="2971800"/>
          </a:xfrm>
          <a:prstGeom prst="rect">
            <a:avLst/>
          </a:prstGeom>
          <a:solidFill>
            <a:schemeClr val="bg2"/>
          </a:solidFill>
          <a:ln w="9525">
            <a:solidFill>
              <a:schemeClr val="accent5"/>
            </a:solidFill>
            <a:prstDash val="solid"/>
          </a:ln>
        </p:spPr>
      </p:sp>
      <p:sp>
        <p:nvSpPr>
          <p:cNvPr id="19" name="Text 17"/>
          <p:cNvSpPr txBox="1"/>
          <p:nvPr/>
        </p:nvSpPr>
        <p:spPr>
          <a:xfrm>
            <a:off x="8356397" y="2514600"/>
            <a:ext cx="1828800" cy="219456"/>
          </a:xfrm>
          <a:prstGeom prst="rect">
            <a:avLst/>
          </a:prstGeom>
          <a:noFill/>
          <a:ln/>
        </p:spPr>
        <p:txBody>
          <a:bodyPr wrap="square" lIns="0" tIns="0" rIns="0" bIns="0" rtlCol="0" anchor="t"/>
          <a:lstStyle/>
          <a:p>
            <a:pPr indent="0" marL="0">
              <a:buNone/>
            </a:pPr>
            <a:r>
              <a:rPr lang="es-CL" altLang="en-US" sz="900" spc="150" kern="0" dirty="0">
                <a:solidFill>
                  <a:schemeClr val="tx2"/>
                </a:solidFill>
                <a:latin typeface="IBM Plex Mono" pitchFamily="34" charset="0"/>
                <a:ea typeface="IBM Plex Mono" pitchFamily="34" charset="-122"/>
                <a:cs typeface="IBM Plex Mono" pitchFamily="34" charset="-120"/>
              </a:rPr>
              <a:t>DOGMA 03</a:t>
            </a:r>
            <a:endParaRPr lang="es-CL" sz="900" dirty="0"/>
          </a:p>
        </p:txBody>
      </p:sp>
      <p:sp>
        <p:nvSpPr>
          <p:cNvPr id="20" name="Text 18"/>
          <p:cNvSpPr txBox="1"/>
          <p:nvPr/>
        </p:nvSpPr>
        <p:spPr>
          <a:xfrm>
            <a:off x="8356397" y="2807208"/>
            <a:ext cx="3058058" cy="1051560"/>
          </a:xfrm>
          <a:prstGeom prst="rect">
            <a:avLst/>
          </a:prstGeom>
          <a:noFill/>
          <a:ln/>
        </p:spPr>
        <p:txBody>
          <a:bodyPr wrap="square" lIns="0" tIns="0" rIns="0" bIns="0" rtlCol="0" anchor="t"/>
          <a:lstStyle/>
          <a:p>
            <a:pPr indent="0" marL="0">
              <a:buNone/>
            </a:pPr>
            <a:r>
              <a:rPr lang="es-CL" altLang="en-US" sz="1800" i="1" dirty="0">
                <a:solidFill>
                  <a:schemeClr val="tx1"/>
                </a:solidFill>
                <a:latin typeface="Instrument Serif" pitchFamily="34" charset="0"/>
                <a:ea typeface="Instrument Serif" pitchFamily="34" charset="-122"/>
                <a:cs typeface="Instrument Serif" pitchFamily="34" charset="-120"/>
              </a:rPr>
              <a:t>Transformar es reemplazar el motor por uno eléctrico (borrador de 2021).</a:t>
            </a:r>
            <a:endParaRPr lang="es-CL" sz="1800" dirty="0"/>
          </a:p>
        </p:txBody>
      </p:sp>
      <p:sp>
        <p:nvSpPr>
          <p:cNvPr id="21" name="Shape 19"/>
          <p:cNvSpPr/>
          <p:nvPr/>
        </p:nvSpPr>
        <p:spPr>
          <a:xfrm>
            <a:off x="8356397" y="3959352"/>
            <a:ext cx="3058058" cy="0"/>
          </a:xfrm>
          <a:prstGeom prst="line">
            <a:avLst/>
          </a:prstGeom>
          <a:noFill/>
          <a:ln w="9525">
            <a:solidFill>
              <a:schemeClr val="accent5"/>
            </a:solidFill>
            <a:prstDash val="solid"/>
          </a:ln>
        </p:spPr>
      </p:sp>
      <p:sp>
        <p:nvSpPr>
          <p:cNvPr id="22" name="Shape 20"/>
          <p:cNvSpPr/>
          <p:nvPr/>
        </p:nvSpPr>
        <p:spPr>
          <a:xfrm>
            <a:off x="8356397" y="4142232"/>
            <a:ext cx="68580" cy="68580"/>
          </a:xfrm>
          <a:prstGeom prst="rect">
            <a:avLst/>
          </a:prstGeom>
          <a:solidFill>
            <a:schemeClr val="accent1"/>
          </a:solidFill>
          <a:ln/>
        </p:spPr>
      </p:sp>
      <p:sp>
        <p:nvSpPr>
          <p:cNvPr id="23" name="Text 21"/>
          <p:cNvSpPr txBox="1"/>
          <p:nvPr/>
        </p:nvSpPr>
        <p:spPr>
          <a:xfrm>
            <a:off x="8511845" y="4050792"/>
            <a:ext cx="1828800" cy="237744"/>
          </a:xfrm>
          <a:prstGeom prst="rect">
            <a:avLst/>
          </a:prstGeom>
          <a:noFill/>
          <a:ln/>
        </p:spPr>
        <p:txBody>
          <a:bodyPr wrap="square" lIns="0" tIns="0" rIns="0" bIns="0" rtlCol="0" anchor="ctr"/>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OPORTUNIDAD</a:t>
            </a:r>
            <a:endParaRPr lang="es-CL" sz="900" dirty="0"/>
          </a:p>
        </p:txBody>
      </p:sp>
      <p:sp>
        <p:nvSpPr>
          <p:cNvPr id="24" name="Text 22"/>
          <p:cNvSpPr txBox="1"/>
          <p:nvPr/>
        </p:nvSpPr>
        <p:spPr>
          <a:xfrm>
            <a:off x="8356397" y="4361688"/>
            <a:ext cx="3058058" cy="86868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Plantearlo al MTT mientras elabora el reglamento: la ley habla de «otras adaptaciones y transformaciones».</a:t>
            </a:r>
            <a:endParaRPr lang="es-CL" sz="1350" dirty="0"/>
          </a:p>
        </p:txBody>
      </p:sp>
      <p:sp>
        <p:nvSpPr>
          <p:cNvPr id="25" name="Text 23"/>
          <p:cNvSpPr txBox="1"/>
          <p:nvPr/>
        </p:nvSpPr>
        <p:spPr>
          <a:xfrm>
            <a:off x="548640" y="5486400"/>
            <a:ext cx="2194560" cy="237744"/>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COMMODITIZACIÓN</a:t>
            </a:r>
            <a:endParaRPr lang="es-CL" sz="900" dirty="0"/>
          </a:p>
        </p:txBody>
      </p:sp>
      <p:sp>
        <p:nvSpPr>
          <p:cNvPr id="26" name="Text 24"/>
          <p:cNvSpPr txBox="1"/>
          <p:nvPr/>
        </p:nvSpPr>
        <p:spPr>
          <a:xfrm>
            <a:off x="2743200" y="5468112"/>
            <a:ext cx="8899855" cy="548640"/>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Alta en el hardware, baja en el servicio. </a:t>
            </a:r>
            <a:pPr indent="0" marL="0">
              <a:buNone/>
            </a:pPr>
            <a:r>
              <a:rPr lang="es-CL" altLang="en-US" sz="1400" dirty="0">
                <a:solidFill>
                  <a:schemeClr val="tx2"/>
                </a:solidFill>
                <a:latin typeface="Figtree" pitchFamily="34" charset="0"/>
                <a:ea typeface="Figtree" pitchFamily="34" charset="-122"/>
                <a:cs typeface="Figtree" pitchFamily="34" charset="-120"/>
              </a:rPr>
              <a:t>El valor se traslada de la pieza a la calibración y la certificación: por eso el kit no se vende por separado.</a:t>
            </a:r>
            <a:endParaRPr lang="es-CL" sz="14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A3</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REDES DE VALOR</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UNA RED MÁS INSTITUCIONAL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que comercial.</a:t>
            </a:r>
            <a:endParaRPr lang="en-US" sz="3000" dirty="0"/>
          </a:p>
        </p:txBody>
      </p:sp>
      <p:sp>
        <p:nvSpPr>
          <p:cNvPr id="4" name="Shape 2"/>
          <p:cNvSpPr/>
          <p:nvPr/>
        </p:nvSpPr>
        <p:spPr>
          <a:xfrm>
            <a:off x="4389120" y="2871216"/>
            <a:ext cx="1020928" cy="1106424"/>
          </a:xfrm>
          <a:prstGeom prst="line">
            <a:avLst/>
          </a:prstGeom>
          <a:noFill/>
          <a:ln w="12700">
            <a:solidFill>
              <a:schemeClr val="accent5"/>
            </a:solidFill>
            <a:prstDash val="solid"/>
          </a:ln>
        </p:spPr>
      </p:sp>
      <p:sp>
        <p:nvSpPr>
          <p:cNvPr id="5" name="Shape 3"/>
          <p:cNvSpPr/>
          <p:nvPr/>
        </p:nvSpPr>
        <p:spPr>
          <a:xfrm>
            <a:off x="548640" y="2331720"/>
            <a:ext cx="3840480" cy="1078992"/>
          </a:xfrm>
          <a:prstGeom prst="rect">
            <a:avLst/>
          </a:prstGeom>
          <a:solidFill>
            <a:schemeClr val="bg2"/>
          </a:solidFill>
          <a:ln w="9525">
            <a:solidFill>
              <a:schemeClr val="accent5"/>
            </a:solidFill>
            <a:prstDash val="solid"/>
          </a:ln>
        </p:spPr>
      </p:sp>
      <p:sp>
        <p:nvSpPr>
          <p:cNvPr id="6" name="Text 4"/>
          <p:cNvSpPr txBox="1"/>
          <p:nvPr/>
        </p:nvSpPr>
        <p:spPr>
          <a:xfrm>
            <a:off x="749808" y="2459736"/>
            <a:ext cx="3438144" cy="201168"/>
          </a:xfrm>
          <a:prstGeom prst="rect">
            <a:avLst/>
          </a:prstGeom>
          <a:noFill/>
          <a:ln/>
        </p:spPr>
        <p:txBody>
          <a:bodyPr wrap="square" lIns="0" tIns="0" rIns="0" bIns="0" rtlCol="0" anchor="t"/>
          <a:lstStyle/>
          <a:p>
            <a:pP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INSUMO ESTANDARIZADO</a:t>
            </a:r>
            <a:endParaRPr lang="es-CL" sz="800" dirty="0"/>
          </a:p>
        </p:txBody>
      </p:sp>
      <p:sp>
        <p:nvSpPr>
          <p:cNvPr id="7" name="Text 5"/>
          <p:cNvSpPr txBox="1"/>
          <p:nvPr/>
        </p:nvSpPr>
        <p:spPr>
          <a:xfrm>
            <a:off x="749808" y="2679192"/>
            <a:ext cx="3438144"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Fabricantes de motor y baterías LFP</a:t>
            </a:r>
            <a:endParaRPr lang="es-CL" sz="1400" dirty="0"/>
          </a:p>
        </p:txBody>
      </p:sp>
      <p:sp>
        <p:nvSpPr>
          <p:cNvPr id="8" name="Shape 6"/>
          <p:cNvSpPr/>
          <p:nvPr/>
        </p:nvSpPr>
        <p:spPr>
          <a:xfrm>
            <a:off x="749808" y="3044952"/>
            <a:ext cx="1952244" cy="228600"/>
          </a:xfrm>
          <a:prstGeom prst="rect">
            <a:avLst/>
          </a:prstGeom>
          <a:solidFill>
            <a:schemeClr val="bg1">
              <a:alpha val="0"/>
            </a:schemeClr>
          </a:solidFill>
          <a:ln w="9525">
            <a:solidFill>
              <a:schemeClr val="accent3"/>
            </a:solidFill>
            <a:prstDash val="dash"/>
          </a:ln>
        </p:spPr>
      </p:sp>
      <p:sp>
        <p:nvSpPr>
          <p:cNvPr id="9" name="Text 7"/>
          <p:cNvSpPr txBox="1"/>
          <p:nvPr/>
        </p:nvSpPr>
        <p:spPr>
          <a:xfrm>
            <a:off x="841248" y="3044952"/>
            <a:ext cx="1769364" cy="228600"/>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3"/>
                </a:solidFill>
                <a:latin typeface="IBM Plex Mono" pitchFamily="34" charset="0"/>
                <a:ea typeface="IBM Plex Mono" pitchFamily="34" charset="-122"/>
                <a:cs typeface="IBM Plex Mono" pitchFamily="34" charset="-120"/>
              </a:rPr>
              <a:t>PROVEEDOR SIN VALIDAR</a:t>
            </a:r>
            <a:endParaRPr lang="es-CL" sz="800" dirty="0"/>
          </a:p>
        </p:txBody>
      </p:sp>
      <p:sp>
        <p:nvSpPr>
          <p:cNvPr id="10" name="Shape 8"/>
          <p:cNvSpPr/>
          <p:nvPr/>
        </p:nvSpPr>
        <p:spPr>
          <a:xfrm flipV="1">
            <a:off x="4389120" y="3977640"/>
            <a:ext cx="1020928" cy="128016"/>
          </a:xfrm>
          <a:prstGeom prst="line">
            <a:avLst/>
          </a:prstGeom>
          <a:noFill/>
          <a:ln w="12700">
            <a:solidFill>
              <a:schemeClr val="accent5"/>
            </a:solidFill>
            <a:prstDash val="solid"/>
          </a:ln>
        </p:spPr>
      </p:sp>
      <p:sp>
        <p:nvSpPr>
          <p:cNvPr id="11" name="Shape 9"/>
          <p:cNvSpPr/>
          <p:nvPr/>
        </p:nvSpPr>
        <p:spPr>
          <a:xfrm>
            <a:off x="548640" y="3566160"/>
            <a:ext cx="3840480" cy="1078992"/>
          </a:xfrm>
          <a:prstGeom prst="rect">
            <a:avLst/>
          </a:prstGeom>
          <a:solidFill>
            <a:schemeClr val="bg2"/>
          </a:solidFill>
          <a:ln w="9525">
            <a:solidFill>
              <a:schemeClr val="accent5"/>
            </a:solidFill>
            <a:prstDash val="solid"/>
          </a:ln>
        </p:spPr>
      </p:sp>
      <p:sp>
        <p:nvSpPr>
          <p:cNvPr id="12" name="Text 10"/>
          <p:cNvSpPr txBox="1"/>
          <p:nvPr/>
        </p:nvSpPr>
        <p:spPr>
          <a:xfrm>
            <a:off x="749808" y="3694176"/>
            <a:ext cx="3438144" cy="201168"/>
          </a:xfrm>
          <a:prstGeom prst="rect">
            <a:avLst/>
          </a:prstGeom>
          <a:noFill/>
          <a:ln/>
        </p:spPr>
        <p:txBody>
          <a:bodyPr wrap="square" lIns="0" tIns="0" rIns="0" bIns="0" rtlCol="0" anchor="t"/>
          <a:lstStyle/>
          <a:p>
            <a:pP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HABILITADOR REGULATORIO</a:t>
            </a:r>
            <a:endParaRPr lang="es-CL" sz="800" dirty="0"/>
          </a:p>
        </p:txBody>
      </p:sp>
      <p:sp>
        <p:nvSpPr>
          <p:cNvPr id="13" name="Text 11"/>
          <p:cNvSpPr txBox="1"/>
          <p:nvPr/>
        </p:nvSpPr>
        <p:spPr>
          <a:xfrm>
            <a:off x="749808" y="3913632"/>
            <a:ext cx="3438144"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3CV y Subsecretaría de Transportes</a:t>
            </a:r>
            <a:endParaRPr lang="es-CL" sz="1400" dirty="0"/>
          </a:p>
        </p:txBody>
      </p:sp>
      <p:sp>
        <p:nvSpPr>
          <p:cNvPr id="14" name="Shape 12"/>
          <p:cNvSpPr/>
          <p:nvPr/>
        </p:nvSpPr>
        <p:spPr>
          <a:xfrm>
            <a:off x="749808" y="4279392"/>
            <a:ext cx="2185416" cy="228600"/>
          </a:xfrm>
          <a:prstGeom prst="rect">
            <a:avLst/>
          </a:prstGeom>
          <a:solidFill>
            <a:schemeClr val="bg1">
              <a:alpha val="0"/>
            </a:schemeClr>
          </a:solidFill>
          <a:ln w="9525">
            <a:solidFill>
              <a:schemeClr val="accent4"/>
            </a:solidFill>
            <a:prstDash val="dash"/>
          </a:ln>
        </p:spPr>
      </p:sp>
      <p:sp>
        <p:nvSpPr>
          <p:cNvPr id="15" name="Text 13"/>
          <p:cNvSpPr txBox="1"/>
          <p:nvPr/>
        </p:nvSpPr>
        <p:spPr>
          <a:xfrm>
            <a:off x="841248" y="4279392"/>
            <a:ext cx="2002536" cy="228600"/>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4"/>
                </a:solidFill>
                <a:latin typeface="IBM Plex Mono" pitchFamily="34" charset="0"/>
                <a:ea typeface="IBM Plex Mono" pitchFamily="34" charset="-122"/>
                <a:cs typeface="IBM Plex Mono" pitchFamily="34" charset="-120"/>
              </a:rPr>
              <a:t>SIN INTERLOCUCIÓN FORMAL</a:t>
            </a:r>
            <a:endParaRPr lang="es-CL" sz="800" dirty="0"/>
          </a:p>
        </p:txBody>
      </p:sp>
      <p:sp>
        <p:nvSpPr>
          <p:cNvPr id="16" name="Shape 14"/>
          <p:cNvSpPr/>
          <p:nvPr/>
        </p:nvSpPr>
        <p:spPr>
          <a:xfrm flipV="1">
            <a:off x="4389120" y="3977640"/>
            <a:ext cx="1020928" cy="1362456"/>
          </a:xfrm>
          <a:prstGeom prst="line">
            <a:avLst/>
          </a:prstGeom>
          <a:noFill/>
          <a:ln w="12700">
            <a:solidFill>
              <a:schemeClr val="accent5"/>
            </a:solidFill>
            <a:prstDash val="solid"/>
          </a:ln>
        </p:spPr>
      </p:sp>
      <p:sp>
        <p:nvSpPr>
          <p:cNvPr id="17" name="Shape 15"/>
          <p:cNvSpPr/>
          <p:nvPr/>
        </p:nvSpPr>
        <p:spPr>
          <a:xfrm>
            <a:off x="548640" y="4800600"/>
            <a:ext cx="3840480" cy="1078992"/>
          </a:xfrm>
          <a:prstGeom prst="rect">
            <a:avLst/>
          </a:prstGeom>
          <a:solidFill>
            <a:schemeClr val="bg2"/>
          </a:solidFill>
          <a:ln w="9525">
            <a:solidFill>
              <a:schemeClr val="accent5"/>
            </a:solidFill>
            <a:prstDash val="solid"/>
          </a:ln>
        </p:spPr>
      </p:sp>
      <p:sp>
        <p:nvSpPr>
          <p:cNvPr id="18" name="Text 16"/>
          <p:cNvSpPr txBox="1"/>
          <p:nvPr/>
        </p:nvSpPr>
        <p:spPr>
          <a:xfrm>
            <a:off x="749808" y="4928616"/>
            <a:ext cx="3438144" cy="201168"/>
          </a:xfrm>
          <a:prstGeom prst="rect">
            <a:avLst/>
          </a:prstGeom>
          <a:noFill/>
          <a:ln/>
        </p:spPr>
        <p:txBody>
          <a:bodyPr wrap="square" lIns="0" tIns="0" rIns="0" bIns="0" rtlCol="0" anchor="t"/>
          <a:lstStyle/>
          <a:p>
            <a:pP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VALIDADOR DE LA COMPRA</a:t>
            </a:r>
            <a:endParaRPr lang="es-CL" sz="800" dirty="0"/>
          </a:p>
        </p:txBody>
      </p:sp>
      <p:sp>
        <p:nvSpPr>
          <p:cNvPr id="19" name="Text 17"/>
          <p:cNvSpPr txBox="1"/>
          <p:nvPr/>
        </p:nvSpPr>
        <p:spPr>
          <a:xfrm>
            <a:off x="749808" y="5148072"/>
            <a:ext cx="3438144"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Compañías de seguros</a:t>
            </a:r>
            <a:endParaRPr lang="es-CL" sz="1400" dirty="0"/>
          </a:p>
        </p:txBody>
      </p:sp>
      <p:sp>
        <p:nvSpPr>
          <p:cNvPr id="20" name="Shape 18"/>
          <p:cNvSpPr/>
          <p:nvPr/>
        </p:nvSpPr>
        <p:spPr>
          <a:xfrm>
            <a:off x="749808" y="5513832"/>
            <a:ext cx="2107692" cy="228600"/>
          </a:xfrm>
          <a:prstGeom prst="rect">
            <a:avLst/>
          </a:prstGeom>
          <a:solidFill>
            <a:schemeClr val="bg1">
              <a:alpha val="0"/>
            </a:schemeClr>
          </a:solidFill>
          <a:ln w="9525">
            <a:solidFill>
              <a:schemeClr val="accent4"/>
            </a:solidFill>
            <a:prstDash val="dash"/>
          </a:ln>
        </p:spPr>
      </p:sp>
      <p:sp>
        <p:nvSpPr>
          <p:cNvPr id="21" name="Text 19"/>
          <p:cNvSpPr txBox="1"/>
          <p:nvPr/>
        </p:nvSpPr>
        <p:spPr>
          <a:xfrm>
            <a:off x="841248" y="5513832"/>
            <a:ext cx="1924812" cy="228600"/>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4"/>
                </a:solidFill>
                <a:latin typeface="IBM Plex Mono" pitchFamily="34" charset="0"/>
                <a:ea typeface="IBM Plex Mono" pitchFamily="34" charset="-122"/>
                <a:cs typeface="IBM Plex Mono" pitchFamily="34" charset="-120"/>
              </a:rPr>
              <a:t>EXCLUYEN MODIFICACIONES</a:t>
            </a:r>
            <a:endParaRPr lang="es-CL" sz="800" dirty="0"/>
          </a:p>
        </p:txBody>
      </p:sp>
      <p:sp>
        <p:nvSpPr>
          <p:cNvPr id="22" name="Shape 20"/>
          <p:cNvSpPr/>
          <p:nvPr/>
        </p:nvSpPr>
        <p:spPr>
          <a:xfrm flipV="1">
            <a:off x="6781648" y="2871216"/>
            <a:ext cx="1020928" cy="1106424"/>
          </a:xfrm>
          <a:prstGeom prst="line">
            <a:avLst/>
          </a:prstGeom>
          <a:noFill/>
          <a:ln w="12700">
            <a:solidFill>
              <a:schemeClr val="accent5"/>
            </a:solidFill>
            <a:prstDash val="solid"/>
          </a:ln>
        </p:spPr>
      </p:sp>
      <p:sp>
        <p:nvSpPr>
          <p:cNvPr id="23" name="Shape 21"/>
          <p:cNvSpPr/>
          <p:nvPr/>
        </p:nvSpPr>
        <p:spPr>
          <a:xfrm>
            <a:off x="7802575" y="2331720"/>
            <a:ext cx="3840480" cy="1078992"/>
          </a:xfrm>
          <a:prstGeom prst="rect">
            <a:avLst/>
          </a:prstGeom>
          <a:solidFill>
            <a:schemeClr val="bg2"/>
          </a:solidFill>
          <a:ln w="9525">
            <a:solidFill>
              <a:schemeClr val="accent5"/>
            </a:solidFill>
            <a:prstDash val="solid"/>
          </a:ln>
        </p:spPr>
      </p:sp>
      <p:sp>
        <p:nvSpPr>
          <p:cNvPr id="24" name="Text 22"/>
          <p:cNvSpPr txBox="1"/>
          <p:nvPr/>
        </p:nvSpPr>
        <p:spPr>
          <a:xfrm>
            <a:off x="8003743" y="2459736"/>
            <a:ext cx="3438144" cy="201168"/>
          </a:xfrm>
          <a:prstGeom prst="rect">
            <a:avLst/>
          </a:prstGeom>
          <a:noFill/>
          <a:ln/>
        </p:spPr>
        <p:txBody>
          <a:bodyPr wrap="square" lIns="0" tIns="0" rIns="0" bIns="0" rtlCol="0" anchor="t"/>
          <a:lstStyle/>
          <a:p>
            <a:pP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VALIDADOR DE CIRCULACIÓN</a:t>
            </a:r>
            <a:endParaRPr lang="es-CL" sz="800" dirty="0"/>
          </a:p>
        </p:txBody>
      </p:sp>
      <p:sp>
        <p:nvSpPr>
          <p:cNvPr id="25" name="Text 23"/>
          <p:cNvSpPr txBox="1"/>
          <p:nvPr/>
        </p:nvSpPr>
        <p:spPr>
          <a:xfrm>
            <a:off x="8003743" y="2679192"/>
            <a:ext cx="3438144"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Plantas de Revisión Técnica</a:t>
            </a:r>
            <a:endParaRPr lang="es-CL" sz="1400" dirty="0"/>
          </a:p>
        </p:txBody>
      </p:sp>
      <p:sp>
        <p:nvSpPr>
          <p:cNvPr id="26" name="Shape 24"/>
          <p:cNvSpPr/>
          <p:nvPr/>
        </p:nvSpPr>
        <p:spPr>
          <a:xfrm>
            <a:off x="8003743" y="3044952"/>
            <a:ext cx="1330452" cy="228600"/>
          </a:xfrm>
          <a:prstGeom prst="rect">
            <a:avLst/>
          </a:prstGeom>
          <a:solidFill>
            <a:schemeClr val="bg1">
              <a:alpha val="0"/>
            </a:schemeClr>
          </a:solidFill>
          <a:ln w="9525">
            <a:solidFill>
              <a:schemeClr val="accent4"/>
            </a:solidFill>
            <a:prstDash val="dash"/>
          </a:ln>
        </p:spPr>
      </p:sp>
      <p:sp>
        <p:nvSpPr>
          <p:cNvPr id="27" name="Text 25"/>
          <p:cNvSpPr txBox="1"/>
          <p:nvPr/>
        </p:nvSpPr>
        <p:spPr>
          <a:xfrm>
            <a:off x="8095183" y="3044952"/>
            <a:ext cx="1147572" cy="228600"/>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4"/>
                </a:solidFill>
                <a:latin typeface="IBM Plex Mono" pitchFamily="34" charset="0"/>
                <a:ea typeface="IBM Plex Mono" pitchFamily="34" charset="-122"/>
                <a:cs typeface="IBM Plex Mono" pitchFamily="34" charset="-120"/>
              </a:rPr>
              <a:t>SIN PROTOCOLO</a:t>
            </a:r>
            <a:endParaRPr lang="es-CL" sz="800" dirty="0"/>
          </a:p>
        </p:txBody>
      </p:sp>
      <p:sp>
        <p:nvSpPr>
          <p:cNvPr id="28" name="Shape 26"/>
          <p:cNvSpPr/>
          <p:nvPr/>
        </p:nvSpPr>
        <p:spPr>
          <a:xfrm>
            <a:off x="6781648" y="3977640"/>
            <a:ext cx="1020928" cy="128016"/>
          </a:xfrm>
          <a:prstGeom prst="line">
            <a:avLst/>
          </a:prstGeom>
          <a:noFill/>
          <a:ln w="12700">
            <a:solidFill>
              <a:schemeClr val="accent5"/>
            </a:solidFill>
            <a:prstDash val="solid"/>
          </a:ln>
        </p:spPr>
      </p:sp>
      <p:sp>
        <p:nvSpPr>
          <p:cNvPr id="29" name="Shape 27"/>
          <p:cNvSpPr/>
          <p:nvPr/>
        </p:nvSpPr>
        <p:spPr>
          <a:xfrm>
            <a:off x="7802575" y="3566160"/>
            <a:ext cx="3840480" cy="1078992"/>
          </a:xfrm>
          <a:prstGeom prst="rect">
            <a:avLst/>
          </a:prstGeom>
          <a:solidFill>
            <a:schemeClr val="bg2"/>
          </a:solidFill>
          <a:ln w="9525">
            <a:solidFill>
              <a:schemeClr val="accent5"/>
            </a:solidFill>
            <a:prstDash val="solid"/>
          </a:ln>
        </p:spPr>
      </p:sp>
      <p:sp>
        <p:nvSpPr>
          <p:cNvPr id="30" name="Text 28"/>
          <p:cNvSpPr txBox="1"/>
          <p:nvPr/>
        </p:nvSpPr>
        <p:spPr>
          <a:xfrm>
            <a:off x="8003743" y="3694176"/>
            <a:ext cx="3438144" cy="201168"/>
          </a:xfrm>
          <a:prstGeom prst="rect">
            <a:avLst/>
          </a:prstGeom>
          <a:noFill/>
          <a:ln/>
        </p:spPr>
        <p:txBody>
          <a:bodyPr wrap="square" lIns="0" tIns="0" rIns="0" bIns="0" rtlCol="0" anchor="t"/>
          <a:lstStyle/>
          <a:p>
            <a:pP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HABILITADOR DE ACCESO</a:t>
            </a:r>
            <a:endParaRPr lang="es-CL" sz="800" dirty="0"/>
          </a:p>
        </p:txBody>
      </p:sp>
      <p:sp>
        <p:nvSpPr>
          <p:cNvPr id="31" name="Text 29"/>
          <p:cNvSpPr txBox="1"/>
          <p:nvPr/>
        </p:nvSpPr>
        <p:spPr>
          <a:xfrm>
            <a:off x="8003743" y="3913632"/>
            <a:ext cx="3438144"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Instituciones financieras</a:t>
            </a:r>
            <a:endParaRPr lang="es-CL" sz="1400" dirty="0"/>
          </a:p>
        </p:txBody>
      </p:sp>
      <p:sp>
        <p:nvSpPr>
          <p:cNvPr id="32" name="Shape 30"/>
          <p:cNvSpPr/>
          <p:nvPr/>
        </p:nvSpPr>
        <p:spPr>
          <a:xfrm>
            <a:off x="8003743" y="4279392"/>
            <a:ext cx="1252728" cy="228600"/>
          </a:xfrm>
          <a:prstGeom prst="rect">
            <a:avLst/>
          </a:prstGeom>
          <a:solidFill>
            <a:schemeClr val="bg1">
              <a:alpha val="0"/>
            </a:schemeClr>
          </a:solidFill>
          <a:ln w="9525">
            <a:solidFill>
              <a:schemeClr val="accent4"/>
            </a:solidFill>
            <a:prstDash val="dash"/>
          </a:ln>
        </p:spPr>
      </p:sp>
      <p:sp>
        <p:nvSpPr>
          <p:cNvPr id="33" name="Text 31"/>
          <p:cNvSpPr txBox="1"/>
          <p:nvPr/>
        </p:nvSpPr>
        <p:spPr>
          <a:xfrm>
            <a:off x="8095183" y="4279392"/>
            <a:ext cx="1069848" cy="228600"/>
          </a:xfrm>
          <a:prstGeom prst="rect">
            <a:avLst/>
          </a:prstGeom>
          <a:noFill/>
          <a:ln/>
        </p:spPr>
        <p:txBody>
          <a:bodyPr wrap="square" lIns="0" tIns="0" rIns="0" bIns="0" rtlCol="0" anchor="ctr">
            <a:normAutofit/>
          </a:bodyPr>
          <a:lstStyle/>
          <a:p>
            <a:pPr indent="0" marL="0">
              <a:buNone/>
            </a:pPr>
            <a:r>
              <a:rPr lang="es-CL" altLang="en-US" sz="800" spc="120" kern="0" dirty="0">
                <a:solidFill>
                  <a:schemeClr val="accent4"/>
                </a:solidFill>
                <a:latin typeface="IBM Plex Mono" pitchFamily="34" charset="0"/>
                <a:ea typeface="IBM Plex Mono" pitchFamily="34" charset="-122"/>
                <a:cs typeface="IBM Plex Mono" pitchFamily="34" charset="-120"/>
              </a:rPr>
              <a:t>SIN CONVENIO</a:t>
            </a:r>
            <a:endParaRPr lang="es-CL" sz="800" dirty="0"/>
          </a:p>
        </p:txBody>
      </p:sp>
      <p:sp>
        <p:nvSpPr>
          <p:cNvPr id="34" name="Shape 32"/>
          <p:cNvSpPr/>
          <p:nvPr/>
        </p:nvSpPr>
        <p:spPr>
          <a:xfrm>
            <a:off x="6781648" y="3977640"/>
            <a:ext cx="1020928" cy="1362456"/>
          </a:xfrm>
          <a:prstGeom prst="line">
            <a:avLst/>
          </a:prstGeom>
          <a:noFill/>
          <a:ln w="12700">
            <a:solidFill>
              <a:schemeClr val="accent5"/>
            </a:solidFill>
            <a:prstDash val="solid"/>
          </a:ln>
        </p:spPr>
      </p:sp>
      <p:sp>
        <p:nvSpPr>
          <p:cNvPr id="35" name="Shape 33"/>
          <p:cNvSpPr/>
          <p:nvPr/>
        </p:nvSpPr>
        <p:spPr>
          <a:xfrm>
            <a:off x="7802575" y="4800600"/>
            <a:ext cx="3840480" cy="1078992"/>
          </a:xfrm>
          <a:prstGeom prst="rect">
            <a:avLst/>
          </a:prstGeom>
          <a:solidFill>
            <a:schemeClr val="bg2"/>
          </a:solidFill>
          <a:ln w="9525">
            <a:solidFill>
              <a:schemeClr val="accent5"/>
            </a:solidFill>
            <a:prstDash val="solid"/>
          </a:ln>
        </p:spPr>
      </p:sp>
      <p:sp>
        <p:nvSpPr>
          <p:cNvPr id="36" name="Text 34"/>
          <p:cNvSpPr txBox="1"/>
          <p:nvPr/>
        </p:nvSpPr>
        <p:spPr>
          <a:xfrm>
            <a:off x="8003743" y="4928616"/>
            <a:ext cx="3438144" cy="201168"/>
          </a:xfrm>
          <a:prstGeom prst="rect">
            <a:avLst/>
          </a:prstGeom>
          <a:noFill/>
          <a:ln/>
        </p:spPr>
        <p:txBody>
          <a:bodyPr wrap="square" lIns="0" tIns="0" rIns="0" bIns="0" rtlCol="0" anchor="t"/>
          <a:lstStyle/>
          <a:p>
            <a:pP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CANAL DE CAPTACIÓN</a:t>
            </a:r>
            <a:endParaRPr lang="es-CL" sz="800" dirty="0"/>
          </a:p>
        </p:txBody>
      </p:sp>
      <p:sp>
        <p:nvSpPr>
          <p:cNvPr id="37" name="Text 35"/>
          <p:cNvSpPr txBox="1"/>
          <p:nvPr/>
        </p:nvSpPr>
        <p:spPr>
          <a:xfrm>
            <a:off x="8003743" y="5148072"/>
            <a:ext cx="3438144" cy="292608"/>
          </a:xfrm>
          <a:prstGeom prst="rect">
            <a:avLst/>
          </a:prstGeom>
          <a:noFill/>
          <a:ln/>
        </p:spPr>
        <p:txBody>
          <a:bodyPr wrap="square" lIns="0" tIns="0" rIns="0" bIns="0" rtlCol="0" anchor="t"/>
          <a:lstStyle/>
          <a:p>
            <a:pPr indent="0" marL="0">
              <a:buNone/>
            </a:pPr>
            <a:r>
              <a:rPr lang="es-CL" altLang="en-US" sz="1400" b="1" dirty="0">
                <a:solidFill>
                  <a:schemeClr val="tx1"/>
                </a:solidFill>
                <a:latin typeface="Figtree" pitchFamily="34" charset="0"/>
                <a:ea typeface="Figtree" pitchFamily="34" charset="-122"/>
                <a:cs typeface="Figtree" pitchFamily="34" charset="-120"/>
              </a:rPr>
              <a:t>Talleres independientes</a:t>
            </a:r>
            <a:endParaRPr lang="es-CL" sz="1400" dirty="0"/>
          </a:p>
        </p:txBody>
      </p:sp>
      <p:sp>
        <p:nvSpPr>
          <p:cNvPr id="38" name="Shape 36"/>
          <p:cNvSpPr/>
          <p:nvPr/>
        </p:nvSpPr>
        <p:spPr>
          <a:xfrm>
            <a:off x="8003743" y="5513832"/>
            <a:ext cx="1796796" cy="228600"/>
          </a:xfrm>
          <a:prstGeom prst="rect">
            <a:avLst/>
          </a:prstGeom>
          <a:solidFill>
            <a:schemeClr val="bg1">
              <a:alpha val="0"/>
            </a:schemeClr>
          </a:solidFill>
          <a:ln w="9525">
            <a:solidFill>
              <a:schemeClr val="tx2"/>
            </a:solidFill>
            <a:prstDash val="dash"/>
          </a:ln>
        </p:spPr>
      </p:sp>
      <p:sp>
        <p:nvSpPr>
          <p:cNvPr id="39" name="Text 37"/>
          <p:cNvSpPr txBox="1"/>
          <p:nvPr/>
        </p:nvSpPr>
        <p:spPr>
          <a:xfrm>
            <a:off x="8095183" y="5513832"/>
            <a:ext cx="1613916" cy="228600"/>
          </a:xfrm>
          <a:prstGeom prst="rect">
            <a:avLst/>
          </a:prstGeom>
          <a:noFill/>
          <a:ln/>
        </p:spPr>
        <p:txBody>
          <a:bodyPr wrap="square" lIns="0" tIns="0" rIns="0" bIns="0" rtlCol="0" anchor="ctr">
            <a:normAutofit/>
          </a:bodyPr>
          <a:lstStyle/>
          <a:p>
            <a:pPr indent="0" marL="0">
              <a:buNone/>
            </a:pPr>
            <a:r>
              <a:rPr lang="es-CL" altLang="en-US" sz="800" spc="120" kern="0" dirty="0">
                <a:solidFill>
                  <a:schemeClr val="tx2"/>
                </a:solidFill>
                <a:latin typeface="IBM Plex Mono" pitchFamily="34" charset="0"/>
                <a:ea typeface="IBM Plex Mono" pitchFamily="34" charset="-122"/>
                <a:cs typeface="IBM Plex Mono" pitchFamily="34" charset="-120"/>
              </a:rPr>
              <a:t>EXPANSIÓN POSTERIOR</a:t>
            </a:r>
            <a:endParaRPr lang="es-CL" sz="800" dirty="0"/>
          </a:p>
        </p:txBody>
      </p:sp>
      <p:sp>
        <p:nvSpPr>
          <p:cNvPr id="40" name="Shape 38"/>
          <p:cNvSpPr/>
          <p:nvPr/>
        </p:nvSpPr>
        <p:spPr>
          <a:xfrm>
            <a:off x="5410048" y="3291840"/>
            <a:ext cx="1371600" cy="1371600"/>
          </a:xfrm>
          <a:prstGeom prst="ellipse">
            <a:avLst/>
          </a:prstGeom>
          <a:solidFill>
            <a:schemeClr val="accent6"/>
          </a:solidFill>
          <a:ln w="15875">
            <a:solidFill>
              <a:schemeClr val="accent1"/>
            </a:solidFill>
            <a:prstDash val="solid"/>
          </a:ln>
        </p:spPr>
      </p:sp>
      <p:pic>
        <p:nvPicPr>
          <p:cNvPr id="41" name="Image 0" descr="Emblema de Lumine">    </p:cNvPr>
          <p:cNvPicPr>
            <a:picLocks noChangeAspect="1"/>
          </p:cNvPicPr>
          <p:nvPr/>
        </p:nvPicPr>
        <p:blipFill>
          <a:blip r:embed="rId1"/>
          <a:stretch>
            <a:fillRect/>
          </a:stretch>
        </p:blipFill>
        <p:spPr>
          <a:xfrm>
            <a:off x="5775808" y="3657600"/>
            <a:ext cx="640080" cy="640080"/>
          </a:xfrm>
          <a:prstGeom prst="rect">
            <a:avLst/>
          </a:prstGeom>
        </p:spPr>
      </p:pic>
      <p:sp>
        <p:nvSpPr>
          <p:cNvPr id="42" name="Text 39"/>
          <p:cNvSpPr txBox="1"/>
          <p:nvPr/>
        </p:nvSpPr>
        <p:spPr>
          <a:xfrm>
            <a:off x="4952848" y="4773168"/>
            <a:ext cx="2286000" cy="219456"/>
          </a:xfrm>
          <a:prstGeom prst="rect">
            <a:avLst/>
          </a:prstGeom>
          <a:noFill/>
          <a:ln/>
        </p:spPr>
        <p:txBody>
          <a:bodyPr wrap="square" lIns="0" tIns="0" rIns="0" bIns="0" rtlCol="0" anchor="t"/>
          <a:lstStyle/>
          <a:p>
            <a:pPr algn="ct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LUMINE</a:t>
            </a:r>
            <a:endParaRPr lang="es-CL" sz="900" dirty="0"/>
          </a:p>
        </p:txBody>
      </p:sp>
      <p:sp>
        <p:nvSpPr>
          <p:cNvPr id="43" name="Text 40"/>
          <p:cNvSpPr txBox="1"/>
          <p:nvPr/>
        </p:nvSpPr>
        <p:spPr>
          <a:xfrm>
            <a:off x="4541368" y="5166360"/>
            <a:ext cx="3108960" cy="1143000"/>
          </a:xfrm>
          <a:prstGeom prst="rect">
            <a:avLst/>
          </a:prstGeom>
          <a:noFill/>
          <a:ln/>
        </p:spPr>
        <p:txBody>
          <a:bodyPr wrap="square" lIns="0" tIns="0" rIns="0" bIns="0" rtlCol="0" anchor="t"/>
          <a:lstStyle/>
          <a:p>
            <a:pPr algn="ctr" indent="0" marL="0">
              <a:buNone/>
            </a:pPr>
            <a:r>
              <a:rPr lang="es-CL" altLang="en-US" sz="1250" b="1" dirty="0">
                <a:solidFill>
                  <a:schemeClr val="tx1"/>
                </a:solidFill>
                <a:latin typeface="Figtree" pitchFamily="34" charset="0"/>
                <a:ea typeface="Figtree" pitchFamily="34" charset="-122"/>
                <a:cs typeface="Figtree" pitchFamily="34" charset="-120"/>
              </a:rPr>
              <a:t>Ninguno está formalizado. </a:t>
            </a:r>
            <a:pPr algn="ctr" indent="0" marL="0">
              <a:buNone/>
            </a:pPr>
            <a:r>
              <a:rPr lang="es-CL" altLang="en-US" sz="1250" dirty="0">
                <a:solidFill>
                  <a:schemeClr val="tx2"/>
                </a:solidFill>
                <a:latin typeface="Figtree" pitchFamily="34" charset="0"/>
                <a:ea typeface="Figtree" pitchFamily="34" charset="-122"/>
                <a:cs typeface="Figtree" pitchFamily="34" charset="-120"/>
              </a:rPr>
              <a:t>Elegir el primer proveedor es casi irreversible: cambiarlo obliga a rehomologar cada modelo.</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A4</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DISCONTINUIDADES DEL ENTORNO</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LA DISCONTINUIDAD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es normativa.</a:t>
            </a:r>
            <a:endParaRPr lang="en-US" sz="3000" dirty="0"/>
          </a:p>
        </p:txBody>
      </p:sp>
      <p:sp>
        <p:nvSpPr>
          <p:cNvPr id="4" name="Text 2"/>
          <p:cNvSpPr txBox="1"/>
          <p:nvPr/>
        </p:nvSpPr>
        <p:spPr>
          <a:xfrm>
            <a:off x="548640" y="2331720"/>
            <a:ext cx="192024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DIMENSIÓN</a:t>
            </a:r>
            <a:endParaRPr lang="es-CL" sz="850" dirty="0"/>
          </a:p>
        </p:txBody>
      </p:sp>
      <p:sp>
        <p:nvSpPr>
          <p:cNvPr id="5" name="Text 3"/>
          <p:cNvSpPr txBox="1"/>
          <p:nvPr/>
        </p:nvSpPr>
        <p:spPr>
          <a:xfrm>
            <a:off x="2468880" y="2331720"/>
            <a:ext cx="224028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VELOCIDAD DEL CAMBIO</a:t>
            </a:r>
            <a:endParaRPr lang="es-CL" sz="850" dirty="0"/>
          </a:p>
        </p:txBody>
      </p:sp>
      <p:sp>
        <p:nvSpPr>
          <p:cNvPr id="6" name="Text 4"/>
          <p:cNvSpPr txBox="1"/>
          <p:nvPr/>
        </p:nvSpPr>
        <p:spPr>
          <a:xfrm>
            <a:off x="4709160" y="2331720"/>
            <a:ext cx="3291840" cy="219456"/>
          </a:xfrm>
          <a:prstGeom prst="rect">
            <a:avLst/>
          </a:prstGeom>
          <a:noFill/>
          <a:ln/>
        </p:spPr>
        <p:txBody>
          <a:bodyPr wrap="square" lIns="0" tIns="0" rIns="0" bIns="0" rtlCol="0" anchor="t"/>
          <a:lstStyle/>
          <a:p>
            <a:pPr indent="0" marL="0">
              <a:buNone/>
            </a:pPr>
            <a:r>
              <a:rPr lang="es-CL" altLang="en-US" sz="850" spc="150" kern="0" dirty="0">
                <a:solidFill>
                  <a:schemeClr val="tx2"/>
                </a:solidFill>
                <a:latin typeface="IBM Plex Mono" pitchFamily="34" charset="0"/>
                <a:ea typeface="IBM Plex Mono" pitchFamily="34" charset="-122"/>
                <a:cs typeface="IBM Plex Mono" pitchFamily="34" charset="-120"/>
              </a:rPr>
              <a:t>EVIDENCIA</a:t>
            </a:r>
            <a:endParaRPr lang="es-CL" sz="850" dirty="0"/>
          </a:p>
        </p:txBody>
      </p:sp>
      <p:sp>
        <p:nvSpPr>
          <p:cNvPr id="7" name="Shape 5"/>
          <p:cNvSpPr/>
          <p:nvPr/>
        </p:nvSpPr>
        <p:spPr>
          <a:xfrm>
            <a:off x="548640" y="2606040"/>
            <a:ext cx="7452360" cy="0"/>
          </a:xfrm>
          <a:prstGeom prst="line">
            <a:avLst/>
          </a:prstGeom>
          <a:noFill/>
          <a:ln w="9525">
            <a:solidFill>
              <a:schemeClr val="accent5"/>
            </a:solidFill>
            <a:prstDash val="solid"/>
          </a:ln>
        </p:spPr>
      </p:sp>
      <p:sp>
        <p:nvSpPr>
          <p:cNvPr id="8" name="Text 6"/>
          <p:cNvSpPr txBox="1"/>
          <p:nvPr/>
        </p:nvSpPr>
        <p:spPr>
          <a:xfrm>
            <a:off x="548640" y="2606040"/>
            <a:ext cx="1874520" cy="448056"/>
          </a:xfrm>
          <a:prstGeom prst="rect">
            <a:avLst/>
          </a:prstGeom>
          <a:noFill/>
          <a:ln/>
        </p:spPr>
        <p:txBody>
          <a:bodyPr wrap="square" lIns="0" tIns="0" rIns="0" bIns="0" rtlCol="0" anchor="ctr"/>
          <a:lstStyle/>
          <a:p>
            <a:pPr indent="0" marL="0">
              <a:buNone/>
            </a:pPr>
            <a:r>
              <a:rPr lang="es-CL" altLang="en-US" sz="1350" b="1" dirty="0">
                <a:solidFill>
                  <a:schemeClr val="tx1"/>
                </a:solidFill>
                <a:latin typeface="Figtree" pitchFamily="34" charset="0"/>
                <a:ea typeface="Figtree" pitchFamily="34" charset="-122"/>
                <a:cs typeface="Figtree" pitchFamily="34" charset="-120"/>
              </a:rPr>
              <a:t>Regulación</a:t>
            </a:r>
            <a:endParaRPr lang="es-CL" sz="1350" dirty="0"/>
          </a:p>
        </p:txBody>
      </p:sp>
      <p:sp>
        <p:nvSpPr>
          <p:cNvPr id="9" name="Shape 7"/>
          <p:cNvSpPr/>
          <p:nvPr/>
        </p:nvSpPr>
        <p:spPr>
          <a:xfrm>
            <a:off x="2468880" y="2775204"/>
            <a:ext cx="118872" cy="118872"/>
          </a:xfrm>
          <a:prstGeom prst="rect">
            <a:avLst/>
          </a:prstGeom>
          <a:solidFill>
            <a:schemeClr val="accent3"/>
          </a:solidFill>
          <a:ln w="6350">
            <a:solidFill>
              <a:schemeClr val="accent3"/>
            </a:solidFill>
            <a:prstDash val="solid"/>
          </a:ln>
        </p:spPr>
      </p:sp>
      <p:sp>
        <p:nvSpPr>
          <p:cNvPr id="10" name="Shape 8"/>
          <p:cNvSpPr/>
          <p:nvPr/>
        </p:nvSpPr>
        <p:spPr>
          <a:xfrm>
            <a:off x="2624328" y="2775204"/>
            <a:ext cx="118872" cy="118872"/>
          </a:xfrm>
          <a:prstGeom prst="rect">
            <a:avLst/>
          </a:prstGeom>
          <a:solidFill>
            <a:schemeClr val="accent3"/>
          </a:solidFill>
          <a:ln w="6350">
            <a:solidFill>
              <a:schemeClr val="accent3"/>
            </a:solidFill>
            <a:prstDash val="solid"/>
          </a:ln>
        </p:spPr>
      </p:sp>
      <p:sp>
        <p:nvSpPr>
          <p:cNvPr id="11" name="Shape 9"/>
          <p:cNvSpPr/>
          <p:nvPr/>
        </p:nvSpPr>
        <p:spPr>
          <a:xfrm>
            <a:off x="2779776" y="2775204"/>
            <a:ext cx="118872" cy="118872"/>
          </a:xfrm>
          <a:prstGeom prst="rect">
            <a:avLst/>
          </a:prstGeom>
          <a:solidFill>
            <a:schemeClr val="accent3"/>
          </a:solidFill>
          <a:ln w="6350">
            <a:solidFill>
              <a:schemeClr val="accent3"/>
            </a:solidFill>
            <a:prstDash val="solid"/>
          </a:ln>
        </p:spPr>
      </p:sp>
      <p:sp>
        <p:nvSpPr>
          <p:cNvPr id="12" name="Shape 10"/>
          <p:cNvSpPr/>
          <p:nvPr/>
        </p:nvSpPr>
        <p:spPr>
          <a:xfrm>
            <a:off x="2935224" y="2775204"/>
            <a:ext cx="118872" cy="118872"/>
          </a:xfrm>
          <a:prstGeom prst="rect">
            <a:avLst/>
          </a:prstGeom>
          <a:solidFill>
            <a:schemeClr val="accent3"/>
          </a:solidFill>
          <a:ln w="6350">
            <a:solidFill>
              <a:schemeClr val="accent3"/>
            </a:solidFill>
            <a:prstDash val="solid"/>
          </a:ln>
        </p:spPr>
      </p:sp>
      <p:sp>
        <p:nvSpPr>
          <p:cNvPr id="13" name="Text 11"/>
          <p:cNvSpPr txBox="1"/>
          <p:nvPr/>
        </p:nvSpPr>
        <p:spPr>
          <a:xfrm>
            <a:off x="3154680" y="2606040"/>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3"/>
                </a:solidFill>
                <a:latin typeface="IBM Plex Mono" pitchFamily="34" charset="0"/>
                <a:ea typeface="IBM Plex Mono" pitchFamily="34" charset="-122"/>
                <a:cs typeface="IBM Plex Mono" pitchFamily="34" charset="-120"/>
              </a:rPr>
              <a:t>ABRUPTA, POR EVENTO</a:t>
            </a:r>
            <a:endParaRPr lang="es-CL" sz="800" dirty="0"/>
          </a:p>
        </p:txBody>
      </p:sp>
      <p:sp>
        <p:nvSpPr>
          <p:cNvPr id="14" name="Text 12"/>
          <p:cNvSpPr txBox="1"/>
          <p:nvPr/>
        </p:nvSpPr>
        <p:spPr>
          <a:xfrm>
            <a:off x="4709160" y="2606040"/>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Ley del 14-01-2026; reglamento sin publicar</a:t>
            </a:r>
            <a:endParaRPr lang="es-CL" sz="1200" dirty="0"/>
          </a:p>
        </p:txBody>
      </p:sp>
      <p:sp>
        <p:nvSpPr>
          <p:cNvPr id="15" name="Shape 13"/>
          <p:cNvSpPr/>
          <p:nvPr/>
        </p:nvSpPr>
        <p:spPr>
          <a:xfrm>
            <a:off x="548640" y="3054096"/>
            <a:ext cx="7452360" cy="0"/>
          </a:xfrm>
          <a:prstGeom prst="line">
            <a:avLst/>
          </a:prstGeom>
          <a:noFill/>
          <a:ln w="9525">
            <a:solidFill>
              <a:schemeClr val="accent5"/>
            </a:solidFill>
            <a:prstDash val="solid"/>
          </a:ln>
        </p:spPr>
      </p:sp>
      <p:sp>
        <p:nvSpPr>
          <p:cNvPr id="16" name="Text 14"/>
          <p:cNvSpPr txBox="1"/>
          <p:nvPr/>
        </p:nvSpPr>
        <p:spPr>
          <a:xfrm>
            <a:off x="548640" y="3054096"/>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Macroeconomía</a:t>
            </a:r>
            <a:endParaRPr lang="es-CL" sz="1350" dirty="0"/>
          </a:p>
        </p:txBody>
      </p:sp>
      <p:sp>
        <p:nvSpPr>
          <p:cNvPr id="17" name="Shape 15"/>
          <p:cNvSpPr/>
          <p:nvPr/>
        </p:nvSpPr>
        <p:spPr>
          <a:xfrm>
            <a:off x="2468880" y="3223260"/>
            <a:ext cx="118872" cy="118872"/>
          </a:xfrm>
          <a:prstGeom prst="rect">
            <a:avLst/>
          </a:prstGeom>
          <a:solidFill>
            <a:schemeClr val="accent4"/>
          </a:solidFill>
          <a:ln w="6350">
            <a:solidFill>
              <a:schemeClr val="accent4"/>
            </a:solidFill>
            <a:prstDash val="solid"/>
          </a:ln>
        </p:spPr>
      </p:sp>
      <p:sp>
        <p:nvSpPr>
          <p:cNvPr id="18" name="Shape 16"/>
          <p:cNvSpPr/>
          <p:nvPr/>
        </p:nvSpPr>
        <p:spPr>
          <a:xfrm>
            <a:off x="2624328" y="3223260"/>
            <a:ext cx="118872" cy="118872"/>
          </a:xfrm>
          <a:prstGeom prst="rect">
            <a:avLst/>
          </a:prstGeom>
          <a:solidFill>
            <a:schemeClr val="accent4"/>
          </a:solidFill>
          <a:ln w="6350">
            <a:solidFill>
              <a:schemeClr val="accent4"/>
            </a:solidFill>
            <a:prstDash val="solid"/>
          </a:ln>
        </p:spPr>
      </p:sp>
      <p:sp>
        <p:nvSpPr>
          <p:cNvPr id="19" name="Shape 17"/>
          <p:cNvSpPr/>
          <p:nvPr/>
        </p:nvSpPr>
        <p:spPr>
          <a:xfrm>
            <a:off x="2779776" y="3223260"/>
            <a:ext cx="118872" cy="118872"/>
          </a:xfrm>
          <a:prstGeom prst="rect">
            <a:avLst/>
          </a:prstGeom>
          <a:solidFill>
            <a:schemeClr val="accent4"/>
          </a:solidFill>
          <a:ln w="6350">
            <a:solidFill>
              <a:schemeClr val="accent4"/>
            </a:solidFill>
            <a:prstDash val="solid"/>
          </a:ln>
        </p:spPr>
      </p:sp>
      <p:sp>
        <p:nvSpPr>
          <p:cNvPr id="20" name="Shape 18"/>
          <p:cNvSpPr/>
          <p:nvPr/>
        </p:nvSpPr>
        <p:spPr>
          <a:xfrm>
            <a:off x="2935224" y="3223260"/>
            <a:ext cx="118872" cy="118872"/>
          </a:xfrm>
          <a:prstGeom prst="rect">
            <a:avLst/>
          </a:prstGeom>
          <a:solidFill>
            <a:schemeClr val="accent6"/>
          </a:solidFill>
          <a:ln w="6350">
            <a:solidFill>
              <a:schemeClr val="accent5"/>
            </a:solidFill>
            <a:prstDash val="solid"/>
          </a:ln>
        </p:spPr>
      </p:sp>
      <p:sp>
        <p:nvSpPr>
          <p:cNvPr id="21" name="Text 19"/>
          <p:cNvSpPr txBox="1"/>
          <p:nvPr/>
        </p:nvSpPr>
        <p:spPr>
          <a:xfrm>
            <a:off x="3154680" y="3054096"/>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4"/>
                </a:solidFill>
                <a:latin typeface="IBM Plex Mono" pitchFamily="34" charset="0"/>
                <a:ea typeface="IBM Plex Mono" pitchFamily="34" charset="-122"/>
                <a:cs typeface="IBM Plex Mono" pitchFamily="34" charset="-120"/>
              </a:rPr>
              <a:t>RÁPIDA, ADVERSA</a:t>
            </a:r>
            <a:endParaRPr lang="es-CL" sz="800" dirty="0"/>
          </a:p>
        </p:txBody>
      </p:sp>
      <p:sp>
        <p:nvSpPr>
          <p:cNvPr id="22" name="Text 20"/>
          <p:cNvSpPr txBox="1"/>
          <p:nvPr/>
        </p:nvSpPr>
        <p:spPr>
          <a:xfrm>
            <a:off x="4709160" y="3054096"/>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PIB 2026 a 0,25%–0,75%; desempleo 9,5%</a:t>
            </a:r>
            <a:endParaRPr lang="es-CL" sz="1200" dirty="0"/>
          </a:p>
        </p:txBody>
      </p:sp>
      <p:sp>
        <p:nvSpPr>
          <p:cNvPr id="23" name="Shape 21"/>
          <p:cNvSpPr/>
          <p:nvPr/>
        </p:nvSpPr>
        <p:spPr>
          <a:xfrm>
            <a:off x="548640" y="3502152"/>
            <a:ext cx="7452360" cy="0"/>
          </a:xfrm>
          <a:prstGeom prst="line">
            <a:avLst/>
          </a:prstGeom>
          <a:noFill/>
          <a:ln w="9525">
            <a:solidFill>
              <a:schemeClr val="accent5"/>
            </a:solidFill>
            <a:prstDash val="solid"/>
          </a:ln>
        </p:spPr>
      </p:sp>
      <p:sp>
        <p:nvSpPr>
          <p:cNvPr id="24" name="Text 22"/>
          <p:cNvSpPr txBox="1"/>
          <p:nvPr/>
        </p:nvSpPr>
        <p:spPr>
          <a:xfrm>
            <a:off x="548640" y="3502152"/>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Tipo de cambio</a:t>
            </a:r>
            <a:endParaRPr lang="es-CL" sz="1350" dirty="0"/>
          </a:p>
        </p:txBody>
      </p:sp>
      <p:sp>
        <p:nvSpPr>
          <p:cNvPr id="25" name="Shape 23"/>
          <p:cNvSpPr/>
          <p:nvPr/>
        </p:nvSpPr>
        <p:spPr>
          <a:xfrm>
            <a:off x="2468880" y="3671316"/>
            <a:ext cx="118872" cy="118872"/>
          </a:xfrm>
          <a:prstGeom prst="rect">
            <a:avLst/>
          </a:prstGeom>
          <a:solidFill>
            <a:schemeClr val="accent4"/>
          </a:solidFill>
          <a:ln w="6350">
            <a:solidFill>
              <a:schemeClr val="accent4"/>
            </a:solidFill>
            <a:prstDash val="solid"/>
          </a:ln>
        </p:spPr>
      </p:sp>
      <p:sp>
        <p:nvSpPr>
          <p:cNvPr id="26" name="Shape 24"/>
          <p:cNvSpPr/>
          <p:nvPr/>
        </p:nvSpPr>
        <p:spPr>
          <a:xfrm>
            <a:off x="2624328" y="3671316"/>
            <a:ext cx="118872" cy="118872"/>
          </a:xfrm>
          <a:prstGeom prst="rect">
            <a:avLst/>
          </a:prstGeom>
          <a:solidFill>
            <a:schemeClr val="accent4"/>
          </a:solidFill>
          <a:ln w="6350">
            <a:solidFill>
              <a:schemeClr val="accent4"/>
            </a:solidFill>
            <a:prstDash val="solid"/>
          </a:ln>
        </p:spPr>
      </p:sp>
      <p:sp>
        <p:nvSpPr>
          <p:cNvPr id="27" name="Shape 25"/>
          <p:cNvSpPr/>
          <p:nvPr/>
        </p:nvSpPr>
        <p:spPr>
          <a:xfrm>
            <a:off x="2779776" y="3671316"/>
            <a:ext cx="118872" cy="118872"/>
          </a:xfrm>
          <a:prstGeom prst="rect">
            <a:avLst/>
          </a:prstGeom>
          <a:solidFill>
            <a:schemeClr val="accent4"/>
          </a:solidFill>
          <a:ln w="6350">
            <a:solidFill>
              <a:schemeClr val="accent4"/>
            </a:solidFill>
            <a:prstDash val="solid"/>
          </a:ln>
        </p:spPr>
      </p:sp>
      <p:sp>
        <p:nvSpPr>
          <p:cNvPr id="28" name="Shape 26"/>
          <p:cNvSpPr/>
          <p:nvPr/>
        </p:nvSpPr>
        <p:spPr>
          <a:xfrm>
            <a:off x="2935224" y="3671316"/>
            <a:ext cx="118872" cy="118872"/>
          </a:xfrm>
          <a:prstGeom prst="rect">
            <a:avLst/>
          </a:prstGeom>
          <a:solidFill>
            <a:schemeClr val="accent6"/>
          </a:solidFill>
          <a:ln w="6350">
            <a:solidFill>
              <a:schemeClr val="accent5"/>
            </a:solidFill>
            <a:prstDash val="solid"/>
          </a:ln>
        </p:spPr>
      </p:sp>
      <p:sp>
        <p:nvSpPr>
          <p:cNvPr id="29" name="Text 27"/>
          <p:cNvSpPr txBox="1"/>
          <p:nvPr/>
        </p:nvSpPr>
        <p:spPr>
          <a:xfrm>
            <a:off x="3154680" y="3502152"/>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4"/>
                </a:solidFill>
                <a:latin typeface="IBM Plex Mono" pitchFamily="34" charset="0"/>
                <a:ea typeface="IBM Plex Mono" pitchFamily="34" charset="-122"/>
                <a:cs typeface="IBM Plex Mono" pitchFamily="34" charset="-120"/>
              </a:rPr>
              <a:t>RÁPIDA, ADVERSA</a:t>
            </a:r>
            <a:endParaRPr lang="es-CL" sz="800" dirty="0"/>
          </a:p>
        </p:txBody>
      </p:sp>
      <p:sp>
        <p:nvSpPr>
          <p:cNvPr id="30" name="Text 28"/>
          <p:cNvSpPr txBox="1"/>
          <p:nvPr/>
        </p:nvSpPr>
        <p:spPr>
          <a:xfrm>
            <a:off x="4709160" y="3502152"/>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Dólar cerca de $970, máximo en más de un año</a:t>
            </a:r>
            <a:endParaRPr lang="es-CL" sz="1200" dirty="0"/>
          </a:p>
        </p:txBody>
      </p:sp>
      <p:sp>
        <p:nvSpPr>
          <p:cNvPr id="31" name="Shape 29"/>
          <p:cNvSpPr/>
          <p:nvPr/>
        </p:nvSpPr>
        <p:spPr>
          <a:xfrm>
            <a:off x="548640" y="3950208"/>
            <a:ext cx="7452360" cy="0"/>
          </a:xfrm>
          <a:prstGeom prst="line">
            <a:avLst/>
          </a:prstGeom>
          <a:noFill/>
          <a:ln w="9525">
            <a:solidFill>
              <a:schemeClr val="accent5"/>
            </a:solidFill>
            <a:prstDash val="solid"/>
          </a:ln>
        </p:spPr>
      </p:sp>
      <p:sp>
        <p:nvSpPr>
          <p:cNvPr id="32" name="Text 30"/>
          <p:cNvSpPr txBox="1"/>
          <p:nvPr/>
        </p:nvSpPr>
        <p:spPr>
          <a:xfrm>
            <a:off x="548640" y="3950208"/>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Combustible</a:t>
            </a:r>
            <a:endParaRPr lang="es-CL" sz="1350" dirty="0"/>
          </a:p>
        </p:txBody>
      </p:sp>
      <p:sp>
        <p:nvSpPr>
          <p:cNvPr id="33" name="Shape 31"/>
          <p:cNvSpPr/>
          <p:nvPr/>
        </p:nvSpPr>
        <p:spPr>
          <a:xfrm>
            <a:off x="2468880" y="4119372"/>
            <a:ext cx="118872" cy="118872"/>
          </a:xfrm>
          <a:prstGeom prst="rect">
            <a:avLst/>
          </a:prstGeom>
          <a:solidFill>
            <a:schemeClr val="accent3"/>
          </a:solidFill>
          <a:ln w="6350">
            <a:solidFill>
              <a:schemeClr val="accent3"/>
            </a:solidFill>
            <a:prstDash val="solid"/>
          </a:ln>
        </p:spPr>
      </p:sp>
      <p:sp>
        <p:nvSpPr>
          <p:cNvPr id="34" name="Shape 32"/>
          <p:cNvSpPr/>
          <p:nvPr/>
        </p:nvSpPr>
        <p:spPr>
          <a:xfrm>
            <a:off x="2624328" y="4119372"/>
            <a:ext cx="118872" cy="118872"/>
          </a:xfrm>
          <a:prstGeom prst="rect">
            <a:avLst/>
          </a:prstGeom>
          <a:solidFill>
            <a:schemeClr val="accent3"/>
          </a:solidFill>
          <a:ln w="6350">
            <a:solidFill>
              <a:schemeClr val="accent3"/>
            </a:solidFill>
            <a:prstDash val="solid"/>
          </a:ln>
        </p:spPr>
      </p:sp>
      <p:sp>
        <p:nvSpPr>
          <p:cNvPr id="35" name="Shape 33"/>
          <p:cNvSpPr/>
          <p:nvPr/>
        </p:nvSpPr>
        <p:spPr>
          <a:xfrm>
            <a:off x="2779776" y="4119372"/>
            <a:ext cx="118872" cy="118872"/>
          </a:xfrm>
          <a:prstGeom prst="rect">
            <a:avLst/>
          </a:prstGeom>
          <a:solidFill>
            <a:schemeClr val="accent3"/>
          </a:solidFill>
          <a:ln w="6350">
            <a:solidFill>
              <a:schemeClr val="accent3"/>
            </a:solidFill>
            <a:prstDash val="solid"/>
          </a:ln>
        </p:spPr>
      </p:sp>
      <p:sp>
        <p:nvSpPr>
          <p:cNvPr id="36" name="Shape 34"/>
          <p:cNvSpPr/>
          <p:nvPr/>
        </p:nvSpPr>
        <p:spPr>
          <a:xfrm>
            <a:off x="2935224" y="4119372"/>
            <a:ext cx="118872" cy="118872"/>
          </a:xfrm>
          <a:prstGeom prst="rect">
            <a:avLst/>
          </a:prstGeom>
          <a:solidFill>
            <a:schemeClr val="accent6"/>
          </a:solidFill>
          <a:ln w="6350">
            <a:solidFill>
              <a:schemeClr val="accent5"/>
            </a:solidFill>
            <a:prstDash val="solid"/>
          </a:ln>
        </p:spPr>
      </p:sp>
      <p:sp>
        <p:nvSpPr>
          <p:cNvPr id="37" name="Text 35"/>
          <p:cNvSpPr txBox="1"/>
          <p:nvPr/>
        </p:nvSpPr>
        <p:spPr>
          <a:xfrm>
            <a:off x="3154680" y="3950208"/>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3"/>
                </a:solidFill>
                <a:latin typeface="IBM Plex Mono" pitchFamily="34" charset="0"/>
                <a:ea typeface="IBM Plex Mono" pitchFamily="34" charset="-122"/>
                <a:cs typeface="IBM Plex Mono" pitchFamily="34" charset="-120"/>
              </a:rPr>
              <a:t>ALTA Y VOLÁTIL</a:t>
            </a:r>
            <a:endParaRPr lang="es-CL" sz="800" dirty="0"/>
          </a:p>
        </p:txBody>
      </p:sp>
      <p:sp>
        <p:nvSpPr>
          <p:cNvPr id="38" name="Text 36"/>
          <p:cNvSpPr txBox="1"/>
          <p:nvPr/>
        </p:nvSpPr>
        <p:spPr>
          <a:xfrm>
            <a:off x="4709160" y="3950208"/>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Bencina 93: de $1.149 a $1.541 por litro</a:t>
            </a:r>
            <a:endParaRPr lang="es-CL" sz="1200" dirty="0"/>
          </a:p>
        </p:txBody>
      </p:sp>
      <p:sp>
        <p:nvSpPr>
          <p:cNvPr id="39" name="Shape 37"/>
          <p:cNvSpPr/>
          <p:nvPr/>
        </p:nvSpPr>
        <p:spPr>
          <a:xfrm>
            <a:off x="548640" y="4398264"/>
            <a:ext cx="7452360" cy="0"/>
          </a:xfrm>
          <a:prstGeom prst="line">
            <a:avLst/>
          </a:prstGeom>
          <a:noFill/>
          <a:ln w="9525">
            <a:solidFill>
              <a:schemeClr val="accent5"/>
            </a:solidFill>
            <a:prstDash val="solid"/>
          </a:ln>
        </p:spPr>
      </p:sp>
      <p:sp>
        <p:nvSpPr>
          <p:cNvPr id="40" name="Text 38"/>
          <p:cNvSpPr txBox="1"/>
          <p:nvPr/>
        </p:nvSpPr>
        <p:spPr>
          <a:xfrm>
            <a:off x="548640" y="4398264"/>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Precio de baterías</a:t>
            </a:r>
            <a:endParaRPr lang="es-CL" sz="1350" dirty="0"/>
          </a:p>
        </p:txBody>
      </p:sp>
      <p:sp>
        <p:nvSpPr>
          <p:cNvPr id="41" name="Shape 39"/>
          <p:cNvSpPr/>
          <p:nvPr/>
        </p:nvSpPr>
        <p:spPr>
          <a:xfrm>
            <a:off x="2468880" y="4567428"/>
            <a:ext cx="118872" cy="118872"/>
          </a:xfrm>
          <a:prstGeom prst="rect">
            <a:avLst/>
          </a:prstGeom>
          <a:solidFill>
            <a:schemeClr val="accent2"/>
          </a:solidFill>
          <a:ln w="6350">
            <a:solidFill>
              <a:schemeClr val="accent2"/>
            </a:solidFill>
            <a:prstDash val="solid"/>
          </a:ln>
        </p:spPr>
      </p:sp>
      <p:sp>
        <p:nvSpPr>
          <p:cNvPr id="42" name="Shape 40"/>
          <p:cNvSpPr/>
          <p:nvPr/>
        </p:nvSpPr>
        <p:spPr>
          <a:xfrm>
            <a:off x="2624328" y="4567428"/>
            <a:ext cx="118872" cy="118872"/>
          </a:xfrm>
          <a:prstGeom prst="rect">
            <a:avLst/>
          </a:prstGeom>
          <a:solidFill>
            <a:schemeClr val="accent2"/>
          </a:solidFill>
          <a:ln w="6350">
            <a:solidFill>
              <a:schemeClr val="accent2"/>
            </a:solidFill>
            <a:prstDash val="solid"/>
          </a:ln>
        </p:spPr>
      </p:sp>
      <p:sp>
        <p:nvSpPr>
          <p:cNvPr id="43" name="Shape 41"/>
          <p:cNvSpPr/>
          <p:nvPr/>
        </p:nvSpPr>
        <p:spPr>
          <a:xfrm>
            <a:off x="2779776" y="4567428"/>
            <a:ext cx="118872" cy="118872"/>
          </a:xfrm>
          <a:prstGeom prst="rect">
            <a:avLst/>
          </a:prstGeom>
          <a:solidFill>
            <a:schemeClr val="accent6"/>
          </a:solidFill>
          <a:ln w="6350">
            <a:solidFill>
              <a:schemeClr val="accent5"/>
            </a:solidFill>
            <a:prstDash val="solid"/>
          </a:ln>
        </p:spPr>
      </p:sp>
      <p:sp>
        <p:nvSpPr>
          <p:cNvPr id="44" name="Shape 42"/>
          <p:cNvSpPr/>
          <p:nvPr/>
        </p:nvSpPr>
        <p:spPr>
          <a:xfrm>
            <a:off x="2935224" y="4567428"/>
            <a:ext cx="118872" cy="118872"/>
          </a:xfrm>
          <a:prstGeom prst="rect">
            <a:avLst/>
          </a:prstGeom>
          <a:solidFill>
            <a:schemeClr val="accent6"/>
          </a:solidFill>
          <a:ln w="6350">
            <a:solidFill>
              <a:schemeClr val="accent5"/>
            </a:solidFill>
            <a:prstDash val="solid"/>
          </a:ln>
        </p:spPr>
      </p:sp>
      <p:sp>
        <p:nvSpPr>
          <p:cNvPr id="45" name="Text 43"/>
          <p:cNvSpPr txBox="1"/>
          <p:nvPr/>
        </p:nvSpPr>
        <p:spPr>
          <a:xfrm>
            <a:off x="3154680" y="4398264"/>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2"/>
                </a:solidFill>
                <a:latin typeface="IBM Plex Mono" pitchFamily="34" charset="0"/>
                <a:ea typeface="IBM Plex Mono" pitchFamily="34" charset="-122"/>
                <a:cs typeface="IBM Plex Mono" pitchFamily="34" charset="-120"/>
              </a:rPr>
              <a:t>SOSTENIDA A LA BAJA</a:t>
            </a:r>
            <a:endParaRPr lang="es-CL" sz="800" dirty="0"/>
          </a:p>
        </p:txBody>
      </p:sp>
      <p:sp>
        <p:nvSpPr>
          <p:cNvPr id="46" name="Text 44"/>
          <p:cNvSpPr txBox="1"/>
          <p:nvPr/>
        </p:nvSpPr>
        <p:spPr>
          <a:xfrm>
            <a:off x="4709160" y="4398264"/>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LFP en US$81 por kWh</a:t>
            </a:r>
            <a:endParaRPr lang="es-CL" sz="1200" dirty="0"/>
          </a:p>
        </p:txBody>
      </p:sp>
      <p:sp>
        <p:nvSpPr>
          <p:cNvPr id="47" name="Shape 45"/>
          <p:cNvSpPr/>
          <p:nvPr/>
        </p:nvSpPr>
        <p:spPr>
          <a:xfrm>
            <a:off x="548640" y="4846320"/>
            <a:ext cx="7452360" cy="0"/>
          </a:xfrm>
          <a:prstGeom prst="line">
            <a:avLst/>
          </a:prstGeom>
          <a:noFill/>
          <a:ln w="9525">
            <a:solidFill>
              <a:schemeClr val="accent5"/>
            </a:solidFill>
            <a:prstDash val="solid"/>
          </a:ln>
        </p:spPr>
      </p:sp>
      <p:sp>
        <p:nvSpPr>
          <p:cNvPr id="48" name="Text 46"/>
          <p:cNvSpPr txBox="1"/>
          <p:nvPr/>
        </p:nvSpPr>
        <p:spPr>
          <a:xfrm>
            <a:off x="548640" y="4846320"/>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Empleo en transporte</a:t>
            </a:r>
            <a:endParaRPr lang="es-CL" sz="1350" dirty="0"/>
          </a:p>
        </p:txBody>
      </p:sp>
      <p:sp>
        <p:nvSpPr>
          <p:cNvPr id="49" name="Shape 47"/>
          <p:cNvSpPr/>
          <p:nvPr/>
        </p:nvSpPr>
        <p:spPr>
          <a:xfrm>
            <a:off x="2468880" y="5015484"/>
            <a:ext cx="118872" cy="118872"/>
          </a:xfrm>
          <a:prstGeom prst="rect">
            <a:avLst/>
          </a:prstGeom>
          <a:solidFill>
            <a:schemeClr val="accent2"/>
          </a:solidFill>
          <a:ln w="6350">
            <a:solidFill>
              <a:schemeClr val="accent2"/>
            </a:solidFill>
            <a:prstDash val="solid"/>
          </a:ln>
        </p:spPr>
      </p:sp>
      <p:sp>
        <p:nvSpPr>
          <p:cNvPr id="50" name="Shape 48"/>
          <p:cNvSpPr/>
          <p:nvPr/>
        </p:nvSpPr>
        <p:spPr>
          <a:xfrm>
            <a:off x="2624328" y="5015484"/>
            <a:ext cx="118872" cy="118872"/>
          </a:xfrm>
          <a:prstGeom prst="rect">
            <a:avLst/>
          </a:prstGeom>
          <a:solidFill>
            <a:schemeClr val="accent2"/>
          </a:solidFill>
          <a:ln w="6350">
            <a:solidFill>
              <a:schemeClr val="accent2"/>
            </a:solidFill>
            <a:prstDash val="solid"/>
          </a:ln>
        </p:spPr>
      </p:sp>
      <p:sp>
        <p:nvSpPr>
          <p:cNvPr id="51" name="Shape 49"/>
          <p:cNvSpPr/>
          <p:nvPr/>
        </p:nvSpPr>
        <p:spPr>
          <a:xfrm>
            <a:off x="2779776" y="5015484"/>
            <a:ext cx="118872" cy="118872"/>
          </a:xfrm>
          <a:prstGeom prst="rect">
            <a:avLst/>
          </a:prstGeom>
          <a:solidFill>
            <a:schemeClr val="accent6"/>
          </a:solidFill>
          <a:ln w="6350">
            <a:solidFill>
              <a:schemeClr val="accent5"/>
            </a:solidFill>
            <a:prstDash val="solid"/>
          </a:ln>
        </p:spPr>
      </p:sp>
      <p:sp>
        <p:nvSpPr>
          <p:cNvPr id="52" name="Shape 50"/>
          <p:cNvSpPr/>
          <p:nvPr/>
        </p:nvSpPr>
        <p:spPr>
          <a:xfrm>
            <a:off x="2935224" y="5015484"/>
            <a:ext cx="118872" cy="118872"/>
          </a:xfrm>
          <a:prstGeom prst="rect">
            <a:avLst/>
          </a:prstGeom>
          <a:solidFill>
            <a:schemeClr val="accent6"/>
          </a:solidFill>
          <a:ln w="6350">
            <a:solidFill>
              <a:schemeClr val="accent5"/>
            </a:solidFill>
            <a:prstDash val="solid"/>
          </a:ln>
        </p:spPr>
      </p:sp>
      <p:sp>
        <p:nvSpPr>
          <p:cNvPr id="53" name="Text 51"/>
          <p:cNvSpPr txBox="1"/>
          <p:nvPr/>
        </p:nvSpPr>
        <p:spPr>
          <a:xfrm>
            <a:off x="3154680" y="4846320"/>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2"/>
                </a:solidFill>
                <a:latin typeface="IBM Plex Mono" pitchFamily="34" charset="0"/>
                <a:ea typeface="IBM Plex Mono" pitchFamily="34" charset="-122"/>
                <a:cs typeface="IBM Plex Mono" pitchFamily="34" charset="-120"/>
              </a:rPr>
              <a:t>SOSTENIDA AL ALZA</a:t>
            </a:r>
            <a:endParaRPr lang="es-CL" sz="800" dirty="0"/>
          </a:p>
        </p:txBody>
      </p:sp>
      <p:sp>
        <p:nvSpPr>
          <p:cNvPr id="54" name="Text 52"/>
          <p:cNvSpPr txBox="1"/>
          <p:nvPr/>
        </p:nvSpPr>
        <p:spPr>
          <a:xfrm>
            <a:off x="4709160" y="4846320"/>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+9,7%; cuenta propia +14,3%</a:t>
            </a:r>
            <a:endParaRPr lang="es-CL" sz="1200" dirty="0"/>
          </a:p>
        </p:txBody>
      </p:sp>
      <p:sp>
        <p:nvSpPr>
          <p:cNvPr id="55" name="Shape 53"/>
          <p:cNvSpPr/>
          <p:nvPr/>
        </p:nvSpPr>
        <p:spPr>
          <a:xfrm>
            <a:off x="548640" y="5294376"/>
            <a:ext cx="7452360" cy="0"/>
          </a:xfrm>
          <a:prstGeom prst="line">
            <a:avLst/>
          </a:prstGeom>
          <a:noFill/>
          <a:ln w="9525">
            <a:solidFill>
              <a:schemeClr val="accent5"/>
            </a:solidFill>
            <a:prstDash val="solid"/>
          </a:ln>
        </p:spPr>
      </p:sp>
      <p:sp>
        <p:nvSpPr>
          <p:cNvPr id="56" name="Text 54"/>
          <p:cNvSpPr txBox="1"/>
          <p:nvPr/>
        </p:nvSpPr>
        <p:spPr>
          <a:xfrm>
            <a:off x="548640" y="5294376"/>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Conducta de compra</a:t>
            </a:r>
            <a:endParaRPr lang="es-CL" sz="1350" dirty="0"/>
          </a:p>
        </p:txBody>
      </p:sp>
      <p:sp>
        <p:nvSpPr>
          <p:cNvPr id="57" name="Shape 55"/>
          <p:cNvSpPr/>
          <p:nvPr/>
        </p:nvSpPr>
        <p:spPr>
          <a:xfrm>
            <a:off x="2468880" y="5463540"/>
            <a:ext cx="118872" cy="118872"/>
          </a:xfrm>
          <a:prstGeom prst="rect">
            <a:avLst/>
          </a:prstGeom>
          <a:solidFill>
            <a:schemeClr val="accent2"/>
          </a:solidFill>
          <a:ln w="6350">
            <a:solidFill>
              <a:schemeClr val="accent2"/>
            </a:solidFill>
            <a:prstDash val="solid"/>
          </a:ln>
        </p:spPr>
      </p:sp>
      <p:sp>
        <p:nvSpPr>
          <p:cNvPr id="58" name="Shape 56"/>
          <p:cNvSpPr/>
          <p:nvPr/>
        </p:nvSpPr>
        <p:spPr>
          <a:xfrm>
            <a:off x="2624328" y="5463540"/>
            <a:ext cx="118872" cy="118872"/>
          </a:xfrm>
          <a:prstGeom prst="rect">
            <a:avLst/>
          </a:prstGeom>
          <a:solidFill>
            <a:schemeClr val="accent6"/>
          </a:solidFill>
          <a:ln w="6350">
            <a:solidFill>
              <a:schemeClr val="accent5"/>
            </a:solidFill>
            <a:prstDash val="solid"/>
          </a:ln>
        </p:spPr>
      </p:sp>
      <p:sp>
        <p:nvSpPr>
          <p:cNvPr id="59" name="Shape 57"/>
          <p:cNvSpPr/>
          <p:nvPr/>
        </p:nvSpPr>
        <p:spPr>
          <a:xfrm>
            <a:off x="2779776" y="5463540"/>
            <a:ext cx="118872" cy="118872"/>
          </a:xfrm>
          <a:prstGeom prst="rect">
            <a:avLst/>
          </a:prstGeom>
          <a:solidFill>
            <a:schemeClr val="accent6"/>
          </a:solidFill>
          <a:ln w="6350">
            <a:solidFill>
              <a:schemeClr val="accent5"/>
            </a:solidFill>
            <a:prstDash val="solid"/>
          </a:ln>
        </p:spPr>
      </p:sp>
      <p:sp>
        <p:nvSpPr>
          <p:cNvPr id="60" name="Shape 58"/>
          <p:cNvSpPr/>
          <p:nvPr/>
        </p:nvSpPr>
        <p:spPr>
          <a:xfrm>
            <a:off x="2935224" y="5463540"/>
            <a:ext cx="118872" cy="118872"/>
          </a:xfrm>
          <a:prstGeom prst="rect">
            <a:avLst/>
          </a:prstGeom>
          <a:solidFill>
            <a:schemeClr val="accent6"/>
          </a:solidFill>
          <a:ln w="6350">
            <a:solidFill>
              <a:schemeClr val="accent5"/>
            </a:solidFill>
            <a:prstDash val="solid"/>
          </a:ln>
        </p:spPr>
      </p:sp>
      <p:sp>
        <p:nvSpPr>
          <p:cNvPr id="61" name="Text 59"/>
          <p:cNvSpPr txBox="1"/>
          <p:nvPr/>
        </p:nvSpPr>
        <p:spPr>
          <a:xfrm>
            <a:off x="3154680" y="5294376"/>
            <a:ext cx="1554480" cy="448056"/>
          </a:xfrm>
          <a:prstGeom prst="rect">
            <a:avLst/>
          </a:prstGeom>
          <a:noFill/>
          <a:ln/>
        </p:spPr>
        <p:txBody>
          <a:bodyPr wrap="square" lIns="0" tIns="0" rIns="0" bIns="0" rtlCol="0" anchor="ctr"/>
          <a:lstStyle/>
          <a:p>
            <a:pPr indent="0" marL="0">
              <a:buNone/>
            </a:pPr>
            <a:r>
              <a:rPr lang="es-CL" altLang="en-US" sz="800" spc="80" kern="0" dirty="0">
                <a:solidFill>
                  <a:schemeClr val="accent2"/>
                </a:solidFill>
                <a:latin typeface="IBM Plex Mono" pitchFamily="34" charset="0"/>
                <a:ea typeface="IBM Plex Mono" pitchFamily="34" charset="-122"/>
                <a:cs typeface="IBM Plex Mono" pitchFamily="34" charset="-120"/>
              </a:rPr>
              <a:t>LENTA Y ESTABLE</a:t>
            </a:r>
            <a:endParaRPr lang="es-CL" sz="800" dirty="0"/>
          </a:p>
        </p:txBody>
      </p:sp>
      <p:sp>
        <p:nvSpPr>
          <p:cNvPr id="62" name="Text 60"/>
          <p:cNvSpPr txBox="1"/>
          <p:nvPr/>
        </p:nvSpPr>
        <p:spPr>
          <a:xfrm>
            <a:off x="4709160" y="5294376"/>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3,5 usados por cada auto nuevo</a:t>
            </a:r>
            <a:endParaRPr lang="es-CL" sz="1200" dirty="0"/>
          </a:p>
        </p:txBody>
      </p:sp>
      <p:sp>
        <p:nvSpPr>
          <p:cNvPr id="63" name="Shape 61"/>
          <p:cNvSpPr/>
          <p:nvPr/>
        </p:nvSpPr>
        <p:spPr>
          <a:xfrm>
            <a:off x="548640" y="5742432"/>
            <a:ext cx="7452360" cy="0"/>
          </a:xfrm>
          <a:prstGeom prst="line">
            <a:avLst/>
          </a:prstGeom>
          <a:noFill/>
          <a:ln w="9525">
            <a:solidFill>
              <a:schemeClr val="accent5"/>
            </a:solidFill>
            <a:prstDash val="solid"/>
          </a:ln>
        </p:spPr>
      </p:sp>
      <p:sp>
        <p:nvSpPr>
          <p:cNvPr id="64" name="Text 62"/>
          <p:cNvSpPr txBox="1"/>
          <p:nvPr/>
        </p:nvSpPr>
        <p:spPr>
          <a:xfrm>
            <a:off x="548640" y="5742432"/>
            <a:ext cx="1874520" cy="448056"/>
          </a:xfrm>
          <a:prstGeom prst="rect">
            <a:avLst/>
          </a:prstGeom>
          <a:noFill/>
          <a:ln/>
        </p:spPr>
        <p:txBody>
          <a:bodyPr wrap="square" lIns="0" tIns="0" rIns="0" bIns="0" rtlCol="0" anchor="ctr"/>
          <a:lstStyle/>
          <a:p>
            <a:pPr indent="0" marL="0">
              <a:buNone/>
            </a:pPr>
            <a:r>
              <a:rPr lang="es-CL" altLang="en-US" sz="1350" dirty="0">
                <a:solidFill>
                  <a:schemeClr val="tx1"/>
                </a:solidFill>
                <a:latin typeface="Figtree" pitchFamily="34" charset="0"/>
                <a:ea typeface="Figtree" pitchFamily="34" charset="-122"/>
                <a:cs typeface="Figtree" pitchFamily="34" charset="-120"/>
              </a:rPr>
              <a:t>Carga eléctrica</a:t>
            </a:r>
            <a:endParaRPr lang="es-CL" sz="1350" dirty="0"/>
          </a:p>
        </p:txBody>
      </p:sp>
      <p:sp>
        <p:nvSpPr>
          <p:cNvPr id="65" name="Shape 63"/>
          <p:cNvSpPr/>
          <p:nvPr/>
        </p:nvSpPr>
        <p:spPr>
          <a:xfrm>
            <a:off x="2468880" y="5911596"/>
            <a:ext cx="118872" cy="118872"/>
          </a:xfrm>
          <a:prstGeom prst="rect">
            <a:avLst/>
          </a:prstGeom>
          <a:solidFill>
            <a:schemeClr val="tx2"/>
          </a:solidFill>
          <a:ln w="6350">
            <a:solidFill>
              <a:schemeClr val="tx2"/>
            </a:solidFill>
            <a:prstDash val="solid"/>
          </a:ln>
        </p:spPr>
      </p:sp>
      <p:sp>
        <p:nvSpPr>
          <p:cNvPr id="66" name="Shape 64"/>
          <p:cNvSpPr/>
          <p:nvPr/>
        </p:nvSpPr>
        <p:spPr>
          <a:xfrm>
            <a:off x="2624328" y="5911596"/>
            <a:ext cx="118872" cy="118872"/>
          </a:xfrm>
          <a:prstGeom prst="rect">
            <a:avLst/>
          </a:prstGeom>
          <a:solidFill>
            <a:schemeClr val="accent6"/>
          </a:solidFill>
          <a:ln w="6350">
            <a:solidFill>
              <a:schemeClr val="accent5"/>
            </a:solidFill>
            <a:prstDash val="solid"/>
          </a:ln>
        </p:spPr>
      </p:sp>
      <p:sp>
        <p:nvSpPr>
          <p:cNvPr id="67" name="Shape 65"/>
          <p:cNvSpPr/>
          <p:nvPr/>
        </p:nvSpPr>
        <p:spPr>
          <a:xfrm>
            <a:off x="2779776" y="5911596"/>
            <a:ext cx="118872" cy="118872"/>
          </a:xfrm>
          <a:prstGeom prst="rect">
            <a:avLst/>
          </a:prstGeom>
          <a:solidFill>
            <a:schemeClr val="accent6"/>
          </a:solidFill>
          <a:ln w="6350">
            <a:solidFill>
              <a:schemeClr val="accent5"/>
            </a:solidFill>
            <a:prstDash val="solid"/>
          </a:ln>
        </p:spPr>
      </p:sp>
      <p:sp>
        <p:nvSpPr>
          <p:cNvPr id="68" name="Shape 66"/>
          <p:cNvSpPr/>
          <p:nvPr/>
        </p:nvSpPr>
        <p:spPr>
          <a:xfrm>
            <a:off x="2935224" y="5911596"/>
            <a:ext cx="118872" cy="118872"/>
          </a:xfrm>
          <a:prstGeom prst="rect">
            <a:avLst/>
          </a:prstGeom>
          <a:solidFill>
            <a:schemeClr val="accent6"/>
          </a:solidFill>
          <a:ln w="6350">
            <a:solidFill>
              <a:schemeClr val="accent5"/>
            </a:solidFill>
            <a:prstDash val="solid"/>
          </a:ln>
        </p:spPr>
      </p:sp>
      <p:sp>
        <p:nvSpPr>
          <p:cNvPr id="69" name="Text 67"/>
          <p:cNvSpPr txBox="1"/>
          <p:nvPr/>
        </p:nvSpPr>
        <p:spPr>
          <a:xfrm>
            <a:off x="3154680" y="5742432"/>
            <a:ext cx="1554480" cy="448056"/>
          </a:xfrm>
          <a:prstGeom prst="rect">
            <a:avLst/>
          </a:prstGeom>
          <a:noFill/>
          <a:ln/>
        </p:spPr>
        <p:txBody>
          <a:bodyPr wrap="square" lIns="0" tIns="0" rIns="0" bIns="0" rtlCol="0" anchor="ctr"/>
          <a:lstStyle/>
          <a:p>
            <a:pPr indent="0" marL="0">
              <a:buNone/>
            </a:pPr>
            <a:r>
              <a:rPr lang="es-CL" altLang="en-US" sz="800" spc="80" kern="0" dirty="0">
                <a:solidFill>
                  <a:schemeClr val="tx2"/>
                </a:solidFill>
                <a:latin typeface="IBM Plex Mono" pitchFamily="34" charset="0"/>
                <a:ea typeface="IBM Plex Mono" pitchFamily="34" charset="-122"/>
                <a:cs typeface="IBM Plex Mono" pitchFamily="34" charset="-120"/>
              </a:rPr>
              <a:t>LENTA</a:t>
            </a:r>
            <a:endParaRPr lang="es-CL" sz="800" dirty="0"/>
          </a:p>
        </p:txBody>
      </p:sp>
      <p:sp>
        <p:nvSpPr>
          <p:cNvPr id="70" name="Text 68"/>
          <p:cNvSpPr txBox="1"/>
          <p:nvPr/>
        </p:nvSpPr>
        <p:spPr>
          <a:xfrm>
            <a:off x="4709160" y="5742432"/>
            <a:ext cx="3291840" cy="448056"/>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84 puntos nuevos en el primer cuatrimestre</a:t>
            </a:r>
            <a:endParaRPr lang="es-CL" sz="1200" dirty="0"/>
          </a:p>
        </p:txBody>
      </p:sp>
      <p:sp>
        <p:nvSpPr>
          <p:cNvPr id="71" name="Shape 69"/>
          <p:cNvSpPr/>
          <p:nvPr/>
        </p:nvSpPr>
        <p:spPr>
          <a:xfrm>
            <a:off x="548640" y="6190488"/>
            <a:ext cx="7452360" cy="0"/>
          </a:xfrm>
          <a:prstGeom prst="line">
            <a:avLst/>
          </a:prstGeom>
          <a:noFill/>
          <a:ln w="9525">
            <a:solidFill>
              <a:schemeClr val="accent5"/>
            </a:solidFill>
            <a:prstDash val="solid"/>
          </a:ln>
        </p:spPr>
      </p:sp>
      <p:sp>
        <p:nvSpPr>
          <p:cNvPr id="72" name="Shape 70"/>
          <p:cNvSpPr/>
          <p:nvPr/>
        </p:nvSpPr>
        <p:spPr>
          <a:xfrm>
            <a:off x="8412480" y="2331720"/>
            <a:ext cx="3230575" cy="3840480"/>
          </a:xfrm>
          <a:prstGeom prst="rect">
            <a:avLst/>
          </a:prstGeom>
          <a:solidFill>
            <a:schemeClr val="bg2"/>
          </a:solidFill>
          <a:ln w="9525">
            <a:solidFill>
              <a:schemeClr val="accent5"/>
            </a:solidFill>
            <a:prstDash val="solid"/>
          </a:ln>
        </p:spPr>
      </p:sp>
      <p:sp>
        <p:nvSpPr>
          <p:cNvPr id="73" name="Shape 71"/>
          <p:cNvSpPr/>
          <p:nvPr/>
        </p:nvSpPr>
        <p:spPr>
          <a:xfrm>
            <a:off x="8357616" y="2276856"/>
            <a:ext cx="155448" cy="0"/>
          </a:xfrm>
          <a:prstGeom prst="line">
            <a:avLst/>
          </a:prstGeom>
          <a:noFill/>
          <a:ln w="15875">
            <a:solidFill>
              <a:schemeClr val="accent1"/>
            </a:solidFill>
            <a:prstDash val="solid"/>
          </a:ln>
        </p:spPr>
      </p:sp>
      <p:sp>
        <p:nvSpPr>
          <p:cNvPr id="74" name="Shape 72"/>
          <p:cNvSpPr/>
          <p:nvPr/>
        </p:nvSpPr>
        <p:spPr>
          <a:xfrm>
            <a:off x="8357616" y="2276856"/>
            <a:ext cx="0" cy="155448"/>
          </a:xfrm>
          <a:prstGeom prst="line">
            <a:avLst/>
          </a:prstGeom>
          <a:noFill/>
          <a:ln w="15875">
            <a:solidFill>
              <a:schemeClr val="accent1"/>
            </a:solidFill>
            <a:prstDash val="solid"/>
          </a:ln>
        </p:spPr>
      </p:sp>
      <p:sp>
        <p:nvSpPr>
          <p:cNvPr id="75" name="Shape 73"/>
          <p:cNvSpPr/>
          <p:nvPr/>
        </p:nvSpPr>
        <p:spPr>
          <a:xfrm>
            <a:off x="11542471" y="2276856"/>
            <a:ext cx="155448" cy="0"/>
          </a:xfrm>
          <a:prstGeom prst="line">
            <a:avLst/>
          </a:prstGeom>
          <a:noFill/>
          <a:ln w="15875">
            <a:solidFill>
              <a:schemeClr val="accent1"/>
            </a:solidFill>
            <a:prstDash val="solid"/>
          </a:ln>
        </p:spPr>
      </p:sp>
      <p:sp>
        <p:nvSpPr>
          <p:cNvPr id="76" name="Shape 74"/>
          <p:cNvSpPr/>
          <p:nvPr/>
        </p:nvSpPr>
        <p:spPr>
          <a:xfrm>
            <a:off x="11697919" y="2276856"/>
            <a:ext cx="0" cy="155448"/>
          </a:xfrm>
          <a:prstGeom prst="line">
            <a:avLst/>
          </a:prstGeom>
          <a:noFill/>
          <a:ln w="15875">
            <a:solidFill>
              <a:schemeClr val="accent1"/>
            </a:solidFill>
            <a:prstDash val="solid"/>
          </a:ln>
        </p:spPr>
      </p:sp>
      <p:sp>
        <p:nvSpPr>
          <p:cNvPr id="77" name="Shape 75"/>
          <p:cNvSpPr/>
          <p:nvPr/>
        </p:nvSpPr>
        <p:spPr>
          <a:xfrm>
            <a:off x="8357616" y="6227064"/>
            <a:ext cx="155448" cy="0"/>
          </a:xfrm>
          <a:prstGeom prst="line">
            <a:avLst/>
          </a:prstGeom>
          <a:noFill/>
          <a:ln w="15875">
            <a:solidFill>
              <a:schemeClr val="accent1"/>
            </a:solidFill>
            <a:prstDash val="solid"/>
          </a:ln>
        </p:spPr>
      </p:sp>
      <p:sp>
        <p:nvSpPr>
          <p:cNvPr id="78" name="Shape 76"/>
          <p:cNvSpPr/>
          <p:nvPr/>
        </p:nvSpPr>
        <p:spPr>
          <a:xfrm>
            <a:off x="8357616" y="6071616"/>
            <a:ext cx="0" cy="155448"/>
          </a:xfrm>
          <a:prstGeom prst="line">
            <a:avLst/>
          </a:prstGeom>
          <a:noFill/>
          <a:ln w="15875">
            <a:solidFill>
              <a:schemeClr val="accent1"/>
            </a:solidFill>
            <a:prstDash val="solid"/>
          </a:ln>
        </p:spPr>
      </p:sp>
      <p:sp>
        <p:nvSpPr>
          <p:cNvPr id="79" name="Shape 77"/>
          <p:cNvSpPr/>
          <p:nvPr/>
        </p:nvSpPr>
        <p:spPr>
          <a:xfrm>
            <a:off x="11542471" y="6227064"/>
            <a:ext cx="155448" cy="0"/>
          </a:xfrm>
          <a:prstGeom prst="line">
            <a:avLst/>
          </a:prstGeom>
          <a:noFill/>
          <a:ln w="15875">
            <a:solidFill>
              <a:schemeClr val="accent1"/>
            </a:solidFill>
            <a:prstDash val="solid"/>
          </a:ln>
        </p:spPr>
      </p:sp>
      <p:sp>
        <p:nvSpPr>
          <p:cNvPr id="80" name="Shape 78"/>
          <p:cNvSpPr/>
          <p:nvPr/>
        </p:nvSpPr>
        <p:spPr>
          <a:xfrm>
            <a:off x="11697919" y="6071616"/>
            <a:ext cx="0" cy="155448"/>
          </a:xfrm>
          <a:prstGeom prst="line">
            <a:avLst/>
          </a:prstGeom>
          <a:noFill/>
          <a:ln w="15875">
            <a:solidFill>
              <a:schemeClr val="accent1"/>
            </a:solidFill>
            <a:prstDash val="solid"/>
          </a:ln>
        </p:spPr>
      </p:sp>
      <p:sp>
        <p:nvSpPr>
          <p:cNvPr id="81" name="Text 79"/>
          <p:cNvSpPr txBox="1"/>
          <p:nvPr/>
        </p:nvSpPr>
        <p:spPr>
          <a:xfrm>
            <a:off x="8641080" y="2514600"/>
            <a:ext cx="2773375"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NICHO NO CUBIERTO</a:t>
            </a:r>
            <a:endParaRPr lang="es-CL" sz="900" dirty="0"/>
          </a:p>
        </p:txBody>
      </p:sp>
      <p:sp>
        <p:nvSpPr>
          <p:cNvPr id="82" name="Text 80"/>
          <p:cNvSpPr txBox="1"/>
          <p:nvPr/>
        </p:nvSpPr>
        <p:spPr>
          <a:xfrm>
            <a:off x="8641080" y="2743200"/>
            <a:ext cx="2773375" cy="822960"/>
          </a:xfrm>
          <a:prstGeom prst="rect">
            <a:avLst/>
          </a:prstGeom>
          <a:noFill/>
          <a:ln/>
        </p:spPr>
        <p:txBody>
          <a:bodyPr wrap="square" lIns="0" tIns="0" rIns="0" bIns="0" rtlCol="0" anchor="b"/>
          <a:lstStyle/>
          <a:p>
            <a:pPr indent="0" marL="0">
              <a:buNone/>
            </a:pPr>
            <a:r>
              <a:rPr lang="es-CL" altLang="en-US" sz="5600" b="1" dirty="0">
                <a:solidFill>
                  <a:schemeClr val="accent1"/>
                </a:solidFill>
                <a:latin typeface="Archivo Condensed" pitchFamily="34" charset="0"/>
                <a:ea typeface="Archivo Condensed" pitchFamily="34" charset="-122"/>
                <a:cs typeface="Archivo Condensed" pitchFamily="34" charset="-120"/>
              </a:rPr>
              <a:t>+7 AÑOS</a:t>
            </a:r>
            <a:endParaRPr lang="es-CL" sz="5600" dirty="0"/>
          </a:p>
        </p:txBody>
      </p:sp>
      <p:sp>
        <p:nvSpPr>
          <p:cNvPr id="83" name="Text 81"/>
          <p:cNvSpPr txBox="1"/>
          <p:nvPr/>
        </p:nvSpPr>
        <p:spPr>
          <a:xfrm>
            <a:off x="8641080" y="3611880"/>
            <a:ext cx="2773375" cy="868680"/>
          </a:xfrm>
          <a:prstGeom prst="rect">
            <a:avLst/>
          </a:prstGeom>
          <a:noFill/>
          <a:ln/>
        </p:spPr>
        <p:txBody>
          <a:bodyPr wrap="square" lIns="0" tIns="0" rIns="0" bIns="0" rtlCol="0" anchor="t"/>
          <a:lstStyle/>
          <a:p>
            <a:pPr indent="0" marL="0">
              <a:buNone/>
            </a:pPr>
            <a:r>
              <a:rPr lang="es-CL" altLang="en-US" sz="1350" dirty="0">
                <a:solidFill>
                  <a:schemeClr val="tx1"/>
                </a:solidFill>
                <a:latin typeface="Figtree" pitchFamily="34" charset="0"/>
                <a:ea typeface="Figtree" pitchFamily="34" charset="-122"/>
                <a:cs typeface="Figtree" pitchFamily="34" charset="-120"/>
              </a:rPr>
              <a:t>Vehículos que no pueden convertirse a gas: a su dueño solo le queda reemplazarlos o seguir igual.</a:t>
            </a:r>
            <a:endParaRPr lang="es-CL" sz="1350" dirty="0"/>
          </a:p>
        </p:txBody>
      </p:sp>
      <p:sp>
        <p:nvSpPr>
          <p:cNvPr id="84" name="Shape 82"/>
          <p:cNvSpPr/>
          <p:nvPr/>
        </p:nvSpPr>
        <p:spPr>
          <a:xfrm>
            <a:off x="8641080" y="4572000"/>
            <a:ext cx="2773375" cy="0"/>
          </a:xfrm>
          <a:prstGeom prst="line">
            <a:avLst/>
          </a:prstGeom>
          <a:noFill/>
          <a:ln w="9525">
            <a:solidFill>
              <a:schemeClr val="accent5"/>
            </a:solidFill>
            <a:prstDash val="solid"/>
          </a:ln>
        </p:spPr>
      </p:sp>
      <p:sp>
        <p:nvSpPr>
          <p:cNvPr id="85" name="Text 83"/>
          <p:cNvSpPr txBox="1"/>
          <p:nvPr/>
        </p:nvSpPr>
        <p:spPr>
          <a:xfrm>
            <a:off x="8641080" y="4690872"/>
            <a:ext cx="2773375" cy="219456"/>
          </a:xfrm>
          <a:prstGeom prst="rect">
            <a:avLst/>
          </a:prstGeom>
          <a:noFill/>
          <a:ln/>
        </p:spPr>
        <p:txBody>
          <a:bodyPr wrap="square" lIns="0" tIns="0" rIns="0" bIns="0" rtlCol="0" anchor="t"/>
          <a:lstStyle/>
          <a:p>
            <a:pPr indent="0" marL="0">
              <a:buNone/>
            </a:pPr>
            <a:r>
              <a:rPr lang="es-CL" altLang="en-US" sz="850" spc="150" kern="0" dirty="0">
                <a:solidFill>
                  <a:schemeClr val="tx1"/>
                </a:solidFill>
                <a:latin typeface="IBM Plex Mono" pitchFamily="34" charset="0"/>
                <a:ea typeface="IBM Plex Mono" pitchFamily="34" charset="-122"/>
                <a:cs typeface="IBM Plex Mono" pitchFamily="34" charset="-120"/>
              </a:rPr>
              <a:t>EFECTO DE SEGUNDO ORDEN</a:t>
            </a:r>
            <a:endParaRPr lang="es-CL" sz="850" dirty="0"/>
          </a:p>
        </p:txBody>
      </p:sp>
      <p:sp>
        <p:nvSpPr>
          <p:cNvPr id="86" name="Text 84"/>
          <p:cNvSpPr txBox="1"/>
          <p:nvPr/>
        </p:nvSpPr>
        <p:spPr>
          <a:xfrm>
            <a:off x="8641080" y="4965192"/>
            <a:ext cx="2773375" cy="1051560"/>
          </a:xfrm>
          <a:prstGeom prst="rect">
            <a:avLst/>
          </a:prstGeom>
          <a:noFill/>
          <a:ln/>
        </p:spPr>
        <p:txBody>
          <a:bodyPr wrap="square" lIns="0" tIns="0" rIns="0" bIns="0" rtlCol="0" anchor="t"/>
          <a:lstStyle/>
          <a:p>
            <a:pPr indent="0" marL="0">
              <a:buNone/>
            </a:pPr>
            <a:r>
              <a:rPr lang="es-CL" altLang="en-US" sz="1250" dirty="0">
                <a:solidFill>
                  <a:schemeClr val="tx2"/>
                </a:solidFill>
                <a:latin typeface="Figtree" pitchFamily="34" charset="0"/>
                <a:ea typeface="Figtree" pitchFamily="34" charset="-122"/>
                <a:cs typeface="Figtree" pitchFamily="34" charset="-120"/>
              </a:rPr>
              <a:t>La meta 2035 de ventas cero emisiones recae sobre autos nuevos: el parque usado sigue envejeciendo y el nicho crece.</a:t>
            </a:r>
            <a:endParaRPr lang="es-CL" sz="12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A5</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ANÁLISIS EXTERNO · IMPACTO E INCERTIDUMBRE</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CINCO FACTORES CRÍTICOS,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todos inciertos.</a:t>
            </a:r>
            <a:endParaRPr lang="en-US" sz="3000" dirty="0"/>
          </a:p>
        </p:txBody>
      </p:sp>
      <p:sp>
        <p:nvSpPr>
          <p:cNvPr id="4" name="Shape 2"/>
          <p:cNvSpPr/>
          <p:nvPr/>
        </p:nvSpPr>
        <p:spPr>
          <a:xfrm>
            <a:off x="1280160" y="2286000"/>
            <a:ext cx="5099152" cy="1755648"/>
          </a:xfrm>
          <a:prstGeom prst="rect">
            <a:avLst/>
          </a:prstGeom>
          <a:solidFill>
            <a:schemeClr val="bg2"/>
          </a:solidFill>
          <a:ln w="9525">
            <a:solidFill>
              <a:schemeClr val="accent5"/>
            </a:solidFill>
            <a:prstDash val="solid"/>
          </a:ln>
        </p:spPr>
      </p:sp>
      <p:sp>
        <p:nvSpPr>
          <p:cNvPr id="5" name="Text 3"/>
          <p:cNvSpPr txBox="1"/>
          <p:nvPr/>
        </p:nvSpPr>
        <p:spPr>
          <a:xfrm>
            <a:off x="1508760" y="2414016"/>
            <a:ext cx="2355952" cy="310896"/>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Monitorear</a:t>
            </a:r>
            <a:endParaRPr lang="es-CL" sz="1600" dirty="0"/>
          </a:p>
        </p:txBody>
      </p:sp>
      <p:sp>
        <p:nvSpPr>
          <p:cNvPr id="6" name="Text 4"/>
          <p:cNvSpPr txBox="1"/>
          <p:nvPr/>
        </p:nvSpPr>
        <p:spPr>
          <a:xfrm>
            <a:off x="3864712" y="2414016"/>
            <a:ext cx="2286000" cy="310896"/>
          </a:xfrm>
          <a:prstGeom prst="rect">
            <a:avLst/>
          </a:prstGeom>
          <a:noFill/>
          <a:ln/>
        </p:spPr>
        <p:txBody>
          <a:bodyPr wrap="square" lIns="0" tIns="0" rIns="0" bIns="0" rtlCol="0" anchor="ctr"/>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ANÁLISIS DE EVENTOS</a:t>
            </a:r>
            <a:endParaRPr lang="es-CL" sz="800" dirty="0"/>
          </a:p>
        </p:txBody>
      </p:sp>
      <p:sp>
        <p:nvSpPr>
          <p:cNvPr id="7" name="Shape 5"/>
          <p:cNvSpPr/>
          <p:nvPr/>
        </p:nvSpPr>
        <p:spPr>
          <a:xfrm>
            <a:off x="1508760" y="2884932"/>
            <a:ext cx="54864" cy="54864"/>
          </a:xfrm>
          <a:prstGeom prst="rect">
            <a:avLst/>
          </a:prstGeom>
          <a:solidFill>
            <a:schemeClr val="tx2"/>
          </a:solidFill>
          <a:ln/>
        </p:spPr>
      </p:sp>
      <p:sp>
        <p:nvSpPr>
          <p:cNvPr id="8" name="Text 6"/>
          <p:cNvSpPr txBox="1"/>
          <p:nvPr/>
        </p:nvSpPr>
        <p:spPr>
          <a:xfrm>
            <a:off x="1673352" y="279806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Recuperación del PIB 2027</a:t>
            </a:r>
            <a:endParaRPr lang="es-CL" sz="1250" dirty="0"/>
          </a:p>
        </p:txBody>
      </p:sp>
      <p:sp>
        <p:nvSpPr>
          <p:cNvPr id="9" name="Shape 7"/>
          <p:cNvSpPr/>
          <p:nvPr/>
        </p:nvSpPr>
        <p:spPr>
          <a:xfrm>
            <a:off x="1508760" y="3113532"/>
            <a:ext cx="54864" cy="54864"/>
          </a:xfrm>
          <a:prstGeom prst="rect">
            <a:avLst/>
          </a:prstGeom>
          <a:solidFill>
            <a:schemeClr val="tx2"/>
          </a:solidFill>
          <a:ln/>
        </p:spPr>
      </p:sp>
      <p:sp>
        <p:nvSpPr>
          <p:cNvPr id="10" name="Text 8"/>
          <p:cNvSpPr txBox="1"/>
          <p:nvPr/>
        </p:nvSpPr>
        <p:spPr>
          <a:xfrm>
            <a:off x="1673352" y="302666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Ley N° 21.553 (registro de conductores)</a:t>
            </a:r>
            <a:endParaRPr lang="es-CL" sz="1250" dirty="0"/>
          </a:p>
        </p:txBody>
      </p:sp>
      <p:sp>
        <p:nvSpPr>
          <p:cNvPr id="11" name="Shape 9"/>
          <p:cNvSpPr/>
          <p:nvPr/>
        </p:nvSpPr>
        <p:spPr>
          <a:xfrm>
            <a:off x="1508760" y="3342132"/>
            <a:ext cx="54864" cy="54864"/>
          </a:xfrm>
          <a:prstGeom prst="rect">
            <a:avLst/>
          </a:prstGeom>
          <a:solidFill>
            <a:schemeClr val="tx2"/>
          </a:solidFill>
          <a:ln/>
        </p:spPr>
      </p:sp>
      <p:sp>
        <p:nvSpPr>
          <p:cNvPr id="12" name="Text 10"/>
          <p:cNvSpPr txBox="1"/>
          <p:nvPr/>
        </p:nvSpPr>
        <p:spPr>
          <a:xfrm>
            <a:off x="1673352" y="325526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TPM y costo del crédito</a:t>
            </a:r>
            <a:endParaRPr lang="es-CL" sz="1250" dirty="0"/>
          </a:p>
        </p:txBody>
      </p:sp>
      <p:sp>
        <p:nvSpPr>
          <p:cNvPr id="13" name="Shape 11"/>
          <p:cNvSpPr/>
          <p:nvPr/>
        </p:nvSpPr>
        <p:spPr>
          <a:xfrm>
            <a:off x="6543904" y="2286000"/>
            <a:ext cx="5099152" cy="1755648"/>
          </a:xfrm>
          <a:prstGeom prst="rect">
            <a:avLst/>
          </a:prstGeom>
          <a:solidFill>
            <a:srgbClr val="0B1A22"/>
          </a:solidFill>
          <a:ln w="15875">
            <a:solidFill>
              <a:schemeClr val="accent1"/>
            </a:solidFill>
            <a:prstDash val="solid"/>
          </a:ln>
        </p:spPr>
      </p:sp>
      <p:sp>
        <p:nvSpPr>
          <p:cNvPr id="14" name="Shape 12"/>
          <p:cNvSpPr/>
          <p:nvPr/>
        </p:nvSpPr>
        <p:spPr>
          <a:xfrm>
            <a:off x="6489040" y="2231136"/>
            <a:ext cx="155448" cy="0"/>
          </a:xfrm>
          <a:prstGeom prst="line">
            <a:avLst/>
          </a:prstGeom>
          <a:noFill/>
          <a:ln w="15875">
            <a:solidFill>
              <a:schemeClr val="accent1"/>
            </a:solidFill>
            <a:prstDash val="solid"/>
          </a:ln>
        </p:spPr>
      </p:sp>
      <p:sp>
        <p:nvSpPr>
          <p:cNvPr id="15" name="Shape 13"/>
          <p:cNvSpPr/>
          <p:nvPr/>
        </p:nvSpPr>
        <p:spPr>
          <a:xfrm>
            <a:off x="6489040" y="2231136"/>
            <a:ext cx="0" cy="155448"/>
          </a:xfrm>
          <a:prstGeom prst="line">
            <a:avLst/>
          </a:prstGeom>
          <a:noFill/>
          <a:ln w="15875">
            <a:solidFill>
              <a:schemeClr val="accent1"/>
            </a:solidFill>
            <a:prstDash val="solid"/>
          </a:ln>
        </p:spPr>
      </p:sp>
      <p:sp>
        <p:nvSpPr>
          <p:cNvPr id="16" name="Shape 14"/>
          <p:cNvSpPr/>
          <p:nvPr/>
        </p:nvSpPr>
        <p:spPr>
          <a:xfrm>
            <a:off x="11542471" y="2231136"/>
            <a:ext cx="155448" cy="0"/>
          </a:xfrm>
          <a:prstGeom prst="line">
            <a:avLst/>
          </a:prstGeom>
          <a:noFill/>
          <a:ln w="15875">
            <a:solidFill>
              <a:schemeClr val="accent1"/>
            </a:solidFill>
            <a:prstDash val="solid"/>
          </a:ln>
        </p:spPr>
      </p:sp>
      <p:sp>
        <p:nvSpPr>
          <p:cNvPr id="17" name="Shape 15"/>
          <p:cNvSpPr/>
          <p:nvPr/>
        </p:nvSpPr>
        <p:spPr>
          <a:xfrm>
            <a:off x="11697919" y="2231136"/>
            <a:ext cx="0" cy="155448"/>
          </a:xfrm>
          <a:prstGeom prst="line">
            <a:avLst/>
          </a:prstGeom>
          <a:noFill/>
          <a:ln w="15875">
            <a:solidFill>
              <a:schemeClr val="accent1"/>
            </a:solidFill>
            <a:prstDash val="solid"/>
          </a:ln>
        </p:spPr>
      </p:sp>
      <p:sp>
        <p:nvSpPr>
          <p:cNvPr id="18" name="Shape 16"/>
          <p:cNvSpPr/>
          <p:nvPr/>
        </p:nvSpPr>
        <p:spPr>
          <a:xfrm>
            <a:off x="6489040" y="4096512"/>
            <a:ext cx="155448" cy="0"/>
          </a:xfrm>
          <a:prstGeom prst="line">
            <a:avLst/>
          </a:prstGeom>
          <a:noFill/>
          <a:ln w="15875">
            <a:solidFill>
              <a:schemeClr val="accent1"/>
            </a:solidFill>
            <a:prstDash val="solid"/>
          </a:ln>
        </p:spPr>
      </p:sp>
      <p:sp>
        <p:nvSpPr>
          <p:cNvPr id="19" name="Shape 17"/>
          <p:cNvSpPr/>
          <p:nvPr/>
        </p:nvSpPr>
        <p:spPr>
          <a:xfrm>
            <a:off x="6489040" y="3941064"/>
            <a:ext cx="0" cy="155448"/>
          </a:xfrm>
          <a:prstGeom prst="line">
            <a:avLst/>
          </a:prstGeom>
          <a:noFill/>
          <a:ln w="15875">
            <a:solidFill>
              <a:schemeClr val="accent1"/>
            </a:solidFill>
            <a:prstDash val="solid"/>
          </a:ln>
        </p:spPr>
      </p:sp>
      <p:sp>
        <p:nvSpPr>
          <p:cNvPr id="20" name="Shape 18"/>
          <p:cNvSpPr/>
          <p:nvPr/>
        </p:nvSpPr>
        <p:spPr>
          <a:xfrm>
            <a:off x="11542471" y="4096512"/>
            <a:ext cx="155448" cy="0"/>
          </a:xfrm>
          <a:prstGeom prst="line">
            <a:avLst/>
          </a:prstGeom>
          <a:noFill/>
          <a:ln w="15875">
            <a:solidFill>
              <a:schemeClr val="accent1"/>
            </a:solidFill>
            <a:prstDash val="solid"/>
          </a:ln>
        </p:spPr>
      </p:sp>
      <p:sp>
        <p:nvSpPr>
          <p:cNvPr id="21" name="Shape 19"/>
          <p:cNvSpPr/>
          <p:nvPr/>
        </p:nvSpPr>
        <p:spPr>
          <a:xfrm>
            <a:off x="11697919" y="3941064"/>
            <a:ext cx="0" cy="155448"/>
          </a:xfrm>
          <a:prstGeom prst="line">
            <a:avLst/>
          </a:prstGeom>
          <a:noFill/>
          <a:ln w="15875">
            <a:solidFill>
              <a:schemeClr val="accent1"/>
            </a:solidFill>
            <a:prstDash val="solid"/>
          </a:ln>
        </p:spPr>
      </p:sp>
      <p:sp>
        <p:nvSpPr>
          <p:cNvPr id="22" name="Text 20"/>
          <p:cNvSpPr txBox="1"/>
          <p:nvPr/>
        </p:nvSpPr>
        <p:spPr>
          <a:xfrm>
            <a:off x="6772504" y="2414016"/>
            <a:ext cx="2355952" cy="310896"/>
          </a:xfrm>
          <a:prstGeom prst="rect">
            <a:avLst/>
          </a:prstGeom>
          <a:noFill/>
          <a:ln/>
        </p:spPr>
        <p:txBody>
          <a:bodyPr wrap="square" lIns="0" tIns="0" rIns="0" bIns="0" rtlCol="0" anchor="ctr"/>
          <a:lstStyle/>
          <a:p>
            <a:pPr indent="0" marL="0">
              <a:buNone/>
            </a:pPr>
            <a:r>
              <a:rPr lang="es-CL" altLang="en-US" sz="1600" b="1" dirty="0">
                <a:solidFill>
                  <a:schemeClr val="accent1"/>
                </a:solidFill>
                <a:latin typeface="Figtree" pitchFamily="34" charset="0"/>
                <a:ea typeface="Figtree" pitchFamily="34" charset="-122"/>
                <a:cs typeface="Figtree" pitchFamily="34" charset="-120"/>
              </a:rPr>
              <a:t>Factores críticos</a:t>
            </a:r>
            <a:endParaRPr lang="es-CL" sz="1600" dirty="0"/>
          </a:p>
        </p:txBody>
      </p:sp>
      <p:sp>
        <p:nvSpPr>
          <p:cNvPr id="23" name="Text 21"/>
          <p:cNvSpPr txBox="1"/>
          <p:nvPr/>
        </p:nvSpPr>
        <p:spPr>
          <a:xfrm>
            <a:off x="9128455" y="2414016"/>
            <a:ext cx="2286000" cy="310896"/>
          </a:xfrm>
          <a:prstGeom prst="rect">
            <a:avLst/>
          </a:prstGeom>
          <a:noFill/>
          <a:ln/>
        </p:spPr>
        <p:txBody>
          <a:bodyPr wrap="square" lIns="0" tIns="0" rIns="0" bIns="0" rtlCol="0" anchor="ctr"/>
          <a:lstStyle/>
          <a:p>
            <a:pPr algn="r" indent="0" marL="0">
              <a:buNone/>
            </a:pPr>
            <a:r>
              <a:rPr lang="es-CL" altLang="en-US" sz="800" spc="150" kern="0" dirty="0">
                <a:solidFill>
                  <a:schemeClr val="accent1"/>
                </a:solidFill>
                <a:latin typeface="IBM Plex Mono" pitchFamily="34" charset="0"/>
                <a:ea typeface="IBM Plex Mono" pitchFamily="34" charset="-122"/>
                <a:cs typeface="IBM Plex Mono" pitchFamily="34" charset="-120"/>
              </a:rPr>
              <a:t>ESCENARIOS ALTERNOS</a:t>
            </a:r>
            <a:endParaRPr lang="es-CL" sz="800" dirty="0"/>
          </a:p>
        </p:txBody>
      </p:sp>
      <p:sp>
        <p:nvSpPr>
          <p:cNvPr id="24" name="Shape 22"/>
          <p:cNvSpPr/>
          <p:nvPr/>
        </p:nvSpPr>
        <p:spPr>
          <a:xfrm>
            <a:off x="6772504" y="2884932"/>
            <a:ext cx="54864" cy="54864"/>
          </a:xfrm>
          <a:prstGeom prst="rect">
            <a:avLst/>
          </a:prstGeom>
          <a:solidFill>
            <a:schemeClr val="accent1"/>
          </a:solidFill>
          <a:ln/>
        </p:spPr>
      </p:sp>
      <p:sp>
        <p:nvSpPr>
          <p:cNvPr id="25" name="Text 23"/>
          <p:cNvSpPr txBox="1"/>
          <p:nvPr/>
        </p:nvSpPr>
        <p:spPr>
          <a:xfrm>
            <a:off x="6937096" y="2798064"/>
            <a:ext cx="4459072" cy="228600"/>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Reglamento de la Ley N° 21.793</a:t>
            </a:r>
            <a:endParaRPr lang="es-CL" sz="1250" dirty="0"/>
          </a:p>
        </p:txBody>
      </p:sp>
      <p:sp>
        <p:nvSpPr>
          <p:cNvPr id="26" name="Shape 24"/>
          <p:cNvSpPr/>
          <p:nvPr/>
        </p:nvSpPr>
        <p:spPr>
          <a:xfrm>
            <a:off x="6772504" y="3113532"/>
            <a:ext cx="54864" cy="54864"/>
          </a:xfrm>
          <a:prstGeom prst="rect">
            <a:avLst/>
          </a:prstGeom>
          <a:solidFill>
            <a:schemeClr val="accent1"/>
          </a:solidFill>
          <a:ln/>
        </p:spPr>
      </p:sp>
      <p:sp>
        <p:nvSpPr>
          <p:cNvPr id="27" name="Text 25"/>
          <p:cNvSpPr txBox="1"/>
          <p:nvPr/>
        </p:nvSpPr>
        <p:spPr>
          <a:xfrm>
            <a:off x="6937096" y="3026664"/>
            <a:ext cx="4459072" cy="228600"/>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Reconocimiento de aseguradoras y plantas</a:t>
            </a:r>
            <a:endParaRPr lang="es-CL" sz="1250" dirty="0"/>
          </a:p>
        </p:txBody>
      </p:sp>
      <p:sp>
        <p:nvSpPr>
          <p:cNvPr id="28" name="Shape 26"/>
          <p:cNvSpPr/>
          <p:nvPr/>
        </p:nvSpPr>
        <p:spPr>
          <a:xfrm>
            <a:off x="6772504" y="3342132"/>
            <a:ext cx="54864" cy="54864"/>
          </a:xfrm>
          <a:prstGeom prst="rect">
            <a:avLst/>
          </a:prstGeom>
          <a:solidFill>
            <a:schemeClr val="accent1"/>
          </a:solidFill>
          <a:ln/>
        </p:spPr>
      </p:sp>
      <p:sp>
        <p:nvSpPr>
          <p:cNvPr id="29" name="Text 27"/>
          <p:cNvSpPr txBox="1"/>
          <p:nvPr/>
        </p:nvSpPr>
        <p:spPr>
          <a:xfrm>
            <a:off x="6937096" y="3255264"/>
            <a:ext cx="4459072" cy="228600"/>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Precio de la bencina (volátil, MEPCO)</a:t>
            </a:r>
            <a:endParaRPr lang="es-CL" sz="1250" dirty="0"/>
          </a:p>
        </p:txBody>
      </p:sp>
      <p:sp>
        <p:nvSpPr>
          <p:cNvPr id="30" name="Shape 28"/>
          <p:cNvSpPr/>
          <p:nvPr/>
        </p:nvSpPr>
        <p:spPr>
          <a:xfrm>
            <a:off x="6772504" y="3570732"/>
            <a:ext cx="54864" cy="54864"/>
          </a:xfrm>
          <a:prstGeom prst="rect">
            <a:avLst/>
          </a:prstGeom>
          <a:solidFill>
            <a:schemeClr val="accent1"/>
          </a:solidFill>
          <a:ln/>
        </p:spPr>
      </p:sp>
      <p:sp>
        <p:nvSpPr>
          <p:cNvPr id="31" name="Text 29"/>
          <p:cNvSpPr txBox="1"/>
          <p:nvPr/>
        </p:nvSpPr>
        <p:spPr>
          <a:xfrm>
            <a:off x="6937096" y="3483864"/>
            <a:ext cx="4459072" cy="228600"/>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Tipo de cambio (kit 100% importado)</a:t>
            </a:r>
            <a:endParaRPr lang="es-CL" sz="1250" dirty="0"/>
          </a:p>
        </p:txBody>
      </p:sp>
      <p:sp>
        <p:nvSpPr>
          <p:cNvPr id="32" name="Shape 30"/>
          <p:cNvSpPr/>
          <p:nvPr/>
        </p:nvSpPr>
        <p:spPr>
          <a:xfrm>
            <a:off x="6772504" y="3799332"/>
            <a:ext cx="54864" cy="54864"/>
          </a:xfrm>
          <a:prstGeom prst="rect">
            <a:avLst/>
          </a:prstGeom>
          <a:solidFill>
            <a:schemeClr val="accent1"/>
          </a:solidFill>
          <a:ln/>
        </p:spPr>
      </p:sp>
      <p:sp>
        <p:nvSpPr>
          <p:cNvPr id="33" name="Text 31"/>
          <p:cNvSpPr txBox="1"/>
          <p:nvPr/>
        </p:nvSpPr>
        <p:spPr>
          <a:xfrm>
            <a:off x="6937096" y="3712464"/>
            <a:ext cx="4459072" cy="228600"/>
          </a:xfrm>
          <a:prstGeom prst="rect">
            <a:avLst/>
          </a:prstGeom>
          <a:noFill/>
          <a:ln/>
        </p:spPr>
        <p:txBody>
          <a:bodyPr wrap="square" lIns="0" tIns="0" rIns="0" bIns="0" rtlCol="0" anchor="ctr"/>
          <a:lstStyle/>
          <a:p>
            <a:pPr indent="0" marL="0">
              <a:buNone/>
            </a:pPr>
            <a:r>
              <a:rPr lang="es-CL" altLang="en-US" sz="1250" dirty="0">
                <a:solidFill>
                  <a:schemeClr val="tx1"/>
                </a:solidFill>
                <a:latin typeface="Figtree" pitchFamily="34" charset="0"/>
                <a:ea typeface="Figtree" pitchFamily="34" charset="-122"/>
                <a:cs typeface="Figtree" pitchFamily="34" charset="-120"/>
              </a:rPr>
              <a:t>Ahorro real, sin medición propia</a:t>
            </a:r>
            <a:endParaRPr lang="es-CL" sz="1250" dirty="0"/>
          </a:p>
        </p:txBody>
      </p:sp>
      <p:sp>
        <p:nvSpPr>
          <p:cNvPr id="34" name="Shape 32"/>
          <p:cNvSpPr/>
          <p:nvPr/>
        </p:nvSpPr>
        <p:spPr>
          <a:xfrm>
            <a:off x="1280160" y="4206240"/>
            <a:ext cx="5099152" cy="1755648"/>
          </a:xfrm>
          <a:prstGeom prst="rect">
            <a:avLst/>
          </a:prstGeom>
          <a:solidFill>
            <a:schemeClr val="bg2"/>
          </a:solidFill>
          <a:ln w="9525">
            <a:solidFill>
              <a:schemeClr val="accent5"/>
            </a:solidFill>
            <a:prstDash val="solid"/>
          </a:ln>
        </p:spPr>
      </p:sp>
      <p:sp>
        <p:nvSpPr>
          <p:cNvPr id="35" name="Text 33"/>
          <p:cNvSpPr txBox="1"/>
          <p:nvPr/>
        </p:nvSpPr>
        <p:spPr>
          <a:xfrm>
            <a:off x="1508760" y="4334256"/>
            <a:ext cx="2355952" cy="310896"/>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Seguimiento menor</a:t>
            </a:r>
            <a:endParaRPr lang="es-CL" sz="1600" dirty="0"/>
          </a:p>
        </p:txBody>
      </p:sp>
      <p:sp>
        <p:nvSpPr>
          <p:cNvPr id="36" name="Text 34"/>
          <p:cNvSpPr txBox="1"/>
          <p:nvPr/>
        </p:nvSpPr>
        <p:spPr>
          <a:xfrm>
            <a:off x="3864712" y="4334256"/>
            <a:ext cx="2286000" cy="310896"/>
          </a:xfrm>
          <a:prstGeom prst="rect">
            <a:avLst/>
          </a:prstGeom>
          <a:noFill/>
          <a:ln/>
        </p:spPr>
        <p:txBody>
          <a:bodyPr wrap="square" lIns="0" tIns="0" rIns="0" bIns="0" rtlCol="0" anchor="ctr"/>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BAJA PRIORIDAD</a:t>
            </a:r>
            <a:endParaRPr lang="es-CL" sz="800" dirty="0"/>
          </a:p>
        </p:txBody>
      </p:sp>
      <p:sp>
        <p:nvSpPr>
          <p:cNvPr id="37" name="Shape 35"/>
          <p:cNvSpPr/>
          <p:nvPr/>
        </p:nvSpPr>
        <p:spPr>
          <a:xfrm>
            <a:off x="1508760" y="4805172"/>
            <a:ext cx="54864" cy="54864"/>
          </a:xfrm>
          <a:prstGeom prst="rect">
            <a:avLst/>
          </a:prstGeom>
          <a:solidFill>
            <a:schemeClr val="tx2"/>
          </a:solidFill>
          <a:ln/>
        </p:spPr>
      </p:sp>
      <p:sp>
        <p:nvSpPr>
          <p:cNvPr id="38" name="Text 36"/>
          <p:cNvSpPr txBox="1"/>
          <p:nvPr/>
        </p:nvSpPr>
        <p:spPr>
          <a:xfrm>
            <a:off x="1673352" y="47183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Envejecimiento de la población</a:t>
            </a:r>
            <a:endParaRPr lang="es-CL" sz="1250" dirty="0"/>
          </a:p>
        </p:txBody>
      </p:sp>
      <p:sp>
        <p:nvSpPr>
          <p:cNvPr id="39" name="Shape 37"/>
          <p:cNvSpPr/>
          <p:nvPr/>
        </p:nvSpPr>
        <p:spPr>
          <a:xfrm>
            <a:off x="1508760" y="5033772"/>
            <a:ext cx="54864" cy="54864"/>
          </a:xfrm>
          <a:prstGeom prst="rect">
            <a:avLst/>
          </a:prstGeom>
          <a:solidFill>
            <a:schemeClr val="tx2"/>
          </a:solidFill>
          <a:ln/>
        </p:spPr>
      </p:sp>
      <p:sp>
        <p:nvSpPr>
          <p:cNvPr id="40" name="Text 38"/>
          <p:cNvSpPr txBox="1"/>
          <p:nvPr/>
        </p:nvSpPr>
        <p:spPr>
          <a:xfrm>
            <a:off x="1673352" y="49469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Sindicalización baja</a:t>
            </a:r>
            <a:endParaRPr lang="es-CL" sz="1250" dirty="0"/>
          </a:p>
        </p:txBody>
      </p:sp>
      <p:sp>
        <p:nvSpPr>
          <p:cNvPr id="41" name="Shape 39"/>
          <p:cNvSpPr/>
          <p:nvPr/>
        </p:nvSpPr>
        <p:spPr>
          <a:xfrm>
            <a:off x="1508760" y="5262372"/>
            <a:ext cx="54864" cy="54864"/>
          </a:xfrm>
          <a:prstGeom prst="rect">
            <a:avLst/>
          </a:prstGeom>
          <a:solidFill>
            <a:schemeClr val="tx2"/>
          </a:solidFill>
          <a:ln/>
        </p:spPr>
      </p:sp>
      <p:sp>
        <p:nvSpPr>
          <p:cNvPr id="42" name="Text 40"/>
          <p:cNvSpPr txBox="1"/>
          <p:nvPr/>
        </p:nvSpPr>
        <p:spPr>
          <a:xfrm>
            <a:off x="1673352" y="51755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Libre competencia (DL 211)</a:t>
            </a:r>
            <a:endParaRPr lang="es-CL" sz="1250" dirty="0"/>
          </a:p>
        </p:txBody>
      </p:sp>
      <p:sp>
        <p:nvSpPr>
          <p:cNvPr id="43" name="Shape 41"/>
          <p:cNvSpPr/>
          <p:nvPr/>
        </p:nvSpPr>
        <p:spPr>
          <a:xfrm>
            <a:off x="1508760" y="5490972"/>
            <a:ext cx="54864" cy="54864"/>
          </a:xfrm>
          <a:prstGeom prst="rect">
            <a:avLst/>
          </a:prstGeom>
          <a:solidFill>
            <a:schemeClr val="tx2"/>
          </a:solidFill>
          <a:ln/>
        </p:spPr>
      </p:sp>
      <p:sp>
        <p:nvSpPr>
          <p:cNvPr id="44" name="Text 42"/>
          <p:cNvSpPr txBox="1"/>
          <p:nvPr/>
        </p:nvSpPr>
        <p:spPr>
          <a:xfrm>
            <a:off x="1673352" y="54041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Jornada de 42 y 40 horas</a:t>
            </a:r>
            <a:endParaRPr lang="es-CL" sz="1250" dirty="0"/>
          </a:p>
        </p:txBody>
      </p:sp>
      <p:sp>
        <p:nvSpPr>
          <p:cNvPr id="45" name="Shape 43"/>
          <p:cNvSpPr/>
          <p:nvPr/>
        </p:nvSpPr>
        <p:spPr>
          <a:xfrm>
            <a:off x="1508760" y="5719572"/>
            <a:ext cx="54864" cy="54864"/>
          </a:xfrm>
          <a:prstGeom prst="rect">
            <a:avLst/>
          </a:prstGeom>
          <a:solidFill>
            <a:schemeClr val="tx2"/>
          </a:solidFill>
          <a:ln/>
        </p:spPr>
      </p:sp>
      <p:sp>
        <p:nvSpPr>
          <p:cNvPr id="46" name="Text 44"/>
          <p:cNvSpPr txBox="1"/>
          <p:nvPr/>
        </p:nvSpPr>
        <p:spPr>
          <a:xfrm>
            <a:off x="1673352" y="56327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Conciencia ambiental del consumidor</a:t>
            </a:r>
            <a:endParaRPr lang="es-CL" sz="1250" dirty="0"/>
          </a:p>
        </p:txBody>
      </p:sp>
      <p:sp>
        <p:nvSpPr>
          <p:cNvPr id="47" name="Shape 45"/>
          <p:cNvSpPr/>
          <p:nvPr/>
        </p:nvSpPr>
        <p:spPr>
          <a:xfrm>
            <a:off x="6543904" y="4206240"/>
            <a:ext cx="5099152" cy="1755648"/>
          </a:xfrm>
          <a:prstGeom prst="rect">
            <a:avLst/>
          </a:prstGeom>
          <a:solidFill>
            <a:schemeClr val="bg2"/>
          </a:solidFill>
          <a:ln w="9525">
            <a:solidFill>
              <a:schemeClr val="accent5"/>
            </a:solidFill>
            <a:prstDash val="solid"/>
          </a:ln>
        </p:spPr>
      </p:sp>
      <p:sp>
        <p:nvSpPr>
          <p:cNvPr id="48" name="Text 46"/>
          <p:cNvSpPr txBox="1"/>
          <p:nvPr/>
        </p:nvSpPr>
        <p:spPr>
          <a:xfrm>
            <a:off x="6772504" y="4334256"/>
            <a:ext cx="2355952" cy="310896"/>
          </a:xfrm>
          <a:prstGeom prst="rect">
            <a:avLst/>
          </a:prstGeom>
          <a:noFill/>
          <a:ln/>
        </p:spPr>
        <p:txBody>
          <a:bodyPr wrap="square" lIns="0" tIns="0" rIns="0" bIns="0" rtlCol="0" anchor="ctr"/>
          <a:lstStyle/>
          <a:p>
            <a:pPr indent="0" marL="0">
              <a:buNone/>
            </a:pPr>
            <a:r>
              <a:rPr lang="es-CL" altLang="en-US" sz="1600" b="1" dirty="0">
                <a:solidFill>
                  <a:schemeClr val="tx1"/>
                </a:solidFill>
                <a:latin typeface="Figtree" pitchFamily="34" charset="0"/>
                <a:ea typeface="Figtree" pitchFamily="34" charset="-122"/>
                <a:cs typeface="Figtree" pitchFamily="34" charset="-120"/>
              </a:rPr>
              <a:t>Tendencias a planificar</a:t>
            </a:r>
            <a:endParaRPr lang="es-CL" sz="1600" dirty="0"/>
          </a:p>
        </p:txBody>
      </p:sp>
      <p:sp>
        <p:nvSpPr>
          <p:cNvPr id="49" name="Text 47"/>
          <p:cNvSpPr txBox="1"/>
          <p:nvPr/>
        </p:nvSpPr>
        <p:spPr>
          <a:xfrm>
            <a:off x="9128455" y="4334256"/>
            <a:ext cx="2286000" cy="310896"/>
          </a:xfrm>
          <a:prstGeom prst="rect">
            <a:avLst/>
          </a:prstGeom>
          <a:noFill/>
          <a:ln/>
        </p:spPr>
        <p:txBody>
          <a:bodyPr wrap="square" lIns="0" tIns="0" rIns="0" bIns="0" rtlCol="0" anchor="ctr"/>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ANÁLISIS PROYECTIVO</a:t>
            </a:r>
            <a:endParaRPr lang="es-CL" sz="800" dirty="0"/>
          </a:p>
        </p:txBody>
      </p:sp>
      <p:sp>
        <p:nvSpPr>
          <p:cNvPr id="50" name="Shape 48"/>
          <p:cNvSpPr/>
          <p:nvPr/>
        </p:nvSpPr>
        <p:spPr>
          <a:xfrm>
            <a:off x="6772504" y="4805172"/>
            <a:ext cx="54864" cy="54864"/>
          </a:xfrm>
          <a:prstGeom prst="rect">
            <a:avLst/>
          </a:prstGeom>
          <a:solidFill>
            <a:schemeClr val="tx2"/>
          </a:solidFill>
          <a:ln/>
        </p:spPr>
      </p:sp>
      <p:sp>
        <p:nvSpPr>
          <p:cNvPr id="51" name="Text 49"/>
          <p:cNvSpPr txBox="1"/>
          <p:nvPr/>
        </p:nvSpPr>
        <p:spPr>
          <a:xfrm>
            <a:off x="6937096" y="47183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Parque que envejece y se conserva</a:t>
            </a:r>
            <a:endParaRPr lang="es-CL" sz="1250" dirty="0"/>
          </a:p>
        </p:txBody>
      </p:sp>
      <p:sp>
        <p:nvSpPr>
          <p:cNvPr id="52" name="Shape 50"/>
          <p:cNvSpPr/>
          <p:nvPr/>
        </p:nvSpPr>
        <p:spPr>
          <a:xfrm>
            <a:off x="6772504" y="5033772"/>
            <a:ext cx="54864" cy="54864"/>
          </a:xfrm>
          <a:prstGeom prst="rect">
            <a:avLst/>
          </a:prstGeom>
          <a:solidFill>
            <a:schemeClr val="tx2"/>
          </a:solidFill>
          <a:ln/>
        </p:spPr>
      </p:sp>
      <p:sp>
        <p:nvSpPr>
          <p:cNvPr id="53" name="Text 51"/>
          <p:cNvSpPr txBox="1"/>
          <p:nvPr/>
        </p:nvSpPr>
        <p:spPr>
          <a:xfrm>
            <a:off x="6937096" y="49469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Componentes estandarizados</a:t>
            </a:r>
            <a:endParaRPr lang="es-CL" sz="1250" dirty="0"/>
          </a:p>
        </p:txBody>
      </p:sp>
      <p:sp>
        <p:nvSpPr>
          <p:cNvPr id="54" name="Shape 52"/>
          <p:cNvSpPr/>
          <p:nvPr/>
        </p:nvSpPr>
        <p:spPr>
          <a:xfrm>
            <a:off x="6772504" y="5262372"/>
            <a:ext cx="54864" cy="54864"/>
          </a:xfrm>
          <a:prstGeom prst="rect">
            <a:avLst/>
          </a:prstGeom>
          <a:solidFill>
            <a:schemeClr val="tx2"/>
          </a:solidFill>
          <a:ln/>
        </p:spPr>
      </p:sp>
      <p:sp>
        <p:nvSpPr>
          <p:cNvPr id="55" name="Text 53"/>
          <p:cNvSpPr txBox="1"/>
          <p:nvPr/>
        </p:nvSpPr>
        <p:spPr>
          <a:xfrm>
            <a:off x="6937096" y="51755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Sustitutos: seguir con el auto o híbrido</a:t>
            </a:r>
            <a:endParaRPr lang="es-CL" sz="1250" dirty="0"/>
          </a:p>
        </p:txBody>
      </p:sp>
      <p:sp>
        <p:nvSpPr>
          <p:cNvPr id="56" name="Shape 54"/>
          <p:cNvSpPr/>
          <p:nvPr/>
        </p:nvSpPr>
        <p:spPr>
          <a:xfrm>
            <a:off x="6772504" y="5490972"/>
            <a:ext cx="54864" cy="54864"/>
          </a:xfrm>
          <a:prstGeom prst="rect">
            <a:avLst/>
          </a:prstGeom>
          <a:solidFill>
            <a:schemeClr val="tx2"/>
          </a:solidFill>
          <a:ln/>
        </p:spPr>
      </p:sp>
      <p:sp>
        <p:nvSpPr>
          <p:cNvPr id="57" name="Text 55"/>
          <p:cNvSpPr txBox="1"/>
          <p:nvPr/>
        </p:nvSpPr>
        <p:spPr>
          <a:xfrm>
            <a:off x="6937096" y="5404104"/>
            <a:ext cx="4459072" cy="228600"/>
          </a:xfrm>
          <a:prstGeom prst="rect">
            <a:avLst/>
          </a:prstGeom>
          <a:noFill/>
          <a:ln/>
        </p:spPr>
        <p:txBody>
          <a:bodyPr wrap="square" lIns="0" tIns="0" rIns="0" bIns="0" rtlCol="0" anchor="ctr"/>
          <a:lstStyle/>
          <a:p>
            <a:pPr indent="0" marL="0">
              <a:buNone/>
            </a:pPr>
            <a:r>
              <a:rPr lang="es-CL" altLang="en-US" sz="1250" dirty="0">
                <a:solidFill>
                  <a:schemeClr val="tx2"/>
                </a:solidFill>
                <a:latin typeface="Figtree" pitchFamily="34" charset="0"/>
                <a:ea typeface="Figtree" pitchFamily="34" charset="-122"/>
                <a:cs typeface="Figtree" pitchFamily="34" charset="-120"/>
              </a:rPr>
              <a:t>Metas REP para baterías</a:t>
            </a:r>
            <a:endParaRPr lang="es-CL" sz="1250" dirty="0"/>
          </a:p>
        </p:txBody>
      </p:sp>
      <p:sp>
        <p:nvSpPr>
          <p:cNvPr id="58" name="Text 56"/>
          <p:cNvSpPr txBox="1"/>
          <p:nvPr/>
        </p:nvSpPr>
        <p:spPr>
          <a:xfrm>
            <a:off x="731520" y="3054096"/>
            <a:ext cx="502920" cy="219456"/>
          </a:xfrm>
          <a:prstGeom prst="rect">
            <a:avLst/>
          </a:prstGeom>
          <a:noFill/>
          <a:ln/>
        </p:spPr>
        <p:txBody>
          <a:bodyPr wrap="square" lIns="0" tIns="0" rIns="0" bIns="0" rtlCol="0" anchor="t"/>
          <a:lstStyle/>
          <a:p>
            <a:pPr algn="ct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ALTA</a:t>
            </a:r>
            <a:endParaRPr lang="es-CL" sz="800" dirty="0"/>
          </a:p>
        </p:txBody>
      </p:sp>
      <p:sp>
        <p:nvSpPr>
          <p:cNvPr id="59" name="Text 57"/>
          <p:cNvSpPr txBox="1"/>
          <p:nvPr/>
        </p:nvSpPr>
        <p:spPr>
          <a:xfrm>
            <a:off x="731520" y="4974336"/>
            <a:ext cx="502920" cy="219456"/>
          </a:xfrm>
          <a:prstGeom prst="rect">
            <a:avLst/>
          </a:prstGeom>
          <a:noFill/>
          <a:ln/>
        </p:spPr>
        <p:txBody>
          <a:bodyPr wrap="square" lIns="0" tIns="0" rIns="0" bIns="0" rtlCol="0" anchor="t"/>
          <a:lstStyle/>
          <a:p>
            <a:pPr algn="ct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BAJA</a:t>
            </a:r>
            <a:endParaRPr lang="es-CL" sz="800" dirty="0"/>
          </a:p>
        </p:txBody>
      </p:sp>
      <p:sp>
        <p:nvSpPr>
          <p:cNvPr id="60" name="Text 58"/>
          <p:cNvSpPr txBox="1"/>
          <p:nvPr/>
        </p:nvSpPr>
        <p:spPr>
          <a:xfrm rot="16200000">
            <a:off x="-1078992" y="4005072"/>
            <a:ext cx="3291840" cy="237744"/>
          </a:xfrm>
          <a:prstGeom prst="rect">
            <a:avLst/>
          </a:prstGeom>
          <a:noFill/>
          <a:ln/>
        </p:spPr>
        <p:txBody>
          <a:bodyPr wrap="square" lIns="0" tIns="0" rIns="0" bIns="0" rtlCol="0" anchor="t"/>
          <a:lstStyle/>
          <a:p>
            <a:pPr algn="ctr" indent="0" marL="0">
              <a:buNone/>
            </a:pPr>
            <a:r>
              <a:rPr lang="es-CL" altLang="en-US" sz="850" spc="200" kern="0" dirty="0">
                <a:solidFill>
                  <a:schemeClr val="tx1"/>
                </a:solidFill>
                <a:latin typeface="IBM Plex Mono" pitchFamily="34" charset="0"/>
                <a:ea typeface="IBM Plex Mono" pitchFamily="34" charset="-122"/>
                <a:cs typeface="IBM Plex Mono" pitchFamily="34" charset="-120"/>
              </a:rPr>
              <a:t>INCERTIDUMBRE</a:t>
            </a:r>
            <a:endParaRPr lang="es-CL" sz="850" dirty="0"/>
          </a:p>
        </p:txBody>
      </p:sp>
      <p:sp>
        <p:nvSpPr>
          <p:cNvPr id="61" name="Text 59"/>
          <p:cNvSpPr txBox="1"/>
          <p:nvPr/>
        </p:nvSpPr>
        <p:spPr>
          <a:xfrm>
            <a:off x="1280160" y="6016752"/>
            <a:ext cx="5099152" cy="201168"/>
          </a:xfrm>
          <a:prstGeom prst="rect">
            <a:avLst/>
          </a:prstGeom>
          <a:noFill/>
          <a:ln/>
        </p:spPr>
        <p:txBody>
          <a:bodyPr wrap="square" lIns="0" tIns="0" rIns="0" bIns="0" rtlCol="0" anchor="t"/>
          <a:lstStyle/>
          <a:p>
            <a:pPr algn="ct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BAJO</a:t>
            </a:r>
            <a:endParaRPr lang="es-CL" sz="800" dirty="0"/>
          </a:p>
        </p:txBody>
      </p:sp>
      <p:sp>
        <p:nvSpPr>
          <p:cNvPr id="62" name="Text 60"/>
          <p:cNvSpPr txBox="1"/>
          <p:nvPr/>
        </p:nvSpPr>
        <p:spPr>
          <a:xfrm>
            <a:off x="6543904" y="6016752"/>
            <a:ext cx="5099152" cy="201168"/>
          </a:xfrm>
          <a:prstGeom prst="rect">
            <a:avLst/>
          </a:prstGeom>
          <a:noFill/>
          <a:ln/>
        </p:spPr>
        <p:txBody>
          <a:bodyPr wrap="square" lIns="0" tIns="0" rIns="0" bIns="0" rtlCol="0" anchor="t"/>
          <a:lstStyle/>
          <a:p>
            <a:pPr algn="ct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ALTO</a:t>
            </a:r>
            <a:endParaRPr lang="es-CL" sz="800" dirty="0"/>
          </a:p>
        </p:txBody>
      </p:sp>
      <p:sp>
        <p:nvSpPr>
          <p:cNvPr id="63" name="Text 61"/>
          <p:cNvSpPr txBox="1"/>
          <p:nvPr/>
        </p:nvSpPr>
        <p:spPr>
          <a:xfrm>
            <a:off x="1280160" y="6199632"/>
            <a:ext cx="10362895" cy="201168"/>
          </a:xfrm>
          <a:prstGeom prst="rect">
            <a:avLst/>
          </a:prstGeom>
          <a:noFill/>
          <a:ln/>
        </p:spPr>
        <p:txBody>
          <a:bodyPr wrap="square" lIns="0" tIns="0" rIns="0" bIns="0" rtlCol="0" anchor="t"/>
          <a:lstStyle/>
          <a:p>
            <a:pPr algn="ctr" indent="0" marL="0">
              <a:buNone/>
            </a:pPr>
            <a:r>
              <a:rPr lang="es-CL" altLang="en-US" sz="850" spc="200" kern="0" dirty="0">
                <a:solidFill>
                  <a:schemeClr val="tx1"/>
                </a:solidFill>
                <a:latin typeface="IBM Plex Mono" pitchFamily="34" charset="0"/>
                <a:ea typeface="IBM Plex Mono" pitchFamily="34" charset="-122"/>
                <a:cs typeface="IBM Plex Mono" pitchFamily="34" charset="-120"/>
              </a:rPr>
              <a:t>IMPACTO COMERCIAL</a:t>
            </a:r>
            <a:endParaRPr lang="es-CL" sz="85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A6</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ANÁLISIS INTERNO · 7S DE MCKINSEY</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LAS S DURAS ESTÁN DISEÑADAS;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las blandas, débiles.</a:t>
            </a:r>
            <a:endParaRPr lang="en-US" sz="3000" dirty="0"/>
          </a:p>
        </p:txBody>
      </p:sp>
      <p:sp>
        <p:nvSpPr>
          <p:cNvPr id="4" name="Shape 2"/>
          <p:cNvSpPr/>
          <p:nvPr/>
        </p:nvSpPr>
        <p:spPr>
          <a:xfrm flipV="1">
            <a:off x="3246120" y="2688336"/>
            <a:ext cx="0" cy="1536192"/>
          </a:xfrm>
          <a:prstGeom prst="line">
            <a:avLst/>
          </a:prstGeom>
          <a:noFill/>
          <a:ln w="12700">
            <a:solidFill>
              <a:schemeClr val="accent5"/>
            </a:solidFill>
            <a:prstDash val="solid"/>
          </a:ln>
        </p:spPr>
      </p:sp>
      <p:sp>
        <p:nvSpPr>
          <p:cNvPr id="5" name="Shape 3"/>
          <p:cNvSpPr/>
          <p:nvPr/>
        </p:nvSpPr>
        <p:spPr>
          <a:xfrm flipV="1">
            <a:off x="3246120" y="3456432"/>
            <a:ext cx="1330381" cy="768096"/>
          </a:xfrm>
          <a:prstGeom prst="line">
            <a:avLst/>
          </a:prstGeom>
          <a:noFill/>
          <a:ln w="12700">
            <a:solidFill>
              <a:schemeClr val="accent5"/>
            </a:solidFill>
            <a:prstDash val="solid"/>
          </a:ln>
        </p:spPr>
      </p:sp>
      <p:sp>
        <p:nvSpPr>
          <p:cNvPr id="6" name="Shape 4"/>
          <p:cNvSpPr/>
          <p:nvPr/>
        </p:nvSpPr>
        <p:spPr>
          <a:xfrm>
            <a:off x="3246120" y="4224528"/>
            <a:ext cx="1330381" cy="768096"/>
          </a:xfrm>
          <a:prstGeom prst="line">
            <a:avLst/>
          </a:prstGeom>
          <a:noFill/>
          <a:ln w="12700">
            <a:solidFill>
              <a:schemeClr val="accent5"/>
            </a:solidFill>
            <a:prstDash val="solid"/>
          </a:ln>
        </p:spPr>
      </p:sp>
      <p:sp>
        <p:nvSpPr>
          <p:cNvPr id="7" name="Shape 5"/>
          <p:cNvSpPr/>
          <p:nvPr/>
        </p:nvSpPr>
        <p:spPr>
          <a:xfrm>
            <a:off x="3246120" y="4224528"/>
            <a:ext cx="0" cy="1536192"/>
          </a:xfrm>
          <a:prstGeom prst="line">
            <a:avLst/>
          </a:prstGeom>
          <a:noFill/>
          <a:ln w="12700">
            <a:solidFill>
              <a:schemeClr val="accent5"/>
            </a:solidFill>
            <a:prstDash val="solid"/>
          </a:ln>
        </p:spPr>
      </p:sp>
      <p:sp>
        <p:nvSpPr>
          <p:cNvPr id="8" name="Shape 6"/>
          <p:cNvSpPr/>
          <p:nvPr/>
        </p:nvSpPr>
        <p:spPr>
          <a:xfrm flipV="1">
            <a:off x="1915739" y="4224528"/>
            <a:ext cx="1330381" cy="768096"/>
          </a:xfrm>
          <a:prstGeom prst="line">
            <a:avLst/>
          </a:prstGeom>
          <a:noFill/>
          <a:ln w="12700">
            <a:solidFill>
              <a:schemeClr val="accent5"/>
            </a:solidFill>
            <a:prstDash val="solid"/>
          </a:ln>
        </p:spPr>
      </p:sp>
      <p:sp>
        <p:nvSpPr>
          <p:cNvPr id="9" name="Shape 7"/>
          <p:cNvSpPr/>
          <p:nvPr/>
        </p:nvSpPr>
        <p:spPr>
          <a:xfrm>
            <a:off x="1915739" y="3456432"/>
            <a:ext cx="1330381" cy="768096"/>
          </a:xfrm>
          <a:prstGeom prst="line">
            <a:avLst/>
          </a:prstGeom>
          <a:noFill/>
          <a:ln w="12700">
            <a:solidFill>
              <a:schemeClr val="accent5"/>
            </a:solidFill>
            <a:prstDash val="solid"/>
          </a:ln>
        </p:spPr>
      </p:sp>
      <p:sp>
        <p:nvSpPr>
          <p:cNvPr id="10" name="Shape 8"/>
          <p:cNvSpPr/>
          <p:nvPr/>
        </p:nvSpPr>
        <p:spPr>
          <a:xfrm>
            <a:off x="3246120" y="2688336"/>
            <a:ext cx="1330381" cy="768096"/>
          </a:xfrm>
          <a:prstGeom prst="line">
            <a:avLst/>
          </a:prstGeom>
          <a:noFill/>
          <a:ln w="12700">
            <a:solidFill>
              <a:schemeClr val="accent5"/>
            </a:solidFill>
            <a:prstDash val="solid"/>
          </a:ln>
        </p:spPr>
      </p:sp>
      <p:sp>
        <p:nvSpPr>
          <p:cNvPr id="11" name="Shape 9"/>
          <p:cNvSpPr/>
          <p:nvPr/>
        </p:nvSpPr>
        <p:spPr>
          <a:xfrm>
            <a:off x="4576501" y="3456432"/>
            <a:ext cx="0" cy="1536192"/>
          </a:xfrm>
          <a:prstGeom prst="line">
            <a:avLst/>
          </a:prstGeom>
          <a:noFill/>
          <a:ln w="12700">
            <a:solidFill>
              <a:schemeClr val="accent5"/>
            </a:solidFill>
            <a:prstDash val="solid"/>
          </a:ln>
        </p:spPr>
      </p:sp>
      <p:sp>
        <p:nvSpPr>
          <p:cNvPr id="12" name="Shape 10"/>
          <p:cNvSpPr/>
          <p:nvPr/>
        </p:nvSpPr>
        <p:spPr>
          <a:xfrm flipV="1">
            <a:off x="3246120" y="4992624"/>
            <a:ext cx="1330381" cy="768096"/>
          </a:xfrm>
          <a:prstGeom prst="line">
            <a:avLst/>
          </a:prstGeom>
          <a:noFill/>
          <a:ln w="12700">
            <a:solidFill>
              <a:schemeClr val="accent5"/>
            </a:solidFill>
            <a:prstDash val="solid"/>
          </a:ln>
        </p:spPr>
      </p:sp>
      <p:sp>
        <p:nvSpPr>
          <p:cNvPr id="13" name="Shape 11"/>
          <p:cNvSpPr/>
          <p:nvPr/>
        </p:nvSpPr>
        <p:spPr>
          <a:xfrm>
            <a:off x="1915739" y="4992624"/>
            <a:ext cx="1330381" cy="768096"/>
          </a:xfrm>
          <a:prstGeom prst="line">
            <a:avLst/>
          </a:prstGeom>
          <a:noFill/>
          <a:ln w="12700">
            <a:solidFill>
              <a:schemeClr val="accent5"/>
            </a:solidFill>
            <a:prstDash val="solid"/>
          </a:ln>
        </p:spPr>
      </p:sp>
      <p:sp>
        <p:nvSpPr>
          <p:cNvPr id="14" name="Shape 12"/>
          <p:cNvSpPr/>
          <p:nvPr/>
        </p:nvSpPr>
        <p:spPr>
          <a:xfrm flipV="1">
            <a:off x="1915739" y="3456432"/>
            <a:ext cx="0" cy="1536192"/>
          </a:xfrm>
          <a:prstGeom prst="line">
            <a:avLst/>
          </a:prstGeom>
          <a:noFill/>
          <a:ln w="12700">
            <a:solidFill>
              <a:schemeClr val="accent5"/>
            </a:solidFill>
            <a:prstDash val="solid"/>
          </a:ln>
        </p:spPr>
      </p:sp>
      <p:sp>
        <p:nvSpPr>
          <p:cNvPr id="15" name="Shape 13"/>
          <p:cNvSpPr/>
          <p:nvPr/>
        </p:nvSpPr>
        <p:spPr>
          <a:xfrm flipV="1">
            <a:off x="1915739" y="2688336"/>
            <a:ext cx="1330381" cy="768096"/>
          </a:xfrm>
          <a:prstGeom prst="line">
            <a:avLst/>
          </a:prstGeom>
          <a:noFill/>
          <a:ln w="12700">
            <a:solidFill>
              <a:schemeClr val="accent5"/>
            </a:solidFill>
            <a:prstDash val="solid"/>
          </a:ln>
        </p:spPr>
      </p:sp>
      <p:sp>
        <p:nvSpPr>
          <p:cNvPr id="16" name="Shape 14"/>
          <p:cNvSpPr/>
          <p:nvPr/>
        </p:nvSpPr>
        <p:spPr>
          <a:xfrm>
            <a:off x="2706624" y="2148840"/>
            <a:ext cx="1078992" cy="1078992"/>
          </a:xfrm>
          <a:prstGeom prst="ellipse">
            <a:avLst/>
          </a:prstGeom>
          <a:solidFill>
            <a:schemeClr val="accent1"/>
          </a:solidFill>
          <a:ln w="15875">
            <a:solidFill>
              <a:schemeClr val="accent1"/>
            </a:solidFill>
            <a:prstDash val="solid"/>
          </a:ln>
        </p:spPr>
      </p:sp>
      <p:sp>
        <p:nvSpPr>
          <p:cNvPr id="17" name="Text 15"/>
          <p:cNvSpPr txBox="1"/>
          <p:nvPr/>
        </p:nvSpPr>
        <p:spPr>
          <a:xfrm>
            <a:off x="2706624" y="2459736"/>
            <a:ext cx="1078992"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bg1"/>
                </a:solidFill>
                <a:latin typeface="Figtree" pitchFamily="34" charset="0"/>
                <a:ea typeface="Figtree" pitchFamily="34" charset="-122"/>
                <a:cs typeface="Figtree" pitchFamily="34" charset="-120"/>
              </a:rPr>
              <a:t>Estrategia</a:t>
            </a:r>
            <a:endParaRPr lang="es-CL" sz="1150" dirty="0"/>
          </a:p>
        </p:txBody>
      </p:sp>
      <p:sp>
        <p:nvSpPr>
          <p:cNvPr id="18" name="Text 16"/>
          <p:cNvSpPr txBox="1"/>
          <p:nvPr/>
        </p:nvSpPr>
        <p:spPr>
          <a:xfrm>
            <a:off x="2706624" y="2724912"/>
            <a:ext cx="1078992" cy="237744"/>
          </a:xfrm>
          <a:prstGeom prst="rect">
            <a:avLst/>
          </a:prstGeom>
          <a:noFill/>
          <a:ln/>
        </p:spPr>
        <p:txBody>
          <a:bodyPr wrap="square" lIns="0" tIns="0" rIns="0" bIns="0" rtlCol="0" anchor="ctr"/>
          <a:lstStyle/>
          <a:p>
            <a:pPr algn="ctr" indent="0" marL="0">
              <a:buNone/>
            </a:pPr>
            <a:r>
              <a:rPr lang="es-CL" altLang="en-US" sz="1000" dirty="0">
                <a:solidFill>
                  <a:schemeClr val="bg1"/>
                </a:solidFill>
                <a:latin typeface="IBM Plex Mono" pitchFamily="34" charset="0"/>
                <a:ea typeface="IBM Plex Mono" pitchFamily="34" charset="-122"/>
                <a:cs typeface="IBM Plex Mono" pitchFamily="34" charset="-120"/>
              </a:rPr>
              <a:t>4 / 2</a:t>
            </a:r>
            <a:endParaRPr lang="es-CL" sz="1000" dirty="0"/>
          </a:p>
        </p:txBody>
      </p:sp>
      <p:sp>
        <p:nvSpPr>
          <p:cNvPr id="19" name="Shape 17"/>
          <p:cNvSpPr/>
          <p:nvPr/>
        </p:nvSpPr>
        <p:spPr>
          <a:xfrm>
            <a:off x="4037005" y="2916936"/>
            <a:ext cx="1078992" cy="1078992"/>
          </a:xfrm>
          <a:prstGeom prst="ellipse">
            <a:avLst/>
          </a:prstGeom>
          <a:solidFill>
            <a:schemeClr val="accent6"/>
          </a:solidFill>
          <a:ln w="15875">
            <a:solidFill>
              <a:schemeClr val="tx2"/>
            </a:solidFill>
            <a:prstDash val="solid"/>
          </a:ln>
        </p:spPr>
      </p:sp>
      <p:sp>
        <p:nvSpPr>
          <p:cNvPr id="20" name="Text 18"/>
          <p:cNvSpPr txBox="1"/>
          <p:nvPr/>
        </p:nvSpPr>
        <p:spPr>
          <a:xfrm>
            <a:off x="4037005" y="3227832"/>
            <a:ext cx="1078992"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tx1"/>
                </a:solidFill>
                <a:latin typeface="Figtree" pitchFamily="34" charset="0"/>
                <a:ea typeface="Figtree" pitchFamily="34" charset="-122"/>
                <a:cs typeface="Figtree" pitchFamily="34" charset="-120"/>
              </a:rPr>
              <a:t>Estructura</a:t>
            </a:r>
            <a:endParaRPr lang="es-CL" sz="1150" dirty="0"/>
          </a:p>
        </p:txBody>
      </p:sp>
      <p:sp>
        <p:nvSpPr>
          <p:cNvPr id="21" name="Text 19"/>
          <p:cNvSpPr txBox="1"/>
          <p:nvPr/>
        </p:nvSpPr>
        <p:spPr>
          <a:xfrm>
            <a:off x="4037005" y="3493008"/>
            <a:ext cx="1078992" cy="237744"/>
          </a:xfrm>
          <a:prstGeom prst="rect">
            <a:avLst/>
          </a:prstGeom>
          <a:noFill/>
          <a:ln/>
        </p:spPr>
        <p:txBody>
          <a:bodyPr wrap="square" lIns="0" tIns="0" rIns="0" bIns="0" rtlCol="0" anchor="ctr"/>
          <a:lstStyle/>
          <a:p>
            <a:pPr algn="ctr" indent="0" marL="0">
              <a:buNone/>
            </a:pPr>
            <a:r>
              <a:rPr lang="es-CL" altLang="en-US" sz="1000" dirty="0">
                <a:solidFill>
                  <a:schemeClr val="tx2"/>
                </a:solidFill>
                <a:latin typeface="IBM Plex Mono" pitchFamily="34" charset="0"/>
                <a:ea typeface="IBM Plex Mono" pitchFamily="34" charset="-122"/>
                <a:cs typeface="IBM Plex Mono" pitchFamily="34" charset="-120"/>
              </a:rPr>
              <a:t>3 / 3</a:t>
            </a:r>
            <a:endParaRPr lang="es-CL" sz="1000" dirty="0"/>
          </a:p>
        </p:txBody>
      </p:sp>
      <p:sp>
        <p:nvSpPr>
          <p:cNvPr id="22" name="Shape 20"/>
          <p:cNvSpPr/>
          <p:nvPr/>
        </p:nvSpPr>
        <p:spPr>
          <a:xfrm>
            <a:off x="4037005" y="4453128"/>
            <a:ext cx="1078992" cy="1078992"/>
          </a:xfrm>
          <a:prstGeom prst="ellipse">
            <a:avLst/>
          </a:prstGeom>
          <a:solidFill>
            <a:schemeClr val="accent6"/>
          </a:solidFill>
          <a:ln w="15875">
            <a:solidFill>
              <a:schemeClr val="tx2"/>
            </a:solidFill>
            <a:prstDash val="solid"/>
          </a:ln>
        </p:spPr>
      </p:sp>
      <p:sp>
        <p:nvSpPr>
          <p:cNvPr id="23" name="Text 21"/>
          <p:cNvSpPr txBox="1"/>
          <p:nvPr/>
        </p:nvSpPr>
        <p:spPr>
          <a:xfrm>
            <a:off x="4037005" y="4764024"/>
            <a:ext cx="1078992"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tx1"/>
                </a:solidFill>
                <a:latin typeface="Figtree" pitchFamily="34" charset="0"/>
                <a:ea typeface="Figtree" pitchFamily="34" charset="-122"/>
                <a:cs typeface="Figtree" pitchFamily="34" charset="-120"/>
              </a:rPr>
              <a:t>Sistemas</a:t>
            </a:r>
            <a:endParaRPr lang="es-CL" sz="1150" dirty="0"/>
          </a:p>
        </p:txBody>
      </p:sp>
      <p:sp>
        <p:nvSpPr>
          <p:cNvPr id="24" name="Text 22"/>
          <p:cNvSpPr txBox="1"/>
          <p:nvPr/>
        </p:nvSpPr>
        <p:spPr>
          <a:xfrm>
            <a:off x="4037005" y="5029200"/>
            <a:ext cx="1078992" cy="237744"/>
          </a:xfrm>
          <a:prstGeom prst="rect">
            <a:avLst/>
          </a:prstGeom>
          <a:noFill/>
          <a:ln/>
        </p:spPr>
        <p:txBody>
          <a:bodyPr wrap="square" lIns="0" tIns="0" rIns="0" bIns="0" rtlCol="0" anchor="ctr"/>
          <a:lstStyle/>
          <a:p>
            <a:pPr algn="ctr" indent="0" marL="0">
              <a:buNone/>
            </a:pPr>
            <a:r>
              <a:rPr lang="es-CL" altLang="en-US" sz="1000" dirty="0">
                <a:solidFill>
                  <a:schemeClr val="tx2"/>
                </a:solidFill>
                <a:latin typeface="IBM Plex Mono" pitchFamily="34" charset="0"/>
                <a:ea typeface="IBM Plex Mono" pitchFamily="34" charset="-122"/>
                <a:cs typeface="IBM Plex Mono" pitchFamily="34" charset="-120"/>
              </a:rPr>
              <a:t>3 / 3</a:t>
            </a:r>
            <a:endParaRPr lang="es-CL" sz="1000" dirty="0"/>
          </a:p>
        </p:txBody>
      </p:sp>
      <p:sp>
        <p:nvSpPr>
          <p:cNvPr id="25" name="Shape 23"/>
          <p:cNvSpPr/>
          <p:nvPr/>
        </p:nvSpPr>
        <p:spPr>
          <a:xfrm>
            <a:off x="2706624" y="5221224"/>
            <a:ext cx="1078992" cy="1078992"/>
          </a:xfrm>
          <a:prstGeom prst="ellipse">
            <a:avLst/>
          </a:prstGeom>
          <a:solidFill>
            <a:schemeClr val="accent6"/>
          </a:solidFill>
          <a:ln w="15875">
            <a:solidFill>
              <a:schemeClr val="accent4"/>
            </a:solidFill>
            <a:prstDash val="solid"/>
          </a:ln>
        </p:spPr>
      </p:sp>
      <p:sp>
        <p:nvSpPr>
          <p:cNvPr id="26" name="Text 24"/>
          <p:cNvSpPr txBox="1"/>
          <p:nvPr/>
        </p:nvSpPr>
        <p:spPr>
          <a:xfrm>
            <a:off x="2706624" y="5532120"/>
            <a:ext cx="1078992"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tx1"/>
                </a:solidFill>
                <a:latin typeface="Figtree" pitchFamily="34" charset="0"/>
                <a:ea typeface="Figtree" pitchFamily="34" charset="-122"/>
                <a:cs typeface="Figtree" pitchFamily="34" charset="-120"/>
              </a:rPr>
              <a:t>Personal</a:t>
            </a:r>
            <a:endParaRPr lang="es-CL" sz="1150" dirty="0"/>
          </a:p>
        </p:txBody>
      </p:sp>
      <p:sp>
        <p:nvSpPr>
          <p:cNvPr id="27" name="Text 25"/>
          <p:cNvSpPr txBox="1"/>
          <p:nvPr/>
        </p:nvSpPr>
        <p:spPr>
          <a:xfrm>
            <a:off x="2706624" y="5797296"/>
            <a:ext cx="1078992" cy="237744"/>
          </a:xfrm>
          <a:prstGeom prst="rect">
            <a:avLst/>
          </a:prstGeom>
          <a:noFill/>
          <a:ln/>
        </p:spPr>
        <p:txBody>
          <a:bodyPr wrap="square" lIns="0" tIns="0" rIns="0" bIns="0" rtlCol="0" anchor="ctr"/>
          <a:lstStyle/>
          <a:p>
            <a:pPr algn="ctr" indent="0" marL="0">
              <a:buNone/>
            </a:pPr>
            <a:r>
              <a:rPr lang="es-CL" altLang="en-US" sz="1000" dirty="0">
                <a:solidFill>
                  <a:schemeClr val="accent4"/>
                </a:solidFill>
                <a:latin typeface="IBM Plex Mono" pitchFamily="34" charset="0"/>
                <a:ea typeface="IBM Plex Mono" pitchFamily="34" charset="-122"/>
                <a:cs typeface="IBM Plex Mono" pitchFamily="34" charset="-120"/>
              </a:rPr>
              <a:t>2 / 2</a:t>
            </a:r>
            <a:endParaRPr lang="es-CL" sz="1000" dirty="0"/>
          </a:p>
        </p:txBody>
      </p:sp>
      <p:sp>
        <p:nvSpPr>
          <p:cNvPr id="28" name="Shape 26"/>
          <p:cNvSpPr/>
          <p:nvPr/>
        </p:nvSpPr>
        <p:spPr>
          <a:xfrm>
            <a:off x="1376243" y="4453128"/>
            <a:ext cx="1078992" cy="1078992"/>
          </a:xfrm>
          <a:prstGeom prst="ellipse">
            <a:avLst/>
          </a:prstGeom>
          <a:solidFill>
            <a:schemeClr val="accent6"/>
          </a:solidFill>
          <a:ln w="15875">
            <a:solidFill>
              <a:schemeClr val="accent4"/>
            </a:solidFill>
            <a:prstDash val="solid"/>
          </a:ln>
        </p:spPr>
      </p:sp>
      <p:sp>
        <p:nvSpPr>
          <p:cNvPr id="29" name="Text 27"/>
          <p:cNvSpPr txBox="1"/>
          <p:nvPr/>
        </p:nvSpPr>
        <p:spPr>
          <a:xfrm>
            <a:off x="1376243" y="4764024"/>
            <a:ext cx="1078992"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tx1"/>
                </a:solidFill>
                <a:latin typeface="Figtree" pitchFamily="34" charset="0"/>
                <a:ea typeface="Figtree" pitchFamily="34" charset="-122"/>
                <a:cs typeface="Figtree" pitchFamily="34" charset="-120"/>
              </a:rPr>
              <a:t>Capacidades</a:t>
            </a:r>
            <a:endParaRPr lang="es-CL" sz="1150" dirty="0"/>
          </a:p>
        </p:txBody>
      </p:sp>
      <p:sp>
        <p:nvSpPr>
          <p:cNvPr id="30" name="Text 28"/>
          <p:cNvSpPr txBox="1"/>
          <p:nvPr/>
        </p:nvSpPr>
        <p:spPr>
          <a:xfrm>
            <a:off x="1376243" y="5029200"/>
            <a:ext cx="1078992" cy="237744"/>
          </a:xfrm>
          <a:prstGeom prst="rect">
            <a:avLst/>
          </a:prstGeom>
          <a:noFill/>
          <a:ln/>
        </p:spPr>
        <p:txBody>
          <a:bodyPr wrap="square" lIns="0" tIns="0" rIns="0" bIns="0" rtlCol="0" anchor="ctr"/>
          <a:lstStyle/>
          <a:p>
            <a:pPr algn="ctr" indent="0" marL="0">
              <a:buNone/>
            </a:pPr>
            <a:r>
              <a:rPr lang="es-CL" altLang="en-US" sz="1000" dirty="0">
                <a:solidFill>
                  <a:schemeClr val="accent4"/>
                </a:solidFill>
                <a:latin typeface="IBM Plex Mono" pitchFamily="34" charset="0"/>
                <a:ea typeface="IBM Plex Mono" pitchFamily="34" charset="-122"/>
                <a:cs typeface="IBM Plex Mono" pitchFamily="34" charset="-120"/>
              </a:rPr>
              <a:t>2 / 2</a:t>
            </a:r>
            <a:endParaRPr lang="es-CL" sz="1000" dirty="0"/>
          </a:p>
        </p:txBody>
      </p:sp>
      <p:sp>
        <p:nvSpPr>
          <p:cNvPr id="31" name="Shape 29"/>
          <p:cNvSpPr/>
          <p:nvPr/>
        </p:nvSpPr>
        <p:spPr>
          <a:xfrm>
            <a:off x="1376243" y="2916936"/>
            <a:ext cx="1078992" cy="1078992"/>
          </a:xfrm>
          <a:prstGeom prst="ellipse">
            <a:avLst/>
          </a:prstGeom>
          <a:solidFill>
            <a:schemeClr val="accent6"/>
          </a:solidFill>
          <a:ln w="15875">
            <a:solidFill>
              <a:schemeClr val="accent4"/>
            </a:solidFill>
            <a:prstDash val="solid"/>
          </a:ln>
        </p:spPr>
      </p:sp>
      <p:sp>
        <p:nvSpPr>
          <p:cNvPr id="32" name="Text 30"/>
          <p:cNvSpPr txBox="1"/>
          <p:nvPr/>
        </p:nvSpPr>
        <p:spPr>
          <a:xfrm>
            <a:off x="1376243" y="3227832"/>
            <a:ext cx="1078992"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tx1"/>
                </a:solidFill>
                <a:latin typeface="Figtree" pitchFamily="34" charset="0"/>
                <a:ea typeface="Figtree" pitchFamily="34" charset="-122"/>
                <a:cs typeface="Figtree" pitchFamily="34" charset="-120"/>
              </a:rPr>
              <a:t>Estilo</a:t>
            </a:r>
            <a:endParaRPr lang="es-CL" sz="1150" dirty="0"/>
          </a:p>
        </p:txBody>
      </p:sp>
      <p:sp>
        <p:nvSpPr>
          <p:cNvPr id="33" name="Text 31"/>
          <p:cNvSpPr txBox="1"/>
          <p:nvPr/>
        </p:nvSpPr>
        <p:spPr>
          <a:xfrm>
            <a:off x="1376243" y="3493008"/>
            <a:ext cx="1078992" cy="237744"/>
          </a:xfrm>
          <a:prstGeom prst="rect">
            <a:avLst/>
          </a:prstGeom>
          <a:noFill/>
          <a:ln/>
        </p:spPr>
        <p:txBody>
          <a:bodyPr wrap="square" lIns="0" tIns="0" rIns="0" bIns="0" rtlCol="0" anchor="ctr"/>
          <a:lstStyle/>
          <a:p>
            <a:pPr algn="ctr" indent="0" marL="0">
              <a:buNone/>
            </a:pPr>
            <a:r>
              <a:rPr lang="es-CL" altLang="en-US" sz="1000" dirty="0">
                <a:solidFill>
                  <a:schemeClr val="accent4"/>
                </a:solidFill>
                <a:latin typeface="IBM Plex Mono" pitchFamily="34" charset="0"/>
                <a:ea typeface="IBM Plex Mono" pitchFamily="34" charset="-122"/>
                <a:cs typeface="IBM Plex Mono" pitchFamily="34" charset="-120"/>
              </a:rPr>
              <a:t>2 / 2</a:t>
            </a:r>
            <a:endParaRPr lang="es-CL" sz="1000" dirty="0"/>
          </a:p>
        </p:txBody>
      </p:sp>
      <p:sp>
        <p:nvSpPr>
          <p:cNvPr id="34" name="Shape 32"/>
          <p:cNvSpPr/>
          <p:nvPr/>
        </p:nvSpPr>
        <p:spPr>
          <a:xfrm>
            <a:off x="2651760" y="3630168"/>
            <a:ext cx="1188720" cy="1188720"/>
          </a:xfrm>
          <a:prstGeom prst="ellipse">
            <a:avLst/>
          </a:prstGeom>
          <a:solidFill>
            <a:schemeClr val="accent6"/>
          </a:solidFill>
          <a:ln w="15875">
            <a:solidFill>
              <a:schemeClr val="tx2"/>
            </a:solidFill>
            <a:prstDash val="solid"/>
          </a:ln>
        </p:spPr>
      </p:sp>
      <p:sp>
        <p:nvSpPr>
          <p:cNvPr id="35" name="Text 33"/>
          <p:cNvSpPr txBox="1"/>
          <p:nvPr/>
        </p:nvSpPr>
        <p:spPr>
          <a:xfrm>
            <a:off x="2651760" y="3995928"/>
            <a:ext cx="1188720" cy="256032"/>
          </a:xfrm>
          <a:prstGeom prst="rect">
            <a:avLst/>
          </a:prstGeom>
          <a:noFill/>
          <a:ln/>
        </p:spPr>
        <p:txBody>
          <a:bodyPr wrap="square" lIns="0" tIns="0" rIns="0" bIns="0" rtlCol="0" anchor="ctr">
            <a:normAutofit/>
          </a:bodyPr>
          <a:lstStyle/>
          <a:p>
            <a:pPr algn="ctr" indent="0" marL="0">
              <a:buNone/>
            </a:pPr>
            <a:r>
              <a:rPr lang="es-CL" altLang="en-US" sz="1150" b="1" dirty="0">
                <a:solidFill>
                  <a:schemeClr val="tx1"/>
                </a:solidFill>
                <a:latin typeface="Figtree" pitchFamily="34" charset="0"/>
                <a:ea typeface="Figtree" pitchFamily="34" charset="-122"/>
                <a:cs typeface="Figtree" pitchFamily="34" charset="-120"/>
              </a:rPr>
              <a:t>Valores</a:t>
            </a:r>
            <a:endParaRPr lang="es-CL" sz="1150" dirty="0"/>
          </a:p>
        </p:txBody>
      </p:sp>
      <p:sp>
        <p:nvSpPr>
          <p:cNvPr id="36" name="Text 34"/>
          <p:cNvSpPr txBox="1"/>
          <p:nvPr/>
        </p:nvSpPr>
        <p:spPr>
          <a:xfrm>
            <a:off x="2651760" y="4261104"/>
            <a:ext cx="1188720" cy="237744"/>
          </a:xfrm>
          <a:prstGeom prst="rect">
            <a:avLst/>
          </a:prstGeom>
          <a:noFill/>
          <a:ln/>
        </p:spPr>
        <p:txBody>
          <a:bodyPr wrap="square" lIns="0" tIns="0" rIns="0" bIns="0" rtlCol="0" anchor="ctr"/>
          <a:lstStyle/>
          <a:p>
            <a:pPr algn="ctr" indent="0" marL="0">
              <a:buNone/>
            </a:pPr>
            <a:r>
              <a:rPr lang="es-CL" altLang="en-US" sz="1000" dirty="0">
                <a:solidFill>
                  <a:schemeClr val="tx2"/>
                </a:solidFill>
                <a:latin typeface="IBM Plex Mono" pitchFamily="34" charset="0"/>
                <a:ea typeface="IBM Plex Mono" pitchFamily="34" charset="-122"/>
                <a:cs typeface="IBM Plex Mono" pitchFamily="34" charset="-120"/>
              </a:rPr>
              <a:t>3 / 3</a:t>
            </a:r>
            <a:endParaRPr lang="es-CL" sz="1000" dirty="0"/>
          </a:p>
        </p:txBody>
      </p:sp>
      <p:sp>
        <p:nvSpPr>
          <p:cNvPr id="37" name="Text 35"/>
          <p:cNvSpPr txBox="1"/>
          <p:nvPr/>
        </p:nvSpPr>
        <p:spPr>
          <a:xfrm>
            <a:off x="6263640" y="2331720"/>
            <a:ext cx="2743200" cy="219456"/>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S DURAS</a:t>
            </a:r>
            <a:endParaRPr lang="es-CL" sz="850" dirty="0"/>
          </a:p>
        </p:txBody>
      </p:sp>
      <p:sp>
        <p:nvSpPr>
          <p:cNvPr id="38" name="Text 36"/>
          <p:cNvSpPr txBox="1"/>
          <p:nvPr/>
        </p:nvSpPr>
        <p:spPr>
          <a:xfrm>
            <a:off x="10180015" y="2331720"/>
            <a:ext cx="1463040" cy="219456"/>
          </a:xfrm>
          <a:prstGeom prst="rect">
            <a:avLst/>
          </a:prstGeom>
          <a:noFill/>
          <a:ln/>
        </p:spPr>
        <p:txBody>
          <a:bodyPr wrap="square" lIns="0" tIns="0" rIns="0" bIns="0" rtlCol="0" anchor="t"/>
          <a:lstStyle/>
          <a:p>
            <a:pPr algn="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HAB. / RIESGO</a:t>
            </a:r>
            <a:endParaRPr lang="es-CL" sz="750" dirty="0"/>
          </a:p>
        </p:txBody>
      </p:sp>
      <p:sp>
        <p:nvSpPr>
          <p:cNvPr id="39" name="Shape 37"/>
          <p:cNvSpPr/>
          <p:nvPr/>
        </p:nvSpPr>
        <p:spPr>
          <a:xfrm>
            <a:off x="6263640" y="2606040"/>
            <a:ext cx="5379415" cy="0"/>
          </a:xfrm>
          <a:prstGeom prst="line">
            <a:avLst/>
          </a:prstGeom>
          <a:noFill/>
          <a:ln w="9525">
            <a:solidFill>
              <a:schemeClr val="accent5"/>
            </a:solidFill>
            <a:prstDash val="solid"/>
          </a:ln>
        </p:spPr>
      </p:sp>
      <p:sp>
        <p:nvSpPr>
          <p:cNvPr id="40" name="Text 38"/>
          <p:cNvSpPr txBox="1"/>
          <p:nvPr/>
        </p:nvSpPr>
        <p:spPr>
          <a:xfrm>
            <a:off x="6263640" y="2606040"/>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Estrategia</a:t>
            </a:r>
            <a:endParaRPr lang="es-CL" sz="1300" dirty="0"/>
          </a:p>
        </p:txBody>
      </p:sp>
      <p:sp>
        <p:nvSpPr>
          <p:cNvPr id="41" name="Text 39"/>
          <p:cNvSpPr txBox="1"/>
          <p:nvPr/>
        </p:nvSpPr>
        <p:spPr>
          <a:xfrm>
            <a:off x="7589520" y="2606040"/>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Plan explícito; sin respuesta a desenlaces adversos</a:t>
            </a:r>
            <a:endParaRPr lang="es-CL" sz="1200" dirty="0"/>
          </a:p>
        </p:txBody>
      </p:sp>
      <p:sp>
        <p:nvSpPr>
          <p:cNvPr id="42" name="Text 40"/>
          <p:cNvSpPr txBox="1"/>
          <p:nvPr/>
        </p:nvSpPr>
        <p:spPr>
          <a:xfrm>
            <a:off x="11048695" y="2606040"/>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accent1"/>
                </a:solidFill>
                <a:latin typeface="IBM Plex Mono" pitchFamily="34" charset="0"/>
                <a:ea typeface="IBM Plex Mono" pitchFamily="34" charset="-122"/>
                <a:cs typeface="IBM Plex Mono" pitchFamily="34" charset="-120"/>
              </a:rPr>
              <a:t>4 / 2</a:t>
            </a:r>
            <a:endParaRPr lang="es-CL" sz="1000" dirty="0"/>
          </a:p>
        </p:txBody>
      </p:sp>
      <p:sp>
        <p:nvSpPr>
          <p:cNvPr id="43" name="Shape 41"/>
          <p:cNvSpPr/>
          <p:nvPr/>
        </p:nvSpPr>
        <p:spPr>
          <a:xfrm>
            <a:off x="6263640" y="3035808"/>
            <a:ext cx="5379415" cy="0"/>
          </a:xfrm>
          <a:prstGeom prst="line">
            <a:avLst/>
          </a:prstGeom>
          <a:noFill/>
          <a:ln w="9525">
            <a:solidFill>
              <a:schemeClr val="accent5"/>
            </a:solidFill>
            <a:prstDash val="solid"/>
          </a:ln>
        </p:spPr>
      </p:sp>
      <p:sp>
        <p:nvSpPr>
          <p:cNvPr id="44" name="Text 42"/>
          <p:cNvSpPr txBox="1"/>
          <p:nvPr/>
        </p:nvSpPr>
        <p:spPr>
          <a:xfrm>
            <a:off x="6263640" y="3035808"/>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Estructura</a:t>
            </a:r>
            <a:endParaRPr lang="es-CL" sz="1300" dirty="0"/>
          </a:p>
        </p:txBody>
      </p:sp>
      <p:sp>
        <p:nvSpPr>
          <p:cNvPr id="45" name="Text 43"/>
          <p:cNvSpPr txBox="1"/>
          <p:nvPr/>
        </p:nvSpPr>
        <p:spPr>
          <a:xfrm>
            <a:off x="7589520" y="3035808"/>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SpA liviana; sin roles regulatorios ni organigrama</a:t>
            </a:r>
            <a:endParaRPr lang="es-CL" sz="1200" dirty="0"/>
          </a:p>
        </p:txBody>
      </p:sp>
      <p:sp>
        <p:nvSpPr>
          <p:cNvPr id="46" name="Text 44"/>
          <p:cNvSpPr txBox="1"/>
          <p:nvPr/>
        </p:nvSpPr>
        <p:spPr>
          <a:xfrm>
            <a:off x="11048695" y="3035808"/>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tx2"/>
                </a:solidFill>
                <a:latin typeface="IBM Plex Mono" pitchFamily="34" charset="0"/>
                <a:ea typeface="IBM Plex Mono" pitchFamily="34" charset="-122"/>
                <a:cs typeface="IBM Plex Mono" pitchFamily="34" charset="-120"/>
              </a:rPr>
              <a:t>3 / 3</a:t>
            </a:r>
            <a:endParaRPr lang="es-CL" sz="1000" dirty="0"/>
          </a:p>
        </p:txBody>
      </p:sp>
      <p:sp>
        <p:nvSpPr>
          <p:cNvPr id="47" name="Shape 45"/>
          <p:cNvSpPr/>
          <p:nvPr/>
        </p:nvSpPr>
        <p:spPr>
          <a:xfrm>
            <a:off x="6263640" y="3465576"/>
            <a:ext cx="5379415" cy="0"/>
          </a:xfrm>
          <a:prstGeom prst="line">
            <a:avLst/>
          </a:prstGeom>
          <a:noFill/>
          <a:ln w="9525">
            <a:solidFill>
              <a:schemeClr val="accent5"/>
            </a:solidFill>
            <a:prstDash val="solid"/>
          </a:ln>
        </p:spPr>
      </p:sp>
      <p:sp>
        <p:nvSpPr>
          <p:cNvPr id="48" name="Text 46"/>
          <p:cNvSpPr txBox="1"/>
          <p:nvPr/>
        </p:nvSpPr>
        <p:spPr>
          <a:xfrm>
            <a:off x="6263640" y="3465576"/>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Sistemas</a:t>
            </a:r>
            <a:endParaRPr lang="es-CL" sz="1300" dirty="0"/>
          </a:p>
        </p:txBody>
      </p:sp>
      <p:sp>
        <p:nvSpPr>
          <p:cNvPr id="49" name="Text 47"/>
          <p:cNvSpPr txBox="1"/>
          <p:nvPr/>
        </p:nvSpPr>
        <p:spPr>
          <a:xfrm>
            <a:off x="7589520" y="3465576"/>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CMI y proceso de taller diseñados, sin línea base</a:t>
            </a:r>
            <a:endParaRPr lang="es-CL" sz="1200" dirty="0"/>
          </a:p>
        </p:txBody>
      </p:sp>
      <p:sp>
        <p:nvSpPr>
          <p:cNvPr id="50" name="Text 48"/>
          <p:cNvSpPr txBox="1"/>
          <p:nvPr/>
        </p:nvSpPr>
        <p:spPr>
          <a:xfrm>
            <a:off x="11048695" y="3465576"/>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tx2"/>
                </a:solidFill>
                <a:latin typeface="IBM Plex Mono" pitchFamily="34" charset="0"/>
                <a:ea typeface="IBM Plex Mono" pitchFamily="34" charset="-122"/>
                <a:cs typeface="IBM Plex Mono" pitchFamily="34" charset="-120"/>
              </a:rPr>
              <a:t>3 / 3</a:t>
            </a:r>
            <a:endParaRPr lang="es-CL" sz="1000" dirty="0"/>
          </a:p>
        </p:txBody>
      </p:sp>
      <p:sp>
        <p:nvSpPr>
          <p:cNvPr id="51" name="Shape 49"/>
          <p:cNvSpPr/>
          <p:nvPr/>
        </p:nvSpPr>
        <p:spPr>
          <a:xfrm>
            <a:off x="6263640" y="3895344"/>
            <a:ext cx="5379415" cy="0"/>
          </a:xfrm>
          <a:prstGeom prst="line">
            <a:avLst/>
          </a:prstGeom>
          <a:noFill/>
          <a:ln w="9525">
            <a:solidFill>
              <a:schemeClr val="accent5"/>
            </a:solidFill>
            <a:prstDash val="solid"/>
          </a:ln>
        </p:spPr>
      </p:sp>
      <p:sp>
        <p:nvSpPr>
          <p:cNvPr id="52" name="Text 50"/>
          <p:cNvSpPr txBox="1"/>
          <p:nvPr/>
        </p:nvSpPr>
        <p:spPr>
          <a:xfrm>
            <a:off x="6263640" y="4078224"/>
            <a:ext cx="2743200" cy="219456"/>
          </a:xfrm>
          <a:prstGeom prst="rect">
            <a:avLst/>
          </a:prstGeom>
          <a:noFill/>
          <a:ln/>
        </p:spPr>
        <p:txBody>
          <a:bodyPr wrap="square" lIns="0" tIns="0" rIns="0" bIns="0" rtlCol="0" anchor="t"/>
          <a:lstStyle/>
          <a:p>
            <a:pPr indent="0" marL="0">
              <a:buNone/>
            </a:pPr>
            <a:r>
              <a:rPr lang="es-CL" altLang="en-US" sz="850" spc="150" kern="0" dirty="0">
                <a:solidFill>
                  <a:schemeClr val="accent4"/>
                </a:solidFill>
                <a:latin typeface="IBM Plex Mono" pitchFamily="34" charset="0"/>
                <a:ea typeface="IBM Plex Mono" pitchFamily="34" charset="-122"/>
                <a:cs typeface="IBM Plex Mono" pitchFamily="34" charset="-120"/>
              </a:rPr>
              <a:t>S BLANDAS</a:t>
            </a:r>
            <a:endParaRPr lang="es-CL" sz="850" dirty="0"/>
          </a:p>
        </p:txBody>
      </p:sp>
      <p:sp>
        <p:nvSpPr>
          <p:cNvPr id="53" name="Text 51"/>
          <p:cNvSpPr txBox="1"/>
          <p:nvPr/>
        </p:nvSpPr>
        <p:spPr>
          <a:xfrm>
            <a:off x="10180015" y="4078224"/>
            <a:ext cx="1463040" cy="219456"/>
          </a:xfrm>
          <a:prstGeom prst="rect">
            <a:avLst/>
          </a:prstGeom>
          <a:noFill/>
          <a:ln/>
        </p:spPr>
        <p:txBody>
          <a:bodyPr wrap="square" lIns="0" tIns="0" rIns="0" bIns="0" rtlCol="0" anchor="t"/>
          <a:lstStyle/>
          <a:p>
            <a:pPr algn="r" indent="0" marL="0">
              <a:buNone/>
            </a:pPr>
            <a:endParaRPr lang="es-CL" sz="750" dirty="0"/>
          </a:p>
        </p:txBody>
      </p:sp>
      <p:sp>
        <p:nvSpPr>
          <p:cNvPr id="54" name="Shape 52"/>
          <p:cNvSpPr/>
          <p:nvPr/>
        </p:nvSpPr>
        <p:spPr>
          <a:xfrm>
            <a:off x="6263640" y="4352544"/>
            <a:ext cx="5379415" cy="0"/>
          </a:xfrm>
          <a:prstGeom prst="line">
            <a:avLst/>
          </a:prstGeom>
          <a:noFill/>
          <a:ln w="9525">
            <a:solidFill>
              <a:schemeClr val="accent5"/>
            </a:solidFill>
            <a:prstDash val="solid"/>
          </a:ln>
        </p:spPr>
      </p:sp>
      <p:sp>
        <p:nvSpPr>
          <p:cNvPr id="55" name="Text 53"/>
          <p:cNvSpPr txBox="1"/>
          <p:nvPr/>
        </p:nvSpPr>
        <p:spPr>
          <a:xfrm>
            <a:off x="6263640" y="4352544"/>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Estilo</a:t>
            </a:r>
            <a:endParaRPr lang="es-CL" sz="1300" dirty="0"/>
          </a:p>
        </p:txBody>
      </p:sp>
      <p:sp>
        <p:nvSpPr>
          <p:cNvPr id="56" name="Text 54"/>
          <p:cNvSpPr txBox="1"/>
          <p:nvPr/>
        </p:nvSpPr>
        <p:spPr>
          <a:xfrm>
            <a:off x="7589520" y="4352544"/>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Fundadores sin trayectoria en el rubro</a:t>
            </a:r>
            <a:endParaRPr lang="es-CL" sz="1200" dirty="0"/>
          </a:p>
        </p:txBody>
      </p:sp>
      <p:sp>
        <p:nvSpPr>
          <p:cNvPr id="57" name="Text 55"/>
          <p:cNvSpPr txBox="1"/>
          <p:nvPr/>
        </p:nvSpPr>
        <p:spPr>
          <a:xfrm>
            <a:off x="11048695" y="4352544"/>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accent4"/>
                </a:solidFill>
                <a:latin typeface="IBM Plex Mono" pitchFamily="34" charset="0"/>
                <a:ea typeface="IBM Plex Mono" pitchFamily="34" charset="-122"/>
                <a:cs typeface="IBM Plex Mono" pitchFamily="34" charset="-120"/>
              </a:rPr>
              <a:t>2 / 2</a:t>
            </a:r>
            <a:endParaRPr lang="es-CL" sz="1000" dirty="0"/>
          </a:p>
        </p:txBody>
      </p:sp>
      <p:sp>
        <p:nvSpPr>
          <p:cNvPr id="58" name="Shape 56"/>
          <p:cNvSpPr/>
          <p:nvPr/>
        </p:nvSpPr>
        <p:spPr>
          <a:xfrm>
            <a:off x="6263640" y="4782312"/>
            <a:ext cx="5379415" cy="0"/>
          </a:xfrm>
          <a:prstGeom prst="line">
            <a:avLst/>
          </a:prstGeom>
          <a:noFill/>
          <a:ln w="9525">
            <a:solidFill>
              <a:schemeClr val="accent5"/>
            </a:solidFill>
            <a:prstDash val="solid"/>
          </a:ln>
        </p:spPr>
      </p:sp>
      <p:sp>
        <p:nvSpPr>
          <p:cNvPr id="59" name="Text 57"/>
          <p:cNvSpPr txBox="1"/>
          <p:nvPr/>
        </p:nvSpPr>
        <p:spPr>
          <a:xfrm>
            <a:off x="6263640" y="4782312"/>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Capacidades</a:t>
            </a:r>
            <a:endParaRPr lang="es-CL" sz="1300" dirty="0"/>
          </a:p>
        </p:txBody>
      </p:sp>
      <p:sp>
        <p:nvSpPr>
          <p:cNvPr id="60" name="Text 58"/>
          <p:cNvSpPr txBox="1"/>
          <p:nvPr/>
        </p:nvSpPr>
        <p:spPr>
          <a:xfrm>
            <a:off x="7589520" y="4782312"/>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Técnico escaso: mecánica y alta tensión SEC</a:t>
            </a:r>
            <a:endParaRPr lang="es-CL" sz="1200" dirty="0"/>
          </a:p>
        </p:txBody>
      </p:sp>
      <p:sp>
        <p:nvSpPr>
          <p:cNvPr id="61" name="Text 59"/>
          <p:cNvSpPr txBox="1"/>
          <p:nvPr/>
        </p:nvSpPr>
        <p:spPr>
          <a:xfrm>
            <a:off x="11048695" y="4782312"/>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accent4"/>
                </a:solidFill>
                <a:latin typeface="IBM Plex Mono" pitchFamily="34" charset="0"/>
                <a:ea typeface="IBM Plex Mono" pitchFamily="34" charset="-122"/>
                <a:cs typeface="IBM Plex Mono" pitchFamily="34" charset="-120"/>
              </a:rPr>
              <a:t>2 / 2</a:t>
            </a:r>
            <a:endParaRPr lang="es-CL" sz="1000" dirty="0"/>
          </a:p>
        </p:txBody>
      </p:sp>
      <p:sp>
        <p:nvSpPr>
          <p:cNvPr id="62" name="Shape 60"/>
          <p:cNvSpPr/>
          <p:nvPr/>
        </p:nvSpPr>
        <p:spPr>
          <a:xfrm>
            <a:off x="6263640" y="5212080"/>
            <a:ext cx="5379415" cy="0"/>
          </a:xfrm>
          <a:prstGeom prst="line">
            <a:avLst/>
          </a:prstGeom>
          <a:noFill/>
          <a:ln w="9525">
            <a:solidFill>
              <a:schemeClr val="accent5"/>
            </a:solidFill>
            <a:prstDash val="solid"/>
          </a:ln>
        </p:spPr>
      </p:sp>
      <p:sp>
        <p:nvSpPr>
          <p:cNvPr id="63" name="Text 61"/>
          <p:cNvSpPr txBox="1"/>
          <p:nvPr/>
        </p:nvSpPr>
        <p:spPr>
          <a:xfrm>
            <a:off x="6263640" y="5212080"/>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Personal</a:t>
            </a:r>
            <a:endParaRPr lang="es-CL" sz="1300" dirty="0"/>
          </a:p>
        </p:txBody>
      </p:sp>
      <p:sp>
        <p:nvSpPr>
          <p:cNvPr id="64" name="Text 62"/>
          <p:cNvSpPr txBox="1"/>
          <p:nvPr/>
        </p:nvSpPr>
        <p:spPr>
          <a:xfrm>
            <a:off x="7589520" y="5212080"/>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Sin incentivos para retener técnicos</a:t>
            </a:r>
            <a:endParaRPr lang="es-CL" sz="1200" dirty="0"/>
          </a:p>
        </p:txBody>
      </p:sp>
      <p:sp>
        <p:nvSpPr>
          <p:cNvPr id="65" name="Text 63"/>
          <p:cNvSpPr txBox="1"/>
          <p:nvPr/>
        </p:nvSpPr>
        <p:spPr>
          <a:xfrm>
            <a:off x="11048695" y="5212080"/>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accent4"/>
                </a:solidFill>
                <a:latin typeface="IBM Plex Mono" pitchFamily="34" charset="0"/>
                <a:ea typeface="IBM Plex Mono" pitchFamily="34" charset="-122"/>
                <a:cs typeface="IBM Plex Mono" pitchFamily="34" charset="-120"/>
              </a:rPr>
              <a:t>2 / 2</a:t>
            </a:r>
            <a:endParaRPr lang="es-CL" sz="1000" dirty="0"/>
          </a:p>
        </p:txBody>
      </p:sp>
      <p:sp>
        <p:nvSpPr>
          <p:cNvPr id="66" name="Shape 64"/>
          <p:cNvSpPr/>
          <p:nvPr/>
        </p:nvSpPr>
        <p:spPr>
          <a:xfrm>
            <a:off x="6263640" y="5641848"/>
            <a:ext cx="5379415" cy="0"/>
          </a:xfrm>
          <a:prstGeom prst="line">
            <a:avLst/>
          </a:prstGeom>
          <a:noFill/>
          <a:ln w="9525">
            <a:solidFill>
              <a:schemeClr val="accent5"/>
            </a:solidFill>
            <a:prstDash val="solid"/>
          </a:ln>
        </p:spPr>
      </p:sp>
      <p:sp>
        <p:nvSpPr>
          <p:cNvPr id="67" name="Text 65"/>
          <p:cNvSpPr txBox="1"/>
          <p:nvPr/>
        </p:nvSpPr>
        <p:spPr>
          <a:xfrm>
            <a:off x="6263640" y="5641848"/>
            <a:ext cx="1325880" cy="429768"/>
          </a:xfrm>
          <a:prstGeom prst="rect">
            <a:avLst/>
          </a:prstGeom>
          <a:noFill/>
          <a:ln/>
        </p:spPr>
        <p:txBody>
          <a:bodyPr wrap="square" lIns="0" tIns="0" rIns="0" bIns="0" rtlCol="0" anchor="ctr"/>
          <a:lstStyle/>
          <a:p>
            <a:pPr indent="0" marL="0">
              <a:buNone/>
            </a:pPr>
            <a:r>
              <a:rPr lang="es-CL" altLang="en-US" sz="1300" b="1" dirty="0">
                <a:solidFill>
                  <a:schemeClr val="tx1"/>
                </a:solidFill>
                <a:latin typeface="Figtree" pitchFamily="34" charset="0"/>
                <a:ea typeface="Figtree" pitchFamily="34" charset="-122"/>
                <a:cs typeface="Figtree" pitchFamily="34" charset="-120"/>
              </a:rPr>
              <a:t>Valores</a:t>
            </a:r>
            <a:endParaRPr lang="es-CL" sz="1300" dirty="0"/>
          </a:p>
        </p:txBody>
      </p:sp>
      <p:sp>
        <p:nvSpPr>
          <p:cNvPr id="68" name="Text 66"/>
          <p:cNvSpPr txBox="1"/>
          <p:nvPr/>
        </p:nvSpPr>
        <p:spPr>
          <a:xfrm>
            <a:off x="7589520" y="5641848"/>
            <a:ext cx="3459175" cy="429768"/>
          </a:xfrm>
          <a:prstGeom prst="rect">
            <a:avLst/>
          </a:prstGeom>
          <a:noFill/>
          <a:ln/>
        </p:spPr>
        <p:txBody>
          <a:bodyPr wrap="square" lIns="0" tIns="0" rIns="0" bIns="0" rtlCol="0" anchor="ctr"/>
          <a:lstStyle/>
          <a:p>
            <a:pPr indent="0" marL="0">
              <a:buNone/>
            </a:pPr>
            <a:r>
              <a:rPr lang="es-CL" altLang="en-US" sz="1200" dirty="0">
                <a:solidFill>
                  <a:schemeClr val="tx2"/>
                </a:solidFill>
                <a:latin typeface="Figtree" pitchFamily="34" charset="0"/>
                <a:ea typeface="Figtree" pitchFamily="34" charset="-122"/>
                <a:cs typeface="Figtree" pitchFamily="34" charset="-120"/>
              </a:rPr>
              <a:t>Misión, visión y 8 valores; cultura en formación</a:t>
            </a:r>
            <a:endParaRPr lang="es-CL" sz="1200" dirty="0"/>
          </a:p>
        </p:txBody>
      </p:sp>
      <p:sp>
        <p:nvSpPr>
          <p:cNvPr id="69" name="Text 67"/>
          <p:cNvSpPr txBox="1"/>
          <p:nvPr/>
        </p:nvSpPr>
        <p:spPr>
          <a:xfrm>
            <a:off x="11048695" y="5641848"/>
            <a:ext cx="594360" cy="429768"/>
          </a:xfrm>
          <a:prstGeom prst="rect">
            <a:avLst/>
          </a:prstGeom>
          <a:noFill/>
          <a:ln/>
        </p:spPr>
        <p:txBody>
          <a:bodyPr wrap="square" lIns="0" tIns="0" rIns="0" bIns="0" rtlCol="0" anchor="ctr"/>
          <a:lstStyle/>
          <a:p>
            <a:pPr algn="r" indent="0" marL="0">
              <a:buNone/>
            </a:pPr>
            <a:r>
              <a:rPr lang="es-CL" altLang="en-US" sz="1000" spc="150" kern="0" dirty="0">
                <a:solidFill>
                  <a:schemeClr val="tx2"/>
                </a:solidFill>
                <a:latin typeface="IBM Plex Mono" pitchFamily="34" charset="0"/>
                <a:ea typeface="IBM Plex Mono" pitchFamily="34" charset="-122"/>
                <a:cs typeface="IBM Plex Mono" pitchFamily="34" charset="-120"/>
              </a:rPr>
              <a:t>3 / 3</a:t>
            </a:r>
            <a:endParaRPr lang="es-CL" sz="1000" dirty="0"/>
          </a:p>
        </p:txBody>
      </p:sp>
      <p:sp>
        <p:nvSpPr>
          <p:cNvPr id="70" name="Shape 68"/>
          <p:cNvSpPr/>
          <p:nvPr/>
        </p:nvSpPr>
        <p:spPr>
          <a:xfrm>
            <a:off x="6263640" y="6071616"/>
            <a:ext cx="5379415" cy="0"/>
          </a:xfrm>
          <a:prstGeom prst="line">
            <a:avLst/>
          </a:prstGeom>
          <a:noFill/>
          <a:ln w="9525">
            <a:solidFill>
              <a:schemeClr val="accent5"/>
            </a:solidFill>
            <a:prstDash val="solid"/>
          </a:ln>
        </p:spPr>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A7</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CAPACIDADES FRENTE A COMPETIDORES (06)</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BRECHA CON EL LÍDER: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−1,29 y −1,43.</a:t>
            </a:r>
            <a:endParaRPr lang="en-US" sz="3000" dirty="0"/>
          </a:p>
        </p:txBody>
      </p:sp>
      <p:sp>
        <p:nvSpPr>
          <p:cNvPr id="4" name="Text 2"/>
          <p:cNvSpPr txBox="1"/>
          <p:nvPr/>
        </p:nvSpPr>
        <p:spPr>
          <a:xfrm>
            <a:off x="548640" y="2331720"/>
            <a:ext cx="7223760" cy="219456"/>
          </a:xfrm>
          <a:prstGeom prst="rect">
            <a:avLst/>
          </a:prstGeom>
          <a:noFill/>
          <a:ln/>
        </p:spPr>
        <p:txBody>
          <a:bodyPr wrap="square" lIns="0" tIns="0" rIns="0" bIns="0" rtlCol="0" anchor="t"/>
          <a:lstStyle/>
          <a:p>
            <a:pPr indent="0" marL="0">
              <a:buNone/>
            </a:pPr>
            <a:r>
              <a:rPr lang="es-CL" altLang="en-US" sz="900" spc="150" kern="0" dirty="0">
                <a:solidFill>
                  <a:schemeClr val="tx1"/>
                </a:solidFill>
                <a:latin typeface="IBM Plex Mono" pitchFamily="34" charset="0"/>
                <a:ea typeface="IBM Plex Mono" pitchFamily="34" charset="-122"/>
                <a:cs typeface="IBM Plex Mono" pitchFamily="34" charset="-120"/>
              </a:rPr>
              <a:t>PROMEDIO POR COMPETIDOR · 1 A 5</a:t>
            </a:r>
            <a:endParaRPr lang="es-CL" sz="900" dirty="0"/>
          </a:p>
        </p:txBody>
      </p:sp>
      <p:graphicFrame>
        <p:nvGraphicFramePr>
          <p:cNvPr id="5" name="Gráfico ranking de competidores" descr=""/>
          <p:cNvGraphicFramePr/>
          <p:nvPr/>
        </p:nvGraphicFramePr>
        <p:xfrm>
          <a:off x="457200" y="2606040"/>
          <a:ext cx="7315200" cy="3337560"/>
        </p:xfrm>
        <a:graphic xmlns:a="http://schemas.openxmlformats.org/drawingml/2006/main">
          <a:graphicData uri="http://schemas.openxmlformats.org/drawingml/2006/chart">
            <c:chart xmlns:c="http://schemas.openxmlformats.org/drawingml/2006/chart" r:id="rId1"/>
          </a:graphicData>
        </a:graphic>
      </p:graphicFrame>
      <p:sp>
        <p:nvSpPr>
          <p:cNvPr id="6" name="Text 3"/>
          <p:cNvSpPr txBox="1"/>
          <p:nvPr/>
        </p:nvSpPr>
        <p:spPr>
          <a:xfrm>
            <a:off x="548640" y="5943600"/>
            <a:ext cx="7223760" cy="201168"/>
          </a:xfrm>
          <a:prstGeom prst="rect">
            <a:avLst/>
          </a:prstGeom>
          <a:noFill/>
          <a:ln/>
        </p:spPr>
        <p:txBody>
          <a:bodyPr wrap="square" lIns="0" tIns="0" rIns="0" bIns="0" rtlCol="0" anchor="t"/>
          <a:lstStyle/>
          <a:p>
            <a:pPr indent="0" marL="0">
              <a:buNone/>
            </a:pPr>
            <a:r>
              <a:rPr lang="es-CL" altLang="en-US" sz="750" spc="150" kern="0" dirty="0">
                <a:solidFill>
                  <a:schemeClr val="tx2"/>
                </a:solidFill>
                <a:latin typeface="IBM Plex Mono" pitchFamily="34" charset="0"/>
                <a:ea typeface="IBM Plex Mono" pitchFamily="34" charset="-122"/>
                <a:cs typeface="IBM Plex Mono" pitchFamily="34" charset="-120"/>
              </a:rPr>
              <a:t>* REFERENCIA: OPERAN FUERA DEL SEGMENTO LIVIANO</a:t>
            </a:r>
            <a:endParaRPr lang="es-CL" sz="750" dirty="0"/>
          </a:p>
        </p:txBody>
      </p:sp>
      <p:sp>
        <p:nvSpPr>
          <p:cNvPr id="7" name="Text 4"/>
          <p:cNvSpPr txBox="1"/>
          <p:nvPr/>
        </p:nvSpPr>
        <p:spPr>
          <a:xfrm>
            <a:off x="8183880" y="2331720"/>
            <a:ext cx="3459175"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POR QUÉ TODO SALE DEBILIDAD</a:t>
            </a:r>
            <a:endParaRPr lang="es-CL" sz="900" dirty="0"/>
          </a:p>
        </p:txBody>
      </p:sp>
      <p:sp>
        <p:nvSpPr>
          <p:cNvPr id="8" name="Shape 5"/>
          <p:cNvSpPr/>
          <p:nvPr/>
        </p:nvSpPr>
        <p:spPr>
          <a:xfrm>
            <a:off x="8183880" y="2651760"/>
            <a:ext cx="3459175" cy="0"/>
          </a:xfrm>
          <a:prstGeom prst="line">
            <a:avLst/>
          </a:prstGeom>
          <a:noFill/>
          <a:ln w="9525">
            <a:solidFill>
              <a:schemeClr val="accent5"/>
            </a:solidFill>
            <a:prstDash val="solid"/>
          </a:ln>
        </p:spPr>
      </p:sp>
      <p:sp>
        <p:nvSpPr>
          <p:cNvPr id="9" name="Text 6"/>
          <p:cNvSpPr txBox="1"/>
          <p:nvPr/>
        </p:nvSpPr>
        <p:spPr>
          <a:xfrm>
            <a:off x="8183880" y="2761488"/>
            <a:ext cx="36576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01</a:t>
            </a:r>
            <a:endParaRPr lang="es-CL" sz="900" dirty="0"/>
          </a:p>
        </p:txBody>
      </p:sp>
      <p:sp>
        <p:nvSpPr>
          <p:cNvPr id="10" name="Text 7"/>
          <p:cNvSpPr txBox="1"/>
          <p:nvPr/>
        </p:nvSpPr>
        <p:spPr>
          <a:xfrm>
            <a:off x="8595360" y="2734056"/>
            <a:ext cx="3047695" cy="640080"/>
          </a:xfrm>
          <a:prstGeom prst="rect">
            <a:avLst/>
          </a:prstGeom>
          <a:noFill/>
          <a:ln/>
        </p:spPr>
        <p:txBody>
          <a:bodyPr wrap="square" lIns="0" tIns="0" rIns="0" bIns="0" rtlCol="0" anchor="t"/>
          <a:lstStyle/>
          <a:p>
            <a:pPr indent="0" marL="0">
              <a:buNone/>
            </a:pPr>
            <a:r>
              <a:rPr lang="es-CL" altLang="en-US" sz="1300" dirty="0">
                <a:solidFill>
                  <a:schemeClr val="tx1"/>
                </a:solidFill>
                <a:latin typeface="Figtree" pitchFamily="34" charset="0"/>
                <a:ea typeface="Figtree" pitchFamily="34" charset="-122"/>
                <a:cs typeface="Figtree" pitchFamily="34" charset="-120"/>
              </a:rPr>
              <a:t>Se compara una empresa preoperativa con actores en operación.</a:t>
            </a:r>
            <a:endParaRPr lang="es-CL" sz="1300" dirty="0"/>
          </a:p>
        </p:txBody>
      </p:sp>
      <p:sp>
        <p:nvSpPr>
          <p:cNvPr id="11" name="Shape 8"/>
          <p:cNvSpPr/>
          <p:nvPr/>
        </p:nvSpPr>
        <p:spPr>
          <a:xfrm>
            <a:off x="8183880" y="3429000"/>
            <a:ext cx="3459175" cy="0"/>
          </a:xfrm>
          <a:prstGeom prst="line">
            <a:avLst/>
          </a:prstGeom>
          <a:noFill/>
          <a:ln w="9525">
            <a:solidFill>
              <a:schemeClr val="accent5"/>
            </a:solidFill>
            <a:prstDash val="solid"/>
          </a:ln>
        </p:spPr>
      </p:sp>
      <p:sp>
        <p:nvSpPr>
          <p:cNvPr id="12" name="Text 9"/>
          <p:cNvSpPr txBox="1"/>
          <p:nvPr/>
        </p:nvSpPr>
        <p:spPr>
          <a:xfrm>
            <a:off x="8183880" y="3538728"/>
            <a:ext cx="365760" cy="219456"/>
          </a:xfrm>
          <a:prstGeom prst="rect">
            <a:avLst/>
          </a:prstGeom>
          <a:noFill/>
          <a:ln/>
        </p:spPr>
        <p:txBody>
          <a:bodyPr wrap="square" lIns="0" tIns="0" rIns="0" bIns="0" rtlCol="0" anchor="t"/>
          <a:lstStyle/>
          <a:p>
            <a:pPr indent="0" marL="0">
              <a:buNone/>
            </a:pPr>
            <a:r>
              <a:rPr lang="es-CL" altLang="en-US" sz="900" spc="150" kern="0" dirty="0">
                <a:solidFill>
                  <a:schemeClr val="accent1"/>
                </a:solidFill>
                <a:latin typeface="IBM Plex Mono" pitchFamily="34" charset="0"/>
                <a:ea typeface="IBM Plex Mono" pitchFamily="34" charset="-122"/>
                <a:cs typeface="IBM Plex Mono" pitchFamily="34" charset="-120"/>
              </a:rPr>
              <a:t>02</a:t>
            </a:r>
            <a:endParaRPr lang="es-CL" sz="900" dirty="0"/>
          </a:p>
        </p:txBody>
      </p:sp>
      <p:sp>
        <p:nvSpPr>
          <p:cNvPr id="13" name="Text 10"/>
          <p:cNvSpPr txBox="1"/>
          <p:nvPr/>
        </p:nvSpPr>
        <p:spPr>
          <a:xfrm>
            <a:off x="8595360" y="3511296"/>
            <a:ext cx="3047695" cy="640080"/>
          </a:xfrm>
          <a:prstGeom prst="rect">
            <a:avLst/>
          </a:prstGeom>
          <a:noFill/>
          <a:ln/>
        </p:spPr>
        <p:txBody>
          <a:bodyPr wrap="square" lIns="0" tIns="0" rIns="0" bIns="0" rtlCol="0" anchor="t"/>
          <a:lstStyle/>
          <a:p>
            <a:pPr indent="0" marL="0">
              <a:buNone/>
            </a:pPr>
            <a:r>
              <a:rPr lang="es-CL" altLang="en-US" sz="1300" dirty="0">
                <a:solidFill>
                  <a:schemeClr val="tx1"/>
                </a:solidFill>
                <a:latin typeface="Figtree" pitchFamily="34" charset="0"/>
                <a:ea typeface="Figtree" pitchFamily="34" charset="-122"/>
                <a:cs typeface="Figtree" pitchFamily="34" charset="-120"/>
              </a:rPr>
              <a:t>El líder se arma con el máximo de cada área, no es un competidor real.</a:t>
            </a:r>
            <a:endParaRPr lang="es-CL" sz="1300" dirty="0"/>
          </a:p>
        </p:txBody>
      </p:sp>
      <p:sp>
        <p:nvSpPr>
          <p:cNvPr id="14" name="Shape 11"/>
          <p:cNvSpPr/>
          <p:nvPr/>
        </p:nvSpPr>
        <p:spPr>
          <a:xfrm>
            <a:off x="8183880" y="4297680"/>
            <a:ext cx="3459175" cy="1783080"/>
          </a:xfrm>
          <a:prstGeom prst="rect">
            <a:avLst/>
          </a:prstGeom>
          <a:solidFill>
            <a:schemeClr val="bg2"/>
          </a:solidFill>
          <a:ln w="9525">
            <a:solidFill>
              <a:schemeClr val="accent5"/>
            </a:solidFill>
            <a:prstDash val="solid"/>
          </a:ln>
        </p:spPr>
      </p:sp>
      <p:sp>
        <p:nvSpPr>
          <p:cNvPr id="15" name="Shape 12"/>
          <p:cNvSpPr/>
          <p:nvPr/>
        </p:nvSpPr>
        <p:spPr>
          <a:xfrm>
            <a:off x="8129016" y="4242816"/>
            <a:ext cx="155448" cy="0"/>
          </a:xfrm>
          <a:prstGeom prst="line">
            <a:avLst/>
          </a:prstGeom>
          <a:noFill/>
          <a:ln w="15875">
            <a:solidFill>
              <a:schemeClr val="accent1"/>
            </a:solidFill>
            <a:prstDash val="solid"/>
          </a:ln>
        </p:spPr>
      </p:sp>
      <p:sp>
        <p:nvSpPr>
          <p:cNvPr id="16" name="Shape 13"/>
          <p:cNvSpPr/>
          <p:nvPr/>
        </p:nvSpPr>
        <p:spPr>
          <a:xfrm>
            <a:off x="8129016" y="4242816"/>
            <a:ext cx="0" cy="155448"/>
          </a:xfrm>
          <a:prstGeom prst="line">
            <a:avLst/>
          </a:prstGeom>
          <a:noFill/>
          <a:ln w="15875">
            <a:solidFill>
              <a:schemeClr val="accent1"/>
            </a:solidFill>
            <a:prstDash val="solid"/>
          </a:ln>
        </p:spPr>
      </p:sp>
      <p:sp>
        <p:nvSpPr>
          <p:cNvPr id="17" name="Shape 14"/>
          <p:cNvSpPr/>
          <p:nvPr/>
        </p:nvSpPr>
        <p:spPr>
          <a:xfrm>
            <a:off x="11542471" y="4242816"/>
            <a:ext cx="155448" cy="0"/>
          </a:xfrm>
          <a:prstGeom prst="line">
            <a:avLst/>
          </a:prstGeom>
          <a:noFill/>
          <a:ln w="15875">
            <a:solidFill>
              <a:schemeClr val="accent1"/>
            </a:solidFill>
            <a:prstDash val="solid"/>
          </a:ln>
        </p:spPr>
      </p:sp>
      <p:sp>
        <p:nvSpPr>
          <p:cNvPr id="18" name="Shape 15"/>
          <p:cNvSpPr/>
          <p:nvPr/>
        </p:nvSpPr>
        <p:spPr>
          <a:xfrm>
            <a:off x="11697919" y="4242816"/>
            <a:ext cx="0" cy="155448"/>
          </a:xfrm>
          <a:prstGeom prst="line">
            <a:avLst/>
          </a:prstGeom>
          <a:noFill/>
          <a:ln w="15875">
            <a:solidFill>
              <a:schemeClr val="accent1"/>
            </a:solidFill>
            <a:prstDash val="solid"/>
          </a:ln>
        </p:spPr>
      </p:sp>
      <p:sp>
        <p:nvSpPr>
          <p:cNvPr id="19" name="Shape 16"/>
          <p:cNvSpPr/>
          <p:nvPr/>
        </p:nvSpPr>
        <p:spPr>
          <a:xfrm>
            <a:off x="8129016" y="6135624"/>
            <a:ext cx="155448" cy="0"/>
          </a:xfrm>
          <a:prstGeom prst="line">
            <a:avLst/>
          </a:prstGeom>
          <a:noFill/>
          <a:ln w="15875">
            <a:solidFill>
              <a:schemeClr val="accent1"/>
            </a:solidFill>
            <a:prstDash val="solid"/>
          </a:ln>
        </p:spPr>
      </p:sp>
      <p:sp>
        <p:nvSpPr>
          <p:cNvPr id="20" name="Shape 17"/>
          <p:cNvSpPr/>
          <p:nvPr/>
        </p:nvSpPr>
        <p:spPr>
          <a:xfrm>
            <a:off x="8129016" y="5980176"/>
            <a:ext cx="0" cy="155448"/>
          </a:xfrm>
          <a:prstGeom prst="line">
            <a:avLst/>
          </a:prstGeom>
          <a:noFill/>
          <a:ln w="15875">
            <a:solidFill>
              <a:schemeClr val="accent1"/>
            </a:solidFill>
            <a:prstDash val="solid"/>
          </a:ln>
        </p:spPr>
      </p:sp>
      <p:sp>
        <p:nvSpPr>
          <p:cNvPr id="21" name="Shape 18"/>
          <p:cNvSpPr/>
          <p:nvPr/>
        </p:nvSpPr>
        <p:spPr>
          <a:xfrm>
            <a:off x="11542471" y="6135624"/>
            <a:ext cx="155448" cy="0"/>
          </a:xfrm>
          <a:prstGeom prst="line">
            <a:avLst/>
          </a:prstGeom>
          <a:noFill/>
          <a:ln w="15875">
            <a:solidFill>
              <a:schemeClr val="accent1"/>
            </a:solidFill>
            <a:prstDash val="solid"/>
          </a:ln>
        </p:spPr>
      </p:sp>
      <p:sp>
        <p:nvSpPr>
          <p:cNvPr id="22" name="Shape 19"/>
          <p:cNvSpPr/>
          <p:nvPr/>
        </p:nvSpPr>
        <p:spPr>
          <a:xfrm>
            <a:off x="11697919" y="5980176"/>
            <a:ext cx="0" cy="155448"/>
          </a:xfrm>
          <a:prstGeom prst="line">
            <a:avLst/>
          </a:prstGeom>
          <a:noFill/>
          <a:ln w="15875">
            <a:solidFill>
              <a:schemeClr val="accent1"/>
            </a:solidFill>
            <a:prstDash val="solid"/>
          </a:ln>
        </p:spPr>
      </p:sp>
      <p:sp>
        <p:nvSpPr>
          <p:cNvPr id="23" name="Text 20"/>
          <p:cNvSpPr txBox="1"/>
          <p:nvPr/>
        </p:nvSpPr>
        <p:spPr>
          <a:xfrm>
            <a:off x="8385048" y="4462272"/>
            <a:ext cx="3056839" cy="201168"/>
          </a:xfrm>
          <a:prstGeom prst="rect">
            <a:avLst/>
          </a:prstGeom>
          <a:noFill/>
          <a:ln/>
        </p:spPr>
        <p:txBody>
          <a:bodyPr wrap="square" lIns="0" tIns="0" rIns="0" bIns="0" rtlCol="0" anchor="t"/>
          <a:lstStyle/>
          <a:p>
            <a:pPr indent="0" marL="0">
              <a:buNone/>
            </a:pPr>
            <a:r>
              <a:rPr lang="es-CL" altLang="en-US" sz="850" spc="150" kern="0" dirty="0">
                <a:solidFill>
                  <a:schemeClr val="accent1"/>
                </a:solidFill>
                <a:latin typeface="IBM Plex Mono" pitchFamily="34" charset="0"/>
                <a:ea typeface="IBM Plex Mono" pitchFamily="34" charset="-122"/>
                <a:cs typeface="IBM Plex Mono" pitchFamily="34" charset="-120"/>
              </a:rPr>
              <a:t>INSUMO PARA EL FODA</a:t>
            </a:r>
            <a:endParaRPr lang="es-CL" sz="850" dirty="0"/>
          </a:p>
        </p:txBody>
      </p:sp>
      <p:sp>
        <p:nvSpPr>
          <p:cNvPr id="24" name="Text 21"/>
          <p:cNvSpPr txBox="1"/>
          <p:nvPr/>
        </p:nvSpPr>
        <p:spPr>
          <a:xfrm>
            <a:off x="8385048" y="4754880"/>
            <a:ext cx="3056839" cy="1234440"/>
          </a:xfrm>
          <a:prstGeom prst="rect">
            <a:avLst/>
          </a:prstGeom>
          <a:noFill/>
          <a:ln/>
        </p:spPr>
        <p:txBody>
          <a:bodyPr wrap="square" lIns="0" tIns="0" rIns="0" bIns="0" rtlCol="0" anchor="t"/>
          <a:lstStyle/>
          <a:p>
            <a:pPr indent="0" marL="0">
              <a:buNone/>
            </a:pPr>
            <a:r>
              <a:rPr lang="es-CL" altLang="en-US" sz="1300" b="1" dirty="0">
                <a:solidFill>
                  <a:schemeClr val="tx1"/>
                </a:solidFill>
                <a:latin typeface="Figtree" pitchFamily="34" charset="0"/>
                <a:ea typeface="Figtree" pitchFamily="34" charset="-122"/>
                <a:cs typeface="Figtree" pitchFamily="34" charset="-120"/>
              </a:rPr>
              <a:t>Las fortalezas puntuales </a:t>
            </a:r>
            <a:pPr indent="0" marL="0">
              <a:buNone/>
            </a:pPr>
            <a:r>
              <a:rPr lang="es-CL" altLang="en-US" sz="1300" dirty="0">
                <a:solidFill>
                  <a:schemeClr val="tx2"/>
                </a:solidFill>
                <a:latin typeface="Figtree" pitchFamily="34" charset="0"/>
                <a:ea typeface="Figtree" pitchFamily="34" charset="-122"/>
                <a:cs typeface="Figtree" pitchFamily="34" charset="-120"/>
              </a:rPr>
              <a:t>(11 líneas con puntaje 4), no el promedio: tecnología, procesos, mercado, planificación y gestión del riesgo.</a:t>
            </a:r>
            <a:endParaRPr lang="es-CL" sz="13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2"/>
          <p:cNvSpPr/>
          <p:nvPr>
            <p:ph idx="103" type="body" hasCustomPrompt="1"/>
          </p:nvPr>
        </p:nvSpPr>
        <p:spPr>
          <a:xfrm>
            <a:off x="548640" y="914400"/>
            <a:ext cx="11094415" cy="256032"/>
          </a:xfrm>
          <a:prstGeom prst="rect">
            <a:avLst/>
          </a:prstGeom>
          <a:noFill/>
          <a:ln/>
        </p:spPr>
        <p:txBody>
          <a:bodyPr wrap="square" lIns="0" tIns="0" rIns="0" bIns="0" rtlCol="0" anchor="ctr"/>
          <a:lstStyle/>
          <a:p>
            <a:pPr indent="0" marL="0">
              <a:buNone/>
            </a:pPr>
            <a:r>
              <a:rPr lang="en-US" sz="1000" spc="150" kern="0" dirty="0">
                <a:solidFill>
                  <a:schemeClr val="accent1"/>
                </a:solidFill>
                <a:latin typeface="IBM Plex Mono" pitchFamily="34" charset="0"/>
                <a:ea typeface="IBM Plex Mono" pitchFamily="34" charset="-122"/>
                <a:cs typeface="IBM Plex Mono" pitchFamily="34" charset="-120"/>
              </a:rPr>
              <a:t>A8</a:t>
            </a:r>
            <a:pPr indent="0" marL="0">
              <a:buNone/>
            </a:pPr>
            <a:r>
              <a:rPr lang="en-US" sz="1000" spc="150" kern="0" dirty="0">
                <a:solidFill>
                  <a:schemeClr val="accent5"/>
                </a:solidFill>
                <a:latin typeface="IBM Plex Mono" pitchFamily="34" charset="0"/>
                <a:ea typeface="IBM Plex Mono" pitchFamily="34" charset="-122"/>
                <a:cs typeface="IBM Plex Mono" pitchFamily="34" charset="-120"/>
              </a:rPr>
              <a:t>  —— </a:t>
            </a:r>
            <a:pPr indent="0" marL="0">
              <a:buNone/>
            </a:pPr>
            <a:r>
              <a:rPr lang="en-US" sz="1000" spc="150" kern="0" dirty="0">
                <a:solidFill>
                  <a:schemeClr val="tx2"/>
                </a:solidFill>
                <a:latin typeface="IBM Plex Mono" pitchFamily="34" charset="0"/>
                <a:ea typeface="IBM Plex Mono" pitchFamily="34" charset="-122"/>
                <a:cs typeface="IBM Plex Mono" pitchFamily="34" charset="-120"/>
              </a:rPr>
              <a:t>ANEXO · PROBLEMAS CLAVE DE LA ESTRATEGIA</a:t>
            </a:r>
            <a:endParaRPr lang="en-US" sz="1000" dirty="0"/>
          </a:p>
        </p:txBody>
      </p:sp>
      <p:sp>
        <p:nvSpPr>
          <p:cNvPr id="3" name="Text 2"/>
          <p:cNvSpPr/>
          <p:nvPr>
            <p:ph idx="104" type="title" hasCustomPrompt="1"/>
          </p:nvPr>
        </p:nvSpPr>
        <p:spPr>
          <a:xfrm>
            <a:off x="548640" y="1261872"/>
            <a:ext cx="11094415" cy="932688"/>
          </a:xfrm>
          <a:prstGeom prst="rect">
            <a:avLst/>
          </a:prstGeom>
          <a:noFill/>
          <a:ln/>
        </p:spPr>
        <p:txBody>
          <a:bodyPr wrap="square" lIns="0" tIns="0" rIns="0" bIns="0" rtlCol="0" anchor="t"/>
          <a:lstStyle/>
          <a:p>
            <a:pPr algn="l" indent="0" marL="0">
              <a:lnSpc>
                <a:spcPct val="88000"/>
              </a:lnSpc>
              <a:buNone/>
            </a:pPr>
            <a:r>
              <a:rPr lang="en-US" sz="3000" dirty="0">
                <a:solidFill>
                  <a:schemeClr val="tx1"/>
                </a:solidFill>
                <a:latin typeface="Archivo SemiExpanded ExtraBold" pitchFamily="34" charset="0"/>
                <a:ea typeface="Archivo SemiExpanded ExtraBold" pitchFamily="34" charset="-122"/>
                <a:cs typeface="Archivo SemiExpanded ExtraBold" pitchFamily="34" charset="-120"/>
              </a:rPr>
              <a:t>CINCO PROBLEMAS </a:t>
            </a:r>
            <a:pPr algn="l" indent="0" marL="0">
              <a:lnSpc>
                <a:spcPct val="88000"/>
              </a:lnSpc>
              <a:buNone/>
            </a:pPr>
            <a:r>
              <a:rPr lang="en-US" sz="3500" i="1" dirty="0">
                <a:solidFill>
                  <a:schemeClr val="accent1"/>
                </a:solidFill>
                <a:latin typeface="Instrument Serif" pitchFamily="34" charset="0"/>
                <a:ea typeface="Instrument Serif" pitchFamily="34" charset="-122"/>
                <a:cs typeface="Instrument Serif" pitchFamily="34" charset="-120"/>
              </a:rPr>
              <a:t>que deciden el negocio.</a:t>
            </a:r>
            <a:endParaRPr lang="en-US" sz="3000" dirty="0"/>
          </a:p>
        </p:txBody>
      </p:sp>
      <p:sp>
        <p:nvSpPr>
          <p:cNvPr id="4" name="Shape 2"/>
          <p:cNvSpPr/>
          <p:nvPr/>
        </p:nvSpPr>
        <p:spPr>
          <a:xfrm>
            <a:off x="548640" y="2514600"/>
            <a:ext cx="11094415" cy="0"/>
          </a:xfrm>
          <a:prstGeom prst="line">
            <a:avLst/>
          </a:prstGeom>
          <a:noFill/>
          <a:ln w="19050">
            <a:solidFill>
              <a:schemeClr val="accent1"/>
            </a:solidFill>
            <a:prstDash val="solid"/>
          </a:ln>
        </p:spPr>
      </p:sp>
      <p:sp>
        <p:nvSpPr>
          <p:cNvPr id="5" name="Text 3"/>
          <p:cNvSpPr txBox="1"/>
          <p:nvPr/>
        </p:nvSpPr>
        <p:spPr>
          <a:xfrm>
            <a:off x="731520" y="2679192"/>
            <a:ext cx="1097280" cy="201168"/>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PROBLEMA</a:t>
            </a:r>
            <a:endParaRPr lang="es-CL" sz="800" dirty="0"/>
          </a:p>
        </p:txBody>
      </p:sp>
      <p:sp>
        <p:nvSpPr>
          <p:cNvPr id="6" name="Text 4"/>
          <p:cNvSpPr txBox="1"/>
          <p:nvPr/>
        </p:nvSpPr>
        <p:spPr>
          <a:xfrm>
            <a:off x="1853123" y="2679192"/>
            <a:ext cx="731520" cy="201168"/>
          </a:xfrm>
          <a:prstGeom prst="rect">
            <a:avLst/>
          </a:prstGeom>
          <a:noFill/>
          <a:ln/>
        </p:spPr>
        <p:txBody>
          <a:bodyPr wrap="square" lIns="0" tIns="0" rIns="0" bIns="0" rtlCol="0" anchor="t"/>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1 / 5</a:t>
            </a:r>
            <a:endParaRPr lang="es-CL" sz="800" dirty="0"/>
          </a:p>
        </p:txBody>
      </p:sp>
      <p:sp>
        <p:nvSpPr>
          <p:cNvPr id="7" name="Text 5"/>
          <p:cNvSpPr txBox="1"/>
          <p:nvPr/>
        </p:nvSpPr>
        <p:spPr>
          <a:xfrm>
            <a:off x="731520" y="2926080"/>
            <a:ext cx="1853123" cy="914400"/>
          </a:xfrm>
          <a:prstGeom prst="rect">
            <a:avLst/>
          </a:prstGeom>
          <a:noFill/>
          <a:ln/>
        </p:spPr>
        <p:txBody>
          <a:bodyPr wrap="square" lIns="0" tIns="0" rIns="0" bIns="0" rtlCol="0" anchor="t"/>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01</a:t>
            </a:r>
            <a:endParaRPr lang="es-CL" sz="6000" dirty="0"/>
          </a:p>
        </p:txBody>
      </p:sp>
      <p:sp>
        <p:nvSpPr>
          <p:cNvPr id="8" name="Text 6"/>
          <p:cNvSpPr txBox="1"/>
          <p:nvPr/>
        </p:nvSpPr>
        <p:spPr>
          <a:xfrm>
            <a:off x="731520" y="3931920"/>
            <a:ext cx="1898843" cy="566928"/>
          </a:xfrm>
          <a:prstGeom prst="rect">
            <a:avLst/>
          </a:prstGeom>
          <a:noFill/>
          <a:ln/>
        </p:spPr>
        <p:txBody>
          <a:bodyPr wrap="square" lIns="0" tIns="0" rIns="0" bIns="0" rtlCol="0" anchor="b"/>
          <a:lstStyle/>
          <a:p>
            <a:pPr indent="0" marL="0">
              <a:lnSpc>
                <a:spcPct val="95000"/>
              </a:lnSpc>
              <a:buNone/>
            </a:pPr>
            <a:r>
              <a:rPr lang="es-CL" altLang="en-US" sz="1300" dirty="0">
                <a:solidFill>
                  <a:schemeClr val="tx1"/>
                </a:solidFill>
                <a:latin typeface="Archivo SemiExpanded ExtraBold" pitchFamily="34" charset="0"/>
                <a:ea typeface="Archivo SemiExpanded ExtraBold" pitchFamily="34" charset="-122"/>
                <a:cs typeface="Archivo SemiExpanded ExtraBold" pitchFamily="34" charset="-120"/>
              </a:rPr>
              <a:t>VÍA LEGAL</a:t>
            </a:r>
            <a:endParaRPr lang="es-CL" sz="1300" dirty="0"/>
          </a:p>
        </p:txBody>
      </p:sp>
      <p:sp>
        <p:nvSpPr>
          <p:cNvPr id="9" name="Text 7"/>
          <p:cNvSpPr txBox="1"/>
          <p:nvPr/>
        </p:nvSpPr>
        <p:spPr>
          <a:xfrm>
            <a:off x="731520" y="4617720"/>
            <a:ext cx="1853123" cy="128016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Sin un reglamento que reconozca la hibridación aditiva, no hay negocio.</a:t>
            </a:r>
            <a:endParaRPr lang="es-CL" sz="1300" dirty="0"/>
          </a:p>
        </p:txBody>
      </p:sp>
      <p:sp>
        <p:nvSpPr>
          <p:cNvPr id="10" name="Shape 8"/>
          <p:cNvSpPr/>
          <p:nvPr/>
        </p:nvSpPr>
        <p:spPr>
          <a:xfrm>
            <a:off x="2767523" y="2514600"/>
            <a:ext cx="0" cy="3429000"/>
          </a:xfrm>
          <a:prstGeom prst="line">
            <a:avLst/>
          </a:prstGeom>
          <a:noFill/>
          <a:ln w="9525">
            <a:solidFill>
              <a:schemeClr val="accent5"/>
            </a:solidFill>
            <a:prstDash val="solid"/>
          </a:ln>
        </p:spPr>
      </p:sp>
      <p:sp>
        <p:nvSpPr>
          <p:cNvPr id="11" name="Text 9"/>
          <p:cNvSpPr txBox="1"/>
          <p:nvPr/>
        </p:nvSpPr>
        <p:spPr>
          <a:xfrm>
            <a:off x="2950403" y="2679192"/>
            <a:ext cx="1097280" cy="201168"/>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PROBLEMA</a:t>
            </a:r>
            <a:endParaRPr lang="es-CL" sz="800" dirty="0"/>
          </a:p>
        </p:txBody>
      </p:sp>
      <p:sp>
        <p:nvSpPr>
          <p:cNvPr id="12" name="Text 10"/>
          <p:cNvSpPr txBox="1"/>
          <p:nvPr/>
        </p:nvSpPr>
        <p:spPr>
          <a:xfrm>
            <a:off x="4072006" y="2679192"/>
            <a:ext cx="731520" cy="201168"/>
          </a:xfrm>
          <a:prstGeom prst="rect">
            <a:avLst/>
          </a:prstGeom>
          <a:noFill/>
          <a:ln/>
        </p:spPr>
        <p:txBody>
          <a:bodyPr wrap="square" lIns="0" tIns="0" rIns="0" bIns="0" rtlCol="0" anchor="t"/>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2 / 5</a:t>
            </a:r>
            <a:endParaRPr lang="es-CL" sz="800" dirty="0"/>
          </a:p>
        </p:txBody>
      </p:sp>
      <p:sp>
        <p:nvSpPr>
          <p:cNvPr id="13" name="Text 11"/>
          <p:cNvSpPr txBox="1"/>
          <p:nvPr/>
        </p:nvSpPr>
        <p:spPr>
          <a:xfrm>
            <a:off x="2950403" y="2926080"/>
            <a:ext cx="1853123" cy="914400"/>
          </a:xfrm>
          <a:prstGeom prst="rect">
            <a:avLst/>
          </a:prstGeom>
          <a:noFill/>
          <a:ln/>
        </p:spPr>
        <p:txBody>
          <a:bodyPr wrap="square" lIns="0" tIns="0" rIns="0" bIns="0" rtlCol="0" anchor="t"/>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02</a:t>
            </a:r>
            <a:endParaRPr lang="es-CL" sz="6000" dirty="0"/>
          </a:p>
        </p:txBody>
      </p:sp>
      <p:sp>
        <p:nvSpPr>
          <p:cNvPr id="14" name="Text 12"/>
          <p:cNvSpPr txBox="1"/>
          <p:nvPr/>
        </p:nvSpPr>
        <p:spPr>
          <a:xfrm>
            <a:off x="2950403" y="3931920"/>
            <a:ext cx="1898843" cy="566928"/>
          </a:xfrm>
          <a:prstGeom prst="rect">
            <a:avLst/>
          </a:prstGeom>
          <a:noFill/>
          <a:ln/>
        </p:spPr>
        <p:txBody>
          <a:bodyPr wrap="square" lIns="0" tIns="0" rIns="0" bIns="0" rtlCol="0" anchor="b"/>
          <a:lstStyle/>
          <a:p>
            <a:pPr indent="0" marL="0">
              <a:lnSpc>
                <a:spcPct val="95000"/>
              </a:lnSpc>
              <a:buNone/>
            </a:pPr>
            <a:r>
              <a:rPr lang="es-CL" altLang="en-US" sz="1300" dirty="0">
                <a:solidFill>
                  <a:schemeClr val="tx1"/>
                </a:solidFill>
                <a:latin typeface="Archivo SemiExpanded ExtraBold" pitchFamily="34" charset="0"/>
                <a:ea typeface="Archivo SemiExpanded ExtraBold" pitchFamily="34" charset="-122"/>
                <a:cs typeface="Archivo SemiExpanded ExtraBold" pitchFamily="34" charset="-120"/>
              </a:rPr>
              <a:t>TERCEROS</a:t>
            </a:r>
            <a:endParaRPr lang="es-CL" sz="1300" dirty="0"/>
          </a:p>
        </p:txBody>
      </p:sp>
      <p:sp>
        <p:nvSpPr>
          <p:cNvPr id="15" name="Text 13"/>
          <p:cNvSpPr txBox="1"/>
          <p:nvPr/>
        </p:nvSpPr>
        <p:spPr>
          <a:xfrm>
            <a:off x="2950403" y="4617720"/>
            <a:ext cx="1853123" cy="128016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Aseguradoras y plantas de revisión técnica pueden bloquear la venta aun con reglamento favorable.</a:t>
            </a:r>
            <a:endParaRPr lang="es-CL" sz="1300" dirty="0"/>
          </a:p>
        </p:txBody>
      </p:sp>
      <p:sp>
        <p:nvSpPr>
          <p:cNvPr id="16" name="Shape 14"/>
          <p:cNvSpPr/>
          <p:nvPr/>
        </p:nvSpPr>
        <p:spPr>
          <a:xfrm>
            <a:off x="4986406" y="2514600"/>
            <a:ext cx="0" cy="3429000"/>
          </a:xfrm>
          <a:prstGeom prst="line">
            <a:avLst/>
          </a:prstGeom>
          <a:noFill/>
          <a:ln w="9525">
            <a:solidFill>
              <a:schemeClr val="accent5"/>
            </a:solidFill>
            <a:prstDash val="solid"/>
          </a:ln>
        </p:spPr>
      </p:sp>
      <p:sp>
        <p:nvSpPr>
          <p:cNvPr id="17" name="Text 15"/>
          <p:cNvSpPr txBox="1"/>
          <p:nvPr/>
        </p:nvSpPr>
        <p:spPr>
          <a:xfrm>
            <a:off x="5169286" y="2679192"/>
            <a:ext cx="1097280" cy="201168"/>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PROBLEMA</a:t>
            </a:r>
            <a:endParaRPr lang="es-CL" sz="800" dirty="0"/>
          </a:p>
        </p:txBody>
      </p:sp>
      <p:sp>
        <p:nvSpPr>
          <p:cNvPr id="18" name="Text 16"/>
          <p:cNvSpPr txBox="1"/>
          <p:nvPr/>
        </p:nvSpPr>
        <p:spPr>
          <a:xfrm>
            <a:off x="6290889" y="2679192"/>
            <a:ext cx="731520" cy="201168"/>
          </a:xfrm>
          <a:prstGeom prst="rect">
            <a:avLst/>
          </a:prstGeom>
          <a:noFill/>
          <a:ln/>
        </p:spPr>
        <p:txBody>
          <a:bodyPr wrap="square" lIns="0" tIns="0" rIns="0" bIns="0" rtlCol="0" anchor="t"/>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3 / 5</a:t>
            </a:r>
            <a:endParaRPr lang="es-CL" sz="800" dirty="0"/>
          </a:p>
        </p:txBody>
      </p:sp>
      <p:sp>
        <p:nvSpPr>
          <p:cNvPr id="19" name="Text 17"/>
          <p:cNvSpPr txBox="1"/>
          <p:nvPr/>
        </p:nvSpPr>
        <p:spPr>
          <a:xfrm>
            <a:off x="5169286" y="2926080"/>
            <a:ext cx="1853123" cy="914400"/>
          </a:xfrm>
          <a:prstGeom prst="rect">
            <a:avLst/>
          </a:prstGeom>
          <a:noFill/>
          <a:ln/>
        </p:spPr>
        <p:txBody>
          <a:bodyPr wrap="square" lIns="0" tIns="0" rIns="0" bIns="0" rtlCol="0" anchor="t"/>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03</a:t>
            </a:r>
            <a:endParaRPr lang="es-CL" sz="6000" dirty="0"/>
          </a:p>
        </p:txBody>
      </p:sp>
      <p:sp>
        <p:nvSpPr>
          <p:cNvPr id="20" name="Text 18"/>
          <p:cNvSpPr txBox="1"/>
          <p:nvPr/>
        </p:nvSpPr>
        <p:spPr>
          <a:xfrm>
            <a:off x="5169286" y="3931920"/>
            <a:ext cx="1898843" cy="566928"/>
          </a:xfrm>
          <a:prstGeom prst="rect">
            <a:avLst/>
          </a:prstGeom>
          <a:noFill/>
          <a:ln/>
        </p:spPr>
        <p:txBody>
          <a:bodyPr wrap="square" lIns="0" tIns="0" rIns="0" bIns="0" rtlCol="0" anchor="b"/>
          <a:lstStyle/>
          <a:p>
            <a:pPr indent="0" marL="0">
              <a:lnSpc>
                <a:spcPct val="95000"/>
              </a:lnSpc>
              <a:buNone/>
            </a:pPr>
            <a:r>
              <a:rPr lang="es-CL" altLang="en-US" sz="1300" dirty="0">
                <a:solidFill>
                  <a:schemeClr val="tx1"/>
                </a:solidFill>
                <a:latin typeface="Archivo SemiExpanded ExtraBold" pitchFamily="34" charset="0"/>
                <a:ea typeface="Archivo SemiExpanded ExtraBold" pitchFamily="34" charset="-122"/>
                <a:cs typeface="Archivo SemiExpanded ExtraBold" pitchFamily="34" charset="-120"/>
              </a:rPr>
              <a:t>CAPACIDAD DE PAGO</a:t>
            </a:r>
            <a:endParaRPr lang="es-CL" sz="1300" dirty="0"/>
          </a:p>
        </p:txBody>
      </p:sp>
      <p:sp>
        <p:nvSpPr>
          <p:cNvPr id="21" name="Text 19"/>
          <p:cNvSpPr txBox="1"/>
          <p:nvPr/>
        </p:nvSpPr>
        <p:spPr>
          <a:xfrm>
            <a:off x="5169286" y="4617720"/>
            <a:ext cx="1853123" cy="128016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Ingreso disponible bajo, desempleo de 9,5% y crédito caro: sin financiamiento no hay conversión.</a:t>
            </a:r>
            <a:endParaRPr lang="es-CL" sz="1300" dirty="0"/>
          </a:p>
        </p:txBody>
      </p:sp>
      <p:sp>
        <p:nvSpPr>
          <p:cNvPr id="22" name="Shape 20"/>
          <p:cNvSpPr/>
          <p:nvPr/>
        </p:nvSpPr>
        <p:spPr>
          <a:xfrm>
            <a:off x="7205289" y="2514600"/>
            <a:ext cx="0" cy="3429000"/>
          </a:xfrm>
          <a:prstGeom prst="line">
            <a:avLst/>
          </a:prstGeom>
          <a:noFill/>
          <a:ln w="9525">
            <a:solidFill>
              <a:schemeClr val="accent5"/>
            </a:solidFill>
            <a:prstDash val="solid"/>
          </a:ln>
        </p:spPr>
      </p:sp>
      <p:sp>
        <p:nvSpPr>
          <p:cNvPr id="23" name="Text 21"/>
          <p:cNvSpPr txBox="1"/>
          <p:nvPr/>
        </p:nvSpPr>
        <p:spPr>
          <a:xfrm>
            <a:off x="7388169" y="2679192"/>
            <a:ext cx="1097280" cy="201168"/>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PROBLEMA</a:t>
            </a:r>
            <a:endParaRPr lang="es-CL" sz="800" dirty="0"/>
          </a:p>
        </p:txBody>
      </p:sp>
      <p:sp>
        <p:nvSpPr>
          <p:cNvPr id="24" name="Text 22"/>
          <p:cNvSpPr txBox="1"/>
          <p:nvPr/>
        </p:nvSpPr>
        <p:spPr>
          <a:xfrm>
            <a:off x="8509772" y="2679192"/>
            <a:ext cx="731520" cy="201168"/>
          </a:xfrm>
          <a:prstGeom prst="rect">
            <a:avLst/>
          </a:prstGeom>
          <a:noFill/>
          <a:ln/>
        </p:spPr>
        <p:txBody>
          <a:bodyPr wrap="square" lIns="0" tIns="0" rIns="0" bIns="0" rtlCol="0" anchor="t"/>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4 / 5</a:t>
            </a:r>
            <a:endParaRPr lang="es-CL" sz="800" dirty="0"/>
          </a:p>
        </p:txBody>
      </p:sp>
      <p:sp>
        <p:nvSpPr>
          <p:cNvPr id="25" name="Text 23"/>
          <p:cNvSpPr txBox="1"/>
          <p:nvPr/>
        </p:nvSpPr>
        <p:spPr>
          <a:xfrm>
            <a:off x="7388169" y="2926080"/>
            <a:ext cx="1853123" cy="914400"/>
          </a:xfrm>
          <a:prstGeom prst="rect">
            <a:avLst/>
          </a:prstGeom>
          <a:noFill/>
          <a:ln/>
        </p:spPr>
        <p:txBody>
          <a:bodyPr wrap="square" lIns="0" tIns="0" rIns="0" bIns="0" rtlCol="0" anchor="t"/>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04</a:t>
            </a:r>
            <a:endParaRPr lang="es-CL" sz="6000" dirty="0"/>
          </a:p>
        </p:txBody>
      </p:sp>
      <p:sp>
        <p:nvSpPr>
          <p:cNvPr id="26" name="Text 24"/>
          <p:cNvSpPr txBox="1"/>
          <p:nvPr/>
        </p:nvSpPr>
        <p:spPr>
          <a:xfrm>
            <a:off x="7388169" y="3931920"/>
            <a:ext cx="1898843" cy="566928"/>
          </a:xfrm>
          <a:prstGeom prst="rect">
            <a:avLst/>
          </a:prstGeom>
          <a:noFill/>
          <a:ln/>
        </p:spPr>
        <p:txBody>
          <a:bodyPr wrap="square" lIns="0" tIns="0" rIns="0" bIns="0" rtlCol="0" anchor="b"/>
          <a:lstStyle/>
          <a:p>
            <a:pPr indent="0" marL="0">
              <a:lnSpc>
                <a:spcPct val="95000"/>
              </a:lnSpc>
              <a:buNone/>
            </a:pPr>
            <a:r>
              <a:rPr lang="es-CL" altLang="en-US" sz="1300" dirty="0">
                <a:solidFill>
                  <a:schemeClr val="tx1"/>
                </a:solidFill>
                <a:latin typeface="Archivo SemiExpanded ExtraBold" pitchFamily="34" charset="0"/>
                <a:ea typeface="Archivo SemiExpanded ExtraBold" pitchFamily="34" charset="-122"/>
                <a:cs typeface="Archivo SemiExpanded ExtraBold" pitchFamily="34" charset="-120"/>
              </a:rPr>
              <a:t>AHORRO NO MEDIDO</a:t>
            </a:r>
            <a:endParaRPr lang="es-CL" sz="1300" dirty="0"/>
          </a:p>
        </p:txBody>
      </p:sp>
      <p:sp>
        <p:nvSpPr>
          <p:cNvPr id="27" name="Text 25"/>
          <p:cNvSpPr txBox="1"/>
          <p:nvPr/>
        </p:nvSpPr>
        <p:spPr>
          <a:xfrm>
            <a:off x="7388169" y="4617720"/>
            <a:ext cx="1853123" cy="128016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El 20% en ciudad es una estimación de ingeniería, no verificada en autos chilenos.</a:t>
            </a:r>
            <a:endParaRPr lang="es-CL" sz="1300" dirty="0"/>
          </a:p>
        </p:txBody>
      </p:sp>
      <p:sp>
        <p:nvSpPr>
          <p:cNvPr id="28" name="Shape 26"/>
          <p:cNvSpPr/>
          <p:nvPr/>
        </p:nvSpPr>
        <p:spPr>
          <a:xfrm>
            <a:off x="9424172" y="2514600"/>
            <a:ext cx="0" cy="3429000"/>
          </a:xfrm>
          <a:prstGeom prst="line">
            <a:avLst/>
          </a:prstGeom>
          <a:noFill/>
          <a:ln w="9525">
            <a:solidFill>
              <a:schemeClr val="accent5"/>
            </a:solidFill>
            <a:prstDash val="solid"/>
          </a:ln>
        </p:spPr>
      </p:sp>
      <p:sp>
        <p:nvSpPr>
          <p:cNvPr id="29" name="Text 27"/>
          <p:cNvSpPr txBox="1"/>
          <p:nvPr/>
        </p:nvSpPr>
        <p:spPr>
          <a:xfrm>
            <a:off x="9607052" y="2679192"/>
            <a:ext cx="1097280" cy="201168"/>
          </a:xfrm>
          <a:prstGeom prst="rect">
            <a:avLst/>
          </a:prstGeom>
          <a:noFill/>
          <a:ln/>
        </p:spPr>
        <p:txBody>
          <a:bodyPr wrap="square" lIns="0" tIns="0" rIns="0" bIns="0" rtlCol="0" anchor="t"/>
          <a:lstStyle/>
          <a:p>
            <a:pP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PROBLEMA</a:t>
            </a:r>
            <a:endParaRPr lang="es-CL" sz="800" dirty="0"/>
          </a:p>
        </p:txBody>
      </p:sp>
      <p:sp>
        <p:nvSpPr>
          <p:cNvPr id="30" name="Text 28"/>
          <p:cNvSpPr txBox="1"/>
          <p:nvPr/>
        </p:nvSpPr>
        <p:spPr>
          <a:xfrm>
            <a:off x="10728655" y="2679192"/>
            <a:ext cx="731520" cy="201168"/>
          </a:xfrm>
          <a:prstGeom prst="rect">
            <a:avLst/>
          </a:prstGeom>
          <a:noFill/>
          <a:ln/>
        </p:spPr>
        <p:txBody>
          <a:bodyPr wrap="square" lIns="0" tIns="0" rIns="0" bIns="0" rtlCol="0" anchor="t"/>
          <a:lstStyle/>
          <a:p>
            <a:pPr algn="r" indent="0" marL="0">
              <a:buNone/>
            </a:pPr>
            <a:r>
              <a:rPr lang="es-CL" altLang="en-US" sz="800" spc="150" kern="0" dirty="0">
                <a:solidFill>
                  <a:schemeClr val="tx2"/>
                </a:solidFill>
                <a:latin typeface="IBM Plex Mono" pitchFamily="34" charset="0"/>
                <a:ea typeface="IBM Plex Mono" pitchFamily="34" charset="-122"/>
                <a:cs typeface="IBM Plex Mono" pitchFamily="34" charset="-120"/>
              </a:rPr>
              <a:t>5 / 5</a:t>
            </a:r>
            <a:endParaRPr lang="es-CL" sz="800" dirty="0"/>
          </a:p>
        </p:txBody>
      </p:sp>
      <p:sp>
        <p:nvSpPr>
          <p:cNvPr id="31" name="Text 29"/>
          <p:cNvSpPr txBox="1"/>
          <p:nvPr/>
        </p:nvSpPr>
        <p:spPr>
          <a:xfrm>
            <a:off x="9607052" y="2926080"/>
            <a:ext cx="1853123" cy="914400"/>
          </a:xfrm>
          <a:prstGeom prst="rect">
            <a:avLst/>
          </a:prstGeom>
          <a:noFill/>
          <a:ln/>
        </p:spPr>
        <p:txBody>
          <a:bodyPr wrap="square" lIns="0" tIns="0" rIns="0" bIns="0" rtlCol="0" anchor="t"/>
          <a:lstStyle/>
          <a:p>
            <a:pPr indent="0" marL="0">
              <a:buNone/>
            </a:pPr>
            <a:r>
              <a:rPr lang="es-CL" altLang="en-US" sz="6000" b="1" dirty="0">
                <a:solidFill>
                  <a:schemeClr val="tx1"/>
                </a:solidFill>
                <a:latin typeface="Archivo Condensed" pitchFamily="34" charset="0"/>
                <a:ea typeface="Archivo Condensed" pitchFamily="34" charset="-122"/>
                <a:cs typeface="Archivo Condensed" pitchFamily="34" charset="-120"/>
              </a:rPr>
              <a:t>05</a:t>
            </a:r>
            <a:endParaRPr lang="es-CL" sz="6000" dirty="0"/>
          </a:p>
        </p:txBody>
      </p:sp>
      <p:sp>
        <p:nvSpPr>
          <p:cNvPr id="32" name="Text 30"/>
          <p:cNvSpPr txBox="1"/>
          <p:nvPr/>
        </p:nvSpPr>
        <p:spPr>
          <a:xfrm>
            <a:off x="9607052" y="3931920"/>
            <a:ext cx="1898843" cy="566928"/>
          </a:xfrm>
          <a:prstGeom prst="rect">
            <a:avLst/>
          </a:prstGeom>
          <a:noFill/>
          <a:ln/>
        </p:spPr>
        <p:txBody>
          <a:bodyPr wrap="square" lIns="0" tIns="0" rIns="0" bIns="0" rtlCol="0" anchor="b"/>
          <a:lstStyle/>
          <a:p>
            <a:pPr indent="0" marL="0">
              <a:lnSpc>
                <a:spcPct val="95000"/>
              </a:lnSpc>
              <a:buNone/>
            </a:pPr>
            <a:r>
              <a:rPr lang="es-CL" altLang="en-US" sz="1300" dirty="0">
                <a:solidFill>
                  <a:schemeClr val="tx1"/>
                </a:solidFill>
                <a:latin typeface="Archivo SemiExpanded ExtraBold" pitchFamily="34" charset="0"/>
                <a:ea typeface="Archivo SemiExpanded ExtraBold" pitchFamily="34" charset="-122"/>
                <a:cs typeface="Archivo SemiExpanded ExtraBold" pitchFamily="34" charset="-120"/>
              </a:rPr>
              <a:t>EXPOSICIÓN CAMBIARIA</a:t>
            </a:r>
            <a:endParaRPr lang="es-CL" sz="1300" dirty="0"/>
          </a:p>
        </p:txBody>
      </p:sp>
      <p:sp>
        <p:nvSpPr>
          <p:cNvPr id="33" name="Text 31"/>
          <p:cNvSpPr txBox="1"/>
          <p:nvPr/>
        </p:nvSpPr>
        <p:spPr>
          <a:xfrm>
            <a:off x="9607052" y="4617720"/>
            <a:ext cx="1853123" cy="1280160"/>
          </a:xfrm>
          <a:prstGeom prst="rect">
            <a:avLst/>
          </a:prstGeom>
          <a:noFill/>
          <a:ln/>
        </p:spPr>
        <p:txBody>
          <a:bodyPr wrap="square" lIns="0" tIns="0" rIns="0" bIns="0" rtlCol="0" anchor="t"/>
          <a:lstStyle/>
          <a:p>
            <a:pPr indent="0" marL="0">
              <a:buNone/>
            </a:pPr>
            <a:r>
              <a:rPr lang="es-CL" altLang="en-US" sz="1300" dirty="0">
                <a:solidFill>
                  <a:schemeClr val="tx2"/>
                </a:solidFill>
                <a:latin typeface="Figtree" pitchFamily="34" charset="0"/>
                <a:ea typeface="Figtree" pitchFamily="34" charset="-122"/>
                <a:cs typeface="Figtree" pitchFamily="34" charset="-120"/>
              </a:rPr>
              <a:t>Todo el costo variable está en dólares, sin cobertura.</a:t>
            </a:r>
            <a:endParaRPr lang="es-CL" sz="1300" dirty="0"/>
          </a:p>
        </p:txBody>
      </p:sp>
      <p:sp>
        <p:nvSpPr>
          <p:cNvPr id="25" name="Slide Number Placeholder 0"/>
          <p:cNvSpPr>
            <a:spLocks noGrp="1"/>
          </p:cNvSpPr>
          <p:nvPr>
            <p:ph type="sldNum" sz="quarter" idx="4294967295"/>
          </p:nvPr>
        </p:nvSpPr>
        <p:spPr>
          <a:xfrm>
            <a:off x="10911535" y="6382512"/>
            <a:ext cx="731520" cy="219456"/>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22B8F0"/>
                </a:solidFill>
                <a:latin typeface="IBM Plex Mono"/>
                <a:ea typeface="IBM Plex Mono"/>
                <a:cs typeface="IBM Plex Mono"/>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Lumine">
  <a:themeElements>
    <a:clrScheme name="Lumine">
      <a:dk1>
        <a:srgbClr val="ECECEC"/>
      </a:dk1>
      <a:lt1>
        <a:srgbClr val="020304"/>
      </a:lt1>
      <a:dk2>
        <a:srgbClr val="8B9598"/>
      </a:dk2>
      <a:lt2>
        <a:srgbClr val="0A0D0F"/>
      </a:lt2>
      <a:accent1>
        <a:srgbClr val="22B8F0"/>
      </a:accent1>
      <a:accent2>
        <a:srgbClr val="4ADE80"/>
      </a:accent2>
      <a:accent3>
        <a:srgbClr val="F5B94A"/>
      </a:accent3>
      <a:accent4>
        <a:srgbClr val="F87171"/>
      </a:accent4>
      <a:accent5>
        <a:srgbClr val="2E3438"/>
      </a:accent5>
      <a:accent6>
        <a:srgbClr val="101417"/>
      </a:accent6>
      <a:hlink>
        <a:srgbClr val="22B8F0"/>
      </a:hlink>
      <a:folHlink>
        <a:srgbClr val="0A6F9E"/>
      </a:folHlink>
    </a:clrScheme>
    <a:fontScheme name="Lumine">
      <a:majorFont>
        <a:latin typeface="Archivo SemiExpanded Extra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Figtree"/>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Lumine Motors Chile SpA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Estratégico · Lumine Motors Chile SpA</dc:title>
  <dc:subject>Control de Gestión · Teoría · ICMA901 · Sección 500 · NRC 4118</dc:subject>
  <dc:creator>Diego Alarcón, Benjamín Torres y Lukas Verdugo</dc:creator>
  <cp:lastModifiedBy>Diego Alarcón, Benjamín Torres y Lukas Verdugo</cp:lastModifiedBy>
  <cp:revision>1</cp:revision>
  <dcterms:created xsi:type="dcterms:W3CDTF">2026-10-17T15:15:13Z</dcterms:created>
  <dcterms:modified xsi:type="dcterms:W3CDTF">2026-10-17T15:15:13Z</dcterms:modified>
</cp:coreProperties>
</file>