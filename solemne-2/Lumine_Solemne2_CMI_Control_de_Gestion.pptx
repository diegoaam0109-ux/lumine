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Archivo SemiExpanded ExtraBold" charset="0"/>
      <p:regular r:id="rIdFuente1"/>
    </p:embeddedFont>
    <p:embeddedFont>
      <p:font typeface="Archivo Condensed" charset="0"/>
      <p:regular r:id="rIdFuente2"/>
      <p:bold r:id="rIdFuente3"/>
    </p:embeddedFont>
    <p:embeddedFont>
      <p:font typeface="Figtree" charset="0"/>
      <p:regular r:id="rIdFuente4"/>
      <p:bold r:id="rIdFuente5"/>
    </p:embeddedFont>
    <p:embeddedFont>
      <p:font typeface="IBM Plex Mono" charset="0"/>
      <p:regular r:id="rIdFuente6"/>
      <p:bold r:id="rIdFuente7"/>
    </p:embeddedFont>
    <p:embeddedFont>
      <p:font typeface="Instrument Serif" charset="0"/>
      <p:regular r:id="rIdFuente8"/>
      <p:italic r:id="rIdFuente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Diego Alarcón" id="{2ca1958a-65ca-f480-0faf-fc1ce1b0b46f}">
          <p14:sldIdLst>
            <p14:sldId id="256"/>
            <p14:sldId id="257"/>
            <p14:sldId id="258"/>
            <p14:sldId id="259"/>
          </p14:sldIdLst>
        </p14:section>
        <p14:section name="2 · Benjamín Torres" id="{3195b9b1-ef3a-983d-0cc8-fa6385a70d76}">
          <p14:sldIdLst>
            <p14:sldId id="260"/>
            <p14:sldId id="261"/>
            <p14:sldId id="262"/>
            <p14:sldId id="263"/>
          </p14:sldIdLst>
        </p14:section>
        <p14:section name="3 · Lukas Verdugo" id="{939ca263-287e-f07a-5f03-7c303c198298}">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Fuente1" Type="http://schemas.openxmlformats.org/officeDocument/2006/relationships/font" Target="fonts/font1.fntdata"/><Relationship Id="rIdFuente2" Type="http://schemas.openxmlformats.org/officeDocument/2006/relationships/font" Target="fonts/font2.fntdata"/><Relationship Id="rIdFuente3" Type="http://schemas.openxmlformats.org/officeDocument/2006/relationships/font" Target="fonts/font3.fntdata"/><Relationship Id="rIdFuente4" Type="http://schemas.openxmlformats.org/officeDocument/2006/relationships/font" Target="fonts/font4.fntdata"/><Relationship Id="rIdFuente5" Type="http://schemas.openxmlformats.org/officeDocument/2006/relationships/font" Target="fonts/font5.fntdata"/><Relationship Id="rIdFuente6" Type="http://schemas.openxmlformats.org/officeDocument/2006/relationships/font" Target="fonts/font6.fntdata"/><Relationship Id="rIdFuente7" Type="http://schemas.openxmlformats.org/officeDocument/2006/relationships/font" Target="fonts/font7.fntdata"/><Relationship Id="rIdFuente8" Type="http://schemas.openxmlformats.org/officeDocument/2006/relationships/font" Target="fonts/font8.fntdata"/><Relationship Id="rIdFuente9" Type="http://schemas.openxmlformats.org/officeDocument/2006/relationships/font" Target="fonts/font9.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0:55 estimados a 105 palabras por minuto (plan del paquete: 0:30)
Abrimos con una pregunta: ¿cómo puede un proyecto demostrar que su estrategia funciona si todavía no tiene ventas? Lumine Motors está en etapa preoperativa. Por eso diseñamos un sistema de control para decidir qué debemos demostrar antes de operar, cómo verificaremos el valor que entregamos y cómo evaluaremos su resultado económico cuando existan datos. La exposición avanza desde la estrategia hasta los indicadores, el seguimiento y las correcciones. Nuestra obligación es separar los avances documentados de las decisiones propuestas. Así el tablero mostrará qué sabemos, qué está pendiente y qué evidencias se exigirían para avanzar.
Transición sugerida: Paso a explicar el negocio y sus condiciones.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1:00 estimados a 105 palabras por minuto (plan del paquete: 0:45)
Lumine propone incorporar asistencia eléctrica no enchufable al eje trasero de vehículos livianos en uso, manteniendo el motor a combustión. El beneficio esperado es disminuir gasto en combustible sin reemplazar el auto. Hablar de hasta veinte por ciento de ahorro urbano es todavía una estimación comercial, no una medición. La operación depende también del encuadre regulatorio y de la homologación que corresponda. La pregunta para control de gestión es qué capacidades y evidencias nos permitirían transformar esa propuesta en una actividad formal. El cliente puede ser un conductor de uso intensivo, pero el proyecto contempla un mercado más amplio. Ningún reconocimiento institucional se presenta como logrado.
Transición sugerida: Con eso claro, vemos qué corregimos del CMI.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1:05 estimados a 105 palabras por minuto (plan del paquete: 1:00)
Contrastamos el CMI original con el actualizado. La primera versión incluía el objetivo de obtener rentabilidad por encima del costo de capital, que el profesor destacó por su profundidad. También recibió dos críticas: los clientes se describían más como canales y convenios que como una propuesta de valor, y las perspectivas no explicaban suficientemente su coordinación. La nueva versión mejoró los hitos previos a operar, pero perdió el objetivo financiero. Nuestra propuesta rescata ese objetivo, hace visible lo que recibe el cliente y formula relaciones de causa y efecto que podremos comprobar. El principal cambio conceptual es distinguir resultados económicos, beneficios al usuario e hitos que habilitarían la operación. No reutilizamos las cifras financieras antiguas sin conciliarlas.
Transición sugerida: La primera corrección es poner al cliente en el centro.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1:10 estimados a 105 palabras por minuto (plan del paquete: 1:10)
¿Qué es lo que compra el cliente? Compra la posibilidad de modernizar su propio vehículo, con un procedimiento seguro y trazable y con evidencia de consumo. Por eso el indicador que proponemos es la proporción de clientes intervenidos a los que se les entrega un informe individual antes y después, en condiciones comparables. La meta de diseño sería cien por ciento cuando existan clientes. Esto no garantiza que cada automóvil ahorre veinte por ciento; asegura transparencia respecto del resultado medido y sus limitaciones. Un cliente informado es más coherente con nuestra estrategia de diferenciación que medir solamente consultas o convenios. La precisión del ahorro requiere primero mediciones comparables; por eso queda pendiente una tolerancia numérica. Entregar evidencia y alcanzar un porcentaje de ahorro son metas distintas.
Transición sugerida: Benjamín explica cómo se conectan las cuatro perspectivas.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1:05 estimados a 105 palabras por minuto (plan del paquete: 1:15)
El mapa va de aprendizaje a procesos, de procesos a clientes y de clientes a resultados financieros. La biblioteca de calibraciones y los técnicos habilitados facilitarían instalaciones repetibles y seguras. Esos procesos, junto a la autorización vigente, permitirían entregar informes fiables y respaldo institucional. Si la propuesta de valor fuera apreciada, podría elevar la contratación y sostener márgenes. El último eslabón es obtener un resultado económico que supere el capital empleado. Son hipótesis gerenciales, no resultados asegurados. Por eso cada flecha necesita un KPI y un documento que la respalde. Una calibración almacenada no genera EVA automáticamente. Necesita un proceso repetible, clientes que valoren el resultado y márgenes suficientes. Cada flecha expresa una hipótesis verificable.
Transición sugerida: Partimos por la base del mapa: capacidades y procesos.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1:05 estimados a 105 palabras por minuto (plan del paquete: 1:15)
En aprendizaje mediríamos el porcentaje de calibraciones registradas, el porcentaje de técnicos habilitados antes de intervenir y el hito de una primera medición comparativa completa. En procesos controlaríamos la autorización sectorial, un primer par modelo-kit homologado y que cada orden de trabajo cierre con controles y actas de seguridad. El responsable y la evidencia cambian según la métrica. Un trámite legal o un control de alta tensión no admite compensación estadística: aunque otros indicadores estén verdes, si no se cumple la condición crítica no corresponde operar. El responsable debe dejar rastro de su control. En seguridad y regulación no corresponde declarar 90% como aprobado cuando la exigencia es completar el procedimiento.
Transición sugerida: Subimos a la perspectiva de clientes.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1:10 estimados a 105 palabras por minuto (plan del paquete: 1:15)
En clientes incorporamos tres dimensiones. La primera es el valor entregado: reporte individual de ahorro y condiciones de prueba. La segunda es confianza: existencia documentada de reconocimiento o protocolo con al menos una aseguradora y una planta de revisión técnica, cuando corresponda. La tercera es foco comercial: porcentaje de consultas de usuarios de uso intensivo, sin excluir al cliente particular ni a las flotas que el modelo también contempla. El seguimiento después de instalar ayuda a aprender, pero una desviación entre autos distintos no prueba por sí sola una mejora. Se necesita comparar bajo métodos compatibles. Cuando el ahorro difiere de lo estimado, se revisaría el dato base y la calibración y se explicaría el resultado al cliente. Eso fortalece confianza.
Transición sugerida: Y llegamos al objetivo financiero que destacó el profesor.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1:10 estimados a 105 palabras por minuto (plan del paquete: 1:25)
Recuperamos el objetivo que el profesor destacó: generar rentabilidad por encima del costo de capital. Para medirlo proponemos EVA anual, calculado como NOPAT menos el capital invertido multiplicado por WACC. En el ejemplo que aparece en el módulo cuatro, un resultado operativo después de impuestos de ciento cincuenta mil dólares, sobre un millón de capital al doce por ciento, genera un cargo de ciento veinte mil y EVA positivo de treinta mil dólares. No son cifras de Lumine. VAN y TIR evalúan un proyecto por sus flujos; EVA mide valor económico por periodo. Lumine aún no tiene datos para calcularlo. Una utilidad contable positiva podría ser insuficiente para remunerar el capital invertido. El EVA explicita esa exigencia y obliga a fundamentar la tasa utilizada.
Transición sugerida: Lukas muestra cómo se controla un indicador en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1:10 estimados a 105 palabras por minuto (plan del paquete: 1:35)
Un objetivo por sí solo no es control. Cada indicador debe señalar fórmula, meta, periodicidad, responsable, soporte y decisión asociada. El Excel permite cargar observaciones solamente cuando existen evidencias. Si una celda está vacía aparece SIN MEDIR, que es distinto de incumplido. Como criterio de gestión se podría usar verde desde noventa por ciento de cumplimiento, ámbar desde setenta y rojo bajo setenta. Pero los hitos críticos y los procedimientos de seguridad requieren aprobación completa. El tablero muestra también la fuente y la corrección que correspondería cuando se detecte una desviación. Así traducimos la estrategia en decisiones. La periodicidad varía: autorizaciones por evento, informes por vehículo, calibraciones por versión y EVA por ejercicio económico. Cada indicador exige una prueba de cumplimiento.
Transición sugerida: Veamos qué pasa cuando una meta no se cumple.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1:05 estimados a 105 palabras por minuto (plan del paquete: 1:25)
Vamos con un caso completamente hipotético. Nuestra meta es entregar reportes de ahorro al cien por ciento de los clientes intervenidos. Supongamos que se entregaron ocho de diez. El resultado es ochenta por ciento y la desviación respecto de la meta es negativa en veinte puntos porcentuales. Bajo un semáforo general sería ámbar, pero si definimos el informe como condición obligatoria de entrega, corresponde rojo por incumplimiento de un control crítico. La diferencia es importante: un semáforo debe ajustarse a la naturaleza del riesgo y no solo a una regla promedio. Si los informes son parte obligatoria del servicio, no basta estar cerca de la meta: el riesgo justifica una regla de control más estricta.
Transición sugerida: El color no basta: falta la decisión correctiva.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1:05 estimados a 105 palabras por minuto (plan del paquete: 1:30)
La decisión gerencial debe ir más allá del color. Primero revisamos qué pasó con los dos informes: faltó medir, validar o entregar. Luego asignamos un responsable y un plazo, cerramos la documentación, entregamos al cliente y verificamos el acuse. Al siguiente corte medimos nuevamente. Si la falla se repite por causas del proceso, rediseñamos el protocolo en lugar de culpar al último técnico. Con ello conectamos cuatro operaciones: medir, interpretar la brecha, actuar y comprobar. En la fase preoperativa ese mismo ciclo se aplica a hitos de ingeniería, regulación y habilitación. El responsable debe comprobar el cierre: informe firmado, entrega registrada y confirmación del cliente. Sin esa evidencia la desviación sigue abierta.
Transición sugerida: Cerramos con lo que el CMI le permite decidir a Lumine.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1:05 estimados a 105 palabras por minuto (plan del paquete: 1:10)
Nuestra propuesta de control se resume así: primero desarrollar capacidades verificables; luego ejecutar procesos formales; después demostrar la propuesta de valor al cliente; finalmente comprobar si el negocio crea rentabilidad por encima del costo de capital. Hemos separado los hitos pendientes de los ejemplos de clase y no presentamos ventas, homologaciones ni EVA que aún no existen. El sistema ofrece una regla para decidir cuándo avanzar y cuándo corregir. Ese es el aporte del CMI a Lumine: convertir la estrategia en compromisos medibles y acciones justificadas. Quedan por definir con antecedentes el WACC y la tolerancia admisible de error en el ahorro. Presentarlos como pendientes protege la credibilidad del control.
Transición sugerida: Fin de la exposición: abrir preguntas. Respaldo en el Excel (hojas EVA y CASO_SIMULADO) y en el Word de anexos.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PORTADA-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umine Motors">    </p:cNvPr>
          <p:cNvPicPr>
            <a:picLocks noChangeAspect="1"/>
          </p:cNvPicPr>
          <p:nvPr/>
        </p:nvPicPr>
        <p:blipFill>
          <a:blip r:embed="rId1"/>
          <a:stretch>
            <a:fillRect/>
          </a:stretch>
        </p:blipFill>
        <p:spPr>
          <a:xfrm>
            <a:off x="548640" y="384048"/>
            <a:ext cx="984563" cy="201168"/>
          </a:xfrm>
          <a:prstGeom prst="rect">
            <a:avLst/>
          </a:prstGeom>
        </p:spPr>
      </p:pic>
      <p:sp>
        <p:nvSpPr>
          <p:cNvPr id="3" name="Text 0"/>
          <p:cNvSpPr/>
          <p:nvPr>
            <p:ph idx="101" type="title" hasCustomPrompt="1"/>
          </p:nvPr>
        </p:nvSpPr>
        <p:spPr>
          <a:xfrm>
            <a:off x="548640" y="1298448"/>
            <a:ext cx="8778240" cy="1737360"/>
          </a:xfrm>
          <a:prstGeom prst="rect">
            <a:avLst/>
          </a:prstGeom>
          <a:noFill/>
          <a:ln/>
        </p:spPr>
        <p:txBody>
          <a:bodyPr wrap="square" rtlCol="0"/>
          <a:lstStyle>
            <a:lvl1pPr algn="l" indent="0" marL="0">
              <a:lnSpc>
                <a:spcPct val="90000"/>
              </a:lnSpc>
              <a:buNone/>
              <a:defRPr lang="en-US" sz="5400" dirty="0">
                <a:solidFill>
                  <a:schemeClr val="tx1"/>
                </a:solidFill>
                <a:latin typeface="Archivo SemiExpanded ExtraBold" pitchFamily="34" charset="0"/>
                <a:ea typeface="Archivo SemiExpanded ExtraBold" pitchFamily="34" charset="-122"/>
                <a:cs typeface="Archivo SemiExpanded ExtraBold" pitchFamily="34" charset="-120"/>
              </a:defRPr>
            </a:lvl1pPr>
          </a:lstStyle>
          <a:p>
            <a:pPr algn="l" indent="0" marL="0">
              <a:lnSpc>
                <a:spcPct val="90000"/>
              </a:lnSpc>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pic>
        <p:nvPicPr>
          <p:cNvPr id="2" name="Image 0" descr="Lumine Motors">    </p:cNvPr>
          <p:cNvPicPr>
            <a:picLocks noChangeAspect="1"/>
          </p:cNvPicPr>
          <p:nvPr/>
        </p:nvPicPr>
        <p:blipFill>
          <a:blip r:embed="rId1"/>
          <a:stretch>
            <a:fillRect/>
          </a:stretch>
        </p:blipFill>
        <p:spPr>
          <a:xfrm>
            <a:off x="548640" y="384048"/>
            <a:ext cx="984563" cy="201168"/>
          </a:xfrm>
          <a:prstGeom prst="rect">
            <a:avLst/>
          </a:prstGeom>
        </p:spPr>
      </p:pic>
      <p:sp>
        <p:nvSpPr>
          <p:cNvPr id="3" name="Text 0"/>
          <p:cNvSpPr/>
          <p:nvPr/>
        </p:nvSpPr>
        <p:spPr>
          <a:xfrm>
            <a:off x="5669280" y="365760"/>
            <a:ext cx="5973775" cy="237744"/>
          </a:xfrm>
          <a:prstGeom prst="rect">
            <a:avLst/>
          </a:prstGeom>
          <a:noFill/>
          <a:ln/>
        </p:spPr>
        <p:txBody>
          <a:bodyPr wrap="square" lIns="0" tIns="0" rIns="0" bIns="0" rtlCol="0" anchor="ctr"/>
          <a:lstStyle/>
          <a:p>
            <a:pPr algn="r" indent="0" marL="0">
              <a:buNone/>
            </a:pPr>
            <a:r>
              <a:rPr lang="en-US" sz="1100" spc="150" kern="0" dirty="0">
                <a:solidFill>
                  <a:schemeClr val="tx2"/>
                </a:solidFill>
                <a:latin typeface="IBM Plex Mono" pitchFamily="34" charset="0"/>
                <a:ea typeface="IBM Plex Mono" pitchFamily="34" charset="-122"/>
                <a:cs typeface="IBM Plex Mono" pitchFamily="34" charset="-120"/>
              </a:rPr>
              <a:t>CONTROL DE GESTIÓN · ICMA901 · SOLEMNE 2</a:t>
            </a:r>
            <a:endParaRPr lang="en-US" sz="1100" dirty="0"/>
          </a:p>
        </p:txBody>
      </p:sp>
      <p:sp>
        <p:nvSpPr>
          <p:cNvPr id="4" name="Text 1"/>
          <p:cNvSpPr/>
          <p:nvPr>
            <p:ph idx="102" type="body" hasCustomPrompt="1"/>
          </p:nvPr>
        </p:nvSpPr>
        <p:spPr>
          <a:xfrm>
            <a:off x="548640" y="841248"/>
            <a:ext cx="6949440" cy="274320"/>
          </a:xfrm>
          <a:prstGeom prst="rect">
            <a:avLst/>
          </a:prstGeom>
          <a:noFill/>
          <a:ln/>
        </p:spPr>
        <p:txBody>
          <a:bodyPr wrap="square" rtlCol="0"/>
          <a:lstStyle>
            <a:lvl1pPr indent="0" marL="0">
              <a:buNone/>
              <a:defRPr lang="en-US" sz="1200" spc="150" kern="0" dirty="0">
                <a:solidFill>
                  <a:schemeClr val="tx2"/>
                </a:solidFill>
                <a:latin typeface="IBM Plex Mono" pitchFamily="34" charset="0"/>
                <a:ea typeface="IBM Plex Mono" pitchFamily="34" charset="-122"/>
                <a:cs typeface="IBM Plex Mono" pitchFamily="34" charset="-120"/>
              </a:defRPr>
            </a:lvl1pPr>
          </a:lstStyle>
          <a:p>
            <a:pPr indent="0" marL="0">
              <a:buNone/>
            </a:pPr>
            <a:endParaRPr lang="en-US" sz="1200" dirty="0"/>
          </a:p>
        </p:txBody>
      </p:sp>
      <p:sp>
        <p:nvSpPr>
          <p:cNvPr id="5" name="Text 1"/>
          <p:cNvSpPr/>
          <p:nvPr>
            <p:ph idx="103" type="title" hasCustomPrompt="1"/>
          </p:nvPr>
        </p:nvSpPr>
        <p:spPr>
          <a:xfrm>
            <a:off x="548640" y="1243584"/>
            <a:ext cx="11094415" cy="1097280"/>
          </a:xfrm>
          <a:prstGeom prst="rect">
            <a:avLst/>
          </a:prstGeom>
          <a:noFill/>
          <a:ln/>
        </p:spPr>
        <p:txBody>
          <a:bodyPr wrap="square" rtlCol="0"/>
          <a:lstStyle>
            <a:lvl1pPr algn="l" indent="0" marL="0">
              <a:lnSpc>
                <a:spcPct val="86000"/>
              </a:lnSpc>
              <a:buNone/>
              <a:defRPr lang="en-US" sz="3400" dirty="0">
                <a:solidFill>
                  <a:schemeClr val="tx1"/>
                </a:solidFill>
                <a:latin typeface="Archivo SemiExpanded ExtraBold" pitchFamily="34" charset="0"/>
                <a:ea typeface="Archivo SemiExpanded ExtraBold" pitchFamily="34" charset="-122"/>
                <a:cs typeface="Archivo SemiExpanded ExtraBold" pitchFamily="34" charset="-120"/>
              </a:defRPr>
            </a:lvl1pPr>
          </a:lstStyle>
          <a:p>
            <a:pPr algn="l" indent="0" marL="0">
              <a:lnSpc>
                <a:spcPct val="86000"/>
              </a:lnSpc>
              <a:buNone/>
            </a:pPr>
            <a:endParaRPr lang="en-US" sz="34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583680" y="365760"/>
            <a:ext cx="5059375" cy="237744"/>
          </a:xfrm>
          <a:prstGeom prst="rect">
            <a:avLst/>
          </a:prstGeom>
          <a:noFill/>
          <a:ln/>
        </p:spPr>
        <p:txBody>
          <a:bodyPr wrap="square" lIns="0" tIns="0" rIns="0" bIns="0" rtlCol="0" anchor="ctr"/>
          <a:lstStyle/>
          <a:p>
            <a:pPr algn="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UNAB · OCTUBRE 2026</a:t>
            </a:r>
            <a:endParaRPr lang="es-CL" sz="1200" dirty="0"/>
          </a:p>
        </p:txBody>
      </p:sp>
      <p:sp>
        <p:nvSpPr>
          <p:cNvPr id="3" name="Text 1"/>
          <p:cNvSpPr txBox="1"/>
          <p:nvPr/>
        </p:nvSpPr>
        <p:spPr>
          <a:xfrm>
            <a:off x="548640" y="914400"/>
            <a:ext cx="11094415" cy="292608"/>
          </a:xfrm>
          <a:prstGeom prst="rect">
            <a:avLst/>
          </a:prstGeom>
          <a:noFill/>
          <a:ln/>
        </p:spPr>
        <p:txBody>
          <a:bodyPr wrap="square" lIns="0" tIns="0" rIns="0" bIns="0" rtlCol="0" anchor="ctr"/>
          <a:lstStyle/>
          <a:p>
            <a:pPr indent="0" marL="0">
              <a:buNone/>
            </a:pPr>
            <a:r>
              <a:rPr lang="es-CL" altLang="en-US" sz="1400" spc="100" kern="0" dirty="0">
                <a:solidFill>
                  <a:schemeClr val="accent1"/>
                </a:solidFill>
                <a:latin typeface="IBM Plex Mono" pitchFamily="34" charset="0"/>
                <a:ea typeface="IBM Plex Mono" pitchFamily="34" charset="-122"/>
                <a:cs typeface="IBM Plex Mono" pitchFamily="34" charset="-120"/>
              </a:rPr>
              <a:t>SOLEMNE 2</a:t>
            </a:r>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  ·  MAPA ESTRATÉGICO Y CUADRO DE MANDO INTEGRAL</a:t>
            </a:r>
            <a:endParaRPr lang="es-CL" sz="1400" dirty="0"/>
          </a:p>
        </p:txBody>
      </p:sp>
      <p:sp>
        <p:nvSpPr>
          <p:cNvPr id="4" name="Text 0"/>
          <p:cNvSpPr/>
          <p:nvPr>
            <p:ph idx="101" type="title" hasCustomPrompt="1"/>
          </p:nvPr>
        </p:nvSpPr>
        <p:spPr>
          <a:xfrm>
            <a:off x="548640" y="1298448"/>
            <a:ext cx="8778240" cy="1737360"/>
          </a:xfrm>
          <a:prstGeom prst="rect">
            <a:avLst/>
          </a:prstGeom>
          <a:noFill/>
          <a:ln/>
        </p:spPr>
        <p:txBody>
          <a:bodyPr wrap="square" lIns="0" tIns="0" rIns="0" bIns="0" rtlCol="0" anchor="t"/>
          <a:lstStyle/>
          <a:p>
            <a:pPr algn="l" indent="0" marL="0">
              <a:lnSpc>
                <a:spcPct val="90000"/>
              </a:lnSpc>
              <a:buNone/>
            </a:pPr>
            <a:r>
              <a:rPr lang="en-US" sz="5400" dirty="0">
                <a:solidFill>
                  <a:schemeClr val="tx1"/>
                </a:solidFill>
                <a:latin typeface="Archivo SemiExpanded ExtraBold" pitchFamily="34" charset="0"/>
                <a:ea typeface="Archivo SemiExpanded ExtraBold" pitchFamily="34" charset="-122"/>
                <a:cs typeface="Archivo SemiExpanded ExtraBold" pitchFamily="34" charset="-120"/>
              </a:rPr>
              <a:t>¿CÓMO CONTROLAR</a:t>
            </a:r>
            <a:endParaRPr lang="en-US" sz="5400" dirty="0"/>
          </a:p>
          <a:p>
            <a:pPr algn="l" indent="0" marL="0">
              <a:lnSpc>
                <a:spcPct val="90000"/>
              </a:lnSpc>
              <a:buNone/>
            </a:pPr>
            <a:r>
              <a:rPr lang="en-US" sz="4600" i="1" dirty="0">
                <a:solidFill>
                  <a:schemeClr val="accent1"/>
                </a:solidFill>
                <a:latin typeface="Instrument Serif" pitchFamily="34" charset="0"/>
                <a:ea typeface="Instrument Serif" pitchFamily="34" charset="-122"/>
                <a:cs typeface="Instrument Serif" pitchFamily="34" charset="-120"/>
              </a:rPr>
              <a:t>una empresa que aún no opera?</a:t>
            </a:r>
            <a:endParaRPr lang="en-US" sz="5400" dirty="0"/>
          </a:p>
        </p:txBody>
      </p:sp>
      <p:sp>
        <p:nvSpPr>
          <p:cNvPr id="5" name="Shape 3"/>
          <p:cNvSpPr/>
          <p:nvPr/>
        </p:nvSpPr>
        <p:spPr>
          <a:xfrm>
            <a:off x="548640" y="2743200"/>
            <a:ext cx="54864" cy="786384"/>
          </a:xfrm>
          <a:prstGeom prst="line">
            <a:avLst/>
          </a:prstGeom>
          <a:noFill/>
          <a:ln w="38100">
            <a:solidFill>
              <a:schemeClr val="accent1"/>
            </a:solidFill>
            <a:prstDash val="solid"/>
          </a:ln>
        </p:spPr>
      </p:sp>
      <p:sp>
        <p:nvSpPr>
          <p:cNvPr id="6" name="Text 4"/>
          <p:cNvSpPr txBox="1"/>
          <p:nvPr/>
        </p:nvSpPr>
        <p:spPr>
          <a:xfrm>
            <a:off x="822960" y="2724912"/>
            <a:ext cx="5120640" cy="822960"/>
          </a:xfrm>
          <a:prstGeom prst="rect">
            <a:avLst/>
          </a:prstGeom>
          <a:noFill/>
          <a:ln/>
        </p:spPr>
        <p:txBody>
          <a:bodyPr wrap="square" lIns="0" tIns="0" rIns="0" bIns="0" rtlCol="0" anchor="ctr"/>
          <a:lstStyle/>
          <a:p>
            <a:pPr indent="0" marL="0">
              <a:lnSpc>
                <a:spcPct val="105000"/>
              </a:lnSpc>
              <a:buNone/>
            </a:pPr>
            <a:r>
              <a:rPr lang="es-CL" altLang="en-US" sz="2200" b="1" dirty="0">
                <a:solidFill>
                  <a:schemeClr val="tx1"/>
                </a:solidFill>
                <a:latin typeface="Figtree" pitchFamily="34" charset="0"/>
                <a:ea typeface="Figtree" pitchFamily="34" charset="-122"/>
                <a:cs typeface="Figtree" pitchFamily="34" charset="-120"/>
              </a:rPr>
              <a:t>Lumine es preoperativa: </a:t>
            </a:r>
            <a:pPr indent="0" marL="0">
              <a:lnSpc>
                <a:spcPct val="105000"/>
              </a:lnSpc>
              <a:buNone/>
            </a:pPr>
            <a:r>
              <a:rPr lang="es-CL" altLang="en-US" sz="2200" dirty="0">
                <a:solidFill>
                  <a:schemeClr val="tx2"/>
                </a:solidFill>
                <a:latin typeface="Figtree" pitchFamily="34" charset="0"/>
                <a:ea typeface="Figtree" pitchFamily="34" charset="-122"/>
                <a:cs typeface="Figtree" pitchFamily="34" charset="-120"/>
              </a:rPr>
              <a:t>el tablero mide lo que falta demostrar, no logros.</a:t>
            </a:r>
            <a:endParaRPr lang="es-CL" sz="2200" dirty="0"/>
          </a:p>
        </p:txBody>
      </p:sp>
      <p:sp>
        <p:nvSpPr>
          <p:cNvPr id="7" name="Shape 5"/>
          <p:cNvSpPr/>
          <p:nvPr/>
        </p:nvSpPr>
        <p:spPr>
          <a:xfrm>
            <a:off x="548640" y="4956048"/>
            <a:ext cx="1097280" cy="0"/>
          </a:xfrm>
          <a:prstGeom prst="line">
            <a:avLst/>
          </a:prstGeom>
          <a:noFill/>
          <a:ln w="15875">
            <a:solidFill>
              <a:schemeClr val="accent1"/>
            </a:solidFill>
            <a:prstDash val="solid"/>
          </a:ln>
        </p:spPr>
      </p:sp>
      <p:sp>
        <p:nvSpPr>
          <p:cNvPr id="8" name="Text 6"/>
          <p:cNvSpPr txBox="1"/>
          <p:nvPr/>
        </p:nvSpPr>
        <p:spPr>
          <a:xfrm>
            <a:off x="548640" y="5102352"/>
            <a:ext cx="3429000" cy="1097280"/>
          </a:xfrm>
          <a:prstGeom prst="rect">
            <a:avLst/>
          </a:prstGeom>
          <a:noFill/>
          <a:ln/>
        </p:spPr>
        <p:txBody>
          <a:bodyPr wrap="square" lIns="0" tIns="0" rIns="0" bIns="0" rtlCol="0" anchor="t"/>
          <a:lstStyle/>
          <a:p>
            <a:pPr indent="0" marL="0">
              <a:lnSpc>
                <a:spcPct val="115000"/>
              </a:lnSpc>
              <a:buNone/>
            </a:pPr>
            <a:r>
              <a:rPr lang="es-CL" altLang="en-US" sz="1200" b="1" dirty="0">
                <a:solidFill>
                  <a:schemeClr val="tx1"/>
                </a:solidFill>
                <a:latin typeface="Figtree" pitchFamily="34" charset="0"/>
                <a:ea typeface="Figtree" pitchFamily="34" charset="-122"/>
                <a:cs typeface="Figtree" pitchFamily="34" charset="-120"/>
              </a:rPr>
              <a:t>Control de Gestión · ICMA901</a:t>
            </a:r>
            <a:endParaRPr lang="es-CL" sz="1200" dirty="0"/>
          </a:p>
          <a:p>
            <a:pPr indent="0" marL="0">
              <a:lnSpc>
                <a:spcPct val="115000"/>
              </a:lnSpc>
              <a:buNone/>
            </a:pPr>
            <a:r>
              <a:rPr lang="es-CL" altLang="en-US" sz="1200" dirty="0">
                <a:solidFill>
                  <a:schemeClr val="tx2"/>
                </a:solidFill>
                <a:latin typeface="Figtree" pitchFamily="34" charset="0"/>
                <a:ea typeface="Figtree" pitchFamily="34" charset="-122"/>
                <a:cs typeface="Figtree" pitchFamily="34" charset="-120"/>
              </a:rPr>
              <a:t>Sección 500 · NRC 4118 · UNAB</a:t>
            </a:r>
            <a:endParaRPr lang="es-CL" sz="1200" dirty="0"/>
          </a:p>
          <a:p>
            <a:pPr indent="0" marL="0">
              <a:lnSpc>
                <a:spcPct val="115000"/>
              </a:lnSpc>
              <a:buNone/>
            </a:pPr>
            <a:r>
              <a:rPr lang="es-CL" altLang="en-US" sz="1200" dirty="0">
                <a:solidFill>
                  <a:schemeClr val="tx2"/>
                </a:solidFill>
                <a:latin typeface="Figtree" pitchFamily="34" charset="0"/>
                <a:ea typeface="Figtree" pitchFamily="34" charset="-122"/>
                <a:cs typeface="Figtree" pitchFamily="34" charset="-120"/>
              </a:rPr>
              <a:t>Diego Alarcón · Benjamín Torres · Lukas Verdugo</a:t>
            </a:r>
            <a:endParaRPr lang="es-CL" sz="1200" dirty="0"/>
          </a:p>
        </p:txBody>
      </p:sp>
      <p:sp>
        <p:nvSpPr>
          <p:cNvPr id="9" name="Shape 7"/>
          <p:cNvSpPr/>
          <p:nvPr/>
        </p:nvSpPr>
        <p:spPr>
          <a:xfrm>
            <a:off x="5010912" y="6163056"/>
            <a:ext cx="4297680" cy="0"/>
          </a:xfrm>
          <a:prstGeom prst="line">
            <a:avLst/>
          </a:prstGeom>
          <a:noFill/>
          <a:ln w="9525">
            <a:solidFill>
              <a:schemeClr val="tx2"/>
            </a:solidFill>
            <a:prstDash val="solid"/>
          </a:ln>
        </p:spPr>
      </p:sp>
      <p:sp>
        <p:nvSpPr>
          <p:cNvPr id="10" name="Shape 8"/>
          <p:cNvSpPr/>
          <p:nvPr/>
        </p:nvSpPr>
        <p:spPr>
          <a:xfrm>
            <a:off x="5010912" y="4608576"/>
            <a:ext cx="0" cy="1554480"/>
          </a:xfrm>
          <a:prstGeom prst="line">
            <a:avLst/>
          </a:prstGeom>
          <a:noFill/>
          <a:ln w="9525">
            <a:solidFill>
              <a:schemeClr val="tx2"/>
            </a:solidFill>
            <a:prstDash val="sysDot"/>
          </a:ln>
        </p:spPr>
      </p:sp>
      <p:sp>
        <p:nvSpPr>
          <p:cNvPr id="11" name="Shape 9"/>
          <p:cNvSpPr/>
          <p:nvPr/>
        </p:nvSpPr>
        <p:spPr>
          <a:xfrm>
            <a:off x="4956048" y="4489704"/>
            <a:ext cx="109728" cy="109728"/>
          </a:xfrm>
          <a:prstGeom prst="ellipse">
            <a:avLst/>
          </a:prstGeom>
          <a:solidFill>
            <a:schemeClr val="accent1"/>
          </a:solidFill>
          <a:ln w="9525">
            <a:solidFill>
              <a:schemeClr val="tx1"/>
            </a:solidFill>
            <a:prstDash val="solid"/>
          </a:ln>
        </p:spPr>
      </p:sp>
      <p:sp>
        <p:nvSpPr>
          <p:cNvPr id="12" name="Shape 10"/>
          <p:cNvSpPr/>
          <p:nvPr/>
        </p:nvSpPr>
        <p:spPr>
          <a:xfrm>
            <a:off x="4978908" y="6131052"/>
            <a:ext cx="64008" cy="64008"/>
          </a:xfrm>
          <a:prstGeom prst="rect">
            <a:avLst/>
          </a:prstGeom>
          <a:solidFill>
            <a:schemeClr val="tx1"/>
          </a:solidFill>
          <a:ln/>
        </p:spPr>
      </p:sp>
      <p:sp>
        <p:nvSpPr>
          <p:cNvPr id="13" name="Text 11"/>
          <p:cNvSpPr txBox="1"/>
          <p:nvPr/>
        </p:nvSpPr>
        <p:spPr>
          <a:xfrm>
            <a:off x="4005072" y="6254496"/>
            <a:ext cx="2011680" cy="457200"/>
          </a:xfrm>
          <a:prstGeom prst="rect">
            <a:avLst/>
          </a:prstGeom>
          <a:noFill/>
          <a:ln/>
        </p:spPr>
        <p:txBody>
          <a:bodyPr wrap="square" lIns="0" tIns="0" rIns="0" bIns="0" rtlCol="0" anchor="t"/>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MOTOR ORIGINAL</a:t>
            </a:r>
            <a:endParaRPr lang="es-CL" sz="1200" dirty="0"/>
          </a:p>
          <a:p>
            <a:pPr algn="ctr" indent="0" marL="0">
              <a:buNone/>
            </a:pPr>
            <a:r>
              <a:rPr lang="es-CL" altLang="en-US" sz="1200" dirty="0">
                <a:solidFill>
                  <a:schemeClr val="tx2"/>
                </a:solidFill>
                <a:latin typeface="Figtree" pitchFamily="34" charset="0"/>
                <a:ea typeface="Figtree" pitchFamily="34" charset="-122"/>
                <a:cs typeface="Figtree" pitchFamily="34" charset="-120"/>
              </a:rPr>
              <a:t>intacto</a:t>
            </a:r>
            <a:endParaRPr lang="es-CL" sz="1200" dirty="0"/>
          </a:p>
        </p:txBody>
      </p:sp>
      <p:sp>
        <p:nvSpPr>
          <p:cNvPr id="14" name="Shape 12"/>
          <p:cNvSpPr/>
          <p:nvPr/>
        </p:nvSpPr>
        <p:spPr>
          <a:xfrm>
            <a:off x="6931152" y="5166360"/>
            <a:ext cx="0" cy="996696"/>
          </a:xfrm>
          <a:prstGeom prst="line">
            <a:avLst/>
          </a:prstGeom>
          <a:noFill/>
          <a:ln w="9525">
            <a:solidFill>
              <a:schemeClr val="tx2"/>
            </a:solidFill>
            <a:prstDash val="sysDot"/>
          </a:ln>
        </p:spPr>
      </p:sp>
      <p:sp>
        <p:nvSpPr>
          <p:cNvPr id="15" name="Shape 13"/>
          <p:cNvSpPr/>
          <p:nvPr/>
        </p:nvSpPr>
        <p:spPr>
          <a:xfrm>
            <a:off x="6876288" y="5047488"/>
            <a:ext cx="109728" cy="109728"/>
          </a:xfrm>
          <a:prstGeom prst="ellipse">
            <a:avLst/>
          </a:prstGeom>
          <a:solidFill>
            <a:schemeClr val="accent1"/>
          </a:solidFill>
          <a:ln w="9525">
            <a:solidFill>
              <a:schemeClr val="tx1"/>
            </a:solidFill>
            <a:prstDash val="solid"/>
          </a:ln>
        </p:spPr>
      </p:sp>
      <p:sp>
        <p:nvSpPr>
          <p:cNvPr id="16" name="Shape 14"/>
          <p:cNvSpPr/>
          <p:nvPr/>
        </p:nvSpPr>
        <p:spPr>
          <a:xfrm>
            <a:off x="6899148" y="6131052"/>
            <a:ext cx="64008" cy="64008"/>
          </a:xfrm>
          <a:prstGeom prst="rect">
            <a:avLst/>
          </a:prstGeom>
          <a:solidFill>
            <a:schemeClr val="tx1"/>
          </a:solidFill>
          <a:ln/>
        </p:spPr>
      </p:sp>
      <p:sp>
        <p:nvSpPr>
          <p:cNvPr id="17" name="Text 15"/>
          <p:cNvSpPr txBox="1"/>
          <p:nvPr/>
        </p:nvSpPr>
        <p:spPr>
          <a:xfrm>
            <a:off x="5925312" y="6254496"/>
            <a:ext cx="2011680" cy="457200"/>
          </a:xfrm>
          <a:prstGeom prst="rect">
            <a:avLst/>
          </a:prstGeom>
          <a:noFill/>
          <a:ln/>
        </p:spPr>
        <p:txBody>
          <a:bodyPr wrap="square" lIns="0" tIns="0" rIns="0" bIns="0" rtlCol="0" anchor="t"/>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BATERÍA</a:t>
            </a:r>
            <a:endParaRPr lang="es-CL" sz="1200" dirty="0"/>
          </a:p>
          <a:p>
            <a:pPr algn="ctr" indent="0" marL="0">
              <a:buNone/>
            </a:pPr>
            <a:r>
              <a:rPr lang="es-CL" altLang="en-US" sz="1200" dirty="0">
                <a:solidFill>
                  <a:schemeClr val="tx2"/>
                </a:solidFill>
                <a:latin typeface="Figtree" pitchFamily="34" charset="0"/>
                <a:ea typeface="Figtree" pitchFamily="34" charset="-122"/>
                <a:cs typeface="Figtree" pitchFamily="34" charset="-120"/>
              </a:rPr>
              <a:t>bajo el piso</a:t>
            </a:r>
            <a:endParaRPr lang="es-CL" sz="1200" dirty="0"/>
          </a:p>
        </p:txBody>
      </p:sp>
      <p:sp>
        <p:nvSpPr>
          <p:cNvPr id="18" name="Shape 16"/>
          <p:cNvSpPr/>
          <p:nvPr/>
        </p:nvSpPr>
        <p:spPr>
          <a:xfrm>
            <a:off x="9308592" y="5102352"/>
            <a:ext cx="0" cy="1060704"/>
          </a:xfrm>
          <a:prstGeom prst="line">
            <a:avLst/>
          </a:prstGeom>
          <a:noFill/>
          <a:ln w="9525">
            <a:solidFill>
              <a:schemeClr val="tx2"/>
            </a:solidFill>
            <a:prstDash val="sysDot"/>
          </a:ln>
        </p:spPr>
      </p:sp>
      <p:sp>
        <p:nvSpPr>
          <p:cNvPr id="19" name="Shape 17"/>
          <p:cNvSpPr/>
          <p:nvPr/>
        </p:nvSpPr>
        <p:spPr>
          <a:xfrm>
            <a:off x="9253728" y="4983480"/>
            <a:ext cx="109728" cy="109728"/>
          </a:xfrm>
          <a:prstGeom prst="ellipse">
            <a:avLst/>
          </a:prstGeom>
          <a:solidFill>
            <a:schemeClr val="accent1"/>
          </a:solidFill>
          <a:ln w="9525">
            <a:solidFill>
              <a:schemeClr val="tx1"/>
            </a:solidFill>
            <a:prstDash val="solid"/>
          </a:ln>
        </p:spPr>
      </p:sp>
      <p:sp>
        <p:nvSpPr>
          <p:cNvPr id="20" name="Shape 18"/>
          <p:cNvSpPr/>
          <p:nvPr/>
        </p:nvSpPr>
        <p:spPr>
          <a:xfrm>
            <a:off x="9276588" y="6131052"/>
            <a:ext cx="64008" cy="64008"/>
          </a:xfrm>
          <a:prstGeom prst="rect">
            <a:avLst/>
          </a:prstGeom>
          <a:solidFill>
            <a:schemeClr val="tx1"/>
          </a:solidFill>
          <a:ln/>
        </p:spPr>
      </p:sp>
      <p:sp>
        <p:nvSpPr>
          <p:cNvPr id="21" name="Text 19"/>
          <p:cNvSpPr txBox="1"/>
          <p:nvPr/>
        </p:nvSpPr>
        <p:spPr>
          <a:xfrm>
            <a:off x="8302752" y="6254496"/>
            <a:ext cx="2011680" cy="457200"/>
          </a:xfrm>
          <a:prstGeom prst="rect">
            <a:avLst/>
          </a:prstGeom>
          <a:noFill/>
          <a:ln/>
        </p:spPr>
        <p:txBody>
          <a:bodyPr wrap="square" lIns="0" tIns="0" rIns="0" bIns="0" rtlCol="0" anchor="t"/>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TRACCIÓN ELÉCTRICA</a:t>
            </a:r>
            <a:endParaRPr lang="es-CL" sz="1200" dirty="0"/>
          </a:p>
          <a:p>
            <a:pPr algn="ctr" indent="0" marL="0">
              <a:buNone/>
            </a:pPr>
            <a:r>
              <a:rPr lang="es-CL" altLang="en-US" sz="1200" dirty="0">
                <a:solidFill>
                  <a:schemeClr val="tx2"/>
                </a:solidFill>
                <a:latin typeface="Figtree" pitchFamily="34" charset="0"/>
                <a:ea typeface="Figtree" pitchFamily="34" charset="-122"/>
                <a:cs typeface="Figtree" pitchFamily="34" charset="-120"/>
              </a:rPr>
              <a:t>eje trasero</a:t>
            </a:r>
            <a:endParaRPr lang="es-CL" sz="1200" dirty="0"/>
          </a:p>
        </p:txBody>
      </p:sp>
      <p:sp>
        <p:nvSpPr>
          <p:cNvPr id="22" name="Text 20"/>
          <p:cNvSpPr txBox="1"/>
          <p:nvPr/>
        </p:nvSpPr>
        <p:spPr>
          <a:xfrm>
            <a:off x="8899855" y="640080"/>
            <a:ext cx="2743200" cy="237744"/>
          </a:xfrm>
          <a:prstGeom prst="rect">
            <a:avLst/>
          </a:prstGeom>
          <a:noFill/>
          <a:ln/>
        </p:spPr>
        <p:txBody>
          <a:bodyPr wrap="square" lIns="0" tIns="0" rIns="0" bIns="0" rtlCol="0" anchor="t"/>
          <a:lstStyle/>
          <a:p>
            <a:pPr algn="r" indent="0" marL="0">
              <a:buNone/>
            </a:pPr>
            <a:r>
              <a:rPr lang="es-CL" altLang="en-US" sz="1100" spc="100" kern="0" dirty="0">
                <a:solidFill>
                  <a:schemeClr val="tx2"/>
                </a:solidFill>
                <a:latin typeface="IBM Plex Mono" pitchFamily="34" charset="0"/>
                <a:ea typeface="IBM Plex Mono" pitchFamily="34" charset="-122"/>
                <a:cs typeface="IBM Plex Mono" pitchFamily="34" charset="-120"/>
              </a:rPr>
              <a:t>ILUSTRACIÓN DEL KIT</a:t>
            </a:r>
            <a:endParaRPr lang="es-CL"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01</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CONTEXTO · EL NEGOCIO</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NEGOCIO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y sus condiciones.</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contexto vigente de Lumine Motors (17-10-2026). El ahorro es una estimación de ingeniería, no medida en autos chilenos. Imagen ilustrativa del kit.</a:t>
            </a:r>
            <a:endParaRPr lang="es-CL" sz="1100" dirty="0"/>
          </a:p>
        </p:txBody>
      </p:sp>
      <p:pic>
        <p:nvPicPr>
          <p:cNvPr id="5" name="Image 0" descr="Ilustración del kit: batería bajo el piso y motor eléctrico en el eje trasero">    </p:cNvPr>
          <p:cNvPicPr>
            <a:picLocks noChangeAspect="1"/>
          </p:cNvPicPr>
          <p:nvPr/>
        </p:nvPicPr>
        <p:blipFill>
          <a:blip r:embed="rId1"/>
          <a:stretch>
            <a:fillRect/>
          </a:stretch>
        </p:blipFill>
        <p:spPr>
          <a:xfrm>
            <a:off x="548640" y="2395728"/>
            <a:ext cx="4480560" cy="3796179"/>
          </a:xfrm>
          <a:prstGeom prst="rect">
            <a:avLst/>
          </a:prstGeom>
        </p:spPr>
      </p:pic>
      <p:sp>
        <p:nvSpPr>
          <p:cNvPr id="6" name="Shape 3"/>
          <p:cNvSpPr/>
          <p:nvPr/>
        </p:nvSpPr>
        <p:spPr>
          <a:xfrm>
            <a:off x="548640" y="2395728"/>
            <a:ext cx="4480560" cy="3796179"/>
          </a:xfrm>
          <a:prstGeom prst="rect">
            <a:avLst/>
          </a:prstGeom>
          <a:solidFill>
            <a:schemeClr val="bg1">
              <a:alpha val="0"/>
            </a:schemeClr>
          </a:solidFill>
          <a:ln w="9525">
            <a:solidFill>
              <a:schemeClr val="accent5"/>
            </a:solidFill>
            <a:prstDash val="solid"/>
          </a:ln>
        </p:spPr>
      </p:sp>
      <p:sp>
        <p:nvSpPr>
          <p:cNvPr id="7" name="Text 4"/>
          <p:cNvSpPr txBox="1"/>
          <p:nvPr/>
        </p:nvSpPr>
        <p:spPr>
          <a:xfrm>
            <a:off x="713232" y="2523744"/>
            <a:ext cx="2743200" cy="237744"/>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IMAGEN ILUSTRATIVA</a:t>
            </a:r>
            <a:endParaRPr lang="es-CL" sz="1200" dirty="0"/>
          </a:p>
        </p:txBody>
      </p:sp>
      <p:sp>
        <p:nvSpPr>
          <p:cNvPr id="8" name="Text 5"/>
          <p:cNvSpPr txBox="1"/>
          <p:nvPr/>
        </p:nvSpPr>
        <p:spPr>
          <a:xfrm>
            <a:off x="5486400" y="2395728"/>
            <a:ext cx="5973775" cy="640080"/>
          </a:xfrm>
          <a:prstGeom prst="rect">
            <a:avLst/>
          </a:prstGeom>
          <a:noFill/>
          <a:ln/>
        </p:spPr>
        <p:txBody>
          <a:bodyPr wrap="square" lIns="0" tIns="0" rIns="0" bIns="0" rtlCol="0" anchor="ctr"/>
          <a:lstStyle/>
          <a:p>
            <a:pPr indent="0" marL="0">
              <a:buNone/>
            </a:pPr>
            <a:r>
              <a:rPr lang="es-CL" altLang="en-US" sz="2000" b="1" dirty="0">
                <a:solidFill>
                  <a:schemeClr val="tx1"/>
                </a:solidFill>
                <a:latin typeface="Figtree" pitchFamily="34" charset="0"/>
                <a:ea typeface="Figtree" pitchFamily="34" charset="-122"/>
                <a:cs typeface="Figtree" pitchFamily="34" charset="-120"/>
              </a:rPr>
              <a:t>Asistencia eléctrica en el eje trasero, sin enchufe.</a:t>
            </a:r>
            <a:endParaRPr lang="es-CL" sz="2000" dirty="0"/>
          </a:p>
        </p:txBody>
      </p:sp>
      <p:sp>
        <p:nvSpPr>
          <p:cNvPr id="9" name="Shape 6"/>
          <p:cNvSpPr/>
          <p:nvPr/>
        </p:nvSpPr>
        <p:spPr>
          <a:xfrm>
            <a:off x="5486400" y="3035808"/>
            <a:ext cx="6156655" cy="0"/>
          </a:xfrm>
          <a:prstGeom prst="line">
            <a:avLst/>
          </a:prstGeom>
          <a:noFill/>
          <a:ln w="9525">
            <a:solidFill>
              <a:schemeClr val="accent5"/>
            </a:solidFill>
            <a:prstDash val="solid"/>
          </a:ln>
        </p:spPr>
      </p:sp>
      <p:sp>
        <p:nvSpPr>
          <p:cNvPr id="10" name="Text 7"/>
          <p:cNvSpPr txBox="1"/>
          <p:nvPr/>
        </p:nvSpPr>
        <p:spPr>
          <a:xfrm>
            <a:off x="5486400" y="3035808"/>
            <a:ext cx="5973775" cy="640080"/>
          </a:xfrm>
          <a:prstGeom prst="rect">
            <a:avLst/>
          </a:prstGeom>
          <a:noFill/>
          <a:ln/>
        </p:spPr>
        <p:txBody>
          <a:bodyPr wrap="square" lIns="0" tIns="0" rIns="0" bIns="0" rtlCol="0" anchor="ctr"/>
          <a:lstStyle/>
          <a:p>
            <a:pPr indent="0" marL="0">
              <a:buNone/>
            </a:pPr>
            <a:r>
              <a:rPr lang="es-CL" altLang="en-US" sz="2000" b="1" dirty="0">
                <a:solidFill>
                  <a:schemeClr val="tx1"/>
                </a:solidFill>
                <a:latin typeface="Figtree" pitchFamily="34" charset="0"/>
                <a:ea typeface="Figtree" pitchFamily="34" charset="-122"/>
                <a:cs typeface="Figtree" pitchFamily="34" charset="-120"/>
              </a:rPr>
              <a:t>El motor original se mantiene.</a:t>
            </a:r>
            <a:endParaRPr lang="es-CL" sz="2000" dirty="0"/>
          </a:p>
        </p:txBody>
      </p:sp>
      <p:sp>
        <p:nvSpPr>
          <p:cNvPr id="11" name="Shape 8"/>
          <p:cNvSpPr/>
          <p:nvPr/>
        </p:nvSpPr>
        <p:spPr>
          <a:xfrm>
            <a:off x="5486400" y="3675888"/>
            <a:ext cx="6156655" cy="0"/>
          </a:xfrm>
          <a:prstGeom prst="line">
            <a:avLst/>
          </a:prstGeom>
          <a:noFill/>
          <a:ln w="9525">
            <a:solidFill>
              <a:schemeClr val="accent5"/>
            </a:solidFill>
            <a:prstDash val="solid"/>
          </a:ln>
        </p:spPr>
      </p:sp>
      <p:sp>
        <p:nvSpPr>
          <p:cNvPr id="12" name="Shape 9"/>
          <p:cNvSpPr/>
          <p:nvPr/>
        </p:nvSpPr>
        <p:spPr>
          <a:xfrm>
            <a:off x="8586419" y="3813048"/>
            <a:ext cx="3056636" cy="365760"/>
          </a:xfrm>
          <a:prstGeom prst="rect">
            <a:avLst/>
          </a:prstGeom>
          <a:solidFill>
            <a:schemeClr val="bg1">
              <a:alpha val="0"/>
            </a:schemeClr>
          </a:solidFill>
          <a:ln w="12700">
            <a:solidFill>
              <a:schemeClr val="tx2"/>
            </a:solidFill>
            <a:prstDash val="dash"/>
          </a:ln>
        </p:spPr>
      </p:sp>
      <p:sp>
        <p:nvSpPr>
          <p:cNvPr id="13" name="Text 10"/>
          <p:cNvSpPr txBox="1"/>
          <p:nvPr/>
        </p:nvSpPr>
        <p:spPr>
          <a:xfrm>
            <a:off x="8696147" y="3813048"/>
            <a:ext cx="2837180" cy="365760"/>
          </a:xfrm>
          <a:prstGeom prst="rect">
            <a:avLst/>
          </a:prstGeom>
          <a:noFill/>
          <a:ln/>
        </p:spPr>
        <p:txBody>
          <a:bodyPr wrap="square" lIns="0" tIns="0" rIns="0" bIns="0" rtlCol="0" anchor="ctr"/>
          <a:lstStyle/>
          <a:p>
            <a:pPr algn="ct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ESTIMACIÓN, NO MEDICIÓN</a:t>
            </a:r>
            <a:endParaRPr lang="es-CL" sz="1400" dirty="0"/>
          </a:p>
        </p:txBody>
      </p:sp>
      <p:sp>
        <p:nvSpPr>
          <p:cNvPr id="14" name="Text 11"/>
          <p:cNvSpPr txBox="1"/>
          <p:nvPr/>
        </p:nvSpPr>
        <p:spPr>
          <a:xfrm>
            <a:off x="5486400" y="3675888"/>
            <a:ext cx="2917139" cy="640080"/>
          </a:xfrm>
          <a:prstGeom prst="rect">
            <a:avLst/>
          </a:prstGeom>
          <a:noFill/>
          <a:ln/>
        </p:spPr>
        <p:txBody>
          <a:bodyPr wrap="square" lIns="0" tIns="0" rIns="0" bIns="0" rtlCol="0" anchor="ctr"/>
          <a:lstStyle/>
          <a:p>
            <a:pPr indent="0" marL="0">
              <a:buNone/>
            </a:pPr>
            <a:r>
              <a:rPr lang="es-CL" altLang="en-US" sz="2000" dirty="0">
                <a:solidFill>
                  <a:schemeClr val="tx1"/>
                </a:solidFill>
                <a:latin typeface="Figtree" pitchFamily="34" charset="0"/>
                <a:ea typeface="Figtree" pitchFamily="34" charset="-122"/>
                <a:cs typeface="Figtree" pitchFamily="34" charset="-120"/>
              </a:rPr>
              <a:t>Hasta 20% menos bencina en ciudad</a:t>
            </a:r>
            <a:endParaRPr lang="es-CL" sz="2000" dirty="0"/>
          </a:p>
        </p:txBody>
      </p:sp>
      <p:sp>
        <p:nvSpPr>
          <p:cNvPr id="15" name="Shape 12"/>
          <p:cNvSpPr/>
          <p:nvPr/>
        </p:nvSpPr>
        <p:spPr>
          <a:xfrm>
            <a:off x="5486400" y="4315968"/>
            <a:ext cx="6156655" cy="0"/>
          </a:xfrm>
          <a:prstGeom prst="line">
            <a:avLst/>
          </a:prstGeom>
          <a:noFill/>
          <a:ln w="9525">
            <a:solidFill>
              <a:schemeClr val="accent5"/>
            </a:solidFill>
            <a:prstDash val="solid"/>
          </a:ln>
        </p:spPr>
      </p:sp>
      <p:sp>
        <p:nvSpPr>
          <p:cNvPr id="16" name="Shape 13"/>
          <p:cNvSpPr/>
          <p:nvPr/>
        </p:nvSpPr>
        <p:spPr>
          <a:xfrm>
            <a:off x="8468055" y="4453128"/>
            <a:ext cx="3175000" cy="365760"/>
          </a:xfrm>
          <a:prstGeom prst="rect">
            <a:avLst/>
          </a:prstGeom>
          <a:solidFill>
            <a:schemeClr val="bg1">
              <a:alpha val="0"/>
            </a:schemeClr>
          </a:solidFill>
          <a:ln w="15875">
            <a:solidFill>
              <a:srgbClr val="F87171"/>
            </a:solidFill>
            <a:prstDash val="solid"/>
          </a:ln>
        </p:spPr>
      </p:sp>
      <p:sp>
        <p:nvSpPr>
          <p:cNvPr id="17" name="Shape 14"/>
          <p:cNvSpPr/>
          <p:nvPr/>
        </p:nvSpPr>
        <p:spPr>
          <a:xfrm>
            <a:off x="8605215" y="4562856"/>
            <a:ext cx="146304" cy="146304"/>
          </a:xfrm>
          <a:prstGeom prst="ellipse">
            <a:avLst/>
          </a:prstGeom>
          <a:solidFill>
            <a:srgbClr val="F87171"/>
          </a:solidFill>
          <a:ln/>
        </p:spPr>
      </p:sp>
      <p:sp>
        <p:nvSpPr>
          <p:cNvPr id="18" name="Text 15"/>
          <p:cNvSpPr txBox="1"/>
          <p:nvPr/>
        </p:nvSpPr>
        <p:spPr>
          <a:xfrm>
            <a:off x="8833815" y="4453128"/>
            <a:ext cx="2717800" cy="365760"/>
          </a:xfrm>
          <a:prstGeom prst="rect">
            <a:avLst/>
          </a:prstGeom>
          <a:noFill/>
          <a:ln/>
        </p:spPr>
        <p:txBody>
          <a:bodyPr wrap="square" lIns="0" tIns="0" rIns="0" bIns="0" rtlCol="0" anchor="ctr"/>
          <a:lstStyle/>
          <a:p>
            <a:pPr indent="0" marL="0">
              <a:buNone/>
            </a:pPr>
            <a:r>
              <a:rPr lang="es-CL" altLang="en-US" sz="1400" b="1" spc="100" kern="0" dirty="0">
                <a:solidFill>
                  <a:srgbClr val="F87171"/>
                </a:solidFill>
                <a:latin typeface="IBM Plex Mono" pitchFamily="34" charset="0"/>
                <a:ea typeface="IBM Plex Mono" pitchFamily="34" charset="-122"/>
                <a:cs typeface="IBM Plex Mono" pitchFamily="34" charset="-120"/>
              </a:rPr>
              <a:t>HITO CRÍTICO PENDIENTE</a:t>
            </a:r>
            <a:endParaRPr lang="es-CL" sz="1400" dirty="0"/>
          </a:p>
        </p:txBody>
      </p:sp>
      <p:sp>
        <p:nvSpPr>
          <p:cNvPr id="19" name="Text 16"/>
          <p:cNvSpPr txBox="1"/>
          <p:nvPr/>
        </p:nvSpPr>
        <p:spPr>
          <a:xfrm>
            <a:off x="5486400" y="4315968"/>
            <a:ext cx="2798775" cy="640080"/>
          </a:xfrm>
          <a:prstGeom prst="rect">
            <a:avLst/>
          </a:prstGeom>
          <a:noFill/>
          <a:ln/>
        </p:spPr>
        <p:txBody>
          <a:bodyPr wrap="square" lIns="0" tIns="0" rIns="0" bIns="0" rtlCol="0" anchor="ctr"/>
          <a:lstStyle/>
          <a:p>
            <a:pPr indent="0" marL="0">
              <a:buNone/>
            </a:pPr>
            <a:r>
              <a:rPr lang="es-CL" altLang="en-US" sz="2000" dirty="0">
                <a:solidFill>
                  <a:schemeClr val="tx1"/>
                </a:solidFill>
                <a:latin typeface="Figtree" pitchFamily="34" charset="0"/>
                <a:ea typeface="Figtree" pitchFamily="34" charset="-122"/>
                <a:cs typeface="Figtree" pitchFamily="34" charset="-120"/>
              </a:rPr>
              <a:t>Reglamento y homologación</a:t>
            </a:r>
            <a:endParaRPr lang="es-CL" sz="2000" dirty="0"/>
          </a:p>
        </p:txBody>
      </p:sp>
      <p:sp>
        <p:nvSpPr>
          <p:cNvPr id="20" name="Shape 17"/>
          <p:cNvSpPr/>
          <p:nvPr/>
        </p:nvSpPr>
        <p:spPr>
          <a:xfrm>
            <a:off x="5486400" y="4956048"/>
            <a:ext cx="6156655" cy="0"/>
          </a:xfrm>
          <a:prstGeom prst="line">
            <a:avLst/>
          </a:prstGeom>
          <a:noFill/>
          <a:ln w="9525">
            <a:solidFill>
              <a:schemeClr val="accent5"/>
            </a:solidFill>
            <a:prstDash val="solid"/>
          </a:ln>
        </p:spPr>
      </p:sp>
      <p:sp>
        <p:nvSpPr>
          <p:cNvPr id="21" name="Shape 18"/>
          <p:cNvSpPr/>
          <p:nvPr/>
        </p:nvSpPr>
        <p:spPr>
          <a:xfrm>
            <a:off x="9423095" y="5093208"/>
            <a:ext cx="2219960" cy="365760"/>
          </a:xfrm>
          <a:prstGeom prst="rect">
            <a:avLst/>
          </a:prstGeom>
          <a:solidFill>
            <a:schemeClr val="bg1">
              <a:alpha val="0"/>
            </a:schemeClr>
          </a:solidFill>
          <a:ln w="15875">
            <a:solidFill>
              <a:srgbClr val="8B9598"/>
            </a:solidFill>
            <a:prstDash val="solid"/>
          </a:ln>
        </p:spPr>
      </p:sp>
      <p:sp>
        <p:nvSpPr>
          <p:cNvPr id="22" name="Shape 19"/>
          <p:cNvSpPr/>
          <p:nvPr/>
        </p:nvSpPr>
        <p:spPr>
          <a:xfrm>
            <a:off x="9560255" y="5202936"/>
            <a:ext cx="146304" cy="146304"/>
          </a:xfrm>
          <a:prstGeom prst="ellipse">
            <a:avLst/>
          </a:prstGeom>
          <a:solidFill>
            <a:srgbClr val="8B9598"/>
          </a:solidFill>
          <a:ln/>
        </p:spPr>
      </p:sp>
      <p:sp>
        <p:nvSpPr>
          <p:cNvPr id="23" name="Text 20"/>
          <p:cNvSpPr txBox="1"/>
          <p:nvPr/>
        </p:nvSpPr>
        <p:spPr>
          <a:xfrm>
            <a:off x="9788855" y="5093208"/>
            <a:ext cx="1762760" cy="365760"/>
          </a:xfrm>
          <a:prstGeom prst="rect">
            <a:avLst/>
          </a:prstGeom>
          <a:noFill/>
          <a:ln/>
        </p:spPr>
        <p:txBody>
          <a:bodyPr wrap="square" lIns="0" tIns="0" rIns="0" bIns="0" rtlCol="0" anchor="ctr"/>
          <a:lstStyle/>
          <a:p>
            <a:pPr indent="0" marL="0">
              <a:buNone/>
            </a:pPr>
            <a:r>
              <a:rPr lang="es-CL" altLang="en-US" sz="1400" b="1" spc="100" kern="0" dirty="0">
                <a:solidFill>
                  <a:srgbClr val="8B9598"/>
                </a:solidFill>
                <a:latin typeface="IBM Plex Mono" pitchFamily="34" charset="0"/>
                <a:ea typeface="IBM Plex Mono" pitchFamily="34" charset="-122"/>
                <a:cs typeface="IBM Plex Mono" pitchFamily="34" charset="-120"/>
              </a:rPr>
              <a:t>AÚN NO EXISTEN</a:t>
            </a:r>
            <a:endParaRPr lang="es-CL" sz="1400" dirty="0"/>
          </a:p>
        </p:txBody>
      </p:sp>
      <p:sp>
        <p:nvSpPr>
          <p:cNvPr id="24" name="Text 21"/>
          <p:cNvSpPr txBox="1"/>
          <p:nvPr/>
        </p:nvSpPr>
        <p:spPr>
          <a:xfrm>
            <a:off x="5486400" y="4956048"/>
            <a:ext cx="3753815" cy="640080"/>
          </a:xfrm>
          <a:prstGeom prst="rect">
            <a:avLst/>
          </a:prstGeom>
          <a:noFill/>
          <a:ln/>
        </p:spPr>
        <p:txBody>
          <a:bodyPr wrap="square" lIns="0" tIns="0" rIns="0" bIns="0" rtlCol="0" anchor="ctr"/>
          <a:lstStyle/>
          <a:p>
            <a:pPr indent="0" marL="0">
              <a:buNone/>
            </a:pPr>
            <a:r>
              <a:rPr lang="es-CL" altLang="en-US" sz="2000" dirty="0">
                <a:solidFill>
                  <a:schemeClr val="tx1"/>
                </a:solidFill>
                <a:latin typeface="Figtree" pitchFamily="34" charset="0"/>
                <a:ea typeface="Figtree" pitchFamily="34" charset="-122"/>
                <a:cs typeface="Figtree" pitchFamily="34" charset="-120"/>
              </a:rPr>
              <a:t>Ventas, clientes e instalaciones</a:t>
            </a:r>
            <a:endParaRPr lang="es-CL" sz="2000" dirty="0"/>
          </a:p>
        </p:txBody>
      </p:sp>
      <p:sp>
        <p:nvSpPr>
          <p:cNvPr id="25" name="Shape 22"/>
          <p:cNvSpPr/>
          <p:nvPr/>
        </p:nvSpPr>
        <p:spPr>
          <a:xfrm>
            <a:off x="5486400" y="5596128"/>
            <a:ext cx="6156655" cy="0"/>
          </a:xfrm>
          <a:prstGeom prst="line">
            <a:avLst/>
          </a:prstGeom>
          <a:noFill/>
          <a:ln w="9525">
            <a:solidFill>
              <a:schemeClr val="accent1"/>
            </a:solidFill>
            <a:prstDash val="solid"/>
          </a:ln>
        </p:spPr>
      </p:sp>
      <p:sp>
        <p:nvSpPr>
          <p:cNvPr id="26" name="Text 23"/>
          <p:cNvSpPr txBox="1"/>
          <p:nvPr/>
        </p:nvSpPr>
        <p:spPr>
          <a:xfrm>
            <a:off x="5486400" y="5705856"/>
            <a:ext cx="6156655" cy="566928"/>
          </a:xfrm>
          <a:prstGeom prst="rect">
            <a:avLst/>
          </a:prstGeom>
          <a:noFill/>
          <a:ln/>
        </p:spPr>
        <p:txBody>
          <a:bodyPr wrap="square" lIns="0" tIns="0" rIns="0" bIns="0" rtlCol="0" anchor="t"/>
          <a:lstStyle/>
          <a:p>
            <a:pPr indent="0" marL="0">
              <a:buNone/>
            </a:pPr>
            <a:r>
              <a:rPr lang="es-CL" altLang="en-US" sz="1800" b="1" dirty="0">
                <a:solidFill>
                  <a:schemeClr val="tx1"/>
                </a:solidFill>
                <a:latin typeface="Figtree" pitchFamily="34" charset="0"/>
                <a:ea typeface="Figtree" pitchFamily="34" charset="-122"/>
                <a:cs typeface="Figtree" pitchFamily="34" charset="-120"/>
              </a:rPr>
              <a:t>Cliente: </a:t>
            </a:r>
            <a:pPr indent="0" marL="0">
              <a:buNone/>
            </a:pPr>
            <a:r>
              <a:rPr lang="es-CL" altLang="en-US" sz="1800" dirty="0">
                <a:solidFill>
                  <a:schemeClr val="tx2"/>
                </a:solidFill>
                <a:latin typeface="Figtree" pitchFamily="34" charset="0"/>
                <a:ea typeface="Figtree" pitchFamily="34" charset="-122"/>
                <a:cs typeface="Figtree" pitchFamily="34" charset="-120"/>
              </a:rPr>
              <a:t>uso intensivo primero, sin excluir particulares ni flotas.</a:t>
            </a:r>
            <a:endParaRPr lang="es-CL" sz="18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02</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RETROALIMENTACIÓN · CMI ORIGINAL Y ACTUALIZADO</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LO QUE CORRIGIÓ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el CMI.</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CMI de Lumine, versión original y versión actualizada a las Fases 1 y 2; retroalimentación del profesor, transcrita por el equipo.</a:t>
            </a:r>
            <a:endParaRPr lang="es-CL" sz="1100" dirty="0"/>
          </a:p>
        </p:txBody>
      </p:sp>
      <p:sp>
        <p:nvSpPr>
          <p:cNvPr id="5" name="Text 3"/>
          <p:cNvSpPr txBox="1"/>
          <p:nvPr/>
        </p:nvSpPr>
        <p:spPr>
          <a:xfrm>
            <a:off x="548640" y="2395728"/>
            <a:ext cx="5394960" cy="274320"/>
          </a:xfrm>
          <a:prstGeom prst="rect">
            <a:avLst/>
          </a:prstGeom>
          <a:noFill/>
          <a:ln/>
        </p:spPr>
        <p:txBody>
          <a:bodyPr wrap="square" lIns="0" tIns="0" rIns="0" bIns="0" rtlCol="0" anchor="t"/>
          <a:lstStyle/>
          <a:p>
            <a:pPr indent="0" marL="0">
              <a:buNone/>
            </a:pPr>
            <a:r>
              <a:rPr lang="es-CL" altLang="en-US" sz="1600" spc="100" kern="0" dirty="0">
                <a:solidFill>
                  <a:schemeClr val="tx2"/>
                </a:solidFill>
                <a:latin typeface="IBM Plex Mono" pitchFamily="34" charset="0"/>
                <a:ea typeface="IBM Plex Mono" pitchFamily="34" charset="-122"/>
                <a:cs typeface="IBM Plex Mono" pitchFamily="34" charset="-120"/>
              </a:rPr>
              <a:t>OBSERVACIÓN DEL PROFESOR</a:t>
            </a:r>
            <a:endParaRPr lang="es-CL" sz="1600" dirty="0"/>
          </a:p>
        </p:txBody>
      </p:sp>
      <p:sp>
        <p:nvSpPr>
          <p:cNvPr id="6" name="Text 4"/>
          <p:cNvSpPr txBox="1"/>
          <p:nvPr/>
        </p:nvSpPr>
        <p:spPr>
          <a:xfrm>
            <a:off x="6629400" y="2395728"/>
            <a:ext cx="5013655" cy="274320"/>
          </a:xfrm>
          <a:prstGeom prst="rect">
            <a:avLst/>
          </a:prstGeom>
          <a:noFill/>
          <a:ln/>
        </p:spPr>
        <p:txBody>
          <a:bodyPr wrap="square" lIns="0" tIns="0" rIns="0" bIns="0" rtlCol="0" anchor="t"/>
          <a:lstStyle/>
          <a:p>
            <a:pPr indent="0" marL="0">
              <a:buNone/>
            </a:pPr>
            <a:r>
              <a:rPr lang="es-CL" altLang="en-US" sz="1600" spc="100" kern="0" dirty="0">
                <a:solidFill>
                  <a:schemeClr val="accent1"/>
                </a:solidFill>
                <a:latin typeface="IBM Plex Mono" pitchFamily="34" charset="0"/>
                <a:ea typeface="IBM Plex Mono" pitchFamily="34" charset="-122"/>
                <a:cs typeface="IBM Plex Mono" pitchFamily="34" charset="-120"/>
              </a:rPr>
              <a:t>CORRECCIÓN</a:t>
            </a:r>
            <a:endParaRPr lang="es-CL" sz="1600" dirty="0"/>
          </a:p>
        </p:txBody>
      </p:sp>
      <p:sp>
        <p:nvSpPr>
          <p:cNvPr id="7" name="Shape 5"/>
          <p:cNvSpPr/>
          <p:nvPr/>
        </p:nvSpPr>
        <p:spPr>
          <a:xfrm>
            <a:off x="548640" y="2807208"/>
            <a:ext cx="5394960" cy="896112"/>
          </a:xfrm>
          <a:prstGeom prst="rect">
            <a:avLst/>
          </a:prstGeom>
          <a:solidFill>
            <a:schemeClr val="bg2"/>
          </a:solidFill>
          <a:ln w="9525">
            <a:solidFill>
              <a:schemeClr val="accent5"/>
            </a:solidFill>
            <a:prstDash val="solid"/>
          </a:ln>
        </p:spPr>
      </p:sp>
      <p:sp>
        <p:nvSpPr>
          <p:cNvPr id="8" name="Shape 6"/>
          <p:cNvSpPr/>
          <p:nvPr/>
        </p:nvSpPr>
        <p:spPr>
          <a:xfrm>
            <a:off x="4375404" y="3072384"/>
            <a:ext cx="1385316" cy="365760"/>
          </a:xfrm>
          <a:prstGeom prst="rect">
            <a:avLst/>
          </a:prstGeom>
          <a:solidFill>
            <a:schemeClr val="bg1">
              <a:alpha val="0"/>
            </a:schemeClr>
          </a:solidFill>
          <a:ln w="12700">
            <a:solidFill>
              <a:schemeClr val="tx2"/>
            </a:solidFill>
            <a:prstDash val="dash"/>
          </a:ln>
        </p:spPr>
      </p:sp>
      <p:sp>
        <p:nvSpPr>
          <p:cNvPr id="9" name="Text 7"/>
          <p:cNvSpPr txBox="1"/>
          <p:nvPr/>
        </p:nvSpPr>
        <p:spPr>
          <a:xfrm>
            <a:off x="4485132" y="3072384"/>
            <a:ext cx="1165860" cy="365760"/>
          </a:xfrm>
          <a:prstGeom prst="rect">
            <a:avLst/>
          </a:prstGeom>
          <a:noFill/>
          <a:ln/>
        </p:spPr>
        <p:txBody>
          <a:bodyPr wrap="square" lIns="0" tIns="0" rIns="0" bIns="0" rtlCol="0" anchor="ctr"/>
          <a:lstStyle/>
          <a:p>
            <a:pPr algn="ct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DESTACADO</a:t>
            </a:r>
            <a:endParaRPr lang="es-CL" sz="1400" dirty="0"/>
          </a:p>
        </p:txBody>
      </p:sp>
      <p:sp>
        <p:nvSpPr>
          <p:cNvPr id="10" name="Text 8"/>
          <p:cNvSpPr txBox="1"/>
          <p:nvPr/>
        </p:nvSpPr>
        <p:spPr>
          <a:xfrm>
            <a:off x="777240" y="2807208"/>
            <a:ext cx="3461004" cy="896112"/>
          </a:xfrm>
          <a:prstGeom prst="rect">
            <a:avLst/>
          </a:prstGeom>
          <a:noFill/>
          <a:ln/>
        </p:spPr>
        <p:txBody>
          <a:bodyPr wrap="square" lIns="0" tIns="0" rIns="0" bIns="0" rtlCol="0" anchor="ctr"/>
          <a:lstStyle/>
          <a:p>
            <a:pPr indent="0" marL="0">
              <a:buNone/>
            </a:pPr>
            <a:r>
              <a:rPr lang="es-CL" altLang="en-US" sz="2000" dirty="0">
                <a:solidFill>
                  <a:schemeClr val="tx2"/>
                </a:solidFill>
                <a:latin typeface="Figtree" pitchFamily="34" charset="0"/>
                <a:ea typeface="Figtree" pitchFamily="34" charset="-122"/>
                <a:cs typeface="Figtree" pitchFamily="34" charset="-120"/>
              </a:rPr>
              <a:t>Rentabilidad por sobre el costo de capital</a:t>
            </a:r>
            <a:endParaRPr lang="es-CL" sz="2000" dirty="0"/>
          </a:p>
        </p:txBody>
      </p:sp>
      <p:sp>
        <p:nvSpPr>
          <p:cNvPr id="11" name="Shape 9"/>
          <p:cNvSpPr/>
          <p:nvPr/>
        </p:nvSpPr>
        <p:spPr>
          <a:xfrm>
            <a:off x="6053328" y="3255264"/>
            <a:ext cx="457200" cy="0"/>
          </a:xfrm>
          <a:prstGeom prst="line">
            <a:avLst/>
          </a:prstGeom>
          <a:noFill/>
          <a:ln w="22225">
            <a:solidFill>
              <a:schemeClr val="accent1"/>
            </a:solidFill>
            <a:prstDash val="solid"/>
            <a:tailEnd type="triangle"/>
          </a:ln>
        </p:spPr>
      </p:sp>
      <p:sp>
        <p:nvSpPr>
          <p:cNvPr id="12" name="Shape 10"/>
          <p:cNvSpPr/>
          <p:nvPr/>
        </p:nvSpPr>
        <p:spPr>
          <a:xfrm>
            <a:off x="6629400" y="2807208"/>
            <a:ext cx="5013655" cy="896112"/>
          </a:xfrm>
          <a:prstGeom prst="rect">
            <a:avLst/>
          </a:prstGeom>
          <a:solidFill>
            <a:srgbClr val="0B1A22"/>
          </a:solidFill>
          <a:ln w="15875">
            <a:solidFill>
              <a:schemeClr val="accent1"/>
            </a:solidFill>
            <a:prstDash val="solid"/>
          </a:ln>
        </p:spPr>
      </p:sp>
      <p:sp>
        <p:nvSpPr>
          <p:cNvPr id="13" name="Shape 11"/>
          <p:cNvSpPr/>
          <p:nvPr/>
        </p:nvSpPr>
        <p:spPr>
          <a:xfrm>
            <a:off x="6574536" y="2752344"/>
            <a:ext cx="155448" cy="0"/>
          </a:xfrm>
          <a:prstGeom prst="line">
            <a:avLst/>
          </a:prstGeom>
          <a:noFill/>
          <a:ln w="15875">
            <a:solidFill>
              <a:schemeClr val="accent1"/>
            </a:solidFill>
            <a:prstDash val="solid"/>
          </a:ln>
        </p:spPr>
      </p:sp>
      <p:sp>
        <p:nvSpPr>
          <p:cNvPr id="14" name="Shape 12"/>
          <p:cNvSpPr/>
          <p:nvPr/>
        </p:nvSpPr>
        <p:spPr>
          <a:xfrm>
            <a:off x="6574536" y="2752344"/>
            <a:ext cx="0" cy="155448"/>
          </a:xfrm>
          <a:prstGeom prst="line">
            <a:avLst/>
          </a:prstGeom>
          <a:noFill/>
          <a:ln w="15875">
            <a:solidFill>
              <a:schemeClr val="accent1"/>
            </a:solidFill>
            <a:prstDash val="solid"/>
          </a:ln>
        </p:spPr>
      </p:sp>
      <p:sp>
        <p:nvSpPr>
          <p:cNvPr id="15" name="Shape 13"/>
          <p:cNvSpPr/>
          <p:nvPr/>
        </p:nvSpPr>
        <p:spPr>
          <a:xfrm>
            <a:off x="11542471" y="2752344"/>
            <a:ext cx="155448" cy="0"/>
          </a:xfrm>
          <a:prstGeom prst="line">
            <a:avLst/>
          </a:prstGeom>
          <a:noFill/>
          <a:ln w="15875">
            <a:solidFill>
              <a:schemeClr val="accent1"/>
            </a:solidFill>
            <a:prstDash val="solid"/>
          </a:ln>
        </p:spPr>
      </p:sp>
      <p:sp>
        <p:nvSpPr>
          <p:cNvPr id="16" name="Shape 14"/>
          <p:cNvSpPr/>
          <p:nvPr/>
        </p:nvSpPr>
        <p:spPr>
          <a:xfrm>
            <a:off x="11697919" y="2752344"/>
            <a:ext cx="0" cy="155448"/>
          </a:xfrm>
          <a:prstGeom prst="line">
            <a:avLst/>
          </a:prstGeom>
          <a:noFill/>
          <a:ln w="15875">
            <a:solidFill>
              <a:schemeClr val="accent1"/>
            </a:solidFill>
            <a:prstDash val="solid"/>
          </a:ln>
        </p:spPr>
      </p:sp>
      <p:sp>
        <p:nvSpPr>
          <p:cNvPr id="17" name="Shape 15"/>
          <p:cNvSpPr/>
          <p:nvPr/>
        </p:nvSpPr>
        <p:spPr>
          <a:xfrm>
            <a:off x="6574536" y="3758184"/>
            <a:ext cx="155448" cy="0"/>
          </a:xfrm>
          <a:prstGeom prst="line">
            <a:avLst/>
          </a:prstGeom>
          <a:noFill/>
          <a:ln w="15875">
            <a:solidFill>
              <a:schemeClr val="accent1"/>
            </a:solidFill>
            <a:prstDash val="solid"/>
          </a:ln>
        </p:spPr>
      </p:sp>
      <p:sp>
        <p:nvSpPr>
          <p:cNvPr id="18" name="Shape 16"/>
          <p:cNvSpPr/>
          <p:nvPr/>
        </p:nvSpPr>
        <p:spPr>
          <a:xfrm>
            <a:off x="6574536" y="3602736"/>
            <a:ext cx="0" cy="155448"/>
          </a:xfrm>
          <a:prstGeom prst="line">
            <a:avLst/>
          </a:prstGeom>
          <a:noFill/>
          <a:ln w="15875">
            <a:solidFill>
              <a:schemeClr val="accent1"/>
            </a:solidFill>
            <a:prstDash val="solid"/>
          </a:ln>
        </p:spPr>
      </p:sp>
      <p:sp>
        <p:nvSpPr>
          <p:cNvPr id="19" name="Shape 17"/>
          <p:cNvSpPr/>
          <p:nvPr/>
        </p:nvSpPr>
        <p:spPr>
          <a:xfrm>
            <a:off x="11542471" y="3758184"/>
            <a:ext cx="155448" cy="0"/>
          </a:xfrm>
          <a:prstGeom prst="line">
            <a:avLst/>
          </a:prstGeom>
          <a:noFill/>
          <a:ln w="15875">
            <a:solidFill>
              <a:schemeClr val="accent1"/>
            </a:solidFill>
            <a:prstDash val="solid"/>
          </a:ln>
        </p:spPr>
      </p:sp>
      <p:sp>
        <p:nvSpPr>
          <p:cNvPr id="20" name="Shape 18"/>
          <p:cNvSpPr/>
          <p:nvPr/>
        </p:nvSpPr>
        <p:spPr>
          <a:xfrm>
            <a:off x="11697919" y="3602736"/>
            <a:ext cx="0" cy="155448"/>
          </a:xfrm>
          <a:prstGeom prst="line">
            <a:avLst/>
          </a:prstGeom>
          <a:noFill/>
          <a:ln w="15875">
            <a:solidFill>
              <a:schemeClr val="accent1"/>
            </a:solidFill>
            <a:prstDash val="solid"/>
          </a:ln>
        </p:spPr>
      </p:sp>
      <p:sp>
        <p:nvSpPr>
          <p:cNvPr id="21" name="Text 19"/>
          <p:cNvSpPr txBox="1"/>
          <p:nvPr/>
        </p:nvSpPr>
        <p:spPr>
          <a:xfrm>
            <a:off x="6858000" y="2807208"/>
            <a:ext cx="4647895" cy="896112"/>
          </a:xfrm>
          <a:prstGeom prst="rect">
            <a:avLst/>
          </a:prstGeom>
          <a:noFill/>
          <a:ln/>
        </p:spPr>
        <p:txBody>
          <a:bodyPr wrap="square" lIns="0" tIns="0" rIns="0" bIns="0" rtlCol="0" anchor="ctr"/>
          <a:lstStyle/>
          <a:p>
            <a:pPr indent="0" marL="0">
              <a:buNone/>
            </a:pPr>
            <a:r>
              <a:rPr lang="es-CL" altLang="en-US" sz="2200" b="1" dirty="0">
                <a:solidFill>
                  <a:schemeClr val="tx1"/>
                </a:solidFill>
                <a:latin typeface="Figtree" pitchFamily="34" charset="0"/>
                <a:ea typeface="Figtree" pitchFamily="34" charset="-122"/>
                <a:cs typeface="Figtree" pitchFamily="34" charset="-120"/>
              </a:rPr>
              <a:t>Se conserva y se mide con EVA</a:t>
            </a:r>
            <a:endParaRPr lang="es-CL" sz="2200" dirty="0"/>
          </a:p>
        </p:txBody>
      </p:sp>
      <p:sp>
        <p:nvSpPr>
          <p:cNvPr id="22" name="Shape 20"/>
          <p:cNvSpPr/>
          <p:nvPr/>
        </p:nvSpPr>
        <p:spPr>
          <a:xfrm>
            <a:off x="548640" y="3867912"/>
            <a:ext cx="5394960" cy="896112"/>
          </a:xfrm>
          <a:prstGeom prst="rect">
            <a:avLst/>
          </a:prstGeom>
          <a:solidFill>
            <a:schemeClr val="bg2"/>
          </a:solidFill>
          <a:ln w="9525">
            <a:solidFill>
              <a:schemeClr val="accent5"/>
            </a:solidFill>
            <a:prstDash val="solid"/>
          </a:ln>
        </p:spPr>
      </p:sp>
      <p:sp>
        <p:nvSpPr>
          <p:cNvPr id="23" name="Shape 21"/>
          <p:cNvSpPr/>
          <p:nvPr/>
        </p:nvSpPr>
        <p:spPr>
          <a:xfrm>
            <a:off x="4614164" y="4133088"/>
            <a:ext cx="1146556" cy="365760"/>
          </a:xfrm>
          <a:prstGeom prst="rect">
            <a:avLst/>
          </a:prstGeom>
          <a:solidFill>
            <a:schemeClr val="bg1">
              <a:alpha val="0"/>
            </a:schemeClr>
          </a:solidFill>
          <a:ln w="12700">
            <a:solidFill>
              <a:schemeClr val="tx1"/>
            </a:solidFill>
            <a:prstDash val="dash"/>
          </a:ln>
        </p:spPr>
      </p:sp>
      <p:sp>
        <p:nvSpPr>
          <p:cNvPr id="24" name="Text 22"/>
          <p:cNvSpPr txBox="1"/>
          <p:nvPr/>
        </p:nvSpPr>
        <p:spPr>
          <a:xfrm>
            <a:off x="4723892" y="4133088"/>
            <a:ext cx="927100" cy="365760"/>
          </a:xfrm>
          <a:prstGeom prst="rect">
            <a:avLst/>
          </a:prstGeom>
          <a:noFill/>
          <a:ln/>
        </p:spPr>
        <p:txBody>
          <a:bodyPr wrap="square" lIns="0" tIns="0" rIns="0" bIns="0" rtlCol="0" anchor="ctr"/>
          <a:lstStyle/>
          <a:p>
            <a:pPr algn="ctr" indent="0" marL="0">
              <a:buNone/>
            </a:pPr>
            <a:r>
              <a:rPr lang="es-CL" altLang="en-US" sz="1400" spc="100" kern="0" dirty="0">
                <a:solidFill>
                  <a:schemeClr val="tx1"/>
                </a:solidFill>
                <a:latin typeface="IBM Plex Mono" pitchFamily="34" charset="0"/>
                <a:ea typeface="IBM Plex Mono" pitchFamily="34" charset="-122"/>
                <a:cs typeface="IBM Plex Mono" pitchFamily="34" charset="-120"/>
              </a:rPr>
              <a:t>CRÍTICA</a:t>
            </a:r>
            <a:endParaRPr lang="es-CL" sz="1400" dirty="0"/>
          </a:p>
        </p:txBody>
      </p:sp>
      <p:sp>
        <p:nvSpPr>
          <p:cNvPr id="25" name="Text 23"/>
          <p:cNvSpPr txBox="1"/>
          <p:nvPr/>
        </p:nvSpPr>
        <p:spPr>
          <a:xfrm>
            <a:off x="777240" y="3867912"/>
            <a:ext cx="3699764" cy="896112"/>
          </a:xfrm>
          <a:prstGeom prst="rect">
            <a:avLst/>
          </a:prstGeom>
          <a:noFill/>
          <a:ln/>
        </p:spPr>
        <p:txBody>
          <a:bodyPr wrap="square" lIns="0" tIns="0" rIns="0" bIns="0" rtlCol="0" anchor="ctr"/>
          <a:lstStyle/>
          <a:p>
            <a:pPr indent="0" marL="0">
              <a:buNone/>
            </a:pPr>
            <a:r>
              <a:rPr lang="es-CL" altLang="en-US" sz="2000" dirty="0">
                <a:solidFill>
                  <a:schemeClr val="tx2"/>
                </a:solidFill>
                <a:latin typeface="Figtree" pitchFamily="34" charset="0"/>
                <a:ea typeface="Figtree" pitchFamily="34" charset="-122"/>
                <a:cs typeface="Figtree" pitchFamily="34" charset="-120"/>
              </a:rPr>
              <a:t>Clientes descritos como canales y convenios</a:t>
            </a:r>
            <a:endParaRPr lang="es-CL" sz="2000" dirty="0"/>
          </a:p>
        </p:txBody>
      </p:sp>
      <p:sp>
        <p:nvSpPr>
          <p:cNvPr id="26" name="Shape 24"/>
          <p:cNvSpPr/>
          <p:nvPr/>
        </p:nvSpPr>
        <p:spPr>
          <a:xfrm>
            <a:off x="6053328" y="4315968"/>
            <a:ext cx="457200" cy="0"/>
          </a:xfrm>
          <a:prstGeom prst="line">
            <a:avLst/>
          </a:prstGeom>
          <a:noFill/>
          <a:ln w="22225">
            <a:solidFill>
              <a:schemeClr val="accent1"/>
            </a:solidFill>
            <a:prstDash val="solid"/>
            <a:tailEnd type="triangle"/>
          </a:ln>
        </p:spPr>
      </p:sp>
      <p:sp>
        <p:nvSpPr>
          <p:cNvPr id="27" name="Shape 25"/>
          <p:cNvSpPr/>
          <p:nvPr/>
        </p:nvSpPr>
        <p:spPr>
          <a:xfrm>
            <a:off x="6629400" y="3867912"/>
            <a:ext cx="5013655" cy="896112"/>
          </a:xfrm>
          <a:prstGeom prst="rect">
            <a:avLst/>
          </a:prstGeom>
          <a:solidFill>
            <a:schemeClr val="bg2"/>
          </a:solidFill>
          <a:ln w="12700">
            <a:solidFill>
              <a:schemeClr val="accent1"/>
            </a:solidFill>
            <a:prstDash val="solid"/>
          </a:ln>
        </p:spPr>
      </p:sp>
      <p:sp>
        <p:nvSpPr>
          <p:cNvPr id="28" name="Text 26"/>
          <p:cNvSpPr txBox="1"/>
          <p:nvPr/>
        </p:nvSpPr>
        <p:spPr>
          <a:xfrm>
            <a:off x="6858000" y="3867912"/>
            <a:ext cx="4647895" cy="896112"/>
          </a:xfrm>
          <a:prstGeom prst="rect">
            <a:avLst/>
          </a:prstGeom>
          <a:noFill/>
          <a:ln/>
        </p:spPr>
        <p:txBody>
          <a:bodyPr wrap="square" lIns="0" tIns="0" rIns="0" bIns="0" rtlCol="0" anchor="ctr"/>
          <a:lstStyle/>
          <a:p>
            <a:pPr indent="0" marL="0">
              <a:buNone/>
            </a:pPr>
            <a:r>
              <a:rPr lang="es-CL" altLang="en-US" sz="2200" b="1" dirty="0">
                <a:solidFill>
                  <a:schemeClr val="tx1"/>
                </a:solidFill>
                <a:latin typeface="Figtree" pitchFamily="34" charset="0"/>
                <a:ea typeface="Figtree" pitchFamily="34" charset="-122"/>
                <a:cs typeface="Figtree" pitchFamily="34" charset="-120"/>
              </a:rPr>
              <a:t>La propuesta de valor al centro, medida</a:t>
            </a:r>
            <a:endParaRPr lang="es-CL" sz="2200" dirty="0"/>
          </a:p>
        </p:txBody>
      </p:sp>
      <p:sp>
        <p:nvSpPr>
          <p:cNvPr id="29" name="Shape 27"/>
          <p:cNvSpPr/>
          <p:nvPr/>
        </p:nvSpPr>
        <p:spPr>
          <a:xfrm>
            <a:off x="548640" y="4928616"/>
            <a:ext cx="5394960" cy="896112"/>
          </a:xfrm>
          <a:prstGeom prst="rect">
            <a:avLst/>
          </a:prstGeom>
          <a:solidFill>
            <a:schemeClr val="bg2"/>
          </a:solidFill>
          <a:ln w="9525">
            <a:solidFill>
              <a:schemeClr val="accent5"/>
            </a:solidFill>
            <a:prstDash val="solid"/>
          </a:ln>
        </p:spPr>
      </p:sp>
      <p:sp>
        <p:nvSpPr>
          <p:cNvPr id="30" name="Shape 28"/>
          <p:cNvSpPr/>
          <p:nvPr/>
        </p:nvSpPr>
        <p:spPr>
          <a:xfrm>
            <a:off x="4614164" y="5193792"/>
            <a:ext cx="1146556" cy="365760"/>
          </a:xfrm>
          <a:prstGeom prst="rect">
            <a:avLst/>
          </a:prstGeom>
          <a:solidFill>
            <a:schemeClr val="bg1">
              <a:alpha val="0"/>
            </a:schemeClr>
          </a:solidFill>
          <a:ln w="12700">
            <a:solidFill>
              <a:schemeClr val="tx1"/>
            </a:solidFill>
            <a:prstDash val="dash"/>
          </a:ln>
        </p:spPr>
      </p:sp>
      <p:sp>
        <p:nvSpPr>
          <p:cNvPr id="31" name="Text 29"/>
          <p:cNvSpPr txBox="1"/>
          <p:nvPr/>
        </p:nvSpPr>
        <p:spPr>
          <a:xfrm>
            <a:off x="4723892" y="5193792"/>
            <a:ext cx="927100" cy="365760"/>
          </a:xfrm>
          <a:prstGeom prst="rect">
            <a:avLst/>
          </a:prstGeom>
          <a:noFill/>
          <a:ln/>
        </p:spPr>
        <p:txBody>
          <a:bodyPr wrap="square" lIns="0" tIns="0" rIns="0" bIns="0" rtlCol="0" anchor="ctr"/>
          <a:lstStyle/>
          <a:p>
            <a:pPr algn="ctr" indent="0" marL="0">
              <a:buNone/>
            </a:pPr>
            <a:r>
              <a:rPr lang="es-CL" altLang="en-US" sz="1400" spc="100" kern="0" dirty="0">
                <a:solidFill>
                  <a:schemeClr val="tx1"/>
                </a:solidFill>
                <a:latin typeface="IBM Plex Mono" pitchFamily="34" charset="0"/>
                <a:ea typeface="IBM Plex Mono" pitchFamily="34" charset="-122"/>
                <a:cs typeface="IBM Plex Mono" pitchFamily="34" charset="-120"/>
              </a:rPr>
              <a:t>CRÍTICA</a:t>
            </a:r>
            <a:endParaRPr lang="es-CL" sz="1400" dirty="0"/>
          </a:p>
        </p:txBody>
      </p:sp>
      <p:sp>
        <p:nvSpPr>
          <p:cNvPr id="32" name="Text 30"/>
          <p:cNvSpPr txBox="1"/>
          <p:nvPr/>
        </p:nvSpPr>
        <p:spPr>
          <a:xfrm>
            <a:off x="777240" y="4928616"/>
            <a:ext cx="3699764" cy="896112"/>
          </a:xfrm>
          <a:prstGeom prst="rect">
            <a:avLst/>
          </a:prstGeom>
          <a:noFill/>
          <a:ln/>
        </p:spPr>
        <p:txBody>
          <a:bodyPr wrap="square" lIns="0" tIns="0" rIns="0" bIns="0" rtlCol="0" anchor="ctr"/>
          <a:lstStyle/>
          <a:p>
            <a:pPr indent="0" marL="0">
              <a:buNone/>
            </a:pPr>
            <a:r>
              <a:rPr lang="es-CL" altLang="en-US" sz="2000" dirty="0">
                <a:solidFill>
                  <a:schemeClr val="tx2"/>
                </a:solidFill>
                <a:latin typeface="Figtree" pitchFamily="34" charset="0"/>
                <a:ea typeface="Figtree" pitchFamily="34" charset="-122"/>
                <a:cs typeface="Figtree" pitchFamily="34" charset="-120"/>
              </a:rPr>
              <a:t>Objetivos poco coordinados entre sí</a:t>
            </a:r>
            <a:endParaRPr lang="es-CL" sz="2000" dirty="0"/>
          </a:p>
        </p:txBody>
      </p:sp>
      <p:sp>
        <p:nvSpPr>
          <p:cNvPr id="33" name="Shape 31"/>
          <p:cNvSpPr/>
          <p:nvPr/>
        </p:nvSpPr>
        <p:spPr>
          <a:xfrm>
            <a:off x="6053328" y="5376672"/>
            <a:ext cx="457200" cy="0"/>
          </a:xfrm>
          <a:prstGeom prst="line">
            <a:avLst/>
          </a:prstGeom>
          <a:noFill/>
          <a:ln w="22225">
            <a:solidFill>
              <a:schemeClr val="accent1"/>
            </a:solidFill>
            <a:prstDash val="solid"/>
            <a:tailEnd type="triangle"/>
          </a:ln>
        </p:spPr>
      </p:sp>
      <p:sp>
        <p:nvSpPr>
          <p:cNvPr id="34" name="Shape 32"/>
          <p:cNvSpPr/>
          <p:nvPr/>
        </p:nvSpPr>
        <p:spPr>
          <a:xfrm>
            <a:off x="6629400" y="4928616"/>
            <a:ext cx="5013655" cy="896112"/>
          </a:xfrm>
          <a:prstGeom prst="rect">
            <a:avLst/>
          </a:prstGeom>
          <a:solidFill>
            <a:schemeClr val="bg2"/>
          </a:solidFill>
          <a:ln w="12700">
            <a:solidFill>
              <a:schemeClr val="accent1"/>
            </a:solidFill>
            <a:prstDash val="solid"/>
          </a:ln>
        </p:spPr>
      </p:sp>
      <p:sp>
        <p:nvSpPr>
          <p:cNvPr id="35" name="Text 33"/>
          <p:cNvSpPr txBox="1"/>
          <p:nvPr/>
        </p:nvSpPr>
        <p:spPr>
          <a:xfrm>
            <a:off x="6858000" y="4928616"/>
            <a:ext cx="4647895" cy="896112"/>
          </a:xfrm>
          <a:prstGeom prst="rect">
            <a:avLst/>
          </a:prstGeom>
          <a:noFill/>
          <a:ln/>
        </p:spPr>
        <p:txBody>
          <a:bodyPr wrap="square" lIns="0" tIns="0" rIns="0" bIns="0" rtlCol="0" anchor="ctr"/>
          <a:lstStyle/>
          <a:p>
            <a:pPr indent="0" marL="0">
              <a:buNone/>
            </a:pPr>
            <a:r>
              <a:rPr lang="es-CL" altLang="en-US" sz="2200" b="1" dirty="0">
                <a:solidFill>
                  <a:schemeClr val="tx1"/>
                </a:solidFill>
                <a:latin typeface="Figtree" pitchFamily="34" charset="0"/>
                <a:ea typeface="Figtree" pitchFamily="34" charset="-122"/>
                <a:cs typeface="Figtree" pitchFamily="34" charset="-120"/>
              </a:rPr>
              <a:t>Flechas de causa y efecto con KPI y evidencia</a:t>
            </a:r>
            <a:endParaRPr lang="es-CL" sz="2200" dirty="0"/>
          </a:p>
        </p:txBody>
      </p:sp>
      <p:sp>
        <p:nvSpPr>
          <p:cNvPr id="36" name="Text 34"/>
          <p:cNvSpPr txBox="1"/>
          <p:nvPr/>
        </p:nvSpPr>
        <p:spPr>
          <a:xfrm>
            <a:off x="548640" y="6025896"/>
            <a:ext cx="11094415" cy="365760"/>
          </a:xfrm>
          <a:prstGeom prst="rect">
            <a:avLst/>
          </a:prstGeom>
          <a:noFill/>
          <a:ln/>
        </p:spPr>
        <p:txBody>
          <a:bodyPr wrap="square" lIns="0" tIns="0" rIns="0" bIns="0" rtlCol="0" anchor="t"/>
          <a:lstStyle/>
          <a:p>
            <a:pPr indent="0" marL="0">
              <a:buNone/>
            </a:pPr>
            <a:r>
              <a:rPr lang="es-CL" altLang="en-US" sz="1800" dirty="0">
                <a:solidFill>
                  <a:schemeClr val="tx2"/>
                </a:solidFill>
                <a:latin typeface="Figtree" pitchFamily="34" charset="0"/>
                <a:ea typeface="Figtree" pitchFamily="34" charset="-122"/>
                <a:cs typeface="Figtree" pitchFamily="34" charset="-120"/>
              </a:rPr>
              <a:t>Las cifras financieras del CMI original no se reutilizan sin conciliarlas.</a:t>
            </a:r>
            <a:endParaRPr lang="es-CL" sz="18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03</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PERSPECTIVA DE CLIENTES · PROPUESTA DE VALOR</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LA PROPUESTA DE VALOR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se debe medir.</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(dossier y Excel de la Solemne 2, indicador C01). Meta de diseño propuesta; sin clientes no hay dato real.</a:t>
            </a:r>
            <a:endParaRPr lang="es-CL" sz="1100" dirty="0"/>
          </a:p>
        </p:txBody>
      </p:sp>
      <p:sp>
        <p:nvSpPr>
          <p:cNvPr id="5" name="Text 3"/>
          <p:cNvSpPr txBox="1"/>
          <p:nvPr/>
        </p:nvSpPr>
        <p:spPr>
          <a:xfrm>
            <a:off x="548640" y="2395728"/>
            <a:ext cx="5212080" cy="274320"/>
          </a:xfrm>
          <a:prstGeom prst="rect">
            <a:avLst/>
          </a:prstGeom>
          <a:noFill/>
          <a:ln/>
        </p:spPr>
        <p:txBody>
          <a:bodyPr wrap="square" lIns="0" tIns="0" rIns="0" bIns="0" rtlCol="0" anchor="t"/>
          <a:lstStyle/>
          <a:p>
            <a:pPr indent="0" marL="0">
              <a:buNone/>
            </a:pPr>
            <a:r>
              <a:rPr lang="es-CL" altLang="en-US" sz="1600" spc="100" kern="0" dirty="0">
                <a:solidFill>
                  <a:schemeClr val="tx2"/>
                </a:solidFill>
                <a:latin typeface="IBM Plex Mono" pitchFamily="34" charset="0"/>
                <a:ea typeface="IBM Plex Mono" pitchFamily="34" charset="-122"/>
                <a:cs typeface="IBM Plex Mono" pitchFamily="34" charset="-120"/>
              </a:rPr>
              <a:t>LO QUE COMPRA EL CLIENTE</a:t>
            </a:r>
            <a:endParaRPr lang="es-CL" sz="1600" dirty="0"/>
          </a:p>
        </p:txBody>
      </p:sp>
      <p:sp>
        <p:nvSpPr>
          <p:cNvPr id="6" name="Shape 4"/>
          <p:cNvSpPr/>
          <p:nvPr/>
        </p:nvSpPr>
        <p:spPr>
          <a:xfrm>
            <a:off x="548640" y="2944368"/>
            <a:ext cx="457200" cy="457200"/>
          </a:xfrm>
          <a:prstGeom prst="rect">
            <a:avLst/>
          </a:prstGeom>
          <a:solidFill>
            <a:schemeClr val="accent5"/>
          </a:solidFill>
          <a:ln/>
        </p:spPr>
      </p:sp>
      <p:sp>
        <p:nvSpPr>
          <p:cNvPr id="7" name="Text 5"/>
          <p:cNvSpPr txBox="1"/>
          <p:nvPr/>
        </p:nvSpPr>
        <p:spPr>
          <a:xfrm>
            <a:off x="548640" y="2944368"/>
            <a:ext cx="457200" cy="457200"/>
          </a:xfrm>
          <a:prstGeom prst="rect">
            <a:avLst/>
          </a:prstGeom>
          <a:noFill/>
          <a:ln/>
        </p:spPr>
        <p:txBody>
          <a:bodyPr wrap="square" lIns="0" tIns="0" rIns="0" bIns="0" rtlCol="0" anchor="ctr"/>
          <a:lstStyle/>
          <a:p>
            <a:pPr algn="ctr" indent="0" marL="0">
              <a:buNone/>
            </a:pPr>
            <a:r>
              <a:rPr lang="es-CL" altLang="en-US" sz="2000" b="1" dirty="0">
                <a:solidFill>
                  <a:schemeClr val="tx1"/>
                </a:solidFill>
                <a:latin typeface="IBM Plex Mono" pitchFamily="34" charset="0"/>
                <a:ea typeface="IBM Plex Mono" pitchFamily="34" charset="-122"/>
                <a:cs typeface="IBM Plex Mono" pitchFamily="34" charset="-120"/>
              </a:rPr>
              <a:t>1</a:t>
            </a:r>
            <a:endParaRPr lang="es-CL" sz="2000" dirty="0"/>
          </a:p>
        </p:txBody>
      </p:sp>
      <p:sp>
        <p:nvSpPr>
          <p:cNvPr id="8" name="Text 6"/>
          <p:cNvSpPr txBox="1"/>
          <p:nvPr/>
        </p:nvSpPr>
        <p:spPr>
          <a:xfrm>
            <a:off x="1234440" y="2852928"/>
            <a:ext cx="4526280" cy="640080"/>
          </a:xfrm>
          <a:prstGeom prst="rect">
            <a:avLst/>
          </a:prstGeom>
          <a:noFill/>
          <a:ln/>
        </p:spPr>
        <p:txBody>
          <a:bodyPr wrap="square" lIns="0" tIns="0" rIns="0" bIns="0" rtlCol="0" anchor="ctr"/>
          <a:lstStyle/>
          <a:p>
            <a:pPr indent="0" marL="0">
              <a:buNone/>
            </a:pPr>
            <a:r>
              <a:rPr lang="es-CL" altLang="en-US" sz="2200" dirty="0">
                <a:solidFill>
                  <a:schemeClr val="tx1"/>
                </a:solidFill>
                <a:latin typeface="Figtree" pitchFamily="34" charset="0"/>
                <a:ea typeface="Figtree" pitchFamily="34" charset="-122"/>
                <a:cs typeface="Figtree" pitchFamily="34" charset="-120"/>
              </a:rPr>
              <a:t>Modernizar su propio auto</a:t>
            </a:r>
            <a:endParaRPr lang="es-CL" sz="2200" dirty="0"/>
          </a:p>
        </p:txBody>
      </p:sp>
      <p:sp>
        <p:nvSpPr>
          <p:cNvPr id="9" name="Shape 7"/>
          <p:cNvSpPr/>
          <p:nvPr/>
        </p:nvSpPr>
        <p:spPr>
          <a:xfrm>
            <a:off x="548640" y="3730752"/>
            <a:ext cx="457200" cy="457200"/>
          </a:xfrm>
          <a:prstGeom prst="rect">
            <a:avLst/>
          </a:prstGeom>
          <a:solidFill>
            <a:schemeClr val="accent5"/>
          </a:solidFill>
          <a:ln/>
        </p:spPr>
      </p:sp>
      <p:sp>
        <p:nvSpPr>
          <p:cNvPr id="10" name="Text 8"/>
          <p:cNvSpPr txBox="1"/>
          <p:nvPr/>
        </p:nvSpPr>
        <p:spPr>
          <a:xfrm>
            <a:off x="548640" y="3730752"/>
            <a:ext cx="457200" cy="457200"/>
          </a:xfrm>
          <a:prstGeom prst="rect">
            <a:avLst/>
          </a:prstGeom>
          <a:noFill/>
          <a:ln/>
        </p:spPr>
        <p:txBody>
          <a:bodyPr wrap="square" lIns="0" tIns="0" rIns="0" bIns="0" rtlCol="0" anchor="ctr"/>
          <a:lstStyle/>
          <a:p>
            <a:pPr algn="ctr" indent="0" marL="0">
              <a:buNone/>
            </a:pPr>
            <a:r>
              <a:rPr lang="es-CL" altLang="en-US" sz="2000" b="1" dirty="0">
                <a:solidFill>
                  <a:schemeClr val="tx1"/>
                </a:solidFill>
                <a:latin typeface="IBM Plex Mono" pitchFamily="34" charset="0"/>
                <a:ea typeface="IBM Plex Mono" pitchFamily="34" charset="-122"/>
                <a:cs typeface="IBM Plex Mono" pitchFamily="34" charset="-120"/>
              </a:rPr>
              <a:t>2</a:t>
            </a:r>
            <a:endParaRPr lang="es-CL" sz="2000" dirty="0"/>
          </a:p>
        </p:txBody>
      </p:sp>
      <p:sp>
        <p:nvSpPr>
          <p:cNvPr id="11" name="Text 9"/>
          <p:cNvSpPr txBox="1"/>
          <p:nvPr/>
        </p:nvSpPr>
        <p:spPr>
          <a:xfrm>
            <a:off x="1234440" y="3639312"/>
            <a:ext cx="4526280" cy="640080"/>
          </a:xfrm>
          <a:prstGeom prst="rect">
            <a:avLst/>
          </a:prstGeom>
          <a:noFill/>
          <a:ln/>
        </p:spPr>
        <p:txBody>
          <a:bodyPr wrap="square" lIns="0" tIns="0" rIns="0" bIns="0" rtlCol="0" anchor="ctr"/>
          <a:lstStyle/>
          <a:p>
            <a:pPr indent="0" marL="0">
              <a:buNone/>
            </a:pPr>
            <a:r>
              <a:rPr lang="es-CL" altLang="en-US" sz="2200" dirty="0">
                <a:solidFill>
                  <a:schemeClr val="tx1"/>
                </a:solidFill>
                <a:latin typeface="Figtree" pitchFamily="34" charset="0"/>
                <a:ea typeface="Figtree" pitchFamily="34" charset="-122"/>
                <a:cs typeface="Figtree" pitchFamily="34" charset="-120"/>
              </a:rPr>
              <a:t>Un procedimiento seguro y trazable</a:t>
            </a:r>
            <a:endParaRPr lang="es-CL" sz="2200" dirty="0"/>
          </a:p>
        </p:txBody>
      </p:sp>
      <p:sp>
        <p:nvSpPr>
          <p:cNvPr id="12" name="Shape 10"/>
          <p:cNvSpPr/>
          <p:nvPr/>
        </p:nvSpPr>
        <p:spPr>
          <a:xfrm>
            <a:off x="548640" y="4517136"/>
            <a:ext cx="457200" cy="457200"/>
          </a:xfrm>
          <a:prstGeom prst="rect">
            <a:avLst/>
          </a:prstGeom>
          <a:solidFill>
            <a:schemeClr val="accent1"/>
          </a:solidFill>
          <a:ln/>
        </p:spPr>
      </p:sp>
      <p:sp>
        <p:nvSpPr>
          <p:cNvPr id="13" name="Text 11"/>
          <p:cNvSpPr txBox="1"/>
          <p:nvPr/>
        </p:nvSpPr>
        <p:spPr>
          <a:xfrm>
            <a:off x="548640" y="4517136"/>
            <a:ext cx="457200" cy="457200"/>
          </a:xfrm>
          <a:prstGeom prst="rect">
            <a:avLst/>
          </a:prstGeom>
          <a:noFill/>
          <a:ln/>
        </p:spPr>
        <p:txBody>
          <a:bodyPr wrap="square" lIns="0" tIns="0" rIns="0" bIns="0" rtlCol="0" anchor="ctr"/>
          <a:lstStyle/>
          <a:p>
            <a:pPr algn="ctr" indent="0" marL="0">
              <a:buNone/>
            </a:pPr>
            <a:r>
              <a:rPr lang="es-CL" altLang="en-US" sz="2000" b="1" dirty="0">
                <a:solidFill>
                  <a:schemeClr val="bg1"/>
                </a:solidFill>
                <a:latin typeface="IBM Plex Mono" pitchFamily="34" charset="0"/>
                <a:ea typeface="IBM Plex Mono" pitchFamily="34" charset="-122"/>
                <a:cs typeface="IBM Plex Mono" pitchFamily="34" charset="-120"/>
              </a:rPr>
              <a:t>3</a:t>
            </a:r>
            <a:endParaRPr lang="es-CL" sz="2000" dirty="0"/>
          </a:p>
        </p:txBody>
      </p:sp>
      <p:sp>
        <p:nvSpPr>
          <p:cNvPr id="14" name="Text 12"/>
          <p:cNvSpPr txBox="1"/>
          <p:nvPr/>
        </p:nvSpPr>
        <p:spPr>
          <a:xfrm>
            <a:off x="1234440" y="4425696"/>
            <a:ext cx="4526280" cy="640080"/>
          </a:xfrm>
          <a:prstGeom prst="rect">
            <a:avLst/>
          </a:prstGeom>
          <a:noFill/>
          <a:ln/>
        </p:spPr>
        <p:txBody>
          <a:bodyPr wrap="square" lIns="0" tIns="0" rIns="0" bIns="0" rtlCol="0" anchor="ctr"/>
          <a:lstStyle/>
          <a:p>
            <a:pPr indent="0" marL="0">
              <a:buNone/>
            </a:pPr>
            <a:r>
              <a:rPr lang="es-CL" altLang="en-US" sz="2200" b="1" dirty="0">
                <a:solidFill>
                  <a:schemeClr val="accent1"/>
                </a:solidFill>
                <a:latin typeface="Figtree" pitchFamily="34" charset="0"/>
                <a:ea typeface="Figtree" pitchFamily="34" charset="-122"/>
                <a:cs typeface="Figtree" pitchFamily="34" charset="-120"/>
              </a:rPr>
              <a:t>Evidencia de su consumo</a:t>
            </a:r>
            <a:endParaRPr lang="es-CL" sz="2200" dirty="0"/>
          </a:p>
        </p:txBody>
      </p:sp>
      <p:pic>
        <p:nvPicPr>
          <p:cNvPr id="15" name="Image 0" descr="C:\Users\Usuario\Documents\GitHub\lumine\solemne-2\generador\assets\brillo.png">    </p:cNvPr>
          <p:cNvPicPr>
            <a:picLocks noChangeAspect="1"/>
          </p:cNvPicPr>
          <p:nvPr/>
        </p:nvPicPr>
        <p:blipFill>
          <a:blip r:embed="rId1"/>
          <a:stretch>
            <a:fillRect/>
          </a:stretch>
        </p:blipFill>
        <p:spPr>
          <a:xfrm>
            <a:off x="5760720" y="2011680"/>
            <a:ext cx="6430975" cy="3694176"/>
          </a:xfrm>
          <a:prstGeom prst="rect">
            <a:avLst/>
          </a:prstGeom>
        </p:spPr>
      </p:pic>
      <p:sp>
        <p:nvSpPr>
          <p:cNvPr id="16" name="Shape 13"/>
          <p:cNvSpPr/>
          <p:nvPr/>
        </p:nvSpPr>
        <p:spPr>
          <a:xfrm>
            <a:off x="6309360" y="2395728"/>
            <a:ext cx="5333695" cy="2926080"/>
          </a:xfrm>
          <a:prstGeom prst="rect">
            <a:avLst/>
          </a:prstGeom>
          <a:solidFill>
            <a:srgbClr val="0B1A22"/>
          </a:solidFill>
          <a:ln w="15875">
            <a:solidFill>
              <a:schemeClr val="accent1"/>
            </a:solidFill>
            <a:prstDash val="solid"/>
          </a:ln>
        </p:spPr>
      </p:sp>
      <p:sp>
        <p:nvSpPr>
          <p:cNvPr id="17" name="Shape 14"/>
          <p:cNvSpPr/>
          <p:nvPr/>
        </p:nvSpPr>
        <p:spPr>
          <a:xfrm>
            <a:off x="6254496" y="2340864"/>
            <a:ext cx="155448" cy="0"/>
          </a:xfrm>
          <a:prstGeom prst="line">
            <a:avLst/>
          </a:prstGeom>
          <a:noFill/>
          <a:ln w="15875">
            <a:solidFill>
              <a:schemeClr val="accent1"/>
            </a:solidFill>
            <a:prstDash val="solid"/>
          </a:ln>
        </p:spPr>
      </p:sp>
      <p:sp>
        <p:nvSpPr>
          <p:cNvPr id="18" name="Shape 15"/>
          <p:cNvSpPr/>
          <p:nvPr/>
        </p:nvSpPr>
        <p:spPr>
          <a:xfrm>
            <a:off x="6254496" y="2340864"/>
            <a:ext cx="0" cy="155448"/>
          </a:xfrm>
          <a:prstGeom prst="line">
            <a:avLst/>
          </a:prstGeom>
          <a:noFill/>
          <a:ln w="15875">
            <a:solidFill>
              <a:schemeClr val="accent1"/>
            </a:solidFill>
            <a:prstDash val="solid"/>
          </a:ln>
        </p:spPr>
      </p:sp>
      <p:sp>
        <p:nvSpPr>
          <p:cNvPr id="19" name="Shape 16"/>
          <p:cNvSpPr/>
          <p:nvPr/>
        </p:nvSpPr>
        <p:spPr>
          <a:xfrm>
            <a:off x="11542471" y="2340864"/>
            <a:ext cx="155448" cy="0"/>
          </a:xfrm>
          <a:prstGeom prst="line">
            <a:avLst/>
          </a:prstGeom>
          <a:noFill/>
          <a:ln w="15875">
            <a:solidFill>
              <a:schemeClr val="accent1"/>
            </a:solidFill>
            <a:prstDash val="solid"/>
          </a:ln>
        </p:spPr>
      </p:sp>
      <p:sp>
        <p:nvSpPr>
          <p:cNvPr id="20" name="Shape 17"/>
          <p:cNvSpPr/>
          <p:nvPr/>
        </p:nvSpPr>
        <p:spPr>
          <a:xfrm>
            <a:off x="11697919" y="2340864"/>
            <a:ext cx="0" cy="155448"/>
          </a:xfrm>
          <a:prstGeom prst="line">
            <a:avLst/>
          </a:prstGeom>
          <a:noFill/>
          <a:ln w="15875">
            <a:solidFill>
              <a:schemeClr val="accent1"/>
            </a:solidFill>
            <a:prstDash val="solid"/>
          </a:ln>
        </p:spPr>
      </p:sp>
      <p:sp>
        <p:nvSpPr>
          <p:cNvPr id="21" name="Shape 18"/>
          <p:cNvSpPr/>
          <p:nvPr/>
        </p:nvSpPr>
        <p:spPr>
          <a:xfrm>
            <a:off x="6254496" y="5376672"/>
            <a:ext cx="155448" cy="0"/>
          </a:xfrm>
          <a:prstGeom prst="line">
            <a:avLst/>
          </a:prstGeom>
          <a:noFill/>
          <a:ln w="15875">
            <a:solidFill>
              <a:schemeClr val="accent1"/>
            </a:solidFill>
            <a:prstDash val="solid"/>
          </a:ln>
        </p:spPr>
      </p:sp>
      <p:sp>
        <p:nvSpPr>
          <p:cNvPr id="22" name="Shape 19"/>
          <p:cNvSpPr/>
          <p:nvPr/>
        </p:nvSpPr>
        <p:spPr>
          <a:xfrm>
            <a:off x="6254496" y="5221224"/>
            <a:ext cx="0" cy="155448"/>
          </a:xfrm>
          <a:prstGeom prst="line">
            <a:avLst/>
          </a:prstGeom>
          <a:noFill/>
          <a:ln w="15875">
            <a:solidFill>
              <a:schemeClr val="accent1"/>
            </a:solidFill>
            <a:prstDash val="solid"/>
          </a:ln>
        </p:spPr>
      </p:sp>
      <p:sp>
        <p:nvSpPr>
          <p:cNvPr id="23" name="Shape 20"/>
          <p:cNvSpPr/>
          <p:nvPr/>
        </p:nvSpPr>
        <p:spPr>
          <a:xfrm>
            <a:off x="11542471" y="5376672"/>
            <a:ext cx="155448" cy="0"/>
          </a:xfrm>
          <a:prstGeom prst="line">
            <a:avLst/>
          </a:prstGeom>
          <a:noFill/>
          <a:ln w="15875">
            <a:solidFill>
              <a:schemeClr val="accent1"/>
            </a:solidFill>
            <a:prstDash val="solid"/>
          </a:ln>
        </p:spPr>
      </p:sp>
      <p:sp>
        <p:nvSpPr>
          <p:cNvPr id="24" name="Shape 21"/>
          <p:cNvSpPr/>
          <p:nvPr/>
        </p:nvSpPr>
        <p:spPr>
          <a:xfrm>
            <a:off x="11697919" y="5221224"/>
            <a:ext cx="0" cy="155448"/>
          </a:xfrm>
          <a:prstGeom prst="line">
            <a:avLst/>
          </a:prstGeom>
          <a:noFill/>
          <a:ln w="15875">
            <a:solidFill>
              <a:schemeClr val="accent1"/>
            </a:solidFill>
            <a:prstDash val="solid"/>
          </a:ln>
        </p:spPr>
      </p:sp>
      <p:sp>
        <p:nvSpPr>
          <p:cNvPr id="25" name="Text 22"/>
          <p:cNvSpPr txBox="1"/>
          <p:nvPr/>
        </p:nvSpPr>
        <p:spPr>
          <a:xfrm>
            <a:off x="6583680" y="2578608"/>
            <a:ext cx="4785055" cy="274320"/>
          </a:xfrm>
          <a:prstGeom prst="rect">
            <a:avLst/>
          </a:prstGeom>
          <a:noFill/>
          <a:ln/>
        </p:spPr>
        <p:txBody>
          <a:bodyPr wrap="square" lIns="0" tIns="0" rIns="0" bIns="0" rtlCol="0" anchor="t"/>
          <a:lstStyle/>
          <a:p>
            <a:pPr indent="0" marL="0">
              <a:buNone/>
            </a:pPr>
            <a:r>
              <a:rPr lang="es-CL" altLang="en-US" sz="1600" spc="100" kern="0" dirty="0">
                <a:solidFill>
                  <a:schemeClr val="accent1"/>
                </a:solidFill>
                <a:latin typeface="IBM Plex Mono" pitchFamily="34" charset="0"/>
                <a:ea typeface="IBM Plex Mono" pitchFamily="34" charset="-122"/>
                <a:cs typeface="IBM Plex Mono" pitchFamily="34" charset="-120"/>
              </a:rPr>
              <a:t>C01 · INDICADOR PROPUESTO</a:t>
            </a:r>
            <a:endParaRPr lang="es-CL" sz="1600" dirty="0"/>
          </a:p>
        </p:txBody>
      </p:sp>
      <p:sp>
        <p:nvSpPr>
          <p:cNvPr id="26" name="Text 23"/>
          <p:cNvSpPr txBox="1"/>
          <p:nvPr/>
        </p:nvSpPr>
        <p:spPr>
          <a:xfrm>
            <a:off x="6583680" y="2944368"/>
            <a:ext cx="4785055" cy="384048"/>
          </a:xfrm>
          <a:prstGeom prst="rect">
            <a:avLst/>
          </a:prstGeom>
          <a:noFill/>
          <a:ln/>
        </p:spPr>
        <p:txBody>
          <a:bodyPr wrap="square" lIns="0" tIns="0" rIns="0" bIns="0" rtlCol="0" anchor="ctr"/>
          <a:lstStyle/>
          <a:p>
            <a:pPr algn="ctr" indent="0" marL="0">
              <a:buNone/>
            </a:pPr>
            <a:r>
              <a:rPr lang="es-CL" altLang="en-US" sz="2000" b="1" dirty="0">
                <a:solidFill>
                  <a:schemeClr val="tx1"/>
                </a:solidFill>
                <a:latin typeface="Figtree" pitchFamily="34" charset="0"/>
                <a:ea typeface="Figtree" pitchFamily="34" charset="-122"/>
                <a:cs typeface="Figtree" pitchFamily="34" charset="-120"/>
              </a:rPr>
              <a:t>Clientes con informe antes y después</a:t>
            </a:r>
            <a:endParaRPr lang="es-CL" sz="2000" dirty="0"/>
          </a:p>
        </p:txBody>
      </p:sp>
      <p:sp>
        <p:nvSpPr>
          <p:cNvPr id="27" name="Shape 24"/>
          <p:cNvSpPr/>
          <p:nvPr/>
        </p:nvSpPr>
        <p:spPr>
          <a:xfrm>
            <a:off x="6766560" y="3383280"/>
            <a:ext cx="4419295" cy="0"/>
          </a:xfrm>
          <a:prstGeom prst="line">
            <a:avLst/>
          </a:prstGeom>
          <a:noFill/>
          <a:ln w="19050">
            <a:solidFill>
              <a:schemeClr val="accent1"/>
            </a:solidFill>
            <a:prstDash val="solid"/>
          </a:ln>
        </p:spPr>
      </p:sp>
      <p:sp>
        <p:nvSpPr>
          <p:cNvPr id="28" name="Text 25"/>
          <p:cNvSpPr txBox="1"/>
          <p:nvPr/>
        </p:nvSpPr>
        <p:spPr>
          <a:xfrm>
            <a:off x="6583680" y="3438144"/>
            <a:ext cx="4785055" cy="384048"/>
          </a:xfrm>
          <a:prstGeom prst="rect">
            <a:avLst/>
          </a:prstGeom>
          <a:noFill/>
          <a:ln/>
        </p:spPr>
        <p:txBody>
          <a:bodyPr wrap="square" lIns="0" tIns="0" rIns="0" bIns="0" rtlCol="0" anchor="ctr"/>
          <a:lstStyle/>
          <a:p>
            <a:pPr algn="ctr" indent="0" marL="0">
              <a:buNone/>
            </a:pPr>
            <a:r>
              <a:rPr lang="es-CL" altLang="en-US" sz="2000" dirty="0">
                <a:solidFill>
                  <a:schemeClr val="tx1"/>
                </a:solidFill>
                <a:latin typeface="Figtree" pitchFamily="34" charset="0"/>
                <a:ea typeface="Figtree" pitchFamily="34" charset="-122"/>
                <a:cs typeface="Figtree" pitchFamily="34" charset="-120"/>
              </a:rPr>
              <a:t>Clientes intervenidos</a:t>
            </a:r>
            <a:endParaRPr lang="es-CL" sz="2000" dirty="0"/>
          </a:p>
        </p:txBody>
      </p:sp>
      <p:sp>
        <p:nvSpPr>
          <p:cNvPr id="29" name="Shape 26"/>
          <p:cNvSpPr/>
          <p:nvPr/>
        </p:nvSpPr>
        <p:spPr>
          <a:xfrm>
            <a:off x="6583680" y="4023360"/>
            <a:ext cx="4785055" cy="0"/>
          </a:xfrm>
          <a:prstGeom prst="line">
            <a:avLst/>
          </a:prstGeom>
          <a:noFill/>
          <a:ln w="9525">
            <a:solidFill>
              <a:schemeClr val="accent5"/>
            </a:solidFill>
            <a:prstDash val="solid"/>
          </a:ln>
        </p:spPr>
      </p:sp>
      <p:sp>
        <p:nvSpPr>
          <p:cNvPr id="30" name="Text 27"/>
          <p:cNvSpPr txBox="1"/>
          <p:nvPr/>
        </p:nvSpPr>
        <p:spPr>
          <a:xfrm>
            <a:off x="6583680" y="4151376"/>
            <a:ext cx="2392528" cy="256032"/>
          </a:xfrm>
          <a:prstGeom prst="rect">
            <a:avLst/>
          </a:prstGeom>
          <a:noFill/>
          <a:ln/>
        </p:spPr>
        <p:txBody>
          <a:bodyPr wrap="square" lIns="0" tIns="0" rIns="0" bIns="0" rtlCol="0" anchor="t"/>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META</a:t>
            </a:r>
            <a:endParaRPr lang="es-CL" sz="1400" dirty="0"/>
          </a:p>
        </p:txBody>
      </p:sp>
      <p:sp>
        <p:nvSpPr>
          <p:cNvPr id="31" name="Text 28"/>
          <p:cNvSpPr txBox="1"/>
          <p:nvPr/>
        </p:nvSpPr>
        <p:spPr>
          <a:xfrm>
            <a:off x="6583680" y="4389120"/>
            <a:ext cx="1554480" cy="658368"/>
          </a:xfrm>
          <a:prstGeom prst="rect">
            <a:avLst/>
          </a:prstGeom>
          <a:noFill/>
          <a:ln/>
        </p:spPr>
        <p:txBody>
          <a:bodyPr wrap="square" lIns="0" tIns="0" rIns="0" bIns="0" rtlCol="0" anchor="b"/>
          <a:lstStyle/>
          <a:p>
            <a:pPr indent="0" marL="0">
              <a:buNone/>
            </a:pPr>
            <a:r>
              <a:rPr lang="es-CL" altLang="en-US" sz="4400" b="1" dirty="0">
                <a:solidFill>
                  <a:schemeClr val="accent1"/>
                </a:solidFill>
                <a:latin typeface="Archivo Condensed" pitchFamily="34" charset="0"/>
                <a:ea typeface="Archivo Condensed" pitchFamily="34" charset="-122"/>
                <a:cs typeface="Archivo Condensed" pitchFamily="34" charset="-120"/>
              </a:rPr>
              <a:t>100%</a:t>
            </a:r>
            <a:endParaRPr lang="es-CL" sz="4400" dirty="0"/>
          </a:p>
        </p:txBody>
      </p:sp>
      <p:sp>
        <p:nvSpPr>
          <p:cNvPr id="32" name="Shape 29"/>
          <p:cNvSpPr/>
          <p:nvPr/>
        </p:nvSpPr>
        <p:spPr>
          <a:xfrm>
            <a:off x="8138160" y="4608576"/>
            <a:ext cx="935736" cy="310896"/>
          </a:xfrm>
          <a:prstGeom prst="rect">
            <a:avLst/>
          </a:prstGeom>
          <a:solidFill>
            <a:schemeClr val="bg1">
              <a:alpha val="0"/>
            </a:schemeClr>
          </a:solidFill>
          <a:ln w="12700">
            <a:solidFill>
              <a:schemeClr val="tx2"/>
            </a:solidFill>
            <a:prstDash val="sysDot"/>
          </a:ln>
        </p:spPr>
      </p:sp>
      <p:sp>
        <p:nvSpPr>
          <p:cNvPr id="33" name="Text 30"/>
          <p:cNvSpPr txBox="1"/>
          <p:nvPr/>
        </p:nvSpPr>
        <p:spPr>
          <a:xfrm>
            <a:off x="8247888" y="4608576"/>
            <a:ext cx="716280" cy="310896"/>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DISEÑO</a:t>
            </a:r>
            <a:endParaRPr lang="es-CL" sz="1200" dirty="0"/>
          </a:p>
        </p:txBody>
      </p:sp>
      <p:sp>
        <p:nvSpPr>
          <p:cNvPr id="34" name="Text 31"/>
          <p:cNvSpPr txBox="1"/>
          <p:nvPr/>
        </p:nvSpPr>
        <p:spPr>
          <a:xfrm>
            <a:off x="9067648" y="4151376"/>
            <a:ext cx="2392528" cy="256032"/>
          </a:xfrm>
          <a:prstGeom prst="rect">
            <a:avLst/>
          </a:prstGeom>
          <a:noFill/>
          <a:ln/>
        </p:spPr>
        <p:txBody>
          <a:bodyPr wrap="square" lIns="0" tIns="0" rIns="0" bIns="0" rtlCol="0" anchor="t"/>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REAL</a:t>
            </a:r>
            <a:endParaRPr lang="es-CL" sz="1400" dirty="0"/>
          </a:p>
        </p:txBody>
      </p:sp>
      <p:sp>
        <p:nvSpPr>
          <p:cNvPr id="35" name="Shape 32"/>
          <p:cNvSpPr/>
          <p:nvPr/>
        </p:nvSpPr>
        <p:spPr>
          <a:xfrm>
            <a:off x="9067648" y="4572000"/>
            <a:ext cx="1760220" cy="420624"/>
          </a:xfrm>
          <a:prstGeom prst="rect">
            <a:avLst/>
          </a:prstGeom>
          <a:solidFill>
            <a:schemeClr val="bg1">
              <a:alpha val="0"/>
            </a:schemeClr>
          </a:solidFill>
          <a:ln w="15875">
            <a:solidFill>
              <a:srgbClr val="8B9598"/>
            </a:solidFill>
            <a:prstDash val="solid"/>
          </a:ln>
        </p:spPr>
      </p:sp>
      <p:sp>
        <p:nvSpPr>
          <p:cNvPr id="36" name="Shape 33"/>
          <p:cNvSpPr/>
          <p:nvPr/>
        </p:nvSpPr>
        <p:spPr>
          <a:xfrm>
            <a:off x="9204808" y="4709160"/>
            <a:ext cx="146304" cy="146304"/>
          </a:xfrm>
          <a:prstGeom prst="ellipse">
            <a:avLst/>
          </a:prstGeom>
          <a:solidFill>
            <a:srgbClr val="8B9598"/>
          </a:solidFill>
          <a:ln/>
        </p:spPr>
      </p:sp>
      <p:sp>
        <p:nvSpPr>
          <p:cNvPr id="37" name="Text 34"/>
          <p:cNvSpPr txBox="1"/>
          <p:nvPr/>
        </p:nvSpPr>
        <p:spPr>
          <a:xfrm>
            <a:off x="9433408" y="4572000"/>
            <a:ext cx="1303020" cy="420624"/>
          </a:xfrm>
          <a:prstGeom prst="rect">
            <a:avLst/>
          </a:prstGeom>
          <a:noFill/>
          <a:ln/>
        </p:spPr>
        <p:txBody>
          <a:bodyPr wrap="square" lIns="0" tIns="0" rIns="0" bIns="0" rtlCol="0" anchor="ctr"/>
          <a:lstStyle/>
          <a:p>
            <a:pPr indent="0" marL="0">
              <a:buNone/>
            </a:pPr>
            <a:r>
              <a:rPr lang="es-CL" altLang="en-US" sz="1600" b="1" spc="100" kern="0" dirty="0">
                <a:solidFill>
                  <a:srgbClr val="8B9598"/>
                </a:solidFill>
                <a:latin typeface="IBM Plex Mono" pitchFamily="34" charset="0"/>
                <a:ea typeface="IBM Plex Mono" pitchFamily="34" charset="-122"/>
                <a:cs typeface="IBM Plex Mono" pitchFamily="34" charset="-120"/>
              </a:rPr>
              <a:t>SIN MEDIR</a:t>
            </a:r>
            <a:endParaRPr lang="es-CL" sz="1600" dirty="0"/>
          </a:p>
        </p:txBody>
      </p:sp>
      <p:sp>
        <p:nvSpPr>
          <p:cNvPr id="38" name="Shape 35"/>
          <p:cNvSpPr/>
          <p:nvPr/>
        </p:nvSpPr>
        <p:spPr>
          <a:xfrm>
            <a:off x="548640" y="5705856"/>
            <a:ext cx="11094415" cy="0"/>
          </a:xfrm>
          <a:prstGeom prst="line">
            <a:avLst/>
          </a:prstGeom>
          <a:noFill/>
          <a:ln w="9525">
            <a:solidFill>
              <a:schemeClr val="accent1"/>
            </a:solidFill>
            <a:prstDash val="solid"/>
          </a:ln>
        </p:spPr>
      </p:sp>
      <p:sp>
        <p:nvSpPr>
          <p:cNvPr id="39" name="Text 36"/>
          <p:cNvSpPr txBox="1"/>
          <p:nvPr/>
        </p:nvSpPr>
        <p:spPr>
          <a:xfrm>
            <a:off x="548640" y="5833872"/>
            <a:ext cx="11094415" cy="457200"/>
          </a:xfrm>
          <a:prstGeom prst="rect">
            <a:avLst/>
          </a:prstGeom>
          <a:noFill/>
          <a:ln/>
        </p:spPr>
        <p:txBody>
          <a:bodyPr wrap="square" lIns="0" tIns="0" rIns="0" bIns="0" rtlCol="0" anchor="ctr"/>
          <a:lstStyle/>
          <a:p>
            <a:pPr indent="0" marL="0">
              <a:buNone/>
            </a:pPr>
            <a:r>
              <a:rPr lang="es-CL" altLang="en-US" sz="2400" b="1" dirty="0">
                <a:solidFill>
                  <a:schemeClr val="tx1"/>
                </a:solidFill>
                <a:latin typeface="Figtree" pitchFamily="34" charset="0"/>
                <a:ea typeface="Figtree" pitchFamily="34" charset="-122"/>
                <a:cs typeface="Figtree" pitchFamily="34" charset="-120"/>
              </a:rPr>
              <a:t>Entregar evidencia </a:t>
            </a:r>
            <a:pPr indent="0" marL="0">
              <a:buNone/>
            </a:pPr>
            <a:r>
              <a:rPr lang="es-CL" altLang="en-US" sz="2400" b="1" dirty="0">
                <a:solidFill>
                  <a:schemeClr val="accent1"/>
                </a:solidFill>
                <a:latin typeface="Figtree" pitchFamily="34" charset="0"/>
                <a:ea typeface="Figtree" pitchFamily="34" charset="-122"/>
                <a:cs typeface="Figtree" pitchFamily="34" charset="-120"/>
              </a:rPr>
              <a:t>no es lo mismo que prometer 20% de ahorro.</a:t>
            </a:r>
            <a:endParaRPr lang="es-CL" sz="24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04</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MAPA ESTRATÉGICO · CAUSA Y EFECTO</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CUATRO PERSPECTIVAS,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una cadena causal.</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CMI de Lumine actualizado (Fases 1 y 2); dossier y Excel de la Solemne 2; módulos 2 y 3 del curso. Cada flecha es una hipótesis de causa y efecto por verificar.</a:t>
            </a:r>
            <a:endParaRPr lang="es-CL" sz="1100" dirty="0"/>
          </a:p>
        </p:txBody>
      </p:sp>
      <p:sp>
        <p:nvSpPr>
          <p:cNvPr id="5" name="Text 3"/>
          <p:cNvSpPr txBox="1"/>
          <p:nvPr/>
        </p:nvSpPr>
        <p:spPr>
          <a:xfrm>
            <a:off x="9308795" y="841248"/>
            <a:ext cx="2334260" cy="274320"/>
          </a:xfrm>
          <a:prstGeom prst="rect">
            <a:avLst/>
          </a:prstGeom>
          <a:noFill/>
          <a:ln/>
        </p:spPr>
        <p:txBody>
          <a:bodyPr wrap="square" lIns="0" tIns="0" rIns="0" bIns="0" rtlCol="0" anchor="ctr"/>
          <a:lstStyle/>
          <a:p>
            <a:pPr indent="0" marL="0">
              <a:buNone/>
            </a:pPr>
            <a:r>
              <a:rPr lang="es-CL" altLang="en-US" sz="1200" spc="50" kern="0" dirty="0">
                <a:solidFill>
                  <a:srgbClr val="F87171"/>
                </a:solidFill>
                <a:latin typeface="IBM Plex Mono" pitchFamily="34" charset="0"/>
                <a:ea typeface="IBM Plex Mono" pitchFamily="34" charset="-122"/>
                <a:cs typeface="IBM Plex Mono" pitchFamily="34" charset="-120"/>
              </a:rPr>
              <a:t>HITO CRÍTICO PENDIENTE</a:t>
            </a:r>
            <a:endParaRPr lang="es-CL" sz="1200" dirty="0"/>
          </a:p>
        </p:txBody>
      </p:sp>
      <p:sp>
        <p:nvSpPr>
          <p:cNvPr id="6" name="Shape 4"/>
          <p:cNvSpPr/>
          <p:nvPr/>
        </p:nvSpPr>
        <p:spPr>
          <a:xfrm>
            <a:off x="9089339" y="905256"/>
            <a:ext cx="137160" cy="137160"/>
          </a:xfrm>
          <a:prstGeom prst="ellipse">
            <a:avLst/>
          </a:prstGeom>
          <a:solidFill>
            <a:srgbClr val="F87171"/>
          </a:solidFill>
          <a:ln/>
        </p:spPr>
      </p:sp>
      <p:sp>
        <p:nvSpPr>
          <p:cNvPr id="7" name="Text 5"/>
          <p:cNvSpPr txBox="1"/>
          <p:nvPr/>
        </p:nvSpPr>
        <p:spPr>
          <a:xfrm>
            <a:off x="7697165" y="841248"/>
            <a:ext cx="1062990" cy="274320"/>
          </a:xfrm>
          <a:prstGeom prst="rect">
            <a:avLst/>
          </a:prstGeom>
          <a:noFill/>
          <a:ln/>
        </p:spPr>
        <p:txBody>
          <a:bodyPr wrap="square" lIns="0" tIns="0" rIns="0" bIns="0" rtlCol="0" anchor="ctr"/>
          <a:lstStyle/>
          <a:p>
            <a:pPr indent="0" marL="0">
              <a:buNone/>
            </a:pPr>
            <a:r>
              <a:rPr lang="es-CL" altLang="en-US" sz="1200" spc="50" kern="0" dirty="0">
                <a:solidFill>
                  <a:srgbClr val="8B9598"/>
                </a:solidFill>
                <a:latin typeface="IBM Plex Mono" pitchFamily="34" charset="0"/>
                <a:ea typeface="IBM Plex Mono" pitchFamily="34" charset="-122"/>
                <a:cs typeface="IBM Plex Mono" pitchFamily="34" charset="-120"/>
              </a:rPr>
              <a:t>SIN MEDIR</a:t>
            </a:r>
            <a:endParaRPr lang="es-CL" sz="1200" dirty="0"/>
          </a:p>
        </p:txBody>
      </p:sp>
      <p:sp>
        <p:nvSpPr>
          <p:cNvPr id="8" name="Shape 6"/>
          <p:cNvSpPr/>
          <p:nvPr/>
        </p:nvSpPr>
        <p:spPr>
          <a:xfrm>
            <a:off x="7477709" y="905256"/>
            <a:ext cx="137160" cy="137160"/>
          </a:xfrm>
          <a:prstGeom prst="ellipse">
            <a:avLst/>
          </a:prstGeom>
          <a:solidFill>
            <a:srgbClr val="8B9598"/>
          </a:solidFill>
          <a:ln/>
        </p:spPr>
      </p:sp>
      <p:sp>
        <p:nvSpPr>
          <p:cNvPr id="9" name="Shape 7"/>
          <p:cNvSpPr/>
          <p:nvPr/>
        </p:nvSpPr>
        <p:spPr>
          <a:xfrm>
            <a:off x="548640" y="2359152"/>
            <a:ext cx="0" cy="548640"/>
          </a:xfrm>
          <a:prstGeom prst="line">
            <a:avLst/>
          </a:prstGeom>
          <a:noFill/>
          <a:ln w="25400">
            <a:solidFill>
              <a:schemeClr val="accent1"/>
            </a:solidFill>
            <a:prstDash val="solid"/>
          </a:ln>
        </p:spPr>
      </p:sp>
      <p:sp>
        <p:nvSpPr>
          <p:cNvPr id="10" name="Text 8"/>
          <p:cNvSpPr txBox="1"/>
          <p:nvPr/>
        </p:nvSpPr>
        <p:spPr>
          <a:xfrm>
            <a:off x="694944" y="2359152"/>
            <a:ext cx="1645920" cy="548640"/>
          </a:xfrm>
          <a:prstGeom prst="rect">
            <a:avLst/>
          </a:prstGeom>
          <a:noFill/>
          <a:ln/>
        </p:spPr>
        <p:txBody>
          <a:bodyPr wrap="square" lIns="0" tIns="0" rIns="0" bIns="0" rtlCol="0" anchor="ctr"/>
          <a:lstStyle/>
          <a:p>
            <a:pPr indent="0" marL="0">
              <a:buNone/>
            </a:pPr>
            <a:r>
              <a:rPr lang="es-CL" altLang="en-US" sz="1400" spc="100" kern="0" dirty="0">
                <a:solidFill>
                  <a:schemeClr val="tx1"/>
                </a:solidFill>
                <a:latin typeface="IBM Plex Mono" pitchFamily="34" charset="0"/>
                <a:ea typeface="IBM Plex Mono" pitchFamily="34" charset="-122"/>
                <a:cs typeface="IBM Plex Mono" pitchFamily="34" charset="-120"/>
              </a:rPr>
              <a:t>FINANCIERA</a:t>
            </a:r>
            <a:endParaRPr lang="es-CL" sz="1400" dirty="0"/>
          </a:p>
        </p:txBody>
      </p:sp>
      <p:sp>
        <p:nvSpPr>
          <p:cNvPr id="11" name="Shape 9"/>
          <p:cNvSpPr/>
          <p:nvPr/>
        </p:nvSpPr>
        <p:spPr>
          <a:xfrm>
            <a:off x="548640" y="3200400"/>
            <a:ext cx="0" cy="1389888"/>
          </a:xfrm>
          <a:prstGeom prst="line">
            <a:avLst/>
          </a:prstGeom>
          <a:noFill/>
          <a:ln w="25400">
            <a:solidFill>
              <a:schemeClr val="accent1"/>
            </a:solidFill>
            <a:prstDash val="solid"/>
          </a:ln>
        </p:spPr>
      </p:sp>
      <p:sp>
        <p:nvSpPr>
          <p:cNvPr id="12" name="Text 10"/>
          <p:cNvSpPr txBox="1"/>
          <p:nvPr/>
        </p:nvSpPr>
        <p:spPr>
          <a:xfrm>
            <a:off x="694944" y="3200400"/>
            <a:ext cx="1645920" cy="1389888"/>
          </a:xfrm>
          <a:prstGeom prst="rect">
            <a:avLst/>
          </a:prstGeom>
          <a:noFill/>
          <a:ln/>
        </p:spPr>
        <p:txBody>
          <a:bodyPr wrap="square" lIns="0" tIns="0" rIns="0" bIns="0" rtlCol="0" anchor="ctr"/>
          <a:lstStyle/>
          <a:p>
            <a:pPr indent="0" marL="0">
              <a:buNone/>
            </a:pPr>
            <a:r>
              <a:rPr lang="es-CL" altLang="en-US" sz="1400" spc="100" kern="0" dirty="0">
                <a:solidFill>
                  <a:schemeClr val="tx1"/>
                </a:solidFill>
                <a:latin typeface="IBM Plex Mono" pitchFamily="34" charset="0"/>
                <a:ea typeface="IBM Plex Mono" pitchFamily="34" charset="-122"/>
                <a:cs typeface="IBM Plex Mono" pitchFamily="34" charset="-120"/>
              </a:rPr>
              <a:t>CLIENTES</a:t>
            </a:r>
            <a:endParaRPr lang="es-CL" sz="1400" dirty="0"/>
          </a:p>
        </p:txBody>
      </p:sp>
      <p:sp>
        <p:nvSpPr>
          <p:cNvPr id="13" name="Shape 11"/>
          <p:cNvSpPr/>
          <p:nvPr/>
        </p:nvSpPr>
        <p:spPr>
          <a:xfrm>
            <a:off x="548640" y="4882896"/>
            <a:ext cx="0" cy="548640"/>
          </a:xfrm>
          <a:prstGeom prst="line">
            <a:avLst/>
          </a:prstGeom>
          <a:noFill/>
          <a:ln w="25400">
            <a:solidFill>
              <a:schemeClr val="accent1"/>
            </a:solidFill>
            <a:prstDash val="solid"/>
          </a:ln>
        </p:spPr>
      </p:sp>
      <p:sp>
        <p:nvSpPr>
          <p:cNvPr id="14" name="Text 12"/>
          <p:cNvSpPr txBox="1"/>
          <p:nvPr/>
        </p:nvSpPr>
        <p:spPr>
          <a:xfrm>
            <a:off x="694944" y="4882896"/>
            <a:ext cx="1645920" cy="548640"/>
          </a:xfrm>
          <a:prstGeom prst="rect">
            <a:avLst/>
          </a:prstGeom>
          <a:noFill/>
          <a:ln/>
        </p:spPr>
        <p:txBody>
          <a:bodyPr wrap="square" lIns="0" tIns="0" rIns="0" bIns="0" rtlCol="0" anchor="ctr"/>
          <a:lstStyle/>
          <a:p>
            <a:pPr indent="0" marL="0">
              <a:buNone/>
            </a:pPr>
            <a:r>
              <a:rPr lang="es-CL" altLang="en-US" sz="1400" spc="100" kern="0" dirty="0">
                <a:solidFill>
                  <a:schemeClr val="tx1"/>
                </a:solidFill>
                <a:latin typeface="IBM Plex Mono" pitchFamily="34" charset="0"/>
                <a:ea typeface="IBM Plex Mono" pitchFamily="34" charset="-122"/>
                <a:cs typeface="IBM Plex Mono" pitchFamily="34" charset="-120"/>
              </a:rPr>
              <a:t>PROCESOS</a:t>
            </a:r>
            <a:endParaRPr lang="es-CL" sz="1400" dirty="0"/>
          </a:p>
        </p:txBody>
      </p:sp>
      <p:sp>
        <p:nvSpPr>
          <p:cNvPr id="15" name="Shape 13"/>
          <p:cNvSpPr/>
          <p:nvPr/>
        </p:nvSpPr>
        <p:spPr>
          <a:xfrm>
            <a:off x="548640" y="5724144"/>
            <a:ext cx="0" cy="548640"/>
          </a:xfrm>
          <a:prstGeom prst="line">
            <a:avLst/>
          </a:prstGeom>
          <a:noFill/>
          <a:ln w="25400">
            <a:solidFill>
              <a:schemeClr val="accent1"/>
            </a:solidFill>
            <a:prstDash val="solid"/>
          </a:ln>
        </p:spPr>
      </p:sp>
      <p:sp>
        <p:nvSpPr>
          <p:cNvPr id="16" name="Text 14"/>
          <p:cNvSpPr txBox="1"/>
          <p:nvPr/>
        </p:nvSpPr>
        <p:spPr>
          <a:xfrm>
            <a:off x="694944" y="5724144"/>
            <a:ext cx="1645920" cy="548640"/>
          </a:xfrm>
          <a:prstGeom prst="rect">
            <a:avLst/>
          </a:prstGeom>
          <a:noFill/>
          <a:ln/>
        </p:spPr>
        <p:txBody>
          <a:bodyPr wrap="square" lIns="0" tIns="0" rIns="0" bIns="0" rtlCol="0" anchor="ctr"/>
          <a:lstStyle/>
          <a:p>
            <a:pPr indent="0" marL="0">
              <a:buNone/>
            </a:pPr>
            <a:r>
              <a:rPr lang="es-CL" altLang="en-US" sz="1400" spc="100" kern="0" dirty="0">
                <a:solidFill>
                  <a:schemeClr val="tx1"/>
                </a:solidFill>
                <a:latin typeface="IBM Plex Mono" pitchFamily="34" charset="0"/>
                <a:ea typeface="IBM Plex Mono" pitchFamily="34" charset="-122"/>
                <a:cs typeface="IBM Plex Mono" pitchFamily="34" charset="-120"/>
              </a:rPr>
              <a:t>APRENDIZAJE</a:t>
            </a:r>
            <a:endParaRPr lang="es-CL" sz="1400" dirty="0"/>
          </a:p>
        </p:txBody>
      </p:sp>
      <p:pic>
        <p:nvPicPr>
          <p:cNvPr id="17" name="Image 0" descr="C:\Users\Usuario\Documents\GitHub\lumine\solemne-2\generador\assets\brillo.png">    </p:cNvPr>
          <p:cNvPicPr>
            <a:picLocks noChangeAspect="1"/>
          </p:cNvPicPr>
          <p:nvPr/>
        </p:nvPicPr>
        <p:blipFill>
          <a:blip r:embed="rId1"/>
          <a:stretch>
            <a:fillRect/>
          </a:stretch>
        </p:blipFill>
        <p:spPr>
          <a:xfrm>
            <a:off x="4370832" y="2103120"/>
            <a:ext cx="5230368" cy="1060704"/>
          </a:xfrm>
          <a:prstGeom prst="rect">
            <a:avLst/>
          </a:prstGeom>
        </p:spPr>
      </p:pic>
      <p:sp>
        <p:nvSpPr>
          <p:cNvPr id="18" name="Shape 15"/>
          <p:cNvSpPr/>
          <p:nvPr/>
        </p:nvSpPr>
        <p:spPr>
          <a:xfrm>
            <a:off x="4736592" y="2359152"/>
            <a:ext cx="4498848" cy="548640"/>
          </a:xfrm>
          <a:prstGeom prst="rect">
            <a:avLst/>
          </a:prstGeom>
          <a:solidFill>
            <a:srgbClr val="0B1A22"/>
          </a:solidFill>
          <a:ln w="15875">
            <a:solidFill>
              <a:schemeClr val="accent1"/>
            </a:solidFill>
            <a:prstDash val="solid"/>
          </a:ln>
        </p:spPr>
      </p:sp>
      <p:sp>
        <p:nvSpPr>
          <p:cNvPr id="19" name="Shape 16"/>
          <p:cNvSpPr/>
          <p:nvPr/>
        </p:nvSpPr>
        <p:spPr>
          <a:xfrm>
            <a:off x="4681728" y="2304288"/>
            <a:ext cx="155448" cy="0"/>
          </a:xfrm>
          <a:prstGeom prst="line">
            <a:avLst/>
          </a:prstGeom>
          <a:noFill/>
          <a:ln w="15875">
            <a:solidFill>
              <a:schemeClr val="accent1"/>
            </a:solidFill>
            <a:prstDash val="solid"/>
          </a:ln>
        </p:spPr>
      </p:sp>
      <p:sp>
        <p:nvSpPr>
          <p:cNvPr id="20" name="Shape 17"/>
          <p:cNvSpPr/>
          <p:nvPr/>
        </p:nvSpPr>
        <p:spPr>
          <a:xfrm>
            <a:off x="4681728" y="2304288"/>
            <a:ext cx="0" cy="155448"/>
          </a:xfrm>
          <a:prstGeom prst="line">
            <a:avLst/>
          </a:prstGeom>
          <a:noFill/>
          <a:ln w="15875">
            <a:solidFill>
              <a:schemeClr val="accent1"/>
            </a:solidFill>
            <a:prstDash val="solid"/>
          </a:ln>
        </p:spPr>
      </p:sp>
      <p:sp>
        <p:nvSpPr>
          <p:cNvPr id="21" name="Shape 18"/>
          <p:cNvSpPr/>
          <p:nvPr/>
        </p:nvSpPr>
        <p:spPr>
          <a:xfrm>
            <a:off x="9134856" y="2304288"/>
            <a:ext cx="155448" cy="0"/>
          </a:xfrm>
          <a:prstGeom prst="line">
            <a:avLst/>
          </a:prstGeom>
          <a:noFill/>
          <a:ln w="15875">
            <a:solidFill>
              <a:schemeClr val="accent1"/>
            </a:solidFill>
            <a:prstDash val="solid"/>
          </a:ln>
        </p:spPr>
      </p:sp>
      <p:sp>
        <p:nvSpPr>
          <p:cNvPr id="22" name="Shape 19"/>
          <p:cNvSpPr/>
          <p:nvPr/>
        </p:nvSpPr>
        <p:spPr>
          <a:xfrm>
            <a:off x="9290304" y="2304288"/>
            <a:ext cx="0" cy="155448"/>
          </a:xfrm>
          <a:prstGeom prst="line">
            <a:avLst/>
          </a:prstGeom>
          <a:noFill/>
          <a:ln w="15875">
            <a:solidFill>
              <a:schemeClr val="accent1"/>
            </a:solidFill>
            <a:prstDash val="solid"/>
          </a:ln>
        </p:spPr>
      </p:sp>
      <p:sp>
        <p:nvSpPr>
          <p:cNvPr id="23" name="Shape 20"/>
          <p:cNvSpPr/>
          <p:nvPr/>
        </p:nvSpPr>
        <p:spPr>
          <a:xfrm>
            <a:off x="4681728" y="2962656"/>
            <a:ext cx="155448" cy="0"/>
          </a:xfrm>
          <a:prstGeom prst="line">
            <a:avLst/>
          </a:prstGeom>
          <a:noFill/>
          <a:ln w="15875">
            <a:solidFill>
              <a:schemeClr val="accent1"/>
            </a:solidFill>
            <a:prstDash val="solid"/>
          </a:ln>
        </p:spPr>
      </p:sp>
      <p:sp>
        <p:nvSpPr>
          <p:cNvPr id="24" name="Shape 21"/>
          <p:cNvSpPr/>
          <p:nvPr/>
        </p:nvSpPr>
        <p:spPr>
          <a:xfrm>
            <a:off x="4681728" y="2807208"/>
            <a:ext cx="0" cy="155448"/>
          </a:xfrm>
          <a:prstGeom prst="line">
            <a:avLst/>
          </a:prstGeom>
          <a:noFill/>
          <a:ln w="15875">
            <a:solidFill>
              <a:schemeClr val="accent1"/>
            </a:solidFill>
            <a:prstDash val="solid"/>
          </a:ln>
        </p:spPr>
      </p:sp>
      <p:sp>
        <p:nvSpPr>
          <p:cNvPr id="25" name="Shape 22"/>
          <p:cNvSpPr/>
          <p:nvPr/>
        </p:nvSpPr>
        <p:spPr>
          <a:xfrm>
            <a:off x="9134856" y="2962656"/>
            <a:ext cx="155448" cy="0"/>
          </a:xfrm>
          <a:prstGeom prst="line">
            <a:avLst/>
          </a:prstGeom>
          <a:noFill/>
          <a:ln w="15875">
            <a:solidFill>
              <a:schemeClr val="accent1"/>
            </a:solidFill>
            <a:prstDash val="solid"/>
          </a:ln>
        </p:spPr>
      </p:sp>
      <p:sp>
        <p:nvSpPr>
          <p:cNvPr id="26" name="Shape 23"/>
          <p:cNvSpPr/>
          <p:nvPr/>
        </p:nvSpPr>
        <p:spPr>
          <a:xfrm>
            <a:off x="9290304" y="2807208"/>
            <a:ext cx="0" cy="155448"/>
          </a:xfrm>
          <a:prstGeom prst="line">
            <a:avLst/>
          </a:prstGeom>
          <a:noFill/>
          <a:ln w="15875">
            <a:solidFill>
              <a:schemeClr val="accent1"/>
            </a:solidFill>
            <a:prstDash val="solid"/>
          </a:ln>
        </p:spPr>
      </p:sp>
      <p:sp>
        <p:nvSpPr>
          <p:cNvPr id="27" name="Shape 24"/>
          <p:cNvSpPr/>
          <p:nvPr/>
        </p:nvSpPr>
        <p:spPr>
          <a:xfrm>
            <a:off x="4846320" y="2487168"/>
            <a:ext cx="530352" cy="292608"/>
          </a:xfrm>
          <a:prstGeom prst="rect">
            <a:avLst/>
          </a:prstGeom>
          <a:solidFill>
            <a:schemeClr val="accent1"/>
          </a:solidFill>
          <a:ln/>
        </p:spPr>
      </p:sp>
      <p:sp>
        <p:nvSpPr>
          <p:cNvPr id="28" name="Text 25"/>
          <p:cNvSpPr txBox="1"/>
          <p:nvPr/>
        </p:nvSpPr>
        <p:spPr>
          <a:xfrm>
            <a:off x="4846320" y="2487168"/>
            <a:ext cx="530352" cy="292608"/>
          </a:xfrm>
          <a:prstGeom prst="rect">
            <a:avLst/>
          </a:prstGeom>
          <a:noFill/>
          <a:ln/>
        </p:spPr>
        <p:txBody>
          <a:bodyPr wrap="square" lIns="0" tIns="0" rIns="0" bIns="0" rtlCol="0" anchor="ctr"/>
          <a:lstStyle/>
          <a:p>
            <a:pPr algn="ctr" indent="0" marL="0">
              <a:buNone/>
            </a:pPr>
            <a:r>
              <a:rPr lang="es-CL" altLang="en-US" sz="1300" b="1" dirty="0">
                <a:solidFill>
                  <a:schemeClr val="bg1"/>
                </a:solidFill>
                <a:latin typeface="IBM Plex Mono" pitchFamily="34" charset="0"/>
                <a:ea typeface="IBM Plex Mono" pitchFamily="34" charset="-122"/>
                <a:cs typeface="IBM Plex Mono" pitchFamily="34" charset="-120"/>
              </a:rPr>
              <a:t>F01</a:t>
            </a:r>
            <a:endParaRPr lang="es-CL" sz="1300" dirty="0"/>
          </a:p>
        </p:txBody>
      </p:sp>
      <p:sp>
        <p:nvSpPr>
          <p:cNvPr id="29" name="Text 26"/>
          <p:cNvSpPr txBox="1"/>
          <p:nvPr/>
        </p:nvSpPr>
        <p:spPr>
          <a:xfrm>
            <a:off x="5486400" y="2359152"/>
            <a:ext cx="3675888" cy="548640"/>
          </a:xfrm>
          <a:prstGeom prst="rect">
            <a:avLst/>
          </a:prstGeom>
          <a:noFill/>
          <a:ln/>
        </p:spPr>
        <p:txBody>
          <a:bodyPr wrap="square" lIns="0" tIns="0" rIns="0" bIns="0" rtlCol="0" anchor="ctr"/>
          <a:lstStyle/>
          <a:p>
            <a:pPr indent="0" marL="0">
              <a:lnSpc>
                <a:spcPct val="88000"/>
              </a:lnSpc>
              <a:buNone/>
            </a:pPr>
            <a:r>
              <a:rPr lang="es-CL" altLang="en-US" sz="1600" b="1" dirty="0">
                <a:solidFill>
                  <a:schemeClr val="tx1"/>
                </a:solidFill>
                <a:latin typeface="Figtree" pitchFamily="34" charset="0"/>
                <a:ea typeface="Figtree" pitchFamily="34" charset="-122"/>
                <a:cs typeface="Figtree" pitchFamily="34" charset="-120"/>
              </a:rPr>
              <a:t>EVA &gt; 0: rentabilidad sobre el costo de capital</a:t>
            </a:r>
            <a:endParaRPr lang="es-CL" sz="1600" dirty="0"/>
          </a:p>
        </p:txBody>
      </p:sp>
      <p:sp>
        <p:nvSpPr>
          <p:cNvPr id="30" name="Shape 27"/>
          <p:cNvSpPr/>
          <p:nvPr/>
        </p:nvSpPr>
        <p:spPr>
          <a:xfrm>
            <a:off x="2331720" y="3200400"/>
            <a:ext cx="9308592" cy="548640"/>
          </a:xfrm>
          <a:prstGeom prst="rect">
            <a:avLst/>
          </a:prstGeom>
          <a:solidFill>
            <a:schemeClr val="bg2"/>
          </a:solidFill>
          <a:ln w="12700">
            <a:solidFill>
              <a:schemeClr val="accent1"/>
            </a:solidFill>
            <a:prstDash val="solid"/>
          </a:ln>
        </p:spPr>
      </p:sp>
      <p:sp>
        <p:nvSpPr>
          <p:cNvPr id="31" name="Text 28"/>
          <p:cNvSpPr txBox="1"/>
          <p:nvPr/>
        </p:nvSpPr>
        <p:spPr>
          <a:xfrm>
            <a:off x="2331720" y="3200400"/>
            <a:ext cx="9308592" cy="548640"/>
          </a:xfrm>
          <a:prstGeom prst="rect">
            <a:avLst/>
          </a:prstGeom>
          <a:noFill/>
          <a:ln/>
        </p:spPr>
        <p:txBody>
          <a:bodyPr wrap="square" lIns="0" tIns="0" rIns="0" bIns="0" rtlCol="0" anchor="ctr"/>
          <a:lstStyle/>
          <a:p>
            <a:pPr algn="ctr" indent="0" marL="0">
              <a:buNone/>
            </a:pPr>
            <a:r>
              <a:rPr lang="es-CL" altLang="en-US" sz="1800" b="1" dirty="0">
                <a:solidFill>
                  <a:schemeClr val="tx1"/>
                </a:solidFill>
                <a:latin typeface="Figtree" pitchFamily="34" charset="0"/>
                <a:ea typeface="Figtree" pitchFamily="34" charset="-122"/>
                <a:cs typeface="Figtree" pitchFamily="34" charset="-120"/>
              </a:rPr>
              <a:t>Confianza: el cliente valora el resultado</a:t>
            </a:r>
            <a:endParaRPr lang="es-CL" sz="1800" dirty="0"/>
          </a:p>
        </p:txBody>
      </p:sp>
      <p:sp>
        <p:nvSpPr>
          <p:cNvPr id="32" name="Shape 29"/>
          <p:cNvSpPr/>
          <p:nvPr/>
        </p:nvSpPr>
        <p:spPr>
          <a:xfrm>
            <a:off x="2331720" y="4041648"/>
            <a:ext cx="4498848" cy="548640"/>
          </a:xfrm>
          <a:prstGeom prst="rect">
            <a:avLst/>
          </a:prstGeom>
          <a:solidFill>
            <a:schemeClr val="bg2"/>
          </a:solidFill>
          <a:ln w="9525">
            <a:solidFill>
              <a:srgbClr val="8B9598"/>
            </a:solidFill>
            <a:prstDash val="solid"/>
          </a:ln>
        </p:spPr>
      </p:sp>
      <p:sp>
        <p:nvSpPr>
          <p:cNvPr id="33" name="Shape 30"/>
          <p:cNvSpPr/>
          <p:nvPr/>
        </p:nvSpPr>
        <p:spPr>
          <a:xfrm>
            <a:off x="2441448" y="4169664"/>
            <a:ext cx="530352" cy="292608"/>
          </a:xfrm>
          <a:prstGeom prst="rect">
            <a:avLst/>
          </a:prstGeom>
          <a:solidFill>
            <a:schemeClr val="accent5"/>
          </a:solidFill>
          <a:ln/>
        </p:spPr>
      </p:sp>
      <p:sp>
        <p:nvSpPr>
          <p:cNvPr id="34" name="Text 31"/>
          <p:cNvSpPr txBox="1"/>
          <p:nvPr/>
        </p:nvSpPr>
        <p:spPr>
          <a:xfrm>
            <a:off x="2441448" y="4169664"/>
            <a:ext cx="530352" cy="292608"/>
          </a:xfrm>
          <a:prstGeom prst="rect">
            <a:avLst/>
          </a:prstGeom>
          <a:noFill/>
          <a:ln/>
        </p:spPr>
        <p:txBody>
          <a:bodyPr wrap="square" lIns="0" tIns="0" rIns="0" bIns="0" rtlCol="0" anchor="ctr"/>
          <a:lstStyle/>
          <a:p>
            <a:pPr algn="ctr" indent="0" marL="0">
              <a:buNone/>
            </a:pPr>
            <a:r>
              <a:rPr lang="es-CL" altLang="en-US" sz="1300" b="1" dirty="0">
                <a:solidFill>
                  <a:schemeClr val="tx1"/>
                </a:solidFill>
                <a:latin typeface="IBM Plex Mono" pitchFamily="34" charset="0"/>
                <a:ea typeface="IBM Plex Mono" pitchFamily="34" charset="-122"/>
                <a:cs typeface="IBM Plex Mono" pitchFamily="34" charset="-120"/>
              </a:rPr>
              <a:t>C01</a:t>
            </a:r>
            <a:endParaRPr lang="es-CL" sz="1300" dirty="0"/>
          </a:p>
        </p:txBody>
      </p:sp>
      <p:sp>
        <p:nvSpPr>
          <p:cNvPr id="35" name="Text 32"/>
          <p:cNvSpPr txBox="1"/>
          <p:nvPr/>
        </p:nvSpPr>
        <p:spPr>
          <a:xfrm>
            <a:off x="3081528" y="4041648"/>
            <a:ext cx="3675888" cy="548640"/>
          </a:xfrm>
          <a:prstGeom prst="rect">
            <a:avLst/>
          </a:prstGeom>
          <a:noFill/>
          <a:ln/>
        </p:spPr>
        <p:txBody>
          <a:bodyPr wrap="square" lIns="0" tIns="0" rIns="0" bIns="0" rtlCol="0" anchor="ctr"/>
          <a:lstStyle/>
          <a:p>
            <a:pPr indent="0" marL="0">
              <a:lnSpc>
                <a:spcPct val="88000"/>
              </a:lnSpc>
              <a:buNone/>
            </a:pPr>
            <a:r>
              <a:rPr lang="es-CL" altLang="en-US" sz="1600" dirty="0">
                <a:solidFill>
                  <a:schemeClr val="tx1"/>
                </a:solidFill>
                <a:latin typeface="Figtree" pitchFamily="34" charset="0"/>
                <a:ea typeface="Figtree" pitchFamily="34" charset="-122"/>
                <a:cs typeface="Figtree" pitchFamily="34" charset="-120"/>
              </a:rPr>
              <a:t>Informe individual antes y después</a:t>
            </a:r>
            <a:endParaRPr lang="es-CL" sz="1600" dirty="0"/>
          </a:p>
        </p:txBody>
      </p:sp>
      <p:sp>
        <p:nvSpPr>
          <p:cNvPr id="36" name="Shape 33"/>
          <p:cNvSpPr/>
          <p:nvPr/>
        </p:nvSpPr>
        <p:spPr>
          <a:xfrm>
            <a:off x="7141464" y="4041648"/>
            <a:ext cx="4498848" cy="548640"/>
          </a:xfrm>
          <a:prstGeom prst="rect">
            <a:avLst/>
          </a:prstGeom>
          <a:solidFill>
            <a:schemeClr val="bg2"/>
          </a:solidFill>
          <a:ln w="9525">
            <a:solidFill>
              <a:srgbClr val="8B9598"/>
            </a:solidFill>
            <a:prstDash val="solid"/>
          </a:ln>
        </p:spPr>
      </p:sp>
      <p:sp>
        <p:nvSpPr>
          <p:cNvPr id="37" name="Shape 34"/>
          <p:cNvSpPr/>
          <p:nvPr/>
        </p:nvSpPr>
        <p:spPr>
          <a:xfrm>
            <a:off x="7251192" y="4169664"/>
            <a:ext cx="530352" cy="292608"/>
          </a:xfrm>
          <a:prstGeom prst="rect">
            <a:avLst/>
          </a:prstGeom>
          <a:solidFill>
            <a:schemeClr val="accent5"/>
          </a:solidFill>
          <a:ln/>
        </p:spPr>
      </p:sp>
      <p:sp>
        <p:nvSpPr>
          <p:cNvPr id="38" name="Text 35"/>
          <p:cNvSpPr txBox="1"/>
          <p:nvPr/>
        </p:nvSpPr>
        <p:spPr>
          <a:xfrm>
            <a:off x="7251192" y="4169664"/>
            <a:ext cx="530352" cy="292608"/>
          </a:xfrm>
          <a:prstGeom prst="rect">
            <a:avLst/>
          </a:prstGeom>
          <a:noFill/>
          <a:ln/>
        </p:spPr>
        <p:txBody>
          <a:bodyPr wrap="square" lIns="0" tIns="0" rIns="0" bIns="0" rtlCol="0" anchor="ctr"/>
          <a:lstStyle/>
          <a:p>
            <a:pPr algn="ctr" indent="0" marL="0">
              <a:buNone/>
            </a:pPr>
            <a:r>
              <a:rPr lang="es-CL" altLang="en-US" sz="1300" b="1" dirty="0">
                <a:solidFill>
                  <a:schemeClr val="tx1"/>
                </a:solidFill>
                <a:latin typeface="IBM Plex Mono" pitchFamily="34" charset="0"/>
                <a:ea typeface="IBM Plex Mono" pitchFamily="34" charset="-122"/>
                <a:cs typeface="IBM Plex Mono" pitchFamily="34" charset="-120"/>
              </a:rPr>
              <a:t>C02</a:t>
            </a:r>
            <a:endParaRPr lang="es-CL" sz="1300" dirty="0"/>
          </a:p>
        </p:txBody>
      </p:sp>
      <p:sp>
        <p:nvSpPr>
          <p:cNvPr id="39" name="Text 36"/>
          <p:cNvSpPr txBox="1"/>
          <p:nvPr/>
        </p:nvSpPr>
        <p:spPr>
          <a:xfrm>
            <a:off x="7891272" y="4041648"/>
            <a:ext cx="3675888" cy="548640"/>
          </a:xfrm>
          <a:prstGeom prst="rect">
            <a:avLst/>
          </a:prstGeom>
          <a:noFill/>
          <a:ln/>
        </p:spPr>
        <p:txBody>
          <a:bodyPr wrap="square" lIns="0" tIns="0" rIns="0" bIns="0" rtlCol="0" anchor="ctr"/>
          <a:lstStyle/>
          <a:p>
            <a:pPr indent="0" marL="0">
              <a:lnSpc>
                <a:spcPct val="88000"/>
              </a:lnSpc>
              <a:buNone/>
            </a:pPr>
            <a:r>
              <a:rPr lang="es-CL" altLang="en-US" sz="1600" dirty="0">
                <a:solidFill>
                  <a:schemeClr val="tx1"/>
                </a:solidFill>
                <a:latin typeface="Figtree" pitchFamily="34" charset="0"/>
                <a:ea typeface="Figtree" pitchFamily="34" charset="-122"/>
                <a:cs typeface="Figtree" pitchFamily="34" charset="-120"/>
              </a:rPr>
              <a:t>Respaldo de aseguradora y planta de revisión técnica</a:t>
            </a:r>
            <a:endParaRPr lang="es-CL" sz="1600" dirty="0"/>
          </a:p>
        </p:txBody>
      </p:sp>
      <p:sp>
        <p:nvSpPr>
          <p:cNvPr id="40" name="Shape 37"/>
          <p:cNvSpPr/>
          <p:nvPr/>
        </p:nvSpPr>
        <p:spPr>
          <a:xfrm>
            <a:off x="4736592" y="4882896"/>
            <a:ext cx="2093976" cy="548640"/>
          </a:xfrm>
          <a:prstGeom prst="rect">
            <a:avLst/>
          </a:prstGeom>
          <a:solidFill>
            <a:schemeClr val="bg2"/>
          </a:solidFill>
          <a:ln w="9525">
            <a:solidFill>
              <a:srgbClr val="8B9598"/>
            </a:solidFill>
            <a:prstDash val="solid"/>
          </a:ln>
        </p:spPr>
      </p:sp>
      <p:sp>
        <p:nvSpPr>
          <p:cNvPr id="41" name="Shape 38"/>
          <p:cNvSpPr/>
          <p:nvPr/>
        </p:nvSpPr>
        <p:spPr>
          <a:xfrm>
            <a:off x="4846320" y="5010912"/>
            <a:ext cx="530352" cy="292608"/>
          </a:xfrm>
          <a:prstGeom prst="rect">
            <a:avLst/>
          </a:prstGeom>
          <a:solidFill>
            <a:schemeClr val="accent5"/>
          </a:solidFill>
          <a:ln/>
        </p:spPr>
      </p:sp>
      <p:sp>
        <p:nvSpPr>
          <p:cNvPr id="42" name="Text 39"/>
          <p:cNvSpPr txBox="1"/>
          <p:nvPr/>
        </p:nvSpPr>
        <p:spPr>
          <a:xfrm>
            <a:off x="4846320" y="5010912"/>
            <a:ext cx="530352" cy="292608"/>
          </a:xfrm>
          <a:prstGeom prst="rect">
            <a:avLst/>
          </a:prstGeom>
          <a:noFill/>
          <a:ln/>
        </p:spPr>
        <p:txBody>
          <a:bodyPr wrap="square" lIns="0" tIns="0" rIns="0" bIns="0" rtlCol="0" anchor="ctr"/>
          <a:lstStyle/>
          <a:p>
            <a:pPr algn="ctr" indent="0" marL="0">
              <a:buNone/>
            </a:pPr>
            <a:r>
              <a:rPr lang="es-CL" altLang="en-US" sz="1300" b="1" dirty="0">
                <a:solidFill>
                  <a:schemeClr val="tx1"/>
                </a:solidFill>
                <a:latin typeface="IBM Plex Mono" pitchFamily="34" charset="0"/>
                <a:ea typeface="IBM Plex Mono" pitchFamily="34" charset="-122"/>
                <a:cs typeface="IBM Plex Mono" pitchFamily="34" charset="-120"/>
              </a:rPr>
              <a:t>P03</a:t>
            </a:r>
            <a:endParaRPr lang="es-CL" sz="1300" dirty="0"/>
          </a:p>
        </p:txBody>
      </p:sp>
      <p:sp>
        <p:nvSpPr>
          <p:cNvPr id="43" name="Text 40"/>
          <p:cNvSpPr txBox="1"/>
          <p:nvPr/>
        </p:nvSpPr>
        <p:spPr>
          <a:xfrm>
            <a:off x="5486400" y="4882896"/>
            <a:ext cx="1271016" cy="548640"/>
          </a:xfrm>
          <a:prstGeom prst="rect">
            <a:avLst/>
          </a:prstGeom>
          <a:noFill/>
          <a:ln/>
        </p:spPr>
        <p:txBody>
          <a:bodyPr wrap="square" lIns="0" tIns="0" rIns="0" bIns="0" rtlCol="0" anchor="ctr"/>
          <a:lstStyle/>
          <a:p>
            <a:pPr indent="0" marL="0">
              <a:lnSpc>
                <a:spcPct val="88000"/>
              </a:lnSpc>
              <a:buNone/>
            </a:pPr>
            <a:r>
              <a:rPr lang="es-CL" altLang="en-US" sz="1600" dirty="0">
                <a:solidFill>
                  <a:schemeClr val="tx1"/>
                </a:solidFill>
                <a:latin typeface="Figtree" pitchFamily="34" charset="0"/>
                <a:ea typeface="Figtree" pitchFamily="34" charset="-122"/>
                <a:cs typeface="Figtree" pitchFamily="34" charset="-120"/>
              </a:rPr>
              <a:t>Actas de seguridad</a:t>
            </a:r>
            <a:endParaRPr lang="es-CL" sz="1600" dirty="0"/>
          </a:p>
        </p:txBody>
      </p:sp>
      <p:sp>
        <p:nvSpPr>
          <p:cNvPr id="44" name="Shape 41"/>
          <p:cNvSpPr/>
          <p:nvPr/>
        </p:nvSpPr>
        <p:spPr>
          <a:xfrm>
            <a:off x="7141464" y="4882896"/>
            <a:ext cx="2093976" cy="548640"/>
          </a:xfrm>
          <a:prstGeom prst="rect">
            <a:avLst/>
          </a:prstGeom>
          <a:solidFill>
            <a:schemeClr val="bg2"/>
          </a:solidFill>
          <a:ln w="19050">
            <a:solidFill>
              <a:srgbClr val="F87171"/>
            </a:solidFill>
            <a:prstDash val="solid"/>
          </a:ln>
        </p:spPr>
      </p:sp>
      <p:sp>
        <p:nvSpPr>
          <p:cNvPr id="45" name="Shape 42"/>
          <p:cNvSpPr/>
          <p:nvPr/>
        </p:nvSpPr>
        <p:spPr>
          <a:xfrm>
            <a:off x="7251192" y="5010912"/>
            <a:ext cx="530352" cy="292608"/>
          </a:xfrm>
          <a:prstGeom prst="rect">
            <a:avLst/>
          </a:prstGeom>
          <a:solidFill>
            <a:schemeClr val="accent5"/>
          </a:solidFill>
          <a:ln/>
        </p:spPr>
      </p:sp>
      <p:sp>
        <p:nvSpPr>
          <p:cNvPr id="46" name="Text 43"/>
          <p:cNvSpPr txBox="1"/>
          <p:nvPr/>
        </p:nvSpPr>
        <p:spPr>
          <a:xfrm>
            <a:off x="7251192" y="5010912"/>
            <a:ext cx="530352" cy="292608"/>
          </a:xfrm>
          <a:prstGeom prst="rect">
            <a:avLst/>
          </a:prstGeom>
          <a:noFill/>
          <a:ln/>
        </p:spPr>
        <p:txBody>
          <a:bodyPr wrap="square" lIns="0" tIns="0" rIns="0" bIns="0" rtlCol="0" anchor="ctr"/>
          <a:lstStyle/>
          <a:p>
            <a:pPr algn="ctr" indent="0" marL="0">
              <a:buNone/>
            </a:pPr>
            <a:r>
              <a:rPr lang="es-CL" altLang="en-US" sz="1300" b="1" dirty="0">
                <a:solidFill>
                  <a:schemeClr val="tx1"/>
                </a:solidFill>
                <a:latin typeface="IBM Plex Mono" pitchFamily="34" charset="0"/>
                <a:ea typeface="IBM Plex Mono" pitchFamily="34" charset="-122"/>
                <a:cs typeface="IBM Plex Mono" pitchFamily="34" charset="-120"/>
              </a:rPr>
              <a:t>P02</a:t>
            </a:r>
            <a:endParaRPr lang="es-CL" sz="1300" dirty="0"/>
          </a:p>
        </p:txBody>
      </p:sp>
      <p:sp>
        <p:nvSpPr>
          <p:cNvPr id="47" name="Text 44"/>
          <p:cNvSpPr txBox="1"/>
          <p:nvPr/>
        </p:nvSpPr>
        <p:spPr>
          <a:xfrm>
            <a:off x="7891272" y="4882896"/>
            <a:ext cx="1271016" cy="548640"/>
          </a:xfrm>
          <a:prstGeom prst="rect">
            <a:avLst/>
          </a:prstGeom>
          <a:noFill/>
          <a:ln/>
        </p:spPr>
        <p:txBody>
          <a:bodyPr wrap="square" lIns="0" tIns="0" rIns="0" bIns="0" rtlCol="0" anchor="ctr"/>
          <a:lstStyle/>
          <a:p>
            <a:pPr indent="0" marL="0">
              <a:lnSpc>
                <a:spcPct val="88000"/>
              </a:lnSpc>
              <a:buNone/>
            </a:pPr>
            <a:r>
              <a:rPr lang="es-CL" altLang="en-US" sz="1600" dirty="0">
                <a:solidFill>
                  <a:schemeClr val="tx1"/>
                </a:solidFill>
                <a:latin typeface="Figtree" pitchFamily="34" charset="0"/>
                <a:ea typeface="Figtree" pitchFamily="34" charset="-122"/>
                <a:cs typeface="Figtree" pitchFamily="34" charset="-120"/>
              </a:rPr>
              <a:t>Kit homologado</a:t>
            </a:r>
            <a:endParaRPr lang="es-CL" sz="1600" dirty="0"/>
          </a:p>
        </p:txBody>
      </p:sp>
      <p:sp>
        <p:nvSpPr>
          <p:cNvPr id="48" name="Shape 45"/>
          <p:cNvSpPr/>
          <p:nvPr/>
        </p:nvSpPr>
        <p:spPr>
          <a:xfrm>
            <a:off x="9546336" y="4882896"/>
            <a:ext cx="2093976" cy="548640"/>
          </a:xfrm>
          <a:prstGeom prst="rect">
            <a:avLst/>
          </a:prstGeom>
          <a:solidFill>
            <a:schemeClr val="bg2"/>
          </a:solidFill>
          <a:ln w="19050">
            <a:solidFill>
              <a:srgbClr val="F87171"/>
            </a:solidFill>
            <a:prstDash val="solid"/>
          </a:ln>
        </p:spPr>
      </p:sp>
      <p:sp>
        <p:nvSpPr>
          <p:cNvPr id="49" name="Shape 46"/>
          <p:cNvSpPr/>
          <p:nvPr/>
        </p:nvSpPr>
        <p:spPr>
          <a:xfrm>
            <a:off x="9656064" y="5010912"/>
            <a:ext cx="530352" cy="292608"/>
          </a:xfrm>
          <a:prstGeom prst="rect">
            <a:avLst/>
          </a:prstGeom>
          <a:solidFill>
            <a:schemeClr val="accent5"/>
          </a:solidFill>
          <a:ln/>
        </p:spPr>
      </p:sp>
      <p:sp>
        <p:nvSpPr>
          <p:cNvPr id="50" name="Text 47"/>
          <p:cNvSpPr txBox="1"/>
          <p:nvPr/>
        </p:nvSpPr>
        <p:spPr>
          <a:xfrm>
            <a:off x="9656064" y="5010912"/>
            <a:ext cx="530352" cy="292608"/>
          </a:xfrm>
          <a:prstGeom prst="rect">
            <a:avLst/>
          </a:prstGeom>
          <a:noFill/>
          <a:ln/>
        </p:spPr>
        <p:txBody>
          <a:bodyPr wrap="square" lIns="0" tIns="0" rIns="0" bIns="0" rtlCol="0" anchor="ctr"/>
          <a:lstStyle/>
          <a:p>
            <a:pPr algn="ctr" indent="0" marL="0">
              <a:buNone/>
            </a:pPr>
            <a:r>
              <a:rPr lang="es-CL" altLang="en-US" sz="1300" b="1" dirty="0">
                <a:solidFill>
                  <a:schemeClr val="tx1"/>
                </a:solidFill>
                <a:latin typeface="IBM Plex Mono" pitchFamily="34" charset="0"/>
                <a:ea typeface="IBM Plex Mono" pitchFamily="34" charset="-122"/>
                <a:cs typeface="IBM Plex Mono" pitchFamily="34" charset="-120"/>
              </a:rPr>
              <a:t>P01</a:t>
            </a:r>
            <a:endParaRPr lang="es-CL" sz="1300" dirty="0"/>
          </a:p>
        </p:txBody>
      </p:sp>
      <p:sp>
        <p:nvSpPr>
          <p:cNvPr id="51" name="Text 48"/>
          <p:cNvSpPr txBox="1"/>
          <p:nvPr/>
        </p:nvSpPr>
        <p:spPr>
          <a:xfrm>
            <a:off x="10296144" y="4882896"/>
            <a:ext cx="1271016" cy="548640"/>
          </a:xfrm>
          <a:prstGeom prst="rect">
            <a:avLst/>
          </a:prstGeom>
          <a:noFill/>
          <a:ln/>
        </p:spPr>
        <p:txBody>
          <a:bodyPr wrap="square" lIns="0" tIns="0" rIns="0" bIns="0" rtlCol="0" anchor="ctr"/>
          <a:lstStyle/>
          <a:p>
            <a:pPr indent="0" marL="0">
              <a:lnSpc>
                <a:spcPct val="88000"/>
              </a:lnSpc>
              <a:buNone/>
            </a:pPr>
            <a:r>
              <a:rPr lang="es-CL" altLang="en-US" sz="1600" dirty="0">
                <a:solidFill>
                  <a:schemeClr val="tx1"/>
                </a:solidFill>
                <a:latin typeface="Figtree" pitchFamily="34" charset="0"/>
                <a:ea typeface="Figtree" pitchFamily="34" charset="-122"/>
                <a:cs typeface="Figtree" pitchFamily="34" charset="-120"/>
              </a:rPr>
              <a:t>Autorización sectorial</a:t>
            </a:r>
            <a:endParaRPr lang="es-CL" sz="1600" dirty="0"/>
          </a:p>
        </p:txBody>
      </p:sp>
      <p:sp>
        <p:nvSpPr>
          <p:cNvPr id="52" name="Shape 49"/>
          <p:cNvSpPr/>
          <p:nvPr/>
        </p:nvSpPr>
        <p:spPr>
          <a:xfrm>
            <a:off x="2331720" y="5724144"/>
            <a:ext cx="2093976" cy="548640"/>
          </a:xfrm>
          <a:prstGeom prst="rect">
            <a:avLst/>
          </a:prstGeom>
          <a:solidFill>
            <a:schemeClr val="bg2"/>
          </a:solidFill>
          <a:ln w="9525">
            <a:solidFill>
              <a:srgbClr val="8B9598"/>
            </a:solidFill>
            <a:prstDash val="solid"/>
          </a:ln>
        </p:spPr>
      </p:sp>
      <p:sp>
        <p:nvSpPr>
          <p:cNvPr id="53" name="Shape 50"/>
          <p:cNvSpPr/>
          <p:nvPr/>
        </p:nvSpPr>
        <p:spPr>
          <a:xfrm>
            <a:off x="2441448" y="5852160"/>
            <a:ext cx="530352" cy="292608"/>
          </a:xfrm>
          <a:prstGeom prst="rect">
            <a:avLst/>
          </a:prstGeom>
          <a:solidFill>
            <a:schemeClr val="accent5"/>
          </a:solidFill>
          <a:ln/>
        </p:spPr>
      </p:sp>
      <p:sp>
        <p:nvSpPr>
          <p:cNvPr id="54" name="Text 51"/>
          <p:cNvSpPr txBox="1"/>
          <p:nvPr/>
        </p:nvSpPr>
        <p:spPr>
          <a:xfrm>
            <a:off x="2441448" y="5852160"/>
            <a:ext cx="530352" cy="292608"/>
          </a:xfrm>
          <a:prstGeom prst="rect">
            <a:avLst/>
          </a:prstGeom>
          <a:noFill/>
          <a:ln/>
        </p:spPr>
        <p:txBody>
          <a:bodyPr wrap="square" lIns="0" tIns="0" rIns="0" bIns="0" rtlCol="0" anchor="ctr"/>
          <a:lstStyle/>
          <a:p>
            <a:pPr algn="ctr" indent="0" marL="0">
              <a:buNone/>
            </a:pPr>
            <a:r>
              <a:rPr lang="es-CL" altLang="en-US" sz="1300" b="1" dirty="0">
                <a:solidFill>
                  <a:schemeClr val="tx1"/>
                </a:solidFill>
                <a:latin typeface="IBM Plex Mono" pitchFamily="34" charset="0"/>
                <a:ea typeface="IBM Plex Mono" pitchFamily="34" charset="-122"/>
                <a:cs typeface="IBM Plex Mono" pitchFamily="34" charset="-120"/>
              </a:rPr>
              <a:t>A03</a:t>
            </a:r>
            <a:endParaRPr lang="es-CL" sz="1300" dirty="0"/>
          </a:p>
        </p:txBody>
      </p:sp>
      <p:sp>
        <p:nvSpPr>
          <p:cNvPr id="55" name="Text 52"/>
          <p:cNvSpPr txBox="1"/>
          <p:nvPr/>
        </p:nvSpPr>
        <p:spPr>
          <a:xfrm>
            <a:off x="3081528" y="5724144"/>
            <a:ext cx="1271016" cy="548640"/>
          </a:xfrm>
          <a:prstGeom prst="rect">
            <a:avLst/>
          </a:prstGeom>
          <a:noFill/>
          <a:ln/>
        </p:spPr>
        <p:txBody>
          <a:bodyPr wrap="square" lIns="0" tIns="0" rIns="0" bIns="0" rtlCol="0" anchor="ctr"/>
          <a:lstStyle/>
          <a:p>
            <a:pPr indent="0" marL="0">
              <a:lnSpc>
                <a:spcPct val="88000"/>
              </a:lnSpc>
              <a:buNone/>
            </a:pPr>
            <a:r>
              <a:rPr lang="es-CL" altLang="en-US" sz="1600" dirty="0">
                <a:solidFill>
                  <a:schemeClr val="tx1"/>
                </a:solidFill>
                <a:latin typeface="Figtree" pitchFamily="34" charset="0"/>
                <a:ea typeface="Figtree" pitchFamily="34" charset="-122"/>
                <a:cs typeface="Figtree" pitchFamily="34" charset="-120"/>
              </a:rPr>
              <a:t>Medición comparativa</a:t>
            </a:r>
            <a:endParaRPr lang="es-CL" sz="1600" dirty="0"/>
          </a:p>
        </p:txBody>
      </p:sp>
      <p:sp>
        <p:nvSpPr>
          <p:cNvPr id="56" name="Shape 53"/>
          <p:cNvSpPr/>
          <p:nvPr/>
        </p:nvSpPr>
        <p:spPr>
          <a:xfrm>
            <a:off x="4736592" y="5724144"/>
            <a:ext cx="2093976" cy="548640"/>
          </a:xfrm>
          <a:prstGeom prst="rect">
            <a:avLst/>
          </a:prstGeom>
          <a:solidFill>
            <a:schemeClr val="bg2"/>
          </a:solidFill>
          <a:ln w="9525">
            <a:solidFill>
              <a:srgbClr val="8B9598"/>
            </a:solidFill>
            <a:prstDash val="solid"/>
          </a:ln>
        </p:spPr>
      </p:sp>
      <p:sp>
        <p:nvSpPr>
          <p:cNvPr id="57" name="Shape 54"/>
          <p:cNvSpPr/>
          <p:nvPr/>
        </p:nvSpPr>
        <p:spPr>
          <a:xfrm>
            <a:off x="4846320" y="5852160"/>
            <a:ext cx="530352" cy="292608"/>
          </a:xfrm>
          <a:prstGeom prst="rect">
            <a:avLst/>
          </a:prstGeom>
          <a:solidFill>
            <a:schemeClr val="accent5"/>
          </a:solidFill>
          <a:ln/>
        </p:spPr>
      </p:sp>
      <p:sp>
        <p:nvSpPr>
          <p:cNvPr id="58" name="Text 55"/>
          <p:cNvSpPr txBox="1"/>
          <p:nvPr/>
        </p:nvSpPr>
        <p:spPr>
          <a:xfrm>
            <a:off x="4846320" y="5852160"/>
            <a:ext cx="530352" cy="292608"/>
          </a:xfrm>
          <a:prstGeom prst="rect">
            <a:avLst/>
          </a:prstGeom>
          <a:noFill/>
          <a:ln/>
        </p:spPr>
        <p:txBody>
          <a:bodyPr wrap="square" lIns="0" tIns="0" rIns="0" bIns="0" rtlCol="0" anchor="ctr"/>
          <a:lstStyle/>
          <a:p>
            <a:pPr algn="ctr" indent="0" marL="0">
              <a:buNone/>
            </a:pPr>
            <a:r>
              <a:rPr lang="es-CL" altLang="en-US" sz="1300" b="1" dirty="0">
                <a:solidFill>
                  <a:schemeClr val="tx1"/>
                </a:solidFill>
                <a:latin typeface="IBM Plex Mono" pitchFamily="34" charset="0"/>
                <a:ea typeface="IBM Plex Mono" pitchFamily="34" charset="-122"/>
                <a:cs typeface="IBM Plex Mono" pitchFamily="34" charset="-120"/>
              </a:rPr>
              <a:t>A02</a:t>
            </a:r>
            <a:endParaRPr lang="es-CL" sz="1300" dirty="0"/>
          </a:p>
        </p:txBody>
      </p:sp>
      <p:sp>
        <p:nvSpPr>
          <p:cNvPr id="59" name="Text 56"/>
          <p:cNvSpPr txBox="1"/>
          <p:nvPr/>
        </p:nvSpPr>
        <p:spPr>
          <a:xfrm>
            <a:off x="5486400" y="5724144"/>
            <a:ext cx="1271016" cy="548640"/>
          </a:xfrm>
          <a:prstGeom prst="rect">
            <a:avLst/>
          </a:prstGeom>
          <a:noFill/>
          <a:ln/>
        </p:spPr>
        <p:txBody>
          <a:bodyPr wrap="square" lIns="0" tIns="0" rIns="0" bIns="0" rtlCol="0" anchor="ctr"/>
          <a:lstStyle/>
          <a:p>
            <a:pPr indent="0" marL="0">
              <a:lnSpc>
                <a:spcPct val="88000"/>
              </a:lnSpc>
              <a:buNone/>
            </a:pPr>
            <a:r>
              <a:rPr lang="es-CL" altLang="en-US" sz="1600" dirty="0">
                <a:solidFill>
                  <a:schemeClr val="tx1"/>
                </a:solidFill>
                <a:latin typeface="Figtree" pitchFamily="34" charset="0"/>
                <a:ea typeface="Figtree" pitchFamily="34" charset="-122"/>
                <a:cs typeface="Figtree" pitchFamily="34" charset="-120"/>
              </a:rPr>
              <a:t>Técnicos habilitados</a:t>
            </a:r>
            <a:endParaRPr lang="es-CL" sz="1600" dirty="0"/>
          </a:p>
        </p:txBody>
      </p:sp>
      <p:sp>
        <p:nvSpPr>
          <p:cNvPr id="60" name="Shape 57"/>
          <p:cNvSpPr/>
          <p:nvPr/>
        </p:nvSpPr>
        <p:spPr>
          <a:xfrm>
            <a:off x="7141464" y="5724144"/>
            <a:ext cx="2093976" cy="548640"/>
          </a:xfrm>
          <a:prstGeom prst="rect">
            <a:avLst/>
          </a:prstGeom>
          <a:solidFill>
            <a:schemeClr val="bg2"/>
          </a:solidFill>
          <a:ln w="9525">
            <a:solidFill>
              <a:srgbClr val="8B9598"/>
            </a:solidFill>
            <a:prstDash val="solid"/>
          </a:ln>
        </p:spPr>
      </p:sp>
      <p:sp>
        <p:nvSpPr>
          <p:cNvPr id="61" name="Shape 58"/>
          <p:cNvSpPr/>
          <p:nvPr/>
        </p:nvSpPr>
        <p:spPr>
          <a:xfrm>
            <a:off x="7251192" y="5852160"/>
            <a:ext cx="530352" cy="292608"/>
          </a:xfrm>
          <a:prstGeom prst="rect">
            <a:avLst/>
          </a:prstGeom>
          <a:solidFill>
            <a:schemeClr val="accent5"/>
          </a:solidFill>
          <a:ln/>
        </p:spPr>
      </p:sp>
      <p:sp>
        <p:nvSpPr>
          <p:cNvPr id="62" name="Text 59"/>
          <p:cNvSpPr txBox="1"/>
          <p:nvPr/>
        </p:nvSpPr>
        <p:spPr>
          <a:xfrm>
            <a:off x="7251192" y="5852160"/>
            <a:ext cx="530352" cy="292608"/>
          </a:xfrm>
          <a:prstGeom prst="rect">
            <a:avLst/>
          </a:prstGeom>
          <a:noFill/>
          <a:ln/>
        </p:spPr>
        <p:txBody>
          <a:bodyPr wrap="square" lIns="0" tIns="0" rIns="0" bIns="0" rtlCol="0" anchor="ctr"/>
          <a:lstStyle/>
          <a:p>
            <a:pPr algn="ctr" indent="0" marL="0">
              <a:buNone/>
            </a:pPr>
            <a:r>
              <a:rPr lang="es-CL" altLang="en-US" sz="1300" b="1" dirty="0">
                <a:solidFill>
                  <a:schemeClr val="tx1"/>
                </a:solidFill>
                <a:latin typeface="IBM Plex Mono" pitchFamily="34" charset="0"/>
                <a:ea typeface="IBM Plex Mono" pitchFamily="34" charset="-122"/>
                <a:cs typeface="IBM Plex Mono" pitchFamily="34" charset="-120"/>
              </a:rPr>
              <a:t>A01</a:t>
            </a:r>
            <a:endParaRPr lang="es-CL" sz="1300" dirty="0"/>
          </a:p>
        </p:txBody>
      </p:sp>
      <p:sp>
        <p:nvSpPr>
          <p:cNvPr id="63" name="Text 60"/>
          <p:cNvSpPr txBox="1"/>
          <p:nvPr/>
        </p:nvSpPr>
        <p:spPr>
          <a:xfrm>
            <a:off x="7891272" y="5724144"/>
            <a:ext cx="1271016" cy="548640"/>
          </a:xfrm>
          <a:prstGeom prst="rect">
            <a:avLst/>
          </a:prstGeom>
          <a:noFill/>
          <a:ln/>
        </p:spPr>
        <p:txBody>
          <a:bodyPr wrap="square" lIns="0" tIns="0" rIns="0" bIns="0" rtlCol="0" anchor="ctr"/>
          <a:lstStyle/>
          <a:p>
            <a:pPr indent="0" marL="0">
              <a:lnSpc>
                <a:spcPct val="88000"/>
              </a:lnSpc>
              <a:buNone/>
            </a:pPr>
            <a:r>
              <a:rPr lang="es-CL" altLang="en-US" sz="1600" dirty="0">
                <a:solidFill>
                  <a:schemeClr val="tx1"/>
                </a:solidFill>
                <a:latin typeface="Figtree" pitchFamily="34" charset="0"/>
                <a:ea typeface="Figtree" pitchFamily="34" charset="-122"/>
                <a:cs typeface="Figtree" pitchFamily="34" charset="-120"/>
              </a:rPr>
              <a:t>Biblioteca de calibraciones</a:t>
            </a:r>
            <a:endParaRPr lang="es-CL" sz="1600" dirty="0"/>
          </a:p>
        </p:txBody>
      </p:sp>
      <p:sp>
        <p:nvSpPr>
          <p:cNvPr id="64" name="Shape 61"/>
          <p:cNvSpPr/>
          <p:nvPr/>
        </p:nvSpPr>
        <p:spPr>
          <a:xfrm>
            <a:off x="2660904" y="5724144"/>
            <a:ext cx="0" cy="-1133856"/>
          </a:xfrm>
          <a:prstGeom prst="line">
            <a:avLst/>
          </a:prstGeom>
          <a:noFill/>
          <a:ln w="22225">
            <a:solidFill>
              <a:schemeClr val="accent1"/>
            </a:solidFill>
            <a:prstDash val="solid"/>
            <a:tailEnd type="triangle"/>
          </a:ln>
        </p:spPr>
      </p:sp>
      <p:sp>
        <p:nvSpPr>
          <p:cNvPr id="65" name="Text 62"/>
          <p:cNvSpPr txBox="1"/>
          <p:nvPr/>
        </p:nvSpPr>
        <p:spPr>
          <a:xfrm>
            <a:off x="2770632" y="4882896"/>
            <a:ext cx="1828800" cy="548640"/>
          </a:xfrm>
          <a:prstGeom prst="rect">
            <a:avLst/>
          </a:prstGeom>
          <a:noFill/>
          <a:ln/>
        </p:spPr>
        <p:txBody>
          <a:bodyPr wrap="square" lIns="0" tIns="0" rIns="0" bIns="0" rtlCol="0" anchor="ctr"/>
          <a:lstStyle/>
          <a:p>
            <a:pPr indent="0" marL="0">
              <a:buNone/>
            </a:pPr>
            <a:r>
              <a:rPr lang="es-CL" altLang="en-US" sz="1700" i="1" dirty="0">
                <a:solidFill>
                  <a:schemeClr val="accent1"/>
                </a:solidFill>
                <a:latin typeface="Instrument Serif" pitchFamily="34" charset="0"/>
                <a:ea typeface="Instrument Serif" pitchFamily="34" charset="-122"/>
                <a:cs typeface="Instrument Serif" pitchFamily="34" charset="-120"/>
              </a:rPr>
              <a:t>sustenta el informe</a:t>
            </a:r>
            <a:endParaRPr lang="es-CL" sz="1700" dirty="0"/>
          </a:p>
        </p:txBody>
      </p:sp>
      <p:sp>
        <p:nvSpPr>
          <p:cNvPr id="66" name="Shape 63"/>
          <p:cNvSpPr/>
          <p:nvPr/>
        </p:nvSpPr>
        <p:spPr>
          <a:xfrm>
            <a:off x="5065776" y="5724144"/>
            <a:ext cx="0" cy="-292608"/>
          </a:xfrm>
          <a:prstGeom prst="line">
            <a:avLst/>
          </a:prstGeom>
          <a:noFill/>
          <a:ln w="22225">
            <a:solidFill>
              <a:schemeClr val="accent1"/>
            </a:solidFill>
            <a:prstDash val="solid"/>
            <a:tailEnd type="triangle"/>
          </a:ln>
        </p:spPr>
      </p:sp>
      <p:sp>
        <p:nvSpPr>
          <p:cNvPr id="67" name="Text 64"/>
          <p:cNvSpPr txBox="1"/>
          <p:nvPr/>
        </p:nvSpPr>
        <p:spPr>
          <a:xfrm>
            <a:off x="5175504" y="5431536"/>
            <a:ext cx="1828800" cy="292608"/>
          </a:xfrm>
          <a:prstGeom prst="rect">
            <a:avLst/>
          </a:prstGeom>
          <a:noFill/>
          <a:ln/>
        </p:spPr>
        <p:txBody>
          <a:bodyPr wrap="square" lIns="0" tIns="0" rIns="0" bIns="0" rtlCol="0" anchor="ctr"/>
          <a:lstStyle/>
          <a:p>
            <a:pPr indent="0" marL="0">
              <a:buNone/>
            </a:pPr>
            <a:r>
              <a:rPr lang="es-CL" altLang="en-US" sz="1700" i="1" dirty="0">
                <a:solidFill>
                  <a:schemeClr val="accent1"/>
                </a:solidFill>
                <a:latin typeface="Instrument Serif" pitchFamily="34" charset="0"/>
                <a:ea typeface="Instrument Serif" pitchFamily="34" charset="-122"/>
                <a:cs typeface="Instrument Serif" pitchFamily="34" charset="-120"/>
              </a:rPr>
              <a:t>habilita el control</a:t>
            </a:r>
            <a:endParaRPr lang="es-CL" sz="1700" dirty="0"/>
          </a:p>
        </p:txBody>
      </p:sp>
      <p:sp>
        <p:nvSpPr>
          <p:cNvPr id="68" name="Shape 65"/>
          <p:cNvSpPr/>
          <p:nvPr/>
        </p:nvSpPr>
        <p:spPr>
          <a:xfrm>
            <a:off x="7470648" y="5724144"/>
            <a:ext cx="0" cy="-292608"/>
          </a:xfrm>
          <a:prstGeom prst="line">
            <a:avLst/>
          </a:prstGeom>
          <a:noFill/>
          <a:ln w="22225">
            <a:solidFill>
              <a:schemeClr val="accent1"/>
            </a:solidFill>
            <a:prstDash val="solid"/>
            <a:tailEnd type="triangle"/>
          </a:ln>
        </p:spPr>
      </p:sp>
      <p:sp>
        <p:nvSpPr>
          <p:cNvPr id="69" name="Text 66"/>
          <p:cNvSpPr txBox="1"/>
          <p:nvPr/>
        </p:nvSpPr>
        <p:spPr>
          <a:xfrm>
            <a:off x="7580376" y="5431536"/>
            <a:ext cx="1828800" cy="292608"/>
          </a:xfrm>
          <a:prstGeom prst="rect">
            <a:avLst/>
          </a:prstGeom>
          <a:noFill/>
          <a:ln/>
        </p:spPr>
        <p:txBody>
          <a:bodyPr wrap="square" lIns="0" tIns="0" rIns="0" bIns="0" rtlCol="0" anchor="ctr"/>
          <a:lstStyle/>
          <a:p>
            <a:pPr indent="0" marL="0">
              <a:buNone/>
            </a:pPr>
            <a:r>
              <a:rPr lang="es-CL" altLang="en-US" sz="1700" i="1" dirty="0">
                <a:solidFill>
                  <a:schemeClr val="accent1"/>
                </a:solidFill>
                <a:latin typeface="Instrument Serif" pitchFamily="34" charset="0"/>
                <a:ea typeface="Instrument Serif" pitchFamily="34" charset="-122"/>
                <a:cs typeface="Instrument Serif" pitchFamily="34" charset="-120"/>
              </a:rPr>
              <a:t>permite homologar</a:t>
            </a:r>
            <a:endParaRPr lang="es-CL" sz="1700" dirty="0"/>
          </a:p>
        </p:txBody>
      </p:sp>
      <p:sp>
        <p:nvSpPr>
          <p:cNvPr id="70" name="Shape 67"/>
          <p:cNvSpPr/>
          <p:nvPr/>
        </p:nvSpPr>
        <p:spPr>
          <a:xfrm>
            <a:off x="5065776" y="4882896"/>
            <a:ext cx="0" cy="-292608"/>
          </a:xfrm>
          <a:prstGeom prst="line">
            <a:avLst/>
          </a:prstGeom>
          <a:noFill/>
          <a:ln w="22225">
            <a:solidFill>
              <a:schemeClr val="accent1"/>
            </a:solidFill>
            <a:prstDash val="solid"/>
            <a:tailEnd type="triangle"/>
          </a:ln>
        </p:spPr>
      </p:sp>
      <p:sp>
        <p:nvSpPr>
          <p:cNvPr id="71" name="Text 68"/>
          <p:cNvSpPr txBox="1"/>
          <p:nvPr/>
        </p:nvSpPr>
        <p:spPr>
          <a:xfrm>
            <a:off x="5175504" y="4590288"/>
            <a:ext cx="1828800" cy="292608"/>
          </a:xfrm>
          <a:prstGeom prst="rect">
            <a:avLst/>
          </a:prstGeom>
          <a:noFill/>
          <a:ln/>
        </p:spPr>
        <p:txBody>
          <a:bodyPr wrap="square" lIns="0" tIns="0" rIns="0" bIns="0" rtlCol="0" anchor="ctr"/>
          <a:lstStyle/>
          <a:p>
            <a:pPr indent="0" marL="0">
              <a:buNone/>
            </a:pPr>
            <a:r>
              <a:rPr lang="es-CL" altLang="en-US" sz="1700" i="1" dirty="0">
                <a:solidFill>
                  <a:schemeClr val="accent1"/>
                </a:solidFill>
                <a:latin typeface="Instrument Serif" pitchFamily="34" charset="0"/>
                <a:ea typeface="Instrument Serif" pitchFamily="34" charset="-122"/>
                <a:cs typeface="Instrument Serif" pitchFamily="34" charset="-120"/>
              </a:rPr>
              <a:t>trazabilidad</a:t>
            </a:r>
            <a:endParaRPr lang="es-CL" sz="1700" dirty="0"/>
          </a:p>
        </p:txBody>
      </p:sp>
      <p:sp>
        <p:nvSpPr>
          <p:cNvPr id="72" name="Shape 69"/>
          <p:cNvSpPr/>
          <p:nvPr/>
        </p:nvSpPr>
        <p:spPr>
          <a:xfrm>
            <a:off x="7470648" y="4882896"/>
            <a:ext cx="0" cy="-292608"/>
          </a:xfrm>
          <a:prstGeom prst="line">
            <a:avLst/>
          </a:prstGeom>
          <a:noFill/>
          <a:ln w="22225">
            <a:solidFill>
              <a:schemeClr val="accent1"/>
            </a:solidFill>
            <a:prstDash val="solid"/>
            <a:tailEnd type="triangle"/>
          </a:ln>
        </p:spPr>
      </p:sp>
      <p:sp>
        <p:nvSpPr>
          <p:cNvPr id="73" name="Text 70"/>
          <p:cNvSpPr txBox="1"/>
          <p:nvPr/>
        </p:nvSpPr>
        <p:spPr>
          <a:xfrm>
            <a:off x="7580376" y="4590288"/>
            <a:ext cx="1828800" cy="292608"/>
          </a:xfrm>
          <a:prstGeom prst="rect">
            <a:avLst/>
          </a:prstGeom>
          <a:noFill/>
          <a:ln/>
        </p:spPr>
        <p:txBody>
          <a:bodyPr wrap="square" lIns="0" tIns="0" rIns="0" bIns="0" rtlCol="0" anchor="ctr"/>
          <a:lstStyle/>
          <a:p>
            <a:pPr indent="0" marL="0">
              <a:buNone/>
            </a:pPr>
            <a:r>
              <a:rPr lang="es-CL" altLang="en-US" sz="1700" i="1" dirty="0">
                <a:solidFill>
                  <a:schemeClr val="accent1"/>
                </a:solidFill>
                <a:latin typeface="Instrument Serif" pitchFamily="34" charset="0"/>
                <a:ea typeface="Instrument Serif" pitchFamily="34" charset="-122"/>
                <a:cs typeface="Instrument Serif" pitchFamily="34" charset="-120"/>
              </a:rPr>
              <a:t>kit homologado</a:t>
            </a:r>
            <a:endParaRPr lang="es-CL" sz="1700" dirty="0"/>
          </a:p>
        </p:txBody>
      </p:sp>
      <p:sp>
        <p:nvSpPr>
          <p:cNvPr id="74" name="Shape 71"/>
          <p:cNvSpPr/>
          <p:nvPr/>
        </p:nvSpPr>
        <p:spPr>
          <a:xfrm>
            <a:off x="9875520" y="4882896"/>
            <a:ext cx="0" cy="-292608"/>
          </a:xfrm>
          <a:prstGeom prst="line">
            <a:avLst/>
          </a:prstGeom>
          <a:noFill/>
          <a:ln w="22225">
            <a:solidFill>
              <a:schemeClr val="accent1"/>
            </a:solidFill>
            <a:prstDash val="solid"/>
            <a:tailEnd type="triangle"/>
          </a:ln>
        </p:spPr>
      </p:sp>
      <p:sp>
        <p:nvSpPr>
          <p:cNvPr id="75" name="Text 72"/>
          <p:cNvSpPr txBox="1"/>
          <p:nvPr/>
        </p:nvSpPr>
        <p:spPr>
          <a:xfrm>
            <a:off x="9985248" y="4590288"/>
            <a:ext cx="1828800" cy="292608"/>
          </a:xfrm>
          <a:prstGeom prst="rect">
            <a:avLst/>
          </a:prstGeom>
          <a:noFill/>
          <a:ln/>
        </p:spPr>
        <p:txBody>
          <a:bodyPr wrap="square" lIns="0" tIns="0" rIns="0" bIns="0" rtlCol="0" anchor="ctr"/>
          <a:lstStyle/>
          <a:p>
            <a:pPr indent="0" marL="0">
              <a:buNone/>
            </a:pPr>
            <a:r>
              <a:rPr lang="es-CL" altLang="en-US" sz="1700" i="1" dirty="0">
                <a:solidFill>
                  <a:schemeClr val="accent1"/>
                </a:solidFill>
                <a:latin typeface="Instrument Serif" pitchFamily="34" charset="0"/>
                <a:ea typeface="Instrument Serif" pitchFamily="34" charset="-122"/>
                <a:cs typeface="Instrument Serif" pitchFamily="34" charset="-120"/>
              </a:rPr>
              <a:t>autoriza operar</a:t>
            </a:r>
            <a:endParaRPr lang="es-CL" sz="1700" dirty="0"/>
          </a:p>
        </p:txBody>
      </p:sp>
      <p:sp>
        <p:nvSpPr>
          <p:cNvPr id="76" name="Shape 73"/>
          <p:cNvSpPr/>
          <p:nvPr/>
        </p:nvSpPr>
        <p:spPr>
          <a:xfrm>
            <a:off x="2660904" y="4041648"/>
            <a:ext cx="0" cy="-292608"/>
          </a:xfrm>
          <a:prstGeom prst="line">
            <a:avLst/>
          </a:prstGeom>
          <a:noFill/>
          <a:ln w="22225">
            <a:solidFill>
              <a:schemeClr val="accent1"/>
            </a:solidFill>
            <a:prstDash val="solid"/>
            <a:tailEnd type="triangle"/>
          </a:ln>
        </p:spPr>
      </p:sp>
      <p:sp>
        <p:nvSpPr>
          <p:cNvPr id="77" name="Text 74"/>
          <p:cNvSpPr txBox="1"/>
          <p:nvPr/>
        </p:nvSpPr>
        <p:spPr>
          <a:xfrm>
            <a:off x="2770632" y="3749040"/>
            <a:ext cx="1828800" cy="292608"/>
          </a:xfrm>
          <a:prstGeom prst="rect">
            <a:avLst/>
          </a:prstGeom>
          <a:noFill/>
          <a:ln/>
        </p:spPr>
        <p:txBody>
          <a:bodyPr wrap="square" lIns="0" tIns="0" rIns="0" bIns="0" rtlCol="0" anchor="ctr"/>
          <a:lstStyle/>
          <a:p>
            <a:pPr indent="0" marL="0">
              <a:buNone/>
            </a:pPr>
            <a:r>
              <a:rPr lang="es-CL" altLang="en-US" sz="1700" i="1" dirty="0">
                <a:solidFill>
                  <a:schemeClr val="accent1"/>
                </a:solidFill>
                <a:latin typeface="Instrument Serif" pitchFamily="34" charset="0"/>
                <a:ea typeface="Instrument Serif" pitchFamily="34" charset="-122"/>
                <a:cs typeface="Instrument Serif" pitchFamily="34" charset="-120"/>
              </a:rPr>
              <a:t>evidencia</a:t>
            </a:r>
            <a:endParaRPr lang="es-CL" sz="1700" dirty="0"/>
          </a:p>
        </p:txBody>
      </p:sp>
      <p:sp>
        <p:nvSpPr>
          <p:cNvPr id="78" name="Shape 75"/>
          <p:cNvSpPr/>
          <p:nvPr/>
        </p:nvSpPr>
        <p:spPr>
          <a:xfrm>
            <a:off x="7470648" y="4041648"/>
            <a:ext cx="0" cy="-292608"/>
          </a:xfrm>
          <a:prstGeom prst="line">
            <a:avLst/>
          </a:prstGeom>
          <a:noFill/>
          <a:ln w="22225">
            <a:solidFill>
              <a:schemeClr val="accent1"/>
            </a:solidFill>
            <a:prstDash val="solid"/>
            <a:tailEnd type="triangle"/>
          </a:ln>
        </p:spPr>
      </p:sp>
      <p:sp>
        <p:nvSpPr>
          <p:cNvPr id="79" name="Text 76"/>
          <p:cNvSpPr txBox="1"/>
          <p:nvPr/>
        </p:nvSpPr>
        <p:spPr>
          <a:xfrm>
            <a:off x="7580376" y="3749040"/>
            <a:ext cx="1828800" cy="292608"/>
          </a:xfrm>
          <a:prstGeom prst="rect">
            <a:avLst/>
          </a:prstGeom>
          <a:noFill/>
          <a:ln/>
        </p:spPr>
        <p:txBody>
          <a:bodyPr wrap="square" lIns="0" tIns="0" rIns="0" bIns="0" rtlCol="0" anchor="ctr"/>
          <a:lstStyle/>
          <a:p>
            <a:pPr indent="0" marL="0">
              <a:buNone/>
            </a:pPr>
            <a:r>
              <a:rPr lang="es-CL" altLang="en-US" sz="1700" i="1" dirty="0">
                <a:solidFill>
                  <a:schemeClr val="accent1"/>
                </a:solidFill>
                <a:latin typeface="Instrument Serif" pitchFamily="34" charset="0"/>
                <a:ea typeface="Instrument Serif" pitchFamily="34" charset="-122"/>
                <a:cs typeface="Instrument Serif" pitchFamily="34" charset="-120"/>
              </a:rPr>
              <a:t>respaldo</a:t>
            </a:r>
            <a:endParaRPr lang="es-CL" sz="1700" dirty="0"/>
          </a:p>
        </p:txBody>
      </p:sp>
      <p:sp>
        <p:nvSpPr>
          <p:cNvPr id="80" name="Shape 77"/>
          <p:cNvSpPr/>
          <p:nvPr/>
        </p:nvSpPr>
        <p:spPr>
          <a:xfrm>
            <a:off x="5065776" y="3200400"/>
            <a:ext cx="0" cy="-292608"/>
          </a:xfrm>
          <a:prstGeom prst="line">
            <a:avLst/>
          </a:prstGeom>
          <a:noFill/>
          <a:ln w="22225">
            <a:solidFill>
              <a:schemeClr val="accent1"/>
            </a:solidFill>
            <a:prstDash val="solid"/>
            <a:tailEnd type="triangle"/>
          </a:ln>
        </p:spPr>
      </p:sp>
      <p:sp>
        <p:nvSpPr>
          <p:cNvPr id="81" name="Text 78"/>
          <p:cNvSpPr txBox="1"/>
          <p:nvPr/>
        </p:nvSpPr>
        <p:spPr>
          <a:xfrm>
            <a:off x="5175504" y="2907792"/>
            <a:ext cx="3200400" cy="292608"/>
          </a:xfrm>
          <a:prstGeom prst="rect">
            <a:avLst/>
          </a:prstGeom>
          <a:noFill/>
          <a:ln/>
        </p:spPr>
        <p:txBody>
          <a:bodyPr wrap="square" lIns="0" tIns="0" rIns="0" bIns="0" rtlCol="0" anchor="ctr"/>
          <a:lstStyle/>
          <a:p>
            <a:pPr indent="0" marL="0">
              <a:buNone/>
            </a:pPr>
            <a:r>
              <a:rPr lang="es-CL" altLang="en-US" sz="1700" i="1" dirty="0">
                <a:solidFill>
                  <a:schemeClr val="accent1"/>
                </a:solidFill>
                <a:latin typeface="Instrument Serif" pitchFamily="34" charset="0"/>
                <a:ea typeface="Instrument Serif" pitchFamily="34" charset="-122"/>
                <a:cs typeface="Instrument Serif" pitchFamily="34" charset="-120"/>
              </a:rPr>
              <a:t>valor captado y margen</a:t>
            </a:r>
            <a:endParaRPr lang="es-CL" sz="17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05</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APRENDIZAJE Y PROCESOS · INDICADORES</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LAS CAPACIDADES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sostienen procesos seguros.</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(dossier y Excel de la Solemne 2, hoja MATRIZ_CMI: A01, A02, P02 y P03). Metas de diseño propuestas.</a:t>
            </a:r>
            <a:endParaRPr lang="es-CL" sz="1100" dirty="0"/>
          </a:p>
        </p:txBody>
      </p:sp>
      <p:sp>
        <p:nvSpPr>
          <p:cNvPr id="5" name="Text 3"/>
          <p:cNvSpPr txBox="1"/>
          <p:nvPr/>
        </p:nvSpPr>
        <p:spPr>
          <a:xfrm>
            <a:off x="9308795" y="841248"/>
            <a:ext cx="2334260" cy="274320"/>
          </a:xfrm>
          <a:prstGeom prst="rect">
            <a:avLst/>
          </a:prstGeom>
          <a:noFill/>
          <a:ln/>
        </p:spPr>
        <p:txBody>
          <a:bodyPr wrap="square" lIns="0" tIns="0" rIns="0" bIns="0" rtlCol="0" anchor="ctr"/>
          <a:lstStyle/>
          <a:p>
            <a:pPr indent="0" marL="0">
              <a:buNone/>
            </a:pPr>
            <a:r>
              <a:rPr lang="es-CL" altLang="en-US" sz="1200" spc="50" kern="0" dirty="0">
                <a:solidFill>
                  <a:srgbClr val="F87171"/>
                </a:solidFill>
                <a:latin typeface="IBM Plex Mono" pitchFamily="34" charset="0"/>
                <a:ea typeface="IBM Plex Mono" pitchFamily="34" charset="-122"/>
                <a:cs typeface="IBM Plex Mono" pitchFamily="34" charset="-120"/>
              </a:rPr>
              <a:t>HITO CRÍTICO PENDIENTE</a:t>
            </a:r>
            <a:endParaRPr lang="es-CL" sz="1200" dirty="0"/>
          </a:p>
        </p:txBody>
      </p:sp>
      <p:sp>
        <p:nvSpPr>
          <p:cNvPr id="6" name="Shape 4"/>
          <p:cNvSpPr/>
          <p:nvPr/>
        </p:nvSpPr>
        <p:spPr>
          <a:xfrm>
            <a:off x="9089339" y="905256"/>
            <a:ext cx="137160" cy="137160"/>
          </a:xfrm>
          <a:prstGeom prst="ellipse">
            <a:avLst/>
          </a:prstGeom>
          <a:solidFill>
            <a:srgbClr val="F87171"/>
          </a:solidFill>
          <a:ln/>
        </p:spPr>
      </p:sp>
      <p:sp>
        <p:nvSpPr>
          <p:cNvPr id="7" name="Text 5"/>
          <p:cNvSpPr txBox="1"/>
          <p:nvPr/>
        </p:nvSpPr>
        <p:spPr>
          <a:xfrm>
            <a:off x="7697165" y="841248"/>
            <a:ext cx="1062990" cy="274320"/>
          </a:xfrm>
          <a:prstGeom prst="rect">
            <a:avLst/>
          </a:prstGeom>
          <a:noFill/>
          <a:ln/>
        </p:spPr>
        <p:txBody>
          <a:bodyPr wrap="square" lIns="0" tIns="0" rIns="0" bIns="0" rtlCol="0" anchor="ctr"/>
          <a:lstStyle/>
          <a:p>
            <a:pPr indent="0" marL="0">
              <a:buNone/>
            </a:pPr>
            <a:r>
              <a:rPr lang="es-CL" altLang="en-US" sz="1200" spc="50" kern="0" dirty="0">
                <a:solidFill>
                  <a:srgbClr val="8B9598"/>
                </a:solidFill>
                <a:latin typeface="IBM Plex Mono" pitchFamily="34" charset="0"/>
                <a:ea typeface="IBM Plex Mono" pitchFamily="34" charset="-122"/>
                <a:cs typeface="IBM Plex Mono" pitchFamily="34" charset="-120"/>
              </a:rPr>
              <a:t>SIN MEDIR</a:t>
            </a:r>
            <a:endParaRPr lang="es-CL" sz="1200" dirty="0"/>
          </a:p>
        </p:txBody>
      </p:sp>
      <p:sp>
        <p:nvSpPr>
          <p:cNvPr id="8" name="Shape 6"/>
          <p:cNvSpPr/>
          <p:nvPr/>
        </p:nvSpPr>
        <p:spPr>
          <a:xfrm>
            <a:off x="7477709" y="905256"/>
            <a:ext cx="137160" cy="137160"/>
          </a:xfrm>
          <a:prstGeom prst="ellipse">
            <a:avLst/>
          </a:prstGeom>
          <a:solidFill>
            <a:srgbClr val="8B9598"/>
          </a:solidFill>
          <a:ln/>
        </p:spPr>
      </p:sp>
      <p:sp>
        <p:nvSpPr>
          <p:cNvPr id="9" name="Text 7"/>
          <p:cNvSpPr txBox="1"/>
          <p:nvPr/>
        </p:nvSpPr>
        <p:spPr>
          <a:xfrm>
            <a:off x="548640" y="2395728"/>
            <a:ext cx="4800600" cy="274320"/>
          </a:xfrm>
          <a:prstGeom prst="rect">
            <a:avLst/>
          </a:prstGeom>
          <a:noFill/>
          <a:ln/>
        </p:spPr>
        <p:txBody>
          <a:bodyPr wrap="square" lIns="0" tIns="0" rIns="0" bIns="0" rtlCol="0" anchor="t"/>
          <a:lstStyle/>
          <a:p>
            <a:pPr indent="0" marL="0">
              <a:buNone/>
            </a:pPr>
            <a:r>
              <a:rPr lang="es-CL" altLang="en-US" sz="1600" spc="100" kern="0" dirty="0">
                <a:solidFill>
                  <a:schemeClr val="tx2"/>
                </a:solidFill>
                <a:latin typeface="IBM Plex Mono" pitchFamily="34" charset="0"/>
                <a:ea typeface="IBM Plex Mono" pitchFamily="34" charset="-122"/>
                <a:cs typeface="IBM Plex Mono" pitchFamily="34" charset="-120"/>
              </a:rPr>
              <a:t>APRENDIZAJE</a:t>
            </a:r>
            <a:endParaRPr lang="es-CL" sz="1600" dirty="0"/>
          </a:p>
        </p:txBody>
      </p:sp>
      <p:sp>
        <p:nvSpPr>
          <p:cNvPr id="10" name="Text 8"/>
          <p:cNvSpPr txBox="1"/>
          <p:nvPr/>
        </p:nvSpPr>
        <p:spPr>
          <a:xfrm>
            <a:off x="6355080" y="2395728"/>
            <a:ext cx="5287975" cy="274320"/>
          </a:xfrm>
          <a:prstGeom prst="rect">
            <a:avLst/>
          </a:prstGeom>
          <a:noFill/>
          <a:ln/>
        </p:spPr>
        <p:txBody>
          <a:bodyPr wrap="square" lIns="0" tIns="0" rIns="0" bIns="0" rtlCol="0" anchor="t"/>
          <a:lstStyle/>
          <a:p>
            <a:pPr indent="0" marL="0">
              <a:buNone/>
            </a:pPr>
            <a:r>
              <a:rPr lang="es-CL" altLang="en-US" sz="1600" spc="100" kern="0" dirty="0">
                <a:solidFill>
                  <a:schemeClr val="tx2"/>
                </a:solidFill>
                <a:latin typeface="IBM Plex Mono" pitchFamily="34" charset="0"/>
                <a:ea typeface="IBM Plex Mono" pitchFamily="34" charset="-122"/>
                <a:cs typeface="IBM Plex Mono" pitchFamily="34" charset="-120"/>
              </a:rPr>
              <a:t>PROCESOS</a:t>
            </a:r>
            <a:endParaRPr lang="es-CL" sz="1600" dirty="0"/>
          </a:p>
        </p:txBody>
      </p:sp>
      <p:sp>
        <p:nvSpPr>
          <p:cNvPr id="11" name="Shape 9"/>
          <p:cNvSpPr/>
          <p:nvPr/>
        </p:nvSpPr>
        <p:spPr>
          <a:xfrm>
            <a:off x="548640" y="2779776"/>
            <a:ext cx="4800600" cy="1234440"/>
          </a:xfrm>
          <a:prstGeom prst="rect">
            <a:avLst/>
          </a:prstGeom>
          <a:solidFill>
            <a:schemeClr val="bg2"/>
          </a:solidFill>
          <a:ln w="9525">
            <a:solidFill>
              <a:srgbClr val="8B9598"/>
            </a:solidFill>
            <a:prstDash val="solid"/>
          </a:ln>
        </p:spPr>
      </p:sp>
      <p:sp>
        <p:nvSpPr>
          <p:cNvPr id="12" name="Shape 10"/>
          <p:cNvSpPr/>
          <p:nvPr/>
        </p:nvSpPr>
        <p:spPr>
          <a:xfrm>
            <a:off x="749808" y="2980944"/>
            <a:ext cx="640080" cy="365760"/>
          </a:xfrm>
          <a:prstGeom prst="rect">
            <a:avLst/>
          </a:prstGeom>
          <a:solidFill>
            <a:schemeClr val="accent5"/>
          </a:solidFill>
          <a:ln/>
        </p:spPr>
      </p:sp>
      <p:sp>
        <p:nvSpPr>
          <p:cNvPr id="13" name="Text 11"/>
          <p:cNvSpPr txBox="1"/>
          <p:nvPr/>
        </p:nvSpPr>
        <p:spPr>
          <a:xfrm>
            <a:off x="749808" y="2980944"/>
            <a:ext cx="640080" cy="365760"/>
          </a:xfrm>
          <a:prstGeom prst="rect">
            <a:avLst/>
          </a:prstGeom>
          <a:noFill/>
          <a:ln/>
        </p:spPr>
        <p:txBody>
          <a:bodyPr wrap="square" lIns="0" tIns="0" rIns="0" bIns="0" rtlCol="0" anchor="ctr"/>
          <a:lstStyle/>
          <a:p>
            <a:pPr algn="ctr" indent="0" marL="0">
              <a:buNone/>
            </a:pPr>
            <a:r>
              <a:rPr lang="es-CL" altLang="en-US" sz="1600" b="1" dirty="0">
                <a:solidFill>
                  <a:schemeClr val="tx1"/>
                </a:solidFill>
                <a:latin typeface="IBM Plex Mono" pitchFamily="34" charset="0"/>
                <a:ea typeface="IBM Plex Mono" pitchFamily="34" charset="-122"/>
                <a:cs typeface="IBM Plex Mono" pitchFamily="34" charset="-120"/>
              </a:rPr>
              <a:t>A02</a:t>
            </a:r>
            <a:endParaRPr lang="es-CL" sz="1600" dirty="0"/>
          </a:p>
        </p:txBody>
      </p:sp>
      <p:sp>
        <p:nvSpPr>
          <p:cNvPr id="14" name="Text 12"/>
          <p:cNvSpPr txBox="1"/>
          <p:nvPr/>
        </p:nvSpPr>
        <p:spPr>
          <a:xfrm>
            <a:off x="1554480" y="2889504"/>
            <a:ext cx="3611880" cy="603504"/>
          </a:xfrm>
          <a:prstGeom prst="rect">
            <a:avLst/>
          </a:prstGeom>
          <a:noFill/>
          <a:ln/>
        </p:spPr>
        <p:txBody>
          <a:bodyPr wrap="square" lIns="0" tIns="0" rIns="0" bIns="0" rtlCol="0" anchor="ctr"/>
          <a:lstStyle/>
          <a:p>
            <a:pPr indent="0" marL="0">
              <a:lnSpc>
                <a:spcPct val="92000"/>
              </a:lnSpc>
              <a:buNone/>
            </a:pPr>
            <a:r>
              <a:rPr lang="es-CL" altLang="en-US" sz="2000" b="1" dirty="0">
                <a:solidFill>
                  <a:schemeClr val="tx1"/>
                </a:solidFill>
                <a:latin typeface="Figtree" pitchFamily="34" charset="0"/>
                <a:ea typeface="Figtree" pitchFamily="34" charset="-122"/>
                <a:cs typeface="Figtree" pitchFamily="34" charset="-120"/>
              </a:rPr>
              <a:t>Técnicos habilitados antes de intervenir</a:t>
            </a:r>
            <a:endParaRPr lang="es-CL" sz="2000" dirty="0"/>
          </a:p>
        </p:txBody>
      </p:sp>
      <p:sp>
        <p:nvSpPr>
          <p:cNvPr id="15" name="Text 13"/>
          <p:cNvSpPr txBox="1"/>
          <p:nvPr/>
        </p:nvSpPr>
        <p:spPr>
          <a:xfrm>
            <a:off x="749808" y="3557016"/>
            <a:ext cx="640080" cy="329184"/>
          </a:xfrm>
          <a:prstGeom prst="rect">
            <a:avLst/>
          </a:prstGeom>
          <a:noFill/>
          <a:ln/>
        </p:spPr>
        <p:txBody>
          <a:bodyPr wrap="square" lIns="0" tIns="0" rIns="0" bIns="0" rtlCol="0" anchor="ctr"/>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META</a:t>
            </a:r>
            <a:endParaRPr lang="es-CL" sz="1400" dirty="0"/>
          </a:p>
        </p:txBody>
      </p:sp>
      <p:sp>
        <p:nvSpPr>
          <p:cNvPr id="16" name="Text 14"/>
          <p:cNvSpPr txBox="1"/>
          <p:nvPr/>
        </p:nvSpPr>
        <p:spPr>
          <a:xfrm>
            <a:off x="1389888" y="3483864"/>
            <a:ext cx="1463040" cy="457200"/>
          </a:xfrm>
          <a:prstGeom prst="rect">
            <a:avLst/>
          </a:prstGeom>
          <a:noFill/>
          <a:ln/>
        </p:spPr>
        <p:txBody>
          <a:bodyPr wrap="square" lIns="0" tIns="0" rIns="0" bIns="0" rtlCol="0" anchor="ctr"/>
          <a:lstStyle/>
          <a:p>
            <a:pPr indent="0" marL="0">
              <a:buNone/>
            </a:pPr>
            <a:r>
              <a:rPr lang="es-CL" altLang="en-US" sz="3000" b="1" dirty="0">
                <a:solidFill>
                  <a:schemeClr val="tx1"/>
                </a:solidFill>
                <a:latin typeface="Archivo Condensed" pitchFamily="34" charset="0"/>
                <a:ea typeface="Archivo Condensed" pitchFamily="34" charset="-122"/>
                <a:cs typeface="Archivo Condensed" pitchFamily="34" charset="-120"/>
              </a:rPr>
              <a:t>100%</a:t>
            </a:r>
            <a:endParaRPr lang="es-CL" sz="3000" dirty="0"/>
          </a:p>
        </p:txBody>
      </p:sp>
      <p:sp>
        <p:nvSpPr>
          <p:cNvPr id="17" name="Shape 15"/>
          <p:cNvSpPr/>
          <p:nvPr/>
        </p:nvSpPr>
        <p:spPr>
          <a:xfrm>
            <a:off x="3525012" y="3511296"/>
            <a:ext cx="1623060" cy="365760"/>
          </a:xfrm>
          <a:prstGeom prst="rect">
            <a:avLst/>
          </a:prstGeom>
          <a:solidFill>
            <a:schemeClr val="bg1">
              <a:alpha val="0"/>
            </a:schemeClr>
          </a:solidFill>
          <a:ln w="15875">
            <a:solidFill>
              <a:srgbClr val="8B9598"/>
            </a:solidFill>
            <a:prstDash val="solid"/>
          </a:ln>
        </p:spPr>
      </p:sp>
      <p:sp>
        <p:nvSpPr>
          <p:cNvPr id="18" name="Shape 16"/>
          <p:cNvSpPr/>
          <p:nvPr/>
        </p:nvSpPr>
        <p:spPr>
          <a:xfrm>
            <a:off x="3662172" y="3621024"/>
            <a:ext cx="146304" cy="146304"/>
          </a:xfrm>
          <a:prstGeom prst="ellipse">
            <a:avLst/>
          </a:prstGeom>
          <a:solidFill>
            <a:srgbClr val="8B9598"/>
          </a:solidFill>
          <a:ln/>
        </p:spPr>
      </p:sp>
      <p:sp>
        <p:nvSpPr>
          <p:cNvPr id="19" name="Text 17"/>
          <p:cNvSpPr txBox="1"/>
          <p:nvPr/>
        </p:nvSpPr>
        <p:spPr>
          <a:xfrm>
            <a:off x="3890772" y="3511296"/>
            <a:ext cx="1165860" cy="365760"/>
          </a:xfrm>
          <a:prstGeom prst="rect">
            <a:avLst/>
          </a:prstGeom>
          <a:noFill/>
          <a:ln/>
        </p:spPr>
        <p:txBody>
          <a:bodyPr wrap="square" lIns="0" tIns="0" rIns="0" bIns="0" rtlCol="0" anchor="ctr"/>
          <a:lstStyle/>
          <a:p>
            <a:pPr indent="0" marL="0">
              <a:buNone/>
            </a:pPr>
            <a:r>
              <a:rPr lang="es-CL" altLang="en-US" sz="1400" b="1" spc="100" kern="0" dirty="0">
                <a:solidFill>
                  <a:srgbClr val="8B9598"/>
                </a:solidFill>
                <a:latin typeface="IBM Plex Mono" pitchFamily="34" charset="0"/>
                <a:ea typeface="IBM Plex Mono" pitchFamily="34" charset="-122"/>
                <a:cs typeface="IBM Plex Mono" pitchFamily="34" charset="-120"/>
              </a:rPr>
              <a:t>SIN MEDIR</a:t>
            </a:r>
            <a:endParaRPr lang="es-CL" sz="1400" dirty="0"/>
          </a:p>
        </p:txBody>
      </p:sp>
      <p:sp>
        <p:nvSpPr>
          <p:cNvPr id="20" name="Shape 18"/>
          <p:cNvSpPr/>
          <p:nvPr/>
        </p:nvSpPr>
        <p:spPr>
          <a:xfrm>
            <a:off x="6355080" y="2779776"/>
            <a:ext cx="5287975" cy="1234440"/>
          </a:xfrm>
          <a:prstGeom prst="rect">
            <a:avLst/>
          </a:prstGeom>
          <a:solidFill>
            <a:schemeClr val="bg2"/>
          </a:solidFill>
          <a:ln w="9525">
            <a:solidFill>
              <a:srgbClr val="8B9598"/>
            </a:solidFill>
            <a:prstDash val="solid"/>
          </a:ln>
        </p:spPr>
      </p:sp>
      <p:sp>
        <p:nvSpPr>
          <p:cNvPr id="21" name="Shape 19"/>
          <p:cNvSpPr/>
          <p:nvPr/>
        </p:nvSpPr>
        <p:spPr>
          <a:xfrm>
            <a:off x="6556248" y="2980944"/>
            <a:ext cx="640080" cy="365760"/>
          </a:xfrm>
          <a:prstGeom prst="rect">
            <a:avLst/>
          </a:prstGeom>
          <a:solidFill>
            <a:schemeClr val="accent5"/>
          </a:solidFill>
          <a:ln/>
        </p:spPr>
      </p:sp>
      <p:sp>
        <p:nvSpPr>
          <p:cNvPr id="22" name="Text 20"/>
          <p:cNvSpPr txBox="1"/>
          <p:nvPr/>
        </p:nvSpPr>
        <p:spPr>
          <a:xfrm>
            <a:off x="6556248" y="2980944"/>
            <a:ext cx="640080" cy="365760"/>
          </a:xfrm>
          <a:prstGeom prst="rect">
            <a:avLst/>
          </a:prstGeom>
          <a:noFill/>
          <a:ln/>
        </p:spPr>
        <p:txBody>
          <a:bodyPr wrap="square" lIns="0" tIns="0" rIns="0" bIns="0" rtlCol="0" anchor="ctr"/>
          <a:lstStyle/>
          <a:p>
            <a:pPr algn="ctr" indent="0" marL="0">
              <a:buNone/>
            </a:pPr>
            <a:r>
              <a:rPr lang="es-CL" altLang="en-US" sz="1600" b="1" dirty="0">
                <a:solidFill>
                  <a:schemeClr val="tx1"/>
                </a:solidFill>
                <a:latin typeface="IBM Plex Mono" pitchFamily="34" charset="0"/>
                <a:ea typeface="IBM Plex Mono" pitchFamily="34" charset="-122"/>
                <a:cs typeface="IBM Plex Mono" pitchFamily="34" charset="-120"/>
              </a:rPr>
              <a:t>P03</a:t>
            </a:r>
            <a:endParaRPr lang="es-CL" sz="1600" dirty="0"/>
          </a:p>
        </p:txBody>
      </p:sp>
      <p:sp>
        <p:nvSpPr>
          <p:cNvPr id="23" name="Text 21"/>
          <p:cNvSpPr txBox="1"/>
          <p:nvPr/>
        </p:nvSpPr>
        <p:spPr>
          <a:xfrm>
            <a:off x="7360920" y="2889504"/>
            <a:ext cx="4099255" cy="603504"/>
          </a:xfrm>
          <a:prstGeom prst="rect">
            <a:avLst/>
          </a:prstGeom>
          <a:noFill/>
          <a:ln/>
        </p:spPr>
        <p:txBody>
          <a:bodyPr wrap="square" lIns="0" tIns="0" rIns="0" bIns="0" rtlCol="0" anchor="ctr"/>
          <a:lstStyle/>
          <a:p>
            <a:pPr indent="0" marL="0">
              <a:lnSpc>
                <a:spcPct val="92000"/>
              </a:lnSpc>
              <a:buNone/>
            </a:pPr>
            <a:r>
              <a:rPr lang="es-CL" altLang="en-US" sz="2000" b="1" dirty="0">
                <a:solidFill>
                  <a:schemeClr val="tx1"/>
                </a:solidFill>
                <a:latin typeface="Figtree" pitchFamily="34" charset="0"/>
                <a:ea typeface="Figtree" pitchFamily="34" charset="-122"/>
                <a:cs typeface="Figtree" pitchFamily="34" charset="-120"/>
              </a:rPr>
              <a:t>Órdenes cerradas con actas de seguridad</a:t>
            </a:r>
            <a:endParaRPr lang="es-CL" sz="2000" dirty="0"/>
          </a:p>
        </p:txBody>
      </p:sp>
      <p:sp>
        <p:nvSpPr>
          <p:cNvPr id="24" name="Text 22"/>
          <p:cNvSpPr txBox="1"/>
          <p:nvPr/>
        </p:nvSpPr>
        <p:spPr>
          <a:xfrm>
            <a:off x="6556248" y="3557016"/>
            <a:ext cx="640080" cy="329184"/>
          </a:xfrm>
          <a:prstGeom prst="rect">
            <a:avLst/>
          </a:prstGeom>
          <a:noFill/>
          <a:ln/>
        </p:spPr>
        <p:txBody>
          <a:bodyPr wrap="square" lIns="0" tIns="0" rIns="0" bIns="0" rtlCol="0" anchor="ctr"/>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META</a:t>
            </a:r>
            <a:endParaRPr lang="es-CL" sz="1400" dirty="0"/>
          </a:p>
        </p:txBody>
      </p:sp>
      <p:sp>
        <p:nvSpPr>
          <p:cNvPr id="25" name="Text 23"/>
          <p:cNvSpPr txBox="1"/>
          <p:nvPr/>
        </p:nvSpPr>
        <p:spPr>
          <a:xfrm>
            <a:off x="7196328" y="3483864"/>
            <a:ext cx="1463040" cy="457200"/>
          </a:xfrm>
          <a:prstGeom prst="rect">
            <a:avLst/>
          </a:prstGeom>
          <a:noFill/>
          <a:ln/>
        </p:spPr>
        <p:txBody>
          <a:bodyPr wrap="square" lIns="0" tIns="0" rIns="0" bIns="0" rtlCol="0" anchor="ctr"/>
          <a:lstStyle/>
          <a:p>
            <a:pPr indent="0" marL="0">
              <a:buNone/>
            </a:pPr>
            <a:r>
              <a:rPr lang="es-CL" altLang="en-US" sz="3000" b="1" dirty="0">
                <a:solidFill>
                  <a:schemeClr val="tx1"/>
                </a:solidFill>
                <a:latin typeface="Archivo Condensed" pitchFamily="34" charset="0"/>
                <a:ea typeface="Archivo Condensed" pitchFamily="34" charset="-122"/>
                <a:cs typeface="Archivo Condensed" pitchFamily="34" charset="-120"/>
              </a:rPr>
              <a:t>100%</a:t>
            </a:r>
            <a:endParaRPr lang="es-CL" sz="3000" dirty="0"/>
          </a:p>
        </p:txBody>
      </p:sp>
      <p:sp>
        <p:nvSpPr>
          <p:cNvPr id="26" name="Shape 24"/>
          <p:cNvSpPr/>
          <p:nvPr/>
        </p:nvSpPr>
        <p:spPr>
          <a:xfrm>
            <a:off x="9818827" y="3511296"/>
            <a:ext cx="1623060" cy="365760"/>
          </a:xfrm>
          <a:prstGeom prst="rect">
            <a:avLst/>
          </a:prstGeom>
          <a:solidFill>
            <a:schemeClr val="bg1">
              <a:alpha val="0"/>
            </a:schemeClr>
          </a:solidFill>
          <a:ln w="15875">
            <a:solidFill>
              <a:srgbClr val="8B9598"/>
            </a:solidFill>
            <a:prstDash val="solid"/>
          </a:ln>
        </p:spPr>
      </p:sp>
      <p:sp>
        <p:nvSpPr>
          <p:cNvPr id="27" name="Shape 25"/>
          <p:cNvSpPr/>
          <p:nvPr/>
        </p:nvSpPr>
        <p:spPr>
          <a:xfrm>
            <a:off x="9955987" y="3621024"/>
            <a:ext cx="146304" cy="146304"/>
          </a:xfrm>
          <a:prstGeom prst="ellipse">
            <a:avLst/>
          </a:prstGeom>
          <a:solidFill>
            <a:srgbClr val="8B9598"/>
          </a:solidFill>
          <a:ln/>
        </p:spPr>
      </p:sp>
      <p:sp>
        <p:nvSpPr>
          <p:cNvPr id="28" name="Text 26"/>
          <p:cNvSpPr txBox="1"/>
          <p:nvPr/>
        </p:nvSpPr>
        <p:spPr>
          <a:xfrm>
            <a:off x="10184587" y="3511296"/>
            <a:ext cx="1165860" cy="365760"/>
          </a:xfrm>
          <a:prstGeom prst="rect">
            <a:avLst/>
          </a:prstGeom>
          <a:noFill/>
          <a:ln/>
        </p:spPr>
        <p:txBody>
          <a:bodyPr wrap="square" lIns="0" tIns="0" rIns="0" bIns="0" rtlCol="0" anchor="ctr"/>
          <a:lstStyle/>
          <a:p>
            <a:pPr indent="0" marL="0">
              <a:buNone/>
            </a:pPr>
            <a:r>
              <a:rPr lang="es-CL" altLang="en-US" sz="1400" b="1" spc="100" kern="0" dirty="0">
                <a:solidFill>
                  <a:srgbClr val="8B9598"/>
                </a:solidFill>
                <a:latin typeface="IBM Plex Mono" pitchFamily="34" charset="0"/>
                <a:ea typeface="IBM Plex Mono" pitchFamily="34" charset="-122"/>
                <a:cs typeface="IBM Plex Mono" pitchFamily="34" charset="-120"/>
              </a:rPr>
              <a:t>SIN MEDIR</a:t>
            </a:r>
            <a:endParaRPr lang="es-CL" sz="1400" dirty="0"/>
          </a:p>
        </p:txBody>
      </p:sp>
      <p:sp>
        <p:nvSpPr>
          <p:cNvPr id="29" name="Shape 27"/>
          <p:cNvSpPr/>
          <p:nvPr/>
        </p:nvSpPr>
        <p:spPr>
          <a:xfrm>
            <a:off x="5458968" y="3396996"/>
            <a:ext cx="786384" cy="0"/>
          </a:xfrm>
          <a:prstGeom prst="line">
            <a:avLst/>
          </a:prstGeom>
          <a:noFill/>
          <a:ln w="22225">
            <a:solidFill>
              <a:schemeClr val="accent1"/>
            </a:solidFill>
            <a:prstDash val="solid"/>
            <a:tailEnd type="triangle"/>
          </a:ln>
        </p:spPr>
      </p:sp>
      <p:sp>
        <p:nvSpPr>
          <p:cNvPr id="30" name="Text 28"/>
          <p:cNvSpPr txBox="1"/>
          <p:nvPr/>
        </p:nvSpPr>
        <p:spPr>
          <a:xfrm>
            <a:off x="5349240" y="2939796"/>
            <a:ext cx="1005840" cy="384048"/>
          </a:xfrm>
          <a:prstGeom prst="rect">
            <a:avLst/>
          </a:prstGeom>
          <a:noFill/>
          <a:ln/>
        </p:spPr>
        <p:txBody>
          <a:bodyPr wrap="square" lIns="0" tIns="0" rIns="0" bIns="0" rtlCol="0" anchor="b"/>
          <a:lstStyle/>
          <a:p>
            <a:pPr algn="ctr" indent="0" marL="0">
              <a:buNone/>
            </a:pPr>
            <a:r>
              <a:rPr lang="es-CL" altLang="en-US" sz="1600" i="1" dirty="0">
                <a:solidFill>
                  <a:schemeClr val="accent1"/>
                </a:solidFill>
                <a:latin typeface="Instrument Serif" pitchFamily="34" charset="0"/>
                <a:ea typeface="Instrument Serif" pitchFamily="34" charset="-122"/>
                <a:cs typeface="Instrument Serif" pitchFamily="34" charset="-120"/>
              </a:rPr>
              <a:t>habilita el control</a:t>
            </a:r>
            <a:endParaRPr lang="es-CL" sz="1600" dirty="0"/>
          </a:p>
        </p:txBody>
      </p:sp>
      <p:sp>
        <p:nvSpPr>
          <p:cNvPr id="31" name="Shape 29"/>
          <p:cNvSpPr/>
          <p:nvPr/>
        </p:nvSpPr>
        <p:spPr>
          <a:xfrm>
            <a:off x="548640" y="4197096"/>
            <a:ext cx="4800600" cy="1234440"/>
          </a:xfrm>
          <a:prstGeom prst="rect">
            <a:avLst/>
          </a:prstGeom>
          <a:solidFill>
            <a:schemeClr val="bg2"/>
          </a:solidFill>
          <a:ln w="9525">
            <a:solidFill>
              <a:srgbClr val="8B9598"/>
            </a:solidFill>
            <a:prstDash val="solid"/>
          </a:ln>
        </p:spPr>
      </p:sp>
      <p:sp>
        <p:nvSpPr>
          <p:cNvPr id="32" name="Shape 30"/>
          <p:cNvSpPr/>
          <p:nvPr/>
        </p:nvSpPr>
        <p:spPr>
          <a:xfrm>
            <a:off x="749808" y="4398264"/>
            <a:ext cx="640080" cy="365760"/>
          </a:xfrm>
          <a:prstGeom prst="rect">
            <a:avLst/>
          </a:prstGeom>
          <a:solidFill>
            <a:schemeClr val="accent5"/>
          </a:solidFill>
          <a:ln/>
        </p:spPr>
      </p:sp>
      <p:sp>
        <p:nvSpPr>
          <p:cNvPr id="33" name="Text 31"/>
          <p:cNvSpPr txBox="1"/>
          <p:nvPr/>
        </p:nvSpPr>
        <p:spPr>
          <a:xfrm>
            <a:off x="749808" y="4398264"/>
            <a:ext cx="640080" cy="365760"/>
          </a:xfrm>
          <a:prstGeom prst="rect">
            <a:avLst/>
          </a:prstGeom>
          <a:noFill/>
          <a:ln/>
        </p:spPr>
        <p:txBody>
          <a:bodyPr wrap="square" lIns="0" tIns="0" rIns="0" bIns="0" rtlCol="0" anchor="ctr"/>
          <a:lstStyle/>
          <a:p>
            <a:pPr algn="ctr" indent="0" marL="0">
              <a:buNone/>
            </a:pPr>
            <a:r>
              <a:rPr lang="es-CL" altLang="en-US" sz="1600" b="1" dirty="0">
                <a:solidFill>
                  <a:schemeClr val="tx1"/>
                </a:solidFill>
                <a:latin typeface="IBM Plex Mono" pitchFamily="34" charset="0"/>
                <a:ea typeface="IBM Plex Mono" pitchFamily="34" charset="-122"/>
                <a:cs typeface="IBM Plex Mono" pitchFamily="34" charset="-120"/>
              </a:rPr>
              <a:t>A01</a:t>
            </a:r>
            <a:endParaRPr lang="es-CL" sz="1600" dirty="0"/>
          </a:p>
        </p:txBody>
      </p:sp>
      <p:sp>
        <p:nvSpPr>
          <p:cNvPr id="34" name="Text 32"/>
          <p:cNvSpPr txBox="1"/>
          <p:nvPr/>
        </p:nvSpPr>
        <p:spPr>
          <a:xfrm>
            <a:off x="1554480" y="4306824"/>
            <a:ext cx="3611880" cy="603504"/>
          </a:xfrm>
          <a:prstGeom prst="rect">
            <a:avLst/>
          </a:prstGeom>
          <a:noFill/>
          <a:ln/>
        </p:spPr>
        <p:txBody>
          <a:bodyPr wrap="square" lIns="0" tIns="0" rIns="0" bIns="0" rtlCol="0" anchor="ctr"/>
          <a:lstStyle/>
          <a:p>
            <a:pPr indent="0" marL="0">
              <a:lnSpc>
                <a:spcPct val="92000"/>
              </a:lnSpc>
              <a:buNone/>
            </a:pPr>
            <a:r>
              <a:rPr lang="es-CL" altLang="en-US" sz="2000" b="1" dirty="0">
                <a:solidFill>
                  <a:schemeClr val="tx1"/>
                </a:solidFill>
                <a:latin typeface="Figtree" pitchFamily="34" charset="0"/>
                <a:ea typeface="Figtree" pitchFamily="34" charset="-122"/>
                <a:cs typeface="Figtree" pitchFamily="34" charset="-120"/>
              </a:rPr>
              <a:t>Calibraciones registradas en la biblioteca</a:t>
            </a:r>
            <a:endParaRPr lang="es-CL" sz="2000" dirty="0"/>
          </a:p>
        </p:txBody>
      </p:sp>
      <p:sp>
        <p:nvSpPr>
          <p:cNvPr id="35" name="Text 33"/>
          <p:cNvSpPr txBox="1"/>
          <p:nvPr/>
        </p:nvSpPr>
        <p:spPr>
          <a:xfrm>
            <a:off x="749808" y="4974336"/>
            <a:ext cx="640080" cy="329184"/>
          </a:xfrm>
          <a:prstGeom prst="rect">
            <a:avLst/>
          </a:prstGeom>
          <a:noFill/>
          <a:ln/>
        </p:spPr>
        <p:txBody>
          <a:bodyPr wrap="square" lIns="0" tIns="0" rIns="0" bIns="0" rtlCol="0" anchor="ctr"/>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META</a:t>
            </a:r>
            <a:endParaRPr lang="es-CL" sz="1400" dirty="0"/>
          </a:p>
        </p:txBody>
      </p:sp>
      <p:sp>
        <p:nvSpPr>
          <p:cNvPr id="36" name="Text 34"/>
          <p:cNvSpPr txBox="1"/>
          <p:nvPr/>
        </p:nvSpPr>
        <p:spPr>
          <a:xfrm>
            <a:off x="1389888" y="4901184"/>
            <a:ext cx="1463040" cy="457200"/>
          </a:xfrm>
          <a:prstGeom prst="rect">
            <a:avLst/>
          </a:prstGeom>
          <a:noFill/>
          <a:ln/>
        </p:spPr>
        <p:txBody>
          <a:bodyPr wrap="square" lIns="0" tIns="0" rIns="0" bIns="0" rtlCol="0" anchor="ctr"/>
          <a:lstStyle/>
          <a:p>
            <a:pPr indent="0" marL="0">
              <a:buNone/>
            </a:pPr>
            <a:r>
              <a:rPr lang="es-CL" altLang="en-US" sz="3000" b="1" dirty="0">
                <a:solidFill>
                  <a:schemeClr val="tx1"/>
                </a:solidFill>
                <a:latin typeface="Archivo Condensed" pitchFamily="34" charset="0"/>
                <a:ea typeface="Archivo Condensed" pitchFamily="34" charset="-122"/>
                <a:cs typeface="Archivo Condensed" pitchFamily="34" charset="-120"/>
              </a:rPr>
              <a:t>100%</a:t>
            </a:r>
            <a:endParaRPr lang="es-CL" sz="3000" dirty="0"/>
          </a:p>
        </p:txBody>
      </p:sp>
      <p:sp>
        <p:nvSpPr>
          <p:cNvPr id="37" name="Shape 35"/>
          <p:cNvSpPr/>
          <p:nvPr/>
        </p:nvSpPr>
        <p:spPr>
          <a:xfrm>
            <a:off x="3525012" y="4928616"/>
            <a:ext cx="1623060" cy="365760"/>
          </a:xfrm>
          <a:prstGeom prst="rect">
            <a:avLst/>
          </a:prstGeom>
          <a:solidFill>
            <a:schemeClr val="bg1">
              <a:alpha val="0"/>
            </a:schemeClr>
          </a:solidFill>
          <a:ln w="15875">
            <a:solidFill>
              <a:srgbClr val="8B9598"/>
            </a:solidFill>
            <a:prstDash val="solid"/>
          </a:ln>
        </p:spPr>
      </p:sp>
      <p:sp>
        <p:nvSpPr>
          <p:cNvPr id="38" name="Shape 36"/>
          <p:cNvSpPr/>
          <p:nvPr/>
        </p:nvSpPr>
        <p:spPr>
          <a:xfrm>
            <a:off x="3662172" y="5038344"/>
            <a:ext cx="146304" cy="146304"/>
          </a:xfrm>
          <a:prstGeom prst="ellipse">
            <a:avLst/>
          </a:prstGeom>
          <a:solidFill>
            <a:srgbClr val="8B9598"/>
          </a:solidFill>
          <a:ln/>
        </p:spPr>
      </p:sp>
      <p:sp>
        <p:nvSpPr>
          <p:cNvPr id="39" name="Text 37"/>
          <p:cNvSpPr txBox="1"/>
          <p:nvPr/>
        </p:nvSpPr>
        <p:spPr>
          <a:xfrm>
            <a:off x="3890772" y="4928616"/>
            <a:ext cx="1165860" cy="365760"/>
          </a:xfrm>
          <a:prstGeom prst="rect">
            <a:avLst/>
          </a:prstGeom>
          <a:noFill/>
          <a:ln/>
        </p:spPr>
        <p:txBody>
          <a:bodyPr wrap="square" lIns="0" tIns="0" rIns="0" bIns="0" rtlCol="0" anchor="ctr"/>
          <a:lstStyle/>
          <a:p>
            <a:pPr indent="0" marL="0">
              <a:buNone/>
            </a:pPr>
            <a:r>
              <a:rPr lang="es-CL" altLang="en-US" sz="1400" b="1" spc="100" kern="0" dirty="0">
                <a:solidFill>
                  <a:srgbClr val="8B9598"/>
                </a:solidFill>
                <a:latin typeface="IBM Plex Mono" pitchFamily="34" charset="0"/>
                <a:ea typeface="IBM Plex Mono" pitchFamily="34" charset="-122"/>
                <a:cs typeface="IBM Plex Mono" pitchFamily="34" charset="-120"/>
              </a:rPr>
              <a:t>SIN MEDIR</a:t>
            </a:r>
            <a:endParaRPr lang="es-CL" sz="1400" dirty="0"/>
          </a:p>
        </p:txBody>
      </p:sp>
      <p:sp>
        <p:nvSpPr>
          <p:cNvPr id="40" name="Shape 38"/>
          <p:cNvSpPr/>
          <p:nvPr/>
        </p:nvSpPr>
        <p:spPr>
          <a:xfrm>
            <a:off x="6355080" y="4197096"/>
            <a:ext cx="5287975" cy="1234440"/>
          </a:xfrm>
          <a:prstGeom prst="rect">
            <a:avLst/>
          </a:prstGeom>
          <a:solidFill>
            <a:schemeClr val="bg2"/>
          </a:solidFill>
          <a:ln w="19050">
            <a:solidFill>
              <a:srgbClr val="F87171"/>
            </a:solidFill>
            <a:prstDash val="solid"/>
          </a:ln>
        </p:spPr>
      </p:sp>
      <p:sp>
        <p:nvSpPr>
          <p:cNvPr id="41" name="Shape 39"/>
          <p:cNvSpPr/>
          <p:nvPr/>
        </p:nvSpPr>
        <p:spPr>
          <a:xfrm>
            <a:off x="6556248" y="4398264"/>
            <a:ext cx="640080" cy="365760"/>
          </a:xfrm>
          <a:prstGeom prst="rect">
            <a:avLst/>
          </a:prstGeom>
          <a:solidFill>
            <a:schemeClr val="accent5"/>
          </a:solidFill>
          <a:ln/>
        </p:spPr>
      </p:sp>
      <p:sp>
        <p:nvSpPr>
          <p:cNvPr id="42" name="Text 40"/>
          <p:cNvSpPr txBox="1"/>
          <p:nvPr/>
        </p:nvSpPr>
        <p:spPr>
          <a:xfrm>
            <a:off x="6556248" y="4398264"/>
            <a:ext cx="640080" cy="365760"/>
          </a:xfrm>
          <a:prstGeom prst="rect">
            <a:avLst/>
          </a:prstGeom>
          <a:noFill/>
          <a:ln/>
        </p:spPr>
        <p:txBody>
          <a:bodyPr wrap="square" lIns="0" tIns="0" rIns="0" bIns="0" rtlCol="0" anchor="ctr"/>
          <a:lstStyle/>
          <a:p>
            <a:pPr algn="ctr" indent="0" marL="0">
              <a:buNone/>
            </a:pPr>
            <a:r>
              <a:rPr lang="es-CL" altLang="en-US" sz="1600" b="1" dirty="0">
                <a:solidFill>
                  <a:schemeClr val="tx1"/>
                </a:solidFill>
                <a:latin typeface="IBM Plex Mono" pitchFamily="34" charset="0"/>
                <a:ea typeface="IBM Plex Mono" pitchFamily="34" charset="-122"/>
                <a:cs typeface="IBM Plex Mono" pitchFamily="34" charset="-120"/>
              </a:rPr>
              <a:t>P02</a:t>
            </a:r>
            <a:endParaRPr lang="es-CL" sz="1600" dirty="0"/>
          </a:p>
        </p:txBody>
      </p:sp>
      <p:sp>
        <p:nvSpPr>
          <p:cNvPr id="43" name="Text 41"/>
          <p:cNvSpPr txBox="1"/>
          <p:nvPr/>
        </p:nvSpPr>
        <p:spPr>
          <a:xfrm>
            <a:off x="7360920" y="4306824"/>
            <a:ext cx="4099255" cy="603504"/>
          </a:xfrm>
          <a:prstGeom prst="rect">
            <a:avLst/>
          </a:prstGeom>
          <a:noFill/>
          <a:ln/>
        </p:spPr>
        <p:txBody>
          <a:bodyPr wrap="square" lIns="0" tIns="0" rIns="0" bIns="0" rtlCol="0" anchor="ctr"/>
          <a:lstStyle/>
          <a:p>
            <a:pPr indent="0" marL="0">
              <a:lnSpc>
                <a:spcPct val="92000"/>
              </a:lnSpc>
              <a:buNone/>
            </a:pPr>
            <a:r>
              <a:rPr lang="es-CL" altLang="en-US" sz="2000" b="1" dirty="0">
                <a:solidFill>
                  <a:schemeClr val="tx1"/>
                </a:solidFill>
                <a:latin typeface="Figtree" pitchFamily="34" charset="0"/>
                <a:ea typeface="Figtree" pitchFamily="34" charset="-122"/>
                <a:cs typeface="Figtree" pitchFamily="34" charset="-120"/>
              </a:rPr>
              <a:t>Primer par modelo-kit homologado</a:t>
            </a:r>
            <a:endParaRPr lang="es-CL" sz="2000" dirty="0"/>
          </a:p>
        </p:txBody>
      </p:sp>
      <p:sp>
        <p:nvSpPr>
          <p:cNvPr id="44" name="Text 42"/>
          <p:cNvSpPr txBox="1"/>
          <p:nvPr/>
        </p:nvSpPr>
        <p:spPr>
          <a:xfrm>
            <a:off x="6556248" y="4974336"/>
            <a:ext cx="640080" cy="329184"/>
          </a:xfrm>
          <a:prstGeom prst="rect">
            <a:avLst/>
          </a:prstGeom>
          <a:noFill/>
          <a:ln/>
        </p:spPr>
        <p:txBody>
          <a:bodyPr wrap="square" lIns="0" tIns="0" rIns="0" bIns="0" rtlCol="0" anchor="ctr"/>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META</a:t>
            </a:r>
            <a:endParaRPr lang="es-CL" sz="1400" dirty="0"/>
          </a:p>
        </p:txBody>
      </p:sp>
      <p:sp>
        <p:nvSpPr>
          <p:cNvPr id="45" name="Text 43"/>
          <p:cNvSpPr txBox="1"/>
          <p:nvPr/>
        </p:nvSpPr>
        <p:spPr>
          <a:xfrm>
            <a:off x="7196328" y="4901184"/>
            <a:ext cx="1463040" cy="457200"/>
          </a:xfrm>
          <a:prstGeom prst="rect">
            <a:avLst/>
          </a:prstGeom>
          <a:noFill/>
          <a:ln/>
        </p:spPr>
        <p:txBody>
          <a:bodyPr wrap="square" lIns="0" tIns="0" rIns="0" bIns="0" rtlCol="0" anchor="ctr"/>
          <a:lstStyle/>
          <a:p>
            <a:pPr indent="0" marL="0">
              <a:buNone/>
            </a:pPr>
            <a:r>
              <a:rPr lang="es-CL" altLang="en-US" sz="3000" b="1" dirty="0">
                <a:solidFill>
                  <a:schemeClr val="tx1"/>
                </a:solidFill>
                <a:latin typeface="Archivo Condensed" pitchFamily="34" charset="0"/>
                <a:ea typeface="Archivo Condensed" pitchFamily="34" charset="-122"/>
                <a:cs typeface="Archivo Condensed" pitchFamily="34" charset="-120"/>
              </a:rPr>
              <a:t>1 par</a:t>
            </a:r>
            <a:endParaRPr lang="es-CL" sz="3000" dirty="0"/>
          </a:p>
        </p:txBody>
      </p:sp>
      <p:sp>
        <p:nvSpPr>
          <p:cNvPr id="46" name="Shape 44"/>
          <p:cNvSpPr/>
          <p:nvPr/>
        </p:nvSpPr>
        <p:spPr>
          <a:xfrm>
            <a:off x="8266887" y="4928616"/>
            <a:ext cx="3175000" cy="365760"/>
          </a:xfrm>
          <a:prstGeom prst="rect">
            <a:avLst/>
          </a:prstGeom>
          <a:solidFill>
            <a:schemeClr val="bg1">
              <a:alpha val="0"/>
            </a:schemeClr>
          </a:solidFill>
          <a:ln w="15875">
            <a:solidFill>
              <a:srgbClr val="F87171"/>
            </a:solidFill>
            <a:prstDash val="solid"/>
          </a:ln>
        </p:spPr>
      </p:sp>
      <p:sp>
        <p:nvSpPr>
          <p:cNvPr id="47" name="Shape 45"/>
          <p:cNvSpPr/>
          <p:nvPr/>
        </p:nvSpPr>
        <p:spPr>
          <a:xfrm>
            <a:off x="8404047" y="5038344"/>
            <a:ext cx="146304" cy="146304"/>
          </a:xfrm>
          <a:prstGeom prst="ellipse">
            <a:avLst/>
          </a:prstGeom>
          <a:solidFill>
            <a:srgbClr val="F87171"/>
          </a:solidFill>
          <a:ln/>
        </p:spPr>
      </p:sp>
      <p:sp>
        <p:nvSpPr>
          <p:cNvPr id="48" name="Text 46"/>
          <p:cNvSpPr txBox="1"/>
          <p:nvPr/>
        </p:nvSpPr>
        <p:spPr>
          <a:xfrm>
            <a:off x="8632647" y="4928616"/>
            <a:ext cx="2717800" cy="365760"/>
          </a:xfrm>
          <a:prstGeom prst="rect">
            <a:avLst/>
          </a:prstGeom>
          <a:noFill/>
          <a:ln/>
        </p:spPr>
        <p:txBody>
          <a:bodyPr wrap="square" lIns="0" tIns="0" rIns="0" bIns="0" rtlCol="0" anchor="ctr"/>
          <a:lstStyle/>
          <a:p>
            <a:pPr indent="0" marL="0">
              <a:buNone/>
            </a:pPr>
            <a:r>
              <a:rPr lang="es-CL" altLang="en-US" sz="1400" b="1" spc="100" kern="0" dirty="0">
                <a:solidFill>
                  <a:srgbClr val="F87171"/>
                </a:solidFill>
                <a:latin typeface="IBM Plex Mono" pitchFamily="34" charset="0"/>
                <a:ea typeface="IBM Plex Mono" pitchFamily="34" charset="-122"/>
                <a:cs typeface="IBM Plex Mono" pitchFamily="34" charset="-120"/>
              </a:rPr>
              <a:t>HITO CRÍTICO PENDIENTE</a:t>
            </a:r>
            <a:endParaRPr lang="es-CL" sz="1400" dirty="0"/>
          </a:p>
        </p:txBody>
      </p:sp>
      <p:sp>
        <p:nvSpPr>
          <p:cNvPr id="49" name="Shape 47"/>
          <p:cNvSpPr/>
          <p:nvPr/>
        </p:nvSpPr>
        <p:spPr>
          <a:xfrm>
            <a:off x="5458968" y="4814316"/>
            <a:ext cx="786384" cy="0"/>
          </a:xfrm>
          <a:prstGeom prst="line">
            <a:avLst/>
          </a:prstGeom>
          <a:noFill/>
          <a:ln w="22225">
            <a:solidFill>
              <a:schemeClr val="accent1"/>
            </a:solidFill>
            <a:prstDash val="solid"/>
            <a:tailEnd type="triangle"/>
          </a:ln>
        </p:spPr>
      </p:sp>
      <p:sp>
        <p:nvSpPr>
          <p:cNvPr id="50" name="Text 48"/>
          <p:cNvSpPr txBox="1"/>
          <p:nvPr/>
        </p:nvSpPr>
        <p:spPr>
          <a:xfrm>
            <a:off x="5349240" y="4357116"/>
            <a:ext cx="1005840" cy="384048"/>
          </a:xfrm>
          <a:prstGeom prst="rect">
            <a:avLst/>
          </a:prstGeom>
          <a:noFill/>
          <a:ln/>
        </p:spPr>
        <p:txBody>
          <a:bodyPr wrap="square" lIns="0" tIns="0" rIns="0" bIns="0" rtlCol="0" anchor="b"/>
          <a:lstStyle/>
          <a:p>
            <a:pPr algn="ctr" indent="0" marL="0">
              <a:buNone/>
            </a:pPr>
            <a:r>
              <a:rPr lang="es-CL" altLang="en-US" sz="1600" i="1" dirty="0">
                <a:solidFill>
                  <a:schemeClr val="accent1"/>
                </a:solidFill>
                <a:latin typeface="Instrument Serif" pitchFamily="34" charset="0"/>
                <a:ea typeface="Instrument Serif" pitchFamily="34" charset="-122"/>
                <a:cs typeface="Instrument Serif" pitchFamily="34" charset="-120"/>
              </a:rPr>
              <a:t>permite homologar</a:t>
            </a:r>
            <a:endParaRPr lang="es-CL" sz="1600" dirty="0"/>
          </a:p>
        </p:txBody>
      </p:sp>
      <p:sp>
        <p:nvSpPr>
          <p:cNvPr id="51" name="Shape 49"/>
          <p:cNvSpPr/>
          <p:nvPr/>
        </p:nvSpPr>
        <p:spPr>
          <a:xfrm>
            <a:off x="548640" y="5650992"/>
            <a:ext cx="11094415" cy="0"/>
          </a:xfrm>
          <a:prstGeom prst="line">
            <a:avLst/>
          </a:prstGeom>
          <a:noFill/>
          <a:ln w="9525">
            <a:solidFill>
              <a:schemeClr val="accent1"/>
            </a:solidFill>
            <a:prstDash val="solid"/>
          </a:ln>
        </p:spPr>
      </p:sp>
      <p:sp>
        <p:nvSpPr>
          <p:cNvPr id="52" name="Text 50"/>
          <p:cNvSpPr txBox="1"/>
          <p:nvPr/>
        </p:nvSpPr>
        <p:spPr>
          <a:xfrm>
            <a:off x="548640" y="5760720"/>
            <a:ext cx="11094415" cy="457200"/>
          </a:xfrm>
          <a:prstGeom prst="rect">
            <a:avLst/>
          </a:prstGeom>
          <a:noFill/>
          <a:ln/>
        </p:spPr>
        <p:txBody>
          <a:bodyPr wrap="square" lIns="0" tIns="0" rIns="0" bIns="0" rtlCol="0" anchor="ctr"/>
          <a:lstStyle/>
          <a:p>
            <a:pPr indent="0" marL="0">
              <a:buNone/>
            </a:pPr>
            <a:r>
              <a:rPr lang="es-CL" altLang="en-US" sz="2400" b="1" dirty="0">
                <a:solidFill>
                  <a:schemeClr val="tx1"/>
                </a:solidFill>
                <a:latin typeface="Figtree" pitchFamily="34" charset="0"/>
                <a:ea typeface="Figtree" pitchFamily="34" charset="-122"/>
                <a:cs typeface="Figtree" pitchFamily="34" charset="-120"/>
              </a:rPr>
              <a:t>Un hito crítico no se compensa: </a:t>
            </a:r>
            <a:pPr indent="0" marL="0">
              <a:buNone/>
            </a:pPr>
            <a:r>
              <a:rPr lang="es-CL" altLang="en-US" sz="2400" b="1" dirty="0">
                <a:solidFill>
                  <a:schemeClr val="accent1"/>
                </a:solidFill>
                <a:latin typeface="Figtree" pitchFamily="34" charset="0"/>
                <a:ea typeface="Figtree" pitchFamily="34" charset="-122"/>
                <a:cs typeface="Figtree" pitchFamily="34" charset="-120"/>
              </a:rPr>
              <a:t>si falta, no se opera.</a:t>
            </a:r>
            <a:endParaRPr lang="es-CL" sz="24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06</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PERSPECTIVA DE CLIENTES · INDICADORES</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CLIENTES: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el valor llega al usuario.</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(dossier y Excel de la Solemne 2, hoja MATRIZ_CMI: C01, C02 y C03). La meta de C03 es orientativa.</a:t>
            </a:r>
            <a:endParaRPr lang="es-CL" sz="1100" dirty="0"/>
          </a:p>
        </p:txBody>
      </p:sp>
      <p:sp>
        <p:nvSpPr>
          <p:cNvPr id="5" name="Text 3"/>
          <p:cNvSpPr txBox="1"/>
          <p:nvPr/>
        </p:nvSpPr>
        <p:spPr>
          <a:xfrm>
            <a:off x="10580065" y="841248"/>
            <a:ext cx="1062990" cy="274320"/>
          </a:xfrm>
          <a:prstGeom prst="rect">
            <a:avLst/>
          </a:prstGeom>
          <a:noFill/>
          <a:ln/>
        </p:spPr>
        <p:txBody>
          <a:bodyPr wrap="square" lIns="0" tIns="0" rIns="0" bIns="0" rtlCol="0" anchor="ctr"/>
          <a:lstStyle/>
          <a:p>
            <a:pPr indent="0" marL="0">
              <a:buNone/>
            </a:pPr>
            <a:r>
              <a:rPr lang="es-CL" altLang="en-US" sz="1200" spc="50" kern="0" dirty="0">
                <a:solidFill>
                  <a:srgbClr val="8B9598"/>
                </a:solidFill>
                <a:latin typeface="IBM Plex Mono" pitchFamily="34" charset="0"/>
                <a:ea typeface="IBM Plex Mono" pitchFamily="34" charset="-122"/>
                <a:cs typeface="IBM Plex Mono" pitchFamily="34" charset="-120"/>
              </a:rPr>
              <a:t>SIN MEDIR</a:t>
            </a:r>
            <a:endParaRPr lang="es-CL" sz="1200" dirty="0"/>
          </a:p>
        </p:txBody>
      </p:sp>
      <p:sp>
        <p:nvSpPr>
          <p:cNvPr id="6" name="Shape 4"/>
          <p:cNvSpPr/>
          <p:nvPr/>
        </p:nvSpPr>
        <p:spPr>
          <a:xfrm>
            <a:off x="10360609" y="905256"/>
            <a:ext cx="137160" cy="137160"/>
          </a:xfrm>
          <a:prstGeom prst="ellipse">
            <a:avLst/>
          </a:prstGeom>
          <a:solidFill>
            <a:srgbClr val="8B9598"/>
          </a:solidFill>
          <a:ln/>
        </p:spPr>
      </p:sp>
      <p:pic>
        <p:nvPicPr>
          <p:cNvPr id="7" name="Image 0" descr="C:\Users\Usuario\Documents\GitHub\lumine\solemne-2\generador\assets\brillo.png">    </p:cNvPr>
          <p:cNvPicPr>
            <a:picLocks noChangeAspect="1"/>
          </p:cNvPicPr>
          <p:nvPr/>
        </p:nvPicPr>
        <p:blipFill>
          <a:blip r:embed="rId1"/>
          <a:stretch>
            <a:fillRect/>
          </a:stretch>
        </p:blipFill>
        <p:spPr>
          <a:xfrm>
            <a:off x="0" y="2011680"/>
            <a:ext cx="6766560" cy="3785616"/>
          </a:xfrm>
          <a:prstGeom prst="rect">
            <a:avLst/>
          </a:prstGeom>
        </p:spPr>
      </p:pic>
      <p:sp>
        <p:nvSpPr>
          <p:cNvPr id="8" name="Shape 5"/>
          <p:cNvSpPr/>
          <p:nvPr/>
        </p:nvSpPr>
        <p:spPr>
          <a:xfrm>
            <a:off x="548640" y="2395728"/>
            <a:ext cx="5669280" cy="3017520"/>
          </a:xfrm>
          <a:prstGeom prst="rect">
            <a:avLst/>
          </a:prstGeom>
          <a:solidFill>
            <a:srgbClr val="0B1A22"/>
          </a:solidFill>
          <a:ln w="15875">
            <a:solidFill>
              <a:schemeClr val="accent1"/>
            </a:solidFill>
            <a:prstDash val="solid"/>
          </a:ln>
        </p:spPr>
      </p:sp>
      <p:sp>
        <p:nvSpPr>
          <p:cNvPr id="9" name="Shape 6"/>
          <p:cNvSpPr/>
          <p:nvPr/>
        </p:nvSpPr>
        <p:spPr>
          <a:xfrm>
            <a:off x="493776" y="2340864"/>
            <a:ext cx="155448" cy="0"/>
          </a:xfrm>
          <a:prstGeom prst="line">
            <a:avLst/>
          </a:prstGeom>
          <a:noFill/>
          <a:ln w="15875">
            <a:solidFill>
              <a:schemeClr val="accent1"/>
            </a:solidFill>
            <a:prstDash val="solid"/>
          </a:ln>
        </p:spPr>
      </p:sp>
      <p:sp>
        <p:nvSpPr>
          <p:cNvPr id="10" name="Shape 7"/>
          <p:cNvSpPr/>
          <p:nvPr/>
        </p:nvSpPr>
        <p:spPr>
          <a:xfrm>
            <a:off x="493776" y="2340864"/>
            <a:ext cx="0" cy="155448"/>
          </a:xfrm>
          <a:prstGeom prst="line">
            <a:avLst/>
          </a:prstGeom>
          <a:noFill/>
          <a:ln w="15875">
            <a:solidFill>
              <a:schemeClr val="accent1"/>
            </a:solidFill>
            <a:prstDash val="solid"/>
          </a:ln>
        </p:spPr>
      </p:sp>
      <p:sp>
        <p:nvSpPr>
          <p:cNvPr id="11" name="Shape 8"/>
          <p:cNvSpPr/>
          <p:nvPr/>
        </p:nvSpPr>
        <p:spPr>
          <a:xfrm>
            <a:off x="6117336" y="2340864"/>
            <a:ext cx="155448" cy="0"/>
          </a:xfrm>
          <a:prstGeom prst="line">
            <a:avLst/>
          </a:prstGeom>
          <a:noFill/>
          <a:ln w="15875">
            <a:solidFill>
              <a:schemeClr val="accent1"/>
            </a:solidFill>
            <a:prstDash val="solid"/>
          </a:ln>
        </p:spPr>
      </p:sp>
      <p:sp>
        <p:nvSpPr>
          <p:cNvPr id="12" name="Shape 9"/>
          <p:cNvSpPr/>
          <p:nvPr/>
        </p:nvSpPr>
        <p:spPr>
          <a:xfrm>
            <a:off x="6272784" y="2340864"/>
            <a:ext cx="0" cy="155448"/>
          </a:xfrm>
          <a:prstGeom prst="line">
            <a:avLst/>
          </a:prstGeom>
          <a:noFill/>
          <a:ln w="15875">
            <a:solidFill>
              <a:schemeClr val="accent1"/>
            </a:solidFill>
            <a:prstDash val="solid"/>
          </a:ln>
        </p:spPr>
      </p:sp>
      <p:sp>
        <p:nvSpPr>
          <p:cNvPr id="13" name="Shape 10"/>
          <p:cNvSpPr/>
          <p:nvPr/>
        </p:nvSpPr>
        <p:spPr>
          <a:xfrm>
            <a:off x="493776" y="5468112"/>
            <a:ext cx="155448" cy="0"/>
          </a:xfrm>
          <a:prstGeom prst="line">
            <a:avLst/>
          </a:prstGeom>
          <a:noFill/>
          <a:ln w="15875">
            <a:solidFill>
              <a:schemeClr val="accent1"/>
            </a:solidFill>
            <a:prstDash val="solid"/>
          </a:ln>
        </p:spPr>
      </p:sp>
      <p:sp>
        <p:nvSpPr>
          <p:cNvPr id="14" name="Shape 11"/>
          <p:cNvSpPr/>
          <p:nvPr/>
        </p:nvSpPr>
        <p:spPr>
          <a:xfrm>
            <a:off x="493776" y="5312664"/>
            <a:ext cx="0" cy="155448"/>
          </a:xfrm>
          <a:prstGeom prst="line">
            <a:avLst/>
          </a:prstGeom>
          <a:noFill/>
          <a:ln w="15875">
            <a:solidFill>
              <a:schemeClr val="accent1"/>
            </a:solidFill>
            <a:prstDash val="solid"/>
          </a:ln>
        </p:spPr>
      </p:sp>
      <p:sp>
        <p:nvSpPr>
          <p:cNvPr id="15" name="Shape 12"/>
          <p:cNvSpPr/>
          <p:nvPr/>
        </p:nvSpPr>
        <p:spPr>
          <a:xfrm>
            <a:off x="6117336" y="5468112"/>
            <a:ext cx="155448" cy="0"/>
          </a:xfrm>
          <a:prstGeom prst="line">
            <a:avLst/>
          </a:prstGeom>
          <a:noFill/>
          <a:ln w="15875">
            <a:solidFill>
              <a:schemeClr val="accent1"/>
            </a:solidFill>
            <a:prstDash val="solid"/>
          </a:ln>
        </p:spPr>
      </p:sp>
      <p:sp>
        <p:nvSpPr>
          <p:cNvPr id="16" name="Shape 13"/>
          <p:cNvSpPr/>
          <p:nvPr/>
        </p:nvSpPr>
        <p:spPr>
          <a:xfrm>
            <a:off x="6272784" y="5312664"/>
            <a:ext cx="0" cy="155448"/>
          </a:xfrm>
          <a:prstGeom prst="line">
            <a:avLst/>
          </a:prstGeom>
          <a:noFill/>
          <a:ln w="15875">
            <a:solidFill>
              <a:schemeClr val="accent1"/>
            </a:solidFill>
            <a:prstDash val="solid"/>
          </a:ln>
        </p:spPr>
      </p:sp>
      <p:sp>
        <p:nvSpPr>
          <p:cNvPr id="17" name="Text 14"/>
          <p:cNvSpPr txBox="1"/>
          <p:nvPr/>
        </p:nvSpPr>
        <p:spPr>
          <a:xfrm>
            <a:off x="822960" y="2596896"/>
            <a:ext cx="5120640" cy="274320"/>
          </a:xfrm>
          <a:prstGeom prst="rect">
            <a:avLst/>
          </a:prstGeom>
          <a:noFill/>
          <a:ln/>
        </p:spPr>
        <p:txBody>
          <a:bodyPr wrap="square" lIns="0" tIns="0" rIns="0" bIns="0" rtlCol="0" anchor="t"/>
          <a:lstStyle/>
          <a:p>
            <a:pPr indent="0" marL="0">
              <a:buNone/>
            </a:pPr>
            <a:r>
              <a:rPr lang="es-CL" altLang="en-US" sz="1600" spc="100" kern="0" dirty="0">
                <a:solidFill>
                  <a:schemeClr val="accent1"/>
                </a:solidFill>
                <a:latin typeface="IBM Plex Mono" pitchFamily="34" charset="0"/>
                <a:ea typeface="IBM Plex Mono" pitchFamily="34" charset="-122"/>
                <a:cs typeface="IBM Plex Mono" pitchFamily="34" charset="-120"/>
              </a:rPr>
              <a:t>C01 · VALOR ENTREGADO</a:t>
            </a:r>
            <a:endParaRPr lang="es-CL" sz="1600" dirty="0"/>
          </a:p>
        </p:txBody>
      </p:sp>
      <p:sp>
        <p:nvSpPr>
          <p:cNvPr id="18" name="Text 15"/>
          <p:cNvSpPr txBox="1"/>
          <p:nvPr/>
        </p:nvSpPr>
        <p:spPr>
          <a:xfrm>
            <a:off x="822960" y="2962656"/>
            <a:ext cx="5120640" cy="1097280"/>
          </a:xfrm>
          <a:prstGeom prst="rect">
            <a:avLst/>
          </a:prstGeom>
          <a:noFill/>
          <a:ln/>
        </p:spPr>
        <p:txBody>
          <a:bodyPr wrap="square" lIns="0" tIns="0" rIns="0" bIns="0" rtlCol="0" anchor="t"/>
          <a:lstStyle/>
          <a:p>
            <a:pPr indent="0" marL="0">
              <a:lnSpc>
                <a:spcPct val="100000"/>
              </a:lnSpc>
              <a:buNone/>
            </a:pPr>
            <a:r>
              <a:rPr lang="es-CL" altLang="en-US" sz="2200" b="1" dirty="0">
                <a:solidFill>
                  <a:schemeClr val="tx1"/>
                </a:solidFill>
                <a:latin typeface="Figtree" pitchFamily="34" charset="0"/>
                <a:ea typeface="Figtree" pitchFamily="34" charset="-122"/>
                <a:cs typeface="Figtree" pitchFamily="34" charset="-120"/>
              </a:rPr>
              <a:t>Informe individual de ahorro, antes y después, en condiciones comparables</a:t>
            </a:r>
            <a:endParaRPr lang="es-CL" sz="2200" dirty="0"/>
          </a:p>
        </p:txBody>
      </p:sp>
      <p:sp>
        <p:nvSpPr>
          <p:cNvPr id="19" name="Text 16"/>
          <p:cNvSpPr txBox="1"/>
          <p:nvPr/>
        </p:nvSpPr>
        <p:spPr>
          <a:xfrm>
            <a:off x="822960" y="3877056"/>
            <a:ext cx="5120640" cy="566928"/>
          </a:xfrm>
          <a:prstGeom prst="rect">
            <a:avLst/>
          </a:prstGeom>
          <a:noFill/>
          <a:ln/>
        </p:spPr>
        <p:txBody>
          <a:bodyPr wrap="square" lIns="0" tIns="0" rIns="0" bIns="0" rtlCol="0" anchor="t"/>
          <a:lstStyle/>
          <a:p>
            <a:pPr indent="0" marL="0">
              <a:buNone/>
            </a:pPr>
            <a:r>
              <a:rPr lang="es-CL" altLang="en-US" sz="1800" dirty="0">
                <a:solidFill>
                  <a:schemeClr val="tx2"/>
                </a:solidFill>
                <a:latin typeface="Figtree" pitchFamily="34" charset="0"/>
                <a:ea typeface="Figtree" pitchFamily="34" charset="-122"/>
                <a:cs typeface="Figtree" pitchFamily="34" charset="-120"/>
              </a:rPr>
              <a:t>Si el ahorro difiere, se revisan el dato base y la calibración, y se explica al cliente.</a:t>
            </a:r>
            <a:endParaRPr lang="es-CL" sz="1800" dirty="0"/>
          </a:p>
        </p:txBody>
      </p:sp>
      <p:sp>
        <p:nvSpPr>
          <p:cNvPr id="20" name="Text 17"/>
          <p:cNvSpPr txBox="1"/>
          <p:nvPr/>
        </p:nvSpPr>
        <p:spPr>
          <a:xfrm>
            <a:off x="822960" y="4809744"/>
            <a:ext cx="731520" cy="420624"/>
          </a:xfrm>
          <a:prstGeom prst="rect">
            <a:avLst/>
          </a:prstGeom>
          <a:noFill/>
          <a:ln/>
        </p:spPr>
        <p:txBody>
          <a:bodyPr wrap="square" lIns="0" tIns="0" rIns="0" bIns="0" rtlCol="0" anchor="ctr"/>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META</a:t>
            </a:r>
            <a:endParaRPr lang="es-CL" sz="1400" dirty="0"/>
          </a:p>
        </p:txBody>
      </p:sp>
      <p:sp>
        <p:nvSpPr>
          <p:cNvPr id="21" name="Text 18"/>
          <p:cNvSpPr txBox="1"/>
          <p:nvPr/>
        </p:nvSpPr>
        <p:spPr>
          <a:xfrm>
            <a:off x="1508760" y="4736592"/>
            <a:ext cx="1371600" cy="548640"/>
          </a:xfrm>
          <a:prstGeom prst="rect">
            <a:avLst/>
          </a:prstGeom>
          <a:noFill/>
          <a:ln/>
        </p:spPr>
        <p:txBody>
          <a:bodyPr wrap="square" lIns="0" tIns="0" rIns="0" bIns="0" rtlCol="0" anchor="ctr"/>
          <a:lstStyle/>
          <a:p>
            <a:pPr indent="0" marL="0">
              <a:buNone/>
            </a:pPr>
            <a:r>
              <a:rPr lang="es-CL" altLang="en-US" sz="3600" b="1" dirty="0">
                <a:solidFill>
                  <a:schemeClr val="accent1"/>
                </a:solidFill>
                <a:latin typeface="Archivo Condensed" pitchFamily="34" charset="0"/>
                <a:ea typeface="Archivo Condensed" pitchFamily="34" charset="-122"/>
                <a:cs typeface="Archivo Condensed" pitchFamily="34" charset="-120"/>
              </a:rPr>
              <a:t>100%</a:t>
            </a:r>
            <a:endParaRPr lang="es-CL" sz="3600" dirty="0"/>
          </a:p>
        </p:txBody>
      </p:sp>
      <p:sp>
        <p:nvSpPr>
          <p:cNvPr id="22" name="Shape 19"/>
          <p:cNvSpPr/>
          <p:nvPr/>
        </p:nvSpPr>
        <p:spPr>
          <a:xfrm>
            <a:off x="4183380" y="4791456"/>
            <a:ext cx="1760220" cy="420624"/>
          </a:xfrm>
          <a:prstGeom prst="rect">
            <a:avLst/>
          </a:prstGeom>
          <a:solidFill>
            <a:schemeClr val="bg1">
              <a:alpha val="0"/>
            </a:schemeClr>
          </a:solidFill>
          <a:ln w="15875">
            <a:solidFill>
              <a:srgbClr val="8B9598"/>
            </a:solidFill>
            <a:prstDash val="solid"/>
          </a:ln>
        </p:spPr>
      </p:sp>
      <p:sp>
        <p:nvSpPr>
          <p:cNvPr id="23" name="Shape 20"/>
          <p:cNvSpPr/>
          <p:nvPr/>
        </p:nvSpPr>
        <p:spPr>
          <a:xfrm>
            <a:off x="4320540" y="4928616"/>
            <a:ext cx="146304" cy="146304"/>
          </a:xfrm>
          <a:prstGeom prst="ellipse">
            <a:avLst/>
          </a:prstGeom>
          <a:solidFill>
            <a:srgbClr val="8B9598"/>
          </a:solidFill>
          <a:ln/>
        </p:spPr>
      </p:sp>
      <p:sp>
        <p:nvSpPr>
          <p:cNvPr id="24" name="Text 21"/>
          <p:cNvSpPr txBox="1"/>
          <p:nvPr/>
        </p:nvSpPr>
        <p:spPr>
          <a:xfrm>
            <a:off x="4549140" y="4791456"/>
            <a:ext cx="1303020" cy="420624"/>
          </a:xfrm>
          <a:prstGeom prst="rect">
            <a:avLst/>
          </a:prstGeom>
          <a:noFill/>
          <a:ln/>
        </p:spPr>
        <p:txBody>
          <a:bodyPr wrap="square" lIns="0" tIns="0" rIns="0" bIns="0" rtlCol="0" anchor="ctr"/>
          <a:lstStyle/>
          <a:p>
            <a:pPr indent="0" marL="0">
              <a:buNone/>
            </a:pPr>
            <a:r>
              <a:rPr lang="es-CL" altLang="en-US" sz="1600" b="1" spc="100" kern="0" dirty="0">
                <a:solidFill>
                  <a:srgbClr val="8B9598"/>
                </a:solidFill>
                <a:latin typeface="IBM Plex Mono" pitchFamily="34" charset="0"/>
                <a:ea typeface="IBM Plex Mono" pitchFamily="34" charset="-122"/>
                <a:cs typeface="IBM Plex Mono" pitchFamily="34" charset="-120"/>
              </a:rPr>
              <a:t>SIN MEDIR</a:t>
            </a:r>
            <a:endParaRPr lang="es-CL" sz="1600" dirty="0"/>
          </a:p>
        </p:txBody>
      </p:sp>
      <p:sp>
        <p:nvSpPr>
          <p:cNvPr id="25" name="Shape 22"/>
          <p:cNvSpPr/>
          <p:nvPr/>
        </p:nvSpPr>
        <p:spPr>
          <a:xfrm>
            <a:off x="6675120" y="2395728"/>
            <a:ext cx="4967935" cy="1371600"/>
          </a:xfrm>
          <a:prstGeom prst="rect">
            <a:avLst/>
          </a:prstGeom>
          <a:solidFill>
            <a:schemeClr val="bg2"/>
          </a:solidFill>
          <a:ln w="9525">
            <a:solidFill>
              <a:srgbClr val="8B9598"/>
            </a:solidFill>
            <a:prstDash val="solid"/>
          </a:ln>
        </p:spPr>
      </p:sp>
      <p:sp>
        <p:nvSpPr>
          <p:cNvPr id="26" name="Text 23"/>
          <p:cNvSpPr txBox="1"/>
          <p:nvPr/>
        </p:nvSpPr>
        <p:spPr>
          <a:xfrm>
            <a:off x="6903720" y="2560320"/>
            <a:ext cx="4510735" cy="274320"/>
          </a:xfrm>
          <a:prstGeom prst="rect">
            <a:avLst/>
          </a:prstGeom>
          <a:noFill/>
          <a:ln/>
        </p:spPr>
        <p:txBody>
          <a:bodyPr wrap="square" lIns="0" tIns="0" rIns="0" bIns="0" rtlCol="0" anchor="t"/>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C02 · CONFIANZA</a:t>
            </a:r>
            <a:endParaRPr lang="es-CL" sz="1400" dirty="0"/>
          </a:p>
        </p:txBody>
      </p:sp>
      <p:sp>
        <p:nvSpPr>
          <p:cNvPr id="27" name="Shape 24"/>
          <p:cNvSpPr/>
          <p:nvPr/>
        </p:nvSpPr>
        <p:spPr>
          <a:xfrm>
            <a:off x="9974275" y="2505456"/>
            <a:ext cx="1485900" cy="329184"/>
          </a:xfrm>
          <a:prstGeom prst="rect">
            <a:avLst/>
          </a:prstGeom>
          <a:solidFill>
            <a:schemeClr val="bg1">
              <a:alpha val="0"/>
            </a:schemeClr>
          </a:solidFill>
          <a:ln w="15875">
            <a:solidFill>
              <a:srgbClr val="8B9598"/>
            </a:solidFill>
            <a:prstDash val="solid"/>
          </a:ln>
        </p:spPr>
      </p:sp>
      <p:sp>
        <p:nvSpPr>
          <p:cNvPr id="28" name="Shape 25"/>
          <p:cNvSpPr/>
          <p:nvPr/>
        </p:nvSpPr>
        <p:spPr>
          <a:xfrm>
            <a:off x="10111435" y="2604211"/>
            <a:ext cx="131674" cy="131674"/>
          </a:xfrm>
          <a:prstGeom prst="ellipse">
            <a:avLst/>
          </a:prstGeom>
          <a:solidFill>
            <a:srgbClr val="8B9598"/>
          </a:solidFill>
          <a:ln/>
        </p:spPr>
      </p:sp>
      <p:sp>
        <p:nvSpPr>
          <p:cNvPr id="29" name="Text 26"/>
          <p:cNvSpPr txBox="1"/>
          <p:nvPr/>
        </p:nvSpPr>
        <p:spPr>
          <a:xfrm>
            <a:off x="10340035" y="2505456"/>
            <a:ext cx="1028700" cy="329184"/>
          </a:xfrm>
          <a:prstGeom prst="rect">
            <a:avLst/>
          </a:prstGeom>
          <a:noFill/>
          <a:ln/>
        </p:spPr>
        <p:txBody>
          <a:bodyPr wrap="square" lIns="0" tIns="0" rIns="0" bIns="0" rtlCol="0" anchor="ctr"/>
          <a:lstStyle/>
          <a:p>
            <a:pPr indent="0" marL="0">
              <a:buNone/>
            </a:pPr>
            <a:r>
              <a:rPr lang="es-CL" altLang="en-US" sz="1200" b="1" spc="100" kern="0" dirty="0">
                <a:solidFill>
                  <a:srgbClr val="8B9598"/>
                </a:solidFill>
                <a:latin typeface="IBM Plex Mono" pitchFamily="34" charset="0"/>
                <a:ea typeface="IBM Plex Mono" pitchFamily="34" charset="-122"/>
                <a:cs typeface="IBM Plex Mono" pitchFamily="34" charset="-120"/>
              </a:rPr>
              <a:t>SIN MEDIR</a:t>
            </a:r>
            <a:endParaRPr lang="es-CL" sz="1200" dirty="0"/>
          </a:p>
        </p:txBody>
      </p:sp>
      <p:sp>
        <p:nvSpPr>
          <p:cNvPr id="30" name="Text 27"/>
          <p:cNvSpPr txBox="1"/>
          <p:nvPr/>
        </p:nvSpPr>
        <p:spPr>
          <a:xfrm>
            <a:off x="6903720" y="2907792"/>
            <a:ext cx="4510735" cy="749808"/>
          </a:xfrm>
          <a:prstGeom prst="rect">
            <a:avLst/>
          </a:prstGeom>
          <a:noFill/>
          <a:ln/>
        </p:spPr>
        <p:txBody>
          <a:bodyPr wrap="square" lIns="0" tIns="0" rIns="0" bIns="0" rtlCol="0" anchor="t"/>
          <a:lstStyle/>
          <a:p>
            <a:pPr indent="0" marL="0">
              <a:buNone/>
            </a:pPr>
            <a:r>
              <a:rPr lang="es-CL" altLang="en-US" sz="1800" dirty="0">
                <a:solidFill>
                  <a:schemeClr val="tx1"/>
                </a:solidFill>
                <a:latin typeface="Figtree" pitchFamily="34" charset="0"/>
                <a:ea typeface="Figtree" pitchFamily="34" charset="-122"/>
                <a:cs typeface="Figtree" pitchFamily="34" charset="-120"/>
              </a:rPr>
              <a:t>Protocolo con una aseguradora y una planta de revisión técnica</a:t>
            </a:r>
            <a:endParaRPr lang="es-CL" sz="1800" dirty="0"/>
          </a:p>
        </p:txBody>
      </p:sp>
      <p:sp>
        <p:nvSpPr>
          <p:cNvPr id="31" name="Shape 28"/>
          <p:cNvSpPr/>
          <p:nvPr/>
        </p:nvSpPr>
        <p:spPr>
          <a:xfrm>
            <a:off x="6675120" y="4041648"/>
            <a:ext cx="4967935" cy="1371600"/>
          </a:xfrm>
          <a:prstGeom prst="rect">
            <a:avLst/>
          </a:prstGeom>
          <a:solidFill>
            <a:schemeClr val="bg2"/>
          </a:solidFill>
          <a:ln w="9525">
            <a:solidFill>
              <a:srgbClr val="8B9598"/>
            </a:solidFill>
            <a:prstDash val="solid"/>
          </a:ln>
        </p:spPr>
      </p:sp>
      <p:sp>
        <p:nvSpPr>
          <p:cNvPr id="32" name="Text 29"/>
          <p:cNvSpPr txBox="1"/>
          <p:nvPr/>
        </p:nvSpPr>
        <p:spPr>
          <a:xfrm>
            <a:off x="6903720" y="4206240"/>
            <a:ext cx="4510735" cy="274320"/>
          </a:xfrm>
          <a:prstGeom prst="rect">
            <a:avLst/>
          </a:prstGeom>
          <a:noFill/>
          <a:ln/>
        </p:spPr>
        <p:txBody>
          <a:bodyPr wrap="square" lIns="0" tIns="0" rIns="0" bIns="0" rtlCol="0" anchor="t"/>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C03 · FOCO COMERCIAL</a:t>
            </a:r>
            <a:endParaRPr lang="es-CL" sz="1400" dirty="0"/>
          </a:p>
        </p:txBody>
      </p:sp>
      <p:sp>
        <p:nvSpPr>
          <p:cNvPr id="33" name="Shape 30"/>
          <p:cNvSpPr/>
          <p:nvPr/>
        </p:nvSpPr>
        <p:spPr>
          <a:xfrm>
            <a:off x="10003739" y="4151376"/>
            <a:ext cx="1456436" cy="329184"/>
          </a:xfrm>
          <a:prstGeom prst="rect">
            <a:avLst/>
          </a:prstGeom>
          <a:solidFill>
            <a:schemeClr val="bg1">
              <a:alpha val="0"/>
            </a:schemeClr>
          </a:solidFill>
          <a:ln w="12700">
            <a:solidFill>
              <a:schemeClr val="tx2"/>
            </a:solidFill>
            <a:prstDash val="sysDot"/>
          </a:ln>
        </p:spPr>
      </p:sp>
      <p:sp>
        <p:nvSpPr>
          <p:cNvPr id="34" name="Text 31"/>
          <p:cNvSpPr txBox="1"/>
          <p:nvPr/>
        </p:nvSpPr>
        <p:spPr>
          <a:xfrm>
            <a:off x="10113467" y="4151376"/>
            <a:ext cx="1236980" cy="329184"/>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ORIENTATIVA</a:t>
            </a:r>
            <a:endParaRPr lang="es-CL" sz="1200" dirty="0"/>
          </a:p>
        </p:txBody>
      </p:sp>
      <p:sp>
        <p:nvSpPr>
          <p:cNvPr id="35" name="Text 32"/>
          <p:cNvSpPr txBox="1"/>
          <p:nvPr/>
        </p:nvSpPr>
        <p:spPr>
          <a:xfrm>
            <a:off x="6903720" y="4553712"/>
            <a:ext cx="4510735" cy="749808"/>
          </a:xfrm>
          <a:prstGeom prst="rect">
            <a:avLst/>
          </a:prstGeom>
          <a:noFill/>
          <a:ln/>
        </p:spPr>
        <p:txBody>
          <a:bodyPr wrap="square" lIns="0" tIns="0" rIns="0" bIns="0" rtlCol="0" anchor="t"/>
          <a:lstStyle/>
          <a:p>
            <a:pPr indent="0" marL="0">
              <a:buNone/>
            </a:pPr>
            <a:r>
              <a:rPr lang="es-CL" altLang="en-US" sz="1800" dirty="0">
                <a:solidFill>
                  <a:schemeClr val="tx1"/>
                </a:solidFill>
                <a:latin typeface="Figtree" pitchFamily="34" charset="0"/>
                <a:ea typeface="Figtree" pitchFamily="34" charset="-122"/>
                <a:cs typeface="Figtree" pitchFamily="34" charset="-120"/>
              </a:rPr>
              <a:t>Más de 50% de consultas de uso intensivo, sin excluir particulares ni flotas</a:t>
            </a:r>
            <a:endParaRPr lang="es-CL" sz="1800" dirty="0"/>
          </a:p>
        </p:txBody>
      </p:sp>
      <p:sp>
        <p:nvSpPr>
          <p:cNvPr id="36" name="Shape 33"/>
          <p:cNvSpPr/>
          <p:nvPr/>
        </p:nvSpPr>
        <p:spPr>
          <a:xfrm>
            <a:off x="548640" y="5742432"/>
            <a:ext cx="11094415" cy="0"/>
          </a:xfrm>
          <a:prstGeom prst="line">
            <a:avLst/>
          </a:prstGeom>
          <a:noFill/>
          <a:ln w="9525">
            <a:solidFill>
              <a:schemeClr val="accent1"/>
            </a:solidFill>
            <a:prstDash val="solid"/>
          </a:ln>
        </p:spPr>
      </p:sp>
      <p:sp>
        <p:nvSpPr>
          <p:cNvPr id="37" name="Text 34"/>
          <p:cNvSpPr txBox="1"/>
          <p:nvPr/>
        </p:nvSpPr>
        <p:spPr>
          <a:xfrm>
            <a:off x="548640" y="5870448"/>
            <a:ext cx="11094415" cy="457200"/>
          </a:xfrm>
          <a:prstGeom prst="rect">
            <a:avLst/>
          </a:prstGeom>
          <a:noFill/>
          <a:ln/>
        </p:spPr>
        <p:txBody>
          <a:bodyPr wrap="square" lIns="0" tIns="0" rIns="0" bIns="0" rtlCol="0" anchor="ctr"/>
          <a:lstStyle/>
          <a:p>
            <a:pPr indent="0" marL="0">
              <a:buNone/>
            </a:pPr>
            <a:r>
              <a:rPr lang="es-CL" altLang="en-US" sz="2400" b="1" dirty="0">
                <a:solidFill>
                  <a:schemeClr val="tx1"/>
                </a:solidFill>
                <a:latin typeface="Figtree" pitchFamily="34" charset="0"/>
                <a:ea typeface="Figtree" pitchFamily="34" charset="-122"/>
                <a:cs typeface="Figtree" pitchFamily="34" charset="-120"/>
              </a:rPr>
              <a:t>El centro es lo que recibe el cliente, </a:t>
            </a:r>
            <a:pPr indent="0" marL="0">
              <a:buNone/>
            </a:pPr>
            <a:r>
              <a:rPr lang="es-CL" altLang="en-US" sz="2400" b="1" dirty="0">
                <a:solidFill>
                  <a:schemeClr val="accent1"/>
                </a:solidFill>
                <a:latin typeface="Figtree" pitchFamily="34" charset="0"/>
                <a:ea typeface="Figtree" pitchFamily="34" charset="-122"/>
                <a:cs typeface="Figtree" pitchFamily="34" charset="-120"/>
              </a:rPr>
              <a:t>no los canales ni los convenios.</a:t>
            </a:r>
            <a:endParaRPr lang="es-CL" sz="24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07</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PERSPECTIVA FINANCIERA · EVA</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¿LA RENTABILIDAD SUPERA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el costo de capital?</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módulo 4 del curso (empresa genérica en US$, no Lumine); Excel de la Solemne 2, hoja EVA.</a:t>
            </a:r>
            <a:endParaRPr lang="es-CL" sz="1100" dirty="0"/>
          </a:p>
        </p:txBody>
      </p:sp>
      <p:sp>
        <p:nvSpPr>
          <p:cNvPr id="5" name="Text 3"/>
          <p:cNvSpPr txBox="1"/>
          <p:nvPr/>
        </p:nvSpPr>
        <p:spPr>
          <a:xfrm>
            <a:off x="548640" y="2340864"/>
            <a:ext cx="11094415" cy="640080"/>
          </a:xfrm>
          <a:prstGeom prst="rect">
            <a:avLst/>
          </a:prstGeom>
          <a:noFill/>
          <a:ln/>
        </p:spPr>
        <p:txBody>
          <a:bodyPr wrap="square" lIns="0" tIns="0" rIns="0" bIns="0" rtlCol="0" anchor="ctr"/>
          <a:lstStyle/>
          <a:p>
            <a:pPr indent="0" marL="0">
              <a:buNone/>
            </a:pPr>
            <a:r>
              <a:rPr lang="es-CL" altLang="en-US" sz="4000" b="1" dirty="0">
                <a:solidFill>
                  <a:schemeClr val="accent1"/>
                </a:solidFill>
                <a:latin typeface="Archivo Condensed" pitchFamily="34" charset="0"/>
                <a:ea typeface="Archivo Condensed" pitchFamily="34" charset="-122"/>
                <a:cs typeface="Archivo Condensed" pitchFamily="34" charset="-120"/>
              </a:rPr>
              <a:t>EVA</a:t>
            </a:r>
            <a:pPr indent="0" marL="0">
              <a:buNone/>
            </a:pPr>
            <a:r>
              <a:rPr lang="es-CL" altLang="en-US" sz="4000" b="1" dirty="0">
                <a:solidFill>
                  <a:schemeClr val="tx1"/>
                </a:solidFill>
                <a:latin typeface="Archivo Condensed" pitchFamily="34" charset="0"/>
                <a:ea typeface="Archivo Condensed" pitchFamily="34" charset="-122"/>
                <a:cs typeface="Archivo Condensed" pitchFamily="34" charset="-120"/>
              </a:rPr>
              <a:t>  =  NOPAT  −  CAPITAL INVERTIDO  ×  WACC</a:t>
            </a:r>
            <a:endParaRPr lang="es-CL" sz="4000" dirty="0"/>
          </a:p>
        </p:txBody>
      </p:sp>
      <p:sp>
        <p:nvSpPr>
          <p:cNvPr id="6" name="Text 4"/>
          <p:cNvSpPr txBox="1"/>
          <p:nvPr/>
        </p:nvSpPr>
        <p:spPr>
          <a:xfrm>
            <a:off x="548640" y="2999232"/>
            <a:ext cx="11094415" cy="329184"/>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NOPAT: </a:t>
            </a:r>
            <a:pPr indent="0" marL="0">
              <a:buNone/>
            </a:pPr>
            <a:r>
              <a:rPr lang="es-CL" altLang="en-US" sz="1800" dirty="0">
                <a:solidFill>
                  <a:schemeClr val="tx2"/>
                </a:solidFill>
                <a:latin typeface="Figtree" pitchFamily="34" charset="0"/>
                <a:ea typeface="Figtree" pitchFamily="34" charset="-122"/>
                <a:cs typeface="Figtree" pitchFamily="34" charset="-120"/>
              </a:rPr>
              <a:t>resultado operativo después de impuestos   ·   </a:t>
            </a:r>
            <a:pPr indent="0" marL="0">
              <a:buNone/>
            </a:pPr>
            <a:r>
              <a:rPr lang="es-CL" altLang="en-US" sz="1800" b="1" dirty="0">
                <a:solidFill>
                  <a:schemeClr val="tx1"/>
                </a:solidFill>
                <a:latin typeface="Figtree" pitchFamily="34" charset="0"/>
                <a:ea typeface="Figtree" pitchFamily="34" charset="-122"/>
                <a:cs typeface="Figtree" pitchFamily="34" charset="-120"/>
              </a:rPr>
              <a:t>WACC: </a:t>
            </a:r>
            <a:pPr indent="0" marL="0">
              <a:buNone/>
            </a:pPr>
            <a:r>
              <a:rPr lang="es-CL" altLang="en-US" sz="1800" dirty="0">
                <a:solidFill>
                  <a:schemeClr val="tx2"/>
                </a:solidFill>
                <a:latin typeface="Figtree" pitchFamily="34" charset="0"/>
                <a:ea typeface="Figtree" pitchFamily="34" charset="-122"/>
                <a:cs typeface="Figtree" pitchFamily="34" charset="-120"/>
              </a:rPr>
              <a:t>costo promedio ponderado del capital</a:t>
            </a:r>
            <a:endParaRPr lang="es-CL" sz="1800" dirty="0"/>
          </a:p>
        </p:txBody>
      </p:sp>
      <p:sp>
        <p:nvSpPr>
          <p:cNvPr id="7" name="Shape 5"/>
          <p:cNvSpPr/>
          <p:nvPr/>
        </p:nvSpPr>
        <p:spPr>
          <a:xfrm>
            <a:off x="548640" y="3584448"/>
            <a:ext cx="6492240" cy="2596896"/>
          </a:xfrm>
          <a:prstGeom prst="rect">
            <a:avLst/>
          </a:prstGeom>
          <a:solidFill>
            <a:srgbClr val="0B1A22"/>
          </a:solidFill>
          <a:ln w="15875">
            <a:solidFill>
              <a:schemeClr val="accent1"/>
            </a:solidFill>
            <a:prstDash val="solid"/>
          </a:ln>
        </p:spPr>
      </p:sp>
      <p:sp>
        <p:nvSpPr>
          <p:cNvPr id="8" name="Shape 6"/>
          <p:cNvSpPr/>
          <p:nvPr/>
        </p:nvSpPr>
        <p:spPr>
          <a:xfrm>
            <a:off x="493776" y="3529584"/>
            <a:ext cx="155448" cy="0"/>
          </a:xfrm>
          <a:prstGeom prst="line">
            <a:avLst/>
          </a:prstGeom>
          <a:noFill/>
          <a:ln w="15875">
            <a:solidFill>
              <a:schemeClr val="accent1"/>
            </a:solidFill>
            <a:prstDash val="solid"/>
          </a:ln>
        </p:spPr>
      </p:sp>
      <p:sp>
        <p:nvSpPr>
          <p:cNvPr id="9" name="Shape 7"/>
          <p:cNvSpPr/>
          <p:nvPr/>
        </p:nvSpPr>
        <p:spPr>
          <a:xfrm>
            <a:off x="493776" y="3529584"/>
            <a:ext cx="0" cy="155448"/>
          </a:xfrm>
          <a:prstGeom prst="line">
            <a:avLst/>
          </a:prstGeom>
          <a:noFill/>
          <a:ln w="15875">
            <a:solidFill>
              <a:schemeClr val="accent1"/>
            </a:solidFill>
            <a:prstDash val="solid"/>
          </a:ln>
        </p:spPr>
      </p:sp>
      <p:sp>
        <p:nvSpPr>
          <p:cNvPr id="10" name="Shape 8"/>
          <p:cNvSpPr/>
          <p:nvPr/>
        </p:nvSpPr>
        <p:spPr>
          <a:xfrm>
            <a:off x="6940296" y="3529584"/>
            <a:ext cx="155448" cy="0"/>
          </a:xfrm>
          <a:prstGeom prst="line">
            <a:avLst/>
          </a:prstGeom>
          <a:noFill/>
          <a:ln w="15875">
            <a:solidFill>
              <a:schemeClr val="accent1"/>
            </a:solidFill>
            <a:prstDash val="solid"/>
          </a:ln>
        </p:spPr>
      </p:sp>
      <p:sp>
        <p:nvSpPr>
          <p:cNvPr id="11" name="Shape 9"/>
          <p:cNvSpPr/>
          <p:nvPr/>
        </p:nvSpPr>
        <p:spPr>
          <a:xfrm>
            <a:off x="7095744" y="3529584"/>
            <a:ext cx="0" cy="155448"/>
          </a:xfrm>
          <a:prstGeom prst="line">
            <a:avLst/>
          </a:prstGeom>
          <a:noFill/>
          <a:ln w="15875">
            <a:solidFill>
              <a:schemeClr val="accent1"/>
            </a:solidFill>
            <a:prstDash val="solid"/>
          </a:ln>
        </p:spPr>
      </p:sp>
      <p:sp>
        <p:nvSpPr>
          <p:cNvPr id="12" name="Shape 10"/>
          <p:cNvSpPr/>
          <p:nvPr/>
        </p:nvSpPr>
        <p:spPr>
          <a:xfrm>
            <a:off x="493776" y="6236208"/>
            <a:ext cx="155448" cy="0"/>
          </a:xfrm>
          <a:prstGeom prst="line">
            <a:avLst/>
          </a:prstGeom>
          <a:noFill/>
          <a:ln w="15875">
            <a:solidFill>
              <a:schemeClr val="accent1"/>
            </a:solidFill>
            <a:prstDash val="solid"/>
          </a:ln>
        </p:spPr>
      </p:sp>
      <p:sp>
        <p:nvSpPr>
          <p:cNvPr id="13" name="Shape 11"/>
          <p:cNvSpPr/>
          <p:nvPr/>
        </p:nvSpPr>
        <p:spPr>
          <a:xfrm>
            <a:off x="493776" y="6080760"/>
            <a:ext cx="0" cy="155448"/>
          </a:xfrm>
          <a:prstGeom prst="line">
            <a:avLst/>
          </a:prstGeom>
          <a:noFill/>
          <a:ln w="15875">
            <a:solidFill>
              <a:schemeClr val="accent1"/>
            </a:solidFill>
            <a:prstDash val="solid"/>
          </a:ln>
        </p:spPr>
      </p:sp>
      <p:sp>
        <p:nvSpPr>
          <p:cNvPr id="14" name="Shape 12"/>
          <p:cNvSpPr/>
          <p:nvPr/>
        </p:nvSpPr>
        <p:spPr>
          <a:xfrm>
            <a:off x="6940296" y="6236208"/>
            <a:ext cx="155448" cy="0"/>
          </a:xfrm>
          <a:prstGeom prst="line">
            <a:avLst/>
          </a:prstGeom>
          <a:noFill/>
          <a:ln w="15875">
            <a:solidFill>
              <a:schemeClr val="accent1"/>
            </a:solidFill>
            <a:prstDash val="solid"/>
          </a:ln>
        </p:spPr>
      </p:sp>
      <p:sp>
        <p:nvSpPr>
          <p:cNvPr id="15" name="Shape 13"/>
          <p:cNvSpPr/>
          <p:nvPr/>
        </p:nvSpPr>
        <p:spPr>
          <a:xfrm>
            <a:off x="7095744" y="6080760"/>
            <a:ext cx="0" cy="155448"/>
          </a:xfrm>
          <a:prstGeom prst="line">
            <a:avLst/>
          </a:prstGeom>
          <a:noFill/>
          <a:ln w="15875">
            <a:solidFill>
              <a:schemeClr val="accent1"/>
            </a:solidFill>
            <a:prstDash val="solid"/>
          </a:ln>
        </p:spPr>
      </p:sp>
      <p:sp>
        <p:nvSpPr>
          <p:cNvPr id="16" name="Shape 14"/>
          <p:cNvSpPr/>
          <p:nvPr/>
        </p:nvSpPr>
        <p:spPr>
          <a:xfrm>
            <a:off x="822960" y="3803904"/>
            <a:ext cx="4080256" cy="420624"/>
          </a:xfrm>
          <a:prstGeom prst="rect">
            <a:avLst/>
          </a:prstGeom>
          <a:solidFill>
            <a:schemeClr val="bg1">
              <a:alpha val="0"/>
            </a:schemeClr>
          </a:solidFill>
          <a:ln w="19050">
            <a:solidFill>
              <a:schemeClr val="tx1"/>
            </a:solidFill>
            <a:prstDash val="dash"/>
          </a:ln>
        </p:spPr>
      </p:sp>
      <p:sp>
        <p:nvSpPr>
          <p:cNvPr id="17" name="Text 15"/>
          <p:cNvSpPr txBox="1"/>
          <p:nvPr/>
        </p:nvSpPr>
        <p:spPr>
          <a:xfrm>
            <a:off x="932688" y="3803904"/>
            <a:ext cx="3860800" cy="420624"/>
          </a:xfrm>
          <a:prstGeom prst="rect">
            <a:avLst/>
          </a:prstGeom>
          <a:noFill/>
          <a:ln/>
        </p:spPr>
        <p:txBody>
          <a:bodyPr wrap="square" lIns="0" tIns="0" rIns="0" bIns="0" rtlCol="0" anchor="ctr"/>
          <a:lstStyle/>
          <a:p>
            <a:pPr algn="ctr" indent="0" marL="0">
              <a:buNone/>
            </a:pPr>
            <a:r>
              <a:rPr lang="es-CL" altLang="en-US" sz="1600" b="1" spc="100" kern="0" dirty="0">
                <a:solidFill>
                  <a:schemeClr val="tx1"/>
                </a:solidFill>
                <a:latin typeface="IBM Plex Mono" pitchFamily="34" charset="0"/>
                <a:ea typeface="IBM Plex Mono" pitchFamily="34" charset="-122"/>
                <a:cs typeface="IBM Plex Mono" pitchFamily="34" charset="-120"/>
              </a:rPr>
              <a:t>EJEMPLO DE CLASE · NO LUMINE</a:t>
            </a:r>
            <a:endParaRPr lang="es-CL" sz="1600" dirty="0"/>
          </a:p>
        </p:txBody>
      </p:sp>
      <p:sp>
        <p:nvSpPr>
          <p:cNvPr id="18" name="Text 16"/>
          <p:cNvSpPr txBox="1"/>
          <p:nvPr/>
        </p:nvSpPr>
        <p:spPr>
          <a:xfrm>
            <a:off x="822960" y="4370832"/>
            <a:ext cx="3840480" cy="457200"/>
          </a:xfrm>
          <a:prstGeom prst="rect">
            <a:avLst/>
          </a:prstGeom>
          <a:noFill/>
          <a:ln/>
        </p:spPr>
        <p:txBody>
          <a:bodyPr wrap="square" lIns="0" tIns="0" rIns="0" bIns="0" rtlCol="0" anchor="ctr"/>
          <a:lstStyle/>
          <a:p>
            <a:pPr indent="0" marL="0">
              <a:buNone/>
            </a:pPr>
            <a:r>
              <a:rPr lang="es-CL" altLang="en-US" sz="2000" dirty="0">
                <a:solidFill>
                  <a:schemeClr val="tx1"/>
                </a:solidFill>
                <a:latin typeface="Figtree" pitchFamily="34" charset="0"/>
                <a:ea typeface="Figtree" pitchFamily="34" charset="-122"/>
                <a:cs typeface="Figtree" pitchFamily="34" charset="-120"/>
              </a:rPr>
              <a:t>NOPAT</a:t>
            </a:r>
            <a:endParaRPr lang="es-CL" sz="2000" dirty="0"/>
          </a:p>
        </p:txBody>
      </p:sp>
      <p:sp>
        <p:nvSpPr>
          <p:cNvPr id="19" name="Text 17"/>
          <p:cNvSpPr txBox="1"/>
          <p:nvPr/>
        </p:nvSpPr>
        <p:spPr>
          <a:xfrm>
            <a:off x="3840480" y="4370832"/>
            <a:ext cx="2926080" cy="457200"/>
          </a:xfrm>
          <a:prstGeom prst="rect">
            <a:avLst/>
          </a:prstGeom>
          <a:noFill/>
          <a:ln/>
        </p:spPr>
        <p:txBody>
          <a:bodyPr wrap="square" lIns="0" tIns="0" rIns="0" bIns="0" rtlCol="0" anchor="ctr"/>
          <a:lstStyle/>
          <a:p>
            <a:pPr algn="r" indent="0" marL="0">
              <a:buNone/>
            </a:pPr>
            <a:r>
              <a:rPr lang="es-CL" altLang="en-US" sz="3000" b="1" dirty="0">
                <a:solidFill>
                  <a:schemeClr val="tx1"/>
                </a:solidFill>
                <a:latin typeface="Archivo Condensed" pitchFamily="34" charset="0"/>
                <a:ea typeface="Archivo Condensed" pitchFamily="34" charset="-122"/>
                <a:cs typeface="Archivo Condensed" pitchFamily="34" charset="-120"/>
              </a:rPr>
              <a:t>US$ 150.000</a:t>
            </a:r>
            <a:endParaRPr lang="es-CL" sz="3000" dirty="0"/>
          </a:p>
        </p:txBody>
      </p:sp>
      <p:sp>
        <p:nvSpPr>
          <p:cNvPr id="20" name="Text 18"/>
          <p:cNvSpPr txBox="1"/>
          <p:nvPr/>
        </p:nvSpPr>
        <p:spPr>
          <a:xfrm>
            <a:off x="822960" y="4864608"/>
            <a:ext cx="3840480" cy="457200"/>
          </a:xfrm>
          <a:prstGeom prst="rect">
            <a:avLst/>
          </a:prstGeom>
          <a:noFill/>
          <a:ln/>
        </p:spPr>
        <p:txBody>
          <a:bodyPr wrap="square" lIns="0" tIns="0" rIns="0" bIns="0" rtlCol="0" anchor="ctr"/>
          <a:lstStyle/>
          <a:p>
            <a:pPr indent="0" marL="0">
              <a:buNone/>
            </a:pPr>
            <a:r>
              <a:rPr lang="es-CL" altLang="en-US" sz="1800" dirty="0">
                <a:solidFill>
                  <a:schemeClr val="tx2"/>
                </a:solidFill>
                <a:latin typeface="Figtree" pitchFamily="34" charset="0"/>
                <a:ea typeface="Figtree" pitchFamily="34" charset="-122"/>
                <a:cs typeface="Figtree" pitchFamily="34" charset="-120"/>
              </a:rPr>
              <a:t>Cargo por capital: 1.000.000 × 12%</a:t>
            </a:r>
            <a:endParaRPr lang="es-CL" sz="1800" dirty="0"/>
          </a:p>
        </p:txBody>
      </p:sp>
      <p:sp>
        <p:nvSpPr>
          <p:cNvPr id="21" name="Text 19"/>
          <p:cNvSpPr txBox="1"/>
          <p:nvPr/>
        </p:nvSpPr>
        <p:spPr>
          <a:xfrm>
            <a:off x="3840480" y="4864608"/>
            <a:ext cx="2926080" cy="457200"/>
          </a:xfrm>
          <a:prstGeom prst="rect">
            <a:avLst/>
          </a:prstGeom>
          <a:noFill/>
          <a:ln/>
        </p:spPr>
        <p:txBody>
          <a:bodyPr wrap="square" lIns="0" tIns="0" rIns="0" bIns="0" rtlCol="0" anchor="ctr"/>
          <a:lstStyle/>
          <a:p>
            <a:pPr algn="r" indent="0" marL="0">
              <a:buNone/>
            </a:pPr>
            <a:r>
              <a:rPr lang="es-CL" altLang="en-US" sz="3000" b="1" dirty="0">
                <a:solidFill>
                  <a:schemeClr val="tx1"/>
                </a:solidFill>
                <a:latin typeface="Archivo Condensed" pitchFamily="34" charset="0"/>
                <a:ea typeface="Archivo Condensed" pitchFamily="34" charset="-122"/>
                <a:cs typeface="Archivo Condensed" pitchFamily="34" charset="-120"/>
              </a:rPr>
              <a:t>− US$ 120.000</a:t>
            </a:r>
            <a:endParaRPr lang="es-CL" sz="3000" dirty="0"/>
          </a:p>
        </p:txBody>
      </p:sp>
      <p:sp>
        <p:nvSpPr>
          <p:cNvPr id="22" name="Shape 20"/>
          <p:cNvSpPr/>
          <p:nvPr/>
        </p:nvSpPr>
        <p:spPr>
          <a:xfrm>
            <a:off x="822960" y="5413248"/>
            <a:ext cx="5943600" cy="0"/>
          </a:xfrm>
          <a:prstGeom prst="line">
            <a:avLst/>
          </a:prstGeom>
          <a:noFill/>
          <a:ln w="9525">
            <a:solidFill>
              <a:schemeClr val="accent1"/>
            </a:solidFill>
            <a:prstDash val="solid"/>
          </a:ln>
        </p:spPr>
      </p:sp>
      <p:sp>
        <p:nvSpPr>
          <p:cNvPr id="23" name="Text 21"/>
          <p:cNvSpPr txBox="1"/>
          <p:nvPr/>
        </p:nvSpPr>
        <p:spPr>
          <a:xfrm>
            <a:off x="822960" y="5522976"/>
            <a:ext cx="3840480" cy="457200"/>
          </a:xfrm>
          <a:prstGeom prst="rect">
            <a:avLst/>
          </a:prstGeom>
          <a:noFill/>
          <a:ln/>
        </p:spPr>
        <p:txBody>
          <a:bodyPr wrap="square" lIns="0" tIns="0" rIns="0" bIns="0" rtlCol="0" anchor="ctr"/>
          <a:lstStyle/>
          <a:p>
            <a:pPr indent="0" marL="0">
              <a:buNone/>
            </a:pPr>
            <a:r>
              <a:rPr lang="es-CL" altLang="en-US" sz="2000" b="1" dirty="0">
                <a:solidFill>
                  <a:schemeClr val="tx1"/>
                </a:solidFill>
                <a:latin typeface="Figtree" pitchFamily="34" charset="0"/>
                <a:ea typeface="Figtree" pitchFamily="34" charset="-122"/>
                <a:cs typeface="Figtree" pitchFamily="34" charset="-120"/>
              </a:rPr>
              <a:t>EVA</a:t>
            </a:r>
            <a:endParaRPr lang="es-CL" sz="2000" dirty="0"/>
          </a:p>
        </p:txBody>
      </p:sp>
      <p:sp>
        <p:nvSpPr>
          <p:cNvPr id="24" name="Text 22"/>
          <p:cNvSpPr txBox="1"/>
          <p:nvPr/>
        </p:nvSpPr>
        <p:spPr>
          <a:xfrm>
            <a:off x="3840480" y="5522976"/>
            <a:ext cx="2926080" cy="457200"/>
          </a:xfrm>
          <a:prstGeom prst="rect">
            <a:avLst/>
          </a:prstGeom>
          <a:noFill/>
          <a:ln/>
        </p:spPr>
        <p:txBody>
          <a:bodyPr wrap="square" lIns="0" tIns="0" rIns="0" bIns="0" rtlCol="0" anchor="ctr"/>
          <a:lstStyle/>
          <a:p>
            <a:pPr algn="r" indent="0" marL="0">
              <a:buNone/>
            </a:pPr>
            <a:r>
              <a:rPr lang="es-CL" altLang="en-US" sz="4400" b="1" dirty="0">
                <a:solidFill>
                  <a:schemeClr val="accent1"/>
                </a:solidFill>
                <a:latin typeface="Archivo Condensed" pitchFamily="34" charset="0"/>
                <a:ea typeface="Archivo Condensed" pitchFamily="34" charset="-122"/>
                <a:cs typeface="Archivo Condensed" pitchFamily="34" charset="-120"/>
              </a:rPr>
              <a:t>US$ 30.000</a:t>
            </a:r>
            <a:endParaRPr lang="es-CL" sz="4400" dirty="0"/>
          </a:p>
        </p:txBody>
      </p:sp>
      <p:sp>
        <p:nvSpPr>
          <p:cNvPr id="25" name="Shape 23"/>
          <p:cNvSpPr/>
          <p:nvPr/>
        </p:nvSpPr>
        <p:spPr>
          <a:xfrm>
            <a:off x="7498080" y="3584448"/>
            <a:ext cx="4144975" cy="2596896"/>
          </a:xfrm>
          <a:prstGeom prst="rect">
            <a:avLst/>
          </a:prstGeom>
          <a:solidFill>
            <a:schemeClr val="bg2"/>
          </a:solidFill>
          <a:ln w="9525">
            <a:solidFill>
              <a:srgbClr val="8B9598"/>
            </a:solidFill>
            <a:prstDash val="solid"/>
          </a:ln>
        </p:spPr>
      </p:sp>
      <p:sp>
        <p:nvSpPr>
          <p:cNvPr id="26" name="Text 24"/>
          <p:cNvSpPr txBox="1"/>
          <p:nvPr/>
        </p:nvSpPr>
        <p:spPr>
          <a:xfrm>
            <a:off x="7772400" y="3840480"/>
            <a:ext cx="3596335" cy="274320"/>
          </a:xfrm>
          <a:prstGeom prst="rect">
            <a:avLst/>
          </a:prstGeom>
          <a:noFill/>
          <a:ln/>
        </p:spPr>
        <p:txBody>
          <a:bodyPr wrap="square" lIns="0" tIns="0" rIns="0" bIns="0" rtlCol="0" anchor="t"/>
          <a:lstStyle/>
          <a:p>
            <a:pPr indent="0" marL="0">
              <a:buNone/>
            </a:pPr>
            <a:r>
              <a:rPr lang="es-CL" altLang="en-US" sz="1600" spc="100" kern="0" dirty="0">
                <a:solidFill>
                  <a:schemeClr val="tx1"/>
                </a:solidFill>
                <a:latin typeface="IBM Plex Mono" pitchFamily="34" charset="0"/>
                <a:ea typeface="IBM Plex Mono" pitchFamily="34" charset="-122"/>
                <a:cs typeface="IBM Plex Mono" pitchFamily="34" charset="-120"/>
              </a:rPr>
              <a:t>LUMINE HOY</a:t>
            </a:r>
            <a:endParaRPr lang="es-CL" sz="1600" dirty="0"/>
          </a:p>
        </p:txBody>
      </p:sp>
      <p:sp>
        <p:nvSpPr>
          <p:cNvPr id="27" name="Shape 25"/>
          <p:cNvSpPr/>
          <p:nvPr/>
        </p:nvSpPr>
        <p:spPr>
          <a:xfrm>
            <a:off x="7772400" y="4242816"/>
            <a:ext cx="1760220" cy="420624"/>
          </a:xfrm>
          <a:prstGeom prst="rect">
            <a:avLst/>
          </a:prstGeom>
          <a:solidFill>
            <a:schemeClr val="bg1">
              <a:alpha val="0"/>
            </a:schemeClr>
          </a:solidFill>
          <a:ln w="15875">
            <a:solidFill>
              <a:srgbClr val="8B9598"/>
            </a:solidFill>
            <a:prstDash val="solid"/>
          </a:ln>
        </p:spPr>
      </p:sp>
      <p:sp>
        <p:nvSpPr>
          <p:cNvPr id="28" name="Shape 26"/>
          <p:cNvSpPr/>
          <p:nvPr/>
        </p:nvSpPr>
        <p:spPr>
          <a:xfrm>
            <a:off x="7909560" y="4379976"/>
            <a:ext cx="146304" cy="146304"/>
          </a:xfrm>
          <a:prstGeom prst="ellipse">
            <a:avLst/>
          </a:prstGeom>
          <a:solidFill>
            <a:srgbClr val="8B9598"/>
          </a:solidFill>
          <a:ln/>
        </p:spPr>
      </p:sp>
      <p:sp>
        <p:nvSpPr>
          <p:cNvPr id="29" name="Text 27"/>
          <p:cNvSpPr txBox="1"/>
          <p:nvPr/>
        </p:nvSpPr>
        <p:spPr>
          <a:xfrm>
            <a:off x="8138160" y="4242816"/>
            <a:ext cx="1303020" cy="420624"/>
          </a:xfrm>
          <a:prstGeom prst="rect">
            <a:avLst/>
          </a:prstGeom>
          <a:noFill/>
          <a:ln/>
        </p:spPr>
        <p:txBody>
          <a:bodyPr wrap="square" lIns="0" tIns="0" rIns="0" bIns="0" rtlCol="0" anchor="ctr"/>
          <a:lstStyle/>
          <a:p>
            <a:pPr indent="0" marL="0">
              <a:buNone/>
            </a:pPr>
            <a:r>
              <a:rPr lang="es-CL" altLang="en-US" sz="1600" b="1" spc="100" kern="0" dirty="0">
                <a:solidFill>
                  <a:srgbClr val="8B9598"/>
                </a:solidFill>
                <a:latin typeface="IBM Plex Mono" pitchFamily="34" charset="0"/>
                <a:ea typeface="IBM Plex Mono" pitchFamily="34" charset="-122"/>
                <a:cs typeface="IBM Plex Mono" pitchFamily="34" charset="-120"/>
              </a:rPr>
              <a:t>SIN DATOS</a:t>
            </a:r>
            <a:endParaRPr lang="es-CL" sz="1600" dirty="0"/>
          </a:p>
        </p:txBody>
      </p:sp>
      <p:sp>
        <p:nvSpPr>
          <p:cNvPr id="30" name="Text 28"/>
          <p:cNvSpPr txBox="1"/>
          <p:nvPr/>
        </p:nvSpPr>
        <p:spPr>
          <a:xfrm>
            <a:off x="7772400" y="4809744"/>
            <a:ext cx="3596335" cy="640080"/>
          </a:xfrm>
          <a:prstGeom prst="rect">
            <a:avLst/>
          </a:prstGeom>
          <a:noFill/>
          <a:ln/>
        </p:spPr>
        <p:txBody>
          <a:bodyPr wrap="square" lIns="0" tIns="0" rIns="0" bIns="0" rtlCol="0" anchor="t"/>
          <a:lstStyle/>
          <a:p>
            <a:pPr indent="0" marL="0">
              <a:buNone/>
            </a:pPr>
            <a:r>
              <a:rPr lang="es-CL" altLang="en-US" sz="2000" dirty="0">
                <a:solidFill>
                  <a:schemeClr val="tx1"/>
                </a:solidFill>
                <a:latin typeface="Figtree" pitchFamily="34" charset="0"/>
                <a:ea typeface="Figtree" pitchFamily="34" charset="-122"/>
                <a:cs typeface="Figtree" pitchFamily="34" charset="-120"/>
              </a:rPr>
              <a:t>NOPAT, capital y WACC aún no existen.</a:t>
            </a:r>
            <a:endParaRPr lang="es-CL" sz="2000" dirty="0"/>
          </a:p>
        </p:txBody>
      </p:sp>
      <p:sp>
        <p:nvSpPr>
          <p:cNvPr id="31" name="Shape 29"/>
          <p:cNvSpPr/>
          <p:nvPr/>
        </p:nvSpPr>
        <p:spPr>
          <a:xfrm>
            <a:off x="7772400" y="5522976"/>
            <a:ext cx="3596335" cy="0"/>
          </a:xfrm>
          <a:prstGeom prst="line">
            <a:avLst/>
          </a:prstGeom>
          <a:noFill/>
          <a:ln w="9525">
            <a:solidFill>
              <a:schemeClr val="accent5"/>
            </a:solidFill>
            <a:prstDash val="solid"/>
          </a:ln>
        </p:spPr>
      </p:sp>
      <p:sp>
        <p:nvSpPr>
          <p:cNvPr id="32" name="Text 30"/>
          <p:cNvSpPr txBox="1"/>
          <p:nvPr/>
        </p:nvSpPr>
        <p:spPr>
          <a:xfrm>
            <a:off x="7772400" y="5614416"/>
            <a:ext cx="3596335" cy="640080"/>
          </a:xfrm>
          <a:prstGeom prst="rect">
            <a:avLst/>
          </a:prstGeom>
          <a:noFill/>
          <a:ln/>
        </p:spPr>
        <p:txBody>
          <a:bodyPr wrap="square" lIns="0" tIns="0" rIns="0" bIns="0" rtlCol="0" anchor="t"/>
          <a:lstStyle/>
          <a:p>
            <a:pPr indent="0" marL="0">
              <a:buNone/>
            </a:pPr>
            <a:r>
              <a:rPr lang="es-CL" altLang="en-US" sz="1800" b="1" dirty="0">
                <a:solidFill>
                  <a:schemeClr val="tx1"/>
                </a:solidFill>
                <a:latin typeface="Figtree" pitchFamily="34" charset="0"/>
                <a:ea typeface="Figtree" pitchFamily="34" charset="-122"/>
                <a:cs typeface="Figtree" pitchFamily="34" charset="-120"/>
              </a:rPr>
              <a:t>VAN y TIR </a:t>
            </a:r>
            <a:pPr indent="0" marL="0">
              <a:buNone/>
            </a:pPr>
            <a:r>
              <a:rPr lang="es-CL" altLang="en-US" sz="1800" dirty="0">
                <a:solidFill>
                  <a:schemeClr val="tx2"/>
                </a:solidFill>
                <a:latin typeface="Figtree" pitchFamily="34" charset="0"/>
                <a:ea typeface="Figtree" pitchFamily="34" charset="-122"/>
                <a:cs typeface="Figtree" pitchFamily="34" charset="-120"/>
              </a:rPr>
              <a:t>evalúan el proyecto; </a:t>
            </a:r>
            <a:pPr indent="0" marL="0">
              <a:buNone/>
            </a:pPr>
            <a:r>
              <a:rPr lang="es-CL" altLang="en-US" sz="1800" b="1" dirty="0">
                <a:solidFill>
                  <a:schemeClr val="tx1"/>
                </a:solidFill>
                <a:latin typeface="Figtree" pitchFamily="34" charset="0"/>
                <a:ea typeface="Figtree" pitchFamily="34" charset="-122"/>
                <a:cs typeface="Figtree" pitchFamily="34" charset="-120"/>
              </a:rPr>
              <a:t>EVA </a:t>
            </a:r>
            <a:pPr indent="0" marL="0">
              <a:buNone/>
            </a:pPr>
            <a:r>
              <a:rPr lang="es-CL" altLang="en-US" sz="1800" dirty="0">
                <a:solidFill>
                  <a:schemeClr val="tx2"/>
                </a:solidFill>
                <a:latin typeface="Figtree" pitchFamily="34" charset="0"/>
                <a:ea typeface="Figtree" pitchFamily="34" charset="-122"/>
                <a:cs typeface="Figtree" pitchFamily="34" charset="-120"/>
              </a:rPr>
              <a:t>mide cada período.</a:t>
            </a:r>
            <a:endParaRPr lang="es-CL" sz="18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08</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CMI · FICHA DEL INDICADOR Y SEMÁFORO</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INDICADOR NECESITA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responsable y evidencia.</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material del curso «Sistemas de Control de Gestión: Indicadores»; Excel de la Solemne 2, hojas MATRIZ_CMI y SEGUIMIENTO. Umbrales propuestos.</a:t>
            </a:r>
            <a:endParaRPr lang="es-CL" sz="1100" dirty="0"/>
          </a:p>
        </p:txBody>
      </p:sp>
      <p:sp>
        <p:nvSpPr>
          <p:cNvPr id="5" name="Text 3"/>
          <p:cNvSpPr txBox="1"/>
          <p:nvPr/>
        </p:nvSpPr>
        <p:spPr>
          <a:xfrm>
            <a:off x="548640" y="2395728"/>
            <a:ext cx="6858000" cy="274320"/>
          </a:xfrm>
          <a:prstGeom prst="rect">
            <a:avLst/>
          </a:prstGeom>
          <a:noFill/>
          <a:ln/>
        </p:spPr>
        <p:txBody>
          <a:bodyPr wrap="square" lIns="0" tIns="0" rIns="0" bIns="0" rtlCol="0" anchor="t"/>
          <a:lstStyle/>
          <a:p>
            <a:pPr indent="0" marL="0">
              <a:buNone/>
            </a:pPr>
            <a:r>
              <a:rPr lang="es-CL" altLang="en-US" sz="1600" spc="100" kern="0" dirty="0">
                <a:solidFill>
                  <a:schemeClr val="accent1"/>
                </a:solidFill>
                <a:latin typeface="IBM Plex Mono" pitchFamily="34" charset="0"/>
                <a:ea typeface="IBM Plex Mono" pitchFamily="34" charset="-122"/>
                <a:cs typeface="IBM Plex Mono" pitchFamily="34" charset="-120"/>
              </a:rPr>
              <a:t>FICHA · C01 INFORME AL CLIENTE</a:t>
            </a:r>
            <a:endParaRPr lang="es-CL" sz="1600" dirty="0"/>
          </a:p>
        </p:txBody>
      </p:sp>
      <p:sp>
        <p:nvSpPr>
          <p:cNvPr id="6" name="Shape 4"/>
          <p:cNvSpPr/>
          <p:nvPr/>
        </p:nvSpPr>
        <p:spPr>
          <a:xfrm>
            <a:off x="548640" y="2761488"/>
            <a:ext cx="6858000" cy="0"/>
          </a:xfrm>
          <a:prstGeom prst="line">
            <a:avLst/>
          </a:prstGeom>
          <a:noFill/>
          <a:ln w="9525">
            <a:solidFill>
              <a:schemeClr val="accent1"/>
            </a:solidFill>
            <a:prstDash val="solid"/>
          </a:ln>
        </p:spPr>
      </p:sp>
      <p:sp>
        <p:nvSpPr>
          <p:cNvPr id="7" name="Text 5"/>
          <p:cNvSpPr txBox="1"/>
          <p:nvPr/>
        </p:nvSpPr>
        <p:spPr>
          <a:xfrm>
            <a:off x="548640" y="2761488"/>
            <a:ext cx="1828800" cy="548640"/>
          </a:xfrm>
          <a:prstGeom prst="rect">
            <a:avLst/>
          </a:prstGeom>
          <a:noFill/>
          <a:ln/>
        </p:spPr>
        <p:txBody>
          <a:bodyPr wrap="square" lIns="0" tIns="0" rIns="0" bIns="0" rtlCol="0" anchor="ctr"/>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FÓRMULA</a:t>
            </a:r>
            <a:endParaRPr lang="es-CL" sz="1400" dirty="0"/>
          </a:p>
        </p:txBody>
      </p:sp>
      <p:sp>
        <p:nvSpPr>
          <p:cNvPr id="8" name="Text 6"/>
          <p:cNvSpPr txBox="1"/>
          <p:nvPr/>
        </p:nvSpPr>
        <p:spPr>
          <a:xfrm>
            <a:off x="2423160" y="2761488"/>
            <a:ext cx="4983480" cy="548640"/>
          </a:xfrm>
          <a:prstGeom prst="rect">
            <a:avLst/>
          </a:prstGeom>
          <a:noFill/>
          <a:ln/>
        </p:spPr>
        <p:txBody>
          <a:bodyPr wrap="square" lIns="0" tIns="0" rIns="0" bIns="0" rtlCol="0" anchor="ctr"/>
          <a:lstStyle/>
          <a:p>
            <a:pPr indent="0" marL="0">
              <a:buNone/>
            </a:pPr>
            <a:r>
              <a:rPr lang="es-CL" altLang="en-US" sz="1900" dirty="0">
                <a:solidFill>
                  <a:schemeClr val="tx1"/>
                </a:solidFill>
                <a:latin typeface="Figtree" pitchFamily="34" charset="0"/>
                <a:ea typeface="Figtree" pitchFamily="34" charset="-122"/>
                <a:cs typeface="Figtree" pitchFamily="34" charset="-120"/>
              </a:rPr>
              <a:t>Clientes con informe ÷ clientes intervenidos</a:t>
            </a:r>
            <a:endParaRPr lang="es-CL" sz="1900" dirty="0"/>
          </a:p>
        </p:txBody>
      </p:sp>
      <p:sp>
        <p:nvSpPr>
          <p:cNvPr id="9" name="Shape 7"/>
          <p:cNvSpPr/>
          <p:nvPr/>
        </p:nvSpPr>
        <p:spPr>
          <a:xfrm>
            <a:off x="548640" y="3310128"/>
            <a:ext cx="6858000" cy="0"/>
          </a:xfrm>
          <a:prstGeom prst="line">
            <a:avLst/>
          </a:prstGeom>
          <a:noFill/>
          <a:ln w="9525">
            <a:solidFill>
              <a:schemeClr val="accent5"/>
            </a:solidFill>
            <a:prstDash val="solid"/>
          </a:ln>
        </p:spPr>
      </p:sp>
      <p:sp>
        <p:nvSpPr>
          <p:cNvPr id="10" name="Text 8"/>
          <p:cNvSpPr txBox="1"/>
          <p:nvPr/>
        </p:nvSpPr>
        <p:spPr>
          <a:xfrm>
            <a:off x="548640" y="3310128"/>
            <a:ext cx="1828800" cy="548640"/>
          </a:xfrm>
          <a:prstGeom prst="rect">
            <a:avLst/>
          </a:prstGeom>
          <a:noFill/>
          <a:ln/>
        </p:spPr>
        <p:txBody>
          <a:bodyPr wrap="square" lIns="0" tIns="0" rIns="0" bIns="0" rtlCol="0" anchor="ctr"/>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META</a:t>
            </a:r>
            <a:endParaRPr lang="es-CL" sz="1400" dirty="0"/>
          </a:p>
        </p:txBody>
      </p:sp>
      <p:sp>
        <p:nvSpPr>
          <p:cNvPr id="11" name="Text 9"/>
          <p:cNvSpPr txBox="1"/>
          <p:nvPr/>
        </p:nvSpPr>
        <p:spPr>
          <a:xfrm>
            <a:off x="2423160" y="3310128"/>
            <a:ext cx="4983480" cy="548640"/>
          </a:xfrm>
          <a:prstGeom prst="rect">
            <a:avLst/>
          </a:prstGeom>
          <a:noFill/>
          <a:ln/>
        </p:spPr>
        <p:txBody>
          <a:bodyPr wrap="square" lIns="0" tIns="0" rIns="0" bIns="0" rtlCol="0" anchor="ctr"/>
          <a:lstStyle/>
          <a:p>
            <a:pPr indent="0" marL="0">
              <a:buNone/>
            </a:pPr>
            <a:r>
              <a:rPr lang="es-CL" altLang="en-US" sz="1900" dirty="0">
                <a:solidFill>
                  <a:schemeClr val="tx1"/>
                </a:solidFill>
                <a:latin typeface="Figtree" pitchFamily="34" charset="0"/>
                <a:ea typeface="Figtree" pitchFamily="34" charset="-122"/>
                <a:cs typeface="Figtree" pitchFamily="34" charset="-120"/>
              </a:rPr>
              <a:t>100%, cuando existan clientes</a:t>
            </a:r>
            <a:endParaRPr lang="es-CL" sz="1900" dirty="0"/>
          </a:p>
        </p:txBody>
      </p:sp>
      <p:sp>
        <p:nvSpPr>
          <p:cNvPr id="12" name="Shape 10"/>
          <p:cNvSpPr/>
          <p:nvPr/>
        </p:nvSpPr>
        <p:spPr>
          <a:xfrm>
            <a:off x="548640" y="3858768"/>
            <a:ext cx="6858000" cy="0"/>
          </a:xfrm>
          <a:prstGeom prst="line">
            <a:avLst/>
          </a:prstGeom>
          <a:noFill/>
          <a:ln w="9525">
            <a:solidFill>
              <a:schemeClr val="accent5"/>
            </a:solidFill>
            <a:prstDash val="solid"/>
          </a:ln>
        </p:spPr>
      </p:sp>
      <p:sp>
        <p:nvSpPr>
          <p:cNvPr id="13" name="Text 11"/>
          <p:cNvSpPr txBox="1"/>
          <p:nvPr/>
        </p:nvSpPr>
        <p:spPr>
          <a:xfrm>
            <a:off x="548640" y="3858768"/>
            <a:ext cx="1828800" cy="548640"/>
          </a:xfrm>
          <a:prstGeom prst="rect">
            <a:avLst/>
          </a:prstGeom>
          <a:noFill/>
          <a:ln/>
        </p:spPr>
        <p:txBody>
          <a:bodyPr wrap="square" lIns="0" tIns="0" rIns="0" bIns="0" rtlCol="0" anchor="ctr"/>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FRECUENCIA</a:t>
            </a:r>
            <a:endParaRPr lang="es-CL" sz="1400" dirty="0"/>
          </a:p>
        </p:txBody>
      </p:sp>
      <p:sp>
        <p:nvSpPr>
          <p:cNvPr id="14" name="Text 12"/>
          <p:cNvSpPr txBox="1"/>
          <p:nvPr/>
        </p:nvSpPr>
        <p:spPr>
          <a:xfrm>
            <a:off x="2423160" y="3858768"/>
            <a:ext cx="4983480" cy="548640"/>
          </a:xfrm>
          <a:prstGeom prst="rect">
            <a:avLst/>
          </a:prstGeom>
          <a:noFill/>
          <a:ln/>
        </p:spPr>
        <p:txBody>
          <a:bodyPr wrap="square" lIns="0" tIns="0" rIns="0" bIns="0" rtlCol="0" anchor="ctr"/>
          <a:lstStyle/>
          <a:p>
            <a:pPr indent="0" marL="0">
              <a:buNone/>
            </a:pPr>
            <a:r>
              <a:rPr lang="es-CL" altLang="en-US" sz="1900" dirty="0">
                <a:solidFill>
                  <a:schemeClr val="tx1"/>
                </a:solidFill>
                <a:latin typeface="Figtree" pitchFamily="34" charset="0"/>
                <a:ea typeface="Figtree" pitchFamily="34" charset="-122"/>
                <a:cs typeface="Figtree" pitchFamily="34" charset="-120"/>
              </a:rPr>
              <a:t>Por instalación</a:t>
            </a:r>
            <a:endParaRPr lang="es-CL" sz="1900" dirty="0"/>
          </a:p>
        </p:txBody>
      </p:sp>
      <p:sp>
        <p:nvSpPr>
          <p:cNvPr id="15" name="Shape 13"/>
          <p:cNvSpPr/>
          <p:nvPr/>
        </p:nvSpPr>
        <p:spPr>
          <a:xfrm>
            <a:off x="548640" y="4407408"/>
            <a:ext cx="6858000" cy="0"/>
          </a:xfrm>
          <a:prstGeom prst="line">
            <a:avLst/>
          </a:prstGeom>
          <a:noFill/>
          <a:ln w="9525">
            <a:solidFill>
              <a:schemeClr val="accent5"/>
            </a:solidFill>
            <a:prstDash val="solid"/>
          </a:ln>
        </p:spPr>
      </p:sp>
      <p:sp>
        <p:nvSpPr>
          <p:cNvPr id="16" name="Text 14"/>
          <p:cNvSpPr txBox="1"/>
          <p:nvPr/>
        </p:nvSpPr>
        <p:spPr>
          <a:xfrm>
            <a:off x="548640" y="4407408"/>
            <a:ext cx="1828800" cy="548640"/>
          </a:xfrm>
          <a:prstGeom prst="rect">
            <a:avLst/>
          </a:prstGeom>
          <a:noFill/>
          <a:ln/>
        </p:spPr>
        <p:txBody>
          <a:bodyPr wrap="square" lIns="0" tIns="0" rIns="0" bIns="0" rtlCol="0" anchor="ctr"/>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RESPONSABLE</a:t>
            </a:r>
            <a:endParaRPr lang="es-CL" sz="1400" dirty="0"/>
          </a:p>
        </p:txBody>
      </p:sp>
      <p:sp>
        <p:nvSpPr>
          <p:cNvPr id="17" name="Text 15"/>
          <p:cNvSpPr txBox="1"/>
          <p:nvPr/>
        </p:nvSpPr>
        <p:spPr>
          <a:xfrm>
            <a:off x="2423160" y="4407408"/>
            <a:ext cx="4983480" cy="548640"/>
          </a:xfrm>
          <a:prstGeom prst="rect">
            <a:avLst/>
          </a:prstGeom>
          <a:noFill/>
          <a:ln/>
        </p:spPr>
        <p:txBody>
          <a:bodyPr wrap="square" lIns="0" tIns="0" rIns="0" bIns="0" rtlCol="0" anchor="ctr"/>
          <a:lstStyle/>
          <a:p>
            <a:pPr indent="0" marL="0">
              <a:buNone/>
            </a:pPr>
            <a:r>
              <a:rPr lang="es-CL" altLang="en-US" sz="1900" b="1" dirty="0">
                <a:solidFill>
                  <a:schemeClr val="tx1"/>
                </a:solidFill>
                <a:latin typeface="Figtree" pitchFamily="34" charset="0"/>
                <a:ea typeface="Figtree" pitchFamily="34" charset="-122"/>
                <a:cs typeface="Figtree" pitchFamily="34" charset="-120"/>
              </a:rPr>
              <a:t>Comercial y Postventa</a:t>
            </a:r>
            <a:endParaRPr lang="es-CL" sz="1900" dirty="0"/>
          </a:p>
        </p:txBody>
      </p:sp>
      <p:sp>
        <p:nvSpPr>
          <p:cNvPr id="18" name="Shape 16"/>
          <p:cNvSpPr/>
          <p:nvPr/>
        </p:nvSpPr>
        <p:spPr>
          <a:xfrm>
            <a:off x="548640" y="4956048"/>
            <a:ext cx="6858000" cy="0"/>
          </a:xfrm>
          <a:prstGeom prst="line">
            <a:avLst/>
          </a:prstGeom>
          <a:noFill/>
          <a:ln w="9525">
            <a:solidFill>
              <a:schemeClr val="accent5"/>
            </a:solidFill>
            <a:prstDash val="solid"/>
          </a:ln>
        </p:spPr>
      </p:sp>
      <p:sp>
        <p:nvSpPr>
          <p:cNvPr id="19" name="Text 17"/>
          <p:cNvSpPr txBox="1"/>
          <p:nvPr/>
        </p:nvSpPr>
        <p:spPr>
          <a:xfrm>
            <a:off x="548640" y="4956048"/>
            <a:ext cx="1828800" cy="548640"/>
          </a:xfrm>
          <a:prstGeom prst="rect">
            <a:avLst/>
          </a:prstGeom>
          <a:noFill/>
          <a:ln/>
        </p:spPr>
        <p:txBody>
          <a:bodyPr wrap="square" lIns="0" tIns="0" rIns="0" bIns="0" rtlCol="0" anchor="ctr"/>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EVIDENCIA</a:t>
            </a:r>
            <a:endParaRPr lang="es-CL" sz="1400" dirty="0"/>
          </a:p>
        </p:txBody>
      </p:sp>
      <p:sp>
        <p:nvSpPr>
          <p:cNvPr id="20" name="Text 18"/>
          <p:cNvSpPr txBox="1"/>
          <p:nvPr/>
        </p:nvSpPr>
        <p:spPr>
          <a:xfrm>
            <a:off x="2423160" y="4956048"/>
            <a:ext cx="4983480" cy="548640"/>
          </a:xfrm>
          <a:prstGeom prst="rect">
            <a:avLst/>
          </a:prstGeom>
          <a:noFill/>
          <a:ln/>
        </p:spPr>
        <p:txBody>
          <a:bodyPr wrap="square" lIns="0" tIns="0" rIns="0" bIns="0" rtlCol="0" anchor="ctr"/>
          <a:lstStyle/>
          <a:p>
            <a:pPr indent="0" marL="0">
              <a:buNone/>
            </a:pPr>
            <a:r>
              <a:rPr lang="es-CL" altLang="en-US" sz="1900" b="1" dirty="0">
                <a:solidFill>
                  <a:schemeClr val="tx1"/>
                </a:solidFill>
                <a:latin typeface="Figtree" pitchFamily="34" charset="0"/>
                <a:ea typeface="Figtree" pitchFamily="34" charset="-122"/>
                <a:cs typeface="Figtree" pitchFamily="34" charset="-120"/>
              </a:rPr>
              <a:t>Informe antes y después, con acuse de entrega</a:t>
            </a:r>
            <a:endParaRPr lang="es-CL" sz="1900" dirty="0"/>
          </a:p>
        </p:txBody>
      </p:sp>
      <p:sp>
        <p:nvSpPr>
          <p:cNvPr id="21" name="Shape 19"/>
          <p:cNvSpPr/>
          <p:nvPr/>
        </p:nvSpPr>
        <p:spPr>
          <a:xfrm>
            <a:off x="548640" y="5504688"/>
            <a:ext cx="6858000" cy="0"/>
          </a:xfrm>
          <a:prstGeom prst="line">
            <a:avLst/>
          </a:prstGeom>
          <a:noFill/>
          <a:ln w="9525">
            <a:solidFill>
              <a:schemeClr val="accent5"/>
            </a:solidFill>
            <a:prstDash val="solid"/>
          </a:ln>
        </p:spPr>
      </p:sp>
      <p:sp>
        <p:nvSpPr>
          <p:cNvPr id="22" name="Text 20"/>
          <p:cNvSpPr txBox="1"/>
          <p:nvPr/>
        </p:nvSpPr>
        <p:spPr>
          <a:xfrm>
            <a:off x="548640" y="5504688"/>
            <a:ext cx="1828800" cy="548640"/>
          </a:xfrm>
          <a:prstGeom prst="rect">
            <a:avLst/>
          </a:prstGeom>
          <a:noFill/>
          <a:ln/>
        </p:spPr>
        <p:txBody>
          <a:bodyPr wrap="square" lIns="0" tIns="0" rIns="0" bIns="0" rtlCol="0" anchor="ctr"/>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SI SE DESVÍA</a:t>
            </a:r>
            <a:endParaRPr lang="es-CL" sz="1400" dirty="0"/>
          </a:p>
        </p:txBody>
      </p:sp>
      <p:sp>
        <p:nvSpPr>
          <p:cNvPr id="23" name="Text 21"/>
          <p:cNvSpPr txBox="1"/>
          <p:nvPr/>
        </p:nvSpPr>
        <p:spPr>
          <a:xfrm>
            <a:off x="2423160" y="5504688"/>
            <a:ext cx="4983480" cy="548640"/>
          </a:xfrm>
          <a:prstGeom prst="rect">
            <a:avLst/>
          </a:prstGeom>
          <a:noFill/>
          <a:ln/>
        </p:spPr>
        <p:txBody>
          <a:bodyPr wrap="square" lIns="0" tIns="0" rIns="0" bIns="0" rtlCol="0" anchor="ctr"/>
          <a:lstStyle/>
          <a:p>
            <a:pPr indent="0" marL="0">
              <a:buNone/>
            </a:pPr>
            <a:r>
              <a:rPr lang="es-CL" altLang="en-US" sz="1900" dirty="0">
                <a:solidFill>
                  <a:schemeClr val="tx1"/>
                </a:solidFill>
                <a:latin typeface="Figtree" pitchFamily="34" charset="0"/>
                <a:ea typeface="Figtree" pitchFamily="34" charset="-122"/>
                <a:cs typeface="Figtree" pitchFamily="34" charset="-120"/>
              </a:rPr>
              <a:t>Completar el informe y contactar al cliente</a:t>
            </a:r>
            <a:endParaRPr lang="es-CL" sz="1900" dirty="0"/>
          </a:p>
        </p:txBody>
      </p:sp>
      <p:sp>
        <p:nvSpPr>
          <p:cNvPr id="24" name="Shape 22"/>
          <p:cNvSpPr/>
          <p:nvPr/>
        </p:nvSpPr>
        <p:spPr>
          <a:xfrm>
            <a:off x="548640" y="6053328"/>
            <a:ext cx="6858000" cy="0"/>
          </a:xfrm>
          <a:prstGeom prst="line">
            <a:avLst/>
          </a:prstGeom>
          <a:noFill/>
          <a:ln w="9525">
            <a:solidFill>
              <a:schemeClr val="accent5"/>
            </a:solidFill>
            <a:prstDash val="solid"/>
          </a:ln>
        </p:spPr>
      </p:sp>
      <p:sp>
        <p:nvSpPr>
          <p:cNvPr id="25" name="Text 23"/>
          <p:cNvSpPr txBox="1"/>
          <p:nvPr/>
        </p:nvSpPr>
        <p:spPr>
          <a:xfrm>
            <a:off x="7909560" y="2395728"/>
            <a:ext cx="3733495" cy="274320"/>
          </a:xfrm>
          <a:prstGeom prst="rect">
            <a:avLst/>
          </a:prstGeom>
          <a:noFill/>
          <a:ln/>
        </p:spPr>
        <p:txBody>
          <a:bodyPr wrap="square" lIns="0" tIns="0" rIns="0" bIns="0" rtlCol="0" anchor="t"/>
          <a:lstStyle/>
          <a:p>
            <a:pPr indent="0" marL="0">
              <a:buNone/>
            </a:pPr>
            <a:r>
              <a:rPr lang="es-CL" altLang="en-US" sz="1600" spc="100" kern="0" dirty="0">
                <a:solidFill>
                  <a:schemeClr val="accent1"/>
                </a:solidFill>
                <a:latin typeface="IBM Plex Mono" pitchFamily="34" charset="0"/>
                <a:ea typeface="IBM Plex Mono" pitchFamily="34" charset="-122"/>
                <a:cs typeface="IBM Plex Mono" pitchFamily="34" charset="-120"/>
              </a:rPr>
              <a:t>SEMÁFORO</a:t>
            </a:r>
            <a:endParaRPr lang="es-CL" sz="1600" dirty="0"/>
          </a:p>
        </p:txBody>
      </p:sp>
      <p:sp>
        <p:nvSpPr>
          <p:cNvPr id="26" name="Shape 24"/>
          <p:cNvSpPr/>
          <p:nvPr/>
        </p:nvSpPr>
        <p:spPr>
          <a:xfrm>
            <a:off x="7909560" y="2880360"/>
            <a:ext cx="274320" cy="274320"/>
          </a:xfrm>
          <a:prstGeom prst="ellipse">
            <a:avLst/>
          </a:prstGeom>
          <a:solidFill>
            <a:srgbClr val="8B9598"/>
          </a:solidFill>
          <a:ln/>
        </p:spPr>
      </p:sp>
      <p:sp>
        <p:nvSpPr>
          <p:cNvPr id="27" name="Text 25"/>
          <p:cNvSpPr txBox="1"/>
          <p:nvPr/>
        </p:nvSpPr>
        <p:spPr>
          <a:xfrm>
            <a:off x="8321040" y="2761488"/>
            <a:ext cx="1463040" cy="512064"/>
          </a:xfrm>
          <a:prstGeom prst="rect">
            <a:avLst/>
          </a:prstGeom>
          <a:noFill/>
          <a:ln/>
        </p:spPr>
        <p:txBody>
          <a:bodyPr wrap="square" lIns="0" tIns="0" rIns="0" bIns="0" rtlCol="0" anchor="ctr"/>
          <a:lstStyle/>
          <a:p>
            <a:pPr indent="0" marL="0">
              <a:buNone/>
            </a:pPr>
            <a:r>
              <a:rPr lang="es-CL" altLang="en-US" sz="1500" b="1" spc="100" kern="0" dirty="0">
                <a:solidFill>
                  <a:srgbClr val="8B9598"/>
                </a:solidFill>
                <a:latin typeface="IBM Plex Mono" pitchFamily="34" charset="0"/>
                <a:ea typeface="IBM Plex Mono" pitchFamily="34" charset="-122"/>
                <a:cs typeface="IBM Plex Mono" pitchFamily="34" charset="-120"/>
              </a:rPr>
              <a:t>SIN MEDIR</a:t>
            </a:r>
            <a:endParaRPr lang="es-CL" sz="1500" dirty="0"/>
          </a:p>
        </p:txBody>
      </p:sp>
      <p:sp>
        <p:nvSpPr>
          <p:cNvPr id="28" name="Text 26"/>
          <p:cNvSpPr txBox="1"/>
          <p:nvPr/>
        </p:nvSpPr>
        <p:spPr>
          <a:xfrm>
            <a:off x="9692640" y="2761488"/>
            <a:ext cx="1950415" cy="512064"/>
          </a:xfrm>
          <a:prstGeom prst="rect">
            <a:avLst/>
          </a:prstGeom>
          <a:noFill/>
          <a:ln/>
        </p:spPr>
        <p:txBody>
          <a:bodyPr wrap="square" lIns="0" tIns="0" rIns="0" bIns="0" rtlCol="0" anchor="ctr"/>
          <a:lstStyle/>
          <a:p>
            <a:pPr indent="0" marL="0">
              <a:buNone/>
            </a:pPr>
            <a:r>
              <a:rPr lang="es-CL" altLang="en-US" sz="1700" dirty="0">
                <a:solidFill>
                  <a:schemeClr val="tx2"/>
                </a:solidFill>
                <a:latin typeface="Figtree" pitchFamily="34" charset="0"/>
                <a:ea typeface="Figtree" pitchFamily="34" charset="-122"/>
                <a:cs typeface="Figtree" pitchFamily="34" charset="-120"/>
              </a:rPr>
              <a:t>celda vacía: no es incumplido</a:t>
            </a:r>
            <a:endParaRPr lang="es-CL" sz="1700" dirty="0"/>
          </a:p>
        </p:txBody>
      </p:sp>
      <p:sp>
        <p:nvSpPr>
          <p:cNvPr id="29" name="Shape 27"/>
          <p:cNvSpPr/>
          <p:nvPr/>
        </p:nvSpPr>
        <p:spPr>
          <a:xfrm>
            <a:off x="7909560" y="3392424"/>
            <a:ext cx="274320" cy="274320"/>
          </a:xfrm>
          <a:prstGeom prst="ellipse">
            <a:avLst/>
          </a:prstGeom>
          <a:solidFill>
            <a:srgbClr val="4ADE80"/>
          </a:solidFill>
          <a:ln/>
        </p:spPr>
      </p:sp>
      <p:sp>
        <p:nvSpPr>
          <p:cNvPr id="30" name="Text 28"/>
          <p:cNvSpPr txBox="1"/>
          <p:nvPr/>
        </p:nvSpPr>
        <p:spPr>
          <a:xfrm>
            <a:off x="8321040" y="3273552"/>
            <a:ext cx="1463040" cy="512064"/>
          </a:xfrm>
          <a:prstGeom prst="rect">
            <a:avLst/>
          </a:prstGeom>
          <a:noFill/>
          <a:ln/>
        </p:spPr>
        <p:txBody>
          <a:bodyPr wrap="square" lIns="0" tIns="0" rIns="0" bIns="0" rtlCol="0" anchor="ctr"/>
          <a:lstStyle/>
          <a:p>
            <a:pPr indent="0" marL="0">
              <a:buNone/>
            </a:pPr>
            <a:r>
              <a:rPr lang="es-CL" altLang="en-US" sz="1500" b="1" spc="100" kern="0" dirty="0">
                <a:solidFill>
                  <a:srgbClr val="4ADE80"/>
                </a:solidFill>
                <a:latin typeface="IBM Plex Mono" pitchFamily="34" charset="0"/>
                <a:ea typeface="IBM Plex Mono" pitchFamily="34" charset="-122"/>
                <a:cs typeface="IBM Plex Mono" pitchFamily="34" charset="-120"/>
              </a:rPr>
              <a:t>VERDE</a:t>
            </a:r>
            <a:endParaRPr lang="es-CL" sz="1500" dirty="0"/>
          </a:p>
        </p:txBody>
      </p:sp>
      <p:sp>
        <p:nvSpPr>
          <p:cNvPr id="31" name="Text 29"/>
          <p:cNvSpPr txBox="1"/>
          <p:nvPr/>
        </p:nvSpPr>
        <p:spPr>
          <a:xfrm>
            <a:off x="9692640" y="3273552"/>
            <a:ext cx="1950415" cy="512064"/>
          </a:xfrm>
          <a:prstGeom prst="rect">
            <a:avLst/>
          </a:prstGeom>
          <a:noFill/>
          <a:ln/>
        </p:spPr>
        <p:txBody>
          <a:bodyPr wrap="square" lIns="0" tIns="0" rIns="0" bIns="0" rtlCol="0" anchor="ctr"/>
          <a:lstStyle/>
          <a:p>
            <a:pPr indent="0" marL="0">
              <a:buNone/>
            </a:pPr>
            <a:r>
              <a:rPr lang="es-CL" altLang="en-US" sz="1700" dirty="0">
                <a:solidFill>
                  <a:schemeClr val="tx2"/>
                </a:solidFill>
                <a:latin typeface="Figtree" pitchFamily="34" charset="0"/>
                <a:ea typeface="Figtree" pitchFamily="34" charset="-122"/>
                <a:cs typeface="Figtree" pitchFamily="34" charset="-120"/>
              </a:rPr>
              <a:t>90% o más</a:t>
            </a:r>
            <a:endParaRPr lang="es-CL" sz="1700" dirty="0"/>
          </a:p>
        </p:txBody>
      </p:sp>
      <p:sp>
        <p:nvSpPr>
          <p:cNvPr id="32" name="Shape 30"/>
          <p:cNvSpPr/>
          <p:nvPr/>
        </p:nvSpPr>
        <p:spPr>
          <a:xfrm>
            <a:off x="7909560" y="3904488"/>
            <a:ext cx="274320" cy="274320"/>
          </a:xfrm>
          <a:prstGeom prst="ellipse">
            <a:avLst/>
          </a:prstGeom>
          <a:solidFill>
            <a:srgbClr val="F5B94A"/>
          </a:solidFill>
          <a:ln/>
        </p:spPr>
      </p:sp>
      <p:sp>
        <p:nvSpPr>
          <p:cNvPr id="33" name="Text 31"/>
          <p:cNvSpPr txBox="1"/>
          <p:nvPr/>
        </p:nvSpPr>
        <p:spPr>
          <a:xfrm>
            <a:off x="8321040" y="3785616"/>
            <a:ext cx="1463040" cy="512064"/>
          </a:xfrm>
          <a:prstGeom prst="rect">
            <a:avLst/>
          </a:prstGeom>
          <a:noFill/>
          <a:ln/>
        </p:spPr>
        <p:txBody>
          <a:bodyPr wrap="square" lIns="0" tIns="0" rIns="0" bIns="0" rtlCol="0" anchor="ctr"/>
          <a:lstStyle/>
          <a:p>
            <a:pPr indent="0" marL="0">
              <a:buNone/>
            </a:pPr>
            <a:r>
              <a:rPr lang="es-CL" altLang="en-US" sz="1500" b="1" spc="100" kern="0" dirty="0">
                <a:solidFill>
                  <a:srgbClr val="F5B94A"/>
                </a:solidFill>
                <a:latin typeface="IBM Plex Mono" pitchFamily="34" charset="0"/>
                <a:ea typeface="IBM Plex Mono" pitchFamily="34" charset="-122"/>
                <a:cs typeface="IBM Plex Mono" pitchFamily="34" charset="-120"/>
              </a:rPr>
              <a:t>ÁMBAR</a:t>
            </a:r>
            <a:endParaRPr lang="es-CL" sz="1500" dirty="0"/>
          </a:p>
        </p:txBody>
      </p:sp>
      <p:sp>
        <p:nvSpPr>
          <p:cNvPr id="34" name="Text 32"/>
          <p:cNvSpPr txBox="1"/>
          <p:nvPr/>
        </p:nvSpPr>
        <p:spPr>
          <a:xfrm>
            <a:off x="9692640" y="3785616"/>
            <a:ext cx="1950415" cy="512064"/>
          </a:xfrm>
          <a:prstGeom prst="rect">
            <a:avLst/>
          </a:prstGeom>
          <a:noFill/>
          <a:ln/>
        </p:spPr>
        <p:txBody>
          <a:bodyPr wrap="square" lIns="0" tIns="0" rIns="0" bIns="0" rtlCol="0" anchor="ctr"/>
          <a:lstStyle/>
          <a:p>
            <a:pPr indent="0" marL="0">
              <a:buNone/>
            </a:pPr>
            <a:r>
              <a:rPr lang="es-CL" altLang="en-US" sz="1700" dirty="0">
                <a:solidFill>
                  <a:schemeClr val="tx2"/>
                </a:solidFill>
                <a:latin typeface="Figtree" pitchFamily="34" charset="0"/>
                <a:ea typeface="Figtree" pitchFamily="34" charset="-122"/>
                <a:cs typeface="Figtree" pitchFamily="34" charset="-120"/>
              </a:rPr>
              <a:t>70% a 89%</a:t>
            </a:r>
            <a:endParaRPr lang="es-CL" sz="1700" dirty="0"/>
          </a:p>
        </p:txBody>
      </p:sp>
      <p:sp>
        <p:nvSpPr>
          <p:cNvPr id="35" name="Shape 33"/>
          <p:cNvSpPr/>
          <p:nvPr/>
        </p:nvSpPr>
        <p:spPr>
          <a:xfrm>
            <a:off x="7909560" y="4416552"/>
            <a:ext cx="274320" cy="274320"/>
          </a:xfrm>
          <a:prstGeom prst="ellipse">
            <a:avLst/>
          </a:prstGeom>
          <a:solidFill>
            <a:srgbClr val="F87171"/>
          </a:solidFill>
          <a:ln/>
        </p:spPr>
      </p:sp>
      <p:sp>
        <p:nvSpPr>
          <p:cNvPr id="36" name="Text 34"/>
          <p:cNvSpPr txBox="1"/>
          <p:nvPr/>
        </p:nvSpPr>
        <p:spPr>
          <a:xfrm>
            <a:off x="8321040" y="4297680"/>
            <a:ext cx="1463040" cy="512064"/>
          </a:xfrm>
          <a:prstGeom prst="rect">
            <a:avLst/>
          </a:prstGeom>
          <a:noFill/>
          <a:ln/>
        </p:spPr>
        <p:txBody>
          <a:bodyPr wrap="square" lIns="0" tIns="0" rIns="0" bIns="0" rtlCol="0" anchor="ctr"/>
          <a:lstStyle/>
          <a:p>
            <a:pPr indent="0" marL="0">
              <a:buNone/>
            </a:pPr>
            <a:r>
              <a:rPr lang="es-CL" altLang="en-US" sz="1500" b="1" spc="100" kern="0" dirty="0">
                <a:solidFill>
                  <a:srgbClr val="F87171"/>
                </a:solidFill>
                <a:latin typeface="IBM Plex Mono" pitchFamily="34" charset="0"/>
                <a:ea typeface="IBM Plex Mono" pitchFamily="34" charset="-122"/>
                <a:cs typeface="IBM Plex Mono" pitchFamily="34" charset="-120"/>
              </a:rPr>
              <a:t>ROJO</a:t>
            </a:r>
            <a:endParaRPr lang="es-CL" sz="1500" dirty="0"/>
          </a:p>
        </p:txBody>
      </p:sp>
      <p:sp>
        <p:nvSpPr>
          <p:cNvPr id="37" name="Text 35"/>
          <p:cNvSpPr txBox="1"/>
          <p:nvPr/>
        </p:nvSpPr>
        <p:spPr>
          <a:xfrm>
            <a:off x="9692640" y="4297680"/>
            <a:ext cx="1950415" cy="512064"/>
          </a:xfrm>
          <a:prstGeom prst="rect">
            <a:avLst/>
          </a:prstGeom>
          <a:noFill/>
          <a:ln/>
        </p:spPr>
        <p:txBody>
          <a:bodyPr wrap="square" lIns="0" tIns="0" rIns="0" bIns="0" rtlCol="0" anchor="ctr"/>
          <a:lstStyle/>
          <a:p>
            <a:pPr indent="0" marL="0">
              <a:buNone/>
            </a:pPr>
            <a:r>
              <a:rPr lang="es-CL" altLang="en-US" sz="1700" dirty="0">
                <a:solidFill>
                  <a:schemeClr val="tx2"/>
                </a:solidFill>
                <a:latin typeface="Figtree" pitchFamily="34" charset="0"/>
                <a:ea typeface="Figtree" pitchFamily="34" charset="-122"/>
                <a:cs typeface="Figtree" pitchFamily="34" charset="-120"/>
              </a:rPr>
              <a:t>menos de 70%</a:t>
            </a:r>
            <a:endParaRPr lang="es-CL" sz="1700" dirty="0"/>
          </a:p>
        </p:txBody>
      </p:sp>
      <p:sp>
        <p:nvSpPr>
          <p:cNvPr id="38" name="Shape 36"/>
          <p:cNvSpPr/>
          <p:nvPr/>
        </p:nvSpPr>
        <p:spPr>
          <a:xfrm>
            <a:off x="7909560" y="4992624"/>
            <a:ext cx="3733495" cy="1060704"/>
          </a:xfrm>
          <a:prstGeom prst="rect">
            <a:avLst/>
          </a:prstGeom>
          <a:solidFill>
            <a:srgbClr val="0B1A22"/>
          </a:solidFill>
          <a:ln w="15875">
            <a:solidFill>
              <a:schemeClr val="accent1"/>
            </a:solidFill>
            <a:prstDash val="solid"/>
          </a:ln>
        </p:spPr>
      </p:sp>
      <p:sp>
        <p:nvSpPr>
          <p:cNvPr id="39" name="Shape 37"/>
          <p:cNvSpPr/>
          <p:nvPr/>
        </p:nvSpPr>
        <p:spPr>
          <a:xfrm>
            <a:off x="7854696" y="4937760"/>
            <a:ext cx="155448" cy="0"/>
          </a:xfrm>
          <a:prstGeom prst="line">
            <a:avLst/>
          </a:prstGeom>
          <a:noFill/>
          <a:ln w="15875">
            <a:solidFill>
              <a:schemeClr val="accent1"/>
            </a:solidFill>
            <a:prstDash val="solid"/>
          </a:ln>
        </p:spPr>
      </p:sp>
      <p:sp>
        <p:nvSpPr>
          <p:cNvPr id="40" name="Shape 38"/>
          <p:cNvSpPr/>
          <p:nvPr/>
        </p:nvSpPr>
        <p:spPr>
          <a:xfrm>
            <a:off x="7854696" y="4937760"/>
            <a:ext cx="0" cy="155448"/>
          </a:xfrm>
          <a:prstGeom prst="line">
            <a:avLst/>
          </a:prstGeom>
          <a:noFill/>
          <a:ln w="15875">
            <a:solidFill>
              <a:schemeClr val="accent1"/>
            </a:solidFill>
            <a:prstDash val="solid"/>
          </a:ln>
        </p:spPr>
      </p:sp>
      <p:sp>
        <p:nvSpPr>
          <p:cNvPr id="41" name="Shape 39"/>
          <p:cNvSpPr/>
          <p:nvPr/>
        </p:nvSpPr>
        <p:spPr>
          <a:xfrm>
            <a:off x="11542471" y="4937760"/>
            <a:ext cx="155448" cy="0"/>
          </a:xfrm>
          <a:prstGeom prst="line">
            <a:avLst/>
          </a:prstGeom>
          <a:noFill/>
          <a:ln w="15875">
            <a:solidFill>
              <a:schemeClr val="accent1"/>
            </a:solidFill>
            <a:prstDash val="solid"/>
          </a:ln>
        </p:spPr>
      </p:sp>
      <p:sp>
        <p:nvSpPr>
          <p:cNvPr id="42" name="Shape 40"/>
          <p:cNvSpPr/>
          <p:nvPr/>
        </p:nvSpPr>
        <p:spPr>
          <a:xfrm>
            <a:off x="11697919" y="4937760"/>
            <a:ext cx="0" cy="155448"/>
          </a:xfrm>
          <a:prstGeom prst="line">
            <a:avLst/>
          </a:prstGeom>
          <a:noFill/>
          <a:ln w="15875">
            <a:solidFill>
              <a:schemeClr val="accent1"/>
            </a:solidFill>
            <a:prstDash val="solid"/>
          </a:ln>
        </p:spPr>
      </p:sp>
      <p:sp>
        <p:nvSpPr>
          <p:cNvPr id="43" name="Shape 41"/>
          <p:cNvSpPr/>
          <p:nvPr/>
        </p:nvSpPr>
        <p:spPr>
          <a:xfrm>
            <a:off x="7854696" y="6108192"/>
            <a:ext cx="155448" cy="0"/>
          </a:xfrm>
          <a:prstGeom prst="line">
            <a:avLst/>
          </a:prstGeom>
          <a:noFill/>
          <a:ln w="15875">
            <a:solidFill>
              <a:schemeClr val="accent1"/>
            </a:solidFill>
            <a:prstDash val="solid"/>
          </a:ln>
        </p:spPr>
      </p:sp>
      <p:sp>
        <p:nvSpPr>
          <p:cNvPr id="44" name="Shape 42"/>
          <p:cNvSpPr/>
          <p:nvPr/>
        </p:nvSpPr>
        <p:spPr>
          <a:xfrm>
            <a:off x="7854696" y="5952744"/>
            <a:ext cx="0" cy="155448"/>
          </a:xfrm>
          <a:prstGeom prst="line">
            <a:avLst/>
          </a:prstGeom>
          <a:noFill/>
          <a:ln w="15875">
            <a:solidFill>
              <a:schemeClr val="accent1"/>
            </a:solidFill>
            <a:prstDash val="solid"/>
          </a:ln>
        </p:spPr>
      </p:sp>
      <p:sp>
        <p:nvSpPr>
          <p:cNvPr id="45" name="Shape 43"/>
          <p:cNvSpPr/>
          <p:nvPr/>
        </p:nvSpPr>
        <p:spPr>
          <a:xfrm>
            <a:off x="11542471" y="6108192"/>
            <a:ext cx="155448" cy="0"/>
          </a:xfrm>
          <a:prstGeom prst="line">
            <a:avLst/>
          </a:prstGeom>
          <a:noFill/>
          <a:ln w="15875">
            <a:solidFill>
              <a:schemeClr val="accent1"/>
            </a:solidFill>
            <a:prstDash val="solid"/>
          </a:ln>
        </p:spPr>
      </p:sp>
      <p:sp>
        <p:nvSpPr>
          <p:cNvPr id="46" name="Shape 44"/>
          <p:cNvSpPr/>
          <p:nvPr/>
        </p:nvSpPr>
        <p:spPr>
          <a:xfrm>
            <a:off x="11697919" y="5952744"/>
            <a:ext cx="0" cy="155448"/>
          </a:xfrm>
          <a:prstGeom prst="line">
            <a:avLst/>
          </a:prstGeom>
          <a:noFill/>
          <a:ln w="15875">
            <a:solidFill>
              <a:schemeClr val="accent1"/>
            </a:solidFill>
            <a:prstDash val="solid"/>
          </a:ln>
        </p:spPr>
      </p:sp>
      <p:sp>
        <p:nvSpPr>
          <p:cNvPr id="47" name="Text 45"/>
          <p:cNvSpPr txBox="1"/>
          <p:nvPr/>
        </p:nvSpPr>
        <p:spPr>
          <a:xfrm>
            <a:off x="8138160" y="4992624"/>
            <a:ext cx="3276295" cy="1060704"/>
          </a:xfrm>
          <a:prstGeom prst="rect">
            <a:avLst/>
          </a:prstGeom>
          <a:noFill/>
          <a:ln/>
        </p:spPr>
        <p:txBody>
          <a:bodyPr wrap="square" lIns="0" tIns="0" rIns="0" bIns="0" rtlCol="0" anchor="ctr"/>
          <a:lstStyle/>
          <a:p>
            <a:pPr indent="0" marL="0">
              <a:buNone/>
            </a:pPr>
            <a:r>
              <a:rPr lang="es-CL" altLang="en-US" sz="2000" dirty="0">
                <a:solidFill>
                  <a:schemeClr val="tx2"/>
                </a:solidFill>
                <a:latin typeface="Figtree" pitchFamily="34" charset="0"/>
                <a:ea typeface="Figtree" pitchFamily="34" charset="-122"/>
                <a:cs typeface="Figtree" pitchFamily="34" charset="-120"/>
              </a:rPr>
              <a:t>Hito crítico o de seguridad: </a:t>
            </a:r>
            <a:endParaRPr lang="es-CL" sz="2000" dirty="0"/>
          </a:p>
          <a:p>
            <a:pPr indent="0" marL="0">
              <a:buNone/>
            </a:pPr>
            <a:r>
              <a:rPr lang="es-CL" altLang="en-US" sz="2000" b="1" dirty="0">
                <a:solidFill>
                  <a:schemeClr val="tx1"/>
                </a:solidFill>
                <a:latin typeface="Figtree" pitchFamily="34" charset="0"/>
                <a:ea typeface="Figtree" pitchFamily="34" charset="-122"/>
                <a:cs typeface="Figtree" pitchFamily="34" charset="-120"/>
              </a:rPr>
              <a:t>verde solo al 100%.</a:t>
            </a:r>
            <a:endParaRPr lang="es-CL" sz="20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09</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CONTROL · DESVIACIÓN DE UNA META</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CUANDO LA META SE INCUMPLE: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8 de 10.</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Excel de la Solemne 2, hoja CASO_SIMULADO. Ejercicio didáctico: no son datos de Lumine.</a:t>
            </a:r>
            <a:endParaRPr lang="es-CL" sz="1100" dirty="0"/>
          </a:p>
        </p:txBody>
      </p:sp>
      <p:sp>
        <p:nvSpPr>
          <p:cNvPr id="5" name="Shape 3"/>
          <p:cNvSpPr/>
          <p:nvPr/>
        </p:nvSpPr>
        <p:spPr>
          <a:xfrm>
            <a:off x="8639759" y="2322576"/>
            <a:ext cx="3003296" cy="420624"/>
          </a:xfrm>
          <a:prstGeom prst="rect">
            <a:avLst/>
          </a:prstGeom>
          <a:solidFill>
            <a:schemeClr val="bg1">
              <a:alpha val="0"/>
            </a:schemeClr>
          </a:solidFill>
          <a:ln w="19050">
            <a:solidFill>
              <a:schemeClr val="tx1"/>
            </a:solidFill>
            <a:prstDash val="dash"/>
          </a:ln>
        </p:spPr>
      </p:sp>
      <p:sp>
        <p:nvSpPr>
          <p:cNvPr id="6" name="Text 4"/>
          <p:cNvSpPr txBox="1"/>
          <p:nvPr/>
        </p:nvSpPr>
        <p:spPr>
          <a:xfrm>
            <a:off x="8749487" y="2322576"/>
            <a:ext cx="2783840" cy="420624"/>
          </a:xfrm>
          <a:prstGeom prst="rect">
            <a:avLst/>
          </a:prstGeom>
          <a:noFill/>
          <a:ln/>
        </p:spPr>
        <p:txBody>
          <a:bodyPr wrap="square" lIns="0" tIns="0" rIns="0" bIns="0" rtlCol="0" anchor="ctr"/>
          <a:lstStyle/>
          <a:p>
            <a:pPr algn="ctr" indent="0" marL="0">
              <a:buNone/>
            </a:pPr>
            <a:r>
              <a:rPr lang="es-CL" altLang="en-US" sz="1600" b="1" spc="100" kern="0" dirty="0">
                <a:solidFill>
                  <a:schemeClr val="tx1"/>
                </a:solidFill>
                <a:latin typeface="IBM Plex Mono" pitchFamily="34" charset="0"/>
                <a:ea typeface="IBM Plex Mono" pitchFamily="34" charset="-122"/>
                <a:cs typeface="IBM Plex Mono" pitchFamily="34" charset="-120"/>
              </a:rPr>
              <a:t>EJERCICIO HIPOTÉTICO</a:t>
            </a:r>
            <a:endParaRPr lang="es-CL" sz="1600" dirty="0"/>
          </a:p>
        </p:txBody>
      </p:sp>
      <p:sp>
        <p:nvSpPr>
          <p:cNvPr id="7" name="Text 5"/>
          <p:cNvSpPr txBox="1"/>
          <p:nvPr/>
        </p:nvSpPr>
        <p:spPr>
          <a:xfrm>
            <a:off x="548640" y="2395728"/>
            <a:ext cx="7315200" cy="274320"/>
          </a:xfrm>
          <a:prstGeom prst="rect">
            <a:avLst/>
          </a:prstGeom>
          <a:noFill/>
          <a:ln/>
        </p:spPr>
        <p:txBody>
          <a:bodyPr wrap="square" lIns="0" tIns="0" rIns="0" bIns="0" rtlCol="0" anchor="t"/>
          <a:lstStyle/>
          <a:p>
            <a:pPr indent="0" marL="0">
              <a:buNone/>
            </a:pPr>
            <a:r>
              <a:rPr lang="es-CL" altLang="en-US" sz="1600" spc="100" kern="0" dirty="0">
                <a:solidFill>
                  <a:schemeClr val="tx2"/>
                </a:solidFill>
                <a:latin typeface="IBM Plex Mono" pitchFamily="34" charset="0"/>
                <a:ea typeface="IBM Plex Mono" pitchFamily="34" charset="-122"/>
                <a:cs typeface="IBM Plex Mono" pitchFamily="34" charset="-120"/>
              </a:rPr>
              <a:t>INFORMES ENTREGADOS · 10 CLIENTES INTERVENIDOS</a:t>
            </a:r>
            <a:endParaRPr lang="es-CL" sz="1600" dirty="0"/>
          </a:p>
        </p:txBody>
      </p:sp>
      <p:sp>
        <p:nvSpPr>
          <p:cNvPr id="8" name="Shape 6"/>
          <p:cNvSpPr/>
          <p:nvPr/>
        </p:nvSpPr>
        <p:spPr>
          <a:xfrm>
            <a:off x="548640" y="2852928"/>
            <a:ext cx="977768" cy="713232"/>
          </a:xfrm>
          <a:prstGeom prst="rect">
            <a:avLst/>
          </a:prstGeom>
          <a:solidFill>
            <a:schemeClr val="accent1"/>
          </a:solidFill>
          <a:ln/>
        </p:spPr>
      </p:sp>
      <p:sp>
        <p:nvSpPr>
          <p:cNvPr id="9" name="Text 7"/>
          <p:cNvSpPr txBox="1"/>
          <p:nvPr/>
        </p:nvSpPr>
        <p:spPr>
          <a:xfrm>
            <a:off x="548640" y="2852928"/>
            <a:ext cx="977768" cy="713232"/>
          </a:xfrm>
          <a:prstGeom prst="rect">
            <a:avLst/>
          </a:prstGeom>
          <a:noFill/>
          <a:ln/>
        </p:spPr>
        <p:txBody>
          <a:bodyPr wrap="square" lIns="0" tIns="0" rIns="0" bIns="0" rtlCol="0" anchor="ctr"/>
          <a:lstStyle/>
          <a:p>
            <a:pPr algn="ctr" indent="0" marL="0">
              <a:buNone/>
            </a:pPr>
            <a:r>
              <a:rPr lang="es-CL" altLang="en-US" sz="1800" b="1" dirty="0">
                <a:solidFill>
                  <a:schemeClr val="bg1"/>
                </a:solidFill>
                <a:latin typeface="IBM Plex Mono" pitchFamily="34" charset="0"/>
                <a:ea typeface="IBM Plex Mono" pitchFamily="34" charset="-122"/>
                <a:cs typeface="IBM Plex Mono" pitchFamily="34" charset="-120"/>
              </a:rPr>
              <a:t>1</a:t>
            </a:r>
            <a:endParaRPr lang="es-CL" sz="1800" dirty="0"/>
          </a:p>
        </p:txBody>
      </p:sp>
      <p:sp>
        <p:nvSpPr>
          <p:cNvPr id="10" name="Shape 8"/>
          <p:cNvSpPr/>
          <p:nvPr/>
        </p:nvSpPr>
        <p:spPr>
          <a:xfrm>
            <a:off x="1672712" y="2852928"/>
            <a:ext cx="977768" cy="713232"/>
          </a:xfrm>
          <a:prstGeom prst="rect">
            <a:avLst/>
          </a:prstGeom>
          <a:solidFill>
            <a:schemeClr val="accent1"/>
          </a:solidFill>
          <a:ln/>
        </p:spPr>
      </p:sp>
      <p:sp>
        <p:nvSpPr>
          <p:cNvPr id="11" name="Text 9"/>
          <p:cNvSpPr txBox="1"/>
          <p:nvPr/>
        </p:nvSpPr>
        <p:spPr>
          <a:xfrm>
            <a:off x="1672712" y="2852928"/>
            <a:ext cx="977768" cy="713232"/>
          </a:xfrm>
          <a:prstGeom prst="rect">
            <a:avLst/>
          </a:prstGeom>
          <a:noFill/>
          <a:ln/>
        </p:spPr>
        <p:txBody>
          <a:bodyPr wrap="square" lIns="0" tIns="0" rIns="0" bIns="0" rtlCol="0" anchor="ctr"/>
          <a:lstStyle/>
          <a:p>
            <a:pPr algn="ctr" indent="0" marL="0">
              <a:buNone/>
            </a:pPr>
            <a:r>
              <a:rPr lang="es-CL" altLang="en-US" sz="1800" b="1" dirty="0">
                <a:solidFill>
                  <a:schemeClr val="bg1"/>
                </a:solidFill>
                <a:latin typeface="IBM Plex Mono" pitchFamily="34" charset="0"/>
                <a:ea typeface="IBM Plex Mono" pitchFamily="34" charset="-122"/>
                <a:cs typeface="IBM Plex Mono" pitchFamily="34" charset="-120"/>
              </a:rPr>
              <a:t>2</a:t>
            </a:r>
            <a:endParaRPr lang="es-CL" sz="1800" dirty="0"/>
          </a:p>
        </p:txBody>
      </p:sp>
      <p:sp>
        <p:nvSpPr>
          <p:cNvPr id="12" name="Shape 10"/>
          <p:cNvSpPr/>
          <p:nvPr/>
        </p:nvSpPr>
        <p:spPr>
          <a:xfrm>
            <a:off x="2796784" y="2852928"/>
            <a:ext cx="977768" cy="713232"/>
          </a:xfrm>
          <a:prstGeom prst="rect">
            <a:avLst/>
          </a:prstGeom>
          <a:solidFill>
            <a:schemeClr val="accent1"/>
          </a:solidFill>
          <a:ln/>
        </p:spPr>
      </p:sp>
      <p:sp>
        <p:nvSpPr>
          <p:cNvPr id="13" name="Text 11"/>
          <p:cNvSpPr txBox="1"/>
          <p:nvPr/>
        </p:nvSpPr>
        <p:spPr>
          <a:xfrm>
            <a:off x="2796784" y="2852928"/>
            <a:ext cx="977768" cy="713232"/>
          </a:xfrm>
          <a:prstGeom prst="rect">
            <a:avLst/>
          </a:prstGeom>
          <a:noFill/>
          <a:ln/>
        </p:spPr>
        <p:txBody>
          <a:bodyPr wrap="square" lIns="0" tIns="0" rIns="0" bIns="0" rtlCol="0" anchor="ctr"/>
          <a:lstStyle/>
          <a:p>
            <a:pPr algn="ctr" indent="0" marL="0">
              <a:buNone/>
            </a:pPr>
            <a:r>
              <a:rPr lang="es-CL" altLang="en-US" sz="1800" b="1" dirty="0">
                <a:solidFill>
                  <a:schemeClr val="bg1"/>
                </a:solidFill>
                <a:latin typeface="IBM Plex Mono" pitchFamily="34" charset="0"/>
                <a:ea typeface="IBM Plex Mono" pitchFamily="34" charset="-122"/>
                <a:cs typeface="IBM Plex Mono" pitchFamily="34" charset="-120"/>
              </a:rPr>
              <a:t>3</a:t>
            </a:r>
            <a:endParaRPr lang="es-CL" sz="1800" dirty="0"/>
          </a:p>
        </p:txBody>
      </p:sp>
      <p:sp>
        <p:nvSpPr>
          <p:cNvPr id="14" name="Shape 12"/>
          <p:cNvSpPr/>
          <p:nvPr/>
        </p:nvSpPr>
        <p:spPr>
          <a:xfrm>
            <a:off x="3920856" y="2852928"/>
            <a:ext cx="977768" cy="713232"/>
          </a:xfrm>
          <a:prstGeom prst="rect">
            <a:avLst/>
          </a:prstGeom>
          <a:solidFill>
            <a:schemeClr val="accent1"/>
          </a:solidFill>
          <a:ln/>
        </p:spPr>
      </p:sp>
      <p:sp>
        <p:nvSpPr>
          <p:cNvPr id="15" name="Text 13"/>
          <p:cNvSpPr txBox="1"/>
          <p:nvPr/>
        </p:nvSpPr>
        <p:spPr>
          <a:xfrm>
            <a:off x="3920856" y="2852928"/>
            <a:ext cx="977768" cy="713232"/>
          </a:xfrm>
          <a:prstGeom prst="rect">
            <a:avLst/>
          </a:prstGeom>
          <a:noFill/>
          <a:ln/>
        </p:spPr>
        <p:txBody>
          <a:bodyPr wrap="square" lIns="0" tIns="0" rIns="0" bIns="0" rtlCol="0" anchor="ctr"/>
          <a:lstStyle/>
          <a:p>
            <a:pPr algn="ctr" indent="0" marL="0">
              <a:buNone/>
            </a:pPr>
            <a:r>
              <a:rPr lang="es-CL" altLang="en-US" sz="1800" b="1" dirty="0">
                <a:solidFill>
                  <a:schemeClr val="bg1"/>
                </a:solidFill>
                <a:latin typeface="IBM Plex Mono" pitchFamily="34" charset="0"/>
                <a:ea typeface="IBM Plex Mono" pitchFamily="34" charset="-122"/>
                <a:cs typeface="IBM Plex Mono" pitchFamily="34" charset="-120"/>
              </a:rPr>
              <a:t>4</a:t>
            </a:r>
            <a:endParaRPr lang="es-CL" sz="1800" dirty="0"/>
          </a:p>
        </p:txBody>
      </p:sp>
      <p:sp>
        <p:nvSpPr>
          <p:cNvPr id="16" name="Shape 14"/>
          <p:cNvSpPr/>
          <p:nvPr/>
        </p:nvSpPr>
        <p:spPr>
          <a:xfrm>
            <a:off x="5044928" y="2852928"/>
            <a:ext cx="977768" cy="713232"/>
          </a:xfrm>
          <a:prstGeom prst="rect">
            <a:avLst/>
          </a:prstGeom>
          <a:solidFill>
            <a:schemeClr val="accent1"/>
          </a:solidFill>
          <a:ln/>
        </p:spPr>
      </p:sp>
      <p:sp>
        <p:nvSpPr>
          <p:cNvPr id="17" name="Text 15"/>
          <p:cNvSpPr txBox="1"/>
          <p:nvPr/>
        </p:nvSpPr>
        <p:spPr>
          <a:xfrm>
            <a:off x="5044928" y="2852928"/>
            <a:ext cx="977768" cy="713232"/>
          </a:xfrm>
          <a:prstGeom prst="rect">
            <a:avLst/>
          </a:prstGeom>
          <a:noFill/>
          <a:ln/>
        </p:spPr>
        <p:txBody>
          <a:bodyPr wrap="square" lIns="0" tIns="0" rIns="0" bIns="0" rtlCol="0" anchor="ctr"/>
          <a:lstStyle/>
          <a:p>
            <a:pPr algn="ctr" indent="0" marL="0">
              <a:buNone/>
            </a:pPr>
            <a:r>
              <a:rPr lang="es-CL" altLang="en-US" sz="1800" b="1" dirty="0">
                <a:solidFill>
                  <a:schemeClr val="bg1"/>
                </a:solidFill>
                <a:latin typeface="IBM Plex Mono" pitchFamily="34" charset="0"/>
                <a:ea typeface="IBM Plex Mono" pitchFamily="34" charset="-122"/>
                <a:cs typeface="IBM Plex Mono" pitchFamily="34" charset="-120"/>
              </a:rPr>
              <a:t>5</a:t>
            </a:r>
            <a:endParaRPr lang="es-CL" sz="1800" dirty="0"/>
          </a:p>
        </p:txBody>
      </p:sp>
      <p:sp>
        <p:nvSpPr>
          <p:cNvPr id="18" name="Shape 16"/>
          <p:cNvSpPr/>
          <p:nvPr/>
        </p:nvSpPr>
        <p:spPr>
          <a:xfrm>
            <a:off x="6169000" y="2852928"/>
            <a:ext cx="977768" cy="713232"/>
          </a:xfrm>
          <a:prstGeom prst="rect">
            <a:avLst/>
          </a:prstGeom>
          <a:solidFill>
            <a:schemeClr val="accent1"/>
          </a:solidFill>
          <a:ln/>
        </p:spPr>
      </p:sp>
      <p:sp>
        <p:nvSpPr>
          <p:cNvPr id="19" name="Text 17"/>
          <p:cNvSpPr txBox="1"/>
          <p:nvPr/>
        </p:nvSpPr>
        <p:spPr>
          <a:xfrm>
            <a:off x="6169000" y="2852928"/>
            <a:ext cx="977768" cy="713232"/>
          </a:xfrm>
          <a:prstGeom prst="rect">
            <a:avLst/>
          </a:prstGeom>
          <a:noFill/>
          <a:ln/>
        </p:spPr>
        <p:txBody>
          <a:bodyPr wrap="square" lIns="0" tIns="0" rIns="0" bIns="0" rtlCol="0" anchor="ctr"/>
          <a:lstStyle/>
          <a:p>
            <a:pPr algn="ctr" indent="0" marL="0">
              <a:buNone/>
            </a:pPr>
            <a:r>
              <a:rPr lang="es-CL" altLang="en-US" sz="1800" b="1" dirty="0">
                <a:solidFill>
                  <a:schemeClr val="bg1"/>
                </a:solidFill>
                <a:latin typeface="IBM Plex Mono" pitchFamily="34" charset="0"/>
                <a:ea typeface="IBM Plex Mono" pitchFamily="34" charset="-122"/>
                <a:cs typeface="IBM Plex Mono" pitchFamily="34" charset="-120"/>
              </a:rPr>
              <a:t>6</a:t>
            </a:r>
            <a:endParaRPr lang="es-CL" sz="1800" dirty="0"/>
          </a:p>
        </p:txBody>
      </p:sp>
      <p:sp>
        <p:nvSpPr>
          <p:cNvPr id="20" name="Shape 18"/>
          <p:cNvSpPr/>
          <p:nvPr/>
        </p:nvSpPr>
        <p:spPr>
          <a:xfrm>
            <a:off x="7293072" y="2852928"/>
            <a:ext cx="977768" cy="713232"/>
          </a:xfrm>
          <a:prstGeom prst="rect">
            <a:avLst/>
          </a:prstGeom>
          <a:solidFill>
            <a:schemeClr val="accent1"/>
          </a:solidFill>
          <a:ln/>
        </p:spPr>
      </p:sp>
      <p:sp>
        <p:nvSpPr>
          <p:cNvPr id="21" name="Text 19"/>
          <p:cNvSpPr txBox="1"/>
          <p:nvPr/>
        </p:nvSpPr>
        <p:spPr>
          <a:xfrm>
            <a:off x="7293072" y="2852928"/>
            <a:ext cx="977768" cy="713232"/>
          </a:xfrm>
          <a:prstGeom prst="rect">
            <a:avLst/>
          </a:prstGeom>
          <a:noFill/>
          <a:ln/>
        </p:spPr>
        <p:txBody>
          <a:bodyPr wrap="square" lIns="0" tIns="0" rIns="0" bIns="0" rtlCol="0" anchor="ctr"/>
          <a:lstStyle/>
          <a:p>
            <a:pPr algn="ctr" indent="0" marL="0">
              <a:buNone/>
            </a:pPr>
            <a:r>
              <a:rPr lang="es-CL" altLang="en-US" sz="1800" b="1" dirty="0">
                <a:solidFill>
                  <a:schemeClr val="bg1"/>
                </a:solidFill>
                <a:latin typeface="IBM Plex Mono" pitchFamily="34" charset="0"/>
                <a:ea typeface="IBM Plex Mono" pitchFamily="34" charset="-122"/>
                <a:cs typeface="IBM Plex Mono" pitchFamily="34" charset="-120"/>
              </a:rPr>
              <a:t>7</a:t>
            </a:r>
            <a:endParaRPr lang="es-CL" sz="1800" dirty="0"/>
          </a:p>
        </p:txBody>
      </p:sp>
      <p:sp>
        <p:nvSpPr>
          <p:cNvPr id="22" name="Shape 20"/>
          <p:cNvSpPr/>
          <p:nvPr/>
        </p:nvSpPr>
        <p:spPr>
          <a:xfrm>
            <a:off x="8417143" y="2852928"/>
            <a:ext cx="977768" cy="713232"/>
          </a:xfrm>
          <a:prstGeom prst="rect">
            <a:avLst/>
          </a:prstGeom>
          <a:solidFill>
            <a:schemeClr val="accent1"/>
          </a:solidFill>
          <a:ln/>
        </p:spPr>
      </p:sp>
      <p:sp>
        <p:nvSpPr>
          <p:cNvPr id="23" name="Text 21"/>
          <p:cNvSpPr txBox="1"/>
          <p:nvPr/>
        </p:nvSpPr>
        <p:spPr>
          <a:xfrm>
            <a:off x="8417143" y="2852928"/>
            <a:ext cx="977768" cy="713232"/>
          </a:xfrm>
          <a:prstGeom prst="rect">
            <a:avLst/>
          </a:prstGeom>
          <a:noFill/>
          <a:ln/>
        </p:spPr>
        <p:txBody>
          <a:bodyPr wrap="square" lIns="0" tIns="0" rIns="0" bIns="0" rtlCol="0" anchor="ctr"/>
          <a:lstStyle/>
          <a:p>
            <a:pPr algn="ctr" indent="0" marL="0">
              <a:buNone/>
            </a:pPr>
            <a:r>
              <a:rPr lang="es-CL" altLang="en-US" sz="1800" b="1" dirty="0">
                <a:solidFill>
                  <a:schemeClr val="bg1"/>
                </a:solidFill>
                <a:latin typeface="IBM Plex Mono" pitchFamily="34" charset="0"/>
                <a:ea typeface="IBM Plex Mono" pitchFamily="34" charset="-122"/>
                <a:cs typeface="IBM Plex Mono" pitchFamily="34" charset="-120"/>
              </a:rPr>
              <a:t>8</a:t>
            </a:r>
            <a:endParaRPr lang="es-CL" sz="1800" dirty="0"/>
          </a:p>
        </p:txBody>
      </p:sp>
      <p:sp>
        <p:nvSpPr>
          <p:cNvPr id="24" name="Shape 22"/>
          <p:cNvSpPr/>
          <p:nvPr/>
        </p:nvSpPr>
        <p:spPr>
          <a:xfrm>
            <a:off x="9541215" y="2852928"/>
            <a:ext cx="977768" cy="713232"/>
          </a:xfrm>
          <a:prstGeom prst="rect">
            <a:avLst/>
          </a:prstGeom>
          <a:solidFill>
            <a:schemeClr val="bg1">
              <a:alpha val="0"/>
            </a:schemeClr>
          </a:solidFill>
          <a:ln w="19050">
            <a:solidFill>
              <a:srgbClr val="F87171"/>
            </a:solidFill>
            <a:prstDash val="dash"/>
          </a:ln>
        </p:spPr>
      </p:sp>
      <p:sp>
        <p:nvSpPr>
          <p:cNvPr id="25" name="Text 23"/>
          <p:cNvSpPr txBox="1"/>
          <p:nvPr/>
        </p:nvSpPr>
        <p:spPr>
          <a:xfrm>
            <a:off x="9541215" y="2852928"/>
            <a:ext cx="977768" cy="713232"/>
          </a:xfrm>
          <a:prstGeom prst="rect">
            <a:avLst/>
          </a:prstGeom>
          <a:noFill/>
          <a:ln/>
        </p:spPr>
        <p:txBody>
          <a:bodyPr wrap="square" lIns="0" tIns="0" rIns="0" bIns="0" rtlCol="0" anchor="ctr"/>
          <a:lstStyle/>
          <a:p>
            <a:pPr algn="ctr" indent="0" marL="0">
              <a:buNone/>
            </a:pPr>
            <a:r>
              <a:rPr lang="es-CL" altLang="en-US" sz="1400" b="1" dirty="0">
                <a:solidFill>
                  <a:srgbClr val="F87171"/>
                </a:solidFill>
                <a:latin typeface="IBM Plex Mono" pitchFamily="34" charset="0"/>
                <a:ea typeface="IBM Plex Mono" pitchFamily="34" charset="-122"/>
                <a:cs typeface="IBM Plex Mono" pitchFamily="34" charset="-120"/>
              </a:rPr>
              <a:t>FALTA</a:t>
            </a:r>
            <a:endParaRPr lang="es-CL" sz="1400" dirty="0"/>
          </a:p>
        </p:txBody>
      </p:sp>
      <p:sp>
        <p:nvSpPr>
          <p:cNvPr id="26" name="Shape 24"/>
          <p:cNvSpPr/>
          <p:nvPr/>
        </p:nvSpPr>
        <p:spPr>
          <a:xfrm>
            <a:off x="10665287" y="2852928"/>
            <a:ext cx="977768" cy="713232"/>
          </a:xfrm>
          <a:prstGeom prst="rect">
            <a:avLst/>
          </a:prstGeom>
          <a:solidFill>
            <a:schemeClr val="bg1">
              <a:alpha val="0"/>
            </a:schemeClr>
          </a:solidFill>
          <a:ln w="19050">
            <a:solidFill>
              <a:srgbClr val="F87171"/>
            </a:solidFill>
            <a:prstDash val="dash"/>
          </a:ln>
        </p:spPr>
      </p:sp>
      <p:sp>
        <p:nvSpPr>
          <p:cNvPr id="27" name="Text 25"/>
          <p:cNvSpPr txBox="1"/>
          <p:nvPr/>
        </p:nvSpPr>
        <p:spPr>
          <a:xfrm>
            <a:off x="10665287" y="2852928"/>
            <a:ext cx="977768" cy="713232"/>
          </a:xfrm>
          <a:prstGeom prst="rect">
            <a:avLst/>
          </a:prstGeom>
          <a:noFill/>
          <a:ln/>
        </p:spPr>
        <p:txBody>
          <a:bodyPr wrap="square" lIns="0" tIns="0" rIns="0" bIns="0" rtlCol="0" anchor="ctr"/>
          <a:lstStyle/>
          <a:p>
            <a:pPr algn="ctr" indent="0" marL="0">
              <a:buNone/>
            </a:pPr>
            <a:r>
              <a:rPr lang="es-CL" altLang="en-US" sz="1400" b="1" dirty="0">
                <a:solidFill>
                  <a:srgbClr val="F87171"/>
                </a:solidFill>
                <a:latin typeface="IBM Plex Mono" pitchFamily="34" charset="0"/>
                <a:ea typeface="IBM Plex Mono" pitchFamily="34" charset="-122"/>
                <a:cs typeface="IBM Plex Mono" pitchFamily="34" charset="-120"/>
              </a:rPr>
              <a:t>FALTA</a:t>
            </a:r>
            <a:endParaRPr lang="es-CL" sz="1400" dirty="0"/>
          </a:p>
        </p:txBody>
      </p:sp>
      <p:sp>
        <p:nvSpPr>
          <p:cNvPr id="28" name="Text 26"/>
          <p:cNvSpPr txBox="1"/>
          <p:nvPr/>
        </p:nvSpPr>
        <p:spPr>
          <a:xfrm>
            <a:off x="548640" y="3840480"/>
            <a:ext cx="3698138" cy="274320"/>
          </a:xfrm>
          <a:prstGeom prst="rect">
            <a:avLst/>
          </a:prstGeom>
          <a:noFill/>
          <a:ln/>
        </p:spPr>
        <p:txBody>
          <a:bodyPr wrap="square" lIns="0" tIns="0" rIns="0" bIns="0" rtlCol="0" anchor="t"/>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REAL</a:t>
            </a:r>
            <a:endParaRPr lang="es-CL" sz="1400" dirty="0"/>
          </a:p>
        </p:txBody>
      </p:sp>
      <p:sp>
        <p:nvSpPr>
          <p:cNvPr id="29" name="Text 27"/>
          <p:cNvSpPr txBox="1"/>
          <p:nvPr/>
        </p:nvSpPr>
        <p:spPr>
          <a:xfrm>
            <a:off x="548640" y="4114800"/>
            <a:ext cx="3515258" cy="731520"/>
          </a:xfrm>
          <a:prstGeom prst="rect">
            <a:avLst/>
          </a:prstGeom>
          <a:noFill/>
          <a:ln/>
        </p:spPr>
        <p:txBody>
          <a:bodyPr wrap="square" lIns="0" tIns="0" rIns="0" bIns="0" rtlCol="0" anchor="ctr"/>
          <a:lstStyle/>
          <a:p>
            <a:pPr indent="0" marL="0">
              <a:buNone/>
            </a:pPr>
            <a:r>
              <a:rPr lang="es-CL" altLang="en-US" sz="4800" b="1" dirty="0">
                <a:solidFill>
                  <a:schemeClr val="tx1"/>
                </a:solidFill>
                <a:latin typeface="Archivo Condensed" pitchFamily="34" charset="0"/>
                <a:ea typeface="Archivo Condensed" pitchFamily="34" charset="-122"/>
                <a:cs typeface="Archivo Condensed" pitchFamily="34" charset="-120"/>
              </a:rPr>
              <a:t>80%</a:t>
            </a:r>
            <a:endParaRPr lang="es-CL" sz="4800" dirty="0"/>
          </a:p>
        </p:txBody>
      </p:sp>
      <p:sp>
        <p:nvSpPr>
          <p:cNvPr id="30" name="Text 28"/>
          <p:cNvSpPr txBox="1"/>
          <p:nvPr/>
        </p:nvSpPr>
        <p:spPr>
          <a:xfrm>
            <a:off x="4246778" y="3840480"/>
            <a:ext cx="3698138" cy="274320"/>
          </a:xfrm>
          <a:prstGeom prst="rect">
            <a:avLst/>
          </a:prstGeom>
          <a:noFill/>
          <a:ln/>
        </p:spPr>
        <p:txBody>
          <a:bodyPr wrap="square" lIns="0" tIns="0" rIns="0" bIns="0" rtlCol="0" anchor="t"/>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META</a:t>
            </a:r>
            <a:endParaRPr lang="es-CL" sz="1400" dirty="0"/>
          </a:p>
        </p:txBody>
      </p:sp>
      <p:sp>
        <p:nvSpPr>
          <p:cNvPr id="31" name="Text 29"/>
          <p:cNvSpPr txBox="1"/>
          <p:nvPr/>
        </p:nvSpPr>
        <p:spPr>
          <a:xfrm>
            <a:off x="4246778" y="4114800"/>
            <a:ext cx="3515258" cy="731520"/>
          </a:xfrm>
          <a:prstGeom prst="rect">
            <a:avLst/>
          </a:prstGeom>
          <a:noFill/>
          <a:ln/>
        </p:spPr>
        <p:txBody>
          <a:bodyPr wrap="square" lIns="0" tIns="0" rIns="0" bIns="0" rtlCol="0" anchor="ctr"/>
          <a:lstStyle/>
          <a:p>
            <a:pPr indent="0" marL="0">
              <a:buNone/>
            </a:pPr>
            <a:r>
              <a:rPr lang="es-CL" altLang="en-US" sz="4800" b="1" dirty="0">
                <a:solidFill>
                  <a:schemeClr val="tx1"/>
                </a:solidFill>
                <a:latin typeface="Archivo Condensed" pitchFamily="34" charset="0"/>
                <a:ea typeface="Archivo Condensed" pitchFamily="34" charset="-122"/>
                <a:cs typeface="Archivo Condensed" pitchFamily="34" charset="-120"/>
              </a:rPr>
              <a:t>100%</a:t>
            </a:r>
            <a:endParaRPr lang="es-CL" sz="4800" dirty="0"/>
          </a:p>
        </p:txBody>
      </p:sp>
      <p:pic>
        <p:nvPicPr>
          <p:cNvPr id="32" name="Image 0" descr="C:\Users\Usuario\Documents\GitHub\lumine\solemne-2\generador\assets\brillo.png">    </p:cNvPr>
          <p:cNvPicPr>
            <a:picLocks noChangeAspect="1"/>
          </p:cNvPicPr>
          <p:nvPr/>
        </p:nvPicPr>
        <p:blipFill>
          <a:blip r:embed="rId1"/>
          <a:stretch>
            <a:fillRect/>
          </a:stretch>
        </p:blipFill>
        <p:spPr>
          <a:xfrm>
            <a:off x="7670597" y="3703320"/>
            <a:ext cx="3291840" cy="1280160"/>
          </a:xfrm>
          <a:prstGeom prst="rect">
            <a:avLst/>
          </a:prstGeom>
        </p:spPr>
      </p:pic>
      <p:sp>
        <p:nvSpPr>
          <p:cNvPr id="33" name="Text 30"/>
          <p:cNvSpPr txBox="1"/>
          <p:nvPr/>
        </p:nvSpPr>
        <p:spPr>
          <a:xfrm>
            <a:off x="7944917" y="3840480"/>
            <a:ext cx="3698138" cy="274320"/>
          </a:xfrm>
          <a:prstGeom prst="rect">
            <a:avLst/>
          </a:prstGeom>
          <a:noFill/>
          <a:ln/>
        </p:spPr>
        <p:txBody>
          <a:bodyPr wrap="square" lIns="0" tIns="0" rIns="0" bIns="0" rtlCol="0" anchor="t"/>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DESVIACIÓN</a:t>
            </a:r>
            <a:endParaRPr lang="es-CL" sz="1400" dirty="0"/>
          </a:p>
        </p:txBody>
      </p:sp>
      <p:sp>
        <p:nvSpPr>
          <p:cNvPr id="34" name="Text 31"/>
          <p:cNvSpPr txBox="1"/>
          <p:nvPr/>
        </p:nvSpPr>
        <p:spPr>
          <a:xfrm>
            <a:off x="7944917" y="4114800"/>
            <a:ext cx="3515258" cy="731520"/>
          </a:xfrm>
          <a:prstGeom prst="rect">
            <a:avLst/>
          </a:prstGeom>
          <a:noFill/>
          <a:ln/>
        </p:spPr>
        <p:txBody>
          <a:bodyPr wrap="square" lIns="0" tIns="0" rIns="0" bIns="0" rtlCol="0" anchor="ctr"/>
          <a:lstStyle/>
          <a:p>
            <a:pPr indent="0" marL="0">
              <a:buNone/>
            </a:pPr>
            <a:r>
              <a:rPr lang="es-CL" altLang="en-US" sz="4800" b="1" dirty="0">
                <a:solidFill>
                  <a:schemeClr val="accent1"/>
                </a:solidFill>
                <a:latin typeface="Archivo Condensed" pitchFamily="34" charset="0"/>
                <a:ea typeface="Archivo Condensed" pitchFamily="34" charset="-122"/>
                <a:cs typeface="Archivo Condensed" pitchFamily="34" charset="-120"/>
              </a:rPr>
              <a:t>−20 pp</a:t>
            </a:r>
            <a:endParaRPr lang="es-CL" sz="4800" dirty="0"/>
          </a:p>
        </p:txBody>
      </p:sp>
      <p:sp>
        <p:nvSpPr>
          <p:cNvPr id="35" name="Shape 32"/>
          <p:cNvSpPr/>
          <p:nvPr/>
        </p:nvSpPr>
        <p:spPr>
          <a:xfrm>
            <a:off x="548640" y="5047488"/>
            <a:ext cx="5364328" cy="1188720"/>
          </a:xfrm>
          <a:prstGeom prst="rect">
            <a:avLst/>
          </a:prstGeom>
          <a:solidFill>
            <a:schemeClr val="bg2"/>
          </a:solidFill>
          <a:ln w="12700">
            <a:solidFill>
              <a:srgbClr val="F5B94A"/>
            </a:solidFill>
            <a:prstDash val="solid"/>
          </a:ln>
        </p:spPr>
      </p:sp>
      <p:sp>
        <p:nvSpPr>
          <p:cNvPr id="36" name="Text 33"/>
          <p:cNvSpPr txBox="1"/>
          <p:nvPr/>
        </p:nvSpPr>
        <p:spPr>
          <a:xfrm>
            <a:off x="777240" y="5193792"/>
            <a:ext cx="4907128" cy="274320"/>
          </a:xfrm>
          <a:prstGeom prst="rect">
            <a:avLst/>
          </a:prstGeom>
          <a:noFill/>
          <a:ln/>
        </p:spPr>
        <p:txBody>
          <a:bodyPr wrap="square" lIns="0" tIns="0" rIns="0" bIns="0" rtlCol="0" anchor="t"/>
          <a:lstStyle/>
          <a:p>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REGLA GENERAL</a:t>
            </a:r>
            <a:endParaRPr lang="es-CL" sz="1400" dirty="0"/>
          </a:p>
        </p:txBody>
      </p:sp>
      <p:sp>
        <p:nvSpPr>
          <p:cNvPr id="37" name="Text 34"/>
          <p:cNvSpPr txBox="1"/>
          <p:nvPr/>
        </p:nvSpPr>
        <p:spPr>
          <a:xfrm>
            <a:off x="777240" y="5504688"/>
            <a:ext cx="3352648" cy="457200"/>
          </a:xfrm>
          <a:prstGeom prst="rect">
            <a:avLst/>
          </a:prstGeom>
          <a:noFill/>
          <a:ln/>
        </p:spPr>
        <p:txBody>
          <a:bodyPr wrap="square" lIns="0" tIns="0" rIns="0" bIns="0" rtlCol="0" anchor="ctr"/>
          <a:lstStyle/>
          <a:p>
            <a:pPr indent="0" marL="0">
              <a:buNone/>
            </a:pPr>
            <a:r>
              <a:rPr lang="es-CL" altLang="en-US" sz="2000" dirty="0">
                <a:solidFill>
                  <a:schemeClr val="tx1"/>
                </a:solidFill>
                <a:latin typeface="Figtree" pitchFamily="34" charset="0"/>
                <a:ea typeface="Figtree" pitchFamily="34" charset="-122"/>
                <a:cs typeface="Figtree" pitchFamily="34" charset="-120"/>
              </a:rPr>
              <a:t>Entre 70% y 89%</a:t>
            </a:r>
            <a:endParaRPr lang="es-CL" sz="2000" dirty="0"/>
          </a:p>
        </p:txBody>
      </p:sp>
      <p:sp>
        <p:nvSpPr>
          <p:cNvPr id="38" name="Shape 35"/>
          <p:cNvSpPr/>
          <p:nvPr/>
        </p:nvSpPr>
        <p:spPr>
          <a:xfrm>
            <a:off x="4462628" y="5522976"/>
            <a:ext cx="1221740" cy="420624"/>
          </a:xfrm>
          <a:prstGeom prst="rect">
            <a:avLst/>
          </a:prstGeom>
          <a:solidFill>
            <a:schemeClr val="bg1">
              <a:alpha val="0"/>
            </a:schemeClr>
          </a:solidFill>
          <a:ln w="15875">
            <a:solidFill>
              <a:srgbClr val="F5B94A"/>
            </a:solidFill>
            <a:prstDash val="solid"/>
          </a:ln>
        </p:spPr>
      </p:sp>
      <p:sp>
        <p:nvSpPr>
          <p:cNvPr id="39" name="Shape 36"/>
          <p:cNvSpPr/>
          <p:nvPr/>
        </p:nvSpPr>
        <p:spPr>
          <a:xfrm>
            <a:off x="4599788" y="5660136"/>
            <a:ext cx="146304" cy="146304"/>
          </a:xfrm>
          <a:prstGeom prst="ellipse">
            <a:avLst/>
          </a:prstGeom>
          <a:solidFill>
            <a:srgbClr val="F5B94A"/>
          </a:solidFill>
          <a:ln/>
        </p:spPr>
      </p:sp>
      <p:sp>
        <p:nvSpPr>
          <p:cNvPr id="40" name="Text 37"/>
          <p:cNvSpPr txBox="1"/>
          <p:nvPr/>
        </p:nvSpPr>
        <p:spPr>
          <a:xfrm>
            <a:off x="4828388" y="5522976"/>
            <a:ext cx="764540" cy="420624"/>
          </a:xfrm>
          <a:prstGeom prst="rect">
            <a:avLst/>
          </a:prstGeom>
          <a:noFill/>
          <a:ln/>
        </p:spPr>
        <p:txBody>
          <a:bodyPr wrap="square" lIns="0" tIns="0" rIns="0" bIns="0" rtlCol="0" anchor="ctr"/>
          <a:lstStyle/>
          <a:p>
            <a:pPr indent="0" marL="0">
              <a:buNone/>
            </a:pPr>
            <a:r>
              <a:rPr lang="es-CL" altLang="en-US" sz="1600" b="1" spc="100" kern="0" dirty="0">
                <a:solidFill>
                  <a:srgbClr val="F5B94A"/>
                </a:solidFill>
                <a:latin typeface="IBM Plex Mono" pitchFamily="34" charset="0"/>
                <a:ea typeface="IBM Plex Mono" pitchFamily="34" charset="-122"/>
                <a:cs typeface="IBM Plex Mono" pitchFamily="34" charset="-120"/>
              </a:rPr>
              <a:t>ÁMBAR</a:t>
            </a:r>
            <a:endParaRPr lang="es-CL" sz="1600" dirty="0"/>
          </a:p>
        </p:txBody>
      </p:sp>
      <p:sp>
        <p:nvSpPr>
          <p:cNvPr id="41" name="Shape 38"/>
          <p:cNvSpPr/>
          <p:nvPr/>
        </p:nvSpPr>
        <p:spPr>
          <a:xfrm>
            <a:off x="6278728" y="5047488"/>
            <a:ext cx="5364328" cy="1188720"/>
          </a:xfrm>
          <a:prstGeom prst="rect">
            <a:avLst/>
          </a:prstGeom>
          <a:solidFill>
            <a:srgbClr val="0B1A22"/>
          </a:solidFill>
          <a:ln w="15875">
            <a:solidFill>
              <a:schemeClr val="accent1"/>
            </a:solidFill>
            <a:prstDash val="solid"/>
          </a:ln>
        </p:spPr>
      </p:sp>
      <p:sp>
        <p:nvSpPr>
          <p:cNvPr id="42" name="Shape 39"/>
          <p:cNvSpPr/>
          <p:nvPr/>
        </p:nvSpPr>
        <p:spPr>
          <a:xfrm>
            <a:off x="6223864" y="4992624"/>
            <a:ext cx="155448" cy="0"/>
          </a:xfrm>
          <a:prstGeom prst="line">
            <a:avLst/>
          </a:prstGeom>
          <a:noFill/>
          <a:ln w="15875">
            <a:solidFill>
              <a:schemeClr val="accent1"/>
            </a:solidFill>
            <a:prstDash val="solid"/>
          </a:ln>
        </p:spPr>
      </p:sp>
      <p:sp>
        <p:nvSpPr>
          <p:cNvPr id="43" name="Shape 40"/>
          <p:cNvSpPr/>
          <p:nvPr/>
        </p:nvSpPr>
        <p:spPr>
          <a:xfrm>
            <a:off x="6223864" y="4992624"/>
            <a:ext cx="0" cy="155448"/>
          </a:xfrm>
          <a:prstGeom prst="line">
            <a:avLst/>
          </a:prstGeom>
          <a:noFill/>
          <a:ln w="15875">
            <a:solidFill>
              <a:schemeClr val="accent1"/>
            </a:solidFill>
            <a:prstDash val="solid"/>
          </a:ln>
        </p:spPr>
      </p:sp>
      <p:sp>
        <p:nvSpPr>
          <p:cNvPr id="44" name="Shape 41"/>
          <p:cNvSpPr/>
          <p:nvPr/>
        </p:nvSpPr>
        <p:spPr>
          <a:xfrm>
            <a:off x="11542471" y="4992624"/>
            <a:ext cx="155448" cy="0"/>
          </a:xfrm>
          <a:prstGeom prst="line">
            <a:avLst/>
          </a:prstGeom>
          <a:noFill/>
          <a:ln w="15875">
            <a:solidFill>
              <a:schemeClr val="accent1"/>
            </a:solidFill>
            <a:prstDash val="solid"/>
          </a:ln>
        </p:spPr>
      </p:sp>
      <p:sp>
        <p:nvSpPr>
          <p:cNvPr id="45" name="Shape 42"/>
          <p:cNvSpPr/>
          <p:nvPr/>
        </p:nvSpPr>
        <p:spPr>
          <a:xfrm>
            <a:off x="11697919" y="4992624"/>
            <a:ext cx="0" cy="155448"/>
          </a:xfrm>
          <a:prstGeom prst="line">
            <a:avLst/>
          </a:prstGeom>
          <a:noFill/>
          <a:ln w="15875">
            <a:solidFill>
              <a:schemeClr val="accent1"/>
            </a:solidFill>
            <a:prstDash val="solid"/>
          </a:ln>
        </p:spPr>
      </p:sp>
      <p:sp>
        <p:nvSpPr>
          <p:cNvPr id="46" name="Shape 43"/>
          <p:cNvSpPr/>
          <p:nvPr/>
        </p:nvSpPr>
        <p:spPr>
          <a:xfrm>
            <a:off x="6223864" y="6291072"/>
            <a:ext cx="155448" cy="0"/>
          </a:xfrm>
          <a:prstGeom prst="line">
            <a:avLst/>
          </a:prstGeom>
          <a:noFill/>
          <a:ln w="15875">
            <a:solidFill>
              <a:schemeClr val="accent1"/>
            </a:solidFill>
            <a:prstDash val="solid"/>
          </a:ln>
        </p:spPr>
      </p:sp>
      <p:sp>
        <p:nvSpPr>
          <p:cNvPr id="47" name="Shape 44"/>
          <p:cNvSpPr/>
          <p:nvPr/>
        </p:nvSpPr>
        <p:spPr>
          <a:xfrm>
            <a:off x="6223864" y="6135624"/>
            <a:ext cx="0" cy="155448"/>
          </a:xfrm>
          <a:prstGeom prst="line">
            <a:avLst/>
          </a:prstGeom>
          <a:noFill/>
          <a:ln w="15875">
            <a:solidFill>
              <a:schemeClr val="accent1"/>
            </a:solidFill>
            <a:prstDash val="solid"/>
          </a:ln>
        </p:spPr>
      </p:sp>
      <p:sp>
        <p:nvSpPr>
          <p:cNvPr id="48" name="Shape 45"/>
          <p:cNvSpPr/>
          <p:nvPr/>
        </p:nvSpPr>
        <p:spPr>
          <a:xfrm>
            <a:off x="11542471" y="6291072"/>
            <a:ext cx="155448" cy="0"/>
          </a:xfrm>
          <a:prstGeom prst="line">
            <a:avLst/>
          </a:prstGeom>
          <a:noFill/>
          <a:ln w="15875">
            <a:solidFill>
              <a:schemeClr val="accent1"/>
            </a:solidFill>
            <a:prstDash val="solid"/>
          </a:ln>
        </p:spPr>
      </p:sp>
      <p:sp>
        <p:nvSpPr>
          <p:cNvPr id="49" name="Shape 46"/>
          <p:cNvSpPr/>
          <p:nvPr/>
        </p:nvSpPr>
        <p:spPr>
          <a:xfrm>
            <a:off x="11697919" y="6135624"/>
            <a:ext cx="0" cy="155448"/>
          </a:xfrm>
          <a:prstGeom prst="line">
            <a:avLst/>
          </a:prstGeom>
          <a:noFill/>
          <a:ln w="15875">
            <a:solidFill>
              <a:schemeClr val="accent1"/>
            </a:solidFill>
            <a:prstDash val="solid"/>
          </a:ln>
        </p:spPr>
      </p:sp>
      <p:sp>
        <p:nvSpPr>
          <p:cNvPr id="50" name="Text 47"/>
          <p:cNvSpPr txBox="1"/>
          <p:nvPr/>
        </p:nvSpPr>
        <p:spPr>
          <a:xfrm>
            <a:off x="6507328" y="5193792"/>
            <a:ext cx="4907128" cy="274320"/>
          </a:xfrm>
          <a:prstGeom prst="rect">
            <a:avLst/>
          </a:prstGeom>
          <a:noFill/>
          <a:ln/>
        </p:spPr>
        <p:txBody>
          <a:bodyPr wrap="square" lIns="0" tIns="0" rIns="0" bIns="0" rtlCol="0" anchor="t"/>
          <a:lstStyle/>
          <a:p>
            <a:pPr indent="0" marL="0">
              <a:buNone/>
            </a:pPr>
            <a:r>
              <a:rPr lang="es-CL" altLang="en-US" sz="1400" spc="100" kern="0" dirty="0">
                <a:solidFill>
                  <a:schemeClr val="accent1"/>
                </a:solidFill>
                <a:latin typeface="IBM Plex Mono" pitchFamily="34" charset="0"/>
                <a:ea typeface="IBM Plex Mono" pitchFamily="34" charset="-122"/>
                <a:cs typeface="IBM Plex Mono" pitchFamily="34" charset="-120"/>
              </a:rPr>
              <a:t>CONTROL CRÍTICO</a:t>
            </a:r>
            <a:endParaRPr lang="es-CL" sz="1400" dirty="0"/>
          </a:p>
        </p:txBody>
      </p:sp>
      <p:sp>
        <p:nvSpPr>
          <p:cNvPr id="51" name="Text 48"/>
          <p:cNvSpPr txBox="1"/>
          <p:nvPr/>
        </p:nvSpPr>
        <p:spPr>
          <a:xfrm>
            <a:off x="6507328" y="5504688"/>
            <a:ext cx="3535528" cy="457200"/>
          </a:xfrm>
          <a:prstGeom prst="rect">
            <a:avLst/>
          </a:prstGeom>
          <a:noFill/>
          <a:ln/>
        </p:spPr>
        <p:txBody>
          <a:bodyPr wrap="square" lIns="0" tIns="0" rIns="0" bIns="0" rtlCol="0" anchor="ctr"/>
          <a:lstStyle/>
          <a:p>
            <a:pPr indent="0" marL="0">
              <a:buNone/>
            </a:pPr>
            <a:r>
              <a:rPr lang="es-CL" altLang="en-US" sz="2000" b="1" dirty="0">
                <a:solidFill>
                  <a:schemeClr val="tx1"/>
                </a:solidFill>
                <a:latin typeface="Figtree" pitchFamily="34" charset="0"/>
                <a:ea typeface="Figtree" pitchFamily="34" charset="-122"/>
                <a:cs typeface="Figtree" pitchFamily="34" charset="-120"/>
              </a:rPr>
              <a:t>El informe es obligatorio</a:t>
            </a:r>
            <a:endParaRPr lang="es-CL" sz="2000" dirty="0"/>
          </a:p>
        </p:txBody>
      </p:sp>
      <p:sp>
        <p:nvSpPr>
          <p:cNvPr id="52" name="Shape 49"/>
          <p:cNvSpPr/>
          <p:nvPr/>
        </p:nvSpPr>
        <p:spPr>
          <a:xfrm>
            <a:off x="10327335" y="5522976"/>
            <a:ext cx="1087120" cy="420624"/>
          </a:xfrm>
          <a:prstGeom prst="rect">
            <a:avLst/>
          </a:prstGeom>
          <a:solidFill>
            <a:schemeClr val="bg1">
              <a:alpha val="0"/>
            </a:schemeClr>
          </a:solidFill>
          <a:ln w="15875">
            <a:solidFill>
              <a:srgbClr val="F87171"/>
            </a:solidFill>
            <a:prstDash val="solid"/>
          </a:ln>
        </p:spPr>
      </p:sp>
      <p:sp>
        <p:nvSpPr>
          <p:cNvPr id="53" name="Shape 50"/>
          <p:cNvSpPr/>
          <p:nvPr/>
        </p:nvSpPr>
        <p:spPr>
          <a:xfrm>
            <a:off x="10464495" y="5660136"/>
            <a:ext cx="146304" cy="146304"/>
          </a:xfrm>
          <a:prstGeom prst="ellipse">
            <a:avLst/>
          </a:prstGeom>
          <a:solidFill>
            <a:srgbClr val="F87171"/>
          </a:solidFill>
          <a:ln/>
        </p:spPr>
      </p:sp>
      <p:sp>
        <p:nvSpPr>
          <p:cNvPr id="54" name="Text 51"/>
          <p:cNvSpPr txBox="1"/>
          <p:nvPr/>
        </p:nvSpPr>
        <p:spPr>
          <a:xfrm>
            <a:off x="10693095" y="5522976"/>
            <a:ext cx="629920" cy="420624"/>
          </a:xfrm>
          <a:prstGeom prst="rect">
            <a:avLst/>
          </a:prstGeom>
          <a:noFill/>
          <a:ln/>
        </p:spPr>
        <p:txBody>
          <a:bodyPr wrap="square" lIns="0" tIns="0" rIns="0" bIns="0" rtlCol="0" anchor="ctr"/>
          <a:lstStyle/>
          <a:p>
            <a:pPr indent="0" marL="0">
              <a:buNone/>
            </a:pPr>
            <a:r>
              <a:rPr lang="es-CL" altLang="en-US" sz="1600" b="1" spc="100" kern="0" dirty="0">
                <a:solidFill>
                  <a:srgbClr val="F87171"/>
                </a:solidFill>
                <a:latin typeface="IBM Plex Mono" pitchFamily="34" charset="0"/>
                <a:ea typeface="IBM Plex Mono" pitchFamily="34" charset="-122"/>
                <a:cs typeface="IBM Plex Mono" pitchFamily="34" charset="-120"/>
              </a:rPr>
              <a:t>ROJO</a:t>
            </a:r>
            <a:endParaRPr lang="es-CL" sz="16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10</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CONTROL · ACCIÓN CORRECTIVA</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MEDIR, EXPLICAR,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corregir y verificar.</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Fuentes: material del curso «Sistemas de Control de Gestión: Indicadores» (ciclo de seguimiento); Excel de la Solemne 2, hoja CASO_SIMULADO.</a:t>
            </a:r>
            <a:endParaRPr lang="es-CL" sz="1100" dirty="0"/>
          </a:p>
        </p:txBody>
      </p:sp>
      <p:sp>
        <p:nvSpPr>
          <p:cNvPr id="5" name="Shape 3"/>
          <p:cNvSpPr/>
          <p:nvPr/>
        </p:nvSpPr>
        <p:spPr>
          <a:xfrm>
            <a:off x="8639759" y="2322576"/>
            <a:ext cx="3003296" cy="420624"/>
          </a:xfrm>
          <a:prstGeom prst="rect">
            <a:avLst/>
          </a:prstGeom>
          <a:solidFill>
            <a:schemeClr val="bg1">
              <a:alpha val="0"/>
            </a:schemeClr>
          </a:solidFill>
          <a:ln w="19050">
            <a:solidFill>
              <a:schemeClr val="tx1"/>
            </a:solidFill>
            <a:prstDash val="dash"/>
          </a:ln>
        </p:spPr>
      </p:sp>
      <p:sp>
        <p:nvSpPr>
          <p:cNvPr id="6" name="Text 4"/>
          <p:cNvSpPr txBox="1"/>
          <p:nvPr/>
        </p:nvSpPr>
        <p:spPr>
          <a:xfrm>
            <a:off x="8749487" y="2322576"/>
            <a:ext cx="2783840" cy="420624"/>
          </a:xfrm>
          <a:prstGeom prst="rect">
            <a:avLst/>
          </a:prstGeom>
          <a:noFill/>
          <a:ln/>
        </p:spPr>
        <p:txBody>
          <a:bodyPr wrap="square" lIns="0" tIns="0" rIns="0" bIns="0" rtlCol="0" anchor="ctr"/>
          <a:lstStyle/>
          <a:p>
            <a:pPr algn="ctr" indent="0" marL="0">
              <a:buNone/>
            </a:pPr>
            <a:r>
              <a:rPr lang="es-CL" altLang="en-US" sz="1600" b="1" spc="100" kern="0" dirty="0">
                <a:solidFill>
                  <a:schemeClr val="tx1"/>
                </a:solidFill>
                <a:latin typeface="IBM Plex Mono" pitchFamily="34" charset="0"/>
                <a:ea typeface="IBM Plex Mono" pitchFamily="34" charset="-122"/>
                <a:cs typeface="IBM Plex Mono" pitchFamily="34" charset="-120"/>
              </a:rPr>
              <a:t>EJERCICIO HIPOTÉTICO</a:t>
            </a:r>
            <a:endParaRPr lang="es-CL" sz="1600" dirty="0"/>
          </a:p>
        </p:txBody>
      </p:sp>
      <p:sp>
        <p:nvSpPr>
          <p:cNvPr id="7" name="Text 5"/>
          <p:cNvSpPr txBox="1"/>
          <p:nvPr/>
        </p:nvSpPr>
        <p:spPr>
          <a:xfrm>
            <a:off x="548640" y="2395728"/>
            <a:ext cx="7315200" cy="274320"/>
          </a:xfrm>
          <a:prstGeom prst="rect">
            <a:avLst/>
          </a:prstGeom>
          <a:noFill/>
          <a:ln/>
        </p:spPr>
        <p:txBody>
          <a:bodyPr wrap="square" lIns="0" tIns="0" rIns="0" bIns="0" rtlCol="0" anchor="t"/>
          <a:lstStyle/>
          <a:p>
            <a:pPr indent="0" marL="0">
              <a:buNone/>
            </a:pPr>
            <a:r>
              <a:rPr lang="es-CL" altLang="en-US" sz="1600" spc="100" kern="0" dirty="0">
                <a:solidFill>
                  <a:schemeClr val="tx2"/>
                </a:solidFill>
                <a:latin typeface="IBM Plex Mono" pitchFamily="34" charset="0"/>
                <a:ea typeface="IBM Plex Mono" pitchFamily="34" charset="-122"/>
                <a:cs typeface="IBM Plex Mono" pitchFamily="34" charset="-120"/>
              </a:rPr>
              <a:t>LOS 2 INFORMES QUE FALTAN</a:t>
            </a:r>
            <a:endParaRPr lang="es-CL" sz="1600" dirty="0"/>
          </a:p>
        </p:txBody>
      </p:sp>
      <p:sp>
        <p:nvSpPr>
          <p:cNvPr id="8" name="Shape 6"/>
          <p:cNvSpPr/>
          <p:nvPr/>
        </p:nvSpPr>
        <p:spPr>
          <a:xfrm>
            <a:off x="548640" y="2926080"/>
            <a:ext cx="2430704" cy="1691640"/>
          </a:xfrm>
          <a:prstGeom prst="rect">
            <a:avLst/>
          </a:prstGeom>
          <a:solidFill>
            <a:schemeClr val="bg2"/>
          </a:solidFill>
          <a:ln w="9525">
            <a:solidFill>
              <a:schemeClr val="tx2"/>
            </a:solidFill>
            <a:prstDash val="solid"/>
          </a:ln>
        </p:spPr>
      </p:sp>
      <p:sp>
        <p:nvSpPr>
          <p:cNvPr id="9" name="Shape 7"/>
          <p:cNvSpPr/>
          <p:nvPr/>
        </p:nvSpPr>
        <p:spPr>
          <a:xfrm>
            <a:off x="749808" y="3127248"/>
            <a:ext cx="548640" cy="365760"/>
          </a:xfrm>
          <a:prstGeom prst="rect">
            <a:avLst/>
          </a:prstGeom>
          <a:solidFill>
            <a:schemeClr val="accent5"/>
          </a:solidFill>
          <a:ln/>
        </p:spPr>
      </p:sp>
      <p:sp>
        <p:nvSpPr>
          <p:cNvPr id="10" name="Text 8"/>
          <p:cNvSpPr txBox="1"/>
          <p:nvPr/>
        </p:nvSpPr>
        <p:spPr>
          <a:xfrm>
            <a:off x="749808" y="3127248"/>
            <a:ext cx="548640" cy="365760"/>
          </a:xfrm>
          <a:prstGeom prst="rect">
            <a:avLst/>
          </a:prstGeom>
          <a:noFill/>
          <a:ln/>
        </p:spPr>
        <p:txBody>
          <a:bodyPr wrap="square" lIns="0" tIns="0" rIns="0" bIns="0" rtlCol="0" anchor="ctr"/>
          <a:lstStyle/>
          <a:p>
            <a:pPr algn="ctr" indent="0" marL="0">
              <a:buNone/>
            </a:pPr>
            <a:r>
              <a:rPr lang="es-CL" altLang="en-US" sz="1600" b="1" dirty="0">
                <a:solidFill>
                  <a:schemeClr val="tx1"/>
                </a:solidFill>
                <a:latin typeface="IBM Plex Mono" pitchFamily="34" charset="0"/>
                <a:ea typeface="IBM Plex Mono" pitchFamily="34" charset="-122"/>
                <a:cs typeface="IBM Plex Mono" pitchFamily="34" charset="-120"/>
              </a:rPr>
              <a:t>01</a:t>
            </a:r>
            <a:endParaRPr lang="es-CL" sz="1600" dirty="0"/>
          </a:p>
        </p:txBody>
      </p:sp>
      <p:sp>
        <p:nvSpPr>
          <p:cNvPr id="11" name="Text 9"/>
          <p:cNvSpPr txBox="1"/>
          <p:nvPr/>
        </p:nvSpPr>
        <p:spPr>
          <a:xfrm>
            <a:off x="749808" y="3584448"/>
            <a:ext cx="2028368" cy="402336"/>
          </a:xfrm>
          <a:prstGeom prst="rect">
            <a:avLst/>
          </a:prstGeom>
          <a:noFill/>
          <a:ln/>
        </p:spPr>
        <p:txBody>
          <a:bodyPr wrap="square" lIns="0" tIns="0" rIns="0" bIns="0" rtlCol="0" anchor="ctr"/>
          <a:lstStyle/>
          <a:p>
            <a:pPr indent="0" marL="0">
              <a:buNone/>
            </a:pPr>
            <a:r>
              <a:rPr lang="es-CL" altLang="en-US" sz="2400" b="1" dirty="0">
                <a:solidFill>
                  <a:schemeClr val="tx1"/>
                </a:solidFill>
                <a:latin typeface="Figtree" pitchFamily="34" charset="0"/>
                <a:ea typeface="Figtree" pitchFamily="34" charset="-122"/>
                <a:cs typeface="Figtree" pitchFamily="34" charset="-120"/>
              </a:rPr>
              <a:t>MEDIR</a:t>
            </a:r>
            <a:endParaRPr lang="es-CL" sz="2400" dirty="0"/>
          </a:p>
        </p:txBody>
      </p:sp>
      <p:sp>
        <p:nvSpPr>
          <p:cNvPr id="12" name="Text 10"/>
          <p:cNvSpPr txBox="1"/>
          <p:nvPr/>
        </p:nvSpPr>
        <p:spPr>
          <a:xfrm>
            <a:off x="749808" y="4005072"/>
            <a:ext cx="2064944" cy="640080"/>
          </a:xfrm>
          <a:prstGeom prst="rect">
            <a:avLst/>
          </a:prstGeom>
          <a:noFill/>
          <a:ln/>
        </p:spPr>
        <p:txBody>
          <a:bodyPr wrap="square" lIns="0" tIns="0" rIns="0" bIns="0" rtlCol="0" anchor="t"/>
          <a:lstStyle/>
          <a:p>
            <a:pPr indent="0" marL="0">
              <a:buNone/>
            </a:pPr>
            <a:r>
              <a:rPr lang="es-CL" altLang="en-US" sz="1800" dirty="0">
                <a:solidFill>
                  <a:schemeClr val="tx2"/>
                </a:solidFill>
                <a:latin typeface="Figtree" pitchFamily="34" charset="0"/>
                <a:ea typeface="Figtree" pitchFamily="34" charset="-122"/>
                <a:cs typeface="Figtree" pitchFamily="34" charset="-120"/>
              </a:rPr>
              <a:t>Corte: 8 de 10 informes</a:t>
            </a:r>
            <a:endParaRPr lang="es-CL" sz="1800" dirty="0"/>
          </a:p>
        </p:txBody>
      </p:sp>
      <p:sp>
        <p:nvSpPr>
          <p:cNvPr id="13" name="Shape 11"/>
          <p:cNvSpPr/>
          <p:nvPr/>
        </p:nvSpPr>
        <p:spPr>
          <a:xfrm>
            <a:off x="3052496" y="3771900"/>
            <a:ext cx="310896" cy="0"/>
          </a:xfrm>
          <a:prstGeom prst="line">
            <a:avLst/>
          </a:prstGeom>
          <a:noFill/>
          <a:ln w="22225">
            <a:solidFill>
              <a:schemeClr val="accent1"/>
            </a:solidFill>
            <a:prstDash val="solid"/>
            <a:tailEnd type="triangle"/>
          </a:ln>
        </p:spPr>
      </p:sp>
      <p:sp>
        <p:nvSpPr>
          <p:cNvPr id="14" name="Shape 12"/>
          <p:cNvSpPr/>
          <p:nvPr/>
        </p:nvSpPr>
        <p:spPr>
          <a:xfrm>
            <a:off x="3436544" y="2926080"/>
            <a:ext cx="2430704" cy="1691640"/>
          </a:xfrm>
          <a:prstGeom prst="rect">
            <a:avLst/>
          </a:prstGeom>
          <a:solidFill>
            <a:schemeClr val="bg2"/>
          </a:solidFill>
          <a:ln w="9525">
            <a:solidFill>
              <a:schemeClr val="tx2"/>
            </a:solidFill>
            <a:prstDash val="solid"/>
          </a:ln>
        </p:spPr>
      </p:sp>
      <p:sp>
        <p:nvSpPr>
          <p:cNvPr id="15" name="Shape 13"/>
          <p:cNvSpPr/>
          <p:nvPr/>
        </p:nvSpPr>
        <p:spPr>
          <a:xfrm>
            <a:off x="3637712" y="3127248"/>
            <a:ext cx="548640" cy="365760"/>
          </a:xfrm>
          <a:prstGeom prst="rect">
            <a:avLst/>
          </a:prstGeom>
          <a:solidFill>
            <a:schemeClr val="accent5"/>
          </a:solidFill>
          <a:ln/>
        </p:spPr>
      </p:sp>
      <p:sp>
        <p:nvSpPr>
          <p:cNvPr id="16" name="Text 14"/>
          <p:cNvSpPr txBox="1"/>
          <p:nvPr/>
        </p:nvSpPr>
        <p:spPr>
          <a:xfrm>
            <a:off x="3637712" y="3127248"/>
            <a:ext cx="548640" cy="365760"/>
          </a:xfrm>
          <a:prstGeom prst="rect">
            <a:avLst/>
          </a:prstGeom>
          <a:noFill/>
          <a:ln/>
        </p:spPr>
        <p:txBody>
          <a:bodyPr wrap="square" lIns="0" tIns="0" rIns="0" bIns="0" rtlCol="0" anchor="ctr"/>
          <a:lstStyle/>
          <a:p>
            <a:pPr algn="ctr" indent="0" marL="0">
              <a:buNone/>
            </a:pPr>
            <a:r>
              <a:rPr lang="es-CL" altLang="en-US" sz="1600" b="1" dirty="0">
                <a:solidFill>
                  <a:schemeClr val="tx1"/>
                </a:solidFill>
                <a:latin typeface="IBM Plex Mono" pitchFamily="34" charset="0"/>
                <a:ea typeface="IBM Plex Mono" pitchFamily="34" charset="-122"/>
                <a:cs typeface="IBM Plex Mono" pitchFamily="34" charset="-120"/>
              </a:rPr>
              <a:t>02</a:t>
            </a:r>
            <a:endParaRPr lang="es-CL" sz="1600" dirty="0"/>
          </a:p>
        </p:txBody>
      </p:sp>
      <p:sp>
        <p:nvSpPr>
          <p:cNvPr id="17" name="Text 15"/>
          <p:cNvSpPr txBox="1"/>
          <p:nvPr/>
        </p:nvSpPr>
        <p:spPr>
          <a:xfrm>
            <a:off x="3637712" y="3584448"/>
            <a:ext cx="2028368" cy="402336"/>
          </a:xfrm>
          <a:prstGeom prst="rect">
            <a:avLst/>
          </a:prstGeom>
          <a:noFill/>
          <a:ln/>
        </p:spPr>
        <p:txBody>
          <a:bodyPr wrap="square" lIns="0" tIns="0" rIns="0" bIns="0" rtlCol="0" anchor="ctr"/>
          <a:lstStyle/>
          <a:p>
            <a:pPr indent="0" marL="0">
              <a:buNone/>
            </a:pPr>
            <a:r>
              <a:rPr lang="es-CL" altLang="en-US" sz="2400" b="1" dirty="0">
                <a:solidFill>
                  <a:schemeClr val="tx1"/>
                </a:solidFill>
                <a:latin typeface="Figtree" pitchFamily="34" charset="0"/>
                <a:ea typeface="Figtree" pitchFamily="34" charset="-122"/>
                <a:cs typeface="Figtree" pitchFamily="34" charset="-120"/>
              </a:rPr>
              <a:t>EXPLICAR</a:t>
            </a:r>
            <a:endParaRPr lang="es-CL" sz="2400" dirty="0"/>
          </a:p>
        </p:txBody>
      </p:sp>
      <p:sp>
        <p:nvSpPr>
          <p:cNvPr id="18" name="Text 16"/>
          <p:cNvSpPr txBox="1"/>
          <p:nvPr/>
        </p:nvSpPr>
        <p:spPr>
          <a:xfrm>
            <a:off x="3637712" y="4005072"/>
            <a:ext cx="2064944" cy="640080"/>
          </a:xfrm>
          <a:prstGeom prst="rect">
            <a:avLst/>
          </a:prstGeom>
          <a:noFill/>
          <a:ln/>
        </p:spPr>
        <p:txBody>
          <a:bodyPr wrap="square" lIns="0" tIns="0" rIns="0" bIns="0" rtlCol="0" anchor="t"/>
          <a:lstStyle/>
          <a:p>
            <a:pPr indent="0" marL="0">
              <a:buNone/>
            </a:pPr>
            <a:r>
              <a:rPr lang="es-CL" altLang="en-US" sz="1800" dirty="0">
                <a:solidFill>
                  <a:schemeClr val="tx2"/>
                </a:solidFill>
                <a:latin typeface="Figtree" pitchFamily="34" charset="0"/>
                <a:ea typeface="Figtree" pitchFamily="34" charset="-122"/>
                <a:cs typeface="Figtree" pitchFamily="34" charset="-120"/>
              </a:rPr>
              <a:t>¿Faltó medir, validar o entregar?</a:t>
            </a:r>
            <a:endParaRPr lang="es-CL" sz="1800" dirty="0"/>
          </a:p>
        </p:txBody>
      </p:sp>
      <p:sp>
        <p:nvSpPr>
          <p:cNvPr id="19" name="Shape 17"/>
          <p:cNvSpPr/>
          <p:nvPr/>
        </p:nvSpPr>
        <p:spPr>
          <a:xfrm>
            <a:off x="5940400" y="3771900"/>
            <a:ext cx="310896" cy="0"/>
          </a:xfrm>
          <a:prstGeom prst="line">
            <a:avLst/>
          </a:prstGeom>
          <a:noFill/>
          <a:ln w="22225">
            <a:solidFill>
              <a:schemeClr val="accent1"/>
            </a:solidFill>
            <a:prstDash val="solid"/>
            <a:tailEnd type="triangle"/>
          </a:ln>
        </p:spPr>
      </p:sp>
      <p:sp>
        <p:nvSpPr>
          <p:cNvPr id="20" name="Shape 18"/>
          <p:cNvSpPr/>
          <p:nvPr/>
        </p:nvSpPr>
        <p:spPr>
          <a:xfrm>
            <a:off x="6324448" y="2926080"/>
            <a:ext cx="2430704" cy="1691640"/>
          </a:xfrm>
          <a:prstGeom prst="rect">
            <a:avLst/>
          </a:prstGeom>
          <a:solidFill>
            <a:schemeClr val="bg2"/>
          </a:solidFill>
          <a:ln w="9525">
            <a:solidFill>
              <a:schemeClr val="tx2"/>
            </a:solidFill>
            <a:prstDash val="solid"/>
          </a:ln>
        </p:spPr>
      </p:sp>
      <p:sp>
        <p:nvSpPr>
          <p:cNvPr id="21" name="Shape 19"/>
          <p:cNvSpPr/>
          <p:nvPr/>
        </p:nvSpPr>
        <p:spPr>
          <a:xfrm>
            <a:off x="6525616" y="3127248"/>
            <a:ext cx="548640" cy="365760"/>
          </a:xfrm>
          <a:prstGeom prst="rect">
            <a:avLst/>
          </a:prstGeom>
          <a:solidFill>
            <a:schemeClr val="accent5"/>
          </a:solidFill>
          <a:ln/>
        </p:spPr>
      </p:sp>
      <p:sp>
        <p:nvSpPr>
          <p:cNvPr id="22" name="Text 20"/>
          <p:cNvSpPr txBox="1"/>
          <p:nvPr/>
        </p:nvSpPr>
        <p:spPr>
          <a:xfrm>
            <a:off x="6525616" y="3127248"/>
            <a:ext cx="548640" cy="365760"/>
          </a:xfrm>
          <a:prstGeom prst="rect">
            <a:avLst/>
          </a:prstGeom>
          <a:noFill/>
          <a:ln/>
        </p:spPr>
        <p:txBody>
          <a:bodyPr wrap="square" lIns="0" tIns="0" rIns="0" bIns="0" rtlCol="0" anchor="ctr"/>
          <a:lstStyle/>
          <a:p>
            <a:pPr algn="ctr" indent="0" marL="0">
              <a:buNone/>
            </a:pPr>
            <a:r>
              <a:rPr lang="es-CL" altLang="en-US" sz="1600" b="1" dirty="0">
                <a:solidFill>
                  <a:schemeClr val="tx1"/>
                </a:solidFill>
                <a:latin typeface="IBM Plex Mono" pitchFamily="34" charset="0"/>
                <a:ea typeface="IBM Plex Mono" pitchFamily="34" charset="-122"/>
                <a:cs typeface="IBM Plex Mono" pitchFamily="34" charset="-120"/>
              </a:rPr>
              <a:t>03</a:t>
            </a:r>
            <a:endParaRPr lang="es-CL" sz="1600" dirty="0"/>
          </a:p>
        </p:txBody>
      </p:sp>
      <p:sp>
        <p:nvSpPr>
          <p:cNvPr id="23" name="Text 21"/>
          <p:cNvSpPr txBox="1"/>
          <p:nvPr/>
        </p:nvSpPr>
        <p:spPr>
          <a:xfrm>
            <a:off x="6525616" y="3584448"/>
            <a:ext cx="2028368" cy="402336"/>
          </a:xfrm>
          <a:prstGeom prst="rect">
            <a:avLst/>
          </a:prstGeom>
          <a:noFill/>
          <a:ln/>
        </p:spPr>
        <p:txBody>
          <a:bodyPr wrap="square" lIns="0" tIns="0" rIns="0" bIns="0" rtlCol="0" anchor="ctr"/>
          <a:lstStyle/>
          <a:p>
            <a:pPr indent="0" marL="0">
              <a:buNone/>
            </a:pPr>
            <a:r>
              <a:rPr lang="es-CL" altLang="en-US" sz="2400" b="1" dirty="0">
                <a:solidFill>
                  <a:schemeClr val="tx1"/>
                </a:solidFill>
                <a:latin typeface="Figtree" pitchFamily="34" charset="0"/>
                <a:ea typeface="Figtree" pitchFamily="34" charset="-122"/>
                <a:cs typeface="Figtree" pitchFamily="34" charset="-120"/>
              </a:rPr>
              <a:t>CORREGIR</a:t>
            </a:r>
            <a:endParaRPr lang="es-CL" sz="2400" dirty="0"/>
          </a:p>
        </p:txBody>
      </p:sp>
      <p:sp>
        <p:nvSpPr>
          <p:cNvPr id="24" name="Text 22"/>
          <p:cNvSpPr txBox="1"/>
          <p:nvPr/>
        </p:nvSpPr>
        <p:spPr>
          <a:xfrm>
            <a:off x="6525616" y="4005072"/>
            <a:ext cx="2064944" cy="640080"/>
          </a:xfrm>
          <a:prstGeom prst="rect">
            <a:avLst/>
          </a:prstGeom>
          <a:noFill/>
          <a:ln/>
        </p:spPr>
        <p:txBody>
          <a:bodyPr wrap="square" lIns="0" tIns="0" rIns="0" bIns="0" rtlCol="0" anchor="t"/>
          <a:lstStyle/>
          <a:p>
            <a:pPr indent="0" marL="0">
              <a:buNone/>
            </a:pPr>
            <a:r>
              <a:rPr lang="es-CL" altLang="en-US" sz="1800" dirty="0">
                <a:solidFill>
                  <a:schemeClr val="tx2"/>
                </a:solidFill>
                <a:latin typeface="Figtree" pitchFamily="34" charset="0"/>
                <a:ea typeface="Figtree" pitchFamily="34" charset="-122"/>
                <a:cs typeface="Figtree" pitchFamily="34" charset="-120"/>
              </a:rPr>
              <a:t>Responsable y plazo para cerrarlos</a:t>
            </a:r>
            <a:endParaRPr lang="es-CL" sz="1800" dirty="0"/>
          </a:p>
        </p:txBody>
      </p:sp>
      <p:sp>
        <p:nvSpPr>
          <p:cNvPr id="25" name="Shape 23"/>
          <p:cNvSpPr/>
          <p:nvPr/>
        </p:nvSpPr>
        <p:spPr>
          <a:xfrm>
            <a:off x="8828303" y="3771900"/>
            <a:ext cx="310896" cy="0"/>
          </a:xfrm>
          <a:prstGeom prst="line">
            <a:avLst/>
          </a:prstGeom>
          <a:noFill/>
          <a:ln w="22225">
            <a:solidFill>
              <a:schemeClr val="accent1"/>
            </a:solidFill>
            <a:prstDash val="solid"/>
            <a:tailEnd type="triangle"/>
          </a:ln>
        </p:spPr>
      </p:sp>
      <p:sp>
        <p:nvSpPr>
          <p:cNvPr id="26" name="Shape 24"/>
          <p:cNvSpPr/>
          <p:nvPr/>
        </p:nvSpPr>
        <p:spPr>
          <a:xfrm>
            <a:off x="9212351" y="2926080"/>
            <a:ext cx="2430704" cy="1691640"/>
          </a:xfrm>
          <a:prstGeom prst="rect">
            <a:avLst/>
          </a:prstGeom>
          <a:solidFill>
            <a:srgbClr val="0B1A22"/>
          </a:solidFill>
          <a:ln w="15875">
            <a:solidFill>
              <a:schemeClr val="accent1"/>
            </a:solidFill>
            <a:prstDash val="solid"/>
          </a:ln>
        </p:spPr>
      </p:sp>
      <p:sp>
        <p:nvSpPr>
          <p:cNvPr id="27" name="Shape 25"/>
          <p:cNvSpPr/>
          <p:nvPr/>
        </p:nvSpPr>
        <p:spPr>
          <a:xfrm>
            <a:off x="9157487" y="2871216"/>
            <a:ext cx="155448" cy="0"/>
          </a:xfrm>
          <a:prstGeom prst="line">
            <a:avLst/>
          </a:prstGeom>
          <a:noFill/>
          <a:ln w="15875">
            <a:solidFill>
              <a:schemeClr val="accent1"/>
            </a:solidFill>
            <a:prstDash val="solid"/>
          </a:ln>
        </p:spPr>
      </p:sp>
      <p:sp>
        <p:nvSpPr>
          <p:cNvPr id="28" name="Shape 26"/>
          <p:cNvSpPr/>
          <p:nvPr/>
        </p:nvSpPr>
        <p:spPr>
          <a:xfrm>
            <a:off x="9157487" y="2871216"/>
            <a:ext cx="0" cy="155448"/>
          </a:xfrm>
          <a:prstGeom prst="line">
            <a:avLst/>
          </a:prstGeom>
          <a:noFill/>
          <a:ln w="15875">
            <a:solidFill>
              <a:schemeClr val="accent1"/>
            </a:solidFill>
            <a:prstDash val="solid"/>
          </a:ln>
        </p:spPr>
      </p:sp>
      <p:sp>
        <p:nvSpPr>
          <p:cNvPr id="29" name="Shape 27"/>
          <p:cNvSpPr/>
          <p:nvPr/>
        </p:nvSpPr>
        <p:spPr>
          <a:xfrm>
            <a:off x="11542471" y="2871216"/>
            <a:ext cx="155448" cy="0"/>
          </a:xfrm>
          <a:prstGeom prst="line">
            <a:avLst/>
          </a:prstGeom>
          <a:noFill/>
          <a:ln w="15875">
            <a:solidFill>
              <a:schemeClr val="accent1"/>
            </a:solidFill>
            <a:prstDash val="solid"/>
          </a:ln>
        </p:spPr>
      </p:sp>
      <p:sp>
        <p:nvSpPr>
          <p:cNvPr id="30" name="Shape 28"/>
          <p:cNvSpPr/>
          <p:nvPr/>
        </p:nvSpPr>
        <p:spPr>
          <a:xfrm>
            <a:off x="11697919" y="2871216"/>
            <a:ext cx="0" cy="155448"/>
          </a:xfrm>
          <a:prstGeom prst="line">
            <a:avLst/>
          </a:prstGeom>
          <a:noFill/>
          <a:ln w="15875">
            <a:solidFill>
              <a:schemeClr val="accent1"/>
            </a:solidFill>
            <a:prstDash val="solid"/>
          </a:ln>
        </p:spPr>
      </p:sp>
      <p:sp>
        <p:nvSpPr>
          <p:cNvPr id="31" name="Shape 29"/>
          <p:cNvSpPr/>
          <p:nvPr/>
        </p:nvSpPr>
        <p:spPr>
          <a:xfrm>
            <a:off x="9157487" y="4672584"/>
            <a:ext cx="155448" cy="0"/>
          </a:xfrm>
          <a:prstGeom prst="line">
            <a:avLst/>
          </a:prstGeom>
          <a:noFill/>
          <a:ln w="15875">
            <a:solidFill>
              <a:schemeClr val="accent1"/>
            </a:solidFill>
            <a:prstDash val="solid"/>
          </a:ln>
        </p:spPr>
      </p:sp>
      <p:sp>
        <p:nvSpPr>
          <p:cNvPr id="32" name="Shape 30"/>
          <p:cNvSpPr/>
          <p:nvPr/>
        </p:nvSpPr>
        <p:spPr>
          <a:xfrm>
            <a:off x="9157487" y="4517136"/>
            <a:ext cx="0" cy="155448"/>
          </a:xfrm>
          <a:prstGeom prst="line">
            <a:avLst/>
          </a:prstGeom>
          <a:noFill/>
          <a:ln w="15875">
            <a:solidFill>
              <a:schemeClr val="accent1"/>
            </a:solidFill>
            <a:prstDash val="solid"/>
          </a:ln>
        </p:spPr>
      </p:sp>
      <p:sp>
        <p:nvSpPr>
          <p:cNvPr id="33" name="Shape 31"/>
          <p:cNvSpPr/>
          <p:nvPr/>
        </p:nvSpPr>
        <p:spPr>
          <a:xfrm>
            <a:off x="11542471" y="4672584"/>
            <a:ext cx="155448" cy="0"/>
          </a:xfrm>
          <a:prstGeom prst="line">
            <a:avLst/>
          </a:prstGeom>
          <a:noFill/>
          <a:ln w="15875">
            <a:solidFill>
              <a:schemeClr val="accent1"/>
            </a:solidFill>
            <a:prstDash val="solid"/>
          </a:ln>
        </p:spPr>
      </p:sp>
      <p:sp>
        <p:nvSpPr>
          <p:cNvPr id="34" name="Shape 32"/>
          <p:cNvSpPr/>
          <p:nvPr/>
        </p:nvSpPr>
        <p:spPr>
          <a:xfrm>
            <a:off x="11697919" y="4517136"/>
            <a:ext cx="0" cy="155448"/>
          </a:xfrm>
          <a:prstGeom prst="line">
            <a:avLst/>
          </a:prstGeom>
          <a:noFill/>
          <a:ln w="15875">
            <a:solidFill>
              <a:schemeClr val="accent1"/>
            </a:solidFill>
            <a:prstDash val="solid"/>
          </a:ln>
        </p:spPr>
      </p:sp>
      <p:sp>
        <p:nvSpPr>
          <p:cNvPr id="35" name="Shape 33"/>
          <p:cNvSpPr/>
          <p:nvPr/>
        </p:nvSpPr>
        <p:spPr>
          <a:xfrm>
            <a:off x="9413519" y="3127248"/>
            <a:ext cx="548640" cy="365760"/>
          </a:xfrm>
          <a:prstGeom prst="rect">
            <a:avLst/>
          </a:prstGeom>
          <a:solidFill>
            <a:schemeClr val="accent1"/>
          </a:solidFill>
          <a:ln/>
        </p:spPr>
      </p:sp>
      <p:sp>
        <p:nvSpPr>
          <p:cNvPr id="36" name="Text 34"/>
          <p:cNvSpPr txBox="1"/>
          <p:nvPr/>
        </p:nvSpPr>
        <p:spPr>
          <a:xfrm>
            <a:off x="9413519" y="3127248"/>
            <a:ext cx="548640" cy="365760"/>
          </a:xfrm>
          <a:prstGeom prst="rect">
            <a:avLst/>
          </a:prstGeom>
          <a:noFill/>
          <a:ln/>
        </p:spPr>
        <p:txBody>
          <a:bodyPr wrap="square" lIns="0" tIns="0" rIns="0" bIns="0" rtlCol="0" anchor="ctr"/>
          <a:lstStyle/>
          <a:p>
            <a:pPr algn="ctr" indent="0" marL="0">
              <a:buNone/>
            </a:pPr>
            <a:r>
              <a:rPr lang="es-CL" altLang="en-US" sz="1600" b="1" dirty="0">
                <a:solidFill>
                  <a:schemeClr val="bg1"/>
                </a:solidFill>
                <a:latin typeface="IBM Plex Mono" pitchFamily="34" charset="0"/>
                <a:ea typeface="IBM Plex Mono" pitchFamily="34" charset="-122"/>
                <a:cs typeface="IBM Plex Mono" pitchFamily="34" charset="-120"/>
              </a:rPr>
              <a:t>04</a:t>
            </a:r>
            <a:endParaRPr lang="es-CL" sz="1600" dirty="0"/>
          </a:p>
        </p:txBody>
      </p:sp>
      <p:sp>
        <p:nvSpPr>
          <p:cNvPr id="37" name="Text 35"/>
          <p:cNvSpPr txBox="1"/>
          <p:nvPr/>
        </p:nvSpPr>
        <p:spPr>
          <a:xfrm>
            <a:off x="9413519" y="3584448"/>
            <a:ext cx="2028368" cy="402336"/>
          </a:xfrm>
          <a:prstGeom prst="rect">
            <a:avLst/>
          </a:prstGeom>
          <a:noFill/>
          <a:ln/>
        </p:spPr>
        <p:txBody>
          <a:bodyPr wrap="square" lIns="0" tIns="0" rIns="0" bIns="0" rtlCol="0" anchor="ctr"/>
          <a:lstStyle/>
          <a:p>
            <a:pPr indent="0" marL="0">
              <a:buNone/>
            </a:pPr>
            <a:r>
              <a:rPr lang="es-CL" altLang="en-US" sz="2400" b="1" dirty="0">
                <a:solidFill>
                  <a:schemeClr val="accent1"/>
                </a:solidFill>
                <a:latin typeface="Figtree" pitchFamily="34" charset="0"/>
                <a:ea typeface="Figtree" pitchFamily="34" charset="-122"/>
                <a:cs typeface="Figtree" pitchFamily="34" charset="-120"/>
              </a:rPr>
              <a:t>VERIFICAR</a:t>
            </a:r>
            <a:endParaRPr lang="es-CL" sz="2400" dirty="0"/>
          </a:p>
        </p:txBody>
      </p:sp>
      <p:sp>
        <p:nvSpPr>
          <p:cNvPr id="38" name="Text 36"/>
          <p:cNvSpPr txBox="1"/>
          <p:nvPr/>
        </p:nvSpPr>
        <p:spPr>
          <a:xfrm>
            <a:off x="9413519" y="4005072"/>
            <a:ext cx="2064944" cy="640080"/>
          </a:xfrm>
          <a:prstGeom prst="rect">
            <a:avLst/>
          </a:prstGeom>
          <a:noFill/>
          <a:ln/>
        </p:spPr>
        <p:txBody>
          <a:bodyPr wrap="square" lIns="0" tIns="0" rIns="0" bIns="0" rtlCol="0" anchor="t"/>
          <a:lstStyle/>
          <a:p>
            <a:pPr indent="0" marL="0">
              <a:buNone/>
            </a:pPr>
            <a:r>
              <a:rPr lang="es-CL" altLang="en-US" sz="1800" dirty="0">
                <a:solidFill>
                  <a:schemeClr val="tx2"/>
                </a:solidFill>
                <a:latin typeface="Figtree" pitchFamily="34" charset="0"/>
                <a:ea typeface="Figtree" pitchFamily="34" charset="-122"/>
                <a:cs typeface="Figtree" pitchFamily="34" charset="-120"/>
              </a:rPr>
              <a:t>Informe firmado, entrega y acuse</a:t>
            </a:r>
            <a:endParaRPr lang="es-CL" sz="1800" dirty="0"/>
          </a:p>
        </p:txBody>
      </p:sp>
      <p:sp>
        <p:nvSpPr>
          <p:cNvPr id="39" name="Shape 37"/>
          <p:cNvSpPr/>
          <p:nvPr/>
        </p:nvSpPr>
        <p:spPr>
          <a:xfrm>
            <a:off x="10427703" y="4617720"/>
            <a:ext cx="0" cy="274320"/>
          </a:xfrm>
          <a:prstGeom prst="line">
            <a:avLst/>
          </a:prstGeom>
          <a:noFill/>
          <a:ln w="22225">
            <a:solidFill>
              <a:schemeClr val="accent1"/>
            </a:solidFill>
            <a:prstDash val="solid"/>
          </a:ln>
        </p:spPr>
      </p:sp>
      <p:sp>
        <p:nvSpPr>
          <p:cNvPr id="40" name="Shape 38"/>
          <p:cNvSpPr/>
          <p:nvPr/>
        </p:nvSpPr>
        <p:spPr>
          <a:xfrm>
            <a:off x="1763992" y="4892040"/>
            <a:ext cx="8663711" cy="0"/>
          </a:xfrm>
          <a:prstGeom prst="line">
            <a:avLst/>
          </a:prstGeom>
          <a:noFill/>
          <a:ln w="22225">
            <a:solidFill>
              <a:schemeClr val="accent1"/>
            </a:solidFill>
            <a:prstDash val="solid"/>
          </a:ln>
        </p:spPr>
      </p:sp>
      <p:sp>
        <p:nvSpPr>
          <p:cNvPr id="41" name="Shape 39"/>
          <p:cNvSpPr/>
          <p:nvPr/>
        </p:nvSpPr>
        <p:spPr>
          <a:xfrm>
            <a:off x="1763992" y="4892040"/>
            <a:ext cx="0" cy="-274320"/>
          </a:xfrm>
          <a:prstGeom prst="line">
            <a:avLst/>
          </a:prstGeom>
          <a:noFill/>
          <a:ln w="22225">
            <a:solidFill>
              <a:schemeClr val="accent1"/>
            </a:solidFill>
            <a:prstDash val="solid"/>
            <a:tailEnd type="triangle"/>
          </a:ln>
        </p:spPr>
      </p:sp>
      <p:sp>
        <p:nvSpPr>
          <p:cNvPr id="42" name="Text 40"/>
          <p:cNvSpPr txBox="1"/>
          <p:nvPr/>
        </p:nvSpPr>
        <p:spPr>
          <a:xfrm>
            <a:off x="2038312" y="4928616"/>
            <a:ext cx="5486400" cy="365760"/>
          </a:xfrm>
          <a:prstGeom prst="rect">
            <a:avLst/>
          </a:prstGeom>
          <a:noFill/>
          <a:ln/>
        </p:spPr>
        <p:txBody>
          <a:bodyPr wrap="square" lIns="0" tIns="0" rIns="0" bIns="0" rtlCol="0" anchor="t"/>
          <a:lstStyle/>
          <a:p>
            <a:pPr indent="0" marL="0">
              <a:buNone/>
            </a:pPr>
            <a:r>
              <a:rPr lang="es-CL" altLang="en-US" sz="1800" i="1" dirty="0">
                <a:solidFill>
                  <a:schemeClr val="accent1"/>
                </a:solidFill>
                <a:latin typeface="Instrument Serif" pitchFamily="34" charset="0"/>
                <a:ea typeface="Instrument Serif" pitchFamily="34" charset="-122"/>
                <a:cs typeface="Instrument Serif" pitchFamily="34" charset="-120"/>
              </a:rPr>
              <a:t>nueva medición en el siguiente corte</a:t>
            </a:r>
            <a:endParaRPr lang="es-CL" sz="1800" dirty="0"/>
          </a:p>
        </p:txBody>
      </p:sp>
      <p:sp>
        <p:nvSpPr>
          <p:cNvPr id="43" name="Shape 41"/>
          <p:cNvSpPr/>
          <p:nvPr/>
        </p:nvSpPr>
        <p:spPr>
          <a:xfrm>
            <a:off x="548640" y="5385816"/>
            <a:ext cx="11094415" cy="0"/>
          </a:xfrm>
          <a:prstGeom prst="line">
            <a:avLst/>
          </a:prstGeom>
          <a:noFill/>
          <a:ln w="9525">
            <a:solidFill>
              <a:schemeClr val="accent1"/>
            </a:solidFill>
            <a:prstDash val="solid"/>
          </a:ln>
        </p:spPr>
      </p:sp>
      <p:sp>
        <p:nvSpPr>
          <p:cNvPr id="44" name="Text 42"/>
          <p:cNvSpPr txBox="1"/>
          <p:nvPr/>
        </p:nvSpPr>
        <p:spPr>
          <a:xfrm>
            <a:off x="548640" y="5495544"/>
            <a:ext cx="11094415" cy="758952"/>
          </a:xfrm>
          <a:prstGeom prst="rect">
            <a:avLst/>
          </a:prstGeom>
          <a:noFill/>
          <a:ln/>
        </p:spPr>
        <p:txBody>
          <a:bodyPr wrap="square" lIns="0" tIns="0" rIns="0" bIns="0" rtlCol="0" anchor="t"/>
          <a:lstStyle/>
          <a:p>
            <a:pPr indent="0" marL="0">
              <a:buNone/>
            </a:pPr>
            <a:r>
              <a:rPr lang="es-CL" altLang="en-US" sz="2000" b="1" dirty="0">
                <a:solidFill>
                  <a:schemeClr val="tx1"/>
                </a:solidFill>
                <a:latin typeface="Figtree" pitchFamily="34" charset="0"/>
                <a:ea typeface="Figtree" pitchFamily="34" charset="-122"/>
                <a:cs typeface="Figtree" pitchFamily="34" charset="-120"/>
              </a:rPr>
              <a:t>Sin evidencia de cierre, la desviación sigue abierta. </a:t>
            </a:r>
            <a:pPr indent="0" marL="0">
              <a:buNone/>
            </a:pPr>
            <a:r>
              <a:rPr lang="es-CL" altLang="en-US" sz="2000" dirty="0">
                <a:solidFill>
                  <a:schemeClr val="tx2"/>
                </a:solidFill>
                <a:latin typeface="Figtree" pitchFamily="34" charset="0"/>
                <a:ea typeface="Figtree" pitchFamily="34" charset="-122"/>
                <a:cs typeface="Figtree" pitchFamily="34" charset="-120"/>
              </a:rPr>
              <a:t>Si la falla se repite, se rediseña el protocolo; no se culpa al último técnico.</a:t>
            </a:r>
            <a:endParaRPr lang="es-CL" sz="20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69494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IBM Plex Mono" pitchFamily="34" charset="0"/>
                <a:ea typeface="IBM Plex Mono" pitchFamily="34" charset="-122"/>
                <a:cs typeface="IBM Plex Mono" pitchFamily="34" charset="-120"/>
              </a:rPr>
              <a:t>11</a:t>
            </a:r>
            <a:pPr indent="0" marL="0">
              <a:buNone/>
            </a:pPr>
            <a:r>
              <a:rPr lang="en-US" sz="12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200" spc="150" kern="0" dirty="0">
                <a:solidFill>
                  <a:schemeClr val="tx2"/>
                </a:solidFill>
                <a:latin typeface="IBM Plex Mono" pitchFamily="34" charset="0"/>
                <a:ea typeface="IBM Plex Mono" pitchFamily="34" charset="-122"/>
                <a:cs typeface="IBM Plex Mono" pitchFamily="34" charset="-120"/>
              </a:rPr>
              <a:t>CONCLUSIÓN</a:t>
            </a:r>
            <a:endParaRPr lang="en-US" sz="12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chemeClr val="tx1"/>
                </a:solidFill>
                <a:latin typeface="Archivo SemiExpanded ExtraBold" pitchFamily="34" charset="0"/>
                <a:ea typeface="Archivo SemiExpanded ExtraBold" pitchFamily="34" charset="-122"/>
                <a:cs typeface="Archivo SemiExpanded ExtraBold" pitchFamily="34" charset="-120"/>
              </a:rPr>
              <a:t>EL CMI PERMITE DECIDIR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cuándo avanzar.</a:t>
            </a:r>
            <a:endParaRPr lang="en-US" sz="3400" dirty="0"/>
          </a:p>
        </p:txBody>
      </p:sp>
      <p:sp>
        <p:nvSpPr>
          <p:cNvPr id="4" name="Text 2"/>
          <p:cNvSpPr txBox="1"/>
          <p:nvPr/>
        </p:nvSpPr>
        <p:spPr>
          <a:xfrm>
            <a:off x="548640" y="6345936"/>
            <a:ext cx="10180015" cy="384048"/>
          </a:xfrm>
          <a:prstGeom prst="rect">
            <a:avLst/>
          </a:prstGeom>
          <a:noFill/>
          <a:ln/>
        </p:spPr>
        <p:txBody>
          <a:bodyPr wrap="square" lIns="0" tIns="0" rIns="0" bIns="0" rtlCol="0" anchor="t"/>
          <a:lstStyle/>
          <a:p>
            <a:pPr indent="0" marL="0">
              <a:buNone/>
            </a:pPr>
            <a:r>
              <a:rPr lang="es-CL" altLang="en-US" sz="1100" dirty="0">
                <a:solidFill>
                  <a:schemeClr val="tx2"/>
                </a:solidFill>
                <a:latin typeface="Figtree" pitchFamily="34" charset="0"/>
                <a:ea typeface="Figtree" pitchFamily="34" charset="-122"/>
                <a:cs typeface="Figtree" pitchFamily="34" charset="-120"/>
              </a:rPr>
              <a:t>Fuente: elaboración propia (dossier y Excel de la Solemne 2). El WACC y la tolerancia de error del ahorro quedan por definir con antecedentes.</a:t>
            </a:r>
            <a:endParaRPr lang="es-CL" sz="1100" dirty="0"/>
          </a:p>
        </p:txBody>
      </p:sp>
      <p:sp>
        <p:nvSpPr>
          <p:cNvPr id="5" name="Shape 3"/>
          <p:cNvSpPr/>
          <p:nvPr/>
        </p:nvSpPr>
        <p:spPr>
          <a:xfrm>
            <a:off x="548640" y="4590288"/>
            <a:ext cx="1559052" cy="1600200"/>
          </a:xfrm>
          <a:prstGeom prst="rect">
            <a:avLst/>
          </a:prstGeom>
          <a:solidFill>
            <a:schemeClr val="bg2"/>
          </a:solidFill>
          <a:ln w="9525">
            <a:solidFill>
              <a:schemeClr val="accent5"/>
            </a:solidFill>
            <a:prstDash val="solid"/>
          </a:ln>
        </p:spPr>
      </p:sp>
      <p:sp>
        <p:nvSpPr>
          <p:cNvPr id="6" name="Shape 4"/>
          <p:cNvSpPr/>
          <p:nvPr/>
        </p:nvSpPr>
        <p:spPr>
          <a:xfrm>
            <a:off x="548640" y="4590288"/>
            <a:ext cx="1559052" cy="45720"/>
          </a:xfrm>
          <a:prstGeom prst="rect">
            <a:avLst/>
          </a:prstGeom>
          <a:solidFill>
            <a:schemeClr val="tx2"/>
          </a:solidFill>
          <a:ln/>
        </p:spPr>
      </p:sp>
      <p:sp>
        <p:nvSpPr>
          <p:cNvPr id="7" name="Shape 5"/>
          <p:cNvSpPr/>
          <p:nvPr/>
        </p:nvSpPr>
        <p:spPr>
          <a:xfrm>
            <a:off x="713232" y="4773168"/>
            <a:ext cx="420624" cy="384048"/>
          </a:xfrm>
          <a:prstGeom prst="rect">
            <a:avLst/>
          </a:prstGeom>
          <a:solidFill>
            <a:schemeClr val="accent5"/>
          </a:solidFill>
          <a:ln/>
        </p:spPr>
      </p:sp>
      <p:sp>
        <p:nvSpPr>
          <p:cNvPr id="8" name="Text 6"/>
          <p:cNvSpPr txBox="1"/>
          <p:nvPr/>
        </p:nvSpPr>
        <p:spPr>
          <a:xfrm>
            <a:off x="713232" y="4773168"/>
            <a:ext cx="420624" cy="384048"/>
          </a:xfrm>
          <a:prstGeom prst="rect">
            <a:avLst/>
          </a:prstGeom>
          <a:noFill/>
          <a:ln/>
        </p:spPr>
        <p:txBody>
          <a:bodyPr wrap="square" lIns="0" tIns="0" rIns="0" bIns="0" rtlCol="0" anchor="ctr"/>
          <a:lstStyle/>
          <a:p>
            <a:pPr algn="ctr" indent="0" marL="0">
              <a:buNone/>
            </a:pPr>
            <a:r>
              <a:rPr lang="es-CL" altLang="en-US" sz="1800" b="1" dirty="0">
                <a:solidFill>
                  <a:schemeClr val="tx1"/>
                </a:solidFill>
                <a:latin typeface="IBM Plex Mono" pitchFamily="34" charset="0"/>
                <a:ea typeface="IBM Plex Mono" pitchFamily="34" charset="-122"/>
                <a:cs typeface="IBM Plex Mono" pitchFamily="34" charset="-120"/>
              </a:rPr>
              <a:t>1</a:t>
            </a:r>
            <a:endParaRPr lang="es-CL" sz="1800" dirty="0"/>
          </a:p>
        </p:txBody>
      </p:sp>
      <p:sp>
        <p:nvSpPr>
          <p:cNvPr id="9" name="Text 7"/>
          <p:cNvSpPr txBox="1"/>
          <p:nvPr/>
        </p:nvSpPr>
        <p:spPr>
          <a:xfrm>
            <a:off x="713232" y="5248656"/>
            <a:ext cx="1284732" cy="256032"/>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APRENDIZAJE</a:t>
            </a:r>
            <a:endParaRPr lang="es-CL" sz="1200" dirty="0"/>
          </a:p>
        </p:txBody>
      </p:sp>
      <p:sp>
        <p:nvSpPr>
          <p:cNvPr id="10" name="Text 8"/>
          <p:cNvSpPr txBox="1"/>
          <p:nvPr/>
        </p:nvSpPr>
        <p:spPr>
          <a:xfrm>
            <a:off x="694944" y="5504688"/>
            <a:ext cx="1357884" cy="548640"/>
          </a:xfrm>
          <a:prstGeom prst="rect">
            <a:avLst/>
          </a:prstGeom>
          <a:noFill/>
          <a:ln/>
        </p:spPr>
        <p:txBody>
          <a:bodyPr wrap="square" lIns="0" tIns="0" rIns="0" bIns="0" rtlCol="0" anchor="t"/>
          <a:lstStyle/>
          <a:p>
            <a:pPr indent="0" marL="0">
              <a:lnSpc>
                <a:spcPct val="95000"/>
              </a:lnSpc>
              <a:buNone/>
            </a:pPr>
            <a:r>
              <a:rPr lang="es-CL" altLang="en-US" sz="1600" b="1" dirty="0">
                <a:solidFill>
                  <a:schemeClr val="tx1"/>
                </a:solidFill>
                <a:latin typeface="Figtree" pitchFamily="34" charset="0"/>
                <a:ea typeface="Figtree" pitchFamily="34" charset="-122"/>
                <a:cs typeface="Figtree" pitchFamily="34" charset="-120"/>
              </a:rPr>
              <a:t>Capacidades verificables</a:t>
            </a:r>
            <a:endParaRPr lang="es-CL" sz="1600" dirty="0"/>
          </a:p>
        </p:txBody>
      </p:sp>
      <p:sp>
        <p:nvSpPr>
          <p:cNvPr id="11" name="Shape 9"/>
          <p:cNvSpPr/>
          <p:nvPr/>
        </p:nvSpPr>
        <p:spPr>
          <a:xfrm>
            <a:off x="2253996" y="3858768"/>
            <a:ext cx="1559052" cy="2331720"/>
          </a:xfrm>
          <a:prstGeom prst="rect">
            <a:avLst/>
          </a:prstGeom>
          <a:solidFill>
            <a:schemeClr val="bg2"/>
          </a:solidFill>
          <a:ln w="9525">
            <a:solidFill>
              <a:schemeClr val="tx2"/>
            </a:solidFill>
            <a:prstDash val="solid"/>
          </a:ln>
        </p:spPr>
      </p:sp>
      <p:sp>
        <p:nvSpPr>
          <p:cNvPr id="12" name="Shape 10"/>
          <p:cNvSpPr/>
          <p:nvPr/>
        </p:nvSpPr>
        <p:spPr>
          <a:xfrm>
            <a:off x="2253996" y="3858768"/>
            <a:ext cx="1559052" cy="45720"/>
          </a:xfrm>
          <a:prstGeom prst="rect">
            <a:avLst/>
          </a:prstGeom>
          <a:solidFill>
            <a:schemeClr val="tx2"/>
          </a:solidFill>
          <a:ln/>
        </p:spPr>
      </p:sp>
      <p:sp>
        <p:nvSpPr>
          <p:cNvPr id="13" name="Shape 11"/>
          <p:cNvSpPr/>
          <p:nvPr/>
        </p:nvSpPr>
        <p:spPr>
          <a:xfrm>
            <a:off x="2418588" y="4041648"/>
            <a:ext cx="420624" cy="384048"/>
          </a:xfrm>
          <a:prstGeom prst="rect">
            <a:avLst/>
          </a:prstGeom>
          <a:solidFill>
            <a:schemeClr val="accent5"/>
          </a:solidFill>
          <a:ln/>
        </p:spPr>
      </p:sp>
      <p:sp>
        <p:nvSpPr>
          <p:cNvPr id="14" name="Text 12"/>
          <p:cNvSpPr txBox="1"/>
          <p:nvPr/>
        </p:nvSpPr>
        <p:spPr>
          <a:xfrm>
            <a:off x="2418588" y="4041648"/>
            <a:ext cx="420624" cy="384048"/>
          </a:xfrm>
          <a:prstGeom prst="rect">
            <a:avLst/>
          </a:prstGeom>
          <a:noFill/>
          <a:ln/>
        </p:spPr>
        <p:txBody>
          <a:bodyPr wrap="square" lIns="0" tIns="0" rIns="0" bIns="0" rtlCol="0" anchor="ctr"/>
          <a:lstStyle/>
          <a:p>
            <a:pPr algn="ctr" indent="0" marL="0">
              <a:buNone/>
            </a:pPr>
            <a:r>
              <a:rPr lang="es-CL" altLang="en-US" sz="1800" b="1" dirty="0">
                <a:solidFill>
                  <a:schemeClr val="tx1"/>
                </a:solidFill>
                <a:latin typeface="IBM Plex Mono" pitchFamily="34" charset="0"/>
                <a:ea typeface="IBM Plex Mono" pitchFamily="34" charset="-122"/>
                <a:cs typeface="IBM Plex Mono" pitchFamily="34" charset="-120"/>
              </a:rPr>
              <a:t>2</a:t>
            </a:r>
            <a:endParaRPr lang="es-CL" sz="1800" dirty="0"/>
          </a:p>
        </p:txBody>
      </p:sp>
      <p:sp>
        <p:nvSpPr>
          <p:cNvPr id="15" name="Text 13"/>
          <p:cNvSpPr txBox="1"/>
          <p:nvPr/>
        </p:nvSpPr>
        <p:spPr>
          <a:xfrm>
            <a:off x="2418588" y="4517136"/>
            <a:ext cx="1284732" cy="256032"/>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PROCESOS</a:t>
            </a:r>
            <a:endParaRPr lang="es-CL" sz="1200" dirty="0"/>
          </a:p>
        </p:txBody>
      </p:sp>
      <p:sp>
        <p:nvSpPr>
          <p:cNvPr id="16" name="Text 14"/>
          <p:cNvSpPr txBox="1"/>
          <p:nvPr/>
        </p:nvSpPr>
        <p:spPr>
          <a:xfrm>
            <a:off x="2400300" y="4773168"/>
            <a:ext cx="1357884" cy="548640"/>
          </a:xfrm>
          <a:prstGeom prst="rect">
            <a:avLst/>
          </a:prstGeom>
          <a:noFill/>
          <a:ln/>
        </p:spPr>
        <p:txBody>
          <a:bodyPr wrap="square" lIns="0" tIns="0" rIns="0" bIns="0" rtlCol="0" anchor="t"/>
          <a:lstStyle/>
          <a:p>
            <a:pPr indent="0" marL="0">
              <a:lnSpc>
                <a:spcPct val="95000"/>
              </a:lnSpc>
              <a:buNone/>
            </a:pPr>
            <a:r>
              <a:rPr lang="es-CL" altLang="en-US" sz="1600" b="1" dirty="0">
                <a:solidFill>
                  <a:schemeClr val="tx1"/>
                </a:solidFill>
                <a:latin typeface="Figtree" pitchFamily="34" charset="0"/>
                <a:ea typeface="Figtree" pitchFamily="34" charset="-122"/>
                <a:cs typeface="Figtree" pitchFamily="34" charset="-120"/>
              </a:rPr>
              <a:t>Procesos formales</a:t>
            </a:r>
            <a:endParaRPr lang="es-CL" sz="1600" dirty="0"/>
          </a:p>
        </p:txBody>
      </p:sp>
      <p:sp>
        <p:nvSpPr>
          <p:cNvPr id="17" name="Shape 15"/>
          <p:cNvSpPr/>
          <p:nvPr/>
        </p:nvSpPr>
        <p:spPr>
          <a:xfrm>
            <a:off x="3959352" y="3127248"/>
            <a:ext cx="1559052" cy="3063240"/>
          </a:xfrm>
          <a:prstGeom prst="rect">
            <a:avLst/>
          </a:prstGeom>
          <a:solidFill>
            <a:schemeClr val="bg2"/>
          </a:solidFill>
          <a:ln w="9525">
            <a:solidFill>
              <a:schemeClr val="tx2"/>
            </a:solidFill>
            <a:prstDash val="solid"/>
          </a:ln>
        </p:spPr>
      </p:sp>
      <p:sp>
        <p:nvSpPr>
          <p:cNvPr id="18" name="Shape 16"/>
          <p:cNvSpPr/>
          <p:nvPr/>
        </p:nvSpPr>
        <p:spPr>
          <a:xfrm>
            <a:off x="3959352" y="3127248"/>
            <a:ext cx="1559052" cy="45720"/>
          </a:xfrm>
          <a:prstGeom prst="rect">
            <a:avLst/>
          </a:prstGeom>
          <a:solidFill>
            <a:schemeClr val="tx2"/>
          </a:solidFill>
          <a:ln/>
        </p:spPr>
      </p:sp>
      <p:sp>
        <p:nvSpPr>
          <p:cNvPr id="19" name="Shape 17"/>
          <p:cNvSpPr/>
          <p:nvPr/>
        </p:nvSpPr>
        <p:spPr>
          <a:xfrm>
            <a:off x="4123944" y="3310128"/>
            <a:ext cx="420624" cy="384048"/>
          </a:xfrm>
          <a:prstGeom prst="rect">
            <a:avLst/>
          </a:prstGeom>
          <a:solidFill>
            <a:schemeClr val="accent5"/>
          </a:solidFill>
          <a:ln/>
        </p:spPr>
      </p:sp>
      <p:sp>
        <p:nvSpPr>
          <p:cNvPr id="20" name="Text 18"/>
          <p:cNvSpPr txBox="1"/>
          <p:nvPr/>
        </p:nvSpPr>
        <p:spPr>
          <a:xfrm>
            <a:off x="4123944" y="3310128"/>
            <a:ext cx="420624" cy="384048"/>
          </a:xfrm>
          <a:prstGeom prst="rect">
            <a:avLst/>
          </a:prstGeom>
          <a:noFill/>
          <a:ln/>
        </p:spPr>
        <p:txBody>
          <a:bodyPr wrap="square" lIns="0" tIns="0" rIns="0" bIns="0" rtlCol="0" anchor="ctr"/>
          <a:lstStyle/>
          <a:p>
            <a:pPr algn="ctr" indent="0" marL="0">
              <a:buNone/>
            </a:pPr>
            <a:r>
              <a:rPr lang="es-CL" altLang="en-US" sz="1800" b="1" dirty="0">
                <a:solidFill>
                  <a:schemeClr val="tx1"/>
                </a:solidFill>
                <a:latin typeface="IBM Plex Mono" pitchFamily="34" charset="0"/>
                <a:ea typeface="IBM Plex Mono" pitchFamily="34" charset="-122"/>
                <a:cs typeface="IBM Plex Mono" pitchFamily="34" charset="-120"/>
              </a:rPr>
              <a:t>3</a:t>
            </a:r>
            <a:endParaRPr lang="es-CL" sz="1800" dirty="0"/>
          </a:p>
        </p:txBody>
      </p:sp>
      <p:sp>
        <p:nvSpPr>
          <p:cNvPr id="21" name="Text 19"/>
          <p:cNvSpPr txBox="1"/>
          <p:nvPr/>
        </p:nvSpPr>
        <p:spPr>
          <a:xfrm>
            <a:off x="4123944" y="3785616"/>
            <a:ext cx="1284732" cy="256032"/>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CLIENTES</a:t>
            </a:r>
            <a:endParaRPr lang="es-CL" sz="1200" dirty="0"/>
          </a:p>
        </p:txBody>
      </p:sp>
      <p:sp>
        <p:nvSpPr>
          <p:cNvPr id="22" name="Text 20"/>
          <p:cNvSpPr txBox="1"/>
          <p:nvPr/>
        </p:nvSpPr>
        <p:spPr>
          <a:xfrm>
            <a:off x="4105656" y="4041648"/>
            <a:ext cx="1357884" cy="548640"/>
          </a:xfrm>
          <a:prstGeom prst="rect">
            <a:avLst/>
          </a:prstGeom>
          <a:noFill/>
          <a:ln/>
        </p:spPr>
        <p:txBody>
          <a:bodyPr wrap="square" lIns="0" tIns="0" rIns="0" bIns="0" rtlCol="0" anchor="t"/>
          <a:lstStyle/>
          <a:p>
            <a:pPr indent="0" marL="0">
              <a:lnSpc>
                <a:spcPct val="95000"/>
              </a:lnSpc>
              <a:buNone/>
            </a:pPr>
            <a:r>
              <a:rPr lang="es-CL" altLang="en-US" sz="1600" b="1" dirty="0">
                <a:solidFill>
                  <a:schemeClr val="tx1"/>
                </a:solidFill>
                <a:latin typeface="Figtree" pitchFamily="34" charset="0"/>
                <a:ea typeface="Figtree" pitchFamily="34" charset="-122"/>
                <a:cs typeface="Figtree" pitchFamily="34" charset="-120"/>
              </a:rPr>
              <a:t>Valor demostrado al cliente</a:t>
            </a:r>
            <a:endParaRPr lang="es-CL" sz="1600" dirty="0"/>
          </a:p>
        </p:txBody>
      </p:sp>
      <p:pic>
        <p:nvPicPr>
          <p:cNvPr id="23" name="Image 0" descr="C:\Users\Usuario\Documents\GitHub\lumine\solemne-2\generador\assets\brillo.png">    </p:cNvPr>
          <p:cNvPicPr>
            <a:picLocks noChangeAspect="1"/>
          </p:cNvPicPr>
          <p:nvPr/>
        </p:nvPicPr>
        <p:blipFill>
          <a:blip r:embed="rId1"/>
          <a:stretch>
            <a:fillRect/>
          </a:stretch>
        </p:blipFill>
        <p:spPr>
          <a:xfrm>
            <a:off x="5207508" y="2075688"/>
            <a:ext cx="2473452" cy="4434840"/>
          </a:xfrm>
          <a:prstGeom prst="rect">
            <a:avLst/>
          </a:prstGeom>
        </p:spPr>
      </p:pic>
      <p:sp>
        <p:nvSpPr>
          <p:cNvPr id="24" name="Shape 21"/>
          <p:cNvSpPr/>
          <p:nvPr/>
        </p:nvSpPr>
        <p:spPr>
          <a:xfrm>
            <a:off x="5664708" y="2395728"/>
            <a:ext cx="1559052" cy="3794760"/>
          </a:xfrm>
          <a:prstGeom prst="rect">
            <a:avLst/>
          </a:prstGeom>
          <a:solidFill>
            <a:srgbClr val="0B1A22"/>
          </a:solidFill>
          <a:ln w="15875">
            <a:solidFill>
              <a:schemeClr val="accent1"/>
            </a:solidFill>
            <a:prstDash val="solid"/>
          </a:ln>
        </p:spPr>
      </p:sp>
      <p:sp>
        <p:nvSpPr>
          <p:cNvPr id="25" name="Shape 22"/>
          <p:cNvSpPr/>
          <p:nvPr/>
        </p:nvSpPr>
        <p:spPr>
          <a:xfrm>
            <a:off x="5609844" y="2340864"/>
            <a:ext cx="155448" cy="0"/>
          </a:xfrm>
          <a:prstGeom prst="line">
            <a:avLst/>
          </a:prstGeom>
          <a:noFill/>
          <a:ln w="15875">
            <a:solidFill>
              <a:schemeClr val="accent1"/>
            </a:solidFill>
            <a:prstDash val="solid"/>
          </a:ln>
        </p:spPr>
      </p:sp>
      <p:sp>
        <p:nvSpPr>
          <p:cNvPr id="26" name="Shape 23"/>
          <p:cNvSpPr/>
          <p:nvPr/>
        </p:nvSpPr>
        <p:spPr>
          <a:xfrm>
            <a:off x="5609844" y="2340864"/>
            <a:ext cx="0" cy="155448"/>
          </a:xfrm>
          <a:prstGeom prst="line">
            <a:avLst/>
          </a:prstGeom>
          <a:noFill/>
          <a:ln w="15875">
            <a:solidFill>
              <a:schemeClr val="accent1"/>
            </a:solidFill>
            <a:prstDash val="solid"/>
          </a:ln>
        </p:spPr>
      </p:sp>
      <p:sp>
        <p:nvSpPr>
          <p:cNvPr id="27" name="Shape 24"/>
          <p:cNvSpPr/>
          <p:nvPr/>
        </p:nvSpPr>
        <p:spPr>
          <a:xfrm>
            <a:off x="7123176" y="2340864"/>
            <a:ext cx="155448" cy="0"/>
          </a:xfrm>
          <a:prstGeom prst="line">
            <a:avLst/>
          </a:prstGeom>
          <a:noFill/>
          <a:ln w="15875">
            <a:solidFill>
              <a:schemeClr val="accent1"/>
            </a:solidFill>
            <a:prstDash val="solid"/>
          </a:ln>
        </p:spPr>
      </p:sp>
      <p:sp>
        <p:nvSpPr>
          <p:cNvPr id="28" name="Shape 25"/>
          <p:cNvSpPr/>
          <p:nvPr/>
        </p:nvSpPr>
        <p:spPr>
          <a:xfrm>
            <a:off x="7278624" y="2340864"/>
            <a:ext cx="0" cy="155448"/>
          </a:xfrm>
          <a:prstGeom prst="line">
            <a:avLst/>
          </a:prstGeom>
          <a:noFill/>
          <a:ln w="15875">
            <a:solidFill>
              <a:schemeClr val="accent1"/>
            </a:solidFill>
            <a:prstDash val="solid"/>
          </a:ln>
        </p:spPr>
      </p:sp>
      <p:sp>
        <p:nvSpPr>
          <p:cNvPr id="29" name="Shape 26"/>
          <p:cNvSpPr/>
          <p:nvPr/>
        </p:nvSpPr>
        <p:spPr>
          <a:xfrm>
            <a:off x="5609844" y="6245352"/>
            <a:ext cx="155448" cy="0"/>
          </a:xfrm>
          <a:prstGeom prst="line">
            <a:avLst/>
          </a:prstGeom>
          <a:noFill/>
          <a:ln w="15875">
            <a:solidFill>
              <a:schemeClr val="accent1"/>
            </a:solidFill>
            <a:prstDash val="solid"/>
          </a:ln>
        </p:spPr>
      </p:sp>
      <p:sp>
        <p:nvSpPr>
          <p:cNvPr id="30" name="Shape 27"/>
          <p:cNvSpPr/>
          <p:nvPr/>
        </p:nvSpPr>
        <p:spPr>
          <a:xfrm>
            <a:off x="5609844" y="6089904"/>
            <a:ext cx="0" cy="155448"/>
          </a:xfrm>
          <a:prstGeom prst="line">
            <a:avLst/>
          </a:prstGeom>
          <a:noFill/>
          <a:ln w="15875">
            <a:solidFill>
              <a:schemeClr val="accent1"/>
            </a:solidFill>
            <a:prstDash val="solid"/>
          </a:ln>
        </p:spPr>
      </p:sp>
      <p:sp>
        <p:nvSpPr>
          <p:cNvPr id="31" name="Shape 28"/>
          <p:cNvSpPr/>
          <p:nvPr/>
        </p:nvSpPr>
        <p:spPr>
          <a:xfrm>
            <a:off x="7123176" y="6245352"/>
            <a:ext cx="155448" cy="0"/>
          </a:xfrm>
          <a:prstGeom prst="line">
            <a:avLst/>
          </a:prstGeom>
          <a:noFill/>
          <a:ln w="15875">
            <a:solidFill>
              <a:schemeClr val="accent1"/>
            </a:solidFill>
            <a:prstDash val="solid"/>
          </a:ln>
        </p:spPr>
      </p:sp>
      <p:sp>
        <p:nvSpPr>
          <p:cNvPr id="32" name="Shape 29"/>
          <p:cNvSpPr/>
          <p:nvPr/>
        </p:nvSpPr>
        <p:spPr>
          <a:xfrm>
            <a:off x="7278624" y="6089904"/>
            <a:ext cx="0" cy="155448"/>
          </a:xfrm>
          <a:prstGeom prst="line">
            <a:avLst/>
          </a:prstGeom>
          <a:noFill/>
          <a:ln w="15875">
            <a:solidFill>
              <a:schemeClr val="accent1"/>
            </a:solidFill>
            <a:prstDash val="solid"/>
          </a:ln>
        </p:spPr>
      </p:sp>
      <p:sp>
        <p:nvSpPr>
          <p:cNvPr id="33" name="Shape 30"/>
          <p:cNvSpPr/>
          <p:nvPr/>
        </p:nvSpPr>
        <p:spPr>
          <a:xfrm>
            <a:off x="5664708" y="2395728"/>
            <a:ext cx="1559052" cy="45720"/>
          </a:xfrm>
          <a:prstGeom prst="rect">
            <a:avLst/>
          </a:prstGeom>
          <a:solidFill>
            <a:schemeClr val="accent1"/>
          </a:solidFill>
          <a:ln/>
        </p:spPr>
      </p:sp>
      <p:sp>
        <p:nvSpPr>
          <p:cNvPr id="34" name="Shape 31"/>
          <p:cNvSpPr/>
          <p:nvPr/>
        </p:nvSpPr>
        <p:spPr>
          <a:xfrm>
            <a:off x="5829300" y="2578608"/>
            <a:ext cx="420624" cy="384048"/>
          </a:xfrm>
          <a:prstGeom prst="rect">
            <a:avLst/>
          </a:prstGeom>
          <a:solidFill>
            <a:schemeClr val="accent1"/>
          </a:solidFill>
          <a:ln/>
        </p:spPr>
      </p:sp>
      <p:sp>
        <p:nvSpPr>
          <p:cNvPr id="35" name="Text 32"/>
          <p:cNvSpPr txBox="1"/>
          <p:nvPr/>
        </p:nvSpPr>
        <p:spPr>
          <a:xfrm>
            <a:off x="5829300" y="2578608"/>
            <a:ext cx="420624" cy="384048"/>
          </a:xfrm>
          <a:prstGeom prst="rect">
            <a:avLst/>
          </a:prstGeom>
          <a:noFill/>
          <a:ln/>
        </p:spPr>
        <p:txBody>
          <a:bodyPr wrap="square" lIns="0" tIns="0" rIns="0" bIns="0" rtlCol="0" anchor="ctr"/>
          <a:lstStyle/>
          <a:p>
            <a:pPr algn="ctr" indent="0" marL="0">
              <a:buNone/>
            </a:pPr>
            <a:r>
              <a:rPr lang="es-CL" altLang="en-US" sz="1800" b="1" dirty="0">
                <a:solidFill>
                  <a:schemeClr val="bg1"/>
                </a:solidFill>
                <a:latin typeface="IBM Plex Mono" pitchFamily="34" charset="0"/>
                <a:ea typeface="IBM Plex Mono" pitchFamily="34" charset="-122"/>
                <a:cs typeface="IBM Plex Mono" pitchFamily="34" charset="-120"/>
              </a:rPr>
              <a:t>4</a:t>
            </a:r>
            <a:endParaRPr lang="es-CL" sz="1800" dirty="0"/>
          </a:p>
        </p:txBody>
      </p:sp>
      <p:sp>
        <p:nvSpPr>
          <p:cNvPr id="36" name="Text 33"/>
          <p:cNvSpPr txBox="1"/>
          <p:nvPr/>
        </p:nvSpPr>
        <p:spPr>
          <a:xfrm>
            <a:off x="5829300" y="3054096"/>
            <a:ext cx="1284732" cy="256032"/>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FINANCIERA</a:t>
            </a:r>
            <a:endParaRPr lang="es-CL" sz="1200" dirty="0"/>
          </a:p>
        </p:txBody>
      </p:sp>
      <p:sp>
        <p:nvSpPr>
          <p:cNvPr id="37" name="Text 34"/>
          <p:cNvSpPr txBox="1"/>
          <p:nvPr/>
        </p:nvSpPr>
        <p:spPr>
          <a:xfrm>
            <a:off x="5811012" y="3310128"/>
            <a:ext cx="1357884" cy="548640"/>
          </a:xfrm>
          <a:prstGeom prst="rect">
            <a:avLst/>
          </a:prstGeom>
          <a:noFill/>
          <a:ln/>
        </p:spPr>
        <p:txBody>
          <a:bodyPr wrap="square" lIns="0" tIns="0" rIns="0" bIns="0" rtlCol="0" anchor="t"/>
          <a:lstStyle/>
          <a:p>
            <a:pPr indent="0" marL="0">
              <a:lnSpc>
                <a:spcPct val="95000"/>
              </a:lnSpc>
              <a:buNone/>
            </a:pPr>
            <a:r>
              <a:rPr lang="es-CL" altLang="en-US" sz="1600" b="1" dirty="0">
                <a:solidFill>
                  <a:schemeClr val="tx1"/>
                </a:solidFill>
                <a:latin typeface="Figtree" pitchFamily="34" charset="0"/>
                <a:ea typeface="Figtree" pitchFamily="34" charset="-122"/>
                <a:cs typeface="Figtree" pitchFamily="34" charset="-120"/>
              </a:rPr>
              <a:t>EVA mayor que cero</a:t>
            </a:r>
            <a:endParaRPr lang="es-CL" sz="1600" dirty="0"/>
          </a:p>
        </p:txBody>
      </p:sp>
      <p:sp>
        <p:nvSpPr>
          <p:cNvPr id="38" name="Text 35"/>
          <p:cNvSpPr txBox="1"/>
          <p:nvPr/>
        </p:nvSpPr>
        <p:spPr>
          <a:xfrm>
            <a:off x="7726680" y="2395728"/>
            <a:ext cx="3916375" cy="274320"/>
          </a:xfrm>
          <a:prstGeom prst="rect">
            <a:avLst/>
          </a:prstGeom>
          <a:noFill/>
          <a:ln/>
        </p:spPr>
        <p:txBody>
          <a:bodyPr wrap="square" lIns="0" tIns="0" rIns="0" bIns="0" rtlCol="0" anchor="t"/>
          <a:lstStyle/>
          <a:p>
            <a:pPr indent="0" marL="0">
              <a:buNone/>
            </a:pPr>
            <a:r>
              <a:rPr lang="es-CL" altLang="en-US" sz="1600" spc="100" kern="0" dirty="0">
                <a:solidFill>
                  <a:schemeClr val="tx2"/>
                </a:solidFill>
                <a:latin typeface="IBM Plex Mono" pitchFamily="34" charset="0"/>
                <a:ea typeface="IBM Plex Mono" pitchFamily="34" charset="-122"/>
                <a:cs typeface="IBM Plex Mono" pitchFamily="34" charset="-120"/>
              </a:rPr>
              <a:t>POR DEFINIR</a:t>
            </a:r>
            <a:endParaRPr lang="es-CL" sz="1600" dirty="0"/>
          </a:p>
        </p:txBody>
      </p:sp>
      <p:sp>
        <p:nvSpPr>
          <p:cNvPr id="39" name="Shape 36"/>
          <p:cNvSpPr/>
          <p:nvPr/>
        </p:nvSpPr>
        <p:spPr>
          <a:xfrm>
            <a:off x="7726680" y="2779776"/>
            <a:ext cx="3916375" cy="0"/>
          </a:xfrm>
          <a:prstGeom prst="line">
            <a:avLst/>
          </a:prstGeom>
          <a:noFill/>
          <a:ln w="9525">
            <a:solidFill>
              <a:schemeClr val="accent5"/>
            </a:solidFill>
            <a:prstDash val="solid"/>
          </a:ln>
        </p:spPr>
      </p:sp>
      <p:sp>
        <p:nvSpPr>
          <p:cNvPr id="40" name="Text 37"/>
          <p:cNvSpPr txBox="1"/>
          <p:nvPr/>
        </p:nvSpPr>
        <p:spPr>
          <a:xfrm>
            <a:off x="7726680" y="2779776"/>
            <a:ext cx="2499055" cy="731520"/>
          </a:xfrm>
          <a:prstGeom prst="rect">
            <a:avLst/>
          </a:prstGeom>
          <a:noFill/>
          <a:ln/>
        </p:spPr>
        <p:txBody>
          <a:bodyPr wrap="square" lIns="0" tIns="0" rIns="0" bIns="0" rtlCol="0" anchor="ctr"/>
          <a:lstStyle/>
          <a:p>
            <a:pPr indent="0" marL="0">
              <a:lnSpc>
                <a:spcPct val="95000"/>
              </a:lnSpc>
              <a:buNone/>
            </a:pPr>
            <a:r>
              <a:rPr lang="es-CL" altLang="en-US" sz="2000" dirty="0">
                <a:solidFill>
                  <a:schemeClr val="tx1"/>
                </a:solidFill>
                <a:latin typeface="Figtree" pitchFamily="34" charset="0"/>
                <a:ea typeface="Figtree" pitchFamily="34" charset="-122"/>
                <a:cs typeface="Figtree" pitchFamily="34" charset="-120"/>
              </a:rPr>
              <a:t>WACC de Lumine</a:t>
            </a:r>
            <a:endParaRPr lang="es-CL" sz="2000" dirty="0"/>
          </a:p>
        </p:txBody>
      </p:sp>
      <p:sp>
        <p:nvSpPr>
          <p:cNvPr id="41" name="Shape 38"/>
          <p:cNvSpPr/>
          <p:nvPr/>
        </p:nvSpPr>
        <p:spPr>
          <a:xfrm>
            <a:off x="10394899" y="2980944"/>
            <a:ext cx="1248156" cy="329184"/>
          </a:xfrm>
          <a:prstGeom prst="rect">
            <a:avLst/>
          </a:prstGeom>
          <a:solidFill>
            <a:schemeClr val="bg1">
              <a:alpha val="0"/>
            </a:schemeClr>
          </a:solidFill>
          <a:ln w="12700">
            <a:solidFill>
              <a:schemeClr val="tx2"/>
            </a:solidFill>
            <a:prstDash val="solid"/>
          </a:ln>
        </p:spPr>
      </p:sp>
      <p:sp>
        <p:nvSpPr>
          <p:cNvPr id="42" name="Text 39"/>
          <p:cNvSpPr txBox="1"/>
          <p:nvPr/>
        </p:nvSpPr>
        <p:spPr>
          <a:xfrm>
            <a:off x="10504627" y="2980944"/>
            <a:ext cx="1028700" cy="329184"/>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PENDIENTE</a:t>
            </a:r>
            <a:endParaRPr lang="es-CL" sz="1200" dirty="0"/>
          </a:p>
        </p:txBody>
      </p:sp>
      <p:sp>
        <p:nvSpPr>
          <p:cNvPr id="43" name="Shape 40"/>
          <p:cNvSpPr/>
          <p:nvPr/>
        </p:nvSpPr>
        <p:spPr>
          <a:xfrm>
            <a:off x="7726680" y="3511296"/>
            <a:ext cx="3916375" cy="0"/>
          </a:xfrm>
          <a:prstGeom prst="line">
            <a:avLst/>
          </a:prstGeom>
          <a:noFill/>
          <a:ln w="9525">
            <a:solidFill>
              <a:schemeClr val="accent5"/>
            </a:solidFill>
            <a:prstDash val="solid"/>
          </a:ln>
        </p:spPr>
      </p:sp>
      <p:sp>
        <p:nvSpPr>
          <p:cNvPr id="44" name="Text 41"/>
          <p:cNvSpPr txBox="1"/>
          <p:nvPr/>
        </p:nvSpPr>
        <p:spPr>
          <a:xfrm>
            <a:off x="7726680" y="3511296"/>
            <a:ext cx="2499055" cy="731520"/>
          </a:xfrm>
          <a:prstGeom prst="rect">
            <a:avLst/>
          </a:prstGeom>
          <a:noFill/>
          <a:ln/>
        </p:spPr>
        <p:txBody>
          <a:bodyPr wrap="square" lIns="0" tIns="0" rIns="0" bIns="0" rtlCol="0" anchor="ctr"/>
          <a:lstStyle/>
          <a:p>
            <a:pPr indent="0" marL="0">
              <a:lnSpc>
                <a:spcPct val="95000"/>
              </a:lnSpc>
              <a:buNone/>
            </a:pPr>
            <a:r>
              <a:rPr lang="es-CL" altLang="en-US" sz="2000" dirty="0">
                <a:solidFill>
                  <a:schemeClr val="tx1"/>
                </a:solidFill>
                <a:latin typeface="Figtree" pitchFamily="34" charset="0"/>
                <a:ea typeface="Figtree" pitchFamily="34" charset="-122"/>
                <a:cs typeface="Figtree" pitchFamily="34" charset="-120"/>
              </a:rPr>
              <a:t>Tolerancia de error del ahorro</a:t>
            </a:r>
            <a:endParaRPr lang="es-CL" sz="2000" dirty="0"/>
          </a:p>
        </p:txBody>
      </p:sp>
      <p:sp>
        <p:nvSpPr>
          <p:cNvPr id="45" name="Shape 42"/>
          <p:cNvSpPr/>
          <p:nvPr/>
        </p:nvSpPr>
        <p:spPr>
          <a:xfrm>
            <a:off x="10394899" y="3712464"/>
            <a:ext cx="1248156" cy="329184"/>
          </a:xfrm>
          <a:prstGeom prst="rect">
            <a:avLst/>
          </a:prstGeom>
          <a:solidFill>
            <a:schemeClr val="bg1">
              <a:alpha val="0"/>
            </a:schemeClr>
          </a:solidFill>
          <a:ln w="12700">
            <a:solidFill>
              <a:schemeClr val="tx2"/>
            </a:solidFill>
            <a:prstDash val="solid"/>
          </a:ln>
        </p:spPr>
      </p:sp>
      <p:sp>
        <p:nvSpPr>
          <p:cNvPr id="46" name="Text 43"/>
          <p:cNvSpPr txBox="1"/>
          <p:nvPr/>
        </p:nvSpPr>
        <p:spPr>
          <a:xfrm>
            <a:off x="10504627" y="3712464"/>
            <a:ext cx="1028700" cy="329184"/>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PENDIENTE</a:t>
            </a:r>
            <a:endParaRPr lang="es-CL" sz="1200" dirty="0"/>
          </a:p>
        </p:txBody>
      </p:sp>
      <p:sp>
        <p:nvSpPr>
          <p:cNvPr id="47" name="Shape 44"/>
          <p:cNvSpPr/>
          <p:nvPr/>
        </p:nvSpPr>
        <p:spPr>
          <a:xfrm>
            <a:off x="7726680" y="4352544"/>
            <a:ext cx="3916375" cy="0"/>
          </a:xfrm>
          <a:prstGeom prst="line">
            <a:avLst/>
          </a:prstGeom>
          <a:noFill/>
          <a:ln w="9525">
            <a:solidFill>
              <a:schemeClr val="accent1"/>
            </a:solidFill>
            <a:prstDash val="solid"/>
          </a:ln>
        </p:spPr>
      </p:sp>
      <p:sp>
        <p:nvSpPr>
          <p:cNvPr id="48" name="Text 45"/>
          <p:cNvSpPr txBox="1"/>
          <p:nvPr/>
        </p:nvSpPr>
        <p:spPr>
          <a:xfrm>
            <a:off x="7726680" y="4425696"/>
            <a:ext cx="731520" cy="822960"/>
          </a:xfrm>
          <a:prstGeom prst="rect">
            <a:avLst/>
          </a:prstGeom>
          <a:noFill/>
          <a:ln/>
        </p:spPr>
        <p:txBody>
          <a:bodyPr wrap="square" lIns="0" tIns="0" rIns="0" bIns="0" rtlCol="0" anchor="ctr"/>
          <a:lstStyle/>
          <a:p>
            <a:pPr indent="0" marL="0">
              <a:buNone/>
            </a:pPr>
            <a:r>
              <a:rPr lang="es-CL" altLang="en-US" sz="6000" b="1" dirty="0">
                <a:solidFill>
                  <a:schemeClr val="accent1"/>
                </a:solidFill>
                <a:latin typeface="Archivo Condensed" pitchFamily="34" charset="0"/>
                <a:ea typeface="Archivo Condensed" pitchFamily="34" charset="-122"/>
                <a:cs typeface="Archivo Condensed" pitchFamily="34" charset="-120"/>
              </a:rPr>
              <a:t>0</a:t>
            </a:r>
            <a:endParaRPr lang="es-CL" sz="6000" dirty="0"/>
          </a:p>
        </p:txBody>
      </p:sp>
      <p:sp>
        <p:nvSpPr>
          <p:cNvPr id="49" name="Text 46"/>
          <p:cNvSpPr txBox="1"/>
          <p:nvPr/>
        </p:nvSpPr>
        <p:spPr>
          <a:xfrm>
            <a:off x="8503920" y="4425696"/>
            <a:ext cx="3139135" cy="914400"/>
          </a:xfrm>
          <a:prstGeom prst="rect">
            <a:avLst/>
          </a:prstGeom>
          <a:noFill/>
          <a:ln/>
        </p:spPr>
        <p:txBody>
          <a:bodyPr wrap="square" lIns="0" tIns="0" rIns="0" bIns="0" rtlCol="0" anchor="ctr"/>
          <a:lstStyle/>
          <a:p>
            <a:pPr indent="0" marL="0">
              <a:buNone/>
            </a:pPr>
            <a:r>
              <a:rPr lang="es-CL" altLang="en-US" sz="1800" dirty="0">
                <a:solidFill>
                  <a:schemeClr val="tx1"/>
                </a:solidFill>
                <a:latin typeface="Figtree" pitchFamily="34" charset="0"/>
                <a:ea typeface="Figtree" pitchFamily="34" charset="-122"/>
                <a:cs typeface="Figtree" pitchFamily="34" charset="-120"/>
              </a:rPr>
              <a:t>ventas, homologaciones o EVA presentados como logros</a:t>
            </a:r>
            <a:endParaRPr lang="es-CL" sz="1800" dirty="0"/>
          </a:p>
        </p:txBody>
      </p:sp>
      <p:sp>
        <p:nvSpPr>
          <p:cNvPr id="50" name="Shape 47"/>
          <p:cNvSpPr/>
          <p:nvPr/>
        </p:nvSpPr>
        <p:spPr>
          <a:xfrm>
            <a:off x="7726680" y="5669280"/>
            <a:ext cx="3916375" cy="0"/>
          </a:xfrm>
          <a:prstGeom prst="line">
            <a:avLst/>
          </a:prstGeom>
          <a:noFill/>
          <a:ln w="9525">
            <a:solidFill>
              <a:schemeClr val="accent5"/>
            </a:solidFill>
            <a:prstDash val="solid"/>
          </a:ln>
        </p:spPr>
      </p:sp>
      <p:sp>
        <p:nvSpPr>
          <p:cNvPr id="51" name="Text 48"/>
          <p:cNvSpPr txBox="1"/>
          <p:nvPr/>
        </p:nvSpPr>
        <p:spPr>
          <a:xfrm>
            <a:off x="7726680" y="5779008"/>
            <a:ext cx="3916375" cy="411480"/>
          </a:xfrm>
          <a:prstGeom prst="rect">
            <a:avLst/>
          </a:prstGeom>
          <a:noFill/>
          <a:ln/>
        </p:spPr>
        <p:txBody>
          <a:bodyPr wrap="square" lIns="0" tIns="0" rIns="0" bIns="0" rtlCol="0" anchor="ctr"/>
          <a:lstStyle/>
          <a:p>
            <a:pPr indent="0" marL="0">
              <a:buNone/>
            </a:pPr>
            <a:r>
              <a:rPr lang="es-CL" altLang="en-US" sz="1800" spc="100" kern="0" dirty="0">
                <a:solidFill>
                  <a:schemeClr val="tx1"/>
                </a:solidFill>
                <a:latin typeface="IBM Plex Mono" pitchFamily="34" charset="0"/>
                <a:ea typeface="IBM Plex Mono" pitchFamily="34" charset="-122"/>
                <a:cs typeface="IBM Plex Mono" pitchFamily="34" charset="-120"/>
              </a:rPr>
              <a:t>GRACIAS · ¿PREGUNTAS?</a:t>
            </a:r>
            <a:endParaRPr lang="es-CL" sz="1800" dirty="0"/>
          </a:p>
        </p:txBody>
      </p:sp>
      <p:sp>
        <p:nvSpPr>
          <p:cNvPr id="25" name="Slide Number Placeholder 0"/>
          <p:cNvSpPr>
            <a:spLocks noGrp="1"/>
          </p:cNvSpPr>
          <p:nvPr>
            <p:ph type="sldNum" sz="quarter" idx="4294967295"/>
          </p:nvPr>
        </p:nvSpPr>
        <p:spPr>
          <a:xfrm>
            <a:off x="10911535" y="641908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22B8F0"/>
                </a:solidFill>
                <a:latin typeface="IBM Plex Mono"/>
                <a:ea typeface="IBM Plex Mono"/>
                <a:cs typeface="IBM Plex Mono"/>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Lumine">
  <a:themeElements>
    <a:clrScheme name="Lumine">
      <a:dk1>
        <a:srgbClr val="ECECEC"/>
      </a:dk1>
      <a:lt1>
        <a:srgbClr val="020304"/>
      </a:lt1>
      <a:dk2>
        <a:srgbClr val="8B9598"/>
      </a:dk2>
      <a:lt2>
        <a:srgbClr val="0A0D0F"/>
      </a:lt2>
      <a:accent1>
        <a:srgbClr val="22B8F0"/>
      </a:accent1>
      <a:accent2>
        <a:srgbClr val="8B9598"/>
      </a:accent2>
      <a:accent3>
        <a:srgbClr val="4A5257"/>
      </a:accent3>
      <a:accent4>
        <a:srgbClr val="ECECEC"/>
      </a:accent4>
      <a:accent5>
        <a:srgbClr val="2E3438"/>
      </a:accent5>
      <a:accent6>
        <a:srgbClr val="101417"/>
      </a:accent6>
      <a:hlink>
        <a:srgbClr val="22B8F0"/>
      </a:hlink>
      <a:folHlink>
        <a:srgbClr val="0A6F9E"/>
      </a:folHlink>
    </a:clrScheme>
    <a:fontScheme name="Lumine">
      <a:majorFont>
        <a:latin typeface="Archivo SemiExpanded Extra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Lumine Motors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Solemne 2 · Mapa estratégico y CMI · Lumine Motors</dc:title>
  <dc:subject>Control de Gestión · ICMA901 · UNAB</dc:subject>
  <dc:creator>Diego Alarcón, Benjamín Torres y Lukas Verdugo</dc:creator>
  <cp:lastModifiedBy>Diego Alarcón, Benjamín Torres y Lukas Verdugo</cp:lastModifiedBy>
  <cp:revision>1</cp:revision>
  <dcterms:created xsi:type="dcterms:W3CDTF">2026-10-21T01:01:16Z</dcterms:created>
  <dcterms:modified xsi:type="dcterms:W3CDTF">2026-10-21T01:01:16Z</dcterms:modified>
</cp:coreProperties>
</file>