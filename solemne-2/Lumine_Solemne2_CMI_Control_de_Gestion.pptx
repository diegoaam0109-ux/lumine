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embeddedFontLst>
    <p:embeddedFont>
      <p:font typeface="Archivo SemiExpanded ExtraBold" charset="0"/>
      <p:regular r:id="rIdFuente1"/>
    </p:embeddedFont>
    <p:embeddedFont>
      <p:font typeface="Archivo Condensed" charset="0"/>
      <p:regular r:id="rIdFuente2"/>
      <p:bold r:id="rIdFuente3"/>
    </p:embeddedFont>
    <p:embeddedFont>
      <p:font typeface="Figtree" charset="0"/>
      <p:regular r:id="rIdFuente4"/>
      <p:bold r:id="rIdFuente5"/>
    </p:embeddedFont>
    <p:embeddedFont>
      <p:font typeface="IBM Plex Mono" charset="0"/>
      <p:regular r:id="rIdFuente6"/>
      <p:bold r:id="rIdFuente7"/>
    </p:embeddedFont>
    <p:embeddedFont>
      <p:font typeface="Instrument Serif" charset="0"/>
      <p:regular r:id="rIdFuente8"/>
      <p:italic r:id="rIdFuente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f674c3e9-ac0f-fe7f-c7c7-0457553586ee}">
          <p14:sldIdLst>
            <p14:sldId id="256"/>
            <p14:sldId id="257"/>
            <p14:sldId id="258"/>
            <p14:sldId id="259"/>
            <p14:sldId id="260"/>
          </p14:sldIdLst>
        </p14:section>
        <p14:section name="2 · Benjamín Torres" id="{c4425c29-1a1d-8aae-d495-a85dc5697e00}">
          <p14:sldIdLst>
            <p14:sldId id="261"/>
            <p14:sldId id="262"/>
            <p14:sldId id="263"/>
            <p14:sldId id="264"/>
            <p14:sldId id="265"/>
          </p14:sldIdLst>
        </p14:section>
        <p14:section name="3 · Lukas Verdugo" id="{925d1cce-5354-696a-36e3-d4e110a7a1f4}">
          <p14:sldIdLst>
            <p14:sldId id="266"/>
            <p14:sldId id="267"/>
            <p14:sldId id="268"/>
            <p14:sldId id="269"/>
            <p14:sldId id="270"/>
          </p14:sldIdLst>
        </p14:section>
        <p14:section name="Anexo" id="{76b64f0e-7a89-b832-f809-b34bf06ebdac}">
          <p14:sldIdLst>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Fuente1" Type="http://schemas.openxmlformats.org/officeDocument/2006/relationships/font" Target="fonts/font1.fntdata"/><Relationship Id="rIdFuente2" Type="http://schemas.openxmlformats.org/officeDocument/2006/relationships/font" Target="fonts/font2.fntdata"/><Relationship Id="rIdFuente3" Type="http://schemas.openxmlformats.org/officeDocument/2006/relationships/font" Target="fonts/font3.fntdata"/><Relationship Id="rIdFuente4" Type="http://schemas.openxmlformats.org/officeDocument/2006/relationships/font" Target="fonts/font4.fntdata"/><Relationship Id="rIdFuente5" Type="http://schemas.openxmlformats.org/officeDocument/2006/relationships/font" Target="fonts/font5.fntdata"/><Relationship Id="rIdFuente6" Type="http://schemas.openxmlformats.org/officeDocument/2006/relationships/font" Target="fonts/font6.fntdata"/><Relationship Id="rIdFuente7" Type="http://schemas.openxmlformats.org/officeDocument/2006/relationships/font" Target="fonts/font7.fntdata"/><Relationship Id="rIdFuente8" Type="http://schemas.openxmlformats.org/officeDocument/2006/relationships/font" Target="fonts/font8.fntdata"/><Relationship Id="rIdFuente9" Type="http://schemas.openxmlformats.org/officeDocument/2006/relationships/font" Target="fonts/font9.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0:30 a 130 palabras por minuto (68 palabras)
Buenos días. En la presentación anterior formulamos la estrategia de Lumine Motors; hoy mostramos cómo se controla. Nuestro caso tiene una particularidad: Lumine todavía no opera. No vamos a presentar ventas, ahorros ni rentabilidad que aún no existen. Vamos a mostrar cómo una estrategia se convierte en objetivos coordinados, indicadores y decisiones. La pregunta que ordena la exposición es simple: ¿cómo se controla una estrategia antes de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(114 palabras)
Partamos por el negocio. Lumine instala un kit de hibridación aditiva en autos a combustión de tracción delantera. El motor original queda intacto. El kit suma una unidad de control, que decide cuándo asistir y corta ante fallas; un banco de baterías, que guarda la energía del frenado; y un motor eléctrico en el eje trasero. No se enchufa, y el freno, el ABS y el control de estabilidad del auto siguen mandando. El segmento son autos de alto kilometraje, con prioridad en colectiveros y conductores de aplicación, sin excluir a otros particulares. La promesa es hasta veinte por ciento menos bencina en ciudad: una estimación de ingeniería, todavía no medida en autos chilenos.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1:00 a 130 palabras por minuto (133 palabras)
Para controlar una empresa primero hay que saber para qué existe. Nuestra misión es reducir el combustible que un auto a combustión necesita por kilómetro, instalando un sistema de hibridación en el auto que el cliente ya tiene, sin reemplazarlo y sin intervenir su motor. La visión es ser hacia 2031 el taller de referencia en hibridación de vehículos en uso en Chile, con un procedimiento reconocido por la autoridad, las plantas de revisión técnica y las aseguradoras. Los valores no son decorativos: cada uno se vuelve una regla de control. Verificabilidad antes que afirmación: un dato sin medir no vale cero. Formalidad como condición de operación: hay compuertas que no se saltan. Trazabilidad del conocimiento: cada calibración queda registrada. Y responsabilidad sobre el ciclo completo: el control sigue después de la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1:00 a 130 palabras por minuto (125 palabras)
¿Qué compra el cliente? Su necesidad central es dejar de pagar cada vez más por usar el auto. En nuestras entrevistas apareció algo que cambia el enfoque: el precio decide si compra, pero la confianza decide si se atreve. Por el lado del precio, la respuesta es vender una cuota mensual que se compare con el ahorro mensual, no un precio de lista. Por el lado de la confianza, el cliente pide certificación, garantía escrita, un caso exitoso y saber quién responde ante una falla. Fueron solo tres entrevistas, así que el orden es tentativo. El modelo de negocio tiene un taller propio y, como segunda línea potencial, licenciar calibraciones y procedimientos a otros talleres, algo que todavía debe pasar pruebas técnicas, regulatorias y económicas.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1:15 a 130 palabras por minuto (161 palabras)
El entorno agrega dos condiciones. La primera: el principal competidor no es otro taller, es no hacer nada. En nuestro análisis de las cinco fuerzas, los sustitutos y los clientes suman cincuenta y cinco por ciento de la ponderación, y operan por la misma causa: el cliente puede seguir con su auto a costo cero. Por eso la cuota mensual ataca la causa, que es la falta de liquidez. La segunda condición es regulatoria. La Ley 21.793 está publicada, pero sin reglamento, y es el principal riesgo externo. Construimos cuatro escenarios: solo una vía legal amplia protege al primero que homologa; una vía acotada limita el parque; una vía alternativa obliga a otro trámite; y sin vía legal, el negocio no opera. Hoy estamos en la rama de los escenarios tres o cuatro. Esta condición no depende de nosotros; por eso en el CMI será una compuerta, no una meta que se promedia. Benjamín sigue con lo que Lumine sabe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1:00 a 130 palabras por minuto (128 palabras)
Gracias, Diego. En lo interno, Lumine tiene una fortaleza de diseño, no de ejecución. Su única fuente de exclusividad es la biblioteca de calibraciones: un recurso que un competidor no puede comprar, pero que hoy está vacía y solo sería sostenible si se protege como secreto empresarial. Es una ventaja potencial, no efectiva. La formación de técnicos sí tiene una prueba concreta: Lumine Habilita, cuya demostración pueden abrir con este código. El FODA cruzado dice qué hay que demostrar: homologar primero los modelos de mayor densidad en el segmento; plantear al Ministerio de Transportes el precedente del gas licuado mientras elabora el reglamento; cerrar convenios con aseguradoras, plantas de revisión técnica y una financiera antes del primer kit; y cubrir la exposición al dólar de un kit importado.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0:45 a 130 palabras por minuto (99 palabras)
Con ese diagnóstico elegimos competir con diferenciación enfocada: un servicio certificado que reduce el combustible del auto que el cliente ya tiene, para conductores de alto kilometraje, sostenido por un conocimiento de calibración que un competidor no puede comprar. Elegir también es renunciar: no competimos por precio contra el gas, no atendemos a quien maneja poco y no ofrecemos inmediatez. La estrategia se ordena en tres ejes: habilitación formal, acceso comercial, y conocimiento y escala. Cada eje ataca un problema distinto: la vía legal y los terceros, la capacidad de pago del cliente, y el ahorro todavía no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0:45 a 130 palabras por minuto (101 palabras)
Esos tres ejes tenían ocho objetivos, y los ocho siguen en el CMI. Habilitación formal queda en la vía legal, la aprobación de cada par modelo-kit y las alianzas con aseguradoras y plantas. Acceso comercial, en la captación del segmento y en el financiamiento, que ahora es parte de esas mismas alianzas. Conocimiento y escala, en la biblioteca, la medición del ahorro y la expansión. Lo nuevo responde al profesor: la promesa técnica cumplida, la confianza medida desde el cliente y la rentabilidad sobre el costo de capital, que recuperamos del primer CMI. La brecha cambiaria se cubre con una iniciativa.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1:00 a 130 palabras por minuto (133 palabras)
Esta es la corrección que pidió el profesor: la perspectiva clientes ya no mide canales ni convenios, mide lo que el cliente compra. Cada objetivo nace de un atributo de la propuesta de valor. Que el kit funcione sin tocar el motor se mide con servicios conformes sobre entregas verificadas. Saber cuánto ahorra se mide con reportes comparativos de consumo, antes y después, entregados sobre los exigibles. Atreverse a comprar depende de la confianza, y la confianza se mide desde el cliente, con su opinión después del servicio y sus reclamos, no contando convenios firmados. Y el resultado final es captar al segmento priorizado, medido como conversión de consultas en instalaciones. Las alianzas con aseguradoras y financieras no desaparecen: pasan a procesos, como el medio que hace posible esa confianza y esa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1:10 a 130 palabras por minuto (151 palabras)
Así se coordinan los diecisiete objetivos. El mapa se lee de abajo hacia arriba, y el color de cada objetivo dice de qué eje estratégico viene. Lo importante son las flechas, y tienen tres formas. Continua: una condición habilitante, sin la cual el objetivo siguiente no es posible. Blanca y gruesa: una condición externa, que no depende de nosotros. Punteada: una hipótesis que habrá que comprobar con datos. Dejamos veinte relaciones, no treinta: eliminamos las que repetían un camino ya dibujado y las que no cambiaban ninguna decisión. Más flechas no significan más estrategia. Con estas veinte se forman tres rutas que podemos defender: la de habilitación, que lleva de las capacidades a la promesa técnica; la de evidencia, que lleva de la medición a la confianza y la compra; y la de valor económico, que lleva del cliente y la operación al retorno sobre el capital. Lukas recorre cada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0:50 a 130 palabras por minuto (112 palabras)
Gracias, Benjamín. La primera ruta es la de habilitación. La biblioteca de calibraciones respalda el expediente de cada par modelo-kit, pero ese par solo se puede aprobar si existe una vía legal, y solo un par aprobado se puede instalar. Los técnicos habilitados sostienen una instalación segura, y el control final verifica la promesa técnica sobre el auto. Aquí casi todas las flechas son compuertas: si una está cerrada, no corresponde vender ni instalar ese modelo, aunque todo lo demás cumpla. La misma condición legal alcanza a la réplica en otros talleres. Las iniciativas de esta ruta salen del FODA: el precedente del gas licuado y homologar primero los modelos más densos.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0:50 a 130 palabras por minuto (106 palabras)
La segunda ruta es la de evidencia, el corazón de la propuesta de valor. Un protocolo de medición comparable permite cerrar cada expediente de medición y posventa, y ese expediente permite entregar al cliente un reporte de su ahorro realmente observado. Ojo: contar reportes entregados no mide litros ahorrados; el ahorro tiene su propia medición, con una línea base del mismo auto. El reporte y la promesa cumplida podrían construir confianza, y la confianza podría convertir consultas en clientes. Las alianzas apoyan ambos pasos: el respaldo de aseguradoras y plantas suma confianza, y la cuota destraba la compra. Estas flechas son hipótesis que comprobaremos con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1:05 a 130 palabras por minuto (146 palabras)
La tercera ruta lleva al objetivo que destacó el profesor: obtener rentabilidad por sobre el costo de capital. Exige que el negocio rinda más de lo que piden quienes aportan el capital, no solo que tenga utilidad contable. Dos caminos lo alimentan: el margen por servicio, que depende de captar clientes y de una instalación sin retrabajo; y la expansión con licencias, que solo crea valor si su evaluación incremental es positiva. Lo medimos en dos etapas. Antes de invertir, con el Plan Financiero: VAN mayor que cero y TIR mayor que la tasa exigida. Ya operando, cada período: el retorno sobre el capital empleado frente al costo de capital. Un VAN positivo autoriza invertir, pero no demuestra que la operación rinda; por eso son dos etapas. Hoy no tiene cifra, y no la vamos a inventar: faltan los flujos, la inversión y una tasa sustentada.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0:50 a 130 palabras por minuto (104 palabras)
¿Cómo sabremos si las rutas se cumplen? Cada indicador tiene una ficha. Tomemos el ahorro acreditado: la fórmula es reportes completos sobre reportes exigibles; la fuente, el expediente de medición y el acta de entrega; la meta propuesta, cien por ciento; el responsable, Comercial y Postventa; y si hay brecha, se completa la prueba o se transparenta por qué no se pudo. El resultado se lee con cinco estados: cumple, alerta, no cumple, meta pendiente y sin medir. Sin medir no es no cumplir: hoy todo el tablero de Lumine está sin medir, y pintarlo de rojo o de verde contradiría nuestro primer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0:50 a 130 palabras por minuto (112 palabras)
El control no termina en un color. El ciclo es observar con evidencia, comparar con una meta aprobada, explicar si la brecha es externa, del proceso o de la medición, decidir y volver a medir. Si una orden no tiene verificación, no se entrega. Si un cliente recibe una estimación sin respaldo, se corrige la información. Si no hay vía legal, no se sube la meta comercial: se detiene lo que depende de ella. En síntesis, el CMI le dice a Lumine cuándo avanzar, cuándo corregir y cuándo detenerse, en el camino hacia su visión de 2031. Lo que sigue es definir qué iniciativas y qué presupuesto necesita cada hito.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Cada pregunta tiene un enlace a su respuesta; cada lámina del anexo tiene un enlace de vuelta a este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El VAN y la TIR evalúan la decisión de invertir con flujos proyectados; el retorno sobre el capital empleado frente a su costo controla la operación período a período. Faltan flujos, inversión y una tasa sustentada.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aprendizaje y crecimiento · Solo si preguntan.
Responsables según la estructura de la Fase 3. Metas propuestas por 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procesos internos · Solo si preguntan.
P6 reúne las alianzas: aseguradora, planta de revisión técnica y financiera.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clientes · Solo si preguntan.
C3 y C4 sin meta numérica: se fijan con la primera muestra de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financiera · Solo si preguntan.
F2 y F3 sin meta numérica hasta el Plan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R01 a R10 · Solo si preguntan.
Continua: habilitante. Blanca gruesa: condición externa. Punteada: hipótesis por comprobar.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R11 a R20 · Solo si preguntan.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F1 en dos etapas; financiamiento a P6; C3 medido desde el cliente; C4 como conversión; 30 relaciones reducidas a 20 sin duplicados.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Cumple, alerta, no cumple, meta pendiente y sin medir. Sin dato y documento, sin medir. Un rechazo formal documentado registra no cumple.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Sin presupuesto: es la siguiente etapa del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Tomado de la presentación anterior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Tomado de la presentación anterior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A9 · Solo si preguntan.
Escalas propias de los instrumentos de Control de Gestión; no se comparan con las de Integrador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A10 · Solo si preguntan.
Textos literales de la presentación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A11 · Solo si preguntan.
Cada cifra dice qué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298448"/>
            <a:ext cx="8778240" cy="1737360"/>
          </a:xfrm>
          <a:prstGeom prst="rect">
            <a:avLst/>
          </a:prstGeom>
          <a:noFill/>
          <a:ln/>
        </p:spPr>
        <p:txBody>
          <a:bodyPr wrap="square" rtlCol="0"/>
          <a:lstStyle>
            <a:lvl1pPr algn="l" indent="0" marL="0">
              <a:lnSpc>
                <a:spcPct val="90000"/>
              </a:lnSpc>
              <a:buNone/>
              <a:defRPr lang="en-US" sz="5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1100" spc="150" kern="0" dirty="0">
                <a:solidFill>
                  <a:schemeClr val="tx2"/>
                </a:solidFill>
                <a:latin typeface="IBM Plex Mono" pitchFamily="34" charset="0"/>
                <a:ea typeface="IBM Plex Mono" pitchFamily="34" charset="-122"/>
                <a:cs typeface="IBM Plex Mono" pitchFamily="34" charset="-120"/>
              </a:rPr>
              <a:t>CONTROL DE GESTIÓN · ICMA901 · SOLEMNE 2</a:t>
            </a:r>
            <a:endParaRPr lang="en-US" sz="1100" dirty="0"/>
          </a:p>
        </p:txBody>
      </p:sp>
      <p:sp>
        <p:nvSpPr>
          <p:cNvPr id="4" name="Text 1"/>
          <p:cNvSpPr/>
          <p:nvPr>
            <p:ph idx="102" type="body" hasCustomPrompt="1"/>
          </p:nvPr>
        </p:nvSpPr>
        <p:spPr>
          <a:xfrm>
            <a:off x="548640" y="841248"/>
            <a:ext cx="6949440" cy="274320"/>
          </a:xfrm>
          <a:prstGeom prst="rect">
            <a:avLst/>
          </a:prstGeom>
          <a:noFill/>
          <a:ln/>
        </p:spPr>
        <p:txBody>
          <a:bodyPr wrap="square" rtlCol="0"/>
          <a:lstStyle>
            <a:lvl1pPr indent="0" marL="0">
              <a:buNone/>
              <a:defRPr lang="en-US" sz="12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200" dirty="0"/>
          </a:p>
        </p:txBody>
      </p:sp>
      <p:sp>
        <p:nvSpPr>
          <p:cNvPr id="5" name="Text 1"/>
          <p:cNvSpPr/>
          <p:nvPr>
            <p:ph idx="103" type="title" hasCustomPrompt="1"/>
          </p:nvPr>
        </p:nvSpPr>
        <p:spPr>
          <a:xfrm>
            <a:off x="548640" y="1243584"/>
            <a:ext cx="11094415" cy="1097280"/>
          </a:xfrm>
          <a:prstGeom prst="rect">
            <a:avLst/>
          </a:prstGeom>
          <a:noFill/>
          <a:ln/>
        </p:spPr>
        <p:txBody>
          <a:bodyPr wrap="square" rtlCol="0"/>
          <a:lstStyle>
            <a:lvl1pPr algn="l" indent="0" marL="0">
              <a:lnSpc>
                <a:spcPct val="86000"/>
              </a:lnSpc>
              <a:buNone/>
              <a:defRPr lang="en-US" sz="3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6000"/>
              </a:lnSpc>
              <a:buNone/>
            </a:pPr>
            <a:endParaRPr lang="en-US" sz="3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 Target="slide17.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8.xml"/><Relationship Id="rId5" Type="http://schemas.openxmlformats.org/officeDocument/2006/relationships/slide" Target="slide22.xml"/><Relationship Id="rId6" Type="http://schemas.openxmlformats.org/officeDocument/2006/relationships/slide" Target="slide22.xml"/><Relationship Id="rId7" Type="http://schemas.openxmlformats.org/officeDocument/2006/relationships/slide" Target="slide24.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27.xml"/><Relationship Id="rId14" Type="http://schemas.openxmlformats.org/officeDocument/2006/relationships/slide" Target="slide27.xml"/><Relationship Id="rId15" Type="http://schemas.openxmlformats.org/officeDocument/2006/relationships/slide" Target="slide28.xml"/><Relationship Id="rId16" Type="http://schemas.openxmlformats.org/officeDocument/2006/relationships/slide" Target="slide28.xml"/><Relationship Id="rId17" Type="http://schemas.openxmlformats.org/officeDocument/2006/relationships/slide" Target="slide29.xml"/><Relationship Id="rId18" Type="http://schemas.openxmlformats.org/officeDocument/2006/relationships/slide" Target="slide29.xml"/><Relationship Id="rId19" Type="http://schemas.openxmlformats.org/officeDocument/2006/relationships/slide" Target="slide30.xml"/><Relationship Id="rId20" Type="http://schemas.openxmlformats.org/officeDocument/2006/relationships/slide" Target="slide30.xml"/><Relationship Id="rId21" Type="http://schemas.openxmlformats.org/officeDocument/2006/relationships/slide" Target="slide31.xml"/><Relationship Id="rId22" Type="http://schemas.openxmlformats.org/officeDocument/2006/relationships/slide" Target="slide31.xml"/><Relationship Id="rId23" Type="http://schemas.openxmlformats.org/officeDocument/2006/relationships/slideLayout" Target="../slideLayouts/slideLayout3.xml"/><Relationship Id="rId2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UNAB · OCTUBRE 2026</a:t>
            </a:r>
            <a:endParaRPr lang="es-CL" sz="1200" dirty="0"/>
          </a:p>
        </p:txBody>
      </p:sp>
      <p:sp>
        <p:nvSpPr>
          <p:cNvPr id="3" name="Text 1"/>
          <p:cNvSpPr txBox="1"/>
          <p:nvPr/>
        </p:nvSpPr>
        <p:spPr>
          <a:xfrm>
            <a:off x="548640" y="914400"/>
            <a:ext cx="11094415" cy="292608"/>
          </a:xfrm>
          <a:prstGeom prst="rect">
            <a:avLst/>
          </a:prstGeom>
          <a:noFill/>
          <a:ln/>
        </p:spPr>
        <p:txBody>
          <a:bodyPr wrap="square" lIns="0" tIns="0" rIns="0" bIns="0" rtlCol="0" anchor="ctr"/>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SOLEMNE 2</a:t>
            </a:r>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  ·  DE LA ESTRATEGIA AL CUADRO DE MANDO INTEGRAL</a:t>
            </a:r>
            <a:endParaRPr lang="es-CL" sz="1400" dirty="0"/>
          </a:p>
        </p:txBody>
      </p:sp>
      <p:sp>
        <p:nvSpPr>
          <p:cNvPr id="4" name="Text 0"/>
          <p:cNvSpPr/>
          <p:nvPr>
            <p:ph idx="101" type="title" hasCustomPrompt="1"/>
          </p:nvPr>
        </p:nvSpPr>
        <p:spPr>
          <a:xfrm>
            <a:off x="548640" y="1298448"/>
            <a:ext cx="8778240" cy="1737360"/>
          </a:xfrm>
          <a:prstGeom prst="rect">
            <a:avLst/>
          </a:prstGeom>
          <a:noFill/>
          <a:ln/>
        </p:spPr>
        <p:txBody>
          <a:bodyPr wrap="square" lIns="0" tIns="0" rIns="0" bIns="0" rtlCol="0" anchor="t"/>
          <a:lstStyle/>
          <a:p>
            <a:pPr algn="l" indent="0" marL="0">
              <a:lnSpc>
                <a:spcPct val="90000"/>
              </a:lnSpc>
              <a:buNone/>
            </a:pPr>
            <a:r>
              <a:rPr lang="en-US" sz="4600" dirty="0">
                <a:solidFill>
                  <a:schemeClr val="tx1"/>
                </a:solidFill>
                <a:latin typeface="Archivo SemiExpanded ExtraBold" pitchFamily="34" charset="0"/>
                <a:ea typeface="Archivo SemiExpanded ExtraBold" pitchFamily="34" charset="-122"/>
                <a:cs typeface="Archivo SemiExpanded ExtraBold" pitchFamily="34" charset="-120"/>
              </a:rPr>
              <a:t>¿CÓMO SE CONTROLA</a:t>
            </a:r>
            <a:endParaRPr lang="en-US" sz="5400" dirty="0"/>
          </a:p>
          <a:p>
            <a:pPr algn="l" indent="0" marL="0">
              <a:lnSpc>
                <a:spcPct val="90000"/>
              </a:lnSpc>
              <a:buNone/>
            </a:pPr>
            <a:r>
              <a:rPr lang="en-US" sz="4400" i="1" dirty="0">
                <a:solidFill>
                  <a:schemeClr val="accent1"/>
                </a:solidFill>
                <a:latin typeface="Instrument Serif" pitchFamily="34" charset="0"/>
                <a:ea typeface="Instrument Serif" pitchFamily="34" charset="-122"/>
                <a:cs typeface="Instrument Serif" pitchFamily="34" charset="-120"/>
              </a:rPr>
              <a:t>una estrategia antes de operar?</a:t>
            </a:r>
            <a:endParaRPr lang="en-US" sz="5400" dirty="0"/>
          </a:p>
        </p:txBody>
      </p:sp>
      <p:sp>
        <p:nvSpPr>
          <p:cNvPr id="5" name="Shape 3"/>
          <p:cNvSpPr/>
          <p:nvPr/>
        </p:nvSpPr>
        <p:spPr>
          <a:xfrm>
            <a:off x="548640" y="2743200"/>
            <a:ext cx="54864" cy="786384"/>
          </a:xfrm>
          <a:prstGeom prst="line">
            <a:avLst/>
          </a:prstGeom>
          <a:noFill/>
          <a:ln w="38100">
            <a:solidFill>
              <a:schemeClr val="accent1"/>
            </a:solidFill>
            <a:prstDash val="solid"/>
          </a:ln>
        </p:spPr>
      </p:sp>
      <p:sp>
        <p:nvSpPr>
          <p:cNvPr id="6" name="Text 4"/>
          <p:cNvSpPr txBox="1"/>
          <p:nvPr/>
        </p:nvSpPr>
        <p:spPr>
          <a:xfrm>
            <a:off x="822960" y="2724912"/>
            <a:ext cx="5120640" cy="822960"/>
          </a:xfrm>
          <a:prstGeom prst="rect">
            <a:avLst/>
          </a:prstGeom>
          <a:noFill/>
          <a:ln/>
        </p:spPr>
        <p:txBody>
          <a:bodyPr wrap="square" lIns="0" tIns="0" rIns="0" bIns="0" rtlCol="0" anchor="ctr"/>
          <a:lstStyle/>
          <a:p>
            <a:pPr indent="0" marL="0">
              <a:lnSpc>
                <a:spcPct val="105000"/>
              </a:lnSpc>
              <a:buNone/>
            </a:pPr>
            <a:r>
              <a:rPr lang="es-CL" altLang="en-US" sz="2200" b="1" dirty="0">
                <a:solidFill>
                  <a:schemeClr val="tx1"/>
                </a:solidFill>
                <a:latin typeface="Figtree" pitchFamily="34" charset="0"/>
                <a:ea typeface="Figtree" pitchFamily="34" charset="-122"/>
                <a:cs typeface="Figtree" pitchFamily="34" charset="-120"/>
              </a:rPr>
              <a:t>Lumine es preoperativa: </a:t>
            </a:r>
            <a:pPr indent="0" marL="0">
              <a:lnSpc>
                <a:spcPct val="105000"/>
              </a:lnSpc>
              <a:buNone/>
            </a:pPr>
            <a:r>
              <a:rPr lang="es-CL" altLang="en-US" sz="2200" dirty="0">
                <a:solidFill>
                  <a:schemeClr val="tx2"/>
                </a:solidFill>
                <a:latin typeface="Figtree" pitchFamily="34" charset="0"/>
                <a:ea typeface="Figtree" pitchFamily="34" charset="-122"/>
                <a:cs typeface="Figtree" pitchFamily="34" charset="-120"/>
              </a:rPr>
              <a:t>el tablero mide lo que falta demostrar, no logros.</a:t>
            </a:r>
            <a:endParaRPr lang="es-CL" sz="2200" dirty="0"/>
          </a:p>
        </p:txBody>
      </p:sp>
      <p:sp>
        <p:nvSpPr>
          <p:cNvPr id="7" name="Shape 5"/>
          <p:cNvSpPr/>
          <p:nvPr/>
        </p:nvSpPr>
        <p:spPr>
          <a:xfrm>
            <a:off x="548640" y="4956048"/>
            <a:ext cx="1097280" cy="0"/>
          </a:xfrm>
          <a:prstGeom prst="line">
            <a:avLst/>
          </a:prstGeom>
          <a:noFill/>
          <a:ln w="15875">
            <a:solidFill>
              <a:schemeClr val="accent1"/>
            </a:solidFill>
            <a:prstDash val="solid"/>
          </a:ln>
        </p:spPr>
      </p:sp>
      <p:sp>
        <p:nvSpPr>
          <p:cNvPr id="8" name="Text 6"/>
          <p:cNvSpPr txBox="1"/>
          <p:nvPr/>
        </p:nvSpPr>
        <p:spPr>
          <a:xfrm>
            <a:off x="548640" y="5102352"/>
            <a:ext cx="3429000" cy="1097280"/>
          </a:xfrm>
          <a:prstGeom prst="rect">
            <a:avLst/>
          </a:prstGeom>
          <a:noFill/>
          <a:ln/>
        </p:spPr>
        <p:txBody>
          <a:bodyPr wrap="square" lIns="0" tIns="0" rIns="0" bIns="0" rtlCol="0" anchor="t"/>
          <a:lstStyle/>
          <a:p>
            <a:pPr indent="0" marL="0">
              <a:lnSpc>
                <a:spcPct val="115000"/>
              </a:lnSpc>
              <a:buNone/>
            </a:pPr>
            <a:r>
              <a:rPr lang="es-CL" altLang="en-US" sz="1200" b="1" dirty="0">
                <a:solidFill>
                  <a:schemeClr val="tx1"/>
                </a:solidFill>
                <a:latin typeface="Figtree" pitchFamily="34" charset="0"/>
                <a:ea typeface="Figtree" pitchFamily="34" charset="-122"/>
                <a:cs typeface="Figtree" pitchFamily="34" charset="-120"/>
              </a:rPr>
              <a:t>Control de Gestión · ICMA901</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Sección 500 · NRC 4118 · UNAB</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Diego Alarcón · Benjamín Torres · Lukas Verdugo</a:t>
            </a:r>
            <a:endParaRPr lang="es-CL" sz="1200" dirty="0"/>
          </a:p>
        </p:txBody>
      </p:sp>
      <p:sp>
        <p:nvSpPr>
          <p:cNvPr id="9" name="Shape 7"/>
          <p:cNvSpPr/>
          <p:nvPr/>
        </p:nvSpPr>
        <p:spPr>
          <a:xfrm>
            <a:off x="5010912" y="6163056"/>
            <a:ext cx="4297680" cy="0"/>
          </a:xfrm>
          <a:prstGeom prst="line">
            <a:avLst/>
          </a:prstGeom>
          <a:noFill/>
          <a:ln w="9525">
            <a:solidFill>
              <a:schemeClr val="tx2"/>
            </a:solidFill>
            <a:prstDash val="solid"/>
          </a:ln>
        </p:spPr>
      </p:sp>
      <p:sp>
        <p:nvSpPr>
          <p:cNvPr id="10" name="Shape 8"/>
          <p:cNvSpPr/>
          <p:nvPr/>
        </p:nvSpPr>
        <p:spPr>
          <a:xfrm>
            <a:off x="5010912" y="4608576"/>
            <a:ext cx="0" cy="1554480"/>
          </a:xfrm>
          <a:prstGeom prst="line">
            <a:avLst/>
          </a:prstGeom>
          <a:noFill/>
          <a:ln w="9525">
            <a:solidFill>
              <a:schemeClr val="tx2"/>
            </a:solidFill>
            <a:prstDash val="sysDot"/>
          </a:ln>
        </p:spPr>
      </p:sp>
      <p:sp>
        <p:nvSpPr>
          <p:cNvPr id="11" name="Shape 9"/>
          <p:cNvSpPr/>
          <p:nvPr/>
        </p:nvSpPr>
        <p:spPr>
          <a:xfrm>
            <a:off x="4956048" y="4489704"/>
            <a:ext cx="109728" cy="109728"/>
          </a:xfrm>
          <a:prstGeom prst="ellipse">
            <a:avLst/>
          </a:prstGeom>
          <a:solidFill>
            <a:schemeClr val="accent1"/>
          </a:solidFill>
          <a:ln w="9525">
            <a:solidFill>
              <a:schemeClr val="tx1"/>
            </a:solidFill>
            <a:prstDash val="solid"/>
          </a:ln>
        </p:spPr>
      </p:sp>
      <p:sp>
        <p:nvSpPr>
          <p:cNvPr id="12" name="Shape 10"/>
          <p:cNvSpPr/>
          <p:nvPr/>
        </p:nvSpPr>
        <p:spPr>
          <a:xfrm>
            <a:off x="4978908" y="6131052"/>
            <a:ext cx="64008" cy="64008"/>
          </a:xfrm>
          <a:prstGeom prst="rect">
            <a:avLst/>
          </a:prstGeom>
          <a:solidFill>
            <a:schemeClr val="tx1"/>
          </a:solidFill>
          <a:ln/>
        </p:spPr>
      </p:sp>
      <p:sp>
        <p:nvSpPr>
          <p:cNvPr id="13" name="Text 11"/>
          <p:cNvSpPr txBox="1"/>
          <p:nvPr/>
        </p:nvSpPr>
        <p:spPr>
          <a:xfrm>
            <a:off x="400507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intacto</a:t>
            </a:r>
            <a:endParaRPr lang="es-CL" sz="1200" dirty="0"/>
          </a:p>
        </p:txBody>
      </p:sp>
      <p:sp>
        <p:nvSpPr>
          <p:cNvPr id="14" name="Shape 12"/>
          <p:cNvSpPr/>
          <p:nvPr/>
        </p:nvSpPr>
        <p:spPr>
          <a:xfrm>
            <a:off x="6931152" y="5166360"/>
            <a:ext cx="0" cy="996696"/>
          </a:xfrm>
          <a:prstGeom prst="line">
            <a:avLst/>
          </a:prstGeom>
          <a:noFill/>
          <a:ln w="9525">
            <a:solidFill>
              <a:schemeClr val="tx2"/>
            </a:solidFill>
            <a:prstDash val="sysDot"/>
          </a:ln>
        </p:spPr>
      </p:sp>
      <p:sp>
        <p:nvSpPr>
          <p:cNvPr id="15" name="Shape 13"/>
          <p:cNvSpPr/>
          <p:nvPr/>
        </p:nvSpPr>
        <p:spPr>
          <a:xfrm>
            <a:off x="6876288" y="5047488"/>
            <a:ext cx="109728" cy="109728"/>
          </a:xfrm>
          <a:prstGeom prst="ellipse">
            <a:avLst/>
          </a:prstGeom>
          <a:solidFill>
            <a:schemeClr val="accent1"/>
          </a:solidFill>
          <a:ln w="9525">
            <a:solidFill>
              <a:schemeClr val="tx1"/>
            </a:solidFill>
            <a:prstDash val="solid"/>
          </a:ln>
        </p:spPr>
      </p:sp>
      <p:sp>
        <p:nvSpPr>
          <p:cNvPr id="16" name="Shape 14"/>
          <p:cNvSpPr/>
          <p:nvPr/>
        </p:nvSpPr>
        <p:spPr>
          <a:xfrm>
            <a:off x="6899148" y="6131052"/>
            <a:ext cx="64008" cy="64008"/>
          </a:xfrm>
          <a:prstGeom prst="rect">
            <a:avLst/>
          </a:prstGeom>
          <a:solidFill>
            <a:schemeClr val="tx1"/>
          </a:solidFill>
          <a:ln/>
        </p:spPr>
      </p:sp>
      <p:sp>
        <p:nvSpPr>
          <p:cNvPr id="17" name="Text 15"/>
          <p:cNvSpPr txBox="1"/>
          <p:nvPr/>
        </p:nvSpPr>
        <p:spPr>
          <a:xfrm>
            <a:off x="592531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BATERÍA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bajo el piso</a:t>
            </a:r>
            <a:endParaRPr lang="es-CL" sz="1200" dirty="0"/>
          </a:p>
        </p:txBody>
      </p:sp>
      <p:sp>
        <p:nvSpPr>
          <p:cNvPr id="18" name="Shape 16"/>
          <p:cNvSpPr/>
          <p:nvPr/>
        </p:nvSpPr>
        <p:spPr>
          <a:xfrm>
            <a:off x="9308592" y="5102352"/>
            <a:ext cx="0" cy="1060704"/>
          </a:xfrm>
          <a:prstGeom prst="line">
            <a:avLst/>
          </a:prstGeom>
          <a:noFill/>
          <a:ln w="9525">
            <a:solidFill>
              <a:schemeClr val="tx2"/>
            </a:solidFill>
            <a:prstDash val="sysDot"/>
          </a:ln>
        </p:spPr>
      </p:sp>
      <p:sp>
        <p:nvSpPr>
          <p:cNvPr id="19" name="Shape 17"/>
          <p:cNvSpPr/>
          <p:nvPr/>
        </p:nvSpPr>
        <p:spPr>
          <a:xfrm>
            <a:off x="9253728" y="4983480"/>
            <a:ext cx="109728" cy="109728"/>
          </a:xfrm>
          <a:prstGeom prst="ellipse">
            <a:avLst/>
          </a:prstGeom>
          <a:solidFill>
            <a:schemeClr val="accent1"/>
          </a:solidFill>
          <a:ln w="9525">
            <a:solidFill>
              <a:schemeClr val="tx1"/>
            </a:solidFill>
            <a:prstDash val="solid"/>
          </a:ln>
        </p:spPr>
      </p:sp>
      <p:sp>
        <p:nvSpPr>
          <p:cNvPr id="20" name="Shape 18"/>
          <p:cNvSpPr/>
          <p:nvPr/>
        </p:nvSpPr>
        <p:spPr>
          <a:xfrm>
            <a:off x="9276588" y="6131052"/>
            <a:ext cx="64008" cy="64008"/>
          </a:xfrm>
          <a:prstGeom prst="rect">
            <a:avLst/>
          </a:prstGeom>
          <a:solidFill>
            <a:schemeClr val="tx1"/>
          </a:solidFill>
          <a:ln/>
        </p:spPr>
      </p:sp>
      <p:sp>
        <p:nvSpPr>
          <p:cNvPr id="21" name="Text 19"/>
          <p:cNvSpPr txBox="1"/>
          <p:nvPr/>
        </p:nvSpPr>
        <p:spPr>
          <a:xfrm>
            <a:off x="830275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TRACCIÓN ELÉCTRICA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eje trasero</a:t>
            </a:r>
            <a:endParaRPr lang="es-CL" sz="1200" dirty="0"/>
          </a:p>
        </p:txBody>
      </p:sp>
      <p:sp>
        <p:nvSpPr>
          <p:cNvPr id="22" name="Text 20"/>
          <p:cNvSpPr txBox="1"/>
          <p:nvPr/>
        </p:nvSpPr>
        <p:spPr>
          <a:xfrm>
            <a:off x="8899855" y="640080"/>
            <a:ext cx="274320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ILUSTRACIÓN DEL KIT</a:t>
            </a:r>
            <a:endParaRPr lang="es-CL"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CONTEXTO · LA EMPRESA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KIT QUE SE SUMA,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reemplaza.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contexto vigente de Lumine Motors; presentación «Análisis estratégico» (Control de Gestión, octubre de 2026). El ahorro es una estimación de ingeniería, no medida en autos chilenos.</a:t>
            </a:r>
            <a:endParaRPr lang="es-CL" sz="1100" dirty="0"/>
          </a:p>
        </p:txBody>
      </p:sp>
      <p:pic>
        <p:nvPicPr>
          <p:cNvPr id="5" name="Image 0" descr="Plano del kit: motor original adelante, unidad de control, banco de baterías y motor eléctrico en el eje trasero">    </p:cNvPr>
          <p:cNvPicPr>
            <a:picLocks noChangeAspect="1"/>
          </p:cNvPicPr>
          <p:nvPr/>
        </p:nvPicPr>
        <p:blipFill>
          <a:blip r:embed="rId1"/>
          <a:stretch>
            <a:fillRect/>
          </a:stretch>
        </p:blipFill>
        <p:spPr>
          <a:xfrm>
            <a:off x="640080" y="2350008"/>
            <a:ext cx="7955280" cy="2452878"/>
          </a:xfrm>
          <a:prstGeom prst="rect">
            <a:avLst/>
          </a:prstGeom>
        </p:spPr>
      </p:pic>
      <p:sp>
        <p:nvSpPr>
          <p:cNvPr id="6" name="Shape 3"/>
          <p:cNvSpPr/>
          <p:nvPr/>
        </p:nvSpPr>
        <p:spPr>
          <a:xfrm>
            <a:off x="548640" y="4894326"/>
            <a:ext cx="8138160" cy="0"/>
          </a:xfrm>
          <a:prstGeom prst="line">
            <a:avLst/>
          </a:prstGeom>
          <a:noFill/>
          <a:ln w="9525">
            <a:solidFill>
              <a:schemeClr val="accent5"/>
            </a:solidFill>
            <a:prstDash val="solid"/>
          </a:ln>
        </p:spPr>
      </p:sp>
      <p:sp>
        <p:nvSpPr>
          <p:cNvPr id="7" name="Shape 4"/>
          <p:cNvSpPr/>
          <p:nvPr/>
        </p:nvSpPr>
        <p:spPr>
          <a:xfrm>
            <a:off x="548640" y="5040630"/>
            <a:ext cx="457200" cy="310896"/>
          </a:xfrm>
          <a:prstGeom prst="rect">
            <a:avLst/>
          </a:prstGeom>
          <a:solidFill>
            <a:schemeClr val="accent5"/>
          </a:solidFill>
          <a:ln/>
        </p:spPr>
      </p:sp>
      <p:sp>
        <p:nvSpPr>
          <p:cNvPr id="8" name="Text 5"/>
          <p:cNvSpPr txBox="1"/>
          <p:nvPr/>
        </p:nvSpPr>
        <p:spPr>
          <a:xfrm>
            <a:off x="54864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01</a:t>
            </a:r>
            <a:endParaRPr lang="es-CL" sz="1400" dirty="0"/>
          </a:p>
        </p:txBody>
      </p:sp>
      <p:sp>
        <p:nvSpPr>
          <p:cNvPr id="9" name="Text 6"/>
          <p:cNvSpPr txBox="1"/>
          <p:nvPr/>
        </p:nvSpPr>
        <p:spPr>
          <a:xfrm>
            <a:off x="109728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p:txBody>
      </p:sp>
      <p:sp>
        <p:nvSpPr>
          <p:cNvPr id="10" name="Text 7"/>
          <p:cNvSpPr txBox="1"/>
          <p:nvPr/>
        </p:nvSpPr>
        <p:spPr>
          <a:xfrm>
            <a:off x="54864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Intacto, con su tracción delantera</a:t>
            </a:r>
            <a:endParaRPr lang="es-CL" sz="1600" dirty="0"/>
          </a:p>
        </p:txBody>
      </p:sp>
      <p:sp>
        <p:nvSpPr>
          <p:cNvPr id="11" name="Shape 8"/>
          <p:cNvSpPr/>
          <p:nvPr/>
        </p:nvSpPr>
        <p:spPr>
          <a:xfrm>
            <a:off x="2583180" y="5040630"/>
            <a:ext cx="457200" cy="310896"/>
          </a:xfrm>
          <a:prstGeom prst="rect">
            <a:avLst/>
          </a:prstGeom>
          <a:solidFill>
            <a:schemeClr val="accent1"/>
          </a:solidFill>
          <a:ln/>
        </p:spPr>
      </p:sp>
      <p:sp>
        <p:nvSpPr>
          <p:cNvPr id="12" name="Text 9"/>
          <p:cNvSpPr txBox="1"/>
          <p:nvPr/>
        </p:nvSpPr>
        <p:spPr>
          <a:xfrm>
            <a:off x="258318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02</a:t>
            </a:r>
            <a:endParaRPr lang="es-CL" sz="1400" dirty="0"/>
          </a:p>
        </p:txBody>
      </p:sp>
      <p:sp>
        <p:nvSpPr>
          <p:cNvPr id="13" name="Text 10"/>
          <p:cNvSpPr txBox="1"/>
          <p:nvPr/>
        </p:nvSpPr>
        <p:spPr>
          <a:xfrm>
            <a:off x="313182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UNIDAD DE CONTROL</a:t>
            </a:r>
            <a:endParaRPr lang="es-CL" sz="1200" dirty="0"/>
          </a:p>
        </p:txBody>
      </p:sp>
      <p:sp>
        <p:nvSpPr>
          <p:cNvPr id="14" name="Text 11"/>
          <p:cNvSpPr txBox="1"/>
          <p:nvPr/>
        </p:nvSpPr>
        <p:spPr>
          <a:xfrm>
            <a:off x="258318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Decide cuándo asistir y corta ante fallas</a:t>
            </a:r>
            <a:endParaRPr lang="es-CL" sz="1600" dirty="0"/>
          </a:p>
        </p:txBody>
      </p:sp>
      <p:sp>
        <p:nvSpPr>
          <p:cNvPr id="15" name="Shape 12"/>
          <p:cNvSpPr/>
          <p:nvPr/>
        </p:nvSpPr>
        <p:spPr>
          <a:xfrm>
            <a:off x="4617720" y="5040630"/>
            <a:ext cx="457200" cy="310896"/>
          </a:xfrm>
          <a:prstGeom prst="rect">
            <a:avLst/>
          </a:prstGeom>
          <a:solidFill>
            <a:schemeClr val="accent1"/>
          </a:solidFill>
          <a:ln/>
        </p:spPr>
      </p:sp>
      <p:sp>
        <p:nvSpPr>
          <p:cNvPr id="16" name="Text 13"/>
          <p:cNvSpPr txBox="1"/>
          <p:nvPr/>
        </p:nvSpPr>
        <p:spPr>
          <a:xfrm>
            <a:off x="461772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03</a:t>
            </a:r>
            <a:endParaRPr lang="es-CL" sz="1400" dirty="0"/>
          </a:p>
        </p:txBody>
      </p:sp>
      <p:sp>
        <p:nvSpPr>
          <p:cNvPr id="17" name="Text 14"/>
          <p:cNvSpPr txBox="1"/>
          <p:nvPr/>
        </p:nvSpPr>
        <p:spPr>
          <a:xfrm>
            <a:off x="516636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BANCO DE BATERÍAS</a:t>
            </a:r>
            <a:endParaRPr lang="es-CL" sz="1200" dirty="0"/>
          </a:p>
        </p:txBody>
      </p:sp>
      <p:sp>
        <p:nvSpPr>
          <p:cNvPr id="18" name="Text 15"/>
          <p:cNvSpPr txBox="1"/>
          <p:nvPr/>
        </p:nvSpPr>
        <p:spPr>
          <a:xfrm>
            <a:off x="461772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Guarda la energía del frenado</a:t>
            </a:r>
            <a:endParaRPr lang="es-CL" sz="1600" dirty="0"/>
          </a:p>
        </p:txBody>
      </p:sp>
      <p:sp>
        <p:nvSpPr>
          <p:cNvPr id="19" name="Shape 16"/>
          <p:cNvSpPr/>
          <p:nvPr/>
        </p:nvSpPr>
        <p:spPr>
          <a:xfrm>
            <a:off x="6652260" y="5040630"/>
            <a:ext cx="457200" cy="310896"/>
          </a:xfrm>
          <a:prstGeom prst="rect">
            <a:avLst/>
          </a:prstGeom>
          <a:solidFill>
            <a:schemeClr val="accent1"/>
          </a:solidFill>
          <a:ln/>
        </p:spPr>
      </p:sp>
      <p:sp>
        <p:nvSpPr>
          <p:cNvPr id="20" name="Text 17"/>
          <p:cNvSpPr txBox="1"/>
          <p:nvPr/>
        </p:nvSpPr>
        <p:spPr>
          <a:xfrm>
            <a:off x="665226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04</a:t>
            </a:r>
            <a:endParaRPr lang="es-CL" sz="1400" dirty="0"/>
          </a:p>
        </p:txBody>
      </p:sp>
      <p:sp>
        <p:nvSpPr>
          <p:cNvPr id="21" name="Text 18"/>
          <p:cNvSpPr txBox="1"/>
          <p:nvPr/>
        </p:nvSpPr>
        <p:spPr>
          <a:xfrm>
            <a:off x="720090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ELÉCTRICO</a:t>
            </a:r>
            <a:endParaRPr lang="es-CL" sz="1200" dirty="0"/>
          </a:p>
        </p:txBody>
      </p:sp>
      <p:sp>
        <p:nvSpPr>
          <p:cNvPr id="22" name="Text 19"/>
          <p:cNvSpPr txBox="1"/>
          <p:nvPr/>
        </p:nvSpPr>
        <p:spPr>
          <a:xfrm>
            <a:off x="665226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En el eje trasero, con freno regenerativo</a:t>
            </a:r>
            <a:endParaRPr lang="es-CL" sz="1600" dirty="0"/>
          </a:p>
        </p:txBody>
      </p:sp>
      <p:sp>
        <p:nvSpPr>
          <p:cNvPr id="23" name="Shape 20"/>
          <p:cNvSpPr/>
          <p:nvPr/>
        </p:nvSpPr>
        <p:spPr>
          <a:xfrm>
            <a:off x="9052560" y="2395728"/>
            <a:ext cx="2590495" cy="0"/>
          </a:xfrm>
          <a:prstGeom prst="line">
            <a:avLst/>
          </a:prstGeom>
          <a:noFill/>
          <a:ln w="9525">
            <a:solidFill>
              <a:schemeClr val="accent1"/>
            </a:solidFill>
            <a:prstDash val="solid"/>
          </a:ln>
        </p:spPr>
      </p:sp>
      <p:sp>
        <p:nvSpPr>
          <p:cNvPr id="24" name="Text 21"/>
          <p:cNvSpPr txBox="1"/>
          <p:nvPr/>
        </p:nvSpPr>
        <p:spPr>
          <a:xfrm>
            <a:off x="9052560" y="2487168"/>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PREOPERATIVA</a:t>
            </a:r>
            <a:endParaRPr lang="es-CL" sz="1300" dirty="0"/>
          </a:p>
        </p:txBody>
      </p:sp>
      <p:sp>
        <p:nvSpPr>
          <p:cNvPr id="25" name="Text 22"/>
          <p:cNvSpPr txBox="1"/>
          <p:nvPr/>
        </p:nvSpPr>
        <p:spPr>
          <a:xfrm>
            <a:off x="9052560" y="2779776"/>
            <a:ext cx="2590495" cy="73152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Sin instalaciones, personal, clientes ni flujo de caja</a:t>
            </a:r>
            <a:endParaRPr lang="es-CL" sz="1700" dirty="0"/>
          </a:p>
        </p:txBody>
      </p:sp>
      <p:sp>
        <p:nvSpPr>
          <p:cNvPr id="26" name="Shape 23"/>
          <p:cNvSpPr/>
          <p:nvPr/>
        </p:nvSpPr>
        <p:spPr>
          <a:xfrm>
            <a:off x="9052560" y="3602736"/>
            <a:ext cx="2590495" cy="0"/>
          </a:xfrm>
          <a:prstGeom prst="line">
            <a:avLst/>
          </a:prstGeom>
          <a:noFill/>
          <a:ln w="9525">
            <a:solidFill>
              <a:schemeClr val="accent5"/>
            </a:solidFill>
            <a:prstDash val="solid"/>
          </a:ln>
        </p:spPr>
      </p:sp>
      <p:sp>
        <p:nvSpPr>
          <p:cNvPr id="27" name="Text 24"/>
          <p:cNvSpPr txBox="1"/>
          <p:nvPr/>
        </p:nvSpPr>
        <p:spPr>
          <a:xfrm>
            <a:off x="9052560" y="3694176"/>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SEGMENTO</a:t>
            </a:r>
            <a:endParaRPr lang="es-CL" sz="1300" dirty="0"/>
          </a:p>
        </p:txBody>
      </p:sp>
      <p:sp>
        <p:nvSpPr>
          <p:cNvPr id="28" name="Text 25"/>
          <p:cNvSpPr txBox="1"/>
          <p:nvPr/>
        </p:nvSpPr>
        <p:spPr>
          <a:xfrm>
            <a:off x="9052560" y="3986784"/>
            <a:ext cx="2590495" cy="73152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Tracción delantera y alto kilometraje</a:t>
            </a:r>
            <a:endParaRPr lang="es-CL" sz="1700" dirty="0"/>
          </a:p>
        </p:txBody>
      </p:sp>
      <p:sp>
        <p:nvSpPr>
          <p:cNvPr id="29" name="Shape 26"/>
          <p:cNvSpPr/>
          <p:nvPr/>
        </p:nvSpPr>
        <p:spPr>
          <a:xfrm>
            <a:off x="9052560" y="4809744"/>
            <a:ext cx="2590495" cy="0"/>
          </a:xfrm>
          <a:prstGeom prst="line">
            <a:avLst/>
          </a:prstGeom>
          <a:noFill/>
          <a:ln w="9525">
            <a:solidFill>
              <a:schemeClr val="accent5"/>
            </a:solidFill>
            <a:prstDash val="solid"/>
          </a:ln>
        </p:spPr>
      </p:sp>
      <p:sp>
        <p:nvSpPr>
          <p:cNvPr id="30" name="Text 27"/>
          <p:cNvSpPr txBox="1"/>
          <p:nvPr/>
        </p:nvSpPr>
        <p:spPr>
          <a:xfrm>
            <a:off x="9052560" y="4901184"/>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PROMESA</a:t>
            </a:r>
            <a:endParaRPr lang="es-CL" sz="1300" dirty="0"/>
          </a:p>
        </p:txBody>
      </p:sp>
      <p:sp>
        <p:nvSpPr>
          <p:cNvPr id="31" name="Text 28"/>
          <p:cNvSpPr txBox="1"/>
          <p:nvPr/>
        </p:nvSpPr>
        <p:spPr>
          <a:xfrm>
            <a:off x="9052560" y="5193792"/>
            <a:ext cx="2590495" cy="73152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Hasta 20% menos bencina en ciudad</a:t>
            </a:r>
            <a:endParaRPr lang="es-CL" sz="1700" dirty="0"/>
          </a:p>
        </p:txBody>
      </p:sp>
      <p:sp>
        <p:nvSpPr>
          <p:cNvPr id="32" name="Shape 29"/>
          <p:cNvSpPr/>
          <p:nvPr/>
        </p:nvSpPr>
        <p:spPr>
          <a:xfrm>
            <a:off x="10290759" y="4864608"/>
            <a:ext cx="1352296" cy="292608"/>
          </a:xfrm>
          <a:prstGeom prst="rect">
            <a:avLst/>
          </a:prstGeom>
          <a:solidFill>
            <a:schemeClr val="bg1">
              <a:alpha val="0"/>
            </a:schemeClr>
          </a:solidFill>
          <a:ln w="12700">
            <a:solidFill>
              <a:schemeClr val="tx2"/>
            </a:solidFill>
            <a:prstDash val="dash"/>
          </a:ln>
        </p:spPr>
      </p:sp>
      <p:sp>
        <p:nvSpPr>
          <p:cNvPr id="33" name="Text 30"/>
          <p:cNvSpPr txBox="1"/>
          <p:nvPr/>
        </p:nvSpPr>
        <p:spPr>
          <a:xfrm>
            <a:off x="10400487" y="4864608"/>
            <a:ext cx="1132840" cy="292608"/>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ESTIMACIÓN</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LA ORGANIZACIÓN · MISIÓN, VISIÓN Y VALORES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NUESTROS VALORES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son reglas de control.</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misión, visión y valores (texto resumido; versión literal en el anexo).</a:t>
            </a:r>
            <a:endParaRPr lang="es-CL" sz="1100" dirty="0"/>
          </a:p>
        </p:txBody>
      </p:sp>
      <p:sp>
        <p:nvSpPr>
          <p:cNvPr id="5" name="Shape 3"/>
          <p:cNvSpPr/>
          <p:nvPr/>
        </p:nvSpPr>
        <p:spPr>
          <a:xfrm>
            <a:off x="548640" y="2395728"/>
            <a:ext cx="4572000" cy="0"/>
          </a:xfrm>
          <a:prstGeom prst="line">
            <a:avLst/>
          </a:prstGeom>
          <a:noFill/>
          <a:ln w="9525">
            <a:solidFill>
              <a:schemeClr val="accent1"/>
            </a:solidFill>
            <a:prstDash val="solid"/>
          </a:ln>
        </p:spPr>
      </p:sp>
      <p:sp>
        <p:nvSpPr>
          <p:cNvPr id="6" name="Text 4"/>
          <p:cNvSpPr txBox="1"/>
          <p:nvPr/>
        </p:nvSpPr>
        <p:spPr>
          <a:xfrm>
            <a:off x="548640" y="2487168"/>
            <a:ext cx="45720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MISIÓN</a:t>
            </a:r>
            <a:endParaRPr lang="es-CL" sz="1300" dirty="0"/>
          </a:p>
        </p:txBody>
      </p:sp>
      <p:sp>
        <p:nvSpPr>
          <p:cNvPr id="7" name="Text 5"/>
          <p:cNvSpPr txBox="1"/>
          <p:nvPr/>
        </p:nvSpPr>
        <p:spPr>
          <a:xfrm>
            <a:off x="548640" y="2807208"/>
            <a:ext cx="4572000" cy="1463040"/>
          </a:xfrm>
          <a:prstGeom prst="rect">
            <a:avLst/>
          </a:prstGeom>
          <a:noFill/>
          <a:ln/>
        </p:spPr>
        <p:txBody>
          <a:bodyPr wrap="square" lIns="0" tIns="0" rIns="0" bIns="0" rtlCol="0" anchor="t"/>
          <a:lstStyle/>
          <a:p>
            <a:pPr indent="0" marL="0">
              <a:lnSpc>
                <a:spcPct val="100000"/>
              </a:lnSpc>
              <a:buNone/>
            </a:pPr>
            <a:r>
              <a:rPr lang="es-CL" altLang="en-US" sz="2000" i="1" dirty="0">
                <a:solidFill>
                  <a:schemeClr val="tx1"/>
                </a:solidFill>
                <a:latin typeface="Instrument Serif" pitchFamily="34" charset="0"/>
                <a:ea typeface="Instrument Serif" pitchFamily="34" charset="-122"/>
                <a:cs typeface="Instrument Serif" pitchFamily="34" charset="-120"/>
              </a:rPr>
              <a:t>Reducir el combustible por kilómetro del auto que el cliente ya tiene, sin reemplazarlo ni intervenir su motor.</a:t>
            </a:r>
            <a:endParaRPr lang="es-CL" sz="2000" dirty="0"/>
          </a:p>
        </p:txBody>
      </p:sp>
      <p:sp>
        <p:nvSpPr>
          <p:cNvPr id="8" name="Shape 6"/>
          <p:cNvSpPr/>
          <p:nvPr/>
        </p:nvSpPr>
        <p:spPr>
          <a:xfrm>
            <a:off x="548640" y="4361688"/>
            <a:ext cx="4572000" cy="0"/>
          </a:xfrm>
          <a:prstGeom prst="line">
            <a:avLst/>
          </a:prstGeom>
          <a:noFill/>
          <a:ln w="9525">
            <a:solidFill>
              <a:schemeClr val="accent1"/>
            </a:solidFill>
            <a:prstDash val="solid"/>
          </a:ln>
        </p:spPr>
      </p:sp>
      <p:sp>
        <p:nvSpPr>
          <p:cNvPr id="9" name="Text 7"/>
          <p:cNvSpPr txBox="1"/>
          <p:nvPr/>
        </p:nvSpPr>
        <p:spPr>
          <a:xfrm>
            <a:off x="548640" y="4453128"/>
            <a:ext cx="45720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VISIÓN 2031</a:t>
            </a:r>
            <a:endParaRPr lang="es-CL" sz="1300" dirty="0"/>
          </a:p>
        </p:txBody>
      </p:sp>
      <p:sp>
        <p:nvSpPr>
          <p:cNvPr id="10" name="Text 8"/>
          <p:cNvSpPr txBox="1"/>
          <p:nvPr/>
        </p:nvSpPr>
        <p:spPr>
          <a:xfrm>
            <a:off x="548640" y="4773168"/>
            <a:ext cx="4572000" cy="1463040"/>
          </a:xfrm>
          <a:prstGeom prst="rect">
            <a:avLst/>
          </a:prstGeom>
          <a:noFill/>
          <a:ln/>
        </p:spPr>
        <p:txBody>
          <a:bodyPr wrap="square" lIns="0" tIns="0" rIns="0" bIns="0" rtlCol="0" anchor="t"/>
          <a:lstStyle/>
          <a:p>
            <a:pPr indent="0" marL="0">
              <a:lnSpc>
                <a:spcPct val="100000"/>
              </a:lnSpc>
              <a:buNone/>
            </a:pPr>
            <a:r>
              <a:rPr lang="es-CL" altLang="en-US" sz="2000" i="1" dirty="0">
                <a:solidFill>
                  <a:schemeClr val="tx1"/>
                </a:solidFill>
                <a:latin typeface="Instrument Serif" pitchFamily="34" charset="0"/>
                <a:ea typeface="Instrument Serif" pitchFamily="34" charset="-122"/>
                <a:cs typeface="Instrument Serif" pitchFamily="34" charset="-120"/>
              </a:rPr>
              <a:t>El taller de referencia en hibridación de vehículos en uso, con un procedimiento reconocido por la autoridad, las plantas de revisión técnica y las aseguradoras.</a:t>
            </a:r>
            <a:endParaRPr lang="es-CL" sz="2000" dirty="0"/>
          </a:p>
        </p:txBody>
      </p:sp>
      <p:sp>
        <p:nvSpPr>
          <p:cNvPr id="11" name="Text 9"/>
          <p:cNvSpPr txBox="1"/>
          <p:nvPr/>
        </p:nvSpPr>
        <p:spPr>
          <a:xfrm>
            <a:off x="5669280" y="2395728"/>
            <a:ext cx="265176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VALOR</a:t>
            </a:r>
            <a:endParaRPr lang="es-CL" sz="1300" dirty="0"/>
          </a:p>
        </p:txBody>
      </p:sp>
      <p:sp>
        <p:nvSpPr>
          <p:cNvPr id="12" name="Text 10"/>
          <p:cNvSpPr txBox="1"/>
          <p:nvPr/>
        </p:nvSpPr>
        <p:spPr>
          <a:xfrm>
            <a:off x="8823960" y="2395728"/>
            <a:ext cx="28190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REGLA DE CONTROL</a:t>
            </a:r>
            <a:endParaRPr lang="es-CL" sz="1300" dirty="0"/>
          </a:p>
        </p:txBody>
      </p:sp>
      <p:sp>
        <p:nvSpPr>
          <p:cNvPr id="13" name="Shape 11"/>
          <p:cNvSpPr/>
          <p:nvPr/>
        </p:nvSpPr>
        <p:spPr>
          <a:xfrm>
            <a:off x="5669280" y="2761488"/>
            <a:ext cx="5973775" cy="0"/>
          </a:xfrm>
          <a:prstGeom prst="line">
            <a:avLst/>
          </a:prstGeom>
          <a:noFill/>
          <a:ln w="9525">
            <a:solidFill>
              <a:schemeClr val="accent1"/>
            </a:solidFill>
            <a:prstDash val="solid"/>
          </a:ln>
        </p:spPr>
      </p:sp>
      <p:sp>
        <p:nvSpPr>
          <p:cNvPr id="14" name="Text 12"/>
          <p:cNvSpPr txBox="1"/>
          <p:nvPr/>
        </p:nvSpPr>
        <p:spPr>
          <a:xfrm>
            <a:off x="5669280" y="2761488"/>
            <a:ext cx="2651760" cy="841248"/>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Verificabilidad antes que afirmación</a:t>
            </a:r>
            <a:endParaRPr lang="es-CL" sz="1800" dirty="0"/>
          </a:p>
        </p:txBody>
      </p:sp>
      <p:sp>
        <p:nvSpPr>
          <p:cNvPr id="15" name="Shape 13"/>
          <p:cNvSpPr/>
          <p:nvPr/>
        </p:nvSpPr>
        <p:spPr>
          <a:xfrm>
            <a:off x="8412480" y="3182112"/>
            <a:ext cx="320040" cy="0"/>
          </a:xfrm>
          <a:prstGeom prst="line">
            <a:avLst/>
          </a:prstGeom>
          <a:noFill/>
          <a:ln w="22225">
            <a:solidFill>
              <a:schemeClr val="accent1"/>
            </a:solidFill>
            <a:prstDash val="solid"/>
            <a:tailEnd type="triangle"/>
          </a:ln>
        </p:spPr>
      </p:sp>
      <p:sp>
        <p:nvSpPr>
          <p:cNvPr id="16" name="Text 14"/>
          <p:cNvSpPr txBox="1"/>
          <p:nvPr/>
        </p:nvSpPr>
        <p:spPr>
          <a:xfrm>
            <a:off x="8823960" y="2761488"/>
            <a:ext cx="2819095" cy="841248"/>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Un dato sin medir no vale cero</a:t>
            </a:r>
            <a:endParaRPr lang="es-CL" sz="1800" dirty="0"/>
          </a:p>
        </p:txBody>
      </p:sp>
      <p:sp>
        <p:nvSpPr>
          <p:cNvPr id="17" name="Shape 15"/>
          <p:cNvSpPr/>
          <p:nvPr/>
        </p:nvSpPr>
        <p:spPr>
          <a:xfrm>
            <a:off x="5669280" y="3602736"/>
            <a:ext cx="5973775" cy="0"/>
          </a:xfrm>
          <a:prstGeom prst="line">
            <a:avLst/>
          </a:prstGeom>
          <a:noFill/>
          <a:ln w="9525">
            <a:solidFill>
              <a:schemeClr val="accent5"/>
            </a:solidFill>
            <a:prstDash val="solid"/>
          </a:ln>
        </p:spPr>
      </p:sp>
      <p:sp>
        <p:nvSpPr>
          <p:cNvPr id="18" name="Text 16"/>
          <p:cNvSpPr txBox="1"/>
          <p:nvPr/>
        </p:nvSpPr>
        <p:spPr>
          <a:xfrm>
            <a:off x="5669280" y="3602736"/>
            <a:ext cx="2651760" cy="841248"/>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Formalidad como condición de operación</a:t>
            </a:r>
            <a:endParaRPr lang="es-CL" sz="1800" dirty="0"/>
          </a:p>
        </p:txBody>
      </p:sp>
      <p:sp>
        <p:nvSpPr>
          <p:cNvPr id="19" name="Shape 17"/>
          <p:cNvSpPr/>
          <p:nvPr/>
        </p:nvSpPr>
        <p:spPr>
          <a:xfrm>
            <a:off x="8412480" y="4023360"/>
            <a:ext cx="320040" cy="0"/>
          </a:xfrm>
          <a:prstGeom prst="line">
            <a:avLst/>
          </a:prstGeom>
          <a:noFill/>
          <a:ln w="22225">
            <a:solidFill>
              <a:schemeClr val="accent1"/>
            </a:solidFill>
            <a:prstDash val="solid"/>
            <a:tailEnd type="triangle"/>
          </a:ln>
        </p:spPr>
      </p:sp>
      <p:sp>
        <p:nvSpPr>
          <p:cNvPr id="20" name="Text 18"/>
          <p:cNvSpPr txBox="1"/>
          <p:nvPr/>
        </p:nvSpPr>
        <p:spPr>
          <a:xfrm>
            <a:off x="8823960" y="3602736"/>
            <a:ext cx="2819095" cy="841248"/>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Compuertas que no se saltan</a:t>
            </a:r>
            <a:endParaRPr lang="es-CL" sz="1800" dirty="0"/>
          </a:p>
        </p:txBody>
      </p:sp>
      <p:sp>
        <p:nvSpPr>
          <p:cNvPr id="21" name="Shape 19"/>
          <p:cNvSpPr/>
          <p:nvPr/>
        </p:nvSpPr>
        <p:spPr>
          <a:xfrm>
            <a:off x="5669280" y="4443984"/>
            <a:ext cx="5973775" cy="0"/>
          </a:xfrm>
          <a:prstGeom prst="line">
            <a:avLst/>
          </a:prstGeom>
          <a:noFill/>
          <a:ln w="9525">
            <a:solidFill>
              <a:schemeClr val="accent5"/>
            </a:solidFill>
            <a:prstDash val="solid"/>
          </a:ln>
        </p:spPr>
      </p:sp>
      <p:sp>
        <p:nvSpPr>
          <p:cNvPr id="22" name="Text 20"/>
          <p:cNvSpPr txBox="1"/>
          <p:nvPr/>
        </p:nvSpPr>
        <p:spPr>
          <a:xfrm>
            <a:off x="5669280" y="4443984"/>
            <a:ext cx="2651760" cy="841248"/>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Trazabilidad del conocimiento técnico</a:t>
            </a:r>
            <a:endParaRPr lang="es-CL" sz="1800" dirty="0"/>
          </a:p>
        </p:txBody>
      </p:sp>
      <p:sp>
        <p:nvSpPr>
          <p:cNvPr id="23" name="Shape 21"/>
          <p:cNvSpPr/>
          <p:nvPr/>
        </p:nvSpPr>
        <p:spPr>
          <a:xfrm>
            <a:off x="8412480" y="4864608"/>
            <a:ext cx="320040" cy="0"/>
          </a:xfrm>
          <a:prstGeom prst="line">
            <a:avLst/>
          </a:prstGeom>
          <a:noFill/>
          <a:ln w="22225">
            <a:solidFill>
              <a:schemeClr val="accent1"/>
            </a:solidFill>
            <a:prstDash val="solid"/>
            <a:tailEnd type="triangle"/>
          </a:ln>
        </p:spPr>
      </p:sp>
      <p:sp>
        <p:nvSpPr>
          <p:cNvPr id="24" name="Text 22"/>
          <p:cNvSpPr txBox="1"/>
          <p:nvPr/>
        </p:nvSpPr>
        <p:spPr>
          <a:xfrm>
            <a:off x="8823960" y="4443984"/>
            <a:ext cx="2819095" cy="841248"/>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Cada calibración queda registrada</a:t>
            </a:r>
            <a:endParaRPr lang="es-CL" sz="1800" dirty="0"/>
          </a:p>
        </p:txBody>
      </p:sp>
      <p:sp>
        <p:nvSpPr>
          <p:cNvPr id="25" name="Shape 23"/>
          <p:cNvSpPr/>
          <p:nvPr/>
        </p:nvSpPr>
        <p:spPr>
          <a:xfrm>
            <a:off x="5669280" y="5285232"/>
            <a:ext cx="5973775" cy="0"/>
          </a:xfrm>
          <a:prstGeom prst="line">
            <a:avLst/>
          </a:prstGeom>
          <a:noFill/>
          <a:ln w="9525">
            <a:solidFill>
              <a:schemeClr val="accent5"/>
            </a:solidFill>
            <a:prstDash val="solid"/>
          </a:ln>
        </p:spPr>
      </p:sp>
      <p:sp>
        <p:nvSpPr>
          <p:cNvPr id="26" name="Text 24"/>
          <p:cNvSpPr txBox="1"/>
          <p:nvPr/>
        </p:nvSpPr>
        <p:spPr>
          <a:xfrm>
            <a:off x="5669280" y="5285232"/>
            <a:ext cx="2651760" cy="841248"/>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Responsabilidad sobre el ciclo completo</a:t>
            </a:r>
            <a:endParaRPr lang="es-CL" sz="1800" dirty="0"/>
          </a:p>
        </p:txBody>
      </p:sp>
      <p:sp>
        <p:nvSpPr>
          <p:cNvPr id="27" name="Shape 25"/>
          <p:cNvSpPr/>
          <p:nvPr/>
        </p:nvSpPr>
        <p:spPr>
          <a:xfrm>
            <a:off x="8412480" y="5705856"/>
            <a:ext cx="320040" cy="0"/>
          </a:xfrm>
          <a:prstGeom prst="line">
            <a:avLst/>
          </a:prstGeom>
          <a:noFill/>
          <a:ln w="22225">
            <a:solidFill>
              <a:schemeClr val="accent1"/>
            </a:solidFill>
            <a:prstDash val="solid"/>
            <a:tailEnd type="triangle"/>
          </a:ln>
        </p:spPr>
      </p:sp>
      <p:sp>
        <p:nvSpPr>
          <p:cNvPr id="28" name="Text 26"/>
          <p:cNvSpPr txBox="1"/>
          <p:nvPr/>
        </p:nvSpPr>
        <p:spPr>
          <a:xfrm>
            <a:off x="8823960" y="5285232"/>
            <a:ext cx="2819095" cy="841248"/>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El control sigue después de la entrega</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CLIENTE · PROPUESTA DE VALOR Y MODELO DE NEGOCIO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PRECIO DECIDE SI COMPRA;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la confianza, si se atreve.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relaciones de valor con los clientes. Entrevistas (n = 3): resultado indicativo, no representativo.</a:t>
            </a:r>
            <a:endParaRPr lang="es-CL" sz="1100" dirty="0"/>
          </a:p>
        </p:txBody>
      </p:sp>
      <p:sp>
        <p:nvSpPr>
          <p:cNvPr id="5" name="Shape 3"/>
          <p:cNvSpPr/>
          <p:nvPr/>
        </p:nvSpPr>
        <p:spPr>
          <a:xfrm>
            <a:off x="8728659" y="2377440"/>
            <a:ext cx="2914396" cy="310896"/>
          </a:xfrm>
          <a:prstGeom prst="rect">
            <a:avLst/>
          </a:prstGeom>
          <a:solidFill>
            <a:schemeClr val="bg1">
              <a:alpha val="0"/>
            </a:schemeClr>
          </a:solidFill>
          <a:ln w="12700">
            <a:solidFill>
              <a:schemeClr val="tx2"/>
            </a:solidFill>
            <a:prstDash val="dash"/>
          </a:ln>
        </p:spPr>
      </p:sp>
      <p:sp>
        <p:nvSpPr>
          <p:cNvPr id="6" name="Text 4"/>
          <p:cNvSpPr txBox="1"/>
          <p:nvPr/>
        </p:nvSpPr>
        <p:spPr>
          <a:xfrm>
            <a:off x="8838387" y="2377440"/>
            <a:ext cx="2694940" cy="310896"/>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TENTATIVO · 3 ENTREVISTAS</a:t>
            </a:r>
            <a:endParaRPr lang="es-CL" sz="1200" dirty="0"/>
          </a:p>
        </p:txBody>
      </p:sp>
      <p:sp>
        <p:nvSpPr>
          <p:cNvPr id="7" name="Text 5"/>
          <p:cNvSpPr txBox="1"/>
          <p:nvPr/>
        </p:nvSpPr>
        <p:spPr>
          <a:xfrm>
            <a:off x="548640" y="2395728"/>
            <a:ext cx="457200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NECESIDAD CENTRAL</a:t>
            </a:r>
            <a:endParaRPr lang="es-CL" sz="1300" dirty="0"/>
          </a:p>
        </p:txBody>
      </p:sp>
      <p:sp>
        <p:nvSpPr>
          <p:cNvPr id="8" name="Text 6"/>
          <p:cNvSpPr txBox="1"/>
          <p:nvPr/>
        </p:nvSpPr>
        <p:spPr>
          <a:xfrm>
            <a:off x="548640" y="2688336"/>
            <a:ext cx="11094415" cy="502920"/>
          </a:xfrm>
          <a:prstGeom prst="rect">
            <a:avLst/>
          </a:prstGeom>
          <a:noFill/>
          <a:ln/>
        </p:spPr>
        <p:txBody>
          <a:bodyPr wrap="square" lIns="0" tIns="0" rIns="0" bIns="0" rtlCol="0" anchor="ctr"/>
          <a:lstStyle/>
          <a:p>
            <a:pPr indent="0" marL="0">
              <a:buNone/>
            </a:pPr>
            <a:r>
              <a:rPr lang="es-CL" altLang="en-US" sz="2600" i="1" dirty="0">
                <a:solidFill>
                  <a:schemeClr val="tx1"/>
                </a:solidFill>
                <a:latin typeface="Instrument Serif" pitchFamily="34" charset="0"/>
                <a:ea typeface="Instrument Serif" pitchFamily="34" charset="-122"/>
                <a:cs typeface="Instrument Serif" pitchFamily="34" charset="-120"/>
              </a:rPr>
              <a:t>«Evitar pagar cada vez más por usar el auto.»</a:t>
            </a:r>
            <a:endParaRPr lang="es-CL" sz="2600" dirty="0"/>
          </a:p>
        </p:txBody>
      </p:sp>
      <p:sp>
        <p:nvSpPr>
          <p:cNvPr id="9" name="Shape 7"/>
          <p:cNvSpPr/>
          <p:nvPr/>
        </p:nvSpPr>
        <p:spPr>
          <a:xfrm>
            <a:off x="548640" y="3355848"/>
            <a:ext cx="5364328" cy="1783080"/>
          </a:xfrm>
          <a:prstGeom prst="rect">
            <a:avLst/>
          </a:prstGeom>
          <a:solidFill>
            <a:schemeClr val="bg2"/>
          </a:solidFill>
          <a:ln w="9525">
            <a:solidFill>
              <a:schemeClr val="tx2"/>
            </a:solidFill>
            <a:prstDash val="solid"/>
          </a:ln>
        </p:spPr>
      </p:sp>
      <p:sp>
        <p:nvSpPr>
          <p:cNvPr id="10" name="Text 8"/>
          <p:cNvSpPr txBox="1"/>
          <p:nvPr/>
        </p:nvSpPr>
        <p:spPr>
          <a:xfrm>
            <a:off x="822960" y="3557016"/>
            <a:ext cx="481568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DECIDE SI COMPRA</a:t>
            </a:r>
            <a:endParaRPr lang="es-CL" sz="1300" dirty="0"/>
          </a:p>
        </p:txBody>
      </p:sp>
      <p:sp>
        <p:nvSpPr>
          <p:cNvPr id="11" name="Text 9"/>
          <p:cNvSpPr txBox="1"/>
          <p:nvPr/>
        </p:nvSpPr>
        <p:spPr>
          <a:xfrm>
            <a:off x="822960" y="3858768"/>
            <a:ext cx="4815688" cy="502920"/>
          </a:xfrm>
          <a:prstGeom prst="rect">
            <a:avLst/>
          </a:prstGeom>
          <a:noFill/>
          <a:ln/>
        </p:spPr>
        <p:txBody>
          <a:bodyPr wrap="square" lIns="0" tIns="0" rIns="0" bIns="0" rtlCol="0" anchor="ctr"/>
          <a:lstStyle/>
          <a:p>
            <a:pPr indent="0" marL="0">
              <a:buNone/>
            </a:pPr>
            <a:r>
              <a:rPr lang="es-CL" altLang="en-US" sz="2800" dirty="0">
                <a:solidFill>
                  <a:schemeClr val="tx1"/>
                </a:solidFill>
                <a:latin typeface="Archivo SemiExpanded ExtraBold" pitchFamily="34" charset="0"/>
                <a:ea typeface="Archivo SemiExpanded ExtraBold" pitchFamily="34" charset="-122"/>
                <a:cs typeface="Archivo SemiExpanded ExtraBold" pitchFamily="34" charset="-120"/>
              </a:rPr>
              <a:t>PRECIO</a:t>
            </a:r>
            <a:endParaRPr lang="es-CL" sz="2800" dirty="0"/>
          </a:p>
        </p:txBody>
      </p:sp>
      <p:sp>
        <p:nvSpPr>
          <p:cNvPr id="12" name="Text 10"/>
          <p:cNvSpPr txBox="1"/>
          <p:nvPr/>
        </p:nvSpPr>
        <p:spPr>
          <a:xfrm>
            <a:off x="822960" y="4407408"/>
            <a:ext cx="4815688"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Una cuota mensual comparable con el ahorro mensual, no un precio de lista.</a:t>
            </a:r>
            <a:endParaRPr lang="es-CL" sz="1800" dirty="0"/>
          </a:p>
        </p:txBody>
      </p:sp>
      <p:pic>
        <p:nvPicPr>
          <p:cNvPr id="13" name="Image 0" descr="C:\Users\Usuario\Documents\GitHub\lumine\solemne-2\generador\assets\brillo.png">    </p:cNvPr>
          <p:cNvPicPr>
            <a:picLocks noChangeAspect="1"/>
          </p:cNvPicPr>
          <p:nvPr/>
        </p:nvPicPr>
        <p:blipFill>
          <a:blip r:embed="rId1"/>
          <a:stretch>
            <a:fillRect/>
          </a:stretch>
        </p:blipFill>
        <p:spPr>
          <a:xfrm>
            <a:off x="5821528" y="3035808"/>
            <a:ext cx="6278728" cy="2423160"/>
          </a:xfrm>
          <a:prstGeom prst="rect">
            <a:avLst/>
          </a:prstGeom>
        </p:spPr>
      </p:pic>
      <p:sp>
        <p:nvSpPr>
          <p:cNvPr id="14" name="Shape 11"/>
          <p:cNvSpPr/>
          <p:nvPr/>
        </p:nvSpPr>
        <p:spPr>
          <a:xfrm>
            <a:off x="6278728" y="3355848"/>
            <a:ext cx="5364328" cy="1783080"/>
          </a:xfrm>
          <a:prstGeom prst="rect">
            <a:avLst/>
          </a:prstGeom>
          <a:solidFill>
            <a:srgbClr val="0B1A22"/>
          </a:solidFill>
          <a:ln w="15875">
            <a:solidFill>
              <a:schemeClr val="accent1"/>
            </a:solidFill>
            <a:prstDash val="solid"/>
          </a:ln>
        </p:spPr>
      </p:sp>
      <p:sp>
        <p:nvSpPr>
          <p:cNvPr id="15" name="Shape 12"/>
          <p:cNvSpPr/>
          <p:nvPr/>
        </p:nvSpPr>
        <p:spPr>
          <a:xfrm>
            <a:off x="6223864" y="3300984"/>
            <a:ext cx="155448" cy="0"/>
          </a:xfrm>
          <a:prstGeom prst="line">
            <a:avLst/>
          </a:prstGeom>
          <a:noFill/>
          <a:ln w="15875">
            <a:solidFill>
              <a:schemeClr val="accent1"/>
            </a:solidFill>
            <a:prstDash val="solid"/>
          </a:ln>
        </p:spPr>
      </p:sp>
      <p:sp>
        <p:nvSpPr>
          <p:cNvPr id="16" name="Shape 13"/>
          <p:cNvSpPr/>
          <p:nvPr/>
        </p:nvSpPr>
        <p:spPr>
          <a:xfrm>
            <a:off x="6223864" y="3300984"/>
            <a:ext cx="0" cy="155448"/>
          </a:xfrm>
          <a:prstGeom prst="line">
            <a:avLst/>
          </a:prstGeom>
          <a:noFill/>
          <a:ln w="15875">
            <a:solidFill>
              <a:schemeClr val="accent1"/>
            </a:solidFill>
            <a:prstDash val="solid"/>
          </a:ln>
        </p:spPr>
      </p:sp>
      <p:sp>
        <p:nvSpPr>
          <p:cNvPr id="17" name="Shape 14"/>
          <p:cNvSpPr/>
          <p:nvPr/>
        </p:nvSpPr>
        <p:spPr>
          <a:xfrm>
            <a:off x="11542471" y="3300984"/>
            <a:ext cx="155448" cy="0"/>
          </a:xfrm>
          <a:prstGeom prst="line">
            <a:avLst/>
          </a:prstGeom>
          <a:noFill/>
          <a:ln w="15875">
            <a:solidFill>
              <a:schemeClr val="accent1"/>
            </a:solidFill>
            <a:prstDash val="solid"/>
          </a:ln>
        </p:spPr>
      </p:sp>
      <p:sp>
        <p:nvSpPr>
          <p:cNvPr id="18" name="Shape 15"/>
          <p:cNvSpPr/>
          <p:nvPr/>
        </p:nvSpPr>
        <p:spPr>
          <a:xfrm>
            <a:off x="11697919" y="3300984"/>
            <a:ext cx="0" cy="155448"/>
          </a:xfrm>
          <a:prstGeom prst="line">
            <a:avLst/>
          </a:prstGeom>
          <a:noFill/>
          <a:ln w="15875">
            <a:solidFill>
              <a:schemeClr val="accent1"/>
            </a:solidFill>
            <a:prstDash val="solid"/>
          </a:ln>
        </p:spPr>
      </p:sp>
      <p:sp>
        <p:nvSpPr>
          <p:cNvPr id="19" name="Shape 16"/>
          <p:cNvSpPr/>
          <p:nvPr/>
        </p:nvSpPr>
        <p:spPr>
          <a:xfrm>
            <a:off x="6223864" y="5193792"/>
            <a:ext cx="155448" cy="0"/>
          </a:xfrm>
          <a:prstGeom prst="line">
            <a:avLst/>
          </a:prstGeom>
          <a:noFill/>
          <a:ln w="15875">
            <a:solidFill>
              <a:schemeClr val="accent1"/>
            </a:solidFill>
            <a:prstDash val="solid"/>
          </a:ln>
        </p:spPr>
      </p:sp>
      <p:sp>
        <p:nvSpPr>
          <p:cNvPr id="20" name="Shape 17"/>
          <p:cNvSpPr/>
          <p:nvPr/>
        </p:nvSpPr>
        <p:spPr>
          <a:xfrm>
            <a:off x="6223864" y="5038344"/>
            <a:ext cx="0" cy="155448"/>
          </a:xfrm>
          <a:prstGeom prst="line">
            <a:avLst/>
          </a:prstGeom>
          <a:noFill/>
          <a:ln w="15875">
            <a:solidFill>
              <a:schemeClr val="accent1"/>
            </a:solidFill>
            <a:prstDash val="solid"/>
          </a:ln>
        </p:spPr>
      </p:sp>
      <p:sp>
        <p:nvSpPr>
          <p:cNvPr id="21" name="Shape 18"/>
          <p:cNvSpPr/>
          <p:nvPr/>
        </p:nvSpPr>
        <p:spPr>
          <a:xfrm>
            <a:off x="11542471" y="5193792"/>
            <a:ext cx="155448" cy="0"/>
          </a:xfrm>
          <a:prstGeom prst="line">
            <a:avLst/>
          </a:prstGeom>
          <a:noFill/>
          <a:ln w="15875">
            <a:solidFill>
              <a:schemeClr val="accent1"/>
            </a:solidFill>
            <a:prstDash val="solid"/>
          </a:ln>
        </p:spPr>
      </p:sp>
      <p:sp>
        <p:nvSpPr>
          <p:cNvPr id="22" name="Shape 19"/>
          <p:cNvSpPr/>
          <p:nvPr/>
        </p:nvSpPr>
        <p:spPr>
          <a:xfrm>
            <a:off x="11697919" y="5038344"/>
            <a:ext cx="0" cy="155448"/>
          </a:xfrm>
          <a:prstGeom prst="line">
            <a:avLst/>
          </a:prstGeom>
          <a:noFill/>
          <a:ln w="15875">
            <a:solidFill>
              <a:schemeClr val="accent1"/>
            </a:solidFill>
            <a:prstDash val="solid"/>
          </a:ln>
        </p:spPr>
      </p:sp>
      <p:sp>
        <p:nvSpPr>
          <p:cNvPr id="23" name="Text 20"/>
          <p:cNvSpPr txBox="1"/>
          <p:nvPr/>
        </p:nvSpPr>
        <p:spPr>
          <a:xfrm>
            <a:off x="6553048" y="3557016"/>
            <a:ext cx="481568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DECIDE SI SE ATREVE</a:t>
            </a:r>
            <a:endParaRPr lang="es-CL" sz="1300" dirty="0"/>
          </a:p>
        </p:txBody>
      </p:sp>
      <p:sp>
        <p:nvSpPr>
          <p:cNvPr id="24" name="Text 21"/>
          <p:cNvSpPr txBox="1"/>
          <p:nvPr/>
        </p:nvSpPr>
        <p:spPr>
          <a:xfrm>
            <a:off x="6553048" y="3858768"/>
            <a:ext cx="4815688" cy="502920"/>
          </a:xfrm>
          <a:prstGeom prst="rect">
            <a:avLst/>
          </a:prstGeom>
          <a:noFill/>
          <a:ln/>
        </p:spPr>
        <p:txBody>
          <a:bodyPr wrap="square" lIns="0" tIns="0" rIns="0" bIns="0" rtlCol="0" anchor="ctr"/>
          <a:lstStyle/>
          <a:p>
            <a:pPr indent="0" marL="0">
              <a:buNone/>
            </a:pPr>
            <a:r>
              <a:rPr lang="es-CL" altLang="en-US" sz="2800" dirty="0">
                <a:solidFill>
                  <a:schemeClr val="tx1"/>
                </a:solidFill>
                <a:latin typeface="Archivo SemiExpanded ExtraBold" pitchFamily="34" charset="0"/>
                <a:ea typeface="Archivo SemiExpanded ExtraBold" pitchFamily="34" charset="-122"/>
                <a:cs typeface="Archivo SemiExpanded ExtraBold" pitchFamily="34" charset="-120"/>
              </a:rPr>
              <a:t>CONFIANZA</a:t>
            </a:r>
            <a:endParaRPr lang="es-CL" sz="2800" dirty="0"/>
          </a:p>
        </p:txBody>
      </p:sp>
      <p:sp>
        <p:nvSpPr>
          <p:cNvPr id="25" name="Text 22"/>
          <p:cNvSpPr txBox="1"/>
          <p:nvPr/>
        </p:nvSpPr>
        <p:spPr>
          <a:xfrm>
            <a:off x="6553048" y="4407408"/>
            <a:ext cx="4815688"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Certificación, garantía escrita, un caso exitoso y quién responde ante fallas.</a:t>
            </a:r>
            <a:endParaRPr lang="es-CL" sz="1800" dirty="0"/>
          </a:p>
        </p:txBody>
      </p:sp>
      <p:sp>
        <p:nvSpPr>
          <p:cNvPr id="26" name="Shape 23"/>
          <p:cNvSpPr/>
          <p:nvPr/>
        </p:nvSpPr>
        <p:spPr>
          <a:xfrm>
            <a:off x="548640" y="5413248"/>
            <a:ext cx="11094415" cy="0"/>
          </a:xfrm>
          <a:prstGeom prst="line">
            <a:avLst/>
          </a:prstGeom>
          <a:noFill/>
          <a:ln w="9525">
            <a:solidFill>
              <a:schemeClr val="accent5"/>
            </a:solidFill>
            <a:prstDash val="solid"/>
          </a:ln>
        </p:spPr>
      </p:sp>
      <p:sp>
        <p:nvSpPr>
          <p:cNvPr id="27" name="Text 24"/>
          <p:cNvSpPr txBox="1"/>
          <p:nvPr/>
        </p:nvSpPr>
        <p:spPr>
          <a:xfrm>
            <a:off x="548640" y="5541264"/>
            <a:ext cx="274320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MODELO DE NEGOCIO</a:t>
            </a:r>
            <a:endParaRPr lang="es-CL" sz="1300" dirty="0"/>
          </a:p>
        </p:txBody>
      </p:sp>
      <p:sp>
        <p:nvSpPr>
          <p:cNvPr id="28" name="Text 25"/>
          <p:cNvSpPr txBox="1"/>
          <p:nvPr/>
        </p:nvSpPr>
        <p:spPr>
          <a:xfrm>
            <a:off x="548640" y="5824728"/>
            <a:ext cx="9265615" cy="411480"/>
          </a:xfrm>
          <a:prstGeom prst="rect">
            <a:avLst/>
          </a:prstGeom>
          <a:noFill/>
          <a:ln/>
        </p:spPr>
        <p:txBody>
          <a:bodyPr wrap="square" lIns="0" tIns="0" rIns="0" bIns="0" rtlCol="0" anchor="ctr"/>
          <a:lstStyle/>
          <a:p>
            <a:pPr indent="0" marL="0">
              <a:buNone/>
            </a:pPr>
            <a:r>
              <a:rPr lang="es-CL" altLang="en-US" sz="1900" b="1" dirty="0">
                <a:solidFill>
                  <a:schemeClr val="tx1"/>
                </a:solidFill>
                <a:latin typeface="Figtree" pitchFamily="34" charset="0"/>
                <a:ea typeface="Figtree" pitchFamily="34" charset="-122"/>
                <a:cs typeface="Figtree" pitchFamily="34" charset="-120"/>
              </a:rPr>
              <a:t>Taller propio</a:t>
            </a:r>
            <a:pPr indent="0" marL="0">
              <a:buNone/>
            </a:pPr>
            <a:r>
              <a:rPr lang="es-CL" altLang="en-US" sz="1900" dirty="0">
                <a:solidFill>
                  <a:schemeClr val="accent1"/>
                </a:solidFill>
                <a:latin typeface="Figtree" pitchFamily="34" charset="0"/>
                <a:ea typeface="Figtree" pitchFamily="34" charset="-122"/>
                <a:cs typeface="Figtree" pitchFamily="34" charset="-120"/>
              </a:rPr>
              <a:t>   +   </a:t>
            </a:r>
            <a:pPr indent="0" marL="0">
              <a:buNone/>
            </a:pPr>
            <a:r>
              <a:rPr lang="es-CL" altLang="en-US" sz="1900" dirty="0">
                <a:solidFill>
                  <a:schemeClr val="tx2"/>
                </a:solidFill>
                <a:latin typeface="Figtree" pitchFamily="34" charset="0"/>
                <a:ea typeface="Figtree" pitchFamily="34" charset="-122"/>
                <a:cs typeface="Figtree" pitchFamily="34" charset="-120"/>
              </a:rPr>
              <a:t>licencias de calibración y procedimiento a otros talleres</a:t>
            </a:r>
            <a:endParaRPr lang="es-CL" sz="1900" dirty="0"/>
          </a:p>
        </p:txBody>
      </p:sp>
      <p:sp>
        <p:nvSpPr>
          <p:cNvPr id="29" name="Shape 26"/>
          <p:cNvSpPr/>
          <p:nvPr/>
        </p:nvSpPr>
        <p:spPr>
          <a:xfrm>
            <a:off x="10394899" y="5870448"/>
            <a:ext cx="1248156" cy="310896"/>
          </a:xfrm>
          <a:prstGeom prst="rect">
            <a:avLst/>
          </a:prstGeom>
          <a:solidFill>
            <a:schemeClr val="bg1">
              <a:alpha val="0"/>
            </a:schemeClr>
          </a:solidFill>
          <a:ln w="12700">
            <a:solidFill>
              <a:schemeClr val="tx2"/>
            </a:solidFill>
            <a:prstDash val="sysDot"/>
          </a:ln>
        </p:spPr>
      </p:sp>
      <p:sp>
        <p:nvSpPr>
          <p:cNvPr id="30" name="Text 27"/>
          <p:cNvSpPr txBox="1"/>
          <p:nvPr/>
        </p:nvSpPr>
        <p:spPr>
          <a:xfrm>
            <a:off x="10504627" y="5870448"/>
            <a:ext cx="1028700" cy="310896"/>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POTENCIAL</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ANÁLISIS EXTERNO · CINCO FUERZAS Y ESCENARIOS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COMPETIMOS CONTRA NO HACER NADA,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la vía legal decide si operamos.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(Control de Gestión, octubre de 2026), cinco fuerzas (instrumento 02, escala 0 a 5) y escenarios regulatorios; Ley N° 21.793 (14-01-2026), sin reglamento.</a:t>
            </a:r>
            <a:endParaRPr lang="es-CL" sz="1100" dirty="0"/>
          </a:p>
        </p:txBody>
      </p:sp>
      <p:sp>
        <p:nvSpPr>
          <p:cNvPr id="5" name="Text 3"/>
          <p:cNvSpPr txBox="1"/>
          <p:nvPr/>
        </p:nvSpPr>
        <p:spPr>
          <a:xfrm>
            <a:off x="548640" y="2395728"/>
            <a:ext cx="457200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CINCO FUERZAS · PONDERACIÓN</a:t>
            </a:r>
            <a:endParaRPr lang="es-CL" sz="1300" dirty="0"/>
          </a:p>
        </p:txBody>
      </p:sp>
      <p:pic>
        <p:nvPicPr>
          <p:cNvPr id="6" name="Image 0" descr="C:\Users\Usuario\Documents\GitHub\lumine\solemne-2\generador\assets\brillo.png">    </p:cNvPr>
          <p:cNvPicPr>
            <a:picLocks noChangeAspect="1"/>
          </p:cNvPicPr>
          <p:nvPr/>
        </p:nvPicPr>
        <p:blipFill>
          <a:blip r:embed="rId1"/>
          <a:stretch>
            <a:fillRect/>
          </a:stretch>
        </p:blipFill>
        <p:spPr>
          <a:xfrm>
            <a:off x="91440" y="2532888"/>
            <a:ext cx="3108960" cy="1645920"/>
          </a:xfrm>
          <a:prstGeom prst="rect">
            <a:avLst/>
          </a:prstGeom>
        </p:spPr>
      </p:pic>
      <p:sp>
        <p:nvSpPr>
          <p:cNvPr id="7" name="Text 4"/>
          <p:cNvSpPr txBox="1"/>
          <p:nvPr/>
        </p:nvSpPr>
        <p:spPr>
          <a:xfrm>
            <a:off x="548640" y="2715768"/>
            <a:ext cx="4572000" cy="1188720"/>
          </a:xfrm>
          <a:prstGeom prst="rect">
            <a:avLst/>
          </a:prstGeom>
          <a:noFill/>
          <a:ln/>
        </p:spPr>
        <p:txBody>
          <a:bodyPr wrap="square" lIns="0" tIns="0" rIns="0" bIns="0" rtlCol="0" anchor="ctr"/>
          <a:lstStyle/>
          <a:p>
            <a:pPr indent="0" marL="0">
              <a:buNone/>
            </a:pPr>
            <a:r>
              <a:rPr lang="es-CL" altLang="en-US" sz="8000" b="1" dirty="0">
                <a:solidFill>
                  <a:schemeClr val="accent1"/>
                </a:solidFill>
                <a:latin typeface="Archivo Condensed" pitchFamily="34" charset="0"/>
                <a:ea typeface="Archivo Condensed" pitchFamily="34" charset="-122"/>
                <a:cs typeface="Archivo Condensed" pitchFamily="34" charset="-120"/>
              </a:rPr>
              <a:t>55%</a:t>
            </a:r>
            <a:endParaRPr lang="es-CL" sz="8000" dirty="0"/>
          </a:p>
        </p:txBody>
      </p:sp>
      <p:sp>
        <p:nvSpPr>
          <p:cNvPr id="8" name="Text 5"/>
          <p:cNvSpPr txBox="1"/>
          <p:nvPr/>
        </p:nvSpPr>
        <p:spPr>
          <a:xfrm>
            <a:off x="548640" y="3950208"/>
            <a:ext cx="4572000" cy="731520"/>
          </a:xfrm>
          <a:prstGeom prst="rect">
            <a:avLst/>
          </a:prstGeom>
          <a:noFill/>
          <a:ln/>
        </p:spPr>
        <p:txBody>
          <a:bodyPr wrap="square" lIns="0" tIns="0" rIns="0" bIns="0" rtlCol="0" anchor="t"/>
          <a:lstStyle/>
          <a:p>
            <a:pPr indent="0" marL="0">
              <a:buNone/>
            </a:pPr>
            <a:r>
              <a:rPr lang="es-CL" altLang="en-US" sz="2000" b="1" dirty="0">
                <a:solidFill>
                  <a:schemeClr val="tx1"/>
                </a:solidFill>
                <a:latin typeface="Figtree" pitchFamily="34" charset="0"/>
                <a:ea typeface="Figtree" pitchFamily="34" charset="-122"/>
                <a:cs typeface="Figtree" pitchFamily="34" charset="-120"/>
              </a:rPr>
              <a:t>Sustitutos y clientes: </a:t>
            </a:r>
            <a:pPr indent="0" marL="0">
              <a:buNone/>
            </a:pPr>
            <a:r>
              <a:rPr lang="es-CL" altLang="en-US" sz="2000" dirty="0">
                <a:solidFill>
                  <a:schemeClr val="tx2"/>
                </a:solidFill>
                <a:latin typeface="Figtree" pitchFamily="34" charset="0"/>
                <a:ea typeface="Figtree" pitchFamily="34" charset="-122"/>
                <a:cs typeface="Figtree" pitchFamily="34" charset="-120"/>
              </a:rPr>
              <a:t>seguir con el auto cuesta $0.</a:t>
            </a:r>
            <a:endParaRPr lang="es-CL" sz="2000" dirty="0"/>
          </a:p>
        </p:txBody>
      </p:sp>
      <p:sp>
        <p:nvSpPr>
          <p:cNvPr id="9" name="Shape 6"/>
          <p:cNvSpPr/>
          <p:nvPr/>
        </p:nvSpPr>
        <p:spPr>
          <a:xfrm>
            <a:off x="548640" y="4773168"/>
            <a:ext cx="4572000" cy="0"/>
          </a:xfrm>
          <a:prstGeom prst="line">
            <a:avLst/>
          </a:prstGeom>
          <a:noFill/>
          <a:ln w="9525">
            <a:solidFill>
              <a:schemeClr val="accent5"/>
            </a:solidFill>
            <a:prstDash val="solid"/>
          </a:ln>
        </p:spPr>
      </p:sp>
      <p:sp>
        <p:nvSpPr>
          <p:cNvPr id="10" name="Text 7"/>
          <p:cNvSpPr txBox="1"/>
          <p:nvPr/>
        </p:nvSpPr>
        <p:spPr>
          <a:xfrm>
            <a:off x="548640" y="4864608"/>
            <a:ext cx="4572000"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La cuota ataca la causa: la falta de liquidez.</a:t>
            </a:r>
            <a:endParaRPr lang="es-CL" sz="1800" dirty="0"/>
          </a:p>
        </p:txBody>
      </p:sp>
      <p:sp>
        <p:nvSpPr>
          <p:cNvPr id="11" name="Text 8"/>
          <p:cNvSpPr txBox="1"/>
          <p:nvPr/>
        </p:nvSpPr>
        <p:spPr>
          <a:xfrm>
            <a:off x="5669280" y="2395728"/>
            <a:ext cx="5973775"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ESCENARIOS REGULATORIOS</a:t>
            </a:r>
            <a:endParaRPr lang="es-CL" sz="1300" dirty="0"/>
          </a:p>
        </p:txBody>
      </p:sp>
      <p:sp>
        <p:nvSpPr>
          <p:cNvPr id="12" name="Shape 9"/>
          <p:cNvSpPr/>
          <p:nvPr/>
        </p:nvSpPr>
        <p:spPr>
          <a:xfrm>
            <a:off x="5989320" y="2761488"/>
            <a:ext cx="5653735" cy="0"/>
          </a:xfrm>
          <a:prstGeom prst="line">
            <a:avLst/>
          </a:prstGeom>
          <a:noFill/>
          <a:ln w="9525">
            <a:solidFill>
              <a:schemeClr val="accent1"/>
            </a:solidFill>
            <a:prstDash val="solid"/>
          </a:ln>
        </p:spPr>
      </p:sp>
      <p:sp>
        <p:nvSpPr>
          <p:cNvPr id="13" name="Shape 10"/>
          <p:cNvSpPr/>
          <p:nvPr/>
        </p:nvSpPr>
        <p:spPr>
          <a:xfrm>
            <a:off x="5989320" y="2898648"/>
            <a:ext cx="475488" cy="329184"/>
          </a:xfrm>
          <a:prstGeom prst="rect">
            <a:avLst/>
          </a:prstGeom>
          <a:solidFill>
            <a:schemeClr val="accent5"/>
          </a:solidFill>
          <a:ln/>
        </p:spPr>
      </p:sp>
      <p:sp>
        <p:nvSpPr>
          <p:cNvPr id="14" name="Text 11"/>
          <p:cNvSpPr txBox="1"/>
          <p:nvPr/>
        </p:nvSpPr>
        <p:spPr>
          <a:xfrm>
            <a:off x="5989320" y="2898648"/>
            <a:ext cx="475488"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E1</a:t>
            </a:r>
            <a:endParaRPr lang="es-CL" sz="1300" dirty="0"/>
          </a:p>
        </p:txBody>
      </p:sp>
      <p:sp>
        <p:nvSpPr>
          <p:cNvPr id="15" name="Text 12"/>
          <p:cNvSpPr txBox="1"/>
          <p:nvPr/>
        </p:nvSpPr>
        <p:spPr>
          <a:xfrm>
            <a:off x="6601968" y="2761488"/>
            <a:ext cx="205740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Vía legal amplia</a:t>
            </a:r>
            <a:endParaRPr lang="es-CL" sz="1800" dirty="0"/>
          </a:p>
        </p:txBody>
      </p:sp>
      <p:sp>
        <p:nvSpPr>
          <p:cNvPr id="16" name="Text 13"/>
          <p:cNvSpPr txBox="1"/>
          <p:nvPr/>
        </p:nvSpPr>
        <p:spPr>
          <a:xfrm>
            <a:off x="8686800" y="2761488"/>
            <a:ext cx="2956255" cy="60350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protege al primero que homologa</a:t>
            </a:r>
            <a:endParaRPr lang="es-CL" sz="1600" dirty="0"/>
          </a:p>
        </p:txBody>
      </p:sp>
      <p:sp>
        <p:nvSpPr>
          <p:cNvPr id="17" name="Shape 14"/>
          <p:cNvSpPr/>
          <p:nvPr/>
        </p:nvSpPr>
        <p:spPr>
          <a:xfrm>
            <a:off x="5989320" y="3364992"/>
            <a:ext cx="5653735" cy="0"/>
          </a:xfrm>
          <a:prstGeom prst="line">
            <a:avLst/>
          </a:prstGeom>
          <a:noFill/>
          <a:ln w="9525">
            <a:solidFill>
              <a:schemeClr val="accent5"/>
            </a:solidFill>
            <a:prstDash val="solid"/>
          </a:ln>
        </p:spPr>
      </p:sp>
      <p:sp>
        <p:nvSpPr>
          <p:cNvPr id="18" name="Shape 15"/>
          <p:cNvSpPr/>
          <p:nvPr/>
        </p:nvSpPr>
        <p:spPr>
          <a:xfrm>
            <a:off x="5989320" y="3502152"/>
            <a:ext cx="475488" cy="329184"/>
          </a:xfrm>
          <a:prstGeom prst="rect">
            <a:avLst/>
          </a:prstGeom>
          <a:solidFill>
            <a:schemeClr val="accent5"/>
          </a:solidFill>
          <a:ln/>
        </p:spPr>
      </p:sp>
      <p:sp>
        <p:nvSpPr>
          <p:cNvPr id="19" name="Text 16"/>
          <p:cNvSpPr txBox="1"/>
          <p:nvPr/>
        </p:nvSpPr>
        <p:spPr>
          <a:xfrm>
            <a:off x="5989320" y="3502152"/>
            <a:ext cx="475488"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E2</a:t>
            </a:r>
            <a:endParaRPr lang="es-CL" sz="1300" dirty="0"/>
          </a:p>
        </p:txBody>
      </p:sp>
      <p:sp>
        <p:nvSpPr>
          <p:cNvPr id="20" name="Text 17"/>
          <p:cNvSpPr txBox="1"/>
          <p:nvPr/>
        </p:nvSpPr>
        <p:spPr>
          <a:xfrm>
            <a:off x="6601968" y="3364992"/>
            <a:ext cx="205740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Vía acotada</a:t>
            </a:r>
            <a:endParaRPr lang="es-CL" sz="1800" dirty="0"/>
          </a:p>
        </p:txBody>
      </p:sp>
      <p:sp>
        <p:nvSpPr>
          <p:cNvPr id="21" name="Text 18"/>
          <p:cNvSpPr txBox="1"/>
          <p:nvPr/>
        </p:nvSpPr>
        <p:spPr>
          <a:xfrm>
            <a:off x="8686800" y="3364992"/>
            <a:ext cx="2956255" cy="60350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solo parque sin ABS, airbag ni estabilidad</a:t>
            </a:r>
            <a:endParaRPr lang="es-CL" sz="1600" dirty="0"/>
          </a:p>
        </p:txBody>
      </p:sp>
      <p:sp>
        <p:nvSpPr>
          <p:cNvPr id="22" name="Shape 19"/>
          <p:cNvSpPr/>
          <p:nvPr/>
        </p:nvSpPr>
        <p:spPr>
          <a:xfrm>
            <a:off x="5989320" y="3968496"/>
            <a:ext cx="5653735" cy="0"/>
          </a:xfrm>
          <a:prstGeom prst="line">
            <a:avLst/>
          </a:prstGeom>
          <a:noFill/>
          <a:ln w="9525">
            <a:solidFill>
              <a:schemeClr val="accent5"/>
            </a:solidFill>
            <a:prstDash val="solid"/>
          </a:ln>
        </p:spPr>
      </p:sp>
      <p:sp>
        <p:nvSpPr>
          <p:cNvPr id="23" name="Shape 20"/>
          <p:cNvSpPr/>
          <p:nvPr/>
        </p:nvSpPr>
        <p:spPr>
          <a:xfrm>
            <a:off x="5989320" y="4105656"/>
            <a:ext cx="475488" cy="329184"/>
          </a:xfrm>
          <a:prstGeom prst="rect">
            <a:avLst/>
          </a:prstGeom>
          <a:solidFill>
            <a:schemeClr val="accent1"/>
          </a:solidFill>
          <a:ln/>
        </p:spPr>
      </p:sp>
      <p:sp>
        <p:nvSpPr>
          <p:cNvPr id="24" name="Text 21"/>
          <p:cNvSpPr txBox="1"/>
          <p:nvPr/>
        </p:nvSpPr>
        <p:spPr>
          <a:xfrm>
            <a:off x="5989320" y="4105656"/>
            <a:ext cx="475488"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E3</a:t>
            </a:r>
            <a:endParaRPr lang="es-CL" sz="1300" dirty="0"/>
          </a:p>
        </p:txBody>
      </p:sp>
      <p:sp>
        <p:nvSpPr>
          <p:cNvPr id="25" name="Text 22"/>
          <p:cNvSpPr txBox="1"/>
          <p:nvPr/>
        </p:nvSpPr>
        <p:spPr>
          <a:xfrm>
            <a:off x="6601968" y="3968496"/>
            <a:ext cx="205740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Vía alternativa</a:t>
            </a:r>
            <a:endParaRPr lang="es-CL" sz="1800" dirty="0"/>
          </a:p>
        </p:txBody>
      </p:sp>
      <p:sp>
        <p:nvSpPr>
          <p:cNvPr id="26" name="Text 23"/>
          <p:cNvSpPr txBox="1"/>
          <p:nvPr/>
        </p:nvSpPr>
        <p:spPr>
          <a:xfrm>
            <a:off x="8686800" y="3968496"/>
            <a:ext cx="2956255" cy="60350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alteración de características</a:t>
            </a:r>
            <a:endParaRPr lang="es-CL" sz="1600" dirty="0"/>
          </a:p>
        </p:txBody>
      </p:sp>
      <p:sp>
        <p:nvSpPr>
          <p:cNvPr id="27" name="Shape 24"/>
          <p:cNvSpPr/>
          <p:nvPr/>
        </p:nvSpPr>
        <p:spPr>
          <a:xfrm>
            <a:off x="5989320" y="4572000"/>
            <a:ext cx="5653735" cy="0"/>
          </a:xfrm>
          <a:prstGeom prst="line">
            <a:avLst/>
          </a:prstGeom>
          <a:noFill/>
          <a:ln w="9525">
            <a:solidFill>
              <a:schemeClr val="accent5"/>
            </a:solidFill>
            <a:prstDash val="solid"/>
          </a:ln>
        </p:spPr>
      </p:sp>
      <p:sp>
        <p:nvSpPr>
          <p:cNvPr id="28" name="Shape 25"/>
          <p:cNvSpPr/>
          <p:nvPr/>
        </p:nvSpPr>
        <p:spPr>
          <a:xfrm>
            <a:off x="5989320" y="4709160"/>
            <a:ext cx="475488" cy="329184"/>
          </a:xfrm>
          <a:prstGeom prst="rect">
            <a:avLst/>
          </a:prstGeom>
          <a:solidFill>
            <a:schemeClr val="accent1"/>
          </a:solidFill>
          <a:ln/>
        </p:spPr>
      </p:sp>
      <p:sp>
        <p:nvSpPr>
          <p:cNvPr id="29" name="Text 26"/>
          <p:cNvSpPr txBox="1"/>
          <p:nvPr/>
        </p:nvSpPr>
        <p:spPr>
          <a:xfrm>
            <a:off x="5989320" y="4709160"/>
            <a:ext cx="475488"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E4</a:t>
            </a:r>
            <a:endParaRPr lang="es-CL" sz="1300" dirty="0"/>
          </a:p>
        </p:txBody>
      </p:sp>
      <p:sp>
        <p:nvSpPr>
          <p:cNvPr id="30" name="Text 27"/>
          <p:cNvSpPr txBox="1"/>
          <p:nvPr/>
        </p:nvSpPr>
        <p:spPr>
          <a:xfrm>
            <a:off x="6601968" y="4572000"/>
            <a:ext cx="205740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Sin vía legal</a:t>
            </a:r>
            <a:endParaRPr lang="es-CL" sz="1800" dirty="0"/>
          </a:p>
        </p:txBody>
      </p:sp>
      <p:sp>
        <p:nvSpPr>
          <p:cNvPr id="31" name="Text 28"/>
          <p:cNvSpPr txBox="1"/>
          <p:nvPr/>
        </p:nvSpPr>
        <p:spPr>
          <a:xfrm>
            <a:off x="8686800" y="4572000"/>
            <a:ext cx="2956255" cy="60350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el negocio no opera</a:t>
            </a:r>
            <a:endParaRPr lang="es-CL" sz="1600" dirty="0"/>
          </a:p>
        </p:txBody>
      </p:sp>
      <p:sp>
        <p:nvSpPr>
          <p:cNvPr id="32" name="Shape 29"/>
          <p:cNvSpPr/>
          <p:nvPr/>
        </p:nvSpPr>
        <p:spPr>
          <a:xfrm>
            <a:off x="5779008" y="4041648"/>
            <a:ext cx="0" cy="1060704"/>
          </a:xfrm>
          <a:prstGeom prst="line">
            <a:avLst/>
          </a:prstGeom>
          <a:noFill/>
          <a:ln w="38100">
            <a:solidFill>
              <a:schemeClr val="accent1"/>
            </a:solidFill>
            <a:prstDash val="solid"/>
          </a:ln>
        </p:spPr>
      </p:sp>
      <p:sp>
        <p:nvSpPr>
          <p:cNvPr id="33" name="Text 30"/>
          <p:cNvSpPr txBox="1"/>
          <p:nvPr/>
        </p:nvSpPr>
        <p:spPr>
          <a:xfrm>
            <a:off x="5166360" y="3968496"/>
            <a:ext cx="548640" cy="1207008"/>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HOY</a:t>
            </a:r>
            <a:endParaRPr lang="es-CL" sz="1200" dirty="0"/>
          </a:p>
        </p:txBody>
      </p:sp>
      <p:sp>
        <p:nvSpPr>
          <p:cNvPr id="34" name="Shape 31"/>
          <p:cNvSpPr/>
          <p:nvPr/>
        </p:nvSpPr>
        <p:spPr>
          <a:xfrm>
            <a:off x="5669280" y="5404104"/>
            <a:ext cx="5973775" cy="0"/>
          </a:xfrm>
          <a:prstGeom prst="line">
            <a:avLst/>
          </a:prstGeom>
          <a:noFill/>
          <a:ln w="9525">
            <a:solidFill>
              <a:schemeClr val="accent5"/>
            </a:solidFill>
            <a:prstDash val="solid"/>
          </a:ln>
        </p:spPr>
      </p:sp>
      <p:sp>
        <p:nvSpPr>
          <p:cNvPr id="35" name="Text 32"/>
          <p:cNvSpPr txBox="1"/>
          <p:nvPr/>
        </p:nvSpPr>
        <p:spPr>
          <a:xfrm>
            <a:off x="5669280" y="5458968"/>
            <a:ext cx="3779215" cy="50292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Ley N° 21.793 publicada, sin reglamento</a:t>
            </a:r>
            <a:endParaRPr lang="es-CL" sz="1800" dirty="0"/>
          </a:p>
        </p:txBody>
      </p:sp>
      <p:sp>
        <p:nvSpPr>
          <p:cNvPr id="36" name="Shape 33"/>
          <p:cNvSpPr/>
          <p:nvPr/>
        </p:nvSpPr>
        <p:spPr>
          <a:xfrm>
            <a:off x="9874199" y="5532120"/>
            <a:ext cx="1768856" cy="329184"/>
          </a:xfrm>
          <a:prstGeom prst="rect">
            <a:avLst/>
          </a:prstGeom>
          <a:solidFill>
            <a:schemeClr val="bg1">
              <a:alpha val="0"/>
            </a:schemeClr>
          </a:solidFill>
          <a:ln w="12700">
            <a:solidFill>
              <a:schemeClr val="tx2"/>
            </a:solidFill>
            <a:prstDash val="solid"/>
          </a:ln>
        </p:spPr>
      </p:sp>
      <p:sp>
        <p:nvSpPr>
          <p:cNvPr id="37" name="Text 34"/>
          <p:cNvSpPr txBox="1"/>
          <p:nvPr/>
        </p:nvSpPr>
        <p:spPr>
          <a:xfrm>
            <a:off x="9983927" y="5532120"/>
            <a:ext cx="154940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RIESGO EXTERNO</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ANÁLISIS INTERNO · COMPETENCIAS Y FODA CRUZADO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FORTALEZA DE DISEÑO, NO DE EJECUCIÓN: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FODA dice qué demostrar.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(Control de Gestión, octubre de 2026), competencias (instrumento 05) y FODA cruzado; Lumine Habilita, versión de demostración (datos ficticios).</a:t>
            </a:r>
            <a:endParaRPr lang="es-CL" sz="1100" dirty="0"/>
          </a:p>
        </p:txBody>
      </p:sp>
      <p:pic>
        <p:nvPicPr>
          <p:cNvPr id="5" name="Image 0" descr="C:\Users\Usuario\Documents\GitHub\lumine\solemne-2\generador\assets\brillo.png">    </p:cNvPr>
          <p:cNvPicPr>
            <a:picLocks noChangeAspect="1"/>
          </p:cNvPicPr>
          <p:nvPr/>
        </p:nvPicPr>
        <p:blipFill>
          <a:blip r:embed="rId1"/>
          <a:stretch>
            <a:fillRect/>
          </a:stretch>
        </p:blipFill>
        <p:spPr>
          <a:xfrm>
            <a:off x="91440" y="2075688"/>
            <a:ext cx="5212080" cy="2788920"/>
          </a:xfrm>
          <a:prstGeom prst="rect">
            <a:avLst/>
          </a:prstGeom>
        </p:spPr>
      </p:pic>
      <p:sp>
        <p:nvSpPr>
          <p:cNvPr id="6" name="Shape 3"/>
          <p:cNvSpPr/>
          <p:nvPr/>
        </p:nvSpPr>
        <p:spPr>
          <a:xfrm>
            <a:off x="548640" y="2395728"/>
            <a:ext cx="4297680" cy="2148840"/>
          </a:xfrm>
          <a:prstGeom prst="rect">
            <a:avLst/>
          </a:prstGeom>
          <a:solidFill>
            <a:srgbClr val="0B1A22"/>
          </a:solidFill>
          <a:ln w="15875">
            <a:solidFill>
              <a:schemeClr val="accent1"/>
            </a:solidFill>
            <a:prstDash val="solid"/>
          </a:ln>
        </p:spPr>
      </p:sp>
      <p:sp>
        <p:nvSpPr>
          <p:cNvPr id="7" name="Shape 4"/>
          <p:cNvSpPr/>
          <p:nvPr/>
        </p:nvSpPr>
        <p:spPr>
          <a:xfrm>
            <a:off x="493776" y="2340864"/>
            <a:ext cx="155448" cy="0"/>
          </a:xfrm>
          <a:prstGeom prst="line">
            <a:avLst/>
          </a:prstGeom>
          <a:noFill/>
          <a:ln w="15875">
            <a:solidFill>
              <a:schemeClr val="accent1"/>
            </a:solidFill>
            <a:prstDash val="solid"/>
          </a:ln>
        </p:spPr>
      </p:sp>
      <p:sp>
        <p:nvSpPr>
          <p:cNvPr id="8" name="Shape 5"/>
          <p:cNvSpPr/>
          <p:nvPr/>
        </p:nvSpPr>
        <p:spPr>
          <a:xfrm>
            <a:off x="493776" y="2340864"/>
            <a:ext cx="0" cy="155448"/>
          </a:xfrm>
          <a:prstGeom prst="line">
            <a:avLst/>
          </a:prstGeom>
          <a:noFill/>
          <a:ln w="15875">
            <a:solidFill>
              <a:schemeClr val="accent1"/>
            </a:solidFill>
            <a:prstDash val="solid"/>
          </a:ln>
        </p:spPr>
      </p:sp>
      <p:sp>
        <p:nvSpPr>
          <p:cNvPr id="9" name="Shape 6"/>
          <p:cNvSpPr/>
          <p:nvPr/>
        </p:nvSpPr>
        <p:spPr>
          <a:xfrm>
            <a:off x="4745736" y="2340864"/>
            <a:ext cx="155448" cy="0"/>
          </a:xfrm>
          <a:prstGeom prst="line">
            <a:avLst/>
          </a:prstGeom>
          <a:noFill/>
          <a:ln w="15875">
            <a:solidFill>
              <a:schemeClr val="accent1"/>
            </a:solidFill>
            <a:prstDash val="solid"/>
          </a:ln>
        </p:spPr>
      </p:sp>
      <p:sp>
        <p:nvSpPr>
          <p:cNvPr id="10" name="Shape 7"/>
          <p:cNvSpPr/>
          <p:nvPr/>
        </p:nvSpPr>
        <p:spPr>
          <a:xfrm>
            <a:off x="4901184" y="2340864"/>
            <a:ext cx="0" cy="155448"/>
          </a:xfrm>
          <a:prstGeom prst="line">
            <a:avLst/>
          </a:prstGeom>
          <a:noFill/>
          <a:ln w="15875">
            <a:solidFill>
              <a:schemeClr val="accent1"/>
            </a:solidFill>
            <a:prstDash val="solid"/>
          </a:ln>
        </p:spPr>
      </p:sp>
      <p:sp>
        <p:nvSpPr>
          <p:cNvPr id="11" name="Shape 8"/>
          <p:cNvSpPr/>
          <p:nvPr/>
        </p:nvSpPr>
        <p:spPr>
          <a:xfrm>
            <a:off x="493776" y="4599432"/>
            <a:ext cx="155448" cy="0"/>
          </a:xfrm>
          <a:prstGeom prst="line">
            <a:avLst/>
          </a:prstGeom>
          <a:noFill/>
          <a:ln w="15875">
            <a:solidFill>
              <a:schemeClr val="accent1"/>
            </a:solidFill>
            <a:prstDash val="solid"/>
          </a:ln>
        </p:spPr>
      </p:sp>
      <p:sp>
        <p:nvSpPr>
          <p:cNvPr id="12" name="Shape 9"/>
          <p:cNvSpPr/>
          <p:nvPr/>
        </p:nvSpPr>
        <p:spPr>
          <a:xfrm>
            <a:off x="493776" y="4443984"/>
            <a:ext cx="0" cy="155448"/>
          </a:xfrm>
          <a:prstGeom prst="line">
            <a:avLst/>
          </a:prstGeom>
          <a:noFill/>
          <a:ln w="15875">
            <a:solidFill>
              <a:schemeClr val="accent1"/>
            </a:solidFill>
            <a:prstDash val="solid"/>
          </a:ln>
        </p:spPr>
      </p:sp>
      <p:sp>
        <p:nvSpPr>
          <p:cNvPr id="13" name="Shape 10"/>
          <p:cNvSpPr/>
          <p:nvPr/>
        </p:nvSpPr>
        <p:spPr>
          <a:xfrm>
            <a:off x="4745736" y="4599432"/>
            <a:ext cx="155448" cy="0"/>
          </a:xfrm>
          <a:prstGeom prst="line">
            <a:avLst/>
          </a:prstGeom>
          <a:noFill/>
          <a:ln w="15875">
            <a:solidFill>
              <a:schemeClr val="accent1"/>
            </a:solidFill>
            <a:prstDash val="solid"/>
          </a:ln>
        </p:spPr>
      </p:sp>
      <p:sp>
        <p:nvSpPr>
          <p:cNvPr id="14" name="Shape 11"/>
          <p:cNvSpPr/>
          <p:nvPr/>
        </p:nvSpPr>
        <p:spPr>
          <a:xfrm>
            <a:off x="4901184" y="4443984"/>
            <a:ext cx="0" cy="155448"/>
          </a:xfrm>
          <a:prstGeom prst="line">
            <a:avLst/>
          </a:prstGeom>
          <a:noFill/>
          <a:ln w="15875">
            <a:solidFill>
              <a:schemeClr val="accent1"/>
            </a:solidFill>
            <a:prstDash val="solid"/>
          </a:ln>
        </p:spPr>
      </p:sp>
      <p:sp>
        <p:nvSpPr>
          <p:cNvPr id="15" name="Text 12"/>
          <p:cNvSpPr txBox="1"/>
          <p:nvPr/>
        </p:nvSpPr>
        <p:spPr>
          <a:xfrm>
            <a:off x="804672" y="2578608"/>
            <a:ext cx="384048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ÚNICA FUENTE DE EXCLUSIVIDAD</a:t>
            </a:r>
            <a:endParaRPr lang="es-CL" sz="1300" dirty="0"/>
          </a:p>
        </p:txBody>
      </p:sp>
      <p:sp>
        <p:nvSpPr>
          <p:cNvPr id="16" name="Text 13"/>
          <p:cNvSpPr txBox="1"/>
          <p:nvPr/>
        </p:nvSpPr>
        <p:spPr>
          <a:xfrm>
            <a:off x="804672" y="2898648"/>
            <a:ext cx="3840480" cy="457200"/>
          </a:xfrm>
          <a:prstGeom prst="rect">
            <a:avLst/>
          </a:prstGeom>
          <a:noFill/>
          <a:ln/>
        </p:spPr>
        <p:txBody>
          <a:bodyPr wrap="square" lIns="0" tIns="0" rIns="0" bIns="0" rtlCol="0" anchor="ctr"/>
          <a:lstStyle/>
          <a:p>
            <a:pPr indent="0" marL="0">
              <a:buNone/>
            </a:pPr>
            <a:r>
              <a:rPr lang="es-CL" altLang="en-US" sz="2400" b="1" dirty="0">
                <a:solidFill>
                  <a:schemeClr val="tx1"/>
                </a:solidFill>
                <a:latin typeface="Figtree" pitchFamily="34" charset="0"/>
                <a:ea typeface="Figtree" pitchFamily="34" charset="-122"/>
                <a:cs typeface="Figtree" pitchFamily="34" charset="-120"/>
              </a:rPr>
              <a:t>Biblioteca de calibraciones</a:t>
            </a:r>
            <a:endParaRPr lang="es-CL" sz="2400" dirty="0"/>
          </a:p>
        </p:txBody>
      </p:sp>
      <p:sp>
        <p:nvSpPr>
          <p:cNvPr id="17" name="Text 14"/>
          <p:cNvSpPr txBox="1"/>
          <p:nvPr/>
        </p:nvSpPr>
        <p:spPr>
          <a:xfrm>
            <a:off x="804672" y="3401568"/>
            <a:ext cx="38404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Hoy vacía; sostenible solo si se protege como secreto empresarial.</a:t>
            </a:r>
            <a:endParaRPr lang="es-CL" sz="1600" dirty="0"/>
          </a:p>
        </p:txBody>
      </p:sp>
      <p:sp>
        <p:nvSpPr>
          <p:cNvPr id="18" name="Shape 15"/>
          <p:cNvSpPr/>
          <p:nvPr/>
        </p:nvSpPr>
        <p:spPr>
          <a:xfrm>
            <a:off x="804672" y="4069080"/>
            <a:ext cx="2601976" cy="310896"/>
          </a:xfrm>
          <a:prstGeom prst="rect">
            <a:avLst/>
          </a:prstGeom>
          <a:solidFill>
            <a:schemeClr val="bg1">
              <a:alpha val="0"/>
            </a:schemeClr>
          </a:solidFill>
          <a:ln w="12700">
            <a:solidFill>
              <a:schemeClr val="tx2"/>
            </a:solidFill>
            <a:prstDash val="dash"/>
          </a:ln>
        </p:spPr>
      </p:sp>
      <p:sp>
        <p:nvSpPr>
          <p:cNvPr id="19" name="Text 16"/>
          <p:cNvSpPr txBox="1"/>
          <p:nvPr/>
        </p:nvSpPr>
        <p:spPr>
          <a:xfrm>
            <a:off x="914400" y="4069080"/>
            <a:ext cx="2382520" cy="310896"/>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POTENCIAL, NO EFECTIVA</a:t>
            </a:r>
            <a:endParaRPr lang="es-CL" sz="1200" dirty="0"/>
          </a:p>
        </p:txBody>
      </p:sp>
      <p:pic>
        <p:nvPicPr>
          <p:cNvPr id="20" name="Image 1" descr="Código QR a la demostración de Lumine Habilita">    </p:cNvPr>
          <p:cNvPicPr>
            <a:picLocks noChangeAspect="1"/>
          </p:cNvPicPr>
          <p:nvPr/>
        </p:nvPicPr>
        <p:blipFill>
          <a:blip r:embed="rId2"/>
          <a:stretch>
            <a:fillRect/>
          </a:stretch>
        </p:blipFill>
        <p:spPr>
          <a:xfrm>
            <a:off x="548640" y="4773168"/>
            <a:ext cx="1444752" cy="1444752"/>
          </a:xfrm>
          <a:prstGeom prst="rect">
            <a:avLst/>
          </a:prstGeom>
        </p:spPr>
      </p:pic>
      <p:sp>
        <p:nvSpPr>
          <p:cNvPr id="21" name="Text 17"/>
          <p:cNvSpPr txBox="1"/>
          <p:nvPr/>
        </p:nvSpPr>
        <p:spPr>
          <a:xfrm>
            <a:off x="2176272" y="4773168"/>
            <a:ext cx="2670048" cy="1078992"/>
          </a:xfrm>
          <a:prstGeom prst="rect">
            <a:avLst/>
          </a:prstGeom>
          <a:noFill/>
          <a:ln/>
        </p:spPr>
        <p:txBody>
          <a:bodyPr wrap="square" lIns="0" tIns="0" rIns="0" bIns="0" rtlCol="0" anchor="t"/>
          <a:lstStyle/>
          <a:p>
            <a:pPr indent="0" marL="0">
              <a:buNone/>
            </a:pPr>
            <a:r>
              <a:rPr lang="es-CL" altLang="en-US" sz="1600" b="1" dirty="0">
                <a:solidFill>
                  <a:schemeClr val="tx1"/>
                </a:solidFill>
                <a:latin typeface="Figtree" pitchFamily="34" charset="0"/>
                <a:ea typeface="Figtree" pitchFamily="34" charset="-122"/>
                <a:cs typeface="Figtree" pitchFamily="34" charset="-120"/>
              </a:rPr>
              <a:t>Lumine Habilita</a:t>
            </a:r>
            <a:endParaRPr lang="es-CL" sz="1600" dirty="0"/>
          </a:p>
          <a:p>
            <a:pPr indent="0" marL="0">
              <a:buNone/>
            </a:pPr>
            <a:r>
              <a:rPr lang="es-CL" altLang="en-US" sz="1600" dirty="0">
                <a:solidFill>
                  <a:schemeClr val="tx2"/>
                </a:solidFill>
                <a:latin typeface="Figtree" pitchFamily="34" charset="0"/>
                <a:ea typeface="Figtree" pitchFamily="34" charset="-122"/>
                <a:cs typeface="Figtree" pitchFamily="34" charset="-120"/>
              </a:rPr>
              <a:t>formación de técnicos por competencias</a:t>
            </a:r>
            <a:endParaRPr lang="es-CL" sz="1600" dirty="0"/>
          </a:p>
        </p:txBody>
      </p:sp>
      <p:sp>
        <p:nvSpPr>
          <p:cNvPr id="22" name="Shape 18"/>
          <p:cNvSpPr/>
          <p:nvPr/>
        </p:nvSpPr>
        <p:spPr>
          <a:xfrm>
            <a:off x="2176272" y="5888736"/>
            <a:ext cx="2434336" cy="292608"/>
          </a:xfrm>
          <a:prstGeom prst="rect">
            <a:avLst/>
          </a:prstGeom>
          <a:solidFill>
            <a:schemeClr val="bg1">
              <a:alpha val="0"/>
            </a:schemeClr>
          </a:solidFill>
          <a:ln w="12700">
            <a:solidFill>
              <a:schemeClr val="tx2"/>
            </a:solidFill>
            <a:prstDash val="sysDot"/>
          </a:ln>
        </p:spPr>
      </p:sp>
      <p:sp>
        <p:nvSpPr>
          <p:cNvPr id="23" name="Text 19"/>
          <p:cNvSpPr txBox="1"/>
          <p:nvPr/>
        </p:nvSpPr>
        <p:spPr>
          <a:xfrm>
            <a:off x="2286000" y="5888736"/>
            <a:ext cx="221488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DEMO · DATOS FICTICIOS</a:t>
            </a:r>
            <a:endParaRPr lang="es-CL" sz="1100" dirty="0"/>
          </a:p>
        </p:txBody>
      </p:sp>
      <p:sp>
        <p:nvSpPr>
          <p:cNvPr id="24" name="Text 20"/>
          <p:cNvSpPr txBox="1"/>
          <p:nvPr/>
        </p:nvSpPr>
        <p:spPr>
          <a:xfrm>
            <a:off x="5349240" y="2395728"/>
            <a:ext cx="6293815"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FODA CRUZADO: QUÉ DEMOSTRAR</a:t>
            </a:r>
            <a:endParaRPr lang="es-CL" sz="1300" dirty="0"/>
          </a:p>
        </p:txBody>
      </p:sp>
      <p:sp>
        <p:nvSpPr>
          <p:cNvPr id="25" name="Shape 21"/>
          <p:cNvSpPr/>
          <p:nvPr/>
        </p:nvSpPr>
        <p:spPr>
          <a:xfrm>
            <a:off x="5349240" y="2761488"/>
            <a:ext cx="6293815" cy="0"/>
          </a:xfrm>
          <a:prstGeom prst="line">
            <a:avLst/>
          </a:prstGeom>
          <a:noFill/>
          <a:ln w="9525">
            <a:solidFill>
              <a:schemeClr val="accent1"/>
            </a:solidFill>
            <a:prstDash val="solid"/>
          </a:ln>
        </p:spPr>
      </p:sp>
      <p:sp>
        <p:nvSpPr>
          <p:cNvPr id="26" name="Shape 22"/>
          <p:cNvSpPr/>
          <p:nvPr/>
        </p:nvSpPr>
        <p:spPr>
          <a:xfrm>
            <a:off x="5349240" y="3031236"/>
            <a:ext cx="502920" cy="329184"/>
          </a:xfrm>
          <a:prstGeom prst="rect">
            <a:avLst/>
          </a:prstGeom>
          <a:solidFill>
            <a:schemeClr val="accent5"/>
          </a:solidFill>
          <a:ln/>
        </p:spPr>
      </p:sp>
      <p:sp>
        <p:nvSpPr>
          <p:cNvPr id="27" name="Text 23"/>
          <p:cNvSpPr txBox="1"/>
          <p:nvPr/>
        </p:nvSpPr>
        <p:spPr>
          <a:xfrm>
            <a:off x="5349240" y="3031236"/>
            <a:ext cx="50292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FO</a:t>
            </a:r>
            <a:endParaRPr lang="es-CL" sz="1300" dirty="0"/>
          </a:p>
        </p:txBody>
      </p:sp>
      <p:sp>
        <p:nvSpPr>
          <p:cNvPr id="28" name="Text 24"/>
          <p:cNvSpPr txBox="1"/>
          <p:nvPr/>
        </p:nvSpPr>
        <p:spPr>
          <a:xfrm>
            <a:off x="6035040" y="2761488"/>
            <a:ext cx="4465015" cy="86868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Homologar primero los modelos más densos del segmento</a:t>
            </a:r>
            <a:endParaRPr lang="es-CL" sz="1800" dirty="0"/>
          </a:p>
        </p:txBody>
      </p:sp>
      <p:sp>
        <p:nvSpPr>
          <p:cNvPr id="29" name="Shape 25"/>
          <p:cNvSpPr/>
          <p:nvPr/>
        </p:nvSpPr>
        <p:spPr>
          <a:xfrm>
            <a:off x="10957255" y="3031236"/>
            <a:ext cx="685800" cy="329184"/>
          </a:xfrm>
          <a:prstGeom prst="rect">
            <a:avLst/>
          </a:prstGeom>
          <a:solidFill>
            <a:schemeClr val="accent5"/>
          </a:solidFill>
          <a:ln/>
        </p:spPr>
      </p:sp>
      <p:sp>
        <p:nvSpPr>
          <p:cNvPr id="30" name="Shape 26"/>
          <p:cNvSpPr/>
          <p:nvPr/>
        </p:nvSpPr>
        <p:spPr>
          <a:xfrm>
            <a:off x="10957255" y="3031236"/>
            <a:ext cx="685800" cy="45720"/>
          </a:xfrm>
          <a:prstGeom prst="rect">
            <a:avLst/>
          </a:prstGeom>
          <a:solidFill>
            <a:srgbClr val="ECECEC"/>
          </a:solidFill>
          <a:ln/>
        </p:spPr>
      </p:sp>
      <p:sp>
        <p:nvSpPr>
          <p:cNvPr id="31" name="Text 27"/>
          <p:cNvSpPr txBox="1"/>
          <p:nvPr/>
        </p:nvSpPr>
        <p:spPr>
          <a:xfrm>
            <a:off x="10957255" y="3031236"/>
            <a:ext cx="685800"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P2</a:t>
            </a:r>
            <a:endParaRPr lang="es-CL" sz="1400" dirty="0"/>
          </a:p>
        </p:txBody>
      </p:sp>
      <p:sp>
        <p:nvSpPr>
          <p:cNvPr id="32" name="Shape 28"/>
          <p:cNvSpPr/>
          <p:nvPr/>
        </p:nvSpPr>
        <p:spPr>
          <a:xfrm>
            <a:off x="5349240" y="3630168"/>
            <a:ext cx="6293815" cy="0"/>
          </a:xfrm>
          <a:prstGeom prst="line">
            <a:avLst/>
          </a:prstGeom>
          <a:noFill/>
          <a:ln w="9525">
            <a:solidFill>
              <a:schemeClr val="accent5"/>
            </a:solidFill>
            <a:prstDash val="solid"/>
          </a:ln>
        </p:spPr>
      </p:sp>
      <p:sp>
        <p:nvSpPr>
          <p:cNvPr id="33" name="Shape 29"/>
          <p:cNvSpPr/>
          <p:nvPr/>
        </p:nvSpPr>
        <p:spPr>
          <a:xfrm>
            <a:off x="5349240" y="3899916"/>
            <a:ext cx="502920" cy="329184"/>
          </a:xfrm>
          <a:prstGeom prst="rect">
            <a:avLst/>
          </a:prstGeom>
          <a:solidFill>
            <a:schemeClr val="accent5"/>
          </a:solidFill>
          <a:ln/>
        </p:spPr>
      </p:sp>
      <p:sp>
        <p:nvSpPr>
          <p:cNvPr id="34" name="Text 30"/>
          <p:cNvSpPr txBox="1"/>
          <p:nvPr/>
        </p:nvSpPr>
        <p:spPr>
          <a:xfrm>
            <a:off x="5349240" y="3899916"/>
            <a:ext cx="50292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DO</a:t>
            </a:r>
            <a:endParaRPr lang="es-CL" sz="1300" dirty="0"/>
          </a:p>
        </p:txBody>
      </p:sp>
      <p:sp>
        <p:nvSpPr>
          <p:cNvPr id="35" name="Text 31"/>
          <p:cNvSpPr txBox="1"/>
          <p:nvPr/>
        </p:nvSpPr>
        <p:spPr>
          <a:xfrm>
            <a:off x="6035040" y="3630168"/>
            <a:ext cx="4465015" cy="86868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Plantear al MTT el precedente del gas licuado</a:t>
            </a:r>
            <a:endParaRPr lang="es-CL" sz="1800" dirty="0"/>
          </a:p>
        </p:txBody>
      </p:sp>
      <p:sp>
        <p:nvSpPr>
          <p:cNvPr id="36" name="Shape 32"/>
          <p:cNvSpPr/>
          <p:nvPr/>
        </p:nvSpPr>
        <p:spPr>
          <a:xfrm>
            <a:off x="10957255" y="3899916"/>
            <a:ext cx="685800" cy="329184"/>
          </a:xfrm>
          <a:prstGeom prst="rect">
            <a:avLst/>
          </a:prstGeom>
          <a:solidFill>
            <a:schemeClr val="accent5"/>
          </a:solidFill>
          <a:ln/>
        </p:spPr>
      </p:sp>
      <p:sp>
        <p:nvSpPr>
          <p:cNvPr id="37" name="Shape 33"/>
          <p:cNvSpPr/>
          <p:nvPr/>
        </p:nvSpPr>
        <p:spPr>
          <a:xfrm>
            <a:off x="10957255" y="3899916"/>
            <a:ext cx="685800" cy="45720"/>
          </a:xfrm>
          <a:prstGeom prst="rect">
            <a:avLst/>
          </a:prstGeom>
          <a:solidFill>
            <a:srgbClr val="ECECEC"/>
          </a:solidFill>
          <a:ln/>
        </p:spPr>
      </p:sp>
      <p:sp>
        <p:nvSpPr>
          <p:cNvPr id="38" name="Text 34"/>
          <p:cNvSpPr txBox="1"/>
          <p:nvPr/>
        </p:nvSpPr>
        <p:spPr>
          <a:xfrm>
            <a:off x="10957255" y="3899916"/>
            <a:ext cx="685800"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P1</a:t>
            </a:r>
            <a:endParaRPr lang="es-CL" sz="1400" dirty="0"/>
          </a:p>
        </p:txBody>
      </p:sp>
      <p:sp>
        <p:nvSpPr>
          <p:cNvPr id="39" name="Shape 35"/>
          <p:cNvSpPr/>
          <p:nvPr/>
        </p:nvSpPr>
        <p:spPr>
          <a:xfrm>
            <a:off x="5349240" y="4498848"/>
            <a:ext cx="6293815" cy="0"/>
          </a:xfrm>
          <a:prstGeom prst="line">
            <a:avLst/>
          </a:prstGeom>
          <a:noFill/>
          <a:ln w="9525">
            <a:solidFill>
              <a:schemeClr val="accent5"/>
            </a:solidFill>
            <a:prstDash val="solid"/>
          </a:ln>
        </p:spPr>
      </p:sp>
      <p:sp>
        <p:nvSpPr>
          <p:cNvPr id="40" name="Shape 36"/>
          <p:cNvSpPr/>
          <p:nvPr/>
        </p:nvSpPr>
        <p:spPr>
          <a:xfrm>
            <a:off x="5349240" y="4768596"/>
            <a:ext cx="502920" cy="329184"/>
          </a:xfrm>
          <a:prstGeom prst="rect">
            <a:avLst/>
          </a:prstGeom>
          <a:solidFill>
            <a:schemeClr val="accent5"/>
          </a:solidFill>
          <a:ln/>
        </p:spPr>
      </p:sp>
      <p:sp>
        <p:nvSpPr>
          <p:cNvPr id="41" name="Text 37"/>
          <p:cNvSpPr txBox="1"/>
          <p:nvPr/>
        </p:nvSpPr>
        <p:spPr>
          <a:xfrm>
            <a:off x="5349240" y="4768596"/>
            <a:ext cx="50292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DA</a:t>
            </a:r>
            <a:endParaRPr lang="es-CL" sz="1300" dirty="0"/>
          </a:p>
        </p:txBody>
      </p:sp>
      <p:sp>
        <p:nvSpPr>
          <p:cNvPr id="42" name="Text 38"/>
          <p:cNvSpPr txBox="1"/>
          <p:nvPr/>
        </p:nvSpPr>
        <p:spPr>
          <a:xfrm>
            <a:off x="6035040" y="4498848"/>
            <a:ext cx="4465015" cy="86868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Convenios con aseguradora, planta de revisión y financiera antes del primer kit</a:t>
            </a:r>
            <a:endParaRPr lang="es-CL" sz="1800" dirty="0"/>
          </a:p>
        </p:txBody>
      </p:sp>
      <p:sp>
        <p:nvSpPr>
          <p:cNvPr id="43" name="Shape 39"/>
          <p:cNvSpPr/>
          <p:nvPr/>
        </p:nvSpPr>
        <p:spPr>
          <a:xfrm>
            <a:off x="10957255" y="4768596"/>
            <a:ext cx="685800" cy="329184"/>
          </a:xfrm>
          <a:prstGeom prst="rect">
            <a:avLst/>
          </a:prstGeom>
          <a:solidFill>
            <a:schemeClr val="accent5"/>
          </a:solidFill>
          <a:ln/>
        </p:spPr>
      </p:sp>
      <p:sp>
        <p:nvSpPr>
          <p:cNvPr id="44" name="Shape 40"/>
          <p:cNvSpPr/>
          <p:nvPr/>
        </p:nvSpPr>
        <p:spPr>
          <a:xfrm>
            <a:off x="10957255" y="4768596"/>
            <a:ext cx="342900" cy="45720"/>
          </a:xfrm>
          <a:prstGeom prst="rect">
            <a:avLst/>
          </a:prstGeom>
          <a:solidFill>
            <a:srgbClr val="ECECEC"/>
          </a:solidFill>
          <a:ln/>
        </p:spPr>
      </p:sp>
      <p:sp>
        <p:nvSpPr>
          <p:cNvPr id="45" name="Shape 41"/>
          <p:cNvSpPr/>
          <p:nvPr/>
        </p:nvSpPr>
        <p:spPr>
          <a:xfrm>
            <a:off x="11300155" y="4768596"/>
            <a:ext cx="342900" cy="45720"/>
          </a:xfrm>
          <a:prstGeom prst="rect">
            <a:avLst/>
          </a:prstGeom>
          <a:solidFill>
            <a:srgbClr val="22B8F0"/>
          </a:solidFill>
          <a:ln/>
        </p:spPr>
      </p:sp>
      <p:sp>
        <p:nvSpPr>
          <p:cNvPr id="46" name="Text 42"/>
          <p:cNvSpPr txBox="1"/>
          <p:nvPr/>
        </p:nvSpPr>
        <p:spPr>
          <a:xfrm>
            <a:off x="10957255" y="4768596"/>
            <a:ext cx="685800"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P6</a:t>
            </a:r>
            <a:endParaRPr lang="es-CL" sz="1400" dirty="0"/>
          </a:p>
        </p:txBody>
      </p:sp>
      <p:sp>
        <p:nvSpPr>
          <p:cNvPr id="47" name="Shape 43"/>
          <p:cNvSpPr/>
          <p:nvPr/>
        </p:nvSpPr>
        <p:spPr>
          <a:xfrm>
            <a:off x="5349240" y="5367528"/>
            <a:ext cx="6293815" cy="0"/>
          </a:xfrm>
          <a:prstGeom prst="line">
            <a:avLst/>
          </a:prstGeom>
          <a:noFill/>
          <a:ln w="9525">
            <a:solidFill>
              <a:schemeClr val="accent5"/>
            </a:solidFill>
            <a:prstDash val="solid"/>
          </a:ln>
        </p:spPr>
      </p:sp>
      <p:sp>
        <p:nvSpPr>
          <p:cNvPr id="48" name="Shape 44"/>
          <p:cNvSpPr/>
          <p:nvPr/>
        </p:nvSpPr>
        <p:spPr>
          <a:xfrm>
            <a:off x="5349240" y="5637276"/>
            <a:ext cx="502920" cy="329184"/>
          </a:xfrm>
          <a:prstGeom prst="rect">
            <a:avLst/>
          </a:prstGeom>
          <a:solidFill>
            <a:schemeClr val="accent5"/>
          </a:solidFill>
          <a:ln/>
        </p:spPr>
      </p:sp>
      <p:sp>
        <p:nvSpPr>
          <p:cNvPr id="49" name="Text 45"/>
          <p:cNvSpPr txBox="1"/>
          <p:nvPr/>
        </p:nvSpPr>
        <p:spPr>
          <a:xfrm>
            <a:off x="5349240" y="5637276"/>
            <a:ext cx="50292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DA</a:t>
            </a:r>
            <a:endParaRPr lang="es-CL" sz="1300" dirty="0"/>
          </a:p>
        </p:txBody>
      </p:sp>
      <p:sp>
        <p:nvSpPr>
          <p:cNvPr id="50" name="Text 46"/>
          <p:cNvSpPr txBox="1"/>
          <p:nvPr/>
        </p:nvSpPr>
        <p:spPr>
          <a:xfrm>
            <a:off x="6035040" y="5367528"/>
            <a:ext cx="4465015" cy="86868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Cubrir la exposición al dólar de un kit importado</a:t>
            </a:r>
            <a:endParaRPr lang="es-CL" sz="1800" dirty="0"/>
          </a:p>
        </p:txBody>
      </p:sp>
      <p:sp>
        <p:nvSpPr>
          <p:cNvPr id="51" name="Shape 47"/>
          <p:cNvSpPr/>
          <p:nvPr/>
        </p:nvSpPr>
        <p:spPr>
          <a:xfrm>
            <a:off x="10957255" y="5637276"/>
            <a:ext cx="685800" cy="329184"/>
          </a:xfrm>
          <a:prstGeom prst="rect">
            <a:avLst/>
          </a:prstGeom>
          <a:solidFill>
            <a:schemeClr val="accent5"/>
          </a:solidFill>
          <a:ln/>
        </p:spPr>
      </p:sp>
      <p:sp>
        <p:nvSpPr>
          <p:cNvPr id="52" name="Text 48"/>
          <p:cNvSpPr txBox="1"/>
          <p:nvPr/>
        </p:nvSpPr>
        <p:spPr>
          <a:xfrm>
            <a:off x="10957255" y="5637276"/>
            <a:ext cx="685800"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F2</a:t>
            </a:r>
            <a:endParaRPr lang="es-CL" sz="1400" dirty="0"/>
          </a:p>
        </p:txBody>
      </p:sp>
      <p:sp>
        <p:nvSpPr>
          <p:cNvPr id="53" name="Text 49"/>
          <p:cNvSpPr txBox="1"/>
          <p:nvPr/>
        </p:nvSpPr>
        <p:spPr>
          <a:xfrm>
            <a:off x="9814255" y="5943600"/>
            <a:ext cx="109728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INICIATIVA</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FORMULACIÓN · ESTRATEGIA, RENUNCIAS Y EJES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DIFERENCIACIÓN ENFOCADA: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competir con evidencia, no con precio.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declaración de la estrategia y ejes estratégicos.</a:t>
            </a:r>
            <a:endParaRPr lang="es-CL" sz="1100" dirty="0"/>
          </a:p>
        </p:txBody>
      </p:sp>
      <p:sp>
        <p:nvSpPr>
          <p:cNvPr id="5" name="Shape 3"/>
          <p:cNvSpPr/>
          <p:nvPr/>
        </p:nvSpPr>
        <p:spPr>
          <a:xfrm>
            <a:off x="548640" y="2441448"/>
            <a:ext cx="54864" cy="960120"/>
          </a:xfrm>
          <a:prstGeom prst="line">
            <a:avLst/>
          </a:prstGeom>
          <a:noFill/>
          <a:ln w="38100">
            <a:solidFill>
              <a:schemeClr val="accent1"/>
            </a:solidFill>
            <a:prstDash val="solid"/>
          </a:ln>
        </p:spPr>
      </p:sp>
      <p:sp>
        <p:nvSpPr>
          <p:cNvPr id="6" name="Text 4"/>
          <p:cNvSpPr txBox="1"/>
          <p:nvPr/>
        </p:nvSpPr>
        <p:spPr>
          <a:xfrm>
            <a:off x="822960" y="2395728"/>
            <a:ext cx="10820095" cy="1051560"/>
          </a:xfrm>
          <a:prstGeom prst="rect">
            <a:avLst/>
          </a:prstGeom>
          <a:noFill/>
          <a:ln/>
        </p:spPr>
        <p:txBody>
          <a:bodyPr wrap="square" lIns="0" tIns="0" rIns="0" bIns="0" rtlCol="0" anchor="ctr"/>
          <a:lstStyle/>
          <a:p>
            <a:pPr indent="0" marL="0">
              <a:lnSpc>
                <a:spcPct val="100000"/>
              </a:lnSpc>
              <a:buNone/>
            </a:pPr>
            <a:r>
              <a:rPr lang="es-CL" altLang="en-US" sz="2100" i="1" dirty="0">
                <a:solidFill>
                  <a:schemeClr val="tx1"/>
                </a:solidFill>
                <a:latin typeface="Instrument Serif" pitchFamily="34" charset="0"/>
                <a:ea typeface="Instrument Serif" pitchFamily="34" charset="-122"/>
                <a:cs typeface="Instrument Serif" pitchFamily="34" charset="-120"/>
              </a:rPr>
              <a:t>«Un servicio certificado que reduce el combustible del auto que el cliente ya tiene, para conductores de alto kilometraje, sostenido por un conocimiento de calibración que un competidor no puede comprar.»</a:t>
            </a:r>
            <a:endParaRPr lang="es-CL" sz="2100" dirty="0"/>
          </a:p>
        </p:txBody>
      </p:sp>
      <p:sp>
        <p:nvSpPr>
          <p:cNvPr id="7" name="Text 5"/>
          <p:cNvSpPr txBox="1"/>
          <p:nvPr/>
        </p:nvSpPr>
        <p:spPr>
          <a:xfrm>
            <a:off x="548640" y="3675888"/>
            <a:ext cx="1828800" cy="329184"/>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RENUNCIAS</a:t>
            </a:r>
            <a:endParaRPr lang="es-CL" sz="1300" dirty="0"/>
          </a:p>
        </p:txBody>
      </p:sp>
      <p:sp>
        <p:nvSpPr>
          <p:cNvPr id="8" name="Shape 6"/>
          <p:cNvSpPr/>
          <p:nvPr/>
        </p:nvSpPr>
        <p:spPr>
          <a:xfrm>
            <a:off x="2148840" y="3675888"/>
            <a:ext cx="2601976" cy="329184"/>
          </a:xfrm>
          <a:prstGeom prst="rect">
            <a:avLst/>
          </a:prstGeom>
          <a:solidFill>
            <a:schemeClr val="bg1">
              <a:alpha val="0"/>
            </a:schemeClr>
          </a:solidFill>
          <a:ln w="12700">
            <a:solidFill>
              <a:schemeClr val="tx1"/>
            </a:solidFill>
            <a:prstDash val="dash"/>
          </a:ln>
        </p:spPr>
      </p:sp>
      <p:sp>
        <p:nvSpPr>
          <p:cNvPr id="9" name="Text 7"/>
          <p:cNvSpPr txBox="1"/>
          <p:nvPr/>
        </p:nvSpPr>
        <p:spPr>
          <a:xfrm>
            <a:off x="2258568" y="3675888"/>
            <a:ext cx="2382520" cy="329184"/>
          </a:xfrm>
          <a:prstGeom prst="rect">
            <a:avLst/>
          </a:prstGeom>
          <a:noFill/>
          <a:ln/>
        </p:spPr>
        <p:txBody>
          <a:bodyPr wrap="square" lIns="0" tIns="0" rIns="0" bIns="0" rtlCol="0" anchor="ctr"/>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NO COMPETIR POR PRECIO</a:t>
            </a:r>
            <a:endParaRPr lang="es-CL" sz="1200" dirty="0"/>
          </a:p>
        </p:txBody>
      </p:sp>
      <p:sp>
        <p:nvSpPr>
          <p:cNvPr id="10" name="Shape 8"/>
          <p:cNvSpPr/>
          <p:nvPr/>
        </p:nvSpPr>
        <p:spPr>
          <a:xfrm>
            <a:off x="4933696" y="3675888"/>
            <a:ext cx="3122676" cy="329184"/>
          </a:xfrm>
          <a:prstGeom prst="rect">
            <a:avLst/>
          </a:prstGeom>
          <a:solidFill>
            <a:schemeClr val="bg1">
              <a:alpha val="0"/>
            </a:schemeClr>
          </a:solidFill>
          <a:ln w="12700">
            <a:solidFill>
              <a:schemeClr val="tx1"/>
            </a:solidFill>
            <a:prstDash val="dash"/>
          </a:ln>
        </p:spPr>
      </p:sp>
      <p:sp>
        <p:nvSpPr>
          <p:cNvPr id="11" name="Text 9"/>
          <p:cNvSpPr txBox="1"/>
          <p:nvPr/>
        </p:nvSpPr>
        <p:spPr>
          <a:xfrm>
            <a:off x="5043424" y="3675888"/>
            <a:ext cx="2903220" cy="329184"/>
          </a:xfrm>
          <a:prstGeom prst="rect">
            <a:avLst/>
          </a:prstGeom>
          <a:noFill/>
          <a:ln/>
        </p:spPr>
        <p:txBody>
          <a:bodyPr wrap="square" lIns="0" tIns="0" rIns="0" bIns="0" rtlCol="0" anchor="ctr"/>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NO ATENDER BAJO KILOMETRAJE</a:t>
            </a:r>
            <a:endParaRPr lang="es-CL" sz="1200" dirty="0"/>
          </a:p>
        </p:txBody>
      </p:sp>
      <p:sp>
        <p:nvSpPr>
          <p:cNvPr id="12" name="Shape 10"/>
          <p:cNvSpPr/>
          <p:nvPr/>
        </p:nvSpPr>
        <p:spPr>
          <a:xfrm>
            <a:off x="8239252" y="3675888"/>
            <a:ext cx="2497836" cy="329184"/>
          </a:xfrm>
          <a:prstGeom prst="rect">
            <a:avLst/>
          </a:prstGeom>
          <a:solidFill>
            <a:schemeClr val="bg1">
              <a:alpha val="0"/>
            </a:schemeClr>
          </a:solidFill>
          <a:ln w="12700">
            <a:solidFill>
              <a:schemeClr val="tx1"/>
            </a:solidFill>
            <a:prstDash val="dash"/>
          </a:ln>
        </p:spPr>
      </p:sp>
      <p:sp>
        <p:nvSpPr>
          <p:cNvPr id="13" name="Text 11"/>
          <p:cNvSpPr txBox="1"/>
          <p:nvPr/>
        </p:nvSpPr>
        <p:spPr>
          <a:xfrm>
            <a:off x="8348980" y="3675888"/>
            <a:ext cx="2278380" cy="329184"/>
          </a:xfrm>
          <a:prstGeom prst="rect">
            <a:avLst/>
          </a:prstGeom>
          <a:noFill/>
          <a:ln/>
        </p:spPr>
        <p:txBody>
          <a:bodyPr wrap="square" lIns="0" tIns="0" rIns="0" bIns="0" rtlCol="0" anchor="ctr"/>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NO OFRECER INMEDIATEZ</a:t>
            </a:r>
            <a:endParaRPr lang="es-CL" sz="1200" dirty="0"/>
          </a:p>
        </p:txBody>
      </p:sp>
      <p:sp>
        <p:nvSpPr>
          <p:cNvPr id="14" name="Shape 12"/>
          <p:cNvSpPr/>
          <p:nvPr/>
        </p:nvSpPr>
        <p:spPr>
          <a:xfrm>
            <a:off x="548640" y="4315968"/>
            <a:ext cx="3545738" cy="1920240"/>
          </a:xfrm>
          <a:prstGeom prst="rect">
            <a:avLst/>
          </a:prstGeom>
          <a:solidFill>
            <a:schemeClr val="bg2"/>
          </a:solidFill>
          <a:ln w="9525">
            <a:solidFill>
              <a:schemeClr val="accent5"/>
            </a:solidFill>
            <a:prstDash val="solid"/>
          </a:ln>
        </p:spPr>
      </p:sp>
      <p:sp>
        <p:nvSpPr>
          <p:cNvPr id="15" name="Shape 13"/>
          <p:cNvSpPr/>
          <p:nvPr/>
        </p:nvSpPr>
        <p:spPr>
          <a:xfrm>
            <a:off x="548640" y="4315968"/>
            <a:ext cx="3545738" cy="91440"/>
          </a:xfrm>
          <a:prstGeom prst="rect">
            <a:avLst/>
          </a:prstGeom>
          <a:solidFill>
            <a:srgbClr val="ECECEC"/>
          </a:solidFill>
          <a:ln/>
        </p:spPr>
      </p:sp>
      <p:sp>
        <p:nvSpPr>
          <p:cNvPr id="16" name="Text 14"/>
          <p:cNvSpPr txBox="1"/>
          <p:nvPr/>
        </p:nvSpPr>
        <p:spPr>
          <a:xfrm>
            <a:off x="777240" y="4544568"/>
            <a:ext cx="3088538"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EJE 1</a:t>
            </a:r>
            <a:endParaRPr lang="es-CL" sz="1300" dirty="0"/>
          </a:p>
        </p:txBody>
      </p:sp>
      <p:sp>
        <p:nvSpPr>
          <p:cNvPr id="17" name="Text 15"/>
          <p:cNvSpPr txBox="1"/>
          <p:nvPr/>
        </p:nvSpPr>
        <p:spPr>
          <a:xfrm>
            <a:off x="777240" y="4846320"/>
            <a:ext cx="3088538"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Habilitación formal</a:t>
            </a:r>
            <a:endParaRPr lang="es-CL" sz="2200" dirty="0"/>
          </a:p>
        </p:txBody>
      </p:sp>
      <p:sp>
        <p:nvSpPr>
          <p:cNvPr id="18" name="Text 16"/>
          <p:cNvSpPr txBox="1"/>
          <p:nvPr/>
        </p:nvSpPr>
        <p:spPr>
          <a:xfrm>
            <a:off x="777240" y="5367528"/>
            <a:ext cx="3088538" cy="731520"/>
          </a:xfrm>
          <a:prstGeom prst="rect">
            <a:avLst/>
          </a:prstGeom>
          <a:noFill/>
          <a:ln/>
        </p:spPr>
        <p:txBody>
          <a:bodyPr wrap="square" lIns="0" tIns="0" rIns="0" bIns="0" rtlCol="0" anchor="t"/>
          <a:lstStyle/>
          <a:p>
            <a:pPr indent="0" marL="0">
              <a:buNone/>
            </a:pPr>
            <a:r>
              <a:rPr lang="es-CL" altLang="en-US" sz="1700" dirty="0">
                <a:solidFill>
                  <a:schemeClr val="tx2"/>
                </a:solidFill>
                <a:latin typeface="Figtree" pitchFamily="34" charset="0"/>
                <a:ea typeface="Figtree" pitchFamily="34" charset="-122"/>
                <a:cs typeface="Figtree" pitchFamily="34" charset="-120"/>
              </a:rPr>
              <a:t>Ataca: </a:t>
            </a:r>
            <a:pPr indent="0" marL="0">
              <a:buNone/>
            </a:pPr>
            <a:r>
              <a:rPr lang="es-CL" altLang="en-US" sz="1700" dirty="0">
                <a:solidFill>
                  <a:schemeClr val="tx1"/>
                </a:solidFill>
                <a:latin typeface="Figtree" pitchFamily="34" charset="0"/>
                <a:ea typeface="Figtree" pitchFamily="34" charset="-122"/>
                <a:cs typeface="Figtree" pitchFamily="34" charset="-120"/>
              </a:rPr>
              <a:t>vía legal y terceros</a:t>
            </a:r>
            <a:endParaRPr lang="es-CL" sz="1700" dirty="0"/>
          </a:p>
        </p:txBody>
      </p:sp>
      <p:sp>
        <p:nvSpPr>
          <p:cNvPr id="19" name="Shape 17"/>
          <p:cNvSpPr/>
          <p:nvPr/>
        </p:nvSpPr>
        <p:spPr>
          <a:xfrm>
            <a:off x="4322978" y="4315968"/>
            <a:ext cx="3545738" cy="1920240"/>
          </a:xfrm>
          <a:prstGeom prst="rect">
            <a:avLst/>
          </a:prstGeom>
          <a:solidFill>
            <a:schemeClr val="bg2"/>
          </a:solidFill>
          <a:ln w="9525">
            <a:solidFill>
              <a:schemeClr val="accent5"/>
            </a:solidFill>
            <a:prstDash val="solid"/>
          </a:ln>
        </p:spPr>
      </p:sp>
      <p:sp>
        <p:nvSpPr>
          <p:cNvPr id="20" name="Shape 18"/>
          <p:cNvSpPr/>
          <p:nvPr/>
        </p:nvSpPr>
        <p:spPr>
          <a:xfrm>
            <a:off x="4322978" y="4315968"/>
            <a:ext cx="3545738" cy="91440"/>
          </a:xfrm>
          <a:prstGeom prst="rect">
            <a:avLst/>
          </a:prstGeom>
          <a:solidFill>
            <a:srgbClr val="22B8F0"/>
          </a:solidFill>
          <a:ln/>
        </p:spPr>
      </p:sp>
      <p:sp>
        <p:nvSpPr>
          <p:cNvPr id="21" name="Text 19"/>
          <p:cNvSpPr txBox="1"/>
          <p:nvPr/>
        </p:nvSpPr>
        <p:spPr>
          <a:xfrm>
            <a:off x="4551578" y="4544568"/>
            <a:ext cx="3088538"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EJE 2</a:t>
            </a:r>
            <a:endParaRPr lang="es-CL" sz="1300" dirty="0"/>
          </a:p>
        </p:txBody>
      </p:sp>
      <p:sp>
        <p:nvSpPr>
          <p:cNvPr id="22" name="Text 20"/>
          <p:cNvSpPr txBox="1"/>
          <p:nvPr/>
        </p:nvSpPr>
        <p:spPr>
          <a:xfrm>
            <a:off x="4551578" y="4846320"/>
            <a:ext cx="3088538"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Acceso comercial</a:t>
            </a:r>
            <a:endParaRPr lang="es-CL" sz="2200" dirty="0"/>
          </a:p>
        </p:txBody>
      </p:sp>
      <p:sp>
        <p:nvSpPr>
          <p:cNvPr id="23" name="Text 21"/>
          <p:cNvSpPr txBox="1"/>
          <p:nvPr/>
        </p:nvSpPr>
        <p:spPr>
          <a:xfrm>
            <a:off x="4551578" y="5367528"/>
            <a:ext cx="3088538" cy="731520"/>
          </a:xfrm>
          <a:prstGeom prst="rect">
            <a:avLst/>
          </a:prstGeom>
          <a:noFill/>
          <a:ln/>
        </p:spPr>
        <p:txBody>
          <a:bodyPr wrap="square" lIns="0" tIns="0" rIns="0" bIns="0" rtlCol="0" anchor="t"/>
          <a:lstStyle/>
          <a:p>
            <a:pPr indent="0" marL="0">
              <a:buNone/>
            </a:pPr>
            <a:r>
              <a:rPr lang="es-CL" altLang="en-US" sz="1700" dirty="0">
                <a:solidFill>
                  <a:schemeClr val="tx2"/>
                </a:solidFill>
                <a:latin typeface="Figtree" pitchFamily="34" charset="0"/>
                <a:ea typeface="Figtree" pitchFamily="34" charset="-122"/>
                <a:cs typeface="Figtree" pitchFamily="34" charset="-120"/>
              </a:rPr>
              <a:t>Ataca: </a:t>
            </a:r>
            <a:pPr indent="0" marL="0">
              <a:buNone/>
            </a:pPr>
            <a:r>
              <a:rPr lang="es-CL" altLang="en-US" sz="1700" dirty="0">
                <a:solidFill>
                  <a:schemeClr val="tx1"/>
                </a:solidFill>
                <a:latin typeface="Figtree" pitchFamily="34" charset="0"/>
                <a:ea typeface="Figtree" pitchFamily="34" charset="-122"/>
                <a:cs typeface="Figtree" pitchFamily="34" charset="-120"/>
              </a:rPr>
              <a:t>capacidad de pago del cliente</a:t>
            </a:r>
            <a:endParaRPr lang="es-CL" sz="1700" dirty="0"/>
          </a:p>
        </p:txBody>
      </p:sp>
      <p:sp>
        <p:nvSpPr>
          <p:cNvPr id="24" name="Shape 22"/>
          <p:cNvSpPr/>
          <p:nvPr/>
        </p:nvSpPr>
        <p:spPr>
          <a:xfrm>
            <a:off x="8097317" y="4315968"/>
            <a:ext cx="3545738" cy="1920240"/>
          </a:xfrm>
          <a:prstGeom prst="rect">
            <a:avLst/>
          </a:prstGeom>
          <a:solidFill>
            <a:schemeClr val="bg2"/>
          </a:solidFill>
          <a:ln w="9525">
            <a:solidFill>
              <a:schemeClr val="accent5"/>
            </a:solidFill>
            <a:prstDash val="solid"/>
          </a:ln>
        </p:spPr>
      </p:sp>
      <p:sp>
        <p:nvSpPr>
          <p:cNvPr id="25" name="Shape 23"/>
          <p:cNvSpPr/>
          <p:nvPr/>
        </p:nvSpPr>
        <p:spPr>
          <a:xfrm>
            <a:off x="8097317" y="4315968"/>
            <a:ext cx="3545738" cy="91440"/>
          </a:xfrm>
          <a:prstGeom prst="rect">
            <a:avLst/>
          </a:prstGeom>
          <a:solidFill>
            <a:srgbClr val="0A6F9E"/>
          </a:solidFill>
          <a:ln/>
        </p:spPr>
      </p:sp>
      <p:sp>
        <p:nvSpPr>
          <p:cNvPr id="26" name="Text 24"/>
          <p:cNvSpPr txBox="1"/>
          <p:nvPr/>
        </p:nvSpPr>
        <p:spPr>
          <a:xfrm>
            <a:off x="8325917" y="4544568"/>
            <a:ext cx="3088538"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EJE 3</a:t>
            </a:r>
            <a:endParaRPr lang="es-CL" sz="1300" dirty="0"/>
          </a:p>
        </p:txBody>
      </p:sp>
      <p:sp>
        <p:nvSpPr>
          <p:cNvPr id="27" name="Text 25"/>
          <p:cNvSpPr txBox="1"/>
          <p:nvPr/>
        </p:nvSpPr>
        <p:spPr>
          <a:xfrm>
            <a:off x="8325917" y="4846320"/>
            <a:ext cx="3088538"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Conocimiento y escala</a:t>
            </a:r>
            <a:endParaRPr lang="es-CL" sz="2200" dirty="0"/>
          </a:p>
        </p:txBody>
      </p:sp>
      <p:sp>
        <p:nvSpPr>
          <p:cNvPr id="28" name="Text 26"/>
          <p:cNvSpPr txBox="1"/>
          <p:nvPr/>
        </p:nvSpPr>
        <p:spPr>
          <a:xfrm>
            <a:off x="8325917" y="5367528"/>
            <a:ext cx="3088538" cy="731520"/>
          </a:xfrm>
          <a:prstGeom prst="rect">
            <a:avLst/>
          </a:prstGeom>
          <a:noFill/>
          <a:ln/>
        </p:spPr>
        <p:txBody>
          <a:bodyPr wrap="square" lIns="0" tIns="0" rIns="0" bIns="0" rtlCol="0" anchor="t"/>
          <a:lstStyle/>
          <a:p>
            <a:pPr indent="0" marL="0">
              <a:buNone/>
            </a:pPr>
            <a:r>
              <a:rPr lang="es-CL" altLang="en-US" sz="1700" dirty="0">
                <a:solidFill>
                  <a:schemeClr val="tx2"/>
                </a:solidFill>
                <a:latin typeface="Figtree" pitchFamily="34" charset="0"/>
                <a:ea typeface="Figtree" pitchFamily="34" charset="-122"/>
                <a:cs typeface="Figtree" pitchFamily="34" charset="-120"/>
              </a:rPr>
              <a:t>Ataca: </a:t>
            </a:r>
            <a:pPr indent="0" marL="0">
              <a:buNone/>
            </a:pPr>
            <a:r>
              <a:rPr lang="es-CL" altLang="en-US" sz="1700" dirty="0">
                <a:solidFill>
                  <a:schemeClr val="tx1"/>
                </a:solidFill>
                <a:latin typeface="Figtree" pitchFamily="34" charset="0"/>
                <a:ea typeface="Figtree" pitchFamily="34" charset="-122"/>
                <a:cs typeface="Figtree" pitchFamily="34" charset="-120"/>
              </a:rPr>
              <a:t>ahorro todavía no medido</a:t>
            </a:r>
            <a:endParaRPr lang="es-CL" sz="17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DE LA ESTRATEGIA AL CMI · TRAZABILIDAD</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LOS OCHO OBJETIVOS DE LA ESTRATEGIA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llegan al CMI.</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(Control de Gestión, octubre de 2026) (ejes y objetivos); CMI actualizado de las Fases 1 y 2; CMI en red revisado (propuesta del equipo para la Solemne 2).</a:t>
            </a:r>
            <a:endParaRPr lang="es-CL" sz="1100" dirty="0"/>
          </a:p>
        </p:txBody>
      </p:sp>
      <p:sp>
        <p:nvSpPr>
          <p:cNvPr id="5" name="Shape 3"/>
          <p:cNvSpPr/>
          <p:nvPr/>
        </p:nvSpPr>
        <p:spPr>
          <a:xfrm>
            <a:off x="548640" y="2395728"/>
            <a:ext cx="3545738" cy="2788920"/>
          </a:xfrm>
          <a:prstGeom prst="rect">
            <a:avLst/>
          </a:prstGeom>
          <a:solidFill>
            <a:schemeClr val="bg2"/>
          </a:solidFill>
          <a:ln w="9525">
            <a:solidFill>
              <a:schemeClr val="accent5"/>
            </a:solidFill>
            <a:prstDash val="solid"/>
          </a:ln>
        </p:spPr>
      </p:sp>
      <p:sp>
        <p:nvSpPr>
          <p:cNvPr id="6" name="Shape 4"/>
          <p:cNvSpPr/>
          <p:nvPr/>
        </p:nvSpPr>
        <p:spPr>
          <a:xfrm>
            <a:off x="548640" y="2395728"/>
            <a:ext cx="3545738" cy="91440"/>
          </a:xfrm>
          <a:prstGeom prst="rect">
            <a:avLst/>
          </a:prstGeom>
          <a:solidFill>
            <a:srgbClr val="ECECEC"/>
          </a:solidFill>
          <a:ln/>
        </p:spPr>
      </p:sp>
      <p:sp>
        <p:nvSpPr>
          <p:cNvPr id="7" name="Text 5"/>
          <p:cNvSpPr txBox="1"/>
          <p:nvPr/>
        </p:nvSpPr>
        <p:spPr>
          <a:xfrm>
            <a:off x="731520" y="2560320"/>
            <a:ext cx="3179978" cy="384048"/>
          </a:xfrm>
          <a:prstGeom prst="rect">
            <a:avLst/>
          </a:prstGeom>
          <a:noFill/>
          <a:ln/>
        </p:spPr>
        <p:txBody>
          <a:bodyPr wrap="square" lIns="0" tIns="0" rIns="0" bIns="0" rtlCol="0" anchor="ctr"/>
          <a:lstStyle/>
          <a:p>
            <a:pPr indent="0" marL="0">
              <a:buNone/>
            </a:pPr>
            <a:r>
              <a:rPr lang="es-CL" altLang="en-US" sz="1200" dirty="0">
                <a:solidFill>
                  <a:schemeClr val="tx2"/>
                </a:solidFill>
                <a:latin typeface="IBM Plex Mono" pitchFamily="34" charset="0"/>
                <a:ea typeface="IBM Plex Mono" pitchFamily="34" charset="-122"/>
                <a:cs typeface="IBM Plex Mono" pitchFamily="34" charset="-120"/>
              </a:rPr>
              <a:t>EJE 1  </a:t>
            </a:r>
            <a:pPr indent="0" marL="0">
              <a:buNone/>
            </a:pPr>
            <a:r>
              <a:rPr lang="es-CL" altLang="en-US" sz="1800" b="1" dirty="0">
                <a:solidFill>
                  <a:schemeClr val="tx1"/>
                </a:solidFill>
                <a:latin typeface="Figtree" pitchFamily="34" charset="0"/>
                <a:ea typeface="Figtree" pitchFamily="34" charset="-122"/>
                <a:cs typeface="Figtree" pitchFamily="34" charset="-120"/>
              </a:rPr>
              <a:t>Habilitación formal</a:t>
            </a:r>
            <a:endParaRPr lang="es-CL" sz="1800" dirty="0"/>
          </a:p>
        </p:txBody>
      </p:sp>
      <p:sp>
        <p:nvSpPr>
          <p:cNvPr id="8" name="Shape 6"/>
          <p:cNvSpPr/>
          <p:nvPr/>
        </p:nvSpPr>
        <p:spPr>
          <a:xfrm>
            <a:off x="731520" y="3054096"/>
            <a:ext cx="3179978" cy="0"/>
          </a:xfrm>
          <a:prstGeom prst="line">
            <a:avLst/>
          </a:prstGeom>
          <a:noFill/>
          <a:ln w="9525">
            <a:solidFill>
              <a:schemeClr val="accent5"/>
            </a:solidFill>
            <a:prstDash val="solid"/>
          </a:ln>
        </p:spPr>
      </p:sp>
      <p:sp>
        <p:nvSpPr>
          <p:cNvPr id="9" name="Text 7"/>
          <p:cNvSpPr txBox="1"/>
          <p:nvPr/>
        </p:nvSpPr>
        <p:spPr>
          <a:xfrm>
            <a:off x="731520" y="3127248"/>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01</a:t>
            </a:r>
            <a:endParaRPr lang="es-CL" sz="1200" dirty="0"/>
          </a:p>
        </p:txBody>
      </p:sp>
      <p:sp>
        <p:nvSpPr>
          <p:cNvPr id="10" name="Text 8"/>
          <p:cNvSpPr txBox="1"/>
          <p:nvPr/>
        </p:nvSpPr>
        <p:spPr>
          <a:xfrm>
            <a:off x="1115568" y="3090672"/>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Autorización del taller</a:t>
            </a:r>
            <a:endParaRPr lang="es-CL" sz="1500" dirty="0"/>
          </a:p>
        </p:txBody>
      </p:sp>
      <p:sp>
        <p:nvSpPr>
          <p:cNvPr id="11" name="Shape 9"/>
          <p:cNvSpPr/>
          <p:nvPr/>
        </p:nvSpPr>
        <p:spPr>
          <a:xfrm>
            <a:off x="1115568" y="3438144"/>
            <a:ext cx="457200" cy="256032"/>
          </a:xfrm>
          <a:prstGeom prst="rect">
            <a:avLst/>
          </a:prstGeom>
          <a:solidFill>
            <a:schemeClr val="accent5"/>
          </a:solidFill>
          <a:ln/>
        </p:spPr>
      </p:sp>
      <p:sp>
        <p:nvSpPr>
          <p:cNvPr id="12" name="Shape 10"/>
          <p:cNvSpPr/>
          <p:nvPr/>
        </p:nvSpPr>
        <p:spPr>
          <a:xfrm>
            <a:off x="1115568" y="3438144"/>
            <a:ext cx="457200" cy="45720"/>
          </a:xfrm>
          <a:prstGeom prst="rect">
            <a:avLst/>
          </a:prstGeom>
          <a:solidFill>
            <a:srgbClr val="ECECEC"/>
          </a:solidFill>
          <a:ln/>
        </p:spPr>
      </p:sp>
      <p:sp>
        <p:nvSpPr>
          <p:cNvPr id="13" name="Text 11"/>
          <p:cNvSpPr txBox="1"/>
          <p:nvPr/>
        </p:nvSpPr>
        <p:spPr>
          <a:xfrm>
            <a:off x="1115568"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P1</a:t>
            </a:r>
            <a:endParaRPr lang="es-CL" sz="1200" dirty="0"/>
          </a:p>
        </p:txBody>
      </p:sp>
      <p:sp>
        <p:nvSpPr>
          <p:cNvPr id="14" name="Shape 12"/>
          <p:cNvSpPr/>
          <p:nvPr/>
        </p:nvSpPr>
        <p:spPr>
          <a:xfrm>
            <a:off x="731520" y="3749040"/>
            <a:ext cx="3179978" cy="0"/>
          </a:xfrm>
          <a:prstGeom prst="line">
            <a:avLst/>
          </a:prstGeom>
          <a:noFill/>
          <a:ln w="9525">
            <a:solidFill>
              <a:schemeClr val="accent5"/>
            </a:solidFill>
            <a:prstDash val="solid"/>
          </a:ln>
        </p:spPr>
      </p:sp>
      <p:sp>
        <p:nvSpPr>
          <p:cNvPr id="15" name="Text 13"/>
          <p:cNvSpPr txBox="1"/>
          <p:nvPr/>
        </p:nvSpPr>
        <p:spPr>
          <a:xfrm>
            <a:off x="731520" y="3822192"/>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02</a:t>
            </a:r>
            <a:endParaRPr lang="es-CL" sz="1200" dirty="0"/>
          </a:p>
        </p:txBody>
      </p:sp>
      <p:sp>
        <p:nvSpPr>
          <p:cNvPr id="16" name="Text 14"/>
          <p:cNvSpPr txBox="1"/>
          <p:nvPr/>
        </p:nvSpPr>
        <p:spPr>
          <a:xfrm>
            <a:off x="1115568" y="3785616"/>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Homologación progresiva</a:t>
            </a:r>
            <a:endParaRPr lang="es-CL" sz="1500" dirty="0"/>
          </a:p>
        </p:txBody>
      </p:sp>
      <p:sp>
        <p:nvSpPr>
          <p:cNvPr id="17" name="Shape 15"/>
          <p:cNvSpPr/>
          <p:nvPr/>
        </p:nvSpPr>
        <p:spPr>
          <a:xfrm>
            <a:off x="1115568" y="4133088"/>
            <a:ext cx="457200" cy="256032"/>
          </a:xfrm>
          <a:prstGeom prst="rect">
            <a:avLst/>
          </a:prstGeom>
          <a:solidFill>
            <a:schemeClr val="accent5"/>
          </a:solidFill>
          <a:ln/>
        </p:spPr>
      </p:sp>
      <p:sp>
        <p:nvSpPr>
          <p:cNvPr id="18" name="Shape 16"/>
          <p:cNvSpPr/>
          <p:nvPr/>
        </p:nvSpPr>
        <p:spPr>
          <a:xfrm>
            <a:off x="1115568" y="4133088"/>
            <a:ext cx="457200" cy="45720"/>
          </a:xfrm>
          <a:prstGeom prst="rect">
            <a:avLst/>
          </a:prstGeom>
          <a:solidFill>
            <a:srgbClr val="ECECEC"/>
          </a:solidFill>
          <a:ln/>
        </p:spPr>
      </p:sp>
      <p:sp>
        <p:nvSpPr>
          <p:cNvPr id="19" name="Text 17"/>
          <p:cNvSpPr txBox="1"/>
          <p:nvPr/>
        </p:nvSpPr>
        <p:spPr>
          <a:xfrm>
            <a:off x="1115568"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P2</a:t>
            </a:r>
            <a:endParaRPr lang="es-CL" sz="1200" dirty="0"/>
          </a:p>
        </p:txBody>
      </p:sp>
      <p:sp>
        <p:nvSpPr>
          <p:cNvPr id="20" name="Shape 18"/>
          <p:cNvSpPr/>
          <p:nvPr/>
        </p:nvSpPr>
        <p:spPr>
          <a:xfrm>
            <a:off x="731520" y="4443984"/>
            <a:ext cx="3179978" cy="0"/>
          </a:xfrm>
          <a:prstGeom prst="line">
            <a:avLst/>
          </a:prstGeom>
          <a:noFill/>
          <a:ln w="9525">
            <a:solidFill>
              <a:schemeClr val="accent5"/>
            </a:solidFill>
            <a:prstDash val="solid"/>
          </a:ln>
        </p:spPr>
      </p:sp>
      <p:sp>
        <p:nvSpPr>
          <p:cNvPr id="21" name="Text 19"/>
          <p:cNvSpPr txBox="1"/>
          <p:nvPr/>
        </p:nvSpPr>
        <p:spPr>
          <a:xfrm>
            <a:off x="731520" y="4517136"/>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03</a:t>
            </a:r>
            <a:endParaRPr lang="es-CL" sz="1200" dirty="0"/>
          </a:p>
        </p:txBody>
      </p:sp>
      <p:sp>
        <p:nvSpPr>
          <p:cNvPr id="22" name="Text 20"/>
          <p:cNvSpPr txBox="1"/>
          <p:nvPr/>
        </p:nvSpPr>
        <p:spPr>
          <a:xfrm>
            <a:off x="1115568" y="4480560"/>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Aseguradoras y plantas</a:t>
            </a:r>
            <a:endParaRPr lang="es-CL" sz="1500" dirty="0"/>
          </a:p>
        </p:txBody>
      </p:sp>
      <p:sp>
        <p:nvSpPr>
          <p:cNvPr id="23" name="Shape 21"/>
          <p:cNvSpPr/>
          <p:nvPr/>
        </p:nvSpPr>
        <p:spPr>
          <a:xfrm>
            <a:off x="1115568" y="4828032"/>
            <a:ext cx="457200" cy="256032"/>
          </a:xfrm>
          <a:prstGeom prst="rect">
            <a:avLst/>
          </a:prstGeom>
          <a:solidFill>
            <a:schemeClr val="accent5"/>
          </a:solidFill>
          <a:ln/>
        </p:spPr>
      </p:sp>
      <p:sp>
        <p:nvSpPr>
          <p:cNvPr id="24" name="Shape 22"/>
          <p:cNvSpPr/>
          <p:nvPr/>
        </p:nvSpPr>
        <p:spPr>
          <a:xfrm>
            <a:off x="1115568" y="4828032"/>
            <a:ext cx="228600" cy="45720"/>
          </a:xfrm>
          <a:prstGeom prst="rect">
            <a:avLst/>
          </a:prstGeom>
          <a:solidFill>
            <a:srgbClr val="ECECEC"/>
          </a:solidFill>
          <a:ln/>
        </p:spPr>
      </p:sp>
      <p:sp>
        <p:nvSpPr>
          <p:cNvPr id="25" name="Shape 23"/>
          <p:cNvSpPr/>
          <p:nvPr/>
        </p:nvSpPr>
        <p:spPr>
          <a:xfrm>
            <a:off x="1344168" y="4828032"/>
            <a:ext cx="228600" cy="45720"/>
          </a:xfrm>
          <a:prstGeom prst="rect">
            <a:avLst/>
          </a:prstGeom>
          <a:solidFill>
            <a:srgbClr val="22B8F0"/>
          </a:solidFill>
          <a:ln/>
        </p:spPr>
      </p:sp>
      <p:sp>
        <p:nvSpPr>
          <p:cNvPr id="26" name="Text 24"/>
          <p:cNvSpPr txBox="1"/>
          <p:nvPr/>
        </p:nvSpPr>
        <p:spPr>
          <a:xfrm>
            <a:off x="1115568" y="4828032"/>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27" name="Shape 25"/>
          <p:cNvSpPr/>
          <p:nvPr/>
        </p:nvSpPr>
        <p:spPr>
          <a:xfrm>
            <a:off x="4322978" y="2395728"/>
            <a:ext cx="3545738" cy="2788920"/>
          </a:xfrm>
          <a:prstGeom prst="rect">
            <a:avLst/>
          </a:prstGeom>
          <a:solidFill>
            <a:schemeClr val="bg2"/>
          </a:solidFill>
          <a:ln w="9525">
            <a:solidFill>
              <a:schemeClr val="accent5"/>
            </a:solidFill>
            <a:prstDash val="solid"/>
          </a:ln>
        </p:spPr>
      </p:sp>
      <p:sp>
        <p:nvSpPr>
          <p:cNvPr id="28" name="Shape 26"/>
          <p:cNvSpPr/>
          <p:nvPr/>
        </p:nvSpPr>
        <p:spPr>
          <a:xfrm>
            <a:off x="4322978" y="2395728"/>
            <a:ext cx="3545738" cy="91440"/>
          </a:xfrm>
          <a:prstGeom prst="rect">
            <a:avLst/>
          </a:prstGeom>
          <a:solidFill>
            <a:srgbClr val="22B8F0"/>
          </a:solidFill>
          <a:ln/>
        </p:spPr>
      </p:sp>
      <p:sp>
        <p:nvSpPr>
          <p:cNvPr id="29" name="Text 27"/>
          <p:cNvSpPr txBox="1"/>
          <p:nvPr/>
        </p:nvSpPr>
        <p:spPr>
          <a:xfrm>
            <a:off x="4505858" y="2560320"/>
            <a:ext cx="3179978" cy="384048"/>
          </a:xfrm>
          <a:prstGeom prst="rect">
            <a:avLst/>
          </a:prstGeom>
          <a:noFill/>
          <a:ln/>
        </p:spPr>
        <p:txBody>
          <a:bodyPr wrap="square" lIns="0" tIns="0" rIns="0" bIns="0" rtlCol="0" anchor="ctr"/>
          <a:lstStyle/>
          <a:p>
            <a:pPr indent="0" marL="0">
              <a:buNone/>
            </a:pPr>
            <a:r>
              <a:rPr lang="es-CL" altLang="en-US" sz="1200" dirty="0">
                <a:solidFill>
                  <a:schemeClr val="tx2"/>
                </a:solidFill>
                <a:latin typeface="IBM Plex Mono" pitchFamily="34" charset="0"/>
                <a:ea typeface="IBM Plex Mono" pitchFamily="34" charset="-122"/>
                <a:cs typeface="IBM Plex Mono" pitchFamily="34" charset="-120"/>
              </a:rPr>
              <a:t>EJE 2  </a:t>
            </a:r>
            <a:pPr indent="0" marL="0">
              <a:buNone/>
            </a:pPr>
            <a:r>
              <a:rPr lang="es-CL" altLang="en-US" sz="1800" b="1" dirty="0">
                <a:solidFill>
                  <a:schemeClr val="tx1"/>
                </a:solidFill>
                <a:latin typeface="Figtree" pitchFamily="34" charset="0"/>
                <a:ea typeface="Figtree" pitchFamily="34" charset="-122"/>
                <a:cs typeface="Figtree" pitchFamily="34" charset="-120"/>
              </a:rPr>
              <a:t>Acceso comercial</a:t>
            </a:r>
            <a:endParaRPr lang="es-CL" sz="1800" dirty="0"/>
          </a:p>
        </p:txBody>
      </p:sp>
      <p:sp>
        <p:nvSpPr>
          <p:cNvPr id="30" name="Shape 28"/>
          <p:cNvSpPr/>
          <p:nvPr/>
        </p:nvSpPr>
        <p:spPr>
          <a:xfrm>
            <a:off x="4505858" y="3054096"/>
            <a:ext cx="3179978" cy="0"/>
          </a:xfrm>
          <a:prstGeom prst="line">
            <a:avLst/>
          </a:prstGeom>
          <a:noFill/>
          <a:ln w="9525">
            <a:solidFill>
              <a:schemeClr val="accent5"/>
            </a:solidFill>
            <a:prstDash val="solid"/>
          </a:ln>
        </p:spPr>
      </p:sp>
      <p:sp>
        <p:nvSpPr>
          <p:cNvPr id="31" name="Text 29"/>
          <p:cNvSpPr txBox="1"/>
          <p:nvPr/>
        </p:nvSpPr>
        <p:spPr>
          <a:xfrm>
            <a:off x="4505858" y="3127248"/>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04</a:t>
            </a:r>
            <a:endParaRPr lang="es-CL" sz="1200" dirty="0"/>
          </a:p>
        </p:txBody>
      </p:sp>
      <p:sp>
        <p:nvSpPr>
          <p:cNvPr id="32" name="Text 30"/>
          <p:cNvSpPr txBox="1"/>
          <p:nvPr/>
        </p:nvSpPr>
        <p:spPr>
          <a:xfrm>
            <a:off x="4889906" y="3090672"/>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Consolidar el segmento</a:t>
            </a:r>
            <a:endParaRPr lang="es-CL" sz="1500" dirty="0"/>
          </a:p>
        </p:txBody>
      </p:sp>
      <p:sp>
        <p:nvSpPr>
          <p:cNvPr id="33" name="Shape 31"/>
          <p:cNvSpPr/>
          <p:nvPr/>
        </p:nvSpPr>
        <p:spPr>
          <a:xfrm>
            <a:off x="4889906" y="3438144"/>
            <a:ext cx="457200" cy="256032"/>
          </a:xfrm>
          <a:prstGeom prst="rect">
            <a:avLst/>
          </a:prstGeom>
          <a:solidFill>
            <a:schemeClr val="accent5"/>
          </a:solidFill>
          <a:ln/>
        </p:spPr>
      </p:sp>
      <p:sp>
        <p:nvSpPr>
          <p:cNvPr id="34" name="Shape 32"/>
          <p:cNvSpPr/>
          <p:nvPr/>
        </p:nvSpPr>
        <p:spPr>
          <a:xfrm>
            <a:off x="4889906" y="3438144"/>
            <a:ext cx="457200" cy="45720"/>
          </a:xfrm>
          <a:prstGeom prst="rect">
            <a:avLst/>
          </a:prstGeom>
          <a:solidFill>
            <a:srgbClr val="22B8F0"/>
          </a:solidFill>
          <a:ln/>
        </p:spPr>
      </p:sp>
      <p:sp>
        <p:nvSpPr>
          <p:cNvPr id="35" name="Text 33"/>
          <p:cNvSpPr txBox="1"/>
          <p:nvPr/>
        </p:nvSpPr>
        <p:spPr>
          <a:xfrm>
            <a:off x="4889906"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C4</a:t>
            </a:r>
            <a:endParaRPr lang="es-CL" sz="1200" dirty="0"/>
          </a:p>
        </p:txBody>
      </p:sp>
      <p:sp>
        <p:nvSpPr>
          <p:cNvPr id="36" name="Shape 34"/>
          <p:cNvSpPr/>
          <p:nvPr/>
        </p:nvSpPr>
        <p:spPr>
          <a:xfrm>
            <a:off x="4505858" y="3749040"/>
            <a:ext cx="3179978" cy="0"/>
          </a:xfrm>
          <a:prstGeom prst="line">
            <a:avLst/>
          </a:prstGeom>
          <a:noFill/>
          <a:ln w="9525">
            <a:solidFill>
              <a:schemeClr val="accent5"/>
            </a:solidFill>
            <a:prstDash val="solid"/>
          </a:ln>
        </p:spPr>
      </p:sp>
      <p:sp>
        <p:nvSpPr>
          <p:cNvPr id="37" name="Text 35"/>
          <p:cNvSpPr txBox="1"/>
          <p:nvPr/>
        </p:nvSpPr>
        <p:spPr>
          <a:xfrm>
            <a:off x="4505858" y="3822192"/>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05</a:t>
            </a:r>
            <a:endParaRPr lang="es-CL" sz="1200" dirty="0"/>
          </a:p>
        </p:txBody>
      </p:sp>
      <p:sp>
        <p:nvSpPr>
          <p:cNvPr id="38" name="Text 36"/>
          <p:cNvSpPr txBox="1"/>
          <p:nvPr/>
        </p:nvSpPr>
        <p:spPr>
          <a:xfrm>
            <a:off x="4889906" y="3785616"/>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Financiamiento al cliente</a:t>
            </a:r>
            <a:endParaRPr lang="es-CL" sz="1500" dirty="0"/>
          </a:p>
        </p:txBody>
      </p:sp>
      <p:sp>
        <p:nvSpPr>
          <p:cNvPr id="39" name="Shape 37"/>
          <p:cNvSpPr/>
          <p:nvPr/>
        </p:nvSpPr>
        <p:spPr>
          <a:xfrm>
            <a:off x="4889906" y="4133088"/>
            <a:ext cx="457200" cy="256032"/>
          </a:xfrm>
          <a:prstGeom prst="rect">
            <a:avLst/>
          </a:prstGeom>
          <a:solidFill>
            <a:schemeClr val="accent5"/>
          </a:solidFill>
          <a:ln/>
        </p:spPr>
      </p:sp>
      <p:sp>
        <p:nvSpPr>
          <p:cNvPr id="40" name="Shape 38"/>
          <p:cNvSpPr/>
          <p:nvPr/>
        </p:nvSpPr>
        <p:spPr>
          <a:xfrm>
            <a:off x="4889906" y="4133088"/>
            <a:ext cx="228600" cy="45720"/>
          </a:xfrm>
          <a:prstGeom prst="rect">
            <a:avLst/>
          </a:prstGeom>
          <a:solidFill>
            <a:srgbClr val="ECECEC"/>
          </a:solidFill>
          <a:ln/>
        </p:spPr>
      </p:sp>
      <p:sp>
        <p:nvSpPr>
          <p:cNvPr id="41" name="Shape 39"/>
          <p:cNvSpPr/>
          <p:nvPr/>
        </p:nvSpPr>
        <p:spPr>
          <a:xfrm>
            <a:off x="5118506" y="4133088"/>
            <a:ext cx="228600" cy="45720"/>
          </a:xfrm>
          <a:prstGeom prst="rect">
            <a:avLst/>
          </a:prstGeom>
          <a:solidFill>
            <a:srgbClr val="22B8F0"/>
          </a:solidFill>
          <a:ln/>
        </p:spPr>
      </p:sp>
      <p:sp>
        <p:nvSpPr>
          <p:cNvPr id="42" name="Text 40"/>
          <p:cNvSpPr txBox="1"/>
          <p:nvPr/>
        </p:nvSpPr>
        <p:spPr>
          <a:xfrm>
            <a:off x="4889906"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43" name="Shape 41"/>
          <p:cNvSpPr/>
          <p:nvPr/>
        </p:nvSpPr>
        <p:spPr>
          <a:xfrm>
            <a:off x="8097317" y="2395728"/>
            <a:ext cx="3545738" cy="2788920"/>
          </a:xfrm>
          <a:prstGeom prst="rect">
            <a:avLst/>
          </a:prstGeom>
          <a:solidFill>
            <a:schemeClr val="bg2"/>
          </a:solidFill>
          <a:ln w="9525">
            <a:solidFill>
              <a:schemeClr val="accent5"/>
            </a:solidFill>
            <a:prstDash val="solid"/>
          </a:ln>
        </p:spPr>
      </p:sp>
      <p:sp>
        <p:nvSpPr>
          <p:cNvPr id="44" name="Shape 42"/>
          <p:cNvSpPr/>
          <p:nvPr/>
        </p:nvSpPr>
        <p:spPr>
          <a:xfrm>
            <a:off x="8097317" y="2395728"/>
            <a:ext cx="3545738" cy="91440"/>
          </a:xfrm>
          <a:prstGeom prst="rect">
            <a:avLst/>
          </a:prstGeom>
          <a:solidFill>
            <a:srgbClr val="0A6F9E"/>
          </a:solidFill>
          <a:ln/>
        </p:spPr>
      </p:sp>
      <p:sp>
        <p:nvSpPr>
          <p:cNvPr id="45" name="Text 43"/>
          <p:cNvSpPr txBox="1"/>
          <p:nvPr/>
        </p:nvSpPr>
        <p:spPr>
          <a:xfrm>
            <a:off x="8280197" y="2560320"/>
            <a:ext cx="3179978" cy="384048"/>
          </a:xfrm>
          <a:prstGeom prst="rect">
            <a:avLst/>
          </a:prstGeom>
          <a:noFill/>
          <a:ln/>
        </p:spPr>
        <p:txBody>
          <a:bodyPr wrap="square" lIns="0" tIns="0" rIns="0" bIns="0" rtlCol="0" anchor="ctr"/>
          <a:lstStyle/>
          <a:p>
            <a:pPr indent="0" marL="0">
              <a:buNone/>
            </a:pPr>
            <a:r>
              <a:rPr lang="es-CL" altLang="en-US" sz="1200" dirty="0">
                <a:solidFill>
                  <a:schemeClr val="tx2"/>
                </a:solidFill>
                <a:latin typeface="IBM Plex Mono" pitchFamily="34" charset="0"/>
                <a:ea typeface="IBM Plex Mono" pitchFamily="34" charset="-122"/>
                <a:cs typeface="IBM Plex Mono" pitchFamily="34" charset="-120"/>
              </a:rPr>
              <a:t>EJE 3  </a:t>
            </a:r>
            <a:pPr indent="0" marL="0">
              <a:buNone/>
            </a:pPr>
            <a:r>
              <a:rPr lang="es-CL" altLang="en-US" sz="1800" b="1" dirty="0">
                <a:solidFill>
                  <a:schemeClr val="tx1"/>
                </a:solidFill>
                <a:latin typeface="Figtree" pitchFamily="34" charset="0"/>
                <a:ea typeface="Figtree" pitchFamily="34" charset="-122"/>
                <a:cs typeface="Figtree" pitchFamily="34" charset="-120"/>
              </a:rPr>
              <a:t>Conocimiento y escala</a:t>
            </a:r>
            <a:endParaRPr lang="es-CL" sz="1800" dirty="0"/>
          </a:p>
        </p:txBody>
      </p:sp>
      <p:sp>
        <p:nvSpPr>
          <p:cNvPr id="46" name="Shape 44"/>
          <p:cNvSpPr/>
          <p:nvPr/>
        </p:nvSpPr>
        <p:spPr>
          <a:xfrm>
            <a:off x="8280197" y="3054096"/>
            <a:ext cx="3179978" cy="0"/>
          </a:xfrm>
          <a:prstGeom prst="line">
            <a:avLst/>
          </a:prstGeom>
          <a:noFill/>
          <a:ln w="9525">
            <a:solidFill>
              <a:schemeClr val="accent5"/>
            </a:solidFill>
            <a:prstDash val="solid"/>
          </a:ln>
        </p:spPr>
      </p:sp>
      <p:sp>
        <p:nvSpPr>
          <p:cNvPr id="47" name="Text 45"/>
          <p:cNvSpPr txBox="1"/>
          <p:nvPr/>
        </p:nvSpPr>
        <p:spPr>
          <a:xfrm>
            <a:off x="8280197" y="3127248"/>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06</a:t>
            </a:r>
            <a:endParaRPr lang="es-CL" sz="1200" dirty="0"/>
          </a:p>
        </p:txBody>
      </p:sp>
      <p:sp>
        <p:nvSpPr>
          <p:cNvPr id="48" name="Text 46"/>
          <p:cNvSpPr txBox="1"/>
          <p:nvPr/>
        </p:nvSpPr>
        <p:spPr>
          <a:xfrm>
            <a:off x="8664245" y="3090672"/>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Demostrar el ahorro real</a:t>
            </a:r>
            <a:endParaRPr lang="es-CL" sz="1500" dirty="0"/>
          </a:p>
        </p:txBody>
      </p:sp>
      <p:sp>
        <p:nvSpPr>
          <p:cNvPr id="49" name="Shape 47"/>
          <p:cNvSpPr/>
          <p:nvPr/>
        </p:nvSpPr>
        <p:spPr>
          <a:xfrm>
            <a:off x="8664245" y="3438144"/>
            <a:ext cx="457200" cy="256032"/>
          </a:xfrm>
          <a:prstGeom prst="rect">
            <a:avLst/>
          </a:prstGeom>
          <a:solidFill>
            <a:schemeClr val="accent5"/>
          </a:solidFill>
          <a:ln/>
        </p:spPr>
      </p:sp>
      <p:sp>
        <p:nvSpPr>
          <p:cNvPr id="50" name="Shape 48"/>
          <p:cNvSpPr/>
          <p:nvPr/>
        </p:nvSpPr>
        <p:spPr>
          <a:xfrm>
            <a:off x="8664245" y="3438144"/>
            <a:ext cx="457200" cy="45720"/>
          </a:xfrm>
          <a:prstGeom prst="rect">
            <a:avLst/>
          </a:prstGeom>
          <a:solidFill>
            <a:srgbClr val="0A6F9E"/>
          </a:solidFill>
          <a:ln/>
        </p:spPr>
      </p:sp>
      <p:sp>
        <p:nvSpPr>
          <p:cNvPr id="51" name="Text 49"/>
          <p:cNvSpPr txBox="1"/>
          <p:nvPr/>
        </p:nvSpPr>
        <p:spPr>
          <a:xfrm>
            <a:off x="8664245"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A3</a:t>
            </a:r>
            <a:endParaRPr lang="es-CL" sz="1200" dirty="0"/>
          </a:p>
        </p:txBody>
      </p:sp>
      <p:sp>
        <p:nvSpPr>
          <p:cNvPr id="52" name="Shape 50"/>
          <p:cNvSpPr/>
          <p:nvPr/>
        </p:nvSpPr>
        <p:spPr>
          <a:xfrm>
            <a:off x="9194597" y="3438144"/>
            <a:ext cx="457200" cy="256032"/>
          </a:xfrm>
          <a:prstGeom prst="rect">
            <a:avLst/>
          </a:prstGeom>
          <a:solidFill>
            <a:schemeClr val="accent5"/>
          </a:solidFill>
          <a:ln/>
        </p:spPr>
      </p:sp>
      <p:sp>
        <p:nvSpPr>
          <p:cNvPr id="53" name="Shape 51"/>
          <p:cNvSpPr/>
          <p:nvPr/>
        </p:nvSpPr>
        <p:spPr>
          <a:xfrm>
            <a:off x="9194597" y="3438144"/>
            <a:ext cx="457200" cy="45720"/>
          </a:xfrm>
          <a:prstGeom prst="rect">
            <a:avLst/>
          </a:prstGeom>
          <a:solidFill>
            <a:srgbClr val="0A6F9E"/>
          </a:solidFill>
          <a:ln/>
        </p:spPr>
      </p:sp>
      <p:sp>
        <p:nvSpPr>
          <p:cNvPr id="54" name="Text 52"/>
          <p:cNvSpPr txBox="1"/>
          <p:nvPr/>
        </p:nvSpPr>
        <p:spPr>
          <a:xfrm>
            <a:off x="9194597"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P4</a:t>
            </a:r>
            <a:endParaRPr lang="es-CL" sz="1200" dirty="0"/>
          </a:p>
        </p:txBody>
      </p:sp>
      <p:sp>
        <p:nvSpPr>
          <p:cNvPr id="55" name="Shape 53"/>
          <p:cNvSpPr/>
          <p:nvPr/>
        </p:nvSpPr>
        <p:spPr>
          <a:xfrm>
            <a:off x="9724949" y="3438144"/>
            <a:ext cx="457200" cy="256032"/>
          </a:xfrm>
          <a:prstGeom prst="rect">
            <a:avLst/>
          </a:prstGeom>
          <a:solidFill>
            <a:schemeClr val="accent5"/>
          </a:solidFill>
          <a:ln/>
        </p:spPr>
      </p:sp>
      <p:sp>
        <p:nvSpPr>
          <p:cNvPr id="56" name="Shape 54"/>
          <p:cNvSpPr/>
          <p:nvPr/>
        </p:nvSpPr>
        <p:spPr>
          <a:xfrm>
            <a:off x="9724949" y="3438144"/>
            <a:ext cx="457200" cy="45720"/>
          </a:xfrm>
          <a:prstGeom prst="rect">
            <a:avLst/>
          </a:prstGeom>
          <a:solidFill>
            <a:srgbClr val="0A6F9E"/>
          </a:solidFill>
          <a:ln/>
        </p:spPr>
      </p:sp>
      <p:sp>
        <p:nvSpPr>
          <p:cNvPr id="57" name="Text 55"/>
          <p:cNvSpPr txBox="1"/>
          <p:nvPr/>
        </p:nvSpPr>
        <p:spPr>
          <a:xfrm>
            <a:off x="9724949"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C2</a:t>
            </a:r>
            <a:endParaRPr lang="es-CL" sz="1200" dirty="0"/>
          </a:p>
        </p:txBody>
      </p:sp>
      <p:sp>
        <p:nvSpPr>
          <p:cNvPr id="58" name="Shape 56"/>
          <p:cNvSpPr/>
          <p:nvPr/>
        </p:nvSpPr>
        <p:spPr>
          <a:xfrm>
            <a:off x="8280197" y="3749040"/>
            <a:ext cx="3179978" cy="0"/>
          </a:xfrm>
          <a:prstGeom prst="line">
            <a:avLst/>
          </a:prstGeom>
          <a:noFill/>
          <a:ln w="9525">
            <a:solidFill>
              <a:schemeClr val="accent5"/>
            </a:solidFill>
            <a:prstDash val="solid"/>
          </a:ln>
        </p:spPr>
      </p:sp>
      <p:sp>
        <p:nvSpPr>
          <p:cNvPr id="59" name="Text 57"/>
          <p:cNvSpPr txBox="1"/>
          <p:nvPr/>
        </p:nvSpPr>
        <p:spPr>
          <a:xfrm>
            <a:off x="8280197" y="3822192"/>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07</a:t>
            </a:r>
            <a:endParaRPr lang="es-CL" sz="1200" dirty="0"/>
          </a:p>
        </p:txBody>
      </p:sp>
      <p:sp>
        <p:nvSpPr>
          <p:cNvPr id="60" name="Text 58"/>
          <p:cNvSpPr txBox="1"/>
          <p:nvPr/>
        </p:nvSpPr>
        <p:spPr>
          <a:xfrm>
            <a:off x="8664245" y="3785616"/>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Retener el conocimiento</a:t>
            </a:r>
            <a:endParaRPr lang="es-CL" sz="1500" dirty="0"/>
          </a:p>
        </p:txBody>
      </p:sp>
      <p:sp>
        <p:nvSpPr>
          <p:cNvPr id="61" name="Shape 59"/>
          <p:cNvSpPr/>
          <p:nvPr/>
        </p:nvSpPr>
        <p:spPr>
          <a:xfrm>
            <a:off x="8664245" y="4133088"/>
            <a:ext cx="457200" cy="256032"/>
          </a:xfrm>
          <a:prstGeom prst="rect">
            <a:avLst/>
          </a:prstGeom>
          <a:solidFill>
            <a:schemeClr val="accent5"/>
          </a:solidFill>
          <a:ln/>
        </p:spPr>
      </p:sp>
      <p:sp>
        <p:nvSpPr>
          <p:cNvPr id="62" name="Shape 60"/>
          <p:cNvSpPr/>
          <p:nvPr/>
        </p:nvSpPr>
        <p:spPr>
          <a:xfrm>
            <a:off x="8664245" y="4133088"/>
            <a:ext cx="457200" cy="45720"/>
          </a:xfrm>
          <a:prstGeom prst="rect">
            <a:avLst/>
          </a:prstGeom>
          <a:solidFill>
            <a:srgbClr val="0A6F9E"/>
          </a:solidFill>
          <a:ln/>
        </p:spPr>
      </p:sp>
      <p:sp>
        <p:nvSpPr>
          <p:cNvPr id="63" name="Text 61"/>
          <p:cNvSpPr txBox="1"/>
          <p:nvPr/>
        </p:nvSpPr>
        <p:spPr>
          <a:xfrm>
            <a:off x="8664245"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a:t>
            </a:r>
            <a:endParaRPr lang="es-CL" sz="1200" dirty="0"/>
          </a:p>
        </p:txBody>
      </p:sp>
      <p:sp>
        <p:nvSpPr>
          <p:cNvPr id="64" name="Shape 62"/>
          <p:cNvSpPr/>
          <p:nvPr/>
        </p:nvSpPr>
        <p:spPr>
          <a:xfrm>
            <a:off x="9194597" y="4133088"/>
            <a:ext cx="457200" cy="256032"/>
          </a:xfrm>
          <a:prstGeom prst="rect">
            <a:avLst/>
          </a:prstGeom>
          <a:solidFill>
            <a:schemeClr val="accent5"/>
          </a:solidFill>
          <a:ln/>
        </p:spPr>
      </p:sp>
      <p:sp>
        <p:nvSpPr>
          <p:cNvPr id="65" name="Shape 63"/>
          <p:cNvSpPr/>
          <p:nvPr/>
        </p:nvSpPr>
        <p:spPr>
          <a:xfrm>
            <a:off x="9194597" y="4133088"/>
            <a:ext cx="457200" cy="45720"/>
          </a:xfrm>
          <a:prstGeom prst="rect">
            <a:avLst/>
          </a:prstGeom>
          <a:solidFill>
            <a:srgbClr val="0A6F9E"/>
          </a:solidFill>
          <a:ln/>
        </p:spPr>
      </p:sp>
      <p:sp>
        <p:nvSpPr>
          <p:cNvPr id="66" name="Text 64"/>
          <p:cNvSpPr txBox="1"/>
          <p:nvPr/>
        </p:nvSpPr>
        <p:spPr>
          <a:xfrm>
            <a:off x="9194597"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A2</a:t>
            </a:r>
            <a:endParaRPr lang="es-CL" sz="1200" dirty="0"/>
          </a:p>
        </p:txBody>
      </p:sp>
      <p:sp>
        <p:nvSpPr>
          <p:cNvPr id="67" name="Shape 65"/>
          <p:cNvSpPr/>
          <p:nvPr/>
        </p:nvSpPr>
        <p:spPr>
          <a:xfrm>
            <a:off x="9724949" y="4133088"/>
            <a:ext cx="457200" cy="256032"/>
          </a:xfrm>
          <a:prstGeom prst="rect">
            <a:avLst/>
          </a:prstGeom>
          <a:solidFill>
            <a:schemeClr val="accent5"/>
          </a:solidFill>
          <a:ln/>
        </p:spPr>
      </p:sp>
      <p:sp>
        <p:nvSpPr>
          <p:cNvPr id="68" name="Shape 66"/>
          <p:cNvSpPr/>
          <p:nvPr/>
        </p:nvSpPr>
        <p:spPr>
          <a:xfrm>
            <a:off x="9724949" y="4133088"/>
            <a:ext cx="457200" cy="45720"/>
          </a:xfrm>
          <a:prstGeom prst="rect">
            <a:avLst/>
          </a:prstGeom>
          <a:solidFill>
            <a:srgbClr val="0A6F9E"/>
          </a:solidFill>
          <a:ln/>
        </p:spPr>
      </p:sp>
      <p:sp>
        <p:nvSpPr>
          <p:cNvPr id="69" name="Text 67"/>
          <p:cNvSpPr txBox="1"/>
          <p:nvPr/>
        </p:nvSpPr>
        <p:spPr>
          <a:xfrm>
            <a:off x="9724949"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A4</a:t>
            </a:r>
            <a:endParaRPr lang="es-CL" sz="1200" dirty="0"/>
          </a:p>
        </p:txBody>
      </p:sp>
      <p:sp>
        <p:nvSpPr>
          <p:cNvPr id="70" name="Shape 68"/>
          <p:cNvSpPr/>
          <p:nvPr/>
        </p:nvSpPr>
        <p:spPr>
          <a:xfrm>
            <a:off x="8280197" y="4443984"/>
            <a:ext cx="3179978" cy="0"/>
          </a:xfrm>
          <a:prstGeom prst="line">
            <a:avLst/>
          </a:prstGeom>
          <a:noFill/>
          <a:ln w="9525">
            <a:solidFill>
              <a:schemeClr val="accent5"/>
            </a:solidFill>
            <a:prstDash val="solid"/>
          </a:ln>
        </p:spPr>
      </p:sp>
      <p:sp>
        <p:nvSpPr>
          <p:cNvPr id="71" name="Text 69"/>
          <p:cNvSpPr txBox="1"/>
          <p:nvPr/>
        </p:nvSpPr>
        <p:spPr>
          <a:xfrm>
            <a:off x="8280197" y="4517136"/>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08</a:t>
            </a:r>
            <a:endParaRPr lang="es-CL" sz="1200" dirty="0"/>
          </a:p>
        </p:txBody>
      </p:sp>
      <p:sp>
        <p:nvSpPr>
          <p:cNvPr id="72" name="Text 70"/>
          <p:cNvSpPr txBox="1"/>
          <p:nvPr/>
        </p:nvSpPr>
        <p:spPr>
          <a:xfrm>
            <a:off x="8664245" y="4480560"/>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Ampliar capacidad</a:t>
            </a:r>
            <a:endParaRPr lang="es-CL" sz="1500" dirty="0"/>
          </a:p>
        </p:txBody>
      </p:sp>
      <p:sp>
        <p:nvSpPr>
          <p:cNvPr id="73" name="Shape 71"/>
          <p:cNvSpPr/>
          <p:nvPr/>
        </p:nvSpPr>
        <p:spPr>
          <a:xfrm>
            <a:off x="8664245" y="4828032"/>
            <a:ext cx="457200" cy="256032"/>
          </a:xfrm>
          <a:prstGeom prst="rect">
            <a:avLst/>
          </a:prstGeom>
          <a:solidFill>
            <a:schemeClr val="accent5"/>
          </a:solidFill>
          <a:ln/>
        </p:spPr>
      </p:sp>
      <p:sp>
        <p:nvSpPr>
          <p:cNvPr id="74" name="Shape 72"/>
          <p:cNvSpPr/>
          <p:nvPr/>
        </p:nvSpPr>
        <p:spPr>
          <a:xfrm>
            <a:off x="8664245" y="4828032"/>
            <a:ext cx="457200" cy="45720"/>
          </a:xfrm>
          <a:prstGeom prst="rect">
            <a:avLst/>
          </a:prstGeom>
          <a:solidFill>
            <a:srgbClr val="0A6F9E"/>
          </a:solidFill>
          <a:ln/>
        </p:spPr>
      </p:sp>
      <p:sp>
        <p:nvSpPr>
          <p:cNvPr id="75" name="Text 73"/>
          <p:cNvSpPr txBox="1"/>
          <p:nvPr/>
        </p:nvSpPr>
        <p:spPr>
          <a:xfrm>
            <a:off x="8664245" y="4828032"/>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P5</a:t>
            </a:r>
            <a:endParaRPr lang="es-CL" sz="1200" dirty="0"/>
          </a:p>
        </p:txBody>
      </p:sp>
      <p:sp>
        <p:nvSpPr>
          <p:cNvPr id="76" name="Shape 74"/>
          <p:cNvSpPr/>
          <p:nvPr/>
        </p:nvSpPr>
        <p:spPr>
          <a:xfrm>
            <a:off x="9194597" y="4828032"/>
            <a:ext cx="457200" cy="256032"/>
          </a:xfrm>
          <a:prstGeom prst="rect">
            <a:avLst/>
          </a:prstGeom>
          <a:solidFill>
            <a:schemeClr val="accent5"/>
          </a:solidFill>
          <a:ln/>
        </p:spPr>
      </p:sp>
      <p:sp>
        <p:nvSpPr>
          <p:cNvPr id="77" name="Shape 75"/>
          <p:cNvSpPr/>
          <p:nvPr/>
        </p:nvSpPr>
        <p:spPr>
          <a:xfrm>
            <a:off x="9194597" y="4828032"/>
            <a:ext cx="457200" cy="45720"/>
          </a:xfrm>
          <a:prstGeom prst="rect">
            <a:avLst/>
          </a:prstGeom>
          <a:solidFill>
            <a:srgbClr val="0A6F9E"/>
          </a:solidFill>
          <a:ln/>
        </p:spPr>
      </p:sp>
      <p:sp>
        <p:nvSpPr>
          <p:cNvPr id="78" name="Text 76"/>
          <p:cNvSpPr txBox="1"/>
          <p:nvPr/>
        </p:nvSpPr>
        <p:spPr>
          <a:xfrm>
            <a:off x="9194597" y="4828032"/>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F3</a:t>
            </a:r>
            <a:endParaRPr lang="es-CL" sz="1200" dirty="0"/>
          </a:p>
        </p:txBody>
      </p:sp>
      <p:sp>
        <p:nvSpPr>
          <p:cNvPr id="79" name="Shape 77"/>
          <p:cNvSpPr/>
          <p:nvPr/>
        </p:nvSpPr>
        <p:spPr>
          <a:xfrm>
            <a:off x="548640" y="5413248"/>
            <a:ext cx="11094415" cy="0"/>
          </a:xfrm>
          <a:prstGeom prst="line">
            <a:avLst/>
          </a:prstGeom>
          <a:noFill/>
          <a:ln w="9525">
            <a:solidFill>
              <a:schemeClr val="accent1"/>
            </a:solidFill>
            <a:prstDash val="solid"/>
          </a:ln>
        </p:spPr>
      </p:sp>
      <p:sp>
        <p:nvSpPr>
          <p:cNvPr id="80" name="Text 78"/>
          <p:cNvSpPr txBox="1"/>
          <p:nvPr/>
        </p:nvSpPr>
        <p:spPr>
          <a:xfrm>
            <a:off x="548640" y="5541264"/>
            <a:ext cx="384048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NUEVOS POR LA RETROALIMENTACIÓN</a:t>
            </a:r>
            <a:endParaRPr lang="es-CL" sz="1300" dirty="0"/>
          </a:p>
        </p:txBody>
      </p:sp>
      <p:sp>
        <p:nvSpPr>
          <p:cNvPr id="81" name="Shape 79"/>
          <p:cNvSpPr/>
          <p:nvPr/>
        </p:nvSpPr>
        <p:spPr>
          <a:xfrm>
            <a:off x="548640" y="5888736"/>
            <a:ext cx="566928" cy="329184"/>
          </a:xfrm>
          <a:prstGeom prst="rect">
            <a:avLst/>
          </a:prstGeom>
          <a:solidFill>
            <a:schemeClr val="accent5"/>
          </a:solidFill>
          <a:ln/>
        </p:spPr>
      </p:sp>
      <p:sp>
        <p:nvSpPr>
          <p:cNvPr id="82" name="Text 80"/>
          <p:cNvSpPr txBox="1"/>
          <p:nvPr/>
        </p:nvSpPr>
        <p:spPr>
          <a:xfrm>
            <a:off x="548640"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C1</a:t>
            </a:r>
            <a:endParaRPr lang="es-CL" sz="1400" dirty="0"/>
          </a:p>
        </p:txBody>
      </p:sp>
      <p:sp>
        <p:nvSpPr>
          <p:cNvPr id="83" name="Shape 81"/>
          <p:cNvSpPr/>
          <p:nvPr/>
        </p:nvSpPr>
        <p:spPr>
          <a:xfrm>
            <a:off x="1225296" y="5888736"/>
            <a:ext cx="566928" cy="329184"/>
          </a:xfrm>
          <a:prstGeom prst="rect">
            <a:avLst/>
          </a:prstGeom>
          <a:solidFill>
            <a:schemeClr val="accent5"/>
          </a:solidFill>
          <a:ln/>
        </p:spPr>
      </p:sp>
      <p:sp>
        <p:nvSpPr>
          <p:cNvPr id="84" name="Text 82"/>
          <p:cNvSpPr txBox="1"/>
          <p:nvPr/>
        </p:nvSpPr>
        <p:spPr>
          <a:xfrm>
            <a:off x="1225296"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C3</a:t>
            </a:r>
            <a:endParaRPr lang="es-CL" sz="1400" dirty="0"/>
          </a:p>
        </p:txBody>
      </p:sp>
      <p:sp>
        <p:nvSpPr>
          <p:cNvPr id="85" name="Shape 83"/>
          <p:cNvSpPr/>
          <p:nvPr/>
        </p:nvSpPr>
        <p:spPr>
          <a:xfrm>
            <a:off x="1901952" y="5888736"/>
            <a:ext cx="566928" cy="329184"/>
          </a:xfrm>
          <a:prstGeom prst="rect">
            <a:avLst/>
          </a:prstGeom>
          <a:solidFill>
            <a:schemeClr val="accent5"/>
          </a:solidFill>
          <a:ln/>
        </p:spPr>
      </p:sp>
      <p:sp>
        <p:nvSpPr>
          <p:cNvPr id="86" name="Text 84"/>
          <p:cNvSpPr txBox="1"/>
          <p:nvPr/>
        </p:nvSpPr>
        <p:spPr>
          <a:xfrm>
            <a:off x="1901952"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P3</a:t>
            </a:r>
            <a:endParaRPr lang="es-CL" sz="1400" dirty="0"/>
          </a:p>
        </p:txBody>
      </p:sp>
      <p:sp>
        <p:nvSpPr>
          <p:cNvPr id="87" name="Shape 85"/>
          <p:cNvSpPr/>
          <p:nvPr/>
        </p:nvSpPr>
        <p:spPr>
          <a:xfrm>
            <a:off x="2578608" y="5888736"/>
            <a:ext cx="566928" cy="329184"/>
          </a:xfrm>
          <a:prstGeom prst="rect">
            <a:avLst/>
          </a:prstGeom>
          <a:solidFill>
            <a:schemeClr val="accent5"/>
          </a:solidFill>
          <a:ln/>
        </p:spPr>
      </p:sp>
      <p:sp>
        <p:nvSpPr>
          <p:cNvPr id="88" name="Text 86"/>
          <p:cNvSpPr txBox="1"/>
          <p:nvPr/>
        </p:nvSpPr>
        <p:spPr>
          <a:xfrm>
            <a:off x="2578608"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F2</a:t>
            </a:r>
            <a:endParaRPr lang="es-CL" sz="1400" dirty="0"/>
          </a:p>
        </p:txBody>
      </p:sp>
      <p:sp>
        <p:nvSpPr>
          <p:cNvPr id="89" name="Shape 87"/>
          <p:cNvSpPr/>
          <p:nvPr/>
        </p:nvSpPr>
        <p:spPr>
          <a:xfrm>
            <a:off x="3255264" y="5888736"/>
            <a:ext cx="566928" cy="329184"/>
          </a:xfrm>
          <a:prstGeom prst="rect">
            <a:avLst/>
          </a:prstGeom>
          <a:solidFill>
            <a:schemeClr val="accent5"/>
          </a:solidFill>
          <a:ln/>
        </p:spPr>
      </p:sp>
      <p:sp>
        <p:nvSpPr>
          <p:cNvPr id="90" name="Text 88"/>
          <p:cNvSpPr txBox="1"/>
          <p:nvPr/>
        </p:nvSpPr>
        <p:spPr>
          <a:xfrm>
            <a:off x="3255264"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F1</a:t>
            </a:r>
            <a:endParaRPr lang="es-CL" sz="1400" dirty="0"/>
          </a:p>
        </p:txBody>
      </p:sp>
      <p:sp>
        <p:nvSpPr>
          <p:cNvPr id="91" name="Text 89"/>
          <p:cNvSpPr txBox="1"/>
          <p:nvPr/>
        </p:nvSpPr>
        <p:spPr>
          <a:xfrm>
            <a:off x="4023360" y="5870448"/>
            <a:ext cx="3108960" cy="365760"/>
          </a:xfrm>
          <a:prstGeom prst="rect">
            <a:avLst/>
          </a:prstGeom>
          <a:noFill/>
          <a:ln/>
        </p:spPr>
        <p:txBody>
          <a:bodyPr wrap="square" lIns="0" tIns="0" rIns="0" bIns="0" rtlCol="0" anchor="ctr"/>
          <a:lstStyle/>
          <a:p>
            <a:pPr indent="0" marL="0">
              <a:buNone/>
            </a:pPr>
            <a:r>
              <a:rPr lang="es-CL" altLang="en-US" sz="1500" dirty="0">
                <a:solidFill>
                  <a:schemeClr val="tx2"/>
                </a:solidFill>
                <a:latin typeface="Figtree" pitchFamily="34" charset="0"/>
                <a:ea typeface="Figtree" pitchFamily="34" charset="-122"/>
                <a:cs typeface="Figtree" pitchFamily="34" charset="-120"/>
              </a:rPr>
              <a:t>F1 se recupera del primer CMI</a:t>
            </a:r>
            <a:endParaRPr lang="es-CL" sz="1500" dirty="0"/>
          </a:p>
        </p:txBody>
      </p:sp>
      <p:sp>
        <p:nvSpPr>
          <p:cNvPr id="92" name="Shape 90"/>
          <p:cNvSpPr/>
          <p:nvPr/>
        </p:nvSpPr>
        <p:spPr>
          <a:xfrm>
            <a:off x="7791399" y="5870448"/>
            <a:ext cx="3851656" cy="347472"/>
          </a:xfrm>
          <a:prstGeom prst="rect">
            <a:avLst/>
          </a:prstGeom>
          <a:solidFill>
            <a:schemeClr val="bg1">
              <a:alpha val="0"/>
            </a:schemeClr>
          </a:solidFill>
          <a:ln w="12700">
            <a:solidFill>
              <a:schemeClr val="tx2"/>
            </a:solidFill>
            <a:prstDash val="solid"/>
          </a:ln>
        </p:spPr>
      </p:sp>
      <p:sp>
        <p:nvSpPr>
          <p:cNvPr id="93" name="Text 91"/>
          <p:cNvSpPr txBox="1"/>
          <p:nvPr/>
        </p:nvSpPr>
        <p:spPr>
          <a:xfrm>
            <a:off x="7901127" y="5870448"/>
            <a:ext cx="3632200" cy="347472"/>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BRECHA CAMBIARIA: INICIATIVA EN F2</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CMI · PERSPECTIVA CLIENTES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PERSPECTIVA CLIENTES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mide lo que el cliente compra.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(Control de Gestión, octubre de 2026) (atributos que valora el cliente); CMI en red revisado (propuesta del equipo para la Solemne 2). Las metas de C3 y C4 se fijan con la primera muestra de clientes.</a:t>
            </a:r>
            <a:endParaRPr lang="es-CL" sz="1100" dirty="0"/>
          </a:p>
        </p:txBody>
      </p:sp>
      <p:sp>
        <p:nvSpPr>
          <p:cNvPr id="5" name="Text 3"/>
          <p:cNvSpPr txBox="1"/>
          <p:nvPr/>
        </p:nvSpPr>
        <p:spPr>
          <a:xfrm>
            <a:off x="1783080" y="2395728"/>
            <a:ext cx="278892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EL CLIENTE QUIERE</a:t>
            </a:r>
            <a:endParaRPr lang="es-CL" sz="1300" dirty="0"/>
          </a:p>
        </p:txBody>
      </p:sp>
      <p:sp>
        <p:nvSpPr>
          <p:cNvPr id="6" name="Text 4"/>
          <p:cNvSpPr txBox="1"/>
          <p:nvPr/>
        </p:nvSpPr>
        <p:spPr>
          <a:xfrm>
            <a:off x="4754880" y="2395728"/>
            <a:ext cx="306324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OBJETIVO</a:t>
            </a:r>
            <a:endParaRPr lang="es-CL" sz="1300" dirty="0"/>
          </a:p>
        </p:txBody>
      </p:sp>
      <p:sp>
        <p:nvSpPr>
          <p:cNvPr id="7" name="Text 5"/>
          <p:cNvSpPr txBox="1"/>
          <p:nvPr/>
        </p:nvSpPr>
        <p:spPr>
          <a:xfrm>
            <a:off x="8001000" y="2395728"/>
            <a:ext cx="3642055"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INDICADOR</a:t>
            </a:r>
            <a:endParaRPr lang="es-CL" sz="1300" dirty="0"/>
          </a:p>
        </p:txBody>
      </p:sp>
      <p:sp>
        <p:nvSpPr>
          <p:cNvPr id="8" name="Shape 6"/>
          <p:cNvSpPr/>
          <p:nvPr/>
        </p:nvSpPr>
        <p:spPr>
          <a:xfrm>
            <a:off x="1783080" y="2761488"/>
            <a:ext cx="9859975" cy="0"/>
          </a:xfrm>
          <a:prstGeom prst="line">
            <a:avLst/>
          </a:prstGeom>
          <a:noFill/>
          <a:ln w="9525">
            <a:solidFill>
              <a:schemeClr val="accent1"/>
            </a:solidFill>
            <a:prstDash val="solid"/>
          </a:ln>
        </p:spPr>
      </p:sp>
      <p:sp>
        <p:nvSpPr>
          <p:cNvPr id="9" name="Text 7"/>
          <p:cNvSpPr txBox="1"/>
          <p:nvPr/>
        </p:nvSpPr>
        <p:spPr>
          <a:xfrm>
            <a:off x="1783080" y="2761488"/>
            <a:ext cx="2788920" cy="694944"/>
          </a:xfrm>
          <a:prstGeom prst="rect">
            <a:avLst/>
          </a:prstGeom>
          <a:noFill/>
          <a:ln/>
        </p:spPr>
        <p:txBody>
          <a:bodyPr wrap="square" lIns="0" tIns="0" rIns="0" bIns="0" rtlCol="0" anchor="ctr"/>
          <a:lstStyle/>
          <a:p>
            <a:pPr indent="0" marL="0">
              <a:buNone/>
            </a:pPr>
            <a:r>
              <a:rPr lang="es-CL" altLang="en-US" sz="2000" i="1" dirty="0">
                <a:solidFill>
                  <a:schemeClr val="tx1"/>
                </a:solidFill>
                <a:latin typeface="Instrument Serif" pitchFamily="34" charset="0"/>
                <a:ea typeface="Instrument Serif" pitchFamily="34" charset="-122"/>
                <a:cs typeface="Instrument Serif" pitchFamily="34" charset="-120"/>
              </a:rPr>
              <a:t>Que funcione sin tocar el motor</a:t>
            </a:r>
            <a:endParaRPr lang="es-CL" sz="2000" dirty="0"/>
          </a:p>
        </p:txBody>
      </p:sp>
      <p:sp>
        <p:nvSpPr>
          <p:cNvPr id="10" name="Shape 8"/>
          <p:cNvSpPr/>
          <p:nvPr/>
        </p:nvSpPr>
        <p:spPr>
          <a:xfrm>
            <a:off x="4754880" y="2944368"/>
            <a:ext cx="566928" cy="329184"/>
          </a:xfrm>
          <a:prstGeom prst="rect">
            <a:avLst/>
          </a:prstGeom>
          <a:solidFill>
            <a:schemeClr val="accent5"/>
          </a:solidFill>
          <a:ln/>
        </p:spPr>
      </p:sp>
      <p:sp>
        <p:nvSpPr>
          <p:cNvPr id="11" name="Text 9"/>
          <p:cNvSpPr txBox="1"/>
          <p:nvPr/>
        </p:nvSpPr>
        <p:spPr>
          <a:xfrm>
            <a:off x="4754880" y="2944368"/>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C1</a:t>
            </a:r>
            <a:endParaRPr lang="es-CL" sz="1400" dirty="0"/>
          </a:p>
        </p:txBody>
      </p:sp>
      <p:sp>
        <p:nvSpPr>
          <p:cNvPr id="12" name="Text 10"/>
          <p:cNvSpPr txBox="1"/>
          <p:nvPr/>
        </p:nvSpPr>
        <p:spPr>
          <a:xfrm>
            <a:off x="5440680" y="2761488"/>
            <a:ext cx="2331720" cy="69494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Promesa técnica cumplida</a:t>
            </a:r>
            <a:endParaRPr lang="es-CL" sz="1800" dirty="0"/>
          </a:p>
        </p:txBody>
      </p:sp>
      <p:sp>
        <p:nvSpPr>
          <p:cNvPr id="13" name="Text 11"/>
          <p:cNvSpPr txBox="1"/>
          <p:nvPr/>
        </p:nvSpPr>
        <p:spPr>
          <a:xfrm>
            <a:off x="8001000" y="2761488"/>
            <a:ext cx="3642055" cy="69494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Servicios conformes ÷ entregas verificadas</a:t>
            </a:r>
            <a:endParaRPr lang="es-CL" sz="1600" dirty="0"/>
          </a:p>
        </p:txBody>
      </p:sp>
      <p:sp>
        <p:nvSpPr>
          <p:cNvPr id="14" name="Shape 12"/>
          <p:cNvSpPr/>
          <p:nvPr/>
        </p:nvSpPr>
        <p:spPr>
          <a:xfrm>
            <a:off x="1783080" y="3456432"/>
            <a:ext cx="9859975" cy="0"/>
          </a:xfrm>
          <a:prstGeom prst="line">
            <a:avLst/>
          </a:prstGeom>
          <a:noFill/>
          <a:ln w="9525">
            <a:solidFill>
              <a:schemeClr val="accent5"/>
            </a:solidFill>
            <a:prstDash val="solid"/>
          </a:ln>
        </p:spPr>
      </p:sp>
      <p:sp>
        <p:nvSpPr>
          <p:cNvPr id="15" name="Text 13"/>
          <p:cNvSpPr txBox="1"/>
          <p:nvPr/>
        </p:nvSpPr>
        <p:spPr>
          <a:xfrm>
            <a:off x="1783080" y="3456432"/>
            <a:ext cx="2788920" cy="694944"/>
          </a:xfrm>
          <a:prstGeom prst="rect">
            <a:avLst/>
          </a:prstGeom>
          <a:noFill/>
          <a:ln/>
        </p:spPr>
        <p:txBody>
          <a:bodyPr wrap="square" lIns="0" tIns="0" rIns="0" bIns="0" rtlCol="0" anchor="ctr"/>
          <a:lstStyle/>
          <a:p>
            <a:pPr indent="0" marL="0">
              <a:buNone/>
            </a:pPr>
            <a:r>
              <a:rPr lang="es-CL" altLang="en-US" sz="2000" i="1" dirty="0">
                <a:solidFill>
                  <a:schemeClr val="tx1"/>
                </a:solidFill>
                <a:latin typeface="Instrument Serif" pitchFamily="34" charset="0"/>
                <a:ea typeface="Instrument Serif" pitchFamily="34" charset="-122"/>
                <a:cs typeface="Instrument Serif" pitchFamily="34" charset="-120"/>
              </a:rPr>
              <a:t>Saber cuánto ahorra</a:t>
            </a:r>
            <a:endParaRPr lang="es-CL" sz="2000" dirty="0"/>
          </a:p>
        </p:txBody>
      </p:sp>
      <p:sp>
        <p:nvSpPr>
          <p:cNvPr id="16" name="Shape 14"/>
          <p:cNvSpPr/>
          <p:nvPr/>
        </p:nvSpPr>
        <p:spPr>
          <a:xfrm>
            <a:off x="4754880" y="3639312"/>
            <a:ext cx="566928" cy="329184"/>
          </a:xfrm>
          <a:prstGeom prst="rect">
            <a:avLst/>
          </a:prstGeom>
          <a:solidFill>
            <a:schemeClr val="accent5"/>
          </a:solidFill>
          <a:ln/>
        </p:spPr>
      </p:sp>
      <p:sp>
        <p:nvSpPr>
          <p:cNvPr id="17" name="Shape 15"/>
          <p:cNvSpPr/>
          <p:nvPr/>
        </p:nvSpPr>
        <p:spPr>
          <a:xfrm>
            <a:off x="4754880" y="3639312"/>
            <a:ext cx="566928" cy="45720"/>
          </a:xfrm>
          <a:prstGeom prst="rect">
            <a:avLst/>
          </a:prstGeom>
          <a:solidFill>
            <a:srgbClr val="0A6F9E"/>
          </a:solidFill>
          <a:ln/>
        </p:spPr>
      </p:sp>
      <p:sp>
        <p:nvSpPr>
          <p:cNvPr id="18" name="Text 16"/>
          <p:cNvSpPr txBox="1"/>
          <p:nvPr/>
        </p:nvSpPr>
        <p:spPr>
          <a:xfrm>
            <a:off x="4754880" y="3639312"/>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C2</a:t>
            </a:r>
            <a:endParaRPr lang="es-CL" sz="1400" dirty="0"/>
          </a:p>
        </p:txBody>
      </p:sp>
      <p:sp>
        <p:nvSpPr>
          <p:cNvPr id="19" name="Text 17"/>
          <p:cNvSpPr txBox="1"/>
          <p:nvPr/>
        </p:nvSpPr>
        <p:spPr>
          <a:xfrm>
            <a:off x="5440680" y="3456432"/>
            <a:ext cx="2331720" cy="69494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Ahorro acreditado</a:t>
            </a:r>
            <a:endParaRPr lang="es-CL" sz="1800" dirty="0"/>
          </a:p>
        </p:txBody>
      </p:sp>
      <p:sp>
        <p:nvSpPr>
          <p:cNvPr id="20" name="Text 18"/>
          <p:cNvSpPr txBox="1"/>
          <p:nvPr/>
        </p:nvSpPr>
        <p:spPr>
          <a:xfrm>
            <a:off x="8001000" y="3456432"/>
            <a:ext cx="3642055" cy="69494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Reportes comparativos completos ÷ exigibles</a:t>
            </a:r>
            <a:endParaRPr lang="es-CL" sz="1600" dirty="0"/>
          </a:p>
        </p:txBody>
      </p:sp>
      <p:sp>
        <p:nvSpPr>
          <p:cNvPr id="21" name="Shape 19"/>
          <p:cNvSpPr/>
          <p:nvPr/>
        </p:nvSpPr>
        <p:spPr>
          <a:xfrm>
            <a:off x="1783080" y="4151376"/>
            <a:ext cx="9859975" cy="0"/>
          </a:xfrm>
          <a:prstGeom prst="line">
            <a:avLst/>
          </a:prstGeom>
          <a:noFill/>
          <a:ln w="9525">
            <a:solidFill>
              <a:schemeClr val="accent5"/>
            </a:solidFill>
            <a:prstDash val="solid"/>
          </a:ln>
        </p:spPr>
      </p:sp>
      <p:sp>
        <p:nvSpPr>
          <p:cNvPr id="22" name="Text 20"/>
          <p:cNvSpPr txBox="1"/>
          <p:nvPr/>
        </p:nvSpPr>
        <p:spPr>
          <a:xfrm>
            <a:off x="1783080" y="4151376"/>
            <a:ext cx="2788920" cy="694944"/>
          </a:xfrm>
          <a:prstGeom prst="rect">
            <a:avLst/>
          </a:prstGeom>
          <a:noFill/>
          <a:ln/>
        </p:spPr>
        <p:txBody>
          <a:bodyPr wrap="square" lIns="0" tIns="0" rIns="0" bIns="0" rtlCol="0" anchor="ctr"/>
          <a:lstStyle/>
          <a:p>
            <a:pPr indent="0" marL="0">
              <a:buNone/>
            </a:pPr>
            <a:r>
              <a:rPr lang="es-CL" altLang="en-US" sz="2000" i="1" dirty="0">
                <a:solidFill>
                  <a:schemeClr val="tx1"/>
                </a:solidFill>
                <a:latin typeface="Instrument Serif" pitchFamily="34" charset="0"/>
                <a:ea typeface="Instrument Serif" pitchFamily="34" charset="-122"/>
                <a:cs typeface="Instrument Serif" pitchFamily="34" charset="-120"/>
              </a:rPr>
              <a:t>Atreverse a comprar</a:t>
            </a:r>
            <a:endParaRPr lang="es-CL" sz="2000" dirty="0"/>
          </a:p>
        </p:txBody>
      </p:sp>
      <p:sp>
        <p:nvSpPr>
          <p:cNvPr id="23" name="Shape 21"/>
          <p:cNvSpPr/>
          <p:nvPr/>
        </p:nvSpPr>
        <p:spPr>
          <a:xfrm>
            <a:off x="4754880" y="4334256"/>
            <a:ext cx="566928" cy="329184"/>
          </a:xfrm>
          <a:prstGeom prst="rect">
            <a:avLst/>
          </a:prstGeom>
          <a:solidFill>
            <a:schemeClr val="accent5"/>
          </a:solidFill>
          <a:ln/>
        </p:spPr>
      </p:sp>
      <p:sp>
        <p:nvSpPr>
          <p:cNvPr id="24" name="Text 22"/>
          <p:cNvSpPr txBox="1"/>
          <p:nvPr/>
        </p:nvSpPr>
        <p:spPr>
          <a:xfrm>
            <a:off x="4754880" y="433425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C3</a:t>
            </a:r>
            <a:endParaRPr lang="es-CL" sz="1400" dirty="0"/>
          </a:p>
        </p:txBody>
      </p:sp>
      <p:sp>
        <p:nvSpPr>
          <p:cNvPr id="25" name="Text 23"/>
          <p:cNvSpPr txBox="1"/>
          <p:nvPr/>
        </p:nvSpPr>
        <p:spPr>
          <a:xfrm>
            <a:off x="5440680" y="4151376"/>
            <a:ext cx="2331720" cy="69494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Confianza del cliente</a:t>
            </a:r>
            <a:endParaRPr lang="es-CL" sz="1800" dirty="0"/>
          </a:p>
        </p:txBody>
      </p:sp>
      <p:sp>
        <p:nvSpPr>
          <p:cNvPr id="26" name="Text 24"/>
          <p:cNvSpPr txBox="1"/>
          <p:nvPr/>
        </p:nvSpPr>
        <p:spPr>
          <a:xfrm>
            <a:off x="8001000" y="4151376"/>
            <a:ext cx="3230575" cy="69494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Confianza declarada después del servicio; reclamos por servicio</a:t>
            </a:r>
            <a:endParaRPr lang="es-CL" sz="1600" dirty="0"/>
          </a:p>
        </p:txBody>
      </p:sp>
      <p:sp>
        <p:nvSpPr>
          <p:cNvPr id="27" name="Shape 25"/>
          <p:cNvSpPr/>
          <p:nvPr/>
        </p:nvSpPr>
        <p:spPr>
          <a:xfrm>
            <a:off x="11372393" y="4383634"/>
            <a:ext cx="230429" cy="230429"/>
          </a:xfrm>
          <a:prstGeom prst="rect">
            <a:avLst/>
          </a:prstGeom>
          <a:solidFill>
            <a:schemeClr val="bg1">
              <a:alpha val="0"/>
            </a:schemeClr>
          </a:solidFill>
          <a:ln w="19050">
            <a:solidFill>
              <a:srgbClr val="8B9598"/>
            </a:solidFill>
            <a:prstDash val="sysDot"/>
          </a:ln>
        </p:spPr>
      </p:sp>
      <p:sp>
        <p:nvSpPr>
          <p:cNvPr id="28" name="Shape 26"/>
          <p:cNvSpPr/>
          <p:nvPr/>
        </p:nvSpPr>
        <p:spPr>
          <a:xfrm>
            <a:off x="1783080" y="4846320"/>
            <a:ext cx="9859975" cy="0"/>
          </a:xfrm>
          <a:prstGeom prst="line">
            <a:avLst/>
          </a:prstGeom>
          <a:noFill/>
          <a:ln w="9525">
            <a:solidFill>
              <a:schemeClr val="accent5"/>
            </a:solidFill>
            <a:prstDash val="solid"/>
          </a:ln>
        </p:spPr>
      </p:sp>
      <p:sp>
        <p:nvSpPr>
          <p:cNvPr id="29" name="Text 27"/>
          <p:cNvSpPr txBox="1"/>
          <p:nvPr/>
        </p:nvSpPr>
        <p:spPr>
          <a:xfrm>
            <a:off x="1783080" y="4846320"/>
            <a:ext cx="2788920" cy="694944"/>
          </a:xfrm>
          <a:prstGeom prst="rect">
            <a:avLst/>
          </a:prstGeom>
          <a:noFill/>
          <a:ln/>
        </p:spPr>
        <p:txBody>
          <a:bodyPr wrap="square" lIns="0" tIns="0" rIns="0" bIns="0" rtlCol="0" anchor="ctr"/>
          <a:lstStyle/>
          <a:p>
            <a:pPr indent="0" marL="0">
              <a:buNone/>
            </a:pPr>
            <a:r>
              <a:rPr lang="es-CL" altLang="en-US" sz="2000" i="1" dirty="0">
                <a:solidFill>
                  <a:schemeClr val="tx1"/>
                </a:solidFill>
                <a:latin typeface="Instrument Serif" pitchFamily="34" charset="0"/>
                <a:ea typeface="Instrument Serif" pitchFamily="34" charset="-122"/>
                <a:cs typeface="Instrument Serif" pitchFamily="34" charset="-120"/>
              </a:rPr>
              <a:t>Comprar</a:t>
            </a:r>
            <a:endParaRPr lang="es-CL" sz="2000" dirty="0"/>
          </a:p>
        </p:txBody>
      </p:sp>
      <p:sp>
        <p:nvSpPr>
          <p:cNvPr id="30" name="Shape 28"/>
          <p:cNvSpPr/>
          <p:nvPr/>
        </p:nvSpPr>
        <p:spPr>
          <a:xfrm>
            <a:off x="4754880" y="5029200"/>
            <a:ext cx="566928" cy="329184"/>
          </a:xfrm>
          <a:prstGeom prst="rect">
            <a:avLst/>
          </a:prstGeom>
          <a:solidFill>
            <a:schemeClr val="accent5"/>
          </a:solidFill>
          <a:ln/>
        </p:spPr>
      </p:sp>
      <p:sp>
        <p:nvSpPr>
          <p:cNvPr id="31" name="Shape 29"/>
          <p:cNvSpPr/>
          <p:nvPr/>
        </p:nvSpPr>
        <p:spPr>
          <a:xfrm>
            <a:off x="4754880" y="5029200"/>
            <a:ext cx="566928" cy="45720"/>
          </a:xfrm>
          <a:prstGeom prst="rect">
            <a:avLst/>
          </a:prstGeom>
          <a:solidFill>
            <a:srgbClr val="22B8F0"/>
          </a:solidFill>
          <a:ln/>
        </p:spPr>
      </p:sp>
      <p:sp>
        <p:nvSpPr>
          <p:cNvPr id="32" name="Text 30"/>
          <p:cNvSpPr txBox="1"/>
          <p:nvPr/>
        </p:nvSpPr>
        <p:spPr>
          <a:xfrm>
            <a:off x="4754880" y="5029200"/>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C4</a:t>
            </a:r>
            <a:endParaRPr lang="es-CL" sz="1400" dirty="0"/>
          </a:p>
        </p:txBody>
      </p:sp>
      <p:sp>
        <p:nvSpPr>
          <p:cNvPr id="33" name="Text 31"/>
          <p:cNvSpPr txBox="1"/>
          <p:nvPr/>
        </p:nvSpPr>
        <p:spPr>
          <a:xfrm>
            <a:off x="5440680" y="4846320"/>
            <a:ext cx="2331720" cy="69494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Segmento captado</a:t>
            </a:r>
            <a:endParaRPr lang="es-CL" sz="1800" dirty="0"/>
          </a:p>
        </p:txBody>
      </p:sp>
      <p:sp>
        <p:nvSpPr>
          <p:cNvPr id="34" name="Text 32"/>
          <p:cNvSpPr txBox="1"/>
          <p:nvPr/>
        </p:nvSpPr>
        <p:spPr>
          <a:xfrm>
            <a:off x="8001000" y="4846320"/>
            <a:ext cx="3230575" cy="694944"/>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Consultas del segmento convertidas en instalaciones</a:t>
            </a:r>
            <a:endParaRPr lang="es-CL" sz="1600" dirty="0"/>
          </a:p>
        </p:txBody>
      </p:sp>
      <p:sp>
        <p:nvSpPr>
          <p:cNvPr id="35" name="Shape 33"/>
          <p:cNvSpPr/>
          <p:nvPr/>
        </p:nvSpPr>
        <p:spPr>
          <a:xfrm>
            <a:off x="11372393" y="5078578"/>
            <a:ext cx="230429" cy="230429"/>
          </a:xfrm>
          <a:prstGeom prst="rect">
            <a:avLst/>
          </a:prstGeom>
          <a:solidFill>
            <a:schemeClr val="bg1">
              <a:alpha val="0"/>
            </a:schemeClr>
          </a:solidFill>
          <a:ln w="19050">
            <a:solidFill>
              <a:srgbClr val="8B9598"/>
            </a:solidFill>
            <a:prstDash val="sysDot"/>
          </a:ln>
        </p:spPr>
      </p:sp>
      <p:sp>
        <p:nvSpPr>
          <p:cNvPr id="36" name="Shape 34"/>
          <p:cNvSpPr/>
          <p:nvPr/>
        </p:nvSpPr>
        <p:spPr>
          <a:xfrm>
            <a:off x="1783080" y="5541264"/>
            <a:ext cx="9859975" cy="0"/>
          </a:xfrm>
          <a:prstGeom prst="line">
            <a:avLst/>
          </a:prstGeom>
          <a:noFill/>
          <a:ln w="9525">
            <a:solidFill>
              <a:schemeClr val="accent5"/>
            </a:solidFill>
            <a:prstDash val="solid"/>
          </a:ln>
        </p:spPr>
      </p:sp>
      <p:sp>
        <p:nvSpPr>
          <p:cNvPr id="37" name="Shape 35"/>
          <p:cNvSpPr/>
          <p:nvPr/>
        </p:nvSpPr>
        <p:spPr>
          <a:xfrm>
            <a:off x="1600200" y="2834640"/>
            <a:ext cx="0" cy="1243584"/>
          </a:xfrm>
          <a:prstGeom prst="line">
            <a:avLst/>
          </a:prstGeom>
          <a:noFill/>
          <a:ln w="38100">
            <a:solidFill>
              <a:schemeClr val="accent1"/>
            </a:solidFill>
            <a:prstDash val="solid"/>
          </a:ln>
        </p:spPr>
      </p:sp>
      <p:sp>
        <p:nvSpPr>
          <p:cNvPr id="38" name="Text 36"/>
          <p:cNvSpPr txBox="1"/>
          <p:nvPr/>
        </p:nvSpPr>
        <p:spPr>
          <a:xfrm>
            <a:off x="548640" y="2761488"/>
            <a:ext cx="960120" cy="1389888"/>
          </a:xfrm>
          <a:prstGeom prst="rect">
            <a:avLst/>
          </a:prstGeom>
          <a:noFill/>
          <a:ln/>
        </p:spPr>
        <p:txBody>
          <a:bodyPr wrap="square" lIns="0" tIns="0" rIns="0" bIns="0" rtlCol="0" anchor="ctr"/>
          <a:lstStyle/>
          <a:p>
            <a:pPr algn="r" indent="0" marL="0">
              <a:buNone/>
            </a:pPr>
            <a:r>
              <a:rPr lang="es-CL" altLang="en-US" sz="1200" dirty="0">
                <a:solidFill>
                  <a:schemeClr val="accent1"/>
                </a:solidFill>
                <a:latin typeface="IBM Plex Mono" pitchFamily="34" charset="0"/>
                <a:ea typeface="IBM Plex Mono" pitchFamily="34" charset="-122"/>
                <a:cs typeface="IBM Plex Mono" pitchFamily="34" charset="-120"/>
              </a:rPr>
              <a:t>PROPUESTA</a:t>
            </a:r>
            <a:endParaRPr lang="es-CL" sz="1200" dirty="0"/>
          </a:p>
          <a:p>
            <a:pPr algn="r" indent="0" marL="0">
              <a:buNone/>
            </a:pPr>
            <a:r>
              <a:rPr lang="es-CL" altLang="en-US" sz="1200" dirty="0">
                <a:solidFill>
                  <a:schemeClr val="accent1"/>
                </a:solidFill>
                <a:latin typeface="IBM Plex Mono" pitchFamily="34" charset="0"/>
                <a:ea typeface="IBM Plex Mono" pitchFamily="34" charset="-122"/>
                <a:cs typeface="IBM Plex Mono" pitchFamily="34" charset="-120"/>
              </a:rPr>
              <a:t>DE VALOR</a:t>
            </a:r>
            <a:endParaRPr lang="es-CL" sz="1200" dirty="0"/>
          </a:p>
        </p:txBody>
      </p:sp>
      <p:sp>
        <p:nvSpPr>
          <p:cNvPr id="39" name="Shape 37"/>
          <p:cNvSpPr/>
          <p:nvPr/>
        </p:nvSpPr>
        <p:spPr>
          <a:xfrm>
            <a:off x="1600200" y="4224528"/>
            <a:ext cx="0" cy="1243584"/>
          </a:xfrm>
          <a:prstGeom prst="line">
            <a:avLst/>
          </a:prstGeom>
          <a:noFill/>
          <a:ln w="38100">
            <a:solidFill>
              <a:schemeClr val="tx1"/>
            </a:solidFill>
            <a:prstDash val="solid"/>
          </a:ln>
        </p:spPr>
      </p:sp>
      <p:sp>
        <p:nvSpPr>
          <p:cNvPr id="40" name="Text 38"/>
          <p:cNvSpPr txBox="1"/>
          <p:nvPr/>
        </p:nvSpPr>
        <p:spPr>
          <a:xfrm>
            <a:off x="548640" y="4151376"/>
            <a:ext cx="960120" cy="1389888"/>
          </a:xfrm>
          <a:prstGeom prst="rect">
            <a:avLst/>
          </a:prstGeom>
          <a:noFill/>
          <a:ln/>
        </p:spPr>
        <p:txBody>
          <a:bodyPr wrap="square" lIns="0" tIns="0" rIns="0" bIns="0" rtlCol="0" anchor="ctr"/>
          <a:lstStyle/>
          <a:p>
            <a:pPr algn="r" indent="0" marL="0">
              <a:buNone/>
            </a:pPr>
            <a:r>
              <a:rPr lang="es-CL" altLang="en-US" sz="1200" dirty="0">
                <a:solidFill>
                  <a:schemeClr val="tx1"/>
                </a:solidFill>
                <a:latin typeface="IBM Plex Mono" pitchFamily="34" charset="0"/>
                <a:ea typeface="IBM Plex Mono" pitchFamily="34" charset="-122"/>
                <a:cs typeface="IBM Plex Mono" pitchFamily="34" charset="-120"/>
              </a:rPr>
              <a:t>RESULTADO</a:t>
            </a:r>
            <a:pPr algn="r" indent="0" marL="0">
              <a:buNone/>
            </a:pPr>
            <a:endParaRPr lang="es-CL" sz="1200" dirty="0"/>
          </a:p>
        </p:txBody>
      </p:sp>
      <p:sp>
        <p:nvSpPr>
          <p:cNvPr id="41" name="Text 39"/>
          <p:cNvSpPr txBox="1"/>
          <p:nvPr/>
        </p:nvSpPr>
        <p:spPr>
          <a:xfrm>
            <a:off x="1783080" y="5742432"/>
            <a:ext cx="7939735" cy="457200"/>
          </a:xfrm>
          <a:prstGeom prst="rect">
            <a:avLst/>
          </a:prstGeom>
          <a:noFill/>
          <a:ln/>
        </p:spPr>
        <p:txBody>
          <a:bodyPr wrap="square" lIns="0" tIns="0" rIns="0" bIns="0" rtlCol="0" anchor="ctr"/>
          <a:lstStyle/>
          <a:p>
            <a:pPr indent="0" marL="0">
              <a:buNone/>
            </a:pPr>
            <a:r>
              <a:rPr lang="es-CL" altLang="en-US" sz="1900" b="1" dirty="0">
                <a:solidFill>
                  <a:schemeClr val="tx1"/>
                </a:solidFill>
                <a:latin typeface="Figtree" pitchFamily="34" charset="0"/>
                <a:ea typeface="Figtree" pitchFamily="34" charset="-122"/>
                <a:cs typeface="Figtree" pitchFamily="34" charset="-120"/>
              </a:rPr>
              <a:t>Las alianzas pasan a procesos (P6): </a:t>
            </a:r>
            <a:pPr indent="0" marL="0">
              <a:buNone/>
            </a:pPr>
            <a:r>
              <a:rPr lang="es-CL" altLang="en-US" sz="1900" dirty="0">
                <a:solidFill>
                  <a:schemeClr val="tx2"/>
                </a:solidFill>
                <a:latin typeface="Figtree" pitchFamily="34" charset="0"/>
                <a:ea typeface="Figtree" pitchFamily="34" charset="-122"/>
                <a:cs typeface="Figtree" pitchFamily="34" charset="-120"/>
              </a:rPr>
              <a:t>son el medio, no el valor.</a:t>
            </a:r>
            <a:endParaRPr lang="es-CL" sz="1900" dirty="0"/>
          </a:p>
        </p:txBody>
      </p:sp>
      <p:sp>
        <p:nvSpPr>
          <p:cNvPr id="42" name="Shape 40"/>
          <p:cNvSpPr/>
          <p:nvPr/>
        </p:nvSpPr>
        <p:spPr>
          <a:xfrm>
            <a:off x="9878995" y="5871180"/>
            <a:ext cx="199705" cy="199705"/>
          </a:xfrm>
          <a:prstGeom prst="rect">
            <a:avLst/>
          </a:prstGeom>
          <a:solidFill>
            <a:schemeClr val="bg1">
              <a:alpha val="0"/>
            </a:schemeClr>
          </a:solidFill>
          <a:ln w="19050">
            <a:solidFill>
              <a:srgbClr val="8B9598"/>
            </a:solidFill>
            <a:prstDash val="sysDot"/>
          </a:ln>
        </p:spPr>
      </p:sp>
      <p:sp>
        <p:nvSpPr>
          <p:cNvPr id="43" name="Text 41"/>
          <p:cNvSpPr txBox="1"/>
          <p:nvPr/>
        </p:nvSpPr>
        <p:spPr>
          <a:xfrm>
            <a:off x="10180015" y="5797296"/>
            <a:ext cx="1463040" cy="347472"/>
          </a:xfrm>
          <a:prstGeom prst="rect">
            <a:avLst/>
          </a:prstGeom>
          <a:noFill/>
          <a:ln/>
        </p:spPr>
        <p:txBody>
          <a:bodyPr wrap="square" lIns="0" tIns="0" rIns="0" bIns="0" rtlCol="0" anchor="ctr"/>
          <a:lstStyle/>
          <a:p>
            <a:pPr indent="0" marL="0">
              <a:buNone/>
            </a:pPr>
            <a:r>
              <a:rPr lang="es-CL" altLang="en-US" sz="1200" spc="100" kern="0" dirty="0">
                <a:solidFill>
                  <a:srgbClr val="8B9598"/>
                </a:solidFill>
                <a:latin typeface="IBM Plex Mono" pitchFamily="34" charset="0"/>
                <a:ea typeface="IBM Plex Mono" pitchFamily="34" charset="-122"/>
                <a:cs typeface="IBM Plex Mono" pitchFamily="34" charset="-120"/>
              </a:rPr>
              <a:t>META PENDIENTE</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CMI · MAPA ESTRATÉGICO EN RED</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OBJETIVO EMPUJA A OTRO: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tres rutas lo prueban.</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17 objetivos y 20 relaciones. Las flechas son condiciones o hipótesis por comprobar, no causalidad demostrada.</a:t>
            </a:r>
            <a:endParaRPr lang="es-CL" sz="1100" dirty="0"/>
          </a:p>
        </p:txBody>
      </p:sp>
      <p:sp>
        <p:nvSpPr>
          <p:cNvPr id="5" name="Text 3"/>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6" name="Shape 4"/>
          <p:cNvSpPr/>
          <p:nvPr/>
        </p:nvSpPr>
        <p:spPr>
          <a:xfrm>
            <a:off x="10168585" y="978408"/>
            <a:ext cx="384048" cy="0"/>
          </a:xfrm>
          <a:prstGeom prst="line">
            <a:avLst/>
          </a:prstGeom>
          <a:noFill/>
          <a:ln w="19050">
            <a:solidFill>
              <a:schemeClr val="accent1"/>
            </a:solidFill>
            <a:prstDash val="dash"/>
          </a:ln>
        </p:spPr>
      </p:sp>
      <p:sp>
        <p:nvSpPr>
          <p:cNvPr id="7" name="Text 5"/>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8" name="Shape 6"/>
          <p:cNvSpPr/>
          <p:nvPr/>
        </p:nvSpPr>
        <p:spPr>
          <a:xfrm>
            <a:off x="7637475" y="978408"/>
            <a:ext cx="384048" cy="0"/>
          </a:xfrm>
          <a:prstGeom prst="line">
            <a:avLst/>
          </a:prstGeom>
          <a:noFill/>
          <a:ln w="41275">
            <a:solidFill>
              <a:schemeClr val="tx1"/>
            </a:solidFill>
            <a:prstDash val="solid"/>
          </a:ln>
        </p:spPr>
      </p:sp>
      <p:sp>
        <p:nvSpPr>
          <p:cNvPr id="9" name="Text 7"/>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0" name="Shape 8"/>
          <p:cNvSpPr/>
          <p:nvPr/>
        </p:nvSpPr>
        <p:spPr>
          <a:xfrm>
            <a:off x="5693105" y="978408"/>
            <a:ext cx="384048" cy="0"/>
          </a:xfrm>
          <a:prstGeom prst="line">
            <a:avLst/>
          </a:prstGeom>
          <a:noFill/>
          <a:ln w="25400">
            <a:solidFill>
              <a:schemeClr val="accent1"/>
            </a:solidFill>
            <a:prstDash val="solid"/>
          </a:ln>
        </p:spPr>
      </p:sp>
      <p:sp>
        <p:nvSpPr>
          <p:cNvPr id="11" name="Shape 9"/>
          <p:cNvSpPr/>
          <p:nvPr/>
        </p:nvSpPr>
        <p:spPr>
          <a:xfrm>
            <a:off x="548640" y="2331720"/>
            <a:ext cx="0" cy="566928"/>
          </a:xfrm>
          <a:prstGeom prst="line">
            <a:avLst/>
          </a:prstGeom>
          <a:noFill/>
          <a:ln w="25400">
            <a:solidFill>
              <a:schemeClr val="accent1"/>
            </a:solidFill>
            <a:prstDash val="solid"/>
          </a:ln>
        </p:spPr>
      </p:sp>
      <p:sp>
        <p:nvSpPr>
          <p:cNvPr id="12" name="Text 10"/>
          <p:cNvSpPr txBox="1"/>
          <p:nvPr/>
        </p:nvSpPr>
        <p:spPr>
          <a:xfrm>
            <a:off x="658368" y="2331720"/>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FINANCIERA</a:t>
            </a:r>
            <a:endParaRPr lang="es-CL" sz="1200" dirty="0"/>
          </a:p>
        </p:txBody>
      </p:sp>
      <p:sp>
        <p:nvSpPr>
          <p:cNvPr id="13" name="Shape 11"/>
          <p:cNvSpPr/>
          <p:nvPr/>
        </p:nvSpPr>
        <p:spPr>
          <a:xfrm>
            <a:off x="548640" y="3163824"/>
            <a:ext cx="0" cy="1399032"/>
          </a:xfrm>
          <a:prstGeom prst="line">
            <a:avLst/>
          </a:prstGeom>
          <a:noFill/>
          <a:ln w="25400">
            <a:solidFill>
              <a:schemeClr val="accent1"/>
            </a:solidFill>
            <a:prstDash val="solid"/>
          </a:ln>
        </p:spPr>
      </p:sp>
      <p:sp>
        <p:nvSpPr>
          <p:cNvPr id="14" name="Text 12"/>
          <p:cNvSpPr txBox="1"/>
          <p:nvPr/>
        </p:nvSpPr>
        <p:spPr>
          <a:xfrm>
            <a:off x="658368" y="3163824"/>
            <a:ext cx="1188720" cy="1399032"/>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CLIENTES</a:t>
            </a:r>
            <a:endParaRPr lang="es-CL" sz="1200" dirty="0"/>
          </a:p>
        </p:txBody>
      </p:sp>
      <p:sp>
        <p:nvSpPr>
          <p:cNvPr id="15" name="Shape 13"/>
          <p:cNvSpPr/>
          <p:nvPr/>
        </p:nvSpPr>
        <p:spPr>
          <a:xfrm>
            <a:off x="548640" y="4828032"/>
            <a:ext cx="0" cy="566928"/>
          </a:xfrm>
          <a:prstGeom prst="line">
            <a:avLst/>
          </a:prstGeom>
          <a:noFill/>
          <a:ln w="25400">
            <a:solidFill>
              <a:schemeClr val="accent1"/>
            </a:solidFill>
            <a:prstDash val="solid"/>
          </a:ln>
        </p:spPr>
      </p:sp>
      <p:sp>
        <p:nvSpPr>
          <p:cNvPr id="16" name="Text 14"/>
          <p:cNvSpPr txBox="1"/>
          <p:nvPr/>
        </p:nvSpPr>
        <p:spPr>
          <a:xfrm>
            <a:off x="658368" y="4828032"/>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PROCESOS</a:t>
            </a:r>
            <a:endParaRPr lang="es-CL" sz="1200" dirty="0"/>
          </a:p>
        </p:txBody>
      </p:sp>
      <p:sp>
        <p:nvSpPr>
          <p:cNvPr id="17" name="Shape 15"/>
          <p:cNvSpPr/>
          <p:nvPr/>
        </p:nvSpPr>
        <p:spPr>
          <a:xfrm>
            <a:off x="548640" y="5660136"/>
            <a:ext cx="0" cy="566928"/>
          </a:xfrm>
          <a:prstGeom prst="line">
            <a:avLst/>
          </a:prstGeom>
          <a:noFill/>
          <a:ln w="25400">
            <a:solidFill>
              <a:schemeClr val="accent1"/>
            </a:solidFill>
            <a:prstDash val="solid"/>
          </a:ln>
        </p:spPr>
      </p:sp>
      <p:sp>
        <p:nvSpPr>
          <p:cNvPr id="18" name="Text 16"/>
          <p:cNvSpPr txBox="1"/>
          <p:nvPr/>
        </p:nvSpPr>
        <p:spPr>
          <a:xfrm>
            <a:off x="658368" y="5660136"/>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APRENDIZAJE</a:t>
            </a:r>
            <a:endParaRPr lang="es-CL" sz="1200" dirty="0"/>
          </a:p>
        </p:txBody>
      </p:sp>
      <p:sp>
        <p:nvSpPr>
          <p:cNvPr id="19" name="Text 17"/>
          <p:cNvSpPr txBox="1"/>
          <p:nvPr/>
        </p:nvSpPr>
        <p:spPr>
          <a:xfrm>
            <a:off x="658368" y="3493008"/>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resultado</a:t>
            </a:r>
            <a:endParaRPr lang="es-CL" sz="1300" dirty="0"/>
          </a:p>
        </p:txBody>
      </p:sp>
      <p:sp>
        <p:nvSpPr>
          <p:cNvPr id="20" name="Text 18"/>
          <p:cNvSpPr txBox="1"/>
          <p:nvPr/>
        </p:nvSpPr>
        <p:spPr>
          <a:xfrm>
            <a:off x="658368" y="4325112"/>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propuesta de valor</a:t>
            </a:r>
            <a:endParaRPr lang="es-CL" sz="1300" dirty="0"/>
          </a:p>
        </p:txBody>
      </p:sp>
      <p:sp>
        <p:nvSpPr>
          <p:cNvPr id="21" name="Shape 19"/>
          <p:cNvSpPr/>
          <p:nvPr/>
        </p:nvSpPr>
        <p:spPr>
          <a:xfrm>
            <a:off x="5863133" y="5660136"/>
            <a:ext cx="0" cy="-265176"/>
          </a:xfrm>
          <a:prstGeom prst="line">
            <a:avLst/>
          </a:prstGeom>
          <a:noFill/>
          <a:ln w="25400">
            <a:solidFill>
              <a:schemeClr val="accent1"/>
            </a:solidFill>
            <a:prstDash val="solid"/>
            <a:tailEnd type="triangle"/>
          </a:ln>
        </p:spPr>
      </p:sp>
      <p:sp>
        <p:nvSpPr>
          <p:cNvPr id="22" name="Shape 20"/>
          <p:cNvSpPr/>
          <p:nvPr/>
        </p:nvSpPr>
        <p:spPr>
          <a:xfrm>
            <a:off x="4851806" y="5111496"/>
            <a:ext cx="325526" cy="0"/>
          </a:xfrm>
          <a:prstGeom prst="line">
            <a:avLst/>
          </a:prstGeom>
          <a:noFill/>
          <a:ln w="41275">
            <a:solidFill>
              <a:schemeClr val="tx1"/>
            </a:solidFill>
            <a:prstDash val="solid"/>
            <a:tailEnd type="triangle"/>
          </a:ln>
        </p:spPr>
      </p:sp>
      <p:sp>
        <p:nvSpPr>
          <p:cNvPr id="23" name="Shape 21"/>
          <p:cNvSpPr/>
          <p:nvPr/>
        </p:nvSpPr>
        <p:spPr>
          <a:xfrm>
            <a:off x="6548933" y="5111496"/>
            <a:ext cx="325526" cy="0"/>
          </a:xfrm>
          <a:prstGeom prst="line">
            <a:avLst/>
          </a:prstGeom>
          <a:noFill/>
          <a:ln w="25400">
            <a:solidFill>
              <a:schemeClr val="accent1"/>
            </a:solidFill>
            <a:prstDash val="solid"/>
            <a:tailEnd type="triangle"/>
          </a:ln>
        </p:spPr>
      </p:sp>
      <p:sp>
        <p:nvSpPr>
          <p:cNvPr id="24" name="Shape 22"/>
          <p:cNvSpPr/>
          <p:nvPr/>
        </p:nvSpPr>
        <p:spPr>
          <a:xfrm>
            <a:off x="7560259" y="5660136"/>
            <a:ext cx="0" cy="-265176"/>
          </a:xfrm>
          <a:prstGeom prst="line">
            <a:avLst/>
          </a:prstGeom>
          <a:noFill/>
          <a:ln w="25400">
            <a:solidFill>
              <a:schemeClr val="accent1"/>
            </a:solidFill>
            <a:prstDash val="solid"/>
            <a:tailEnd type="triangle"/>
          </a:ln>
        </p:spPr>
      </p:sp>
      <p:sp>
        <p:nvSpPr>
          <p:cNvPr id="25" name="Shape 23"/>
          <p:cNvSpPr/>
          <p:nvPr/>
        </p:nvSpPr>
        <p:spPr>
          <a:xfrm>
            <a:off x="7772400" y="4828032"/>
            <a:ext cx="0" cy="-265176"/>
          </a:xfrm>
          <a:prstGeom prst="line">
            <a:avLst/>
          </a:prstGeom>
          <a:noFill/>
          <a:ln w="25400">
            <a:solidFill>
              <a:schemeClr val="accent1"/>
            </a:solidFill>
            <a:prstDash val="solid"/>
            <a:tailEnd type="triangle"/>
          </a:ln>
        </p:spPr>
      </p:sp>
      <p:sp>
        <p:nvSpPr>
          <p:cNvPr id="26" name="Shape 24"/>
          <p:cNvSpPr/>
          <p:nvPr/>
        </p:nvSpPr>
        <p:spPr>
          <a:xfrm>
            <a:off x="3480206" y="5111496"/>
            <a:ext cx="-325526" cy="0"/>
          </a:xfrm>
          <a:prstGeom prst="line">
            <a:avLst/>
          </a:prstGeom>
          <a:noFill/>
          <a:ln w="41275">
            <a:solidFill>
              <a:schemeClr val="tx1"/>
            </a:solidFill>
            <a:prstDash val="solid"/>
            <a:tailEnd type="triangle"/>
          </a:ln>
        </p:spPr>
      </p:sp>
      <p:sp>
        <p:nvSpPr>
          <p:cNvPr id="27" name="Shape 25"/>
          <p:cNvSpPr/>
          <p:nvPr/>
        </p:nvSpPr>
        <p:spPr>
          <a:xfrm>
            <a:off x="9257386" y="5660136"/>
            <a:ext cx="0" cy="-265176"/>
          </a:xfrm>
          <a:prstGeom prst="line">
            <a:avLst/>
          </a:prstGeom>
          <a:noFill/>
          <a:ln w="25400">
            <a:solidFill>
              <a:schemeClr val="accent1"/>
            </a:solidFill>
            <a:prstDash val="solid"/>
            <a:tailEnd type="triangle"/>
          </a:ln>
        </p:spPr>
      </p:sp>
      <p:sp>
        <p:nvSpPr>
          <p:cNvPr id="28" name="Shape 26"/>
          <p:cNvSpPr/>
          <p:nvPr/>
        </p:nvSpPr>
        <p:spPr>
          <a:xfrm>
            <a:off x="8246059" y="5111496"/>
            <a:ext cx="325526" cy="0"/>
          </a:xfrm>
          <a:prstGeom prst="line">
            <a:avLst/>
          </a:prstGeom>
          <a:noFill/>
          <a:ln w="19050">
            <a:solidFill>
              <a:schemeClr val="accent1"/>
            </a:solidFill>
            <a:prstDash val="dash"/>
            <a:tailEnd type="triangle"/>
          </a:ln>
        </p:spPr>
      </p:sp>
      <p:sp>
        <p:nvSpPr>
          <p:cNvPr id="29" name="Shape 27"/>
          <p:cNvSpPr/>
          <p:nvPr/>
        </p:nvSpPr>
        <p:spPr>
          <a:xfrm>
            <a:off x="9326880" y="4828032"/>
            <a:ext cx="0" cy="-265176"/>
          </a:xfrm>
          <a:prstGeom prst="line">
            <a:avLst/>
          </a:prstGeom>
          <a:noFill/>
          <a:ln w="25400">
            <a:solidFill>
              <a:schemeClr val="accent1"/>
            </a:solidFill>
            <a:prstDash val="solid"/>
            <a:tailEnd type="triangle"/>
          </a:ln>
        </p:spPr>
      </p:sp>
      <p:sp>
        <p:nvSpPr>
          <p:cNvPr id="30" name="Shape 28"/>
          <p:cNvSpPr/>
          <p:nvPr/>
        </p:nvSpPr>
        <p:spPr>
          <a:xfrm>
            <a:off x="8275320" y="3995928"/>
            <a:ext cx="0" cy="-265176"/>
          </a:xfrm>
          <a:prstGeom prst="line">
            <a:avLst/>
          </a:prstGeom>
          <a:noFill/>
          <a:ln w="19050">
            <a:solidFill>
              <a:schemeClr val="accent1"/>
            </a:solidFill>
            <a:prstDash val="dash"/>
            <a:tailEnd type="triangle"/>
          </a:ln>
        </p:spPr>
      </p:sp>
      <p:sp>
        <p:nvSpPr>
          <p:cNvPr id="31" name="Shape 29"/>
          <p:cNvSpPr/>
          <p:nvPr/>
        </p:nvSpPr>
        <p:spPr>
          <a:xfrm>
            <a:off x="9052560" y="3995928"/>
            <a:ext cx="0" cy="-265176"/>
          </a:xfrm>
          <a:prstGeom prst="line">
            <a:avLst/>
          </a:prstGeom>
          <a:noFill/>
          <a:ln w="19050">
            <a:solidFill>
              <a:schemeClr val="accent1"/>
            </a:solidFill>
            <a:prstDash val="dash"/>
            <a:tailEnd type="triangle"/>
          </a:ln>
        </p:spPr>
      </p:sp>
      <p:sp>
        <p:nvSpPr>
          <p:cNvPr id="32" name="Shape 30"/>
          <p:cNvSpPr/>
          <p:nvPr/>
        </p:nvSpPr>
        <p:spPr>
          <a:xfrm>
            <a:off x="10469880" y="4828032"/>
            <a:ext cx="0" cy="-964692"/>
          </a:xfrm>
          <a:prstGeom prst="line">
            <a:avLst/>
          </a:prstGeom>
          <a:noFill/>
          <a:ln w="19050">
            <a:solidFill>
              <a:schemeClr val="accent1"/>
            </a:solidFill>
            <a:prstDash val="dash"/>
          </a:ln>
        </p:spPr>
      </p:sp>
      <p:sp>
        <p:nvSpPr>
          <p:cNvPr id="33" name="Shape 31"/>
          <p:cNvSpPr/>
          <p:nvPr/>
        </p:nvSpPr>
        <p:spPr>
          <a:xfrm>
            <a:off x="10469880" y="3863340"/>
            <a:ext cx="-1234440" cy="0"/>
          </a:xfrm>
          <a:prstGeom prst="line">
            <a:avLst/>
          </a:prstGeom>
          <a:noFill/>
          <a:ln w="19050">
            <a:solidFill>
              <a:schemeClr val="accent1"/>
            </a:solidFill>
            <a:prstDash val="dash"/>
          </a:ln>
        </p:spPr>
      </p:sp>
      <p:sp>
        <p:nvSpPr>
          <p:cNvPr id="34" name="Shape 32"/>
          <p:cNvSpPr/>
          <p:nvPr/>
        </p:nvSpPr>
        <p:spPr>
          <a:xfrm>
            <a:off x="9235440" y="3863340"/>
            <a:ext cx="0" cy="-132588"/>
          </a:xfrm>
          <a:prstGeom prst="line">
            <a:avLst/>
          </a:prstGeom>
          <a:noFill/>
          <a:ln w="19050">
            <a:solidFill>
              <a:schemeClr val="accent1"/>
            </a:solidFill>
            <a:prstDash val="dash"/>
            <a:tailEnd type="triangle"/>
          </a:ln>
        </p:spPr>
      </p:sp>
      <p:sp>
        <p:nvSpPr>
          <p:cNvPr id="35" name="Shape 33"/>
          <p:cNvSpPr/>
          <p:nvPr/>
        </p:nvSpPr>
        <p:spPr>
          <a:xfrm>
            <a:off x="9372600" y="3447288"/>
            <a:ext cx="320040" cy="0"/>
          </a:xfrm>
          <a:prstGeom prst="line">
            <a:avLst/>
          </a:prstGeom>
          <a:noFill/>
          <a:ln w="19050">
            <a:solidFill>
              <a:schemeClr val="accent1"/>
            </a:solidFill>
            <a:prstDash val="dash"/>
            <a:tailEnd type="triangle"/>
          </a:ln>
        </p:spPr>
      </p:sp>
      <p:sp>
        <p:nvSpPr>
          <p:cNvPr id="36" name="Shape 34"/>
          <p:cNvSpPr/>
          <p:nvPr/>
        </p:nvSpPr>
        <p:spPr>
          <a:xfrm>
            <a:off x="10835640" y="4828032"/>
            <a:ext cx="0" cy="-1097280"/>
          </a:xfrm>
          <a:prstGeom prst="line">
            <a:avLst/>
          </a:prstGeom>
          <a:noFill/>
          <a:ln w="19050">
            <a:solidFill>
              <a:schemeClr val="accent1"/>
            </a:solidFill>
            <a:prstDash val="dash"/>
            <a:tailEnd type="triangle"/>
          </a:ln>
        </p:spPr>
      </p:sp>
      <p:sp>
        <p:nvSpPr>
          <p:cNvPr id="37" name="Shape 35"/>
          <p:cNvSpPr/>
          <p:nvPr/>
        </p:nvSpPr>
        <p:spPr>
          <a:xfrm>
            <a:off x="10332720" y="3163824"/>
            <a:ext cx="0" cy="-265176"/>
          </a:xfrm>
          <a:prstGeom prst="line">
            <a:avLst/>
          </a:prstGeom>
          <a:noFill/>
          <a:ln w="19050">
            <a:solidFill>
              <a:schemeClr val="accent1"/>
            </a:solidFill>
            <a:prstDash val="dash"/>
            <a:tailEnd type="triangle"/>
          </a:ln>
        </p:spPr>
      </p:sp>
      <p:sp>
        <p:nvSpPr>
          <p:cNvPr id="38" name="Shape 36"/>
          <p:cNvSpPr/>
          <p:nvPr/>
        </p:nvSpPr>
        <p:spPr>
          <a:xfrm>
            <a:off x="6967728" y="4828032"/>
            <a:ext cx="0" cy="-1796796"/>
          </a:xfrm>
          <a:prstGeom prst="line">
            <a:avLst/>
          </a:prstGeom>
          <a:noFill/>
          <a:ln w="19050">
            <a:solidFill>
              <a:schemeClr val="accent1"/>
            </a:solidFill>
            <a:prstDash val="dash"/>
          </a:ln>
        </p:spPr>
      </p:sp>
      <p:sp>
        <p:nvSpPr>
          <p:cNvPr id="39" name="Shape 37"/>
          <p:cNvSpPr/>
          <p:nvPr/>
        </p:nvSpPr>
        <p:spPr>
          <a:xfrm>
            <a:off x="6967728" y="3031236"/>
            <a:ext cx="2816352" cy="0"/>
          </a:xfrm>
          <a:prstGeom prst="line">
            <a:avLst/>
          </a:prstGeom>
          <a:noFill/>
          <a:ln w="19050">
            <a:solidFill>
              <a:schemeClr val="accent1"/>
            </a:solidFill>
            <a:prstDash val="dash"/>
          </a:ln>
        </p:spPr>
      </p:sp>
      <p:sp>
        <p:nvSpPr>
          <p:cNvPr id="40" name="Shape 38"/>
          <p:cNvSpPr/>
          <p:nvPr/>
        </p:nvSpPr>
        <p:spPr>
          <a:xfrm>
            <a:off x="9784080" y="3031236"/>
            <a:ext cx="0" cy="-132588"/>
          </a:xfrm>
          <a:prstGeom prst="line">
            <a:avLst/>
          </a:prstGeom>
          <a:noFill/>
          <a:ln w="19050">
            <a:solidFill>
              <a:schemeClr val="accent1"/>
            </a:solidFill>
            <a:prstDash val="dash"/>
            <a:tailEnd type="triangle"/>
          </a:ln>
        </p:spPr>
      </p:sp>
      <p:sp>
        <p:nvSpPr>
          <p:cNvPr id="41" name="Shape 39"/>
          <p:cNvSpPr/>
          <p:nvPr/>
        </p:nvSpPr>
        <p:spPr>
          <a:xfrm>
            <a:off x="9509760" y="2615184"/>
            <a:ext cx="-2286000" cy="0"/>
          </a:xfrm>
          <a:prstGeom prst="line">
            <a:avLst/>
          </a:prstGeom>
          <a:noFill/>
          <a:ln w="19050">
            <a:solidFill>
              <a:schemeClr val="accent1"/>
            </a:solidFill>
            <a:prstDash val="dash"/>
            <a:tailEnd type="triangle"/>
          </a:ln>
        </p:spPr>
      </p:sp>
      <p:sp>
        <p:nvSpPr>
          <p:cNvPr id="42" name="Shape 40"/>
          <p:cNvSpPr/>
          <p:nvPr/>
        </p:nvSpPr>
        <p:spPr>
          <a:xfrm>
            <a:off x="2468880" y="5660136"/>
            <a:ext cx="0" cy="-265176"/>
          </a:xfrm>
          <a:prstGeom prst="line">
            <a:avLst/>
          </a:prstGeom>
          <a:noFill/>
          <a:ln w="19050">
            <a:solidFill>
              <a:schemeClr val="accent1"/>
            </a:solidFill>
            <a:prstDash val="dash"/>
            <a:tailEnd type="triangle"/>
          </a:ln>
        </p:spPr>
      </p:sp>
      <p:sp>
        <p:nvSpPr>
          <p:cNvPr id="43" name="Shape 41"/>
          <p:cNvSpPr/>
          <p:nvPr/>
        </p:nvSpPr>
        <p:spPr>
          <a:xfrm>
            <a:off x="2468880" y="4828032"/>
            <a:ext cx="0" cy="-1929384"/>
          </a:xfrm>
          <a:prstGeom prst="line">
            <a:avLst/>
          </a:prstGeom>
          <a:noFill/>
          <a:ln w="19050">
            <a:solidFill>
              <a:schemeClr val="accent1"/>
            </a:solidFill>
            <a:prstDash val="dash"/>
            <a:tailEnd type="triangle"/>
          </a:ln>
        </p:spPr>
      </p:sp>
      <p:sp>
        <p:nvSpPr>
          <p:cNvPr id="44" name="Shape 42"/>
          <p:cNvSpPr/>
          <p:nvPr/>
        </p:nvSpPr>
        <p:spPr>
          <a:xfrm>
            <a:off x="3154680" y="2615184"/>
            <a:ext cx="1874520" cy="0"/>
          </a:xfrm>
          <a:prstGeom prst="line">
            <a:avLst/>
          </a:prstGeom>
          <a:noFill/>
          <a:ln w="19050">
            <a:solidFill>
              <a:schemeClr val="accent1"/>
            </a:solidFill>
            <a:prstDash val="dash"/>
            <a:tailEnd type="triangle"/>
          </a:ln>
        </p:spPr>
      </p:sp>
      <p:sp>
        <p:nvSpPr>
          <p:cNvPr id="45" name="Shape 43"/>
          <p:cNvSpPr/>
          <p:nvPr/>
        </p:nvSpPr>
        <p:spPr>
          <a:xfrm>
            <a:off x="1783080" y="4828032"/>
            <a:ext cx="1371600" cy="566928"/>
          </a:xfrm>
          <a:prstGeom prst="rect">
            <a:avLst/>
          </a:prstGeom>
          <a:solidFill>
            <a:schemeClr val="bg2"/>
          </a:solidFill>
          <a:ln w="9525">
            <a:solidFill>
              <a:schemeClr val="tx2"/>
            </a:solidFill>
            <a:prstDash val="solid"/>
          </a:ln>
        </p:spPr>
      </p:sp>
      <p:sp>
        <p:nvSpPr>
          <p:cNvPr id="46" name="Shape 44"/>
          <p:cNvSpPr/>
          <p:nvPr/>
        </p:nvSpPr>
        <p:spPr>
          <a:xfrm>
            <a:off x="1783080" y="4828032"/>
            <a:ext cx="1371600" cy="64008"/>
          </a:xfrm>
          <a:prstGeom prst="rect">
            <a:avLst/>
          </a:prstGeom>
          <a:solidFill>
            <a:srgbClr val="0A6F9E"/>
          </a:solidFill>
          <a:ln/>
        </p:spPr>
      </p:sp>
      <p:sp>
        <p:nvSpPr>
          <p:cNvPr id="47" name="Text 45"/>
          <p:cNvSpPr txBox="1"/>
          <p:nvPr/>
        </p:nvSpPr>
        <p:spPr>
          <a:xfrm>
            <a:off x="1874520"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P5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Réplica en talleres</a:t>
            </a:r>
            <a:endParaRPr lang="es-CL" sz="1400" dirty="0"/>
          </a:p>
        </p:txBody>
      </p:sp>
      <p:sp>
        <p:nvSpPr>
          <p:cNvPr id="48" name="Shape 46"/>
          <p:cNvSpPr/>
          <p:nvPr/>
        </p:nvSpPr>
        <p:spPr>
          <a:xfrm>
            <a:off x="3480206" y="4828032"/>
            <a:ext cx="1371600" cy="566928"/>
          </a:xfrm>
          <a:prstGeom prst="rect">
            <a:avLst/>
          </a:prstGeom>
          <a:solidFill>
            <a:schemeClr val="bg2"/>
          </a:solidFill>
          <a:ln w="9525">
            <a:solidFill>
              <a:schemeClr val="tx2"/>
            </a:solidFill>
            <a:prstDash val="solid"/>
          </a:ln>
        </p:spPr>
      </p:sp>
      <p:sp>
        <p:nvSpPr>
          <p:cNvPr id="49" name="Shape 47"/>
          <p:cNvSpPr/>
          <p:nvPr/>
        </p:nvSpPr>
        <p:spPr>
          <a:xfrm>
            <a:off x="3480206" y="4828032"/>
            <a:ext cx="1371600" cy="64008"/>
          </a:xfrm>
          <a:prstGeom prst="rect">
            <a:avLst/>
          </a:prstGeom>
          <a:solidFill>
            <a:srgbClr val="ECECEC"/>
          </a:solidFill>
          <a:ln/>
        </p:spPr>
      </p:sp>
      <p:sp>
        <p:nvSpPr>
          <p:cNvPr id="50" name="Text 48"/>
          <p:cNvSpPr txBox="1"/>
          <p:nvPr/>
        </p:nvSpPr>
        <p:spPr>
          <a:xfrm>
            <a:off x="357164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Vía legal</a:t>
            </a:r>
            <a:endParaRPr lang="es-CL" sz="1400" dirty="0"/>
          </a:p>
        </p:txBody>
      </p:sp>
      <p:sp>
        <p:nvSpPr>
          <p:cNvPr id="51" name="Shape 49"/>
          <p:cNvSpPr/>
          <p:nvPr/>
        </p:nvSpPr>
        <p:spPr>
          <a:xfrm>
            <a:off x="5177333" y="4828032"/>
            <a:ext cx="1371600" cy="566928"/>
          </a:xfrm>
          <a:prstGeom prst="rect">
            <a:avLst/>
          </a:prstGeom>
          <a:solidFill>
            <a:schemeClr val="bg2"/>
          </a:solidFill>
          <a:ln w="9525">
            <a:solidFill>
              <a:schemeClr val="tx2"/>
            </a:solidFill>
            <a:prstDash val="solid"/>
          </a:ln>
        </p:spPr>
      </p:sp>
      <p:sp>
        <p:nvSpPr>
          <p:cNvPr id="52" name="Shape 50"/>
          <p:cNvSpPr/>
          <p:nvPr/>
        </p:nvSpPr>
        <p:spPr>
          <a:xfrm>
            <a:off x="5177333" y="4828032"/>
            <a:ext cx="1371600" cy="64008"/>
          </a:xfrm>
          <a:prstGeom prst="rect">
            <a:avLst/>
          </a:prstGeom>
          <a:solidFill>
            <a:srgbClr val="ECECEC"/>
          </a:solidFill>
          <a:ln/>
        </p:spPr>
      </p:sp>
      <p:sp>
        <p:nvSpPr>
          <p:cNvPr id="53" name="Text 51"/>
          <p:cNvSpPr txBox="1"/>
          <p:nvPr/>
        </p:nvSpPr>
        <p:spPr>
          <a:xfrm>
            <a:off x="5268773"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Par aprobado</a:t>
            </a:r>
            <a:endParaRPr lang="es-CL" sz="1400" dirty="0"/>
          </a:p>
        </p:txBody>
      </p:sp>
      <p:sp>
        <p:nvSpPr>
          <p:cNvPr id="54" name="Shape 52"/>
          <p:cNvSpPr/>
          <p:nvPr/>
        </p:nvSpPr>
        <p:spPr>
          <a:xfrm>
            <a:off x="6874459" y="4828032"/>
            <a:ext cx="1371600" cy="566928"/>
          </a:xfrm>
          <a:prstGeom prst="rect">
            <a:avLst/>
          </a:prstGeom>
          <a:solidFill>
            <a:schemeClr val="bg2"/>
          </a:solidFill>
          <a:ln w="9525">
            <a:solidFill>
              <a:schemeClr val="tx2"/>
            </a:solidFill>
            <a:prstDash val="solid"/>
          </a:ln>
        </p:spPr>
      </p:sp>
      <p:sp>
        <p:nvSpPr>
          <p:cNvPr id="55" name="Text 53"/>
          <p:cNvSpPr txBox="1"/>
          <p:nvPr/>
        </p:nvSpPr>
        <p:spPr>
          <a:xfrm>
            <a:off x="6965899"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Instalación segura</a:t>
            </a:r>
            <a:endParaRPr lang="es-CL" sz="1400" dirty="0"/>
          </a:p>
        </p:txBody>
      </p:sp>
      <p:sp>
        <p:nvSpPr>
          <p:cNvPr id="56" name="Shape 54"/>
          <p:cNvSpPr/>
          <p:nvPr/>
        </p:nvSpPr>
        <p:spPr>
          <a:xfrm>
            <a:off x="8571586" y="4828032"/>
            <a:ext cx="1371600" cy="566928"/>
          </a:xfrm>
          <a:prstGeom prst="rect">
            <a:avLst/>
          </a:prstGeom>
          <a:solidFill>
            <a:schemeClr val="bg2"/>
          </a:solidFill>
          <a:ln w="9525">
            <a:solidFill>
              <a:schemeClr val="tx2"/>
            </a:solidFill>
            <a:prstDash val="solid"/>
          </a:ln>
        </p:spPr>
      </p:sp>
      <p:sp>
        <p:nvSpPr>
          <p:cNvPr id="57" name="Shape 55"/>
          <p:cNvSpPr/>
          <p:nvPr/>
        </p:nvSpPr>
        <p:spPr>
          <a:xfrm>
            <a:off x="8571586" y="4828032"/>
            <a:ext cx="1371600" cy="64008"/>
          </a:xfrm>
          <a:prstGeom prst="rect">
            <a:avLst/>
          </a:prstGeom>
          <a:solidFill>
            <a:srgbClr val="0A6F9E"/>
          </a:solidFill>
          <a:ln/>
        </p:spPr>
      </p:sp>
      <p:sp>
        <p:nvSpPr>
          <p:cNvPr id="58" name="Text 56"/>
          <p:cNvSpPr txBox="1"/>
          <p:nvPr/>
        </p:nvSpPr>
        <p:spPr>
          <a:xfrm>
            <a:off x="866302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Medición y posventa</a:t>
            </a:r>
            <a:endParaRPr lang="es-CL" sz="1400" dirty="0"/>
          </a:p>
        </p:txBody>
      </p:sp>
      <p:sp>
        <p:nvSpPr>
          <p:cNvPr id="59" name="Shape 57"/>
          <p:cNvSpPr/>
          <p:nvPr/>
        </p:nvSpPr>
        <p:spPr>
          <a:xfrm>
            <a:off x="10268712" y="4828032"/>
            <a:ext cx="1371600" cy="566928"/>
          </a:xfrm>
          <a:prstGeom prst="rect">
            <a:avLst/>
          </a:prstGeom>
          <a:solidFill>
            <a:schemeClr val="bg2"/>
          </a:solidFill>
          <a:ln w="9525">
            <a:solidFill>
              <a:schemeClr val="tx2"/>
            </a:solidFill>
            <a:prstDash val="solid"/>
          </a:ln>
        </p:spPr>
      </p:sp>
      <p:sp>
        <p:nvSpPr>
          <p:cNvPr id="60" name="Shape 58"/>
          <p:cNvSpPr/>
          <p:nvPr/>
        </p:nvSpPr>
        <p:spPr>
          <a:xfrm>
            <a:off x="10268712" y="4828032"/>
            <a:ext cx="685800" cy="64008"/>
          </a:xfrm>
          <a:prstGeom prst="rect">
            <a:avLst/>
          </a:prstGeom>
          <a:solidFill>
            <a:srgbClr val="ECECEC"/>
          </a:solidFill>
          <a:ln/>
        </p:spPr>
      </p:sp>
      <p:sp>
        <p:nvSpPr>
          <p:cNvPr id="61" name="Shape 59"/>
          <p:cNvSpPr/>
          <p:nvPr/>
        </p:nvSpPr>
        <p:spPr>
          <a:xfrm>
            <a:off x="10954512" y="4828032"/>
            <a:ext cx="685800" cy="64008"/>
          </a:xfrm>
          <a:prstGeom prst="rect">
            <a:avLst/>
          </a:prstGeom>
          <a:solidFill>
            <a:srgbClr val="22B8F0"/>
          </a:solidFill>
          <a:ln/>
        </p:spPr>
      </p:sp>
      <p:sp>
        <p:nvSpPr>
          <p:cNvPr id="62" name="Text 60"/>
          <p:cNvSpPr txBox="1"/>
          <p:nvPr/>
        </p:nvSpPr>
        <p:spPr>
          <a:xfrm>
            <a:off x="10360152"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P6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Alianzas que destraban</a:t>
            </a:r>
            <a:endParaRPr lang="es-CL" sz="1400" dirty="0"/>
          </a:p>
        </p:txBody>
      </p:sp>
      <p:sp>
        <p:nvSpPr>
          <p:cNvPr id="63" name="Shape 61"/>
          <p:cNvSpPr/>
          <p:nvPr/>
        </p:nvSpPr>
        <p:spPr>
          <a:xfrm>
            <a:off x="1783080" y="5660136"/>
            <a:ext cx="1371600" cy="566928"/>
          </a:xfrm>
          <a:prstGeom prst="rect">
            <a:avLst/>
          </a:prstGeom>
          <a:solidFill>
            <a:schemeClr val="bg2"/>
          </a:solidFill>
          <a:ln w="9525">
            <a:solidFill>
              <a:schemeClr val="tx2"/>
            </a:solidFill>
            <a:prstDash val="solid"/>
          </a:ln>
        </p:spPr>
      </p:sp>
      <p:sp>
        <p:nvSpPr>
          <p:cNvPr id="64" name="Shape 62"/>
          <p:cNvSpPr/>
          <p:nvPr/>
        </p:nvSpPr>
        <p:spPr>
          <a:xfrm>
            <a:off x="1783080" y="5660136"/>
            <a:ext cx="1371600" cy="64008"/>
          </a:xfrm>
          <a:prstGeom prst="rect">
            <a:avLst/>
          </a:prstGeom>
          <a:solidFill>
            <a:srgbClr val="0A6F9E"/>
          </a:solidFill>
          <a:ln/>
        </p:spPr>
      </p:sp>
      <p:sp>
        <p:nvSpPr>
          <p:cNvPr id="65" name="Text 63"/>
          <p:cNvSpPr txBox="1"/>
          <p:nvPr/>
        </p:nvSpPr>
        <p:spPr>
          <a:xfrm>
            <a:off x="1874520"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Lumine Habilita</a:t>
            </a:r>
            <a:endParaRPr lang="es-CL" sz="1400" dirty="0"/>
          </a:p>
        </p:txBody>
      </p:sp>
      <p:sp>
        <p:nvSpPr>
          <p:cNvPr id="66" name="Shape 64"/>
          <p:cNvSpPr/>
          <p:nvPr/>
        </p:nvSpPr>
        <p:spPr>
          <a:xfrm>
            <a:off x="5177333" y="5660136"/>
            <a:ext cx="1371600" cy="566928"/>
          </a:xfrm>
          <a:prstGeom prst="rect">
            <a:avLst/>
          </a:prstGeom>
          <a:solidFill>
            <a:schemeClr val="bg2"/>
          </a:solidFill>
          <a:ln w="9525">
            <a:solidFill>
              <a:schemeClr val="tx2"/>
            </a:solidFill>
            <a:prstDash val="solid"/>
          </a:ln>
        </p:spPr>
      </p:sp>
      <p:sp>
        <p:nvSpPr>
          <p:cNvPr id="67" name="Shape 65"/>
          <p:cNvSpPr/>
          <p:nvPr/>
        </p:nvSpPr>
        <p:spPr>
          <a:xfrm>
            <a:off x="5177333" y="5660136"/>
            <a:ext cx="1371600" cy="64008"/>
          </a:xfrm>
          <a:prstGeom prst="rect">
            <a:avLst/>
          </a:prstGeom>
          <a:solidFill>
            <a:srgbClr val="0A6F9E"/>
          </a:solidFill>
          <a:ln/>
        </p:spPr>
      </p:sp>
      <p:sp>
        <p:nvSpPr>
          <p:cNvPr id="68" name="Text 66"/>
          <p:cNvSpPr txBox="1"/>
          <p:nvPr/>
        </p:nvSpPr>
        <p:spPr>
          <a:xfrm>
            <a:off x="5268773"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Biblioteca</a:t>
            </a:r>
            <a:endParaRPr lang="es-CL" sz="1400" dirty="0"/>
          </a:p>
        </p:txBody>
      </p:sp>
      <p:sp>
        <p:nvSpPr>
          <p:cNvPr id="69" name="Shape 67"/>
          <p:cNvSpPr/>
          <p:nvPr/>
        </p:nvSpPr>
        <p:spPr>
          <a:xfrm>
            <a:off x="6874459" y="5660136"/>
            <a:ext cx="1371600" cy="566928"/>
          </a:xfrm>
          <a:prstGeom prst="rect">
            <a:avLst/>
          </a:prstGeom>
          <a:solidFill>
            <a:schemeClr val="bg2"/>
          </a:solidFill>
          <a:ln w="9525">
            <a:solidFill>
              <a:schemeClr val="tx2"/>
            </a:solidFill>
            <a:prstDash val="solid"/>
          </a:ln>
        </p:spPr>
      </p:sp>
      <p:sp>
        <p:nvSpPr>
          <p:cNvPr id="70" name="Shape 68"/>
          <p:cNvSpPr/>
          <p:nvPr/>
        </p:nvSpPr>
        <p:spPr>
          <a:xfrm>
            <a:off x="6874459" y="5660136"/>
            <a:ext cx="1371600" cy="64008"/>
          </a:xfrm>
          <a:prstGeom prst="rect">
            <a:avLst/>
          </a:prstGeom>
          <a:solidFill>
            <a:srgbClr val="0A6F9E"/>
          </a:solidFill>
          <a:ln/>
        </p:spPr>
      </p:sp>
      <p:sp>
        <p:nvSpPr>
          <p:cNvPr id="71" name="Text 69"/>
          <p:cNvSpPr txBox="1"/>
          <p:nvPr/>
        </p:nvSpPr>
        <p:spPr>
          <a:xfrm>
            <a:off x="6965899"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Técnicos habilitados</a:t>
            </a:r>
            <a:endParaRPr lang="es-CL" sz="1400" dirty="0"/>
          </a:p>
        </p:txBody>
      </p:sp>
      <p:sp>
        <p:nvSpPr>
          <p:cNvPr id="72" name="Shape 70"/>
          <p:cNvSpPr/>
          <p:nvPr/>
        </p:nvSpPr>
        <p:spPr>
          <a:xfrm>
            <a:off x="8571586" y="5660136"/>
            <a:ext cx="1371600" cy="566928"/>
          </a:xfrm>
          <a:prstGeom prst="rect">
            <a:avLst/>
          </a:prstGeom>
          <a:solidFill>
            <a:schemeClr val="bg2"/>
          </a:solidFill>
          <a:ln w="9525">
            <a:solidFill>
              <a:schemeClr val="tx2"/>
            </a:solidFill>
            <a:prstDash val="solid"/>
          </a:ln>
        </p:spPr>
      </p:sp>
      <p:sp>
        <p:nvSpPr>
          <p:cNvPr id="73" name="Shape 71"/>
          <p:cNvSpPr/>
          <p:nvPr/>
        </p:nvSpPr>
        <p:spPr>
          <a:xfrm>
            <a:off x="8571586" y="5660136"/>
            <a:ext cx="1371600" cy="64008"/>
          </a:xfrm>
          <a:prstGeom prst="rect">
            <a:avLst/>
          </a:prstGeom>
          <a:solidFill>
            <a:srgbClr val="0A6F9E"/>
          </a:solidFill>
          <a:ln/>
        </p:spPr>
      </p:sp>
      <p:sp>
        <p:nvSpPr>
          <p:cNvPr id="74" name="Text 72"/>
          <p:cNvSpPr txBox="1"/>
          <p:nvPr/>
        </p:nvSpPr>
        <p:spPr>
          <a:xfrm>
            <a:off x="8663026"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Protocolo de medición</a:t>
            </a:r>
            <a:endParaRPr lang="es-CL" sz="1400" dirty="0"/>
          </a:p>
        </p:txBody>
      </p:sp>
      <p:sp>
        <p:nvSpPr>
          <p:cNvPr id="75" name="Shape 73"/>
          <p:cNvSpPr/>
          <p:nvPr/>
        </p:nvSpPr>
        <p:spPr>
          <a:xfrm>
            <a:off x="7178040" y="3995928"/>
            <a:ext cx="1371600" cy="566928"/>
          </a:xfrm>
          <a:prstGeom prst="rect">
            <a:avLst/>
          </a:prstGeom>
          <a:solidFill>
            <a:schemeClr val="bg2"/>
          </a:solidFill>
          <a:ln w="9525">
            <a:solidFill>
              <a:schemeClr val="tx2"/>
            </a:solidFill>
            <a:prstDash val="solid"/>
          </a:ln>
        </p:spPr>
      </p:sp>
      <p:sp>
        <p:nvSpPr>
          <p:cNvPr id="76" name="Text 74"/>
          <p:cNvSpPr txBox="1"/>
          <p:nvPr/>
        </p:nvSpPr>
        <p:spPr>
          <a:xfrm>
            <a:off x="72694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Promesa cumplida</a:t>
            </a:r>
            <a:endParaRPr lang="es-CL" sz="1400" dirty="0"/>
          </a:p>
        </p:txBody>
      </p:sp>
      <p:sp>
        <p:nvSpPr>
          <p:cNvPr id="77" name="Shape 75"/>
          <p:cNvSpPr/>
          <p:nvPr/>
        </p:nvSpPr>
        <p:spPr>
          <a:xfrm>
            <a:off x="8778240" y="3995928"/>
            <a:ext cx="1371600" cy="566928"/>
          </a:xfrm>
          <a:prstGeom prst="rect">
            <a:avLst/>
          </a:prstGeom>
          <a:solidFill>
            <a:schemeClr val="bg2"/>
          </a:solidFill>
          <a:ln w="9525">
            <a:solidFill>
              <a:schemeClr val="tx2"/>
            </a:solidFill>
            <a:prstDash val="solid"/>
          </a:ln>
        </p:spPr>
      </p:sp>
      <p:sp>
        <p:nvSpPr>
          <p:cNvPr id="78" name="Shape 76"/>
          <p:cNvSpPr/>
          <p:nvPr/>
        </p:nvSpPr>
        <p:spPr>
          <a:xfrm>
            <a:off x="8778240" y="3995928"/>
            <a:ext cx="1371600" cy="64008"/>
          </a:xfrm>
          <a:prstGeom prst="rect">
            <a:avLst/>
          </a:prstGeom>
          <a:solidFill>
            <a:srgbClr val="0A6F9E"/>
          </a:solidFill>
          <a:ln/>
        </p:spPr>
      </p:sp>
      <p:sp>
        <p:nvSpPr>
          <p:cNvPr id="79" name="Text 77"/>
          <p:cNvSpPr txBox="1"/>
          <p:nvPr/>
        </p:nvSpPr>
        <p:spPr>
          <a:xfrm>
            <a:off x="88696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Ahorro acreditado</a:t>
            </a:r>
            <a:endParaRPr lang="es-CL" sz="1400" dirty="0"/>
          </a:p>
        </p:txBody>
      </p:sp>
      <p:sp>
        <p:nvSpPr>
          <p:cNvPr id="80" name="Shape 78"/>
          <p:cNvSpPr/>
          <p:nvPr/>
        </p:nvSpPr>
        <p:spPr>
          <a:xfrm>
            <a:off x="8001000" y="3163824"/>
            <a:ext cx="1371600" cy="566928"/>
          </a:xfrm>
          <a:prstGeom prst="rect">
            <a:avLst/>
          </a:prstGeom>
          <a:solidFill>
            <a:schemeClr val="bg2"/>
          </a:solidFill>
          <a:ln w="9525">
            <a:solidFill>
              <a:schemeClr val="tx2"/>
            </a:solidFill>
            <a:prstDash val="solid"/>
          </a:ln>
        </p:spPr>
      </p:sp>
      <p:sp>
        <p:nvSpPr>
          <p:cNvPr id="81" name="Text 79"/>
          <p:cNvSpPr txBox="1"/>
          <p:nvPr/>
        </p:nvSpPr>
        <p:spPr>
          <a:xfrm>
            <a:off x="809244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Confianza del cliente</a:t>
            </a:r>
            <a:endParaRPr lang="es-CL" sz="1400" dirty="0"/>
          </a:p>
        </p:txBody>
      </p:sp>
      <p:sp>
        <p:nvSpPr>
          <p:cNvPr id="82" name="Shape 80"/>
          <p:cNvSpPr/>
          <p:nvPr/>
        </p:nvSpPr>
        <p:spPr>
          <a:xfrm>
            <a:off x="9692640" y="3163824"/>
            <a:ext cx="1371600" cy="566928"/>
          </a:xfrm>
          <a:prstGeom prst="rect">
            <a:avLst/>
          </a:prstGeom>
          <a:solidFill>
            <a:schemeClr val="bg2"/>
          </a:solidFill>
          <a:ln w="9525">
            <a:solidFill>
              <a:schemeClr val="tx2"/>
            </a:solidFill>
            <a:prstDash val="solid"/>
          </a:ln>
        </p:spPr>
      </p:sp>
      <p:sp>
        <p:nvSpPr>
          <p:cNvPr id="83" name="Shape 81"/>
          <p:cNvSpPr/>
          <p:nvPr/>
        </p:nvSpPr>
        <p:spPr>
          <a:xfrm>
            <a:off x="9692640" y="3163824"/>
            <a:ext cx="1371600" cy="64008"/>
          </a:xfrm>
          <a:prstGeom prst="rect">
            <a:avLst/>
          </a:prstGeom>
          <a:solidFill>
            <a:srgbClr val="22B8F0"/>
          </a:solidFill>
          <a:ln/>
        </p:spPr>
      </p:sp>
      <p:sp>
        <p:nvSpPr>
          <p:cNvPr id="84" name="Text 82"/>
          <p:cNvSpPr txBox="1"/>
          <p:nvPr/>
        </p:nvSpPr>
        <p:spPr>
          <a:xfrm>
            <a:off x="978408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Segmento captado</a:t>
            </a:r>
            <a:endParaRPr lang="es-CL" sz="1400" dirty="0"/>
          </a:p>
        </p:txBody>
      </p:sp>
      <p:sp>
        <p:nvSpPr>
          <p:cNvPr id="85" name="Shape 83"/>
          <p:cNvSpPr/>
          <p:nvPr/>
        </p:nvSpPr>
        <p:spPr>
          <a:xfrm>
            <a:off x="1783080" y="2331720"/>
            <a:ext cx="1371600" cy="566928"/>
          </a:xfrm>
          <a:prstGeom prst="rect">
            <a:avLst/>
          </a:prstGeom>
          <a:solidFill>
            <a:schemeClr val="bg2"/>
          </a:solidFill>
          <a:ln w="9525">
            <a:solidFill>
              <a:schemeClr val="tx2"/>
            </a:solidFill>
            <a:prstDash val="solid"/>
          </a:ln>
        </p:spPr>
      </p:sp>
      <p:sp>
        <p:nvSpPr>
          <p:cNvPr id="86" name="Shape 84"/>
          <p:cNvSpPr/>
          <p:nvPr/>
        </p:nvSpPr>
        <p:spPr>
          <a:xfrm>
            <a:off x="1783080" y="2331720"/>
            <a:ext cx="1371600" cy="64008"/>
          </a:xfrm>
          <a:prstGeom prst="rect">
            <a:avLst/>
          </a:prstGeom>
          <a:solidFill>
            <a:srgbClr val="0A6F9E"/>
          </a:solidFill>
          <a:ln/>
        </p:spPr>
      </p:sp>
      <p:sp>
        <p:nvSpPr>
          <p:cNvPr id="87" name="Text 85"/>
          <p:cNvSpPr txBox="1"/>
          <p:nvPr/>
        </p:nvSpPr>
        <p:spPr>
          <a:xfrm>
            <a:off x="187452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Expansión y licencias</a:t>
            </a:r>
            <a:endParaRPr lang="es-CL" sz="1400" dirty="0"/>
          </a:p>
        </p:txBody>
      </p:sp>
      <p:pic>
        <p:nvPicPr>
          <p:cNvPr id="88" name="Image 0" descr="C:\Users\Usuario\Documents\GitHub\lumine\solemne-2\generador\assets\brillo.png">    </p:cNvPr>
          <p:cNvPicPr>
            <a:picLocks noChangeAspect="1"/>
          </p:cNvPicPr>
          <p:nvPr/>
        </p:nvPicPr>
        <p:blipFill>
          <a:blip r:embed="rId1"/>
          <a:stretch>
            <a:fillRect/>
          </a:stretch>
        </p:blipFill>
        <p:spPr>
          <a:xfrm>
            <a:off x="4663440" y="2075688"/>
            <a:ext cx="2926080" cy="1078992"/>
          </a:xfrm>
          <a:prstGeom prst="rect">
            <a:avLst/>
          </a:prstGeom>
        </p:spPr>
      </p:pic>
      <p:sp>
        <p:nvSpPr>
          <p:cNvPr id="89" name="Shape 86"/>
          <p:cNvSpPr/>
          <p:nvPr/>
        </p:nvSpPr>
        <p:spPr>
          <a:xfrm>
            <a:off x="5029200" y="2331720"/>
            <a:ext cx="2194560" cy="566928"/>
          </a:xfrm>
          <a:prstGeom prst="rect">
            <a:avLst/>
          </a:prstGeom>
          <a:solidFill>
            <a:srgbClr val="0B1A22"/>
          </a:solidFill>
          <a:ln w="15875">
            <a:solidFill>
              <a:schemeClr val="accent1"/>
            </a:solidFill>
            <a:prstDash val="solid"/>
          </a:ln>
        </p:spPr>
      </p:sp>
      <p:sp>
        <p:nvSpPr>
          <p:cNvPr id="90" name="Shape 87"/>
          <p:cNvSpPr/>
          <p:nvPr/>
        </p:nvSpPr>
        <p:spPr>
          <a:xfrm>
            <a:off x="4974336" y="2276856"/>
            <a:ext cx="155448" cy="0"/>
          </a:xfrm>
          <a:prstGeom prst="line">
            <a:avLst/>
          </a:prstGeom>
          <a:noFill/>
          <a:ln w="15875">
            <a:solidFill>
              <a:schemeClr val="accent1"/>
            </a:solidFill>
            <a:prstDash val="solid"/>
          </a:ln>
        </p:spPr>
      </p:sp>
      <p:sp>
        <p:nvSpPr>
          <p:cNvPr id="91" name="Shape 88"/>
          <p:cNvSpPr/>
          <p:nvPr/>
        </p:nvSpPr>
        <p:spPr>
          <a:xfrm>
            <a:off x="4974336" y="2276856"/>
            <a:ext cx="0" cy="155448"/>
          </a:xfrm>
          <a:prstGeom prst="line">
            <a:avLst/>
          </a:prstGeom>
          <a:noFill/>
          <a:ln w="15875">
            <a:solidFill>
              <a:schemeClr val="accent1"/>
            </a:solidFill>
            <a:prstDash val="solid"/>
          </a:ln>
        </p:spPr>
      </p:sp>
      <p:sp>
        <p:nvSpPr>
          <p:cNvPr id="92" name="Shape 89"/>
          <p:cNvSpPr/>
          <p:nvPr/>
        </p:nvSpPr>
        <p:spPr>
          <a:xfrm>
            <a:off x="7123176" y="2276856"/>
            <a:ext cx="155448" cy="0"/>
          </a:xfrm>
          <a:prstGeom prst="line">
            <a:avLst/>
          </a:prstGeom>
          <a:noFill/>
          <a:ln w="15875">
            <a:solidFill>
              <a:schemeClr val="accent1"/>
            </a:solidFill>
            <a:prstDash val="solid"/>
          </a:ln>
        </p:spPr>
      </p:sp>
      <p:sp>
        <p:nvSpPr>
          <p:cNvPr id="93" name="Shape 90"/>
          <p:cNvSpPr/>
          <p:nvPr/>
        </p:nvSpPr>
        <p:spPr>
          <a:xfrm>
            <a:off x="7278624" y="2276856"/>
            <a:ext cx="0" cy="155448"/>
          </a:xfrm>
          <a:prstGeom prst="line">
            <a:avLst/>
          </a:prstGeom>
          <a:noFill/>
          <a:ln w="15875">
            <a:solidFill>
              <a:schemeClr val="accent1"/>
            </a:solidFill>
            <a:prstDash val="solid"/>
          </a:ln>
        </p:spPr>
      </p:sp>
      <p:sp>
        <p:nvSpPr>
          <p:cNvPr id="94" name="Shape 91"/>
          <p:cNvSpPr/>
          <p:nvPr/>
        </p:nvSpPr>
        <p:spPr>
          <a:xfrm>
            <a:off x="4974336" y="2953512"/>
            <a:ext cx="155448" cy="0"/>
          </a:xfrm>
          <a:prstGeom prst="line">
            <a:avLst/>
          </a:prstGeom>
          <a:noFill/>
          <a:ln w="15875">
            <a:solidFill>
              <a:schemeClr val="accent1"/>
            </a:solidFill>
            <a:prstDash val="solid"/>
          </a:ln>
        </p:spPr>
      </p:sp>
      <p:sp>
        <p:nvSpPr>
          <p:cNvPr id="95" name="Shape 92"/>
          <p:cNvSpPr/>
          <p:nvPr/>
        </p:nvSpPr>
        <p:spPr>
          <a:xfrm>
            <a:off x="4974336" y="2798064"/>
            <a:ext cx="0" cy="155448"/>
          </a:xfrm>
          <a:prstGeom prst="line">
            <a:avLst/>
          </a:prstGeom>
          <a:noFill/>
          <a:ln w="15875">
            <a:solidFill>
              <a:schemeClr val="accent1"/>
            </a:solidFill>
            <a:prstDash val="solid"/>
          </a:ln>
        </p:spPr>
      </p:sp>
      <p:sp>
        <p:nvSpPr>
          <p:cNvPr id="96" name="Shape 93"/>
          <p:cNvSpPr/>
          <p:nvPr/>
        </p:nvSpPr>
        <p:spPr>
          <a:xfrm>
            <a:off x="7123176" y="2953512"/>
            <a:ext cx="155448" cy="0"/>
          </a:xfrm>
          <a:prstGeom prst="line">
            <a:avLst/>
          </a:prstGeom>
          <a:noFill/>
          <a:ln w="15875">
            <a:solidFill>
              <a:schemeClr val="accent1"/>
            </a:solidFill>
            <a:prstDash val="solid"/>
          </a:ln>
        </p:spPr>
      </p:sp>
      <p:sp>
        <p:nvSpPr>
          <p:cNvPr id="97" name="Shape 94"/>
          <p:cNvSpPr/>
          <p:nvPr/>
        </p:nvSpPr>
        <p:spPr>
          <a:xfrm>
            <a:off x="7278624" y="2798064"/>
            <a:ext cx="0" cy="155448"/>
          </a:xfrm>
          <a:prstGeom prst="line">
            <a:avLst/>
          </a:prstGeom>
          <a:noFill/>
          <a:ln w="15875">
            <a:solidFill>
              <a:schemeClr val="accent1"/>
            </a:solidFill>
            <a:prstDash val="solid"/>
          </a:ln>
        </p:spPr>
      </p:sp>
      <p:sp>
        <p:nvSpPr>
          <p:cNvPr id="98" name="Text 95"/>
          <p:cNvSpPr txBox="1"/>
          <p:nvPr/>
        </p:nvSpPr>
        <p:spPr>
          <a:xfrm>
            <a:off x="5120640" y="2386584"/>
            <a:ext cx="204825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F1  </a:t>
            </a:r>
            <a:pPr indent="0" marL="0">
              <a:lnSpc>
                <a:spcPct val="88000"/>
              </a:lnSpc>
              <a:buNone/>
            </a:pPr>
            <a:r>
              <a:rPr lang="es-CL" altLang="en-US" sz="1400" b="1" dirty="0">
                <a:solidFill>
                  <a:schemeClr val="tx1"/>
                </a:solidFill>
                <a:latin typeface="Figtree" pitchFamily="34" charset="0"/>
                <a:ea typeface="Figtree" pitchFamily="34" charset="-122"/>
                <a:cs typeface="Figtree" pitchFamily="34" charset="-120"/>
              </a:rPr>
              <a:t>Rentabilidad sobre el costo de capital</a:t>
            </a:r>
            <a:endParaRPr lang="es-CL" sz="1400" dirty="0"/>
          </a:p>
        </p:txBody>
      </p:sp>
      <p:sp>
        <p:nvSpPr>
          <p:cNvPr id="99" name="Shape 96"/>
          <p:cNvSpPr/>
          <p:nvPr/>
        </p:nvSpPr>
        <p:spPr>
          <a:xfrm>
            <a:off x="9509760" y="2331720"/>
            <a:ext cx="1371600" cy="566928"/>
          </a:xfrm>
          <a:prstGeom prst="rect">
            <a:avLst/>
          </a:prstGeom>
          <a:solidFill>
            <a:schemeClr val="bg2"/>
          </a:solidFill>
          <a:ln w="9525">
            <a:solidFill>
              <a:schemeClr val="tx2"/>
            </a:solidFill>
            <a:prstDash val="solid"/>
          </a:ln>
        </p:spPr>
      </p:sp>
      <p:sp>
        <p:nvSpPr>
          <p:cNvPr id="100" name="Text 97"/>
          <p:cNvSpPr txBox="1"/>
          <p:nvPr/>
        </p:nvSpPr>
        <p:spPr>
          <a:xfrm>
            <a:off x="960120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Margen por servicio</a:t>
            </a:r>
            <a:endParaRPr lang="es-CL" sz="1400" dirty="0"/>
          </a:p>
        </p:txBody>
      </p:sp>
      <p:sp>
        <p:nvSpPr>
          <p:cNvPr id="101" name="Text 98"/>
          <p:cNvSpPr txBox="1"/>
          <p:nvPr/>
        </p:nvSpPr>
        <p:spPr>
          <a:xfrm>
            <a:off x="3388766" y="5660136"/>
            <a:ext cx="1325880" cy="566928"/>
          </a:xfrm>
          <a:prstGeom prst="rect">
            <a:avLst/>
          </a:prstGeom>
          <a:noFill/>
          <a:ln/>
        </p:spPr>
        <p:txBody>
          <a:bodyPr wrap="square" lIns="0" tIns="0" rIns="0" bIns="0" rtlCol="0" anchor="ctr"/>
          <a:lstStyle/>
          <a:p>
            <a:pPr algn="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ventaja sostenible (potencial)</a:t>
            </a:r>
            <a:endParaRPr lang="es-CL" sz="1400" dirty="0"/>
          </a:p>
        </p:txBody>
      </p:sp>
      <p:sp>
        <p:nvSpPr>
          <p:cNvPr id="102" name="Shape 99"/>
          <p:cNvSpPr/>
          <p:nvPr/>
        </p:nvSpPr>
        <p:spPr>
          <a:xfrm>
            <a:off x="4742078" y="5943600"/>
            <a:ext cx="389534" cy="0"/>
          </a:xfrm>
          <a:prstGeom prst="line">
            <a:avLst/>
          </a:prstGeom>
          <a:noFill/>
          <a:ln w="12700">
            <a:solidFill>
              <a:schemeClr val="accent1"/>
            </a:solidFill>
            <a:prstDash val="solid"/>
            <a:tailEnd type="triangle"/>
          </a:ln>
        </p:spPr>
      </p:sp>
      <p:sp>
        <p:nvSpPr>
          <p:cNvPr id="103" name="Shape 100"/>
          <p:cNvSpPr/>
          <p:nvPr/>
        </p:nvSpPr>
        <p:spPr>
          <a:xfrm>
            <a:off x="10268712" y="5724144"/>
            <a:ext cx="201168" cy="64008"/>
          </a:xfrm>
          <a:prstGeom prst="rect">
            <a:avLst/>
          </a:prstGeom>
          <a:solidFill>
            <a:srgbClr val="ECECEC"/>
          </a:solidFill>
          <a:ln/>
        </p:spPr>
      </p:sp>
      <p:sp>
        <p:nvSpPr>
          <p:cNvPr id="104" name="Text 101"/>
          <p:cNvSpPr txBox="1"/>
          <p:nvPr/>
        </p:nvSpPr>
        <p:spPr>
          <a:xfrm>
            <a:off x="10543032" y="5660136"/>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1</a:t>
            </a:r>
            <a:endParaRPr lang="es-CL" sz="1100" dirty="0"/>
          </a:p>
        </p:txBody>
      </p:sp>
      <p:sp>
        <p:nvSpPr>
          <p:cNvPr id="105" name="Shape 102"/>
          <p:cNvSpPr/>
          <p:nvPr/>
        </p:nvSpPr>
        <p:spPr>
          <a:xfrm>
            <a:off x="10268712" y="5897880"/>
            <a:ext cx="201168" cy="64008"/>
          </a:xfrm>
          <a:prstGeom prst="rect">
            <a:avLst/>
          </a:prstGeom>
          <a:solidFill>
            <a:srgbClr val="22B8F0"/>
          </a:solidFill>
          <a:ln/>
        </p:spPr>
      </p:sp>
      <p:sp>
        <p:nvSpPr>
          <p:cNvPr id="106" name="Text 103"/>
          <p:cNvSpPr txBox="1"/>
          <p:nvPr/>
        </p:nvSpPr>
        <p:spPr>
          <a:xfrm>
            <a:off x="10543032" y="5833872"/>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2</a:t>
            </a:r>
            <a:endParaRPr lang="es-CL" sz="1100" dirty="0"/>
          </a:p>
        </p:txBody>
      </p:sp>
      <p:sp>
        <p:nvSpPr>
          <p:cNvPr id="107" name="Shape 104"/>
          <p:cNvSpPr/>
          <p:nvPr/>
        </p:nvSpPr>
        <p:spPr>
          <a:xfrm>
            <a:off x="10268712" y="6071616"/>
            <a:ext cx="201168" cy="64008"/>
          </a:xfrm>
          <a:prstGeom prst="rect">
            <a:avLst/>
          </a:prstGeom>
          <a:solidFill>
            <a:srgbClr val="0A6F9E"/>
          </a:solidFill>
          <a:ln/>
        </p:spPr>
      </p:sp>
      <p:sp>
        <p:nvSpPr>
          <p:cNvPr id="108" name="Text 105"/>
          <p:cNvSpPr txBox="1"/>
          <p:nvPr/>
        </p:nvSpPr>
        <p:spPr>
          <a:xfrm>
            <a:off x="10543032" y="6007608"/>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3</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RUTA 1 · HABILITACIÓN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SIN VÍA LEGAL NI PAR APROBADO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se instala.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en red revisado (propuesta del equipo para la Solemne 2), relaciones R01 a R06; presentación «Análisis estratégico» (Control de Gestión, octubre de 2026), FODA cruzado (iniciativas).</a:t>
            </a:r>
            <a:endParaRPr lang="es-CL" sz="1100" dirty="0"/>
          </a:p>
        </p:txBody>
      </p:sp>
      <p:sp>
        <p:nvSpPr>
          <p:cNvPr id="5" name="Text 3"/>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6" name="Shape 4"/>
          <p:cNvSpPr/>
          <p:nvPr/>
        </p:nvSpPr>
        <p:spPr>
          <a:xfrm>
            <a:off x="10168585" y="978408"/>
            <a:ext cx="384048" cy="0"/>
          </a:xfrm>
          <a:prstGeom prst="line">
            <a:avLst/>
          </a:prstGeom>
          <a:noFill/>
          <a:ln w="19050">
            <a:solidFill>
              <a:schemeClr val="accent1"/>
            </a:solidFill>
            <a:prstDash val="dash"/>
          </a:ln>
        </p:spPr>
      </p:sp>
      <p:sp>
        <p:nvSpPr>
          <p:cNvPr id="7" name="Text 5"/>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8" name="Shape 6"/>
          <p:cNvSpPr/>
          <p:nvPr/>
        </p:nvSpPr>
        <p:spPr>
          <a:xfrm>
            <a:off x="7637475" y="978408"/>
            <a:ext cx="384048" cy="0"/>
          </a:xfrm>
          <a:prstGeom prst="line">
            <a:avLst/>
          </a:prstGeom>
          <a:noFill/>
          <a:ln w="41275">
            <a:solidFill>
              <a:schemeClr val="tx1"/>
            </a:solidFill>
            <a:prstDash val="solid"/>
          </a:ln>
        </p:spPr>
      </p:sp>
      <p:sp>
        <p:nvSpPr>
          <p:cNvPr id="9" name="Text 7"/>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0" name="Shape 8"/>
          <p:cNvSpPr/>
          <p:nvPr/>
        </p:nvSpPr>
        <p:spPr>
          <a:xfrm>
            <a:off x="5693105" y="978408"/>
            <a:ext cx="384048" cy="0"/>
          </a:xfrm>
          <a:prstGeom prst="line">
            <a:avLst/>
          </a:prstGeom>
          <a:noFill/>
          <a:ln w="25400">
            <a:solidFill>
              <a:schemeClr val="accent1"/>
            </a:solidFill>
            <a:prstDash val="solid"/>
          </a:ln>
        </p:spPr>
      </p:sp>
      <p:sp>
        <p:nvSpPr>
          <p:cNvPr id="11" name="Shape 9"/>
          <p:cNvSpPr/>
          <p:nvPr/>
        </p:nvSpPr>
        <p:spPr>
          <a:xfrm>
            <a:off x="822960" y="2898648"/>
            <a:ext cx="2148840" cy="868680"/>
          </a:xfrm>
          <a:prstGeom prst="rect">
            <a:avLst/>
          </a:prstGeom>
          <a:solidFill>
            <a:schemeClr val="bg2"/>
          </a:solidFill>
          <a:ln w="9525">
            <a:solidFill>
              <a:schemeClr val="tx2"/>
            </a:solidFill>
            <a:prstDash val="solid"/>
          </a:ln>
        </p:spPr>
      </p:sp>
      <p:sp>
        <p:nvSpPr>
          <p:cNvPr id="12" name="Shape 10"/>
          <p:cNvSpPr/>
          <p:nvPr/>
        </p:nvSpPr>
        <p:spPr>
          <a:xfrm>
            <a:off x="822960" y="2898648"/>
            <a:ext cx="2148840" cy="64008"/>
          </a:xfrm>
          <a:prstGeom prst="rect">
            <a:avLst/>
          </a:prstGeom>
          <a:solidFill>
            <a:srgbClr val="ECECEC"/>
          </a:solidFill>
          <a:ln/>
        </p:spPr>
      </p:sp>
      <p:sp>
        <p:nvSpPr>
          <p:cNvPr id="13" name="Text 11"/>
          <p:cNvSpPr txBox="1"/>
          <p:nvPr/>
        </p:nvSpPr>
        <p:spPr>
          <a:xfrm>
            <a:off x="914400"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P1</a:t>
            </a:r>
            <a:endParaRPr lang="es-CL" sz="1500" dirty="0"/>
          </a:p>
        </p:txBody>
      </p:sp>
      <p:sp>
        <p:nvSpPr>
          <p:cNvPr id="14" name="Text 12"/>
          <p:cNvSpPr txBox="1"/>
          <p:nvPr/>
        </p:nvSpPr>
        <p:spPr>
          <a:xfrm>
            <a:off x="914400" y="324612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Vía legal</a:t>
            </a:r>
            <a:endParaRPr lang="es-CL" sz="1800" dirty="0"/>
          </a:p>
        </p:txBody>
      </p:sp>
      <p:sp>
        <p:nvSpPr>
          <p:cNvPr id="15" name="Shape 13"/>
          <p:cNvSpPr/>
          <p:nvPr/>
        </p:nvSpPr>
        <p:spPr>
          <a:xfrm>
            <a:off x="3538728" y="2898648"/>
            <a:ext cx="2148840" cy="868680"/>
          </a:xfrm>
          <a:prstGeom prst="rect">
            <a:avLst/>
          </a:prstGeom>
          <a:solidFill>
            <a:schemeClr val="bg2"/>
          </a:solidFill>
          <a:ln w="9525">
            <a:solidFill>
              <a:schemeClr val="tx2"/>
            </a:solidFill>
            <a:prstDash val="solid"/>
          </a:ln>
        </p:spPr>
      </p:sp>
      <p:sp>
        <p:nvSpPr>
          <p:cNvPr id="16" name="Shape 14"/>
          <p:cNvSpPr/>
          <p:nvPr/>
        </p:nvSpPr>
        <p:spPr>
          <a:xfrm>
            <a:off x="3538728" y="2898648"/>
            <a:ext cx="2148840" cy="64008"/>
          </a:xfrm>
          <a:prstGeom prst="rect">
            <a:avLst/>
          </a:prstGeom>
          <a:solidFill>
            <a:srgbClr val="ECECEC"/>
          </a:solidFill>
          <a:ln/>
        </p:spPr>
      </p:sp>
      <p:sp>
        <p:nvSpPr>
          <p:cNvPr id="17" name="Text 15"/>
          <p:cNvSpPr txBox="1"/>
          <p:nvPr/>
        </p:nvSpPr>
        <p:spPr>
          <a:xfrm>
            <a:off x="3630168"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P2</a:t>
            </a:r>
            <a:endParaRPr lang="es-CL" sz="1500" dirty="0"/>
          </a:p>
        </p:txBody>
      </p:sp>
      <p:sp>
        <p:nvSpPr>
          <p:cNvPr id="18" name="Text 16"/>
          <p:cNvSpPr txBox="1"/>
          <p:nvPr/>
        </p:nvSpPr>
        <p:spPr>
          <a:xfrm>
            <a:off x="3630168" y="324612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Par modelo-kit aprobado</a:t>
            </a:r>
            <a:endParaRPr lang="es-CL" sz="1800" dirty="0"/>
          </a:p>
        </p:txBody>
      </p:sp>
      <p:sp>
        <p:nvSpPr>
          <p:cNvPr id="19" name="Shape 17"/>
          <p:cNvSpPr/>
          <p:nvPr/>
        </p:nvSpPr>
        <p:spPr>
          <a:xfrm>
            <a:off x="6254496" y="2898648"/>
            <a:ext cx="2148840" cy="868680"/>
          </a:xfrm>
          <a:prstGeom prst="rect">
            <a:avLst/>
          </a:prstGeom>
          <a:solidFill>
            <a:schemeClr val="bg2"/>
          </a:solidFill>
          <a:ln w="9525">
            <a:solidFill>
              <a:schemeClr val="tx2"/>
            </a:solidFill>
            <a:prstDash val="solid"/>
          </a:ln>
        </p:spPr>
      </p:sp>
      <p:sp>
        <p:nvSpPr>
          <p:cNvPr id="20" name="Text 18"/>
          <p:cNvSpPr txBox="1"/>
          <p:nvPr/>
        </p:nvSpPr>
        <p:spPr>
          <a:xfrm>
            <a:off x="6345936"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P3</a:t>
            </a:r>
            <a:endParaRPr lang="es-CL" sz="1500" dirty="0"/>
          </a:p>
        </p:txBody>
      </p:sp>
      <p:sp>
        <p:nvSpPr>
          <p:cNvPr id="21" name="Text 19"/>
          <p:cNvSpPr txBox="1"/>
          <p:nvPr/>
        </p:nvSpPr>
        <p:spPr>
          <a:xfrm>
            <a:off x="6345936" y="324612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Instalación segura</a:t>
            </a:r>
            <a:endParaRPr lang="es-CL" sz="1800" dirty="0"/>
          </a:p>
        </p:txBody>
      </p:sp>
      <p:pic>
        <p:nvPicPr>
          <p:cNvPr id="22" name="Image 0" descr="C:\Users\Usuario\Documents\GitHub\lumine\solemne-2\generador\assets\brillo.png">    </p:cNvPr>
          <p:cNvPicPr>
            <a:picLocks noChangeAspect="1"/>
          </p:cNvPicPr>
          <p:nvPr/>
        </p:nvPicPr>
        <p:blipFill>
          <a:blip r:embed="rId1"/>
          <a:stretch>
            <a:fillRect/>
          </a:stretch>
        </p:blipFill>
        <p:spPr>
          <a:xfrm>
            <a:off x="8604504" y="2642616"/>
            <a:ext cx="2880360" cy="1380744"/>
          </a:xfrm>
          <a:prstGeom prst="rect">
            <a:avLst/>
          </a:prstGeom>
        </p:spPr>
      </p:pic>
      <p:sp>
        <p:nvSpPr>
          <p:cNvPr id="23" name="Shape 20"/>
          <p:cNvSpPr/>
          <p:nvPr/>
        </p:nvSpPr>
        <p:spPr>
          <a:xfrm>
            <a:off x="8970264" y="2898648"/>
            <a:ext cx="2148840" cy="868680"/>
          </a:xfrm>
          <a:prstGeom prst="rect">
            <a:avLst/>
          </a:prstGeom>
          <a:solidFill>
            <a:srgbClr val="0B1A22"/>
          </a:solidFill>
          <a:ln w="15875">
            <a:solidFill>
              <a:schemeClr val="accent1"/>
            </a:solidFill>
            <a:prstDash val="solid"/>
          </a:ln>
        </p:spPr>
      </p:sp>
      <p:sp>
        <p:nvSpPr>
          <p:cNvPr id="24" name="Shape 21"/>
          <p:cNvSpPr/>
          <p:nvPr/>
        </p:nvSpPr>
        <p:spPr>
          <a:xfrm>
            <a:off x="8915400" y="2843784"/>
            <a:ext cx="155448" cy="0"/>
          </a:xfrm>
          <a:prstGeom prst="line">
            <a:avLst/>
          </a:prstGeom>
          <a:noFill/>
          <a:ln w="15875">
            <a:solidFill>
              <a:schemeClr val="accent1"/>
            </a:solidFill>
            <a:prstDash val="solid"/>
          </a:ln>
        </p:spPr>
      </p:sp>
      <p:sp>
        <p:nvSpPr>
          <p:cNvPr id="25" name="Shape 22"/>
          <p:cNvSpPr/>
          <p:nvPr/>
        </p:nvSpPr>
        <p:spPr>
          <a:xfrm>
            <a:off x="8915400" y="2843784"/>
            <a:ext cx="0" cy="155448"/>
          </a:xfrm>
          <a:prstGeom prst="line">
            <a:avLst/>
          </a:prstGeom>
          <a:noFill/>
          <a:ln w="15875">
            <a:solidFill>
              <a:schemeClr val="accent1"/>
            </a:solidFill>
            <a:prstDash val="solid"/>
          </a:ln>
        </p:spPr>
      </p:sp>
      <p:sp>
        <p:nvSpPr>
          <p:cNvPr id="26" name="Shape 23"/>
          <p:cNvSpPr/>
          <p:nvPr/>
        </p:nvSpPr>
        <p:spPr>
          <a:xfrm>
            <a:off x="11018520" y="2843784"/>
            <a:ext cx="155448" cy="0"/>
          </a:xfrm>
          <a:prstGeom prst="line">
            <a:avLst/>
          </a:prstGeom>
          <a:noFill/>
          <a:ln w="15875">
            <a:solidFill>
              <a:schemeClr val="accent1"/>
            </a:solidFill>
            <a:prstDash val="solid"/>
          </a:ln>
        </p:spPr>
      </p:sp>
      <p:sp>
        <p:nvSpPr>
          <p:cNvPr id="27" name="Shape 24"/>
          <p:cNvSpPr/>
          <p:nvPr/>
        </p:nvSpPr>
        <p:spPr>
          <a:xfrm>
            <a:off x="11173968" y="2843784"/>
            <a:ext cx="0" cy="155448"/>
          </a:xfrm>
          <a:prstGeom prst="line">
            <a:avLst/>
          </a:prstGeom>
          <a:noFill/>
          <a:ln w="15875">
            <a:solidFill>
              <a:schemeClr val="accent1"/>
            </a:solidFill>
            <a:prstDash val="solid"/>
          </a:ln>
        </p:spPr>
      </p:sp>
      <p:sp>
        <p:nvSpPr>
          <p:cNvPr id="28" name="Shape 25"/>
          <p:cNvSpPr/>
          <p:nvPr/>
        </p:nvSpPr>
        <p:spPr>
          <a:xfrm>
            <a:off x="8915400" y="3822192"/>
            <a:ext cx="155448" cy="0"/>
          </a:xfrm>
          <a:prstGeom prst="line">
            <a:avLst/>
          </a:prstGeom>
          <a:noFill/>
          <a:ln w="15875">
            <a:solidFill>
              <a:schemeClr val="accent1"/>
            </a:solidFill>
            <a:prstDash val="solid"/>
          </a:ln>
        </p:spPr>
      </p:sp>
      <p:sp>
        <p:nvSpPr>
          <p:cNvPr id="29" name="Shape 26"/>
          <p:cNvSpPr/>
          <p:nvPr/>
        </p:nvSpPr>
        <p:spPr>
          <a:xfrm>
            <a:off x="8915400" y="3666744"/>
            <a:ext cx="0" cy="155448"/>
          </a:xfrm>
          <a:prstGeom prst="line">
            <a:avLst/>
          </a:prstGeom>
          <a:noFill/>
          <a:ln w="15875">
            <a:solidFill>
              <a:schemeClr val="accent1"/>
            </a:solidFill>
            <a:prstDash val="solid"/>
          </a:ln>
        </p:spPr>
      </p:sp>
      <p:sp>
        <p:nvSpPr>
          <p:cNvPr id="30" name="Shape 27"/>
          <p:cNvSpPr/>
          <p:nvPr/>
        </p:nvSpPr>
        <p:spPr>
          <a:xfrm>
            <a:off x="11018520" y="3822192"/>
            <a:ext cx="155448" cy="0"/>
          </a:xfrm>
          <a:prstGeom prst="line">
            <a:avLst/>
          </a:prstGeom>
          <a:noFill/>
          <a:ln w="15875">
            <a:solidFill>
              <a:schemeClr val="accent1"/>
            </a:solidFill>
            <a:prstDash val="solid"/>
          </a:ln>
        </p:spPr>
      </p:sp>
      <p:sp>
        <p:nvSpPr>
          <p:cNvPr id="31" name="Shape 28"/>
          <p:cNvSpPr/>
          <p:nvPr/>
        </p:nvSpPr>
        <p:spPr>
          <a:xfrm>
            <a:off x="11173968" y="3666744"/>
            <a:ext cx="0" cy="155448"/>
          </a:xfrm>
          <a:prstGeom prst="line">
            <a:avLst/>
          </a:prstGeom>
          <a:noFill/>
          <a:ln w="15875">
            <a:solidFill>
              <a:schemeClr val="accent1"/>
            </a:solidFill>
            <a:prstDash val="solid"/>
          </a:ln>
        </p:spPr>
      </p:sp>
      <p:sp>
        <p:nvSpPr>
          <p:cNvPr id="32" name="Text 29"/>
          <p:cNvSpPr txBox="1"/>
          <p:nvPr/>
        </p:nvSpPr>
        <p:spPr>
          <a:xfrm>
            <a:off x="9061704"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C1</a:t>
            </a:r>
            <a:endParaRPr lang="es-CL" sz="1500" dirty="0"/>
          </a:p>
        </p:txBody>
      </p:sp>
      <p:sp>
        <p:nvSpPr>
          <p:cNvPr id="33" name="Text 30"/>
          <p:cNvSpPr txBox="1"/>
          <p:nvPr/>
        </p:nvSpPr>
        <p:spPr>
          <a:xfrm>
            <a:off x="9061704" y="3246120"/>
            <a:ext cx="2002536" cy="466344"/>
          </a:xfrm>
          <a:prstGeom prst="rect">
            <a:avLst/>
          </a:prstGeom>
          <a:noFill/>
          <a:ln/>
        </p:spPr>
        <p:txBody>
          <a:bodyPr wrap="square" lIns="0" tIns="0" rIns="0" bIns="0" rtlCol="0" anchor="t"/>
          <a:lstStyle/>
          <a:p>
            <a:pPr indent="0" marL="0">
              <a:lnSpc>
                <a:spcPct val="88000"/>
              </a:lnSpc>
              <a:buNone/>
            </a:pPr>
            <a:r>
              <a:rPr lang="es-CL" altLang="en-US" sz="1800" b="1" dirty="0">
                <a:solidFill>
                  <a:schemeClr val="tx1"/>
                </a:solidFill>
                <a:latin typeface="Figtree" pitchFamily="34" charset="0"/>
                <a:ea typeface="Figtree" pitchFamily="34" charset="-122"/>
                <a:cs typeface="Figtree" pitchFamily="34" charset="-120"/>
              </a:rPr>
              <a:t>Promesa técnica cumplida</a:t>
            </a:r>
            <a:endParaRPr lang="es-CL" sz="1800" dirty="0"/>
          </a:p>
        </p:txBody>
      </p:sp>
      <p:sp>
        <p:nvSpPr>
          <p:cNvPr id="34" name="Shape 31"/>
          <p:cNvSpPr/>
          <p:nvPr/>
        </p:nvSpPr>
        <p:spPr>
          <a:xfrm>
            <a:off x="2971800" y="3332988"/>
            <a:ext cx="566928" cy="0"/>
          </a:xfrm>
          <a:prstGeom prst="line">
            <a:avLst/>
          </a:prstGeom>
          <a:noFill/>
          <a:ln w="41275">
            <a:solidFill>
              <a:schemeClr val="tx1"/>
            </a:solidFill>
            <a:prstDash val="solid"/>
            <a:tailEnd type="triangle"/>
          </a:ln>
        </p:spPr>
      </p:sp>
      <p:sp>
        <p:nvSpPr>
          <p:cNvPr id="35" name="Shape 32"/>
          <p:cNvSpPr/>
          <p:nvPr/>
        </p:nvSpPr>
        <p:spPr>
          <a:xfrm>
            <a:off x="5687568" y="3332988"/>
            <a:ext cx="566928" cy="0"/>
          </a:xfrm>
          <a:prstGeom prst="line">
            <a:avLst/>
          </a:prstGeom>
          <a:noFill/>
          <a:ln w="25400">
            <a:solidFill>
              <a:schemeClr val="accent1"/>
            </a:solidFill>
            <a:prstDash val="solid"/>
            <a:tailEnd type="triangle"/>
          </a:ln>
        </p:spPr>
      </p:sp>
      <p:sp>
        <p:nvSpPr>
          <p:cNvPr id="36" name="Shape 33"/>
          <p:cNvSpPr/>
          <p:nvPr/>
        </p:nvSpPr>
        <p:spPr>
          <a:xfrm>
            <a:off x="8403336" y="3332988"/>
            <a:ext cx="566928" cy="0"/>
          </a:xfrm>
          <a:prstGeom prst="line">
            <a:avLst/>
          </a:prstGeom>
          <a:noFill/>
          <a:ln w="25400">
            <a:solidFill>
              <a:schemeClr val="accent1"/>
            </a:solidFill>
            <a:prstDash val="solid"/>
            <a:tailEnd type="triangle"/>
          </a:ln>
        </p:spPr>
      </p:sp>
      <p:sp>
        <p:nvSpPr>
          <p:cNvPr id="37" name="Text 34"/>
          <p:cNvSpPr txBox="1"/>
          <p:nvPr/>
        </p:nvSpPr>
        <p:spPr>
          <a:xfrm>
            <a:off x="2423160" y="2532888"/>
            <a:ext cx="1664208"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define requisitos</a:t>
            </a:r>
            <a:endParaRPr lang="es-CL" sz="1600" dirty="0"/>
          </a:p>
        </p:txBody>
      </p:sp>
      <p:sp>
        <p:nvSpPr>
          <p:cNvPr id="38" name="Text 35"/>
          <p:cNvSpPr txBox="1"/>
          <p:nvPr/>
        </p:nvSpPr>
        <p:spPr>
          <a:xfrm>
            <a:off x="5138928" y="2532888"/>
            <a:ext cx="1664208"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solo pares aprobados</a:t>
            </a:r>
            <a:endParaRPr lang="es-CL" sz="1600" dirty="0"/>
          </a:p>
        </p:txBody>
      </p:sp>
      <p:sp>
        <p:nvSpPr>
          <p:cNvPr id="39" name="Text 36"/>
          <p:cNvSpPr txBox="1"/>
          <p:nvPr/>
        </p:nvSpPr>
        <p:spPr>
          <a:xfrm>
            <a:off x="7854696" y="2532888"/>
            <a:ext cx="1664208"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verifica la promesa</a:t>
            </a:r>
            <a:endParaRPr lang="es-CL" sz="1600" dirty="0"/>
          </a:p>
        </p:txBody>
      </p:sp>
      <p:sp>
        <p:nvSpPr>
          <p:cNvPr id="40" name="Shape 37"/>
          <p:cNvSpPr/>
          <p:nvPr/>
        </p:nvSpPr>
        <p:spPr>
          <a:xfrm>
            <a:off x="822960" y="4453128"/>
            <a:ext cx="2148840" cy="868680"/>
          </a:xfrm>
          <a:prstGeom prst="rect">
            <a:avLst/>
          </a:prstGeom>
          <a:solidFill>
            <a:schemeClr val="bg2"/>
          </a:solidFill>
          <a:ln w="9525">
            <a:solidFill>
              <a:schemeClr val="tx2"/>
            </a:solidFill>
            <a:prstDash val="solid"/>
          </a:ln>
        </p:spPr>
      </p:sp>
      <p:sp>
        <p:nvSpPr>
          <p:cNvPr id="41" name="Shape 38"/>
          <p:cNvSpPr/>
          <p:nvPr/>
        </p:nvSpPr>
        <p:spPr>
          <a:xfrm>
            <a:off x="822960" y="4453128"/>
            <a:ext cx="2148840" cy="64008"/>
          </a:xfrm>
          <a:prstGeom prst="rect">
            <a:avLst/>
          </a:prstGeom>
          <a:solidFill>
            <a:srgbClr val="0A6F9E"/>
          </a:solidFill>
          <a:ln/>
        </p:spPr>
      </p:sp>
      <p:sp>
        <p:nvSpPr>
          <p:cNvPr id="42" name="Text 39"/>
          <p:cNvSpPr txBox="1"/>
          <p:nvPr/>
        </p:nvSpPr>
        <p:spPr>
          <a:xfrm>
            <a:off x="914400" y="45262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P5</a:t>
            </a:r>
            <a:endParaRPr lang="es-CL" sz="1500" dirty="0"/>
          </a:p>
        </p:txBody>
      </p:sp>
      <p:sp>
        <p:nvSpPr>
          <p:cNvPr id="43" name="Text 40"/>
          <p:cNvSpPr txBox="1"/>
          <p:nvPr/>
        </p:nvSpPr>
        <p:spPr>
          <a:xfrm>
            <a:off x="914400" y="480060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Réplica en talleres</a:t>
            </a:r>
            <a:endParaRPr lang="es-CL" sz="1800" dirty="0"/>
          </a:p>
        </p:txBody>
      </p:sp>
      <p:sp>
        <p:nvSpPr>
          <p:cNvPr id="44" name="Shape 41"/>
          <p:cNvSpPr/>
          <p:nvPr/>
        </p:nvSpPr>
        <p:spPr>
          <a:xfrm>
            <a:off x="3538728" y="4453128"/>
            <a:ext cx="2148840" cy="868680"/>
          </a:xfrm>
          <a:prstGeom prst="rect">
            <a:avLst/>
          </a:prstGeom>
          <a:solidFill>
            <a:schemeClr val="bg2"/>
          </a:solidFill>
          <a:ln w="9525">
            <a:solidFill>
              <a:schemeClr val="tx2"/>
            </a:solidFill>
            <a:prstDash val="solid"/>
          </a:ln>
        </p:spPr>
      </p:sp>
      <p:sp>
        <p:nvSpPr>
          <p:cNvPr id="45" name="Shape 42"/>
          <p:cNvSpPr/>
          <p:nvPr/>
        </p:nvSpPr>
        <p:spPr>
          <a:xfrm>
            <a:off x="3538728" y="4453128"/>
            <a:ext cx="2148840" cy="64008"/>
          </a:xfrm>
          <a:prstGeom prst="rect">
            <a:avLst/>
          </a:prstGeom>
          <a:solidFill>
            <a:srgbClr val="0A6F9E"/>
          </a:solidFill>
          <a:ln/>
        </p:spPr>
      </p:sp>
      <p:sp>
        <p:nvSpPr>
          <p:cNvPr id="46" name="Text 43"/>
          <p:cNvSpPr txBox="1"/>
          <p:nvPr/>
        </p:nvSpPr>
        <p:spPr>
          <a:xfrm>
            <a:off x="3630168" y="45262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A1</a:t>
            </a:r>
            <a:endParaRPr lang="es-CL" sz="1500" dirty="0"/>
          </a:p>
        </p:txBody>
      </p:sp>
      <p:sp>
        <p:nvSpPr>
          <p:cNvPr id="47" name="Text 44"/>
          <p:cNvSpPr txBox="1"/>
          <p:nvPr/>
        </p:nvSpPr>
        <p:spPr>
          <a:xfrm>
            <a:off x="3630168" y="480060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Biblioteca de calibraciones</a:t>
            </a:r>
            <a:endParaRPr lang="es-CL" sz="1800" dirty="0"/>
          </a:p>
        </p:txBody>
      </p:sp>
      <p:sp>
        <p:nvSpPr>
          <p:cNvPr id="48" name="Shape 45"/>
          <p:cNvSpPr/>
          <p:nvPr/>
        </p:nvSpPr>
        <p:spPr>
          <a:xfrm>
            <a:off x="6254496" y="4453128"/>
            <a:ext cx="2148840" cy="868680"/>
          </a:xfrm>
          <a:prstGeom prst="rect">
            <a:avLst/>
          </a:prstGeom>
          <a:solidFill>
            <a:schemeClr val="bg2"/>
          </a:solidFill>
          <a:ln w="9525">
            <a:solidFill>
              <a:schemeClr val="tx2"/>
            </a:solidFill>
            <a:prstDash val="solid"/>
          </a:ln>
        </p:spPr>
      </p:sp>
      <p:sp>
        <p:nvSpPr>
          <p:cNvPr id="49" name="Shape 46"/>
          <p:cNvSpPr/>
          <p:nvPr/>
        </p:nvSpPr>
        <p:spPr>
          <a:xfrm>
            <a:off x="6254496" y="4453128"/>
            <a:ext cx="2148840" cy="64008"/>
          </a:xfrm>
          <a:prstGeom prst="rect">
            <a:avLst/>
          </a:prstGeom>
          <a:solidFill>
            <a:srgbClr val="0A6F9E"/>
          </a:solidFill>
          <a:ln/>
        </p:spPr>
      </p:sp>
      <p:sp>
        <p:nvSpPr>
          <p:cNvPr id="50" name="Text 47"/>
          <p:cNvSpPr txBox="1"/>
          <p:nvPr/>
        </p:nvSpPr>
        <p:spPr>
          <a:xfrm>
            <a:off x="6345936" y="45262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A2</a:t>
            </a:r>
            <a:endParaRPr lang="es-CL" sz="1500" dirty="0"/>
          </a:p>
        </p:txBody>
      </p:sp>
      <p:sp>
        <p:nvSpPr>
          <p:cNvPr id="51" name="Text 48"/>
          <p:cNvSpPr txBox="1"/>
          <p:nvPr/>
        </p:nvSpPr>
        <p:spPr>
          <a:xfrm>
            <a:off x="6345936" y="480060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Técnicos habilitados</a:t>
            </a:r>
            <a:endParaRPr lang="es-CL" sz="1800" dirty="0"/>
          </a:p>
        </p:txBody>
      </p:sp>
      <p:sp>
        <p:nvSpPr>
          <p:cNvPr id="52" name="Shape 49"/>
          <p:cNvSpPr/>
          <p:nvPr/>
        </p:nvSpPr>
        <p:spPr>
          <a:xfrm>
            <a:off x="1897380" y="3767328"/>
            <a:ext cx="0" cy="685800"/>
          </a:xfrm>
          <a:prstGeom prst="line">
            <a:avLst/>
          </a:prstGeom>
          <a:noFill/>
          <a:ln w="41275">
            <a:solidFill>
              <a:schemeClr val="tx1"/>
            </a:solidFill>
            <a:prstDash val="solid"/>
            <a:tailEnd type="triangle"/>
          </a:ln>
        </p:spPr>
      </p:sp>
      <p:sp>
        <p:nvSpPr>
          <p:cNvPr id="53" name="Shape 50"/>
          <p:cNvSpPr/>
          <p:nvPr/>
        </p:nvSpPr>
        <p:spPr>
          <a:xfrm>
            <a:off x="4613148" y="4453128"/>
            <a:ext cx="0" cy="-685800"/>
          </a:xfrm>
          <a:prstGeom prst="line">
            <a:avLst/>
          </a:prstGeom>
          <a:noFill/>
          <a:ln w="25400">
            <a:solidFill>
              <a:schemeClr val="accent1"/>
            </a:solidFill>
            <a:prstDash val="solid"/>
            <a:tailEnd type="triangle"/>
          </a:ln>
        </p:spPr>
      </p:sp>
      <p:sp>
        <p:nvSpPr>
          <p:cNvPr id="54" name="Shape 51"/>
          <p:cNvSpPr/>
          <p:nvPr/>
        </p:nvSpPr>
        <p:spPr>
          <a:xfrm>
            <a:off x="7328916" y="4453128"/>
            <a:ext cx="0" cy="-685800"/>
          </a:xfrm>
          <a:prstGeom prst="line">
            <a:avLst/>
          </a:prstGeom>
          <a:noFill/>
          <a:ln w="25400">
            <a:solidFill>
              <a:schemeClr val="accent1"/>
            </a:solidFill>
            <a:prstDash val="solid"/>
            <a:tailEnd type="triangle"/>
          </a:ln>
        </p:spPr>
      </p:sp>
      <p:sp>
        <p:nvSpPr>
          <p:cNvPr id="55" name="Text 52"/>
          <p:cNvSpPr txBox="1"/>
          <p:nvPr/>
        </p:nvSpPr>
        <p:spPr>
          <a:xfrm>
            <a:off x="1988820" y="3931920"/>
            <a:ext cx="201168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también exige vía legal</a:t>
            </a:r>
            <a:endParaRPr lang="es-CL" sz="1600" dirty="0"/>
          </a:p>
        </p:txBody>
      </p:sp>
      <p:sp>
        <p:nvSpPr>
          <p:cNvPr id="56" name="Text 53"/>
          <p:cNvSpPr txBox="1"/>
          <p:nvPr/>
        </p:nvSpPr>
        <p:spPr>
          <a:xfrm>
            <a:off x="4704588" y="3931920"/>
            <a:ext cx="201168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respalda el expediente</a:t>
            </a:r>
            <a:endParaRPr lang="es-CL" sz="1600" dirty="0"/>
          </a:p>
        </p:txBody>
      </p:sp>
      <p:sp>
        <p:nvSpPr>
          <p:cNvPr id="57" name="Text 54"/>
          <p:cNvSpPr txBox="1"/>
          <p:nvPr/>
        </p:nvSpPr>
        <p:spPr>
          <a:xfrm>
            <a:off x="7420356" y="3931920"/>
            <a:ext cx="201168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ejecución segura</a:t>
            </a:r>
            <a:endParaRPr lang="es-CL" sz="1600" dirty="0"/>
          </a:p>
        </p:txBody>
      </p:sp>
      <p:sp>
        <p:nvSpPr>
          <p:cNvPr id="58" name="Shape 55"/>
          <p:cNvSpPr/>
          <p:nvPr/>
        </p:nvSpPr>
        <p:spPr>
          <a:xfrm>
            <a:off x="548640" y="5522976"/>
            <a:ext cx="11094415" cy="0"/>
          </a:xfrm>
          <a:prstGeom prst="line">
            <a:avLst/>
          </a:prstGeom>
          <a:noFill/>
          <a:ln w="9525">
            <a:solidFill>
              <a:schemeClr val="accent1"/>
            </a:solidFill>
            <a:prstDash val="solid"/>
          </a:ln>
        </p:spPr>
      </p:sp>
      <p:sp>
        <p:nvSpPr>
          <p:cNvPr id="59" name="Text 56"/>
          <p:cNvSpPr txBox="1"/>
          <p:nvPr/>
        </p:nvSpPr>
        <p:spPr>
          <a:xfrm>
            <a:off x="548640" y="5650992"/>
            <a:ext cx="1828800" cy="329184"/>
          </a:xfrm>
          <a:prstGeom prst="rect">
            <a:avLst/>
          </a:prstGeom>
          <a:noFill/>
          <a:ln/>
        </p:spPr>
        <p:txBody>
          <a:bodyPr wrap="square" lIns="0" tIns="0" rIns="0" bIns="0" rtlCol="0" anchor="ctr"/>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INICIATIVAS</a:t>
            </a:r>
            <a:endParaRPr lang="es-CL" sz="1300" dirty="0"/>
          </a:p>
        </p:txBody>
      </p:sp>
      <p:sp>
        <p:nvSpPr>
          <p:cNvPr id="60" name="Text 57"/>
          <p:cNvSpPr txBox="1"/>
          <p:nvPr/>
        </p:nvSpPr>
        <p:spPr>
          <a:xfrm>
            <a:off x="2286000" y="5596128"/>
            <a:ext cx="9357055" cy="621792"/>
          </a:xfrm>
          <a:prstGeom prst="rect">
            <a:avLst/>
          </a:prstGeom>
          <a:noFill/>
          <a:ln/>
        </p:spPr>
        <p:txBody>
          <a:bodyPr wrap="square" lIns="0" tIns="0" rIns="0" bIns="0" rtlCol="0" anchor="t"/>
          <a:lstStyle/>
          <a:p>
            <a:pPr indent="0" marL="0">
              <a:buNone/>
            </a:pPr>
            <a:r>
              <a:rPr lang="es-CL" altLang="en-US" sz="1700" dirty="0">
                <a:solidFill>
                  <a:schemeClr val="accent1"/>
                </a:solidFill>
                <a:latin typeface="IBM Plex Mono" pitchFamily="34" charset="0"/>
                <a:ea typeface="IBM Plex Mono" pitchFamily="34" charset="-122"/>
                <a:cs typeface="IBM Plex Mono" pitchFamily="34" charset="-120"/>
              </a:rPr>
              <a:t>P1 </a:t>
            </a:r>
            <a:pPr indent="0" marL="0">
              <a:buNone/>
            </a:pPr>
            <a:r>
              <a:rPr lang="es-CL" altLang="en-US" sz="1700" dirty="0">
                <a:solidFill>
                  <a:schemeClr val="tx1"/>
                </a:solidFill>
                <a:latin typeface="Figtree" pitchFamily="34" charset="0"/>
                <a:ea typeface="Figtree" pitchFamily="34" charset="-122"/>
                <a:cs typeface="Figtree" pitchFamily="34" charset="-120"/>
              </a:rPr>
              <a:t>Precedente del gas licuado ante el MTT</a:t>
            </a:r>
            <a:endParaRPr lang="es-CL" sz="1700" dirty="0"/>
          </a:p>
          <a:p>
            <a:pPr indent="0" marL="0">
              <a:buNone/>
            </a:pPr>
            <a:r>
              <a:rPr lang="es-CL" altLang="en-US" sz="1700" dirty="0">
                <a:solidFill>
                  <a:schemeClr val="accent1"/>
                </a:solidFill>
                <a:latin typeface="IBM Plex Mono" pitchFamily="34" charset="0"/>
                <a:ea typeface="IBM Plex Mono" pitchFamily="34" charset="-122"/>
                <a:cs typeface="IBM Plex Mono" pitchFamily="34" charset="-120"/>
              </a:rPr>
              <a:t>P2 </a:t>
            </a:r>
            <a:pPr indent="0" marL="0">
              <a:buNone/>
            </a:pPr>
            <a:r>
              <a:rPr lang="es-CL" altLang="en-US" sz="1700" dirty="0">
                <a:solidFill>
                  <a:schemeClr val="tx1"/>
                </a:solidFill>
                <a:latin typeface="Figtree" pitchFamily="34" charset="0"/>
                <a:ea typeface="Figtree" pitchFamily="34" charset="-122"/>
                <a:cs typeface="Figtree" pitchFamily="34" charset="-120"/>
              </a:rPr>
              <a:t>Homologar primero los modelos más densos del segmento</a:t>
            </a:r>
            <a:endParaRPr lang="es-CL" sz="17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RUTA 2 · EVIDENCIA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AHORRO SE ACREDITA,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se promete.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relaciones R07 a R14. El ahorro es una estimación de ingeniería, no medida en autos chilenos.</a:t>
            </a:r>
            <a:endParaRPr lang="es-CL" sz="1100" dirty="0"/>
          </a:p>
        </p:txBody>
      </p:sp>
      <p:sp>
        <p:nvSpPr>
          <p:cNvPr id="5" name="Text 3"/>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6" name="Shape 4"/>
          <p:cNvSpPr/>
          <p:nvPr/>
        </p:nvSpPr>
        <p:spPr>
          <a:xfrm>
            <a:off x="10168585" y="978408"/>
            <a:ext cx="384048" cy="0"/>
          </a:xfrm>
          <a:prstGeom prst="line">
            <a:avLst/>
          </a:prstGeom>
          <a:noFill/>
          <a:ln w="19050">
            <a:solidFill>
              <a:schemeClr val="accent1"/>
            </a:solidFill>
            <a:prstDash val="dash"/>
          </a:ln>
        </p:spPr>
      </p:sp>
      <p:sp>
        <p:nvSpPr>
          <p:cNvPr id="7" name="Text 5"/>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8" name="Shape 6"/>
          <p:cNvSpPr/>
          <p:nvPr/>
        </p:nvSpPr>
        <p:spPr>
          <a:xfrm>
            <a:off x="7637475" y="978408"/>
            <a:ext cx="384048" cy="0"/>
          </a:xfrm>
          <a:prstGeom prst="line">
            <a:avLst/>
          </a:prstGeom>
          <a:noFill/>
          <a:ln w="41275">
            <a:solidFill>
              <a:schemeClr val="tx1"/>
            </a:solidFill>
            <a:prstDash val="solid"/>
          </a:ln>
        </p:spPr>
      </p:sp>
      <p:sp>
        <p:nvSpPr>
          <p:cNvPr id="9" name="Text 7"/>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0" name="Shape 8"/>
          <p:cNvSpPr/>
          <p:nvPr/>
        </p:nvSpPr>
        <p:spPr>
          <a:xfrm>
            <a:off x="5693105" y="978408"/>
            <a:ext cx="384048" cy="0"/>
          </a:xfrm>
          <a:prstGeom prst="line">
            <a:avLst/>
          </a:prstGeom>
          <a:noFill/>
          <a:ln w="25400">
            <a:solidFill>
              <a:schemeClr val="accent1"/>
            </a:solidFill>
            <a:prstDash val="solid"/>
          </a:ln>
        </p:spPr>
      </p:sp>
      <p:sp>
        <p:nvSpPr>
          <p:cNvPr id="11" name="Shape 9"/>
          <p:cNvSpPr/>
          <p:nvPr/>
        </p:nvSpPr>
        <p:spPr>
          <a:xfrm>
            <a:off x="822960" y="2898648"/>
            <a:ext cx="2148840" cy="868680"/>
          </a:xfrm>
          <a:prstGeom prst="rect">
            <a:avLst/>
          </a:prstGeom>
          <a:solidFill>
            <a:schemeClr val="bg2"/>
          </a:solidFill>
          <a:ln w="9525">
            <a:solidFill>
              <a:schemeClr val="tx2"/>
            </a:solidFill>
            <a:prstDash val="solid"/>
          </a:ln>
        </p:spPr>
      </p:sp>
      <p:sp>
        <p:nvSpPr>
          <p:cNvPr id="12" name="Shape 10"/>
          <p:cNvSpPr/>
          <p:nvPr/>
        </p:nvSpPr>
        <p:spPr>
          <a:xfrm>
            <a:off x="822960" y="2898648"/>
            <a:ext cx="2148840" cy="64008"/>
          </a:xfrm>
          <a:prstGeom prst="rect">
            <a:avLst/>
          </a:prstGeom>
          <a:solidFill>
            <a:srgbClr val="0A6F9E"/>
          </a:solidFill>
          <a:ln/>
        </p:spPr>
      </p:sp>
      <p:sp>
        <p:nvSpPr>
          <p:cNvPr id="13" name="Text 11"/>
          <p:cNvSpPr txBox="1"/>
          <p:nvPr/>
        </p:nvSpPr>
        <p:spPr>
          <a:xfrm>
            <a:off x="914400"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P4</a:t>
            </a:r>
            <a:endParaRPr lang="es-CL" sz="1500" dirty="0"/>
          </a:p>
        </p:txBody>
      </p:sp>
      <p:sp>
        <p:nvSpPr>
          <p:cNvPr id="14" name="Text 12"/>
          <p:cNvSpPr txBox="1"/>
          <p:nvPr/>
        </p:nvSpPr>
        <p:spPr>
          <a:xfrm>
            <a:off x="914400" y="324612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Medición y posventa</a:t>
            </a:r>
            <a:endParaRPr lang="es-CL" sz="1800" dirty="0"/>
          </a:p>
        </p:txBody>
      </p:sp>
      <p:pic>
        <p:nvPicPr>
          <p:cNvPr id="15" name="Image 0" descr="C:\Users\Usuario\Documents\GitHub\lumine\solemne-2\generador\assets\brillo.png">    </p:cNvPr>
          <p:cNvPicPr>
            <a:picLocks noChangeAspect="1"/>
          </p:cNvPicPr>
          <p:nvPr/>
        </p:nvPicPr>
        <p:blipFill>
          <a:blip r:embed="rId1"/>
          <a:stretch>
            <a:fillRect/>
          </a:stretch>
        </p:blipFill>
        <p:spPr>
          <a:xfrm>
            <a:off x="3172968" y="2642616"/>
            <a:ext cx="2880360" cy="1380744"/>
          </a:xfrm>
          <a:prstGeom prst="rect">
            <a:avLst/>
          </a:prstGeom>
        </p:spPr>
      </p:pic>
      <p:sp>
        <p:nvSpPr>
          <p:cNvPr id="16" name="Shape 13"/>
          <p:cNvSpPr/>
          <p:nvPr/>
        </p:nvSpPr>
        <p:spPr>
          <a:xfrm>
            <a:off x="3538728" y="2898648"/>
            <a:ext cx="2148840" cy="868680"/>
          </a:xfrm>
          <a:prstGeom prst="rect">
            <a:avLst/>
          </a:prstGeom>
          <a:solidFill>
            <a:srgbClr val="0B1A22"/>
          </a:solidFill>
          <a:ln w="15875">
            <a:solidFill>
              <a:schemeClr val="accent1"/>
            </a:solidFill>
            <a:prstDash val="solid"/>
          </a:ln>
        </p:spPr>
      </p:sp>
      <p:sp>
        <p:nvSpPr>
          <p:cNvPr id="17" name="Shape 14"/>
          <p:cNvSpPr/>
          <p:nvPr/>
        </p:nvSpPr>
        <p:spPr>
          <a:xfrm>
            <a:off x="3483864" y="2843784"/>
            <a:ext cx="155448" cy="0"/>
          </a:xfrm>
          <a:prstGeom prst="line">
            <a:avLst/>
          </a:prstGeom>
          <a:noFill/>
          <a:ln w="15875">
            <a:solidFill>
              <a:schemeClr val="accent1"/>
            </a:solidFill>
            <a:prstDash val="solid"/>
          </a:ln>
        </p:spPr>
      </p:sp>
      <p:sp>
        <p:nvSpPr>
          <p:cNvPr id="18" name="Shape 15"/>
          <p:cNvSpPr/>
          <p:nvPr/>
        </p:nvSpPr>
        <p:spPr>
          <a:xfrm>
            <a:off x="3483864" y="2843784"/>
            <a:ext cx="0" cy="155448"/>
          </a:xfrm>
          <a:prstGeom prst="line">
            <a:avLst/>
          </a:prstGeom>
          <a:noFill/>
          <a:ln w="15875">
            <a:solidFill>
              <a:schemeClr val="accent1"/>
            </a:solidFill>
            <a:prstDash val="solid"/>
          </a:ln>
        </p:spPr>
      </p:sp>
      <p:sp>
        <p:nvSpPr>
          <p:cNvPr id="19" name="Shape 16"/>
          <p:cNvSpPr/>
          <p:nvPr/>
        </p:nvSpPr>
        <p:spPr>
          <a:xfrm>
            <a:off x="5586984" y="2843784"/>
            <a:ext cx="155448" cy="0"/>
          </a:xfrm>
          <a:prstGeom prst="line">
            <a:avLst/>
          </a:prstGeom>
          <a:noFill/>
          <a:ln w="15875">
            <a:solidFill>
              <a:schemeClr val="accent1"/>
            </a:solidFill>
            <a:prstDash val="solid"/>
          </a:ln>
        </p:spPr>
      </p:sp>
      <p:sp>
        <p:nvSpPr>
          <p:cNvPr id="20" name="Shape 17"/>
          <p:cNvSpPr/>
          <p:nvPr/>
        </p:nvSpPr>
        <p:spPr>
          <a:xfrm>
            <a:off x="5742432" y="2843784"/>
            <a:ext cx="0" cy="155448"/>
          </a:xfrm>
          <a:prstGeom prst="line">
            <a:avLst/>
          </a:prstGeom>
          <a:noFill/>
          <a:ln w="15875">
            <a:solidFill>
              <a:schemeClr val="accent1"/>
            </a:solidFill>
            <a:prstDash val="solid"/>
          </a:ln>
        </p:spPr>
      </p:sp>
      <p:sp>
        <p:nvSpPr>
          <p:cNvPr id="21" name="Shape 18"/>
          <p:cNvSpPr/>
          <p:nvPr/>
        </p:nvSpPr>
        <p:spPr>
          <a:xfrm>
            <a:off x="3483864" y="3822192"/>
            <a:ext cx="155448" cy="0"/>
          </a:xfrm>
          <a:prstGeom prst="line">
            <a:avLst/>
          </a:prstGeom>
          <a:noFill/>
          <a:ln w="15875">
            <a:solidFill>
              <a:schemeClr val="accent1"/>
            </a:solidFill>
            <a:prstDash val="solid"/>
          </a:ln>
        </p:spPr>
      </p:sp>
      <p:sp>
        <p:nvSpPr>
          <p:cNvPr id="22" name="Shape 19"/>
          <p:cNvSpPr/>
          <p:nvPr/>
        </p:nvSpPr>
        <p:spPr>
          <a:xfrm>
            <a:off x="3483864" y="3666744"/>
            <a:ext cx="0" cy="155448"/>
          </a:xfrm>
          <a:prstGeom prst="line">
            <a:avLst/>
          </a:prstGeom>
          <a:noFill/>
          <a:ln w="15875">
            <a:solidFill>
              <a:schemeClr val="accent1"/>
            </a:solidFill>
            <a:prstDash val="solid"/>
          </a:ln>
        </p:spPr>
      </p:sp>
      <p:sp>
        <p:nvSpPr>
          <p:cNvPr id="23" name="Shape 20"/>
          <p:cNvSpPr/>
          <p:nvPr/>
        </p:nvSpPr>
        <p:spPr>
          <a:xfrm>
            <a:off x="5586984" y="3822192"/>
            <a:ext cx="155448" cy="0"/>
          </a:xfrm>
          <a:prstGeom prst="line">
            <a:avLst/>
          </a:prstGeom>
          <a:noFill/>
          <a:ln w="15875">
            <a:solidFill>
              <a:schemeClr val="accent1"/>
            </a:solidFill>
            <a:prstDash val="solid"/>
          </a:ln>
        </p:spPr>
      </p:sp>
      <p:sp>
        <p:nvSpPr>
          <p:cNvPr id="24" name="Shape 21"/>
          <p:cNvSpPr/>
          <p:nvPr/>
        </p:nvSpPr>
        <p:spPr>
          <a:xfrm>
            <a:off x="5742432" y="3666744"/>
            <a:ext cx="0" cy="155448"/>
          </a:xfrm>
          <a:prstGeom prst="line">
            <a:avLst/>
          </a:prstGeom>
          <a:noFill/>
          <a:ln w="15875">
            <a:solidFill>
              <a:schemeClr val="accent1"/>
            </a:solidFill>
            <a:prstDash val="solid"/>
          </a:ln>
        </p:spPr>
      </p:sp>
      <p:sp>
        <p:nvSpPr>
          <p:cNvPr id="25" name="Shape 22"/>
          <p:cNvSpPr/>
          <p:nvPr/>
        </p:nvSpPr>
        <p:spPr>
          <a:xfrm>
            <a:off x="3538728" y="2898648"/>
            <a:ext cx="2148840" cy="64008"/>
          </a:xfrm>
          <a:prstGeom prst="rect">
            <a:avLst/>
          </a:prstGeom>
          <a:solidFill>
            <a:srgbClr val="0A6F9E"/>
          </a:solidFill>
          <a:ln/>
        </p:spPr>
      </p:sp>
      <p:sp>
        <p:nvSpPr>
          <p:cNvPr id="26" name="Text 23"/>
          <p:cNvSpPr txBox="1"/>
          <p:nvPr/>
        </p:nvSpPr>
        <p:spPr>
          <a:xfrm>
            <a:off x="3630168"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C2</a:t>
            </a:r>
            <a:endParaRPr lang="es-CL" sz="1500" dirty="0"/>
          </a:p>
        </p:txBody>
      </p:sp>
      <p:sp>
        <p:nvSpPr>
          <p:cNvPr id="27" name="Text 24"/>
          <p:cNvSpPr txBox="1"/>
          <p:nvPr/>
        </p:nvSpPr>
        <p:spPr>
          <a:xfrm>
            <a:off x="3630168" y="3246120"/>
            <a:ext cx="2002536" cy="466344"/>
          </a:xfrm>
          <a:prstGeom prst="rect">
            <a:avLst/>
          </a:prstGeom>
          <a:noFill/>
          <a:ln/>
        </p:spPr>
        <p:txBody>
          <a:bodyPr wrap="square" lIns="0" tIns="0" rIns="0" bIns="0" rtlCol="0" anchor="t"/>
          <a:lstStyle/>
          <a:p>
            <a:pPr indent="0" marL="0">
              <a:lnSpc>
                <a:spcPct val="88000"/>
              </a:lnSpc>
              <a:buNone/>
            </a:pPr>
            <a:r>
              <a:rPr lang="es-CL" altLang="en-US" sz="1800" b="1" dirty="0">
                <a:solidFill>
                  <a:schemeClr val="tx1"/>
                </a:solidFill>
                <a:latin typeface="Figtree" pitchFamily="34" charset="0"/>
                <a:ea typeface="Figtree" pitchFamily="34" charset="-122"/>
                <a:cs typeface="Figtree" pitchFamily="34" charset="-120"/>
              </a:rPr>
              <a:t>Ahorro acreditado</a:t>
            </a:r>
            <a:endParaRPr lang="es-CL" sz="1800" dirty="0"/>
          </a:p>
        </p:txBody>
      </p:sp>
      <p:sp>
        <p:nvSpPr>
          <p:cNvPr id="28" name="Shape 25"/>
          <p:cNvSpPr/>
          <p:nvPr/>
        </p:nvSpPr>
        <p:spPr>
          <a:xfrm>
            <a:off x="6254496" y="2898648"/>
            <a:ext cx="2148840" cy="868680"/>
          </a:xfrm>
          <a:prstGeom prst="rect">
            <a:avLst/>
          </a:prstGeom>
          <a:solidFill>
            <a:schemeClr val="bg2"/>
          </a:solidFill>
          <a:ln w="9525">
            <a:solidFill>
              <a:schemeClr val="tx2"/>
            </a:solidFill>
            <a:prstDash val="solid"/>
          </a:ln>
        </p:spPr>
      </p:sp>
      <p:sp>
        <p:nvSpPr>
          <p:cNvPr id="29" name="Text 26"/>
          <p:cNvSpPr txBox="1"/>
          <p:nvPr/>
        </p:nvSpPr>
        <p:spPr>
          <a:xfrm>
            <a:off x="6345936"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C3</a:t>
            </a:r>
            <a:endParaRPr lang="es-CL" sz="1500" dirty="0"/>
          </a:p>
        </p:txBody>
      </p:sp>
      <p:sp>
        <p:nvSpPr>
          <p:cNvPr id="30" name="Text 27"/>
          <p:cNvSpPr txBox="1"/>
          <p:nvPr/>
        </p:nvSpPr>
        <p:spPr>
          <a:xfrm>
            <a:off x="6345936" y="324612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Confianza del cliente</a:t>
            </a:r>
            <a:endParaRPr lang="es-CL" sz="1800" dirty="0"/>
          </a:p>
        </p:txBody>
      </p:sp>
      <p:sp>
        <p:nvSpPr>
          <p:cNvPr id="31" name="Shape 28"/>
          <p:cNvSpPr/>
          <p:nvPr/>
        </p:nvSpPr>
        <p:spPr>
          <a:xfrm>
            <a:off x="8970264" y="2898648"/>
            <a:ext cx="2148840" cy="868680"/>
          </a:xfrm>
          <a:prstGeom prst="rect">
            <a:avLst/>
          </a:prstGeom>
          <a:solidFill>
            <a:schemeClr val="bg2"/>
          </a:solidFill>
          <a:ln w="9525">
            <a:solidFill>
              <a:schemeClr val="tx2"/>
            </a:solidFill>
            <a:prstDash val="solid"/>
          </a:ln>
        </p:spPr>
      </p:sp>
      <p:sp>
        <p:nvSpPr>
          <p:cNvPr id="32" name="Shape 29"/>
          <p:cNvSpPr/>
          <p:nvPr/>
        </p:nvSpPr>
        <p:spPr>
          <a:xfrm>
            <a:off x="8970264" y="2898648"/>
            <a:ext cx="2148840" cy="64008"/>
          </a:xfrm>
          <a:prstGeom prst="rect">
            <a:avLst/>
          </a:prstGeom>
          <a:solidFill>
            <a:srgbClr val="22B8F0"/>
          </a:solidFill>
          <a:ln/>
        </p:spPr>
      </p:sp>
      <p:sp>
        <p:nvSpPr>
          <p:cNvPr id="33" name="Text 30"/>
          <p:cNvSpPr txBox="1"/>
          <p:nvPr/>
        </p:nvSpPr>
        <p:spPr>
          <a:xfrm>
            <a:off x="9061704" y="2971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C4</a:t>
            </a:r>
            <a:endParaRPr lang="es-CL" sz="1500" dirty="0"/>
          </a:p>
        </p:txBody>
      </p:sp>
      <p:sp>
        <p:nvSpPr>
          <p:cNvPr id="34" name="Text 31"/>
          <p:cNvSpPr txBox="1"/>
          <p:nvPr/>
        </p:nvSpPr>
        <p:spPr>
          <a:xfrm>
            <a:off x="9061704" y="324612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Segmento captado</a:t>
            </a:r>
            <a:endParaRPr lang="es-CL" sz="1800" dirty="0"/>
          </a:p>
        </p:txBody>
      </p:sp>
      <p:sp>
        <p:nvSpPr>
          <p:cNvPr id="35" name="Shape 32"/>
          <p:cNvSpPr/>
          <p:nvPr/>
        </p:nvSpPr>
        <p:spPr>
          <a:xfrm>
            <a:off x="2971800" y="3332988"/>
            <a:ext cx="566928" cy="0"/>
          </a:xfrm>
          <a:prstGeom prst="line">
            <a:avLst/>
          </a:prstGeom>
          <a:noFill/>
          <a:ln w="25400">
            <a:solidFill>
              <a:schemeClr val="accent1"/>
            </a:solidFill>
            <a:prstDash val="solid"/>
            <a:tailEnd type="triangle"/>
          </a:ln>
        </p:spPr>
      </p:sp>
      <p:sp>
        <p:nvSpPr>
          <p:cNvPr id="36" name="Text 33"/>
          <p:cNvSpPr txBox="1"/>
          <p:nvPr/>
        </p:nvSpPr>
        <p:spPr>
          <a:xfrm>
            <a:off x="2423160" y="2532888"/>
            <a:ext cx="1664208"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reporte confiable</a:t>
            </a:r>
            <a:endParaRPr lang="es-CL" sz="1600" dirty="0"/>
          </a:p>
        </p:txBody>
      </p:sp>
      <p:sp>
        <p:nvSpPr>
          <p:cNvPr id="37" name="Shape 34"/>
          <p:cNvSpPr/>
          <p:nvPr/>
        </p:nvSpPr>
        <p:spPr>
          <a:xfrm>
            <a:off x="5687568" y="3332988"/>
            <a:ext cx="566928" cy="0"/>
          </a:xfrm>
          <a:prstGeom prst="line">
            <a:avLst/>
          </a:prstGeom>
          <a:noFill/>
          <a:ln w="19050">
            <a:solidFill>
              <a:schemeClr val="accent1"/>
            </a:solidFill>
            <a:prstDash val="dash"/>
            <a:tailEnd type="triangle"/>
          </a:ln>
        </p:spPr>
      </p:sp>
      <p:sp>
        <p:nvSpPr>
          <p:cNvPr id="38" name="Text 35"/>
          <p:cNvSpPr txBox="1"/>
          <p:nvPr/>
        </p:nvSpPr>
        <p:spPr>
          <a:xfrm>
            <a:off x="5138928" y="2532888"/>
            <a:ext cx="1664208"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evidencia</a:t>
            </a:r>
            <a:endParaRPr lang="es-CL" sz="1600" dirty="0"/>
          </a:p>
        </p:txBody>
      </p:sp>
      <p:sp>
        <p:nvSpPr>
          <p:cNvPr id="39" name="Shape 36"/>
          <p:cNvSpPr/>
          <p:nvPr/>
        </p:nvSpPr>
        <p:spPr>
          <a:xfrm>
            <a:off x="8403336" y="3332988"/>
            <a:ext cx="566928" cy="0"/>
          </a:xfrm>
          <a:prstGeom prst="line">
            <a:avLst/>
          </a:prstGeom>
          <a:noFill/>
          <a:ln w="19050">
            <a:solidFill>
              <a:schemeClr val="accent1"/>
            </a:solidFill>
            <a:prstDash val="dash"/>
            <a:tailEnd type="triangle"/>
          </a:ln>
        </p:spPr>
      </p:sp>
      <p:sp>
        <p:nvSpPr>
          <p:cNvPr id="40" name="Text 37"/>
          <p:cNvSpPr txBox="1"/>
          <p:nvPr/>
        </p:nvSpPr>
        <p:spPr>
          <a:xfrm>
            <a:off x="7854696" y="2532888"/>
            <a:ext cx="1664208"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conversión</a:t>
            </a:r>
            <a:endParaRPr lang="es-CL" sz="1600" dirty="0"/>
          </a:p>
        </p:txBody>
      </p:sp>
      <p:sp>
        <p:nvSpPr>
          <p:cNvPr id="41" name="Shape 38"/>
          <p:cNvSpPr/>
          <p:nvPr/>
        </p:nvSpPr>
        <p:spPr>
          <a:xfrm>
            <a:off x="822960" y="4453128"/>
            <a:ext cx="2148840" cy="868680"/>
          </a:xfrm>
          <a:prstGeom prst="rect">
            <a:avLst/>
          </a:prstGeom>
          <a:solidFill>
            <a:schemeClr val="bg2"/>
          </a:solidFill>
          <a:ln w="9525">
            <a:solidFill>
              <a:schemeClr val="tx2"/>
            </a:solidFill>
            <a:prstDash val="solid"/>
          </a:ln>
        </p:spPr>
      </p:sp>
      <p:sp>
        <p:nvSpPr>
          <p:cNvPr id="42" name="Shape 39"/>
          <p:cNvSpPr/>
          <p:nvPr/>
        </p:nvSpPr>
        <p:spPr>
          <a:xfrm>
            <a:off x="822960" y="4453128"/>
            <a:ext cx="2148840" cy="64008"/>
          </a:xfrm>
          <a:prstGeom prst="rect">
            <a:avLst/>
          </a:prstGeom>
          <a:solidFill>
            <a:srgbClr val="0A6F9E"/>
          </a:solidFill>
          <a:ln/>
        </p:spPr>
      </p:sp>
      <p:sp>
        <p:nvSpPr>
          <p:cNvPr id="43" name="Text 40"/>
          <p:cNvSpPr txBox="1"/>
          <p:nvPr/>
        </p:nvSpPr>
        <p:spPr>
          <a:xfrm>
            <a:off x="914400" y="45262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A3</a:t>
            </a:r>
            <a:endParaRPr lang="es-CL" sz="1500" dirty="0"/>
          </a:p>
        </p:txBody>
      </p:sp>
      <p:sp>
        <p:nvSpPr>
          <p:cNvPr id="44" name="Text 41"/>
          <p:cNvSpPr txBox="1"/>
          <p:nvPr/>
        </p:nvSpPr>
        <p:spPr>
          <a:xfrm>
            <a:off x="914400" y="480060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Protocolo de medición</a:t>
            </a:r>
            <a:endParaRPr lang="es-CL" sz="1800" dirty="0"/>
          </a:p>
        </p:txBody>
      </p:sp>
      <p:sp>
        <p:nvSpPr>
          <p:cNvPr id="45" name="Shape 42"/>
          <p:cNvSpPr/>
          <p:nvPr/>
        </p:nvSpPr>
        <p:spPr>
          <a:xfrm>
            <a:off x="3538728" y="4453128"/>
            <a:ext cx="2148840" cy="868680"/>
          </a:xfrm>
          <a:prstGeom prst="rect">
            <a:avLst/>
          </a:prstGeom>
          <a:solidFill>
            <a:schemeClr val="bg2"/>
          </a:solidFill>
          <a:ln w="9525">
            <a:solidFill>
              <a:schemeClr val="tx2"/>
            </a:solidFill>
            <a:prstDash val="solid"/>
          </a:ln>
        </p:spPr>
      </p:sp>
      <p:sp>
        <p:nvSpPr>
          <p:cNvPr id="46" name="Text 43"/>
          <p:cNvSpPr txBox="1"/>
          <p:nvPr/>
        </p:nvSpPr>
        <p:spPr>
          <a:xfrm>
            <a:off x="3630168" y="45262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C1</a:t>
            </a:r>
            <a:endParaRPr lang="es-CL" sz="1500" dirty="0"/>
          </a:p>
        </p:txBody>
      </p:sp>
      <p:sp>
        <p:nvSpPr>
          <p:cNvPr id="47" name="Text 44"/>
          <p:cNvSpPr txBox="1"/>
          <p:nvPr/>
        </p:nvSpPr>
        <p:spPr>
          <a:xfrm>
            <a:off x="3630168" y="480060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Promesa técnica cumplida</a:t>
            </a:r>
            <a:endParaRPr lang="es-CL" sz="1800" dirty="0"/>
          </a:p>
        </p:txBody>
      </p:sp>
      <p:sp>
        <p:nvSpPr>
          <p:cNvPr id="48" name="Shape 45"/>
          <p:cNvSpPr/>
          <p:nvPr/>
        </p:nvSpPr>
        <p:spPr>
          <a:xfrm>
            <a:off x="7511796" y="4453128"/>
            <a:ext cx="2148840" cy="868680"/>
          </a:xfrm>
          <a:prstGeom prst="rect">
            <a:avLst/>
          </a:prstGeom>
          <a:solidFill>
            <a:schemeClr val="bg2"/>
          </a:solidFill>
          <a:ln w="9525">
            <a:solidFill>
              <a:schemeClr val="tx2"/>
            </a:solidFill>
            <a:prstDash val="solid"/>
          </a:ln>
        </p:spPr>
      </p:sp>
      <p:sp>
        <p:nvSpPr>
          <p:cNvPr id="49" name="Shape 46"/>
          <p:cNvSpPr/>
          <p:nvPr/>
        </p:nvSpPr>
        <p:spPr>
          <a:xfrm>
            <a:off x="7511796" y="4453128"/>
            <a:ext cx="1074420" cy="64008"/>
          </a:xfrm>
          <a:prstGeom prst="rect">
            <a:avLst/>
          </a:prstGeom>
          <a:solidFill>
            <a:srgbClr val="ECECEC"/>
          </a:solidFill>
          <a:ln/>
        </p:spPr>
      </p:sp>
      <p:sp>
        <p:nvSpPr>
          <p:cNvPr id="50" name="Shape 47"/>
          <p:cNvSpPr/>
          <p:nvPr/>
        </p:nvSpPr>
        <p:spPr>
          <a:xfrm>
            <a:off x="8586216" y="4453128"/>
            <a:ext cx="1074420" cy="64008"/>
          </a:xfrm>
          <a:prstGeom prst="rect">
            <a:avLst/>
          </a:prstGeom>
          <a:solidFill>
            <a:srgbClr val="22B8F0"/>
          </a:solidFill>
          <a:ln/>
        </p:spPr>
      </p:sp>
      <p:sp>
        <p:nvSpPr>
          <p:cNvPr id="51" name="Text 48"/>
          <p:cNvSpPr txBox="1"/>
          <p:nvPr/>
        </p:nvSpPr>
        <p:spPr>
          <a:xfrm>
            <a:off x="7603236" y="45262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P6</a:t>
            </a:r>
            <a:endParaRPr lang="es-CL" sz="1500" dirty="0"/>
          </a:p>
        </p:txBody>
      </p:sp>
      <p:sp>
        <p:nvSpPr>
          <p:cNvPr id="52" name="Text 49"/>
          <p:cNvSpPr txBox="1"/>
          <p:nvPr/>
        </p:nvSpPr>
        <p:spPr>
          <a:xfrm>
            <a:off x="7603236" y="4800600"/>
            <a:ext cx="2002536" cy="46634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Alianzas que destraban</a:t>
            </a:r>
            <a:endParaRPr lang="es-CL" sz="1800" dirty="0"/>
          </a:p>
        </p:txBody>
      </p:sp>
      <p:sp>
        <p:nvSpPr>
          <p:cNvPr id="53" name="Shape 50"/>
          <p:cNvSpPr/>
          <p:nvPr/>
        </p:nvSpPr>
        <p:spPr>
          <a:xfrm>
            <a:off x="1897380" y="4453128"/>
            <a:ext cx="0" cy="-685800"/>
          </a:xfrm>
          <a:prstGeom prst="line">
            <a:avLst/>
          </a:prstGeom>
          <a:noFill/>
          <a:ln w="25400">
            <a:solidFill>
              <a:schemeClr val="accent1"/>
            </a:solidFill>
            <a:prstDash val="solid"/>
            <a:tailEnd type="triangle"/>
          </a:ln>
        </p:spPr>
      </p:sp>
      <p:sp>
        <p:nvSpPr>
          <p:cNvPr id="54" name="Text 51"/>
          <p:cNvSpPr txBox="1"/>
          <p:nvPr/>
        </p:nvSpPr>
        <p:spPr>
          <a:xfrm>
            <a:off x="1988820" y="3931920"/>
            <a:ext cx="201168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datos comparables</a:t>
            </a:r>
            <a:endParaRPr lang="es-CL" sz="1600" dirty="0"/>
          </a:p>
        </p:txBody>
      </p:sp>
      <p:sp>
        <p:nvSpPr>
          <p:cNvPr id="55" name="Shape 52"/>
          <p:cNvSpPr/>
          <p:nvPr/>
        </p:nvSpPr>
        <p:spPr>
          <a:xfrm>
            <a:off x="5687568" y="4590288"/>
            <a:ext cx="1024128" cy="-822960"/>
          </a:xfrm>
          <a:prstGeom prst="line">
            <a:avLst/>
          </a:prstGeom>
          <a:noFill/>
          <a:ln w="19050">
            <a:solidFill>
              <a:schemeClr val="accent1"/>
            </a:solidFill>
            <a:prstDash val="dash"/>
            <a:tailEnd type="triangle"/>
          </a:ln>
        </p:spPr>
      </p:sp>
      <p:sp>
        <p:nvSpPr>
          <p:cNvPr id="56" name="Text 53"/>
          <p:cNvSpPr txBox="1"/>
          <p:nvPr/>
        </p:nvSpPr>
        <p:spPr>
          <a:xfrm>
            <a:off x="4087368" y="3931920"/>
            <a:ext cx="1554480" cy="292608"/>
          </a:xfrm>
          <a:prstGeom prst="rect">
            <a:avLst/>
          </a:prstGeom>
          <a:noFill/>
          <a:ln/>
        </p:spPr>
        <p:txBody>
          <a:bodyPr wrap="square" lIns="0" tIns="0" rIns="0" bIns="0" rtlCol="0" anchor="ctr"/>
          <a:lstStyle/>
          <a:p>
            <a:pPr algn="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promesa cumplida</a:t>
            </a:r>
            <a:endParaRPr lang="es-CL" sz="1600" dirty="0"/>
          </a:p>
        </p:txBody>
      </p:sp>
      <p:sp>
        <p:nvSpPr>
          <p:cNvPr id="57" name="Shape 54"/>
          <p:cNvSpPr/>
          <p:nvPr/>
        </p:nvSpPr>
        <p:spPr>
          <a:xfrm>
            <a:off x="7923276" y="4453128"/>
            <a:ext cx="0" cy="-685800"/>
          </a:xfrm>
          <a:prstGeom prst="line">
            <a:avLst/>
          </a:prstGeom>
          <a:noFill/>
          <a:ln w="19050">
            <a:solidFill>
              <a:schemeClr val="accent1"/>
            </a:solidFill>
            <a:prstDash val="dash"/>
            <a:tailEnd type="triangle"/>
          </a:ln>
        </p:spPr>
      </p:sp>
      <p:sp>
        <p:nvSpPr>
          <p:cNvPr id="58" name="Shape 55"/>
          <p:cNvSpPr/>
          <p:nvPr/>
        </p:nvSpPr>
        <p:spPr>
          <a:xfrm>
            <a:off x="9249156" y="4453128"/>
            <a:ext cx="0" cy="-685800"/>
          </a:xfrm>
          <a:prstGeom prst="line">
            <a:avLst/>
          </a:prstGeom>
          <a:noFill/>
          <a:ln w="19050">
            <a:solidFill>
              <a:schemeClr val="accent1"/>
            </a:solidFill>
            <a:prstDash val="dash"/>
            <a:tailEnd type="triangle"/>
          </a:ln>
        </p:spPr>
      </p:sp>
      <p:sp>
        <p:nvSpPr>
          <p:cNvPr id="59" name="Text 56"/>
          <p:cNvSpPr txBox="1"/>
          <p:nvPr/>
        </p:nvSpPr>
        <p:spPr>
          <a:xfrm>
            <a:off x="7968996" y="3931920"/>
            <a:ext cx="91440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respaldo</a:t>
            </a:r>
            <a:endParaRPr lang="es-CL" sz="1600" dirty="0"/>
          </a:p>
        </p:txBody>
      </p:sp>
      <p:sp>
        <p:nvSpPr>
          <p:cNvPr id="60" name="Text 57"/>
          <p:cNvSpPr txBox="1"/>
          <p:nvPr/>
        </p:nvSpPr>
        <p:spPr>
          <a:xfrm>
            <a:off x="9294876" y="3931920"/>
            <a:ext cx="91440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cuota</a:t>
            </a:r>
            <a:endParaRPr lang="es-CL" sz="1600" dirty="0"/>
          </a:p>
        </p:txBody>
      </p:sp>
      <p:sp>
        <p:nvSpPr>
          <p:cNvPr id="61" name="Shape 58"/>
          <p:cNvSpPr/>
          <p:nvPr/>
        </p:nvSpPr>
        <p:spPr>
          <a:xfrm>
            <a:off x="548640" y="5641848"/>
            <a:ext cx="11094415" cy="0"/>
          </a:xfrm>
          <a:prstGeom prst="line">
            <a:avLst/>
          </a:prstGeom>
          <a:noFill/>
          <a:ln w="9525">
            <a:solidFill>
              <a:schemeClr val="accent1"/>
            </a:solidFill>
            <a:prstDash val="solid"/>
          </a:ln>
        </p:spPr>
      </p:sp>
      <p:sp>
        <p:nvSpPr>
          <p:cNvPr id="62" name="Text 59"/>
          <p:cNvSpPr txBox="1"/>
          <p:nvPr/>
        </p:nvSpPr>
        <p:spPr>
          <a:xfrm>
            <a:off x="548640" y="5733288"/>
            <a:ext cx="8351215" cy="566928"/>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Reportes entregados no son litros ahorrados: </a:t>
            </a:r>
            <a:pPr indent="0" marL="0">
              <a:buNone/>
            </a:pPr>
            <a:r>
              <a:rPr lang="es-CL" altLang="en-US" sz="1800" dirty="0">
                <a:solidFill>
                  <a:schemeClr val="tx2"/>
                </a:solidFill>
                <a:latin typeface="Figtree" pitchFamily="34" charset="0"/>
                <a:ea typeface="Figtree" pitchFamily="34" charset="-122"/>
                <a:cs typeface="Figtree" pitchFamily="34" charset="-120"/>
              </a:rPr>
              <a:t>el ahorro se mide aparte, con línea base del mismo auto.</a:t>
            </a:r>
            <a:endParaRPr lang="es-CL" sz="1800" dirty="0"/>
          </a:p>
        </p:txBody>
      </p:sp>
      <p:sp>
        <p:nvSpPr>
          <p:cNvPr id="63" name="Shape 60"/>
          <p:cNvSpPr/>
          <p:nvPr/>
        </p:nvSpPr>
        <p:spPr>
          <a:xfrm>
            <a:off x="9145219" y="5824728"/>
            <a:ext cx="2497836" cy="329184"/>
          </a:xfrm>
          <a:prstGeom prst="rect">
            <a:avLst/>
          </a:prstGeom>
          <a:solidFill>
            <a:schemeClr val="bg1">
              <a:alpha val="0"/>
            </a:schemeClr>
          </a:solidFill>
          <a:ln w="12700">
            <a:solidFill>
              <a:schemeClr val="tx2"/>
            </a:solidFill>
            <a:prstDash val="dash"/>
          </a:ln>
        </p:spPr>
      </p:sp>
      <p:sp>
        <p:nvSpPr>
          <p:cNvPr id="64" name="Text 61"/>
          <p:cNvSpPr txBox="1"/>
          <p:nvPr/>
        </p:nvSpPr>
        <p:spPr>
          <a:xfrm>
            <a:off x="9254947" y="5824728"/>
            <a:ext cx="227838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HASTA 20%: ESTIMACIÓN</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RUTA 3 · VALOR ECONÓMICO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RENTABILIDAD SOBRE EL CAPITAL</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es la meta final; hoy no tiene cifra.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en red revisado (propuesta del equipo para la Solemne 2), relaciones R15 a R20; CMI original de Lumine (objetivo destacado por el profesor); módulo 4 del curso. Sin cifras: el Plan Financiero no existe aún.</a:t>
            </a:r>
            <a:endParaRPr lang="es-CL" sz="1100" dirty="0"/>
          </a:p>
        </p:txBody>
      </p:sp>
      <p:sp>
        <p:nvSpPr>
          <p:cNvPr id="5" name="Text 3"/>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6" name="Shape 4"/>
          <p:cNvSpPr/>
          <p:nvPr/>
        </p:nvSpPr>
        <p:spPr>
          <a:xfrm>
            <a:off x="10168585" y="978408"/>
            <a:ext cx="384048" cy="0"/>
          </a:xfrm>
          <a:prstGeom prst="line">
            <a:avLst/>
          </a:prstGeom>
          <a:noFill/>
          <a:ln w="19050">
            <a:solidFill>
              <a:schemeClr val="accent1"/>
            </a:solidFill>
            <a:prstDash val="dash"/>
          </a:ln>
        </p:spPr>
      </p:sp>
      <p:sp>
        <p:nvSpPr>
          <p:cNvPr id="7" name="Text 5"/>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8" name="Shape 6"/>
          <p:cNvSpPr/>
          <p:nvPr/>
        </p:nvSpPr>
        <p:spPr>
          <a:xfrm>
            <a:off x="7637475" y="978408"/>
            <a:ext cx="384048" cy="0"/>
          </a:xfrm>
          <a:prstGeom prst="line">
            <a:avLst/>
          </a:prstGeom>
          <a:noFill/>
          <a:ln w="41275">
            <a:solidFill>
              <a:schemeClr val="tx1"/>
            </a:solidFill>
            <a:prstDash val="solid"/>
          </a:ln>
        </p:spPr>
      </p:sp>
      <p:sp>
        <p:nvSpPr>
          <p:cNvPr id="9" name="Text 7"/>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0" name="Shape 8"/>
          <p:cNvSpPr/>
          <p:nvPr/>
        </p:nvSpPr>
        <p:spPr>
          <a:xfrm>
            <a:off x="5693105" y="978408"/>
            <a:ext cx="384048" cy="0"/>
          </a:xfrm>
          <a:prstGeom prst="line">
            <a:avLst/>
          </a:prstGeom>
          <a:noFill/>
          <a:ln w="25400">
            <a:solidFill>
              <a:schemeClr val="accent1"/>
            </a:solidFill>
            <a:prstDash val="solid"/>
          </a:ln>
        </p:spPr>
      </p:sp>
      <p:sp>
        <p:nvSpPr>
          <p:cNvPr id="11" name="Shape 9"/>
          <p:cNvSpPr/>
          <p:nvPr/>
        </p:nvSpPr>
        <p:spPr>
          <a:xfrm>
            <a:off x="548640" y="2670048"/>
            <a:ext cx="1783080" cy="914400"/>
          </a:xfrm>
          <a:prstGeom prst="rect">
            <a:avLst/>
          </a:prstGeom>
          <a:solidFill>
            <a:schemeClr val="bg2"/>
          </a:solidFill>
          <a:ln w="9525">
            <a:solidFill>
              <a:schemeClr val="tx2"/>
            </a:solidFill>
            <a:prstDash val="solid"/>
          </a:ln>
        </p:spPr>
      </p:sp>
      <p:sp>
        <p:nvSpPr>
          <p:cNvPr id="12" name="Shape 10"/>
          <p:cNvSpPr/>
          <p:nvPr/>
        </p:nvSpPr>
        <p:spPr>
          <a:xfrm>
            <a:off x="548640" y="2670048"/>
            <a:ext cx="1783080" cy="64008"/>
          </a:xfrm>
          <a:prstGeom prst="rect">
            <a:avLst/>
          </a:prstGeom>
          <a:solidFill>
            <a:srgbClr val="22B8F0"/>
          </a:solidFill>
          <a:ln/>
        </p:spPr>
      </p:sp>
      <p:sp>
        <p:nvSpPr>
          <p:cNvPr id="13" name="Text 11"/>
          <p:cNvSpPr txBox="1"/>
          <p:nvPr/>
        </p:nvSpPr>
        <p:spPr>
          <a:xfrm>
            <a:off x="640080" y="27432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C4</a:t>
            </a:r>
            <a:endParaRPr lang="es-CL" sz="1500" dirty="0"/>
          </a:p>
        </p:txBody>
      </p:sp>
      <p:sp>
        <p:nvSpPr>
          <p:cNvPr id="14" name="Text 12"/>
          <p:cNvSpPr txBox="1"/>
          <p:nvPr/>
        </p:nvSpPr>
        <p:spPr>
          <a:xfrm>
            <a:off x="640080" y="3017520"/>
            <a:ext cx="1636776" cy="51206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Segmento captado</a:t>
            </a:r>
            <a:endParaRPr lang="es-CL" sz="1800" dirty="0"/>
          </a:p>
        </p:txBody>
      </p:sp>
      <p:sp>
        <p:nvSpPr>
          <p:cNvPr id="15" name="Shape 13"/>
          <p:cNvSpPr/>
          <p:nvPr/>
        </p:nvSpPr>
        <p:spPr>
          <a:xfrm>
            <a:off x="548640" y="3767328"/>
            <a:ext cx="1783080" cy="914400"/>
          </a:xfrm>
          <a:prstGeom prst="rect">
            <a:avLst/>
          </a:prstGeom>
          <a:solidFill>
            <a:schemeClr val="bg2"/>
          </a:solidFill>
          <a:ln w="9525">
            <a:solidFill>
              <a:schemeClr val="tx2"/>
            </a:solidFill>
            <a:prstDash val="solid"/>
          </a:ln>
        </p:spPr>
      </p:sp>
      <p:sp>
        <p:nvSpPr>
          <p:cNvPr id="16" name="Text 14"/>
          <p:cNvSpPr txBox="1"/>
          <p:nvPr/>
        </p:nvSpPr>
        <p:spPr>
          <a:xfrm>
            <a:off x="640080" y="384048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P3</a:t>
            </a:r>
            <a:endParaRPr lang="es-CL" sz="1500" dirty="0"/>
          </a:p>
        </p:txBody>
      </p:sp>
      <p:sp>
        <p:nvSpPr>
          <p:cNvPr id="17" name="Text 15"/>
          <p:cNvSpPr txBox="1"/>
          <p:nvPr/>
        </p:nvSpPr>
        <p:spPr>
          <a:xfrm>
            <a:off x="640080" y="4114800"/>
            <a:ext cx="1636776" cy="51206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Instalación segura</a:t>
            </a:r>
            <a:endParaRPr lang="es-CL" sz="1800" dirty="0"/>
          </a:p>
        </p:txBody>
      </p:sp>
      <p:sp>
        <p:nvSpPr>
          <p:cNvPr id="18" name="Shape 16"/>
          <p:cNvSpPr/>
          <p:nvPr/>
        </p:nvSpPr>
        <p:spPr>
          <a:xfrm>
            <a:off x="3017520" y="3218688"/>
            <a:ext cx="1783080" cy="914400"/>
          </a:xfrm>
          <a:prstGeom prst="rect">
            <a:avLst/>
          </a:prstGeom>
          <a:solidFill>
            <a:schemeClr val="bg2"/>
          </a:solidFill>
          <a:ln w="9525">
            <a:solidFill>
              <a:schemeClr val="tx2"/>
            </a:solidFill>
            <a:prstDash val="solid"/>
          </a:ln>
        </p:spPr>
      </p:sp>
      <p:sp>
        <p:nvSpPr>
          <p:cNvPr id="19" name="Text 17"/>
          <p:cNvSpPr txBox="1"/>
          <p:nvPr/>
        </p:nvSpPr>
        <p:spPr>
          <a:xfrm>
            <a:off x="3108960" y="329184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F2</a:t>
            </a:r>
            <a:endParaRPr lang="es-CL" sz="1500" dirty="0"/>
          </a:p>
        </p:txBody>
      </p:sp>
      <p:sp>
        <p:nvSpPr>
          <p:cNvPr id="20" name="Text 18"/>
          <p:cNvSpPr txBox="1"/>
          <p:nvPr/>
        </p:nvSpPr>
        <p:spPr>
          <a:xfrm>
            <a:off x="3108960" y="3566160"/>
            <a:ext cx="1636776" cy="51206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Margen por servicio</a:t>
            </a:r>
            <a:endParaRPr lang="es-CL" sz="1800" dirty="0"/>
          </a:p>
        </p:txBody>
      </p:sp>
      <p:sp>
        <p:nvSpPr>
          <p:cNvPr id="21" name="Shape 19"/>
          <p:cNvSpPr/>
          <p:nvPr/>
        </p:nvSpPr>
        <p:spPr>
          <a:xfrm>
            <a:off x="2331720" y="3127248"/>
            <a:ext cx="685800" cy="347472"/>
          </a:xfrm>
          <a:prstGeom prst="line">
            <a:avLst/>
          </a:prstGeom>
          <a:noFill/>
          <a:ln w="19050">
            <a:solidFill>
              <a:schemeClr val="accent1"/>
            </a:solidFill>
            <a:prstDash val="dash"/>
            <a:tailEnd type="triangle"/>
          </a:ln>
        </p:spPr>
      </p:sp>
      <p:sp>
        <p:nvSpPr>
          <p:cNvPr id="22" name="Shape 20"/>
          <p:cNvSpPr/>
          <p:nvPr/>
        </p:nvSpPr>
        <p:spPr>
          <a:xfrm>
            <a:off x="2331720" y="4224528"/>
            <a:ext cx="685800" cy="-347472"/>
          </a:xfrm>
          <a:prstGeom prst="line">
            <a:avLst/>
          </a:prstGeom>
          <a:noFill/>
          <a:ln w="19050">
            <a:solidFill>
              <a:schemeClr val="accent1"/>
            </a:solidFill>
            <a:prstDash val="dash"/>
            <a:tailEnd type="triangle"/>
          </a:ln>
        </p:spPr>
      </p:sp>
      <p:sp>
        <p:nvSpPr>
          <p:cNvPr id="23" name="Text 21"/>
          <p:cNvSpPr txBox="1"/>
          <p:nvPr/>
        </p:nvSpPr>
        <p:spPr>
          <a:xfrm>
            <a:off x="548640" y="2368296"/>
            <a:ext cx="274320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volumen con margen</a:t>
            </a:r>
            <a:endParaRPr lang="es-CL" sz="1600" dirty="0"/>
          </a:p>
        </p:txBody>
      </p:sp>
      <p:sp>
        <p:nvSpPr>
          <p:cNvPr id="24" name="Text 22"/>
          <p:cNvSpPr txBox="1"/>
          <p:nvPr/>
        </p:nvSpPr>
        <p:spPr>
          <a:xfrm>
            <a:off x="548640" y="4700016"/>
            <a:ext cx="2743200" cy="292608"/>
          </a:xfrm>
          <a:prstGeom prst="rect">
            <a:avLst/>
          </a:prstGeom>
          <a:noFill/>
          <a:ln/>
        </p:spPr>
        <p:txBody>
          <a:bodyPr wrap="square" lIns="0" tIns="0" rIns="0" bIns="0" rtlCol="0" anchor="ctr"/>
          <a:lstStyle/>
          <a:p>
            <a:pPr algn="l"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menos retrabajo</a:t>
            </a:r>
            <a:endParaRPr lang="es-CL" sz="1600" dirty="0"/>
          </a:p>
        </p:txBody>
      </p:sp>
      <p:sp>
        <p:nvSpPr>
          <p:cNvPr id="25" name="Shape 23"/>
          <p:cNvSpPr/>
          <p:nvPr/>
        </p:nvSpPr>
        <p:spPr>
          <a:xfrm>
            <a:off x="548640" y="5184648"/>
            <a:ext cx="1783080" cy="914400"/>
          </a:xfrm>
          <a:prstGeom prst="rect">
            <a:avLst/>
          </a:prstGeom>
          <a:solidFill>
            <a:schemeClr val="bg2"/>
          </a:solidFill>
          <a:ln w="9525">
            <a:solidFill>
              <a:schemeClr val="tx2"/>
            </a:solidFill>
            <a:prstDash val="solid"/>
          </a:ln>
        </p:spPr>
      </p:sp>
      <p:sp>
        <p:nvSpPr>
          <p:cNvPr id="26" name="Shape 24"/>
          <p:cNvSpPr/>
          <p:nvPr/>
        </p:nvSpPr>
        <p:spPr>
          <a:xfrm>
            <a:off x="548640" y="5184648"/>
            <a:ext cx="1783080" cy="64008"/>
          </a:xfrm>
          <a:prstGeom prst="rect">
            <a:avLst/>
          </a:prstGeom>
          <a:solidFill>
            <a:srgbClr val="0A6F9E"/>
          </a:solidFill>
          <a:ln/>
        </p:spPr>
      </p:sp>
      <p:sp>
        <p:nvSpPr>
          <p:cNvPr id="27" name="Text 25"/>
          <p:cNvSpPr txBox="1"/>
          <p:nvPr/>
        </p:nvSpPr>
        <p:spPr>
          <a:xfrm>
            <a:off x="640080" y="5257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A4</a:t>
            </a:r>
            <a:endParaRPr lang="es-CL" sz="1500" dirty="0"/>
          </a:p>
        </p:txBody>
      </p:sp>
      <p:sp>
        <p:nvSpPr>
          <p:cNvPr id="28" name="Text 26"/>
          <p:cNvSpPr txBox="1"/>
          <p:nvPr/>
        </p:nvSpPr>
        <p:spPr>
          <a:xfrm>
            <a:off x="640080" y="5532120"/>
            <a:ext cx="1636776" cy="51206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Lumine Habilita</a:t>
            </a:r>
            <a:endParaRPr lang="es-CL" sz="1800" dirty="0"/>
          </a:p>
        </p:txBody>
      </p:sp>
      <p:sp>
        <p:nvSpPr>
          <p:cNvPr id="29" name="Shape 27"/>
          <p:cNvSpPr/>
          <p:nvPr/>
        </p:nvSpPr>
        <p:spPr>
          <a:xfrm>
            <a:off x="3017520" y="5184648"/>
            <a:ext cx="1783080" cy="914400"/>
          </a:xfrm>
          <a:prstGeom prst="rect">
            <a:avLst/>
          </a:prstGeom>
          <a:solidFill>
            <a:schemeClr val="bg2"/>
          </a:solidFill>
          <a:ln w="9525">
            <a:solidFill>
              <a:schemeClr val="tx2"/>
            </a:solidFill>
            <a:prstDash val="solid"/>
          </a:ln>
        </p:spPr>
      </p:sp>
      <p:sp>
        <p:nvSpPr>
          <p:cNvPr id="30" name="Shape 28"/>
          <p:cNvSpPr/>
          <p:nvPr/>
        </p:nvSpPr>
        <p:spPr>
          <a:xfrm>
            <a:off x="3017520" y="5184648"/>
            <a:ext cx="1783080" cy="64008"/>
          </a:xfrm>
          <a:prstGeom prst="rect">
            <a:avLst/>
          </a:prstGeom>
          <a:solidFill>
            <a:srgbClr val="0A6F9E"/>
          </a:solidFill>
          <a:ln/>
        </p:spPr>
      </p:sp>
      <p:sp>
        <p:nvSpPr>
          <p:cNvPr id="31" name="Text 29"/>
          <p:cNvSpPr txBox="1"/>
          <p:nvPr/>
        </p:nvSpPr>
        <p:spPr>
          <a:xfrm>
            <a:off x="3108960" y="5257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P5</a:t>
            </a:r>
            <a:endParaRPr lang="es-CL" sz="1500" dirty="0"/>
          </a:p>
        </p:txBody>
      </p:sp>
      <p:sp>
        <p:nvSpPr>
          <p:cNvPr id="32" name="Text 30"/>
          <p:cNvSpPr txBox="1"/>
          <p:nvPr/>
        </p:nvSpPr>
        <p:spPr>
          <a:xfrm>
            <a:off x="3108960" y="5532120"/>
            <a:ext cx="1636776" cy="51206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Réplica en talleres</a:t>
            </a:r>
            <a:endParaRPr lang="es-CL" sz="1800" dirty="0"/>
          </a:p>
        </p:txBody>
      </p:sp>
      <p:sp>
        <p:nvSpPr>
          <p:cNvPr id="33" name="Shape 31"/>
          <p:cNvSpPr/>
          <p:nvPr/>
        </p:nvSpPr>
        <p:spPr>
          <a:xfrm>
            <a:off x="5486400" y="5184648"/>
            <a:ext cx="1783080" cy="914400"/>
          </a:xfrm>
          <a:prstGeom prst="rect">
            <a:avLst/>
          </a:prstGeom>
          <a:solidFill>
            <a:schemeClr val="bg2"/>
          </a:solidFill>
          <a:ln w="9525">
            <a:solidFill>
              <a:schemeClr val="tx2"/>
            </a:solidFill>
            <a:prstDash val="solid"/>
          </a:ln>
        </p:spPr>
      </p:sp>
      <p:sp>
        <p:nvSpPr>
          <p:cNvPr id="34" name="Shape 32"/>
          <p:cNvSpPr/>
          <p:nvPr/>
        </p:nvSpPr>
        <p:spPr>
          <a:xfrm>
            <a:off x="5486400" y="5184648"/>
            <a:ext cx="1783080" cy="64008"/>
          </a:xfrm>
          <a:prstGeom prst="rect">
            <a:avLst/>
          </a:prstGeom>
          <a:solidFill>
            <a:srgbClr val="0A6F9E"/>
          </a:solidFill>
          <a:ln/>
        </p:spPr>
      </p:sp>
      <p:sp>
        <p:nvSpPr>
          <p:cNvPr id="35" name="Text 33"/>
          <p:cNvSpPr txBox="1"/>
          <p:nvPr/>
        </p:nvSpPr>
        <p:spPr>
          <a:xfrm>
            <a:off x="5577840" y="5257800"/>
            <a:ext cx="731520" cy="274320"/>
          </a:xfrm>
          <a:prstGeom prst="rect">
            <a:avLst/>
          </a:prstGeom>
          <a:noFill/>
          <a:ln/>
        </p:spPr>
        <p:txBody>
          <a:bodyPr wrap="square" lIns="0" tIns="0" rIns="0" bIns="0" rtlCol="0" anchor="t"/>
          <a:lstStyle/>
          <a:p>
            <a:pPr indent="0" marL="0">
              <a:buNone/>
            </a:pPr>
            <a:r>
              <a:rPr lang="es-CL" altLang="en-US" sz="1500" b="1" spc="100" kern="0" dirty="0">
                <a:solidFill>
                  <a:schemeClr val="accent1"/>
                </a:solidFill>
                <a:latin typeface="IBM Plex Mono" pitchFamily="34" charset="0"/>
                <a:ea typeface="IBM Plex Mono" pitchFamily="34" charset="-122"/>
                <a:cs typeface="IBM Plex Mono" pitchFamily="34" charset="-120"/>
              </a:rPr>
              <a:t>F3</a:t>
            </a:r>
            <a:endParaRPr lang="es-CL" sz="1500" dirty="0"/>
          </a:p>
        </p:txBody>
      </p:sp>
      <p:sp>
        <p:nvSpPr>
          <p:cNvPr id="36" name="Text 34"/>
          <p:cNvSpPr txBox="1"/>
          <p:nvPr/>
        </p:nvSpPr>
        <p:spPr>
          <a:xfrm>
            <a:off x="5577840" y="5532120"/>
            <a:ext cx="1636776" cy="512064"/>
          </a:xfrm>
          <a:prstGeom prst="rect">
            <a:avLst/>
          </a:prstGeom>
          <a:noFill/>
          <a:ln/>
        </p:spPr>
        <p:txBody>
          <a:bodyPr wrap="square" lIns="0" tIns="0" rIns="0" bIns="0" rtlCol="0" anchor="t"/>
          <a:lstStyle/>
          <a:p>
            <a:pPr indent="0" marL="0">
              <a:lnSpc>
                <a:spcPct val="88000"/>
              </a:lnSpc>
              <a:buNone/>
            </a:pPr>
            <a:r>
              <a:rPr lang="es-CL" altLang="en-US" sz="1800" dirty="0">
                <a:solidFill>
                  <a:schemeClr val="tx1"/>
                </a:solidFill>
                <a:latin typeface="Figtree" pitchFamily="34" charset="0"/>
                <a:ea typeface="Figtree" pitchFamily="34" charset="-122"/>
                <a:cs typeface="Figtree" pitchFamily="34" charset="-120"/>
              </a:rPr>
              <a:t>Expansión y licencias</a:t>
            </a:r>
            <a:endParaRPr lang="es-CL" sz="1800" dirty="0"/>
          </a:p>
        </p:txBody>
      </p:sp>
      <p:sp>
        <p:nvSpPr>
          <p:cNvPr id="37" name="Shape 35"/>
          <p:cNvSpPr/>
          <p:nvPr/>
        </p:nvSpPr>
        <p:spPr>
          <a:xfrm>
            <a:off x="2331720" y="5641848"/>
            <a:ext cx="685800" cy="0"/>
          </a:xfrm>
          <a:prstGeom prst="line">
            <a:avLst/>
          </a:prstGeom>
          <a:noFill/>
          <a:ln w="19050">
            <a:solidFill>
              <a:schemeClr val="accent1"/>
            </a:solidFill>
            <a:prstDash val="dash"/>
            <a:tailEnd type="triangle"/>
          </a:ln>
        </p:spPr>
      </p:sp>
      <p:sp>
        <p:nvSpPr>
          <p:cNvPr id="38" name="Shape 36"/>
          <p:cNvSpPr/>
          <p:nvPr/>
        </p:nvSpPr>
        <p:spPr>
          <a:xfrm>
            <a:off x="4800600" y="5641848"/>
            <a:ext cx="685800" cy="0"/>
          </a:xfrm>
          <a:prstGeom prst="line">
            <a:avLst/>
          </a:prstGeom>
          <a:noFill/>
          <a:ln w="19050">
            <a:solidFill>
              <a:schemeClr val="accent1"/>
            </a:solidFill>
            <a:prstDash val="dash"/>
            <a:tailEnd type="triangle"/>
          </a:ln>
        </p:spPr>
      </p:sp>
      <p:sp>
        <p:nvSpPr>
          <p:cNvPr id="39" name="Text 37"/>
          <p:cNvSpPr txBox="1"/>
          <p:nvPr/>
        </p:nvSpPr>
        <p:spPr>
          <a:xfrm>
            <a:off x="2331720" y="5312664"/>
            <a:ext cx="685800" cy="292608"/>
          </a:xfrm>
          <a:prstGeom prst="rect">
            <a:avLst/>
          </a:prstGeom>
          <a:noFill/>
          <a:ln/>
        </p:spPr>
        <p:txBody>
          <a:bodyPr wrap="square" lIns="0" tIns="0" rIns="0" bIns="0" rtlCol="0" anchor="ctr"/>
          <a:lstStyle/>
          <a:p>
            <a:pPr algn="ct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método</a:t>
            </a:r>
            <a:endParaRPr lang="es-CL" sz="1400" dirty="0"/>
          </a:p>
        </p:txBody>
      </p:sp>
      <p:sp>
        <p:nvSpPr>
          <p:cNvPr id="40" name="Text 38"/>
          <p:cNvSpPr txBox="1"/>
          <p:nvPr/>
        </p:nvSpPr>
        <p:spPr>
          <a:xfrm>
            <a:off x="4800600" y="5312664"/>
            <a:ext cx="685800" cy="292608"/>
          </a:xfrm>
          <a:prstGeom prst="rect">
            <a:avLst/>
          </a:prstGeom>
          <a:noFill/>
          <a:ln/>
        </p:spPr>
        <p:txBody>
          <a:bodyPr wrap="square" lIns="0" tIns="0" rIns="0" bIns="0" rtlCol="0" anchor="ctr"/>
          <a:lstStyle/>
          <a:p>
            <a:pPr algn="ct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licencias</a:t>
            </a:r>
            <a:endParaRPr lang="es-CL" sz="1400" dirty="0"/>
          </a:p>
        </p:txBody>
      </p:sp>
      <p:sp>
        <p:nvSpPr>
          <p:cNvPr id="41" name="Shape 39"/>
          <p:cNvSpPr/>
          <p:nvPr/>
        </p:nvSpPr>
        <p:spPr>
          <a:xfrm>
            <a:off x="4800600" y="3675888"/>
            <a:ext cx="2468880" cy="0"/>
          </a:xfrm>
          <a:prstGeom prst="line">
            <a:avLst/>
          </a:prstGeom>
          <a:noFill/>
          <a:ln w="19050">
            <a:solidFill>
              <a:schemeClr val="accent1"/>
            </a:solidFill>
            <a:prstDash val="dash"/>
            <a:tailEnd type="triangle"/>
          </a:ln>
        </p:spPr>
      </p:sp>
      <p:sp>
        <p:nvSpPr>
          <p:cNvPr id="42" name="Text 40"/>
          <p:cNvSpPr txBox="1"/>
          <p:nvPr/>
        </p:nvSpPr>
        <p:spPr>
          <a:xfrm>
            <a:off x="4800600" y="3346704"/>
            <a:ext cx="2468880" cy="292608"/>
          </a:xfrm>
          <a:prstGeom prst="rect">
            <a:avLst/>
          </a:prstGeom>
          <a:noFill/>
          <a:ln/>
        </p:spPr>
        <p:txBody>
          <a:bodyPr wrap="square" lIns="0" tIns="0" rIns="0" bIns="0" rtlCol="0" anchor="ctr"/>
          <a:lstStyle/>
          <a:p>
            <a:pPr algn="ctr" indent="0" marL="0">
              <a:buNone/>
            </a:pPr>
            <a:r>
              <a:rPr lang="es-CL" altLang="en-US" sz="1600" i="1" dirty="0">
                <a:solidFill>
                  <a:schemeClr val="accent1"/>
                </a:solidFill>
                <a:latin typeface="Instrument Serif" pitchFamily="34" charset="0"/>
                <a:ea typeface="Instrument Serif" pitchFamily="34" charset="-122"/>
                <a:cs typeface="Instrument Serif" pitchFamily="34" charset="-120"/>
              </a:rPr>
              <a:t>flujos</a:t>
            </a:r>
            <a:endParaRPr lang="es-CL" sz="1600" dirty="0"/>
          </a:p>
        </p:txBody>
      </p:sp>
      <p:sp>
        <p:nvSpPr>
          <p:cNvPr id="43" name="Shape 41"/>
          <p:cNvSpPr/>
          <p:nvPr/>
        </p:nvSpPr>
        <p:spPr>
          <a:xfrm>
            <a:off x="7269480" y="5641848"/>
            <a:ext cx="0" cy="0"/>
          </a:xfrm>
          <a:prstGeom prst="line">
            <a:avLst/>
          </a:prstGeom>
          <a:noFill/>
          <a:ln w="19050">
            <a:solidFill>
              <a:schemeClr val="accent1"/>
            </a:solidFill>
            <a:prstDash val="dash"/>
            <a:tailEnd type="triangle"/>
          </a:ln>
        </p:spPr>
      </p:sp>
      <p:pic>
        <p:nvPicPr>
          <p:cNvPr id="44" name="Image 0" descr="C:\Users\Usuario\Documents\GitHub\lumine\solemne-2\generador\assets\brillo.png">    </p:cNvPr>
          <p:cNvPicPr>
            <a:picLocks noChangeAspect="1"/>
          </p:cNvPicPr>
          <p:nvPr/>
        </p:nvPicPr>
        <p:blipFill>
          <a:blip r:embed="rId1"/>
          <a:stretch>
            <a:fillRect/>
          </a:stretch>
        </p:blipFill>
        <p:spPr>
          <a:xfrm>
            <a:off x="6720840" y="2011680"/>
            <a:ext cx="5470855" cy="4553712"/>
          </a:xfrm>
          <a:prstGeom prst="rect">
            <a:avLst/>
          </a:prstGeom>
        </p:spPr>
      </p:pic>
      <p:sp>
        <p:nvSpPr>
          <p:cNvPr id="45" name="Shape 42"/>
          <p:cNvSpPr/>
          <p:nvPr/>
        </p:nvSpPr>
        <p:spPr>
          <a:xfrm>
            <a:off x="7269480" y="2395728"/>
            <a:ext cx="4373575" cy="3785616"/>
          </a:xfrm>
          <a:prstGeom prst="rect">
            <a:avLst/>
          </a:prstGeom>
          <a:solidFill>
            <a:srgbClr val="0B1A22"/>
          </a:solidFill>
          <a:ln w="15875">
            <a:solidFill>
              <a:schemeClr val="accent1"/>
            </a:solidFill>
            <a:prstDash val="solid"/>
          </a:ln>
        </p:spPr>
      </p:sp>
      <p:sp>
        <p:nvSpPr>
          <p:cNvPr id="46" name="Shape 43"/>
          <p:cNvSpPr/>
          <p:nvPr/>
        </p:nvSpPr>
        <p:spPr>
          <a:xfrm>
            <a:off x="7214616" y="2340864"/>
            <a:ext cx="155448" cy="0"/>
          </a:xfrm>
          <a:prstGeom prst="line">
            <a:avLst/>
          </a:prstGeom>
          <a:noFill/>
          <a:ln w="15875">
            <a:solidFill>
              <a:schemeClr val="accent1"/>
            </a:solidFill>
            <a:prstDash val="solid"/>
          </a:ln>
        </p:spPr>
      </p:sp>
      <p:sp>
        <p:nvSpPr>
          <p:cNvPr id="47" name="Shape 44"/>
          <p:cNvSpPr/>
          <p:nvPr/>
        </p:nvSpPr>
        <p:spPr>
          <a:xfrm>
            <a:off x="7214616" y="2340864"/>
            <a:ext cx="0" cy="155448"/>
          </a:xfrm>
          <a:prstGeom prst="line">
            <a:avLst/>
          </a:prstGeom>
          <a:noFill/>
          <a:ln w="15875">
            <a:solidFill>
              <a:schemeClr val="accent1"/>
            </a:solidFill>
            <a:prstDash val="solid"/>
          </a:ln>
        </p:spPr>
      </p:sp>
      <p:sp>
        <p:nvSpPr>
          <p:cNvPr id="48" name="Shape 45"/>
          <p:cNvSpPr/>
          <p:nvPr/>
        </p:nvSpPr>
        <p:spPr>
          <a:xfrm>
            <a:off x="11542471" y="2340864"/>
            <a:ext cx="155448" cy="0"/>
          </a:xfrm>
          <a:prstGeom prst="line">
            <a:avLst/>
          </a:prstGeom>
          <a:noFill/>
          <a:ln w="15875">
            <a:solidFill>
              <a:schemeClr val="accent1"/>
            </a:solidFill>
            <a:prstDash val="solid"/>
          </a:ln>
        </p:spPr>
      </p:sp>
      <p:sp>
        <p:nvSpPr>
          <p:cNvPr id="49" name="Shape 46"/>
          <p:cNvSpPr/>
          <p:nvPr/>
        </p:nvSpPr>
        <p:spPr>
          <a:xfrm>
            <a:off x="11697919" y="2340864"/>
            <a:ext cx="0" cy="155448"/>
          </a:xfrm>
          <a:prstGeom prst="line">
            <a:avLst/>
          </a:prstGeom>
          <a:noFill/>
          <a:ln w="15875">
            <a:solidFill>
              <a:schemeClr val="accent1"/>
            </a:solidFill>
            <a:prstDash val="solid"/>
          </a:ln>
        </p:spPr>
      </p:sp>
      <p:sp>
        <p:nvSpPr>
          <p:cNvPr id="50" name="Shape 47"/>
          <p:cNvSpPr/>
          <p:nvPr/>
        </p:nvSpPr>
        <p:spPr>
          <a:xfrm>
            <a:off x="7214616" y="6236208"/>
            <a:ext cx="155448" cy="0"/>
          </a:xfrm>
          <a:prstGeom prst="line">
            <a:avLst/>
          </a:prstGeom>
          <a:noFill/>
          <a:ln w="15875">
            <a:solidFill>
              <a:schemeClr val="accent1"/>
            </a:solidFill>
            <a:prstDash val="solid"/>
          </a:ln>
        </p:spPr>
      </p:sp>
      <p:sp>
        <p:nvSpPr>
          <p:cNvPr id="51" name="Shape 48"/>
          <p:cNvSpPr/>
          <p:nvPr/>
        </p:nvSpPr>
        <p:spPr>
          <a:xfrm>
            <a:off x="7214616" y="6080760"/>
            <a:ext cx="0" cy="155448"/>
          </a:xfrm>
          <a:prstGeom prst="line">
            <a:avLst/>
          </a:prstGeom>
          <a:noFill/>
          <a:ln w="15875">
            <a:solidFill>
              <a:schemeClr val="accent1"/>
            </a:solidFill>
            <a:prstDash val="solid"/>
          </a:ln>
        </p:spPr>
      </p:sp>
      <p:sp>
        <p:nvSpPr>
          <p:cNvPr id="52" name="Shape 49"/>
          <p:cNvSpPr/>
          <p:nvPr/>
        </p:nvSpPr>
        <p:spPr>
          <a:xfrm>
            <a:off x="11542471" y="6236208"/>
            <a:ext cx="155448" cy="0"/>
          </a:xfrm>
          <a:prstGeom prst="line">
            <a:avLst/>
          </a:prstGeom>
          <a:noFill/>
          <a:ln w="15875">
            <a:solidFill>
              <a:schemeClr val="accent1"/>
            </a:solidFill>
            <a:prstDash val="solid"/>
          </a:ln>
        </p:spPr>
      </p:sp>
      <p:sp>
        <p:nvSpPr>
          <p:cNvPr id="53" name="Shape 50"/>
          <p:cNvSpPr/>
          <p:nvPr/>
        </p:nvSpPr>
        <p:spPr>
          <a:xfrm>
            <a:off x="11697919" y="6080760"/>
            <a:ext cx="0" cy="155448"/>
          </a:xfrm>
          <a:prstGeom prst="line">
            <a:avLst/>
          </a:prstGeom>
          <a:noFill/>
          <a:ln w="15875">
            <a:solidFill>
              <a:schemeClr val="accent1"/>
            </a:solidFill>
            <a:prstDash val="solid"/>
          </a:ln>
        </p:spPr>
      </p:sp>
      <p:sp>
        <p:nvSpPr>
          <p:cNvPr id="54" name="Text 51"/>
          <p:cNvSpPr txBox="1"/>
          <p:nvPr/>
        </p:nvSpPr>
        <p:spPr>
          <a:xfrm>
            <a:off x="7525512" y="2578608"/>
            <a:ext cx="3916375" cy="45720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F1 · RENTABILIDAD POR SOBRE EL COSTO DE CAPITAL</a:t>
            </a:r>
            <a:endParaRPr lang="es-CL" sz="1300" dirty="0"/>
          </a:p>
        </p:txBody>
      </p:sp>
      <p:sp>
        <p:nvSpPr>
          <p:cNvPr id="55" name="Shape 52"/>
          <p:cNvSpPr/>
          <p:nvPr/>
        </p:nvSpPr>
        <p:spPr>
          <a:xfrm>
            <a:off x="7525512" y="3172968"/>
            <a:ext cx="3861511" cy="0"/>
          </a:xfrm>
          <a:prstGeom prst="line">
            <a:avLst/>
          </a:prstGeom>
          <a:noFill/>
          <a:ln w="9525">
            <a:solidFill>
              <a:schemeClr val="accent5"/>
            </a:solidFill>
            <a:prstDash val="solid"/>
          </a:ln>
        </p:spPr>
      </p:sp>
      <p:sp>
        <p:nvSpPr>
          <p:cNvPr id="56" name="Shape 53"/>
          <p:cNvSpPr/>
          <p:nvPr/>
        </p:nvSpPr>
        <p:spPr>
          <a:xfrm>
            <a:off x="7525512" y="3300984"/>
            <a:ext cx="384048" cy="329184"/>
          </a:xfrm>
          <a:prstGeom prst="rect">
            <a:avLst/>
          </a:prstGeom>
          <a:solidFill>
            <a:schemeClr val="accent1"/>
          </a:solidFill>
          <a:ln/>
        </p:spPr>
      </p:sp>
      <p:sp>
        <p:nvSpPr>
          <p:cNvPr id="57" name="Text 54"/>
          <p:cNvSpPr txBox="1"/>
          <p:nvPr/>
        </p:nvSpPr>
        <p:spPr>
          <a:xfrm>
            <a:off x="7525512" y="3300984"/>
            <a:ext cx="384048" cy="329184"/>
          </a:xfrm>
          <a:prstGeom prst="rect">
            <a:avLst/>
          </a:prstGeom>
          <a:noFill/>
          <a:ln/>
        </p:spPr>
        <p:txBody>
          <a:bodyPr wrap="square" lIns="0" tIns="0" rIns="0" bIns="0" rtlCol="0" anchor="ctr"/>
          <a:lstStyle/>
          <a:p>
            <a:pPr algn="ctr" indent="0" marL="0">
              <a:buNone/>
            </a:pPr>
            <a:r>
              <a:rPr lang="es-CL" altLang="en-US" sz="1500" b="1" dirty="0">
                <a:solidFill>
                  <a:schemeClr val="bg1"/>
                </a:solidFill>
                <a:latin typeface="IBM Plex Mono" pitchFamily="34" charset="0"/>
                <a:ea typeface="IBM Plex Mono" pitchFamily="34" charset="-122"/>
                <a:cs typeface="IBM Plex Mono" pitchFamily="34" charset="-120"/>
              </a:rPr>
              <a:t>1</a:t>
            </a:r>
            <a:endParaRPr lang="es-CL" sz="1500" dirty="0"/>
          </a:p>
        </p:txBody>
      </p:sp>
      <p:sp>
        <p:nvSpPr>
          <p:cNvPr id="58" name="Text 55"/>
          <p:cNvSpPr txBox="1"/>
          <p:nvPr/>
        </p:nvSpPr>
        <p:spPr>
          <a:xfrm>
            <a:off x="8019288" y="3300984"/>
            <a:ext cx="3367735" cy="329184"/>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ANTES DE INVERTIR</a:t>
            </a:r>
            <a:endParaRPr lang="es-CL" sz="1300" dirty="0"/>
          </a:p>
        </p:txBody>
      </p:sp>
      <p:sp>
        <p:nvSpPr>
          <p:cNvPr id="59" name="Text 56"/>
          <p:cNvSpPr txBox="1"/>
          <p:nvPr/>
        </p:nvSpPr>
        <p:spPr>
          <a:xfrm>
            <a:off x="7525512" y="3675888"/>
            <a:ext cx="3861511" cy="594360"/>
          </a:xfrm>
          <a:prstGeom prst="rect">
            <a:avLst/>
          </a:prstGeom>
          <a:noFill/>
          <a:ln/>
        </p:spPr>
        <p:txBody>
          <a:bodyPr wrap="square" lIns="0" tIns="0" rIns="0" bIns="0" rtlCol="0" anchor="t"/>
          <a:lstStyle/>
          <a:p>
            <a:pPr indent="0" marL="0">
              <a:lnSpc>
                <a:spcPct val="95000"/>
              </a:lnSpc>
              <a:buNone/>
            </a:pPr>
            <a:r>
              <a:rPr lang="es-CL" altLang="en-US" sz="1900" b="1" dirty="0">
                <a:solidFill>
                  <a:schemeClr val="tx1"/>
                </a:solidFill>
                <a:latin typeface="Figtree" pitchFamily="34" charset="0"/>
                <a:ea typeface="Figtree" pitchFamily="34" charset="-122"/>
                <a:cs typeface="Figtree" pitchFamily="34" charset="-120"/>
              </a:rPr>
              <a:t>VAN &gt; 0 y TIR &gt; tasa exigida</a:t>
            </a:r>
            <a:endParaRPr lang="es-CL" sz="1900" dirty="0"/>
          </a:p>
        </p:txBody>
      </p:sp>
      <p:sp>
        <p:nvSpPr>
          <p:cNvPr id="60" name="Shape 57"/>
          <p:cNvSpPr/>
          <p:nvPr/>
        </p:nvSpPr>
        <p:spPr>
          <a:xfrm>
            <a:off x="7525512" y="4315968"/>
            <a:ext cx="3861511" cy="0"/>
          </a:xfrm>
          <a:prstGeom prst="line">
            <a:avLst/>
          </a:prstGeom>
          <a:noFill/>
          <a:ln w="9525">
            <a:solidFill>
              <a:schemeClr val="accent5"/>
            </a:solidFill>
            <a:prstDash val="solid"/>
          </a:ln>
        </p:spPr>
      </p:sp>
      <p:sp>
        <p:nvSpPr>
          <p:cNvPr id="61" name="Shape 58"/>
          <p:cNvSpPr/>
          <p:nvPr/>
        </p:nvSpPr>
        <p:spPr>
          <a:xfrm>
            <a:off x="7525512" y="4443984"/>
            <a:ext cx="384048" cy="329184"/>
          </a:xfrm>
          <a:prstGeom prst="rect">
            <a:avLst/>
          </a:prstGeom>
          <a:solidFill>
            <a:schemeClr val="accent5"/>
          </a:solidFill>
          <a:ln/>
        </p:spPr>
      </p:sp>
      <p:sp>
        <p:nvSpPr>
          <p:cNvPr id="62" name="Text 59"/>
          <p:cNvSpPr txBox="1"/>
          <p:nvPr/>
        </p:nvSpPr>
        <p:spPr>
          <a:xfrm>
            <a:off x="7525512" y="4443984"/>
            <a:ext cx="384048" cy="329184"/>
          </a:xfrm>
          <a:prstGeom prst="rect">
            <a:avLst/>
          </a:prstGeom>
          <a:noFill/>
          <a:ln/>
        </p:spPr>
        <p:txBody>
          <a:bodyPr wrap="square" lIns="0" tIns="0" rIns="0" bIns="0" rtlCol="0" anchor="ctr"/>
          <a:lstStyle/>
          <a:p>
            <a:pPr algn="ctr" indent="0" marL="0">
              <a:buNone/>
            </a:pPr>
            <a:r>
              <a:rPr lang="es-CL" altLang="en-US" sz="1500" b="1" dirty="0">
                <a:solidFill>
                  <a:schemeClr val="tx1"/>
                </a:solidFill>
                <a:latin typeface="IBM Plex Mono" pitchFamily="34" charset="0"/>
                <a:ea typeface="IBM Plex Mono" pitchFamily="34" charset="-122"/>
                <a:cs typeface="IBM Plex Mono" pitchFamily="34" charset="-120"/>
              </a:rPr>
              <a:t>2</a:t>
            </a:r>
            <a:endParaRPr lang="es-CL" sz="1500" dirty="0"/>
          </a:p>
        </p:txBody>
      </p:sp>
      <p:sp>
        <p:nvSpPr>
          <p:cNvPr id="63" name="Text 60"/>
          <p:cNvSpPr txBox="1"/>
          <p:nvPr/>
        </p:nvSpPr>
        <p:spPr>
          <a:xfrm>
            <a:off x="8019288" y="4443984"/>
            <a:ext cx="3367735" cy="329184"/>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OPERANDO, CADA PERÍODO</a:t>
            </a:r>
            <a:endParaRPr lang="es-CL" sz="1300" dirty="0"/>
          </a:p>
        </p:txBody>
      </p:sp>
      <p:sp>
        <p:nvSpPr>
          <p:cNvPr id="64" name="Text 61"/>
          <p:cNvSpPr txBox="1"/>
          <p:nvPr/>
        </p:nvSpPr>
        <p:spPr>
          <a:xfrm>
            <a:off x="7525512" y="4818888"/>
            <a:ext cx="3861511" cy="594360"/>
          </a:xfrm>
          <a:prstGeom prst="rect">
            <a:avLst/>
          </a:prstGeom>
          <a:noFill/>
          <a:ln/>
        </p:spPr>
        <p:txBody>
          <a:bodyPr wrap="square" lIns="0" tIns="0" rIns="0" bIns="0" rtlCol="0" anchor="t"/>
          <a:lstStyle/>
          <a:p>
            <a:pPr indent="0" marL="0">
              <a:lnSpc>
                <a:spcPct val="95000"/>
              </a:lnSpc>
              <a:buNone/>
            </a:pPr>
            <a:r>
              <a:rPr lang="es-CL" altLang="en-US" sz="1900" b="1" dirty="0">
                <a:solidFill>
                  <a:schemeClr val="tx1"/>
                </a:solidFill>
                <a:latin typeface="Figtree" pitchFamily="34" charset="0"/>
                <a:ea typeface="Figtree" pitchFamily="34" charset="-122"/>
                <a:cs typeface="Figtree" pitchFamily="34" charset="-120"/>
              </a:rPr>
              <a:t>Retorno sobre el capital empleado frente a su costo</a:t>
            </a:r>
            <a:endParaRPr lang="es-CL" sz="1900" dirty="0"/>
          </a:p>
        </p:txBody>
      </p:sp>
      <p:sp>
        <p:nvSpPr>
          <p:cNvPr id="65" name="Shape 62"/>
          <p:cNvSpPr/>
          <p:nvPr/>
        </p:nvSpPr>
        <p:spPr>
          <a:xfrm>
            <a:off x="7525512" y="5678424"/>
            <a:ext cx="3861511" cy="329184"/>
          </a:xfrm>
          <a:prstGeom prst="rect">
            <a:avLst/>
          </a:prstGeom>
          <a:solidFill>
            <a:schemeClr val="bg1">
              <a:alpha val="0"/>
            </a:schemeClr>
          </a:solidFill>
          <a:ln w="12700">
            <a:solidFill>
              <a:schemeClr val="tx2"/>
            </a:solidFill>
            <a:prstDash val="solid"/>
          </a:ln>
        </p:spPr>
      </p:sp>
      <p:sp>
        <p:nvSpPr>
          <p:cNvPr id="66" name="Text 63"/>
          <p:cNvSpPr txBox="1"/>
          <p:nvPr/>
        </p:nvSpPr>
        <p:spPr>
          <a:xfrm>
            <a:off x="7635240" y="5678424"/>
            <a:ext cx="3642055" cy="329184"/>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SIN CIFRA · FALTA EL PLAN FINANCIERO</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CMI · FICHA DEL INDICADOR Y ESTADOS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INDICADOR VALE POR SU FICHA;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sin medir no es no cumplir.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en red revisado (propuesta del equipo para la Solemne 2), ficha de C2 y estados del tablero; material del curso «Sistemas de Control de Gestión: Indicadores».</a:t>
            </a:r>
            <a:endParaRPr lang="es-CL" sz="1100" dirty="0"/>
          </a:p>
        </p:txBody>
      </p:sp>
      <p:sp>
        <p:nvSpPr>
          <p:cNvPr id="5" name="Text 3"/>
          <p:cNvSpPr txBox="1"/>
          <p:nvPr/>
        </p:nvSpPr>
        <p:spPr>
          <a:xfrm>
            <a:off x="548640" y="2395728"/>
            <a:ext cx="667512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IBM Plex Mono" pitchFamily="34" charset="0"/>
                <a:ea typeface="IBM Plex Mono" pitchFamily="34" charset="-122"/>
                <a:cs typeface="IBM Plex Mono" pitchFamily="34" charset="-120"/>
              </a:rPr>
              <a:t>FICHA · </a:t>
            </a:r>
            <a:pPr indent="0" marL="0">
              <a:buNone/>
            </a:pPr>
            <a:r>
              <a:rPr lang="es-CL" altLang="en-US" sz="1300" dirty="0">
                <a:solidFill>
                  <a:schemeClr val="accent1"/>
                </a:solidFill>
                <a:latin typeface="IBM Plex Mono" pitchFamily="34" charset="0"/>
                <a:ea typeface="IBM Plex Mono" pitchFamily="34" charset="-122"/>
                <a:cs typeface="IBM Plex Mono" pitchFamily="34" charset="-120"/>
              </a:rPr>
              <a:t>C2 AHORRO ACREDITADO</a:t>
            </a:r>
            <a:endParaRPr lang="es-CL" sz="1300" dirty="0"/>
          </a:p>
        </p:txBody>
      </p:sp>
      <p:sp>
        <p:nvSpPr>
          <p:cNvPr id="6" name="Shape 4"/>
          <p:cNvSpPr/>
          <p:nvPr/>
        </p:nvSpPr>
        <p:spPr>
          <a:xfrm>
            <a:off x="548640" y="2761488"/>
            <a:ext cx="6675120" cy="0"/>
          </a:xfrm>
          <a:prstGeom prst="line">
            <a:avLst/>
          </a:prstGeom>
          <a:noFill/>
          <a:ln w="9525">
            <a:solidFill>
              <a:schemeClr val="accent1"/>
            </a:solidFill>
            <a:prstDash val="solid"/>
          </a:ln>
        </p:spPr>
      </p:sp>
      <p:sp>
        <p:nvSpPr>
          <p:cNvPr id="7" name="Text 5"/>
          <p:cNvSpPr txBox="1"/>
          <p:nvPr/>
        </p:nvSpPr>
        <p:spPr>
          <a:xfrm>
            <a:off x="548640" y="2761488"/>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FÓRMULA</a:t>
            </a:r>
            <a:endParaRPr lang="es-CL" sz="1300" dirty="0"/>
          </a:p>
        </p:txBody>
      </p:sp>
      <p:sp>
        <p:nvSpPr>
          <p:cNvPr id="8" name="Text 6"/>
          <p:cNvSpPr txBox="1"/>
          <p:nvPr/>
        </p:nvSpPr>
        <p:spPr>
          <a:xfrm>
            <a:off x="2514600" y="2761488"/>
            <a:ext cx="4709160" cy="676656"/>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Reportes completos ÷ reportes exigibles</a:t>
            </a:r>
            <a:endParaRPr lang="es-CL" sz="1800" dirty="0"/>
          </a:p>
        </p:txBody>
      </p:sp>
      <p:sp>
        <p:nvSpPr>
          <p:cNvPr id="9" name="Shape 7"/>
          <p:cNvSpPr/>
          <p:nvPr/>
        </p:nvSpPr>
        <p:spPr>
          <a:xfrm>
            <a:off x="548640" y="3438144"/>
            <a:ext cx="6675120" cy="0"/>
          </a:xfrm>
          <a:prstGeom prst="line">
            <a:avLst/>
          </a:prstGeom>
          <a:noFill/>
          <a:ln w="9525">
            <a:solidFill>
              <a:schemeClr val="accent5"/>
            </a:solidFill>
            <a:prstDash val="solid"/>
          </a:ln>
        </p:spPr>
      </p:sp>
      <p:sp>
        <p:nvSpPr>
          <p:cNvPr id="10" name="Text 8"/>
          <p:cNvSpPr txBox="1"/>
          <p:nvPr/>
        </p:nvSpPr>
        <p:spPr>
          <a:xfrm>
            <a:off x="548640" y="3438144"/>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FUENTE</a:t>
            </a:r>
            <a:endParaRPr lang="es-CL" sz="1300" dirty="0"/>
          </a:p>
        </p:txBody>
      </p:sp>
      <p:sp>
        <p:nvSpPr>
          <p:cNvPr id="11" name="Text 9"/>
          <p:cNvSpPr txBox="1"/>
          <p:nvPr/>
        </p:nvSpPr>
        <p:spPr>
          <a:xfrm>
            <a:off x="2514600" y="3438144"/>
            <a:ext cx="4709160" cy="676656"/>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Expediente de medición y acta de entrega</a:t>
            </a:r>
            <a:endParaRPr lang="es-CL" sz="1800" dirty="0"/>
          </a:p>
        </p:txBody>
      </p:sp>
      <p:sp>
        <p:nvSpPr>
          <p:cNvPr id="12" name="Shape 10"/>
          <p:cNvSpPr/>
          <p:nvPr/>
        </p:nvSpPr>
        <p:spPr>
          <a:xfrm>
            <a:off x="548640" y="4114800"/>
            <a:ext cx="6675120" cy="0"/>
          </a:xfrm>
          <a:prstGeom prst="line">
            <a:avLst/>
          </a:prstGeom>
          <a:noFill/>
          <a:ln w="9525">
            <a:solidFill>
              <a:schemeClr val="accent5"/>
            </a:solidFill>
            <a:prstDash val="solid"/>
          </a:ln>
        </p:spPr>
      </p:sp>
      <p:sp>
        <p:nvSpPr>
          <p:cNvPr id="13" name="Text 11"/>
          <p:cNvSpPr txBox="1"/>
          <p:nvPr/>
        </p:nvSpPr>
        <p:spPr>
          <a:xfrm>
            <a:off x="548640" y="4114800"/>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META PROPUESTA</a:t>
            </a:r>
            <a:endParaRPr lang="es-CL" sz="1300" dirty="0"/>
          </a:p>
        </p:txBody>
      </p:sp>
      <p:sp>
        <p:nvSpPr>
          <p:cNvPr id="14" name="Text 12"/>
          <p:cNvSpPr txBox="1"/>
          <p:nvPr/>
        </p:nvSpPr>
        <p:spPr>
          <a:xfrm>
            <a:off x="2514600" y="4114800"/>
            <a:ext cx="4709160" cy="676656"/>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100% de los exigibles</a:t>
            </a:r>
            <a:endParaRPr lang="es-CL" sz="1800" dirty="0"/>
          </a:p>
        </p:txBody>
      </p:sp>
      <p:sp>
        <p:nvSpPr>
          <p:cNvPr id="15" name="Shape 13"/>
          <p:cNvSpPr/>
          <p:nvPr/>
        </p:nvSpPr>
        <p:spPr>
          <a:xfrm>
            <a:off x="548640" y="4791456"/>
            <a:ext cx="6675120" cy="0"/>
          </a:xfrm>
          <a:prstGeom prst="line">
            <a:avLst/>
          </a:prstGeom>
          <a:noFill/>
          <a:ln w="9525">
            <a:solidFill>
              <a:schemeClr val="accent5"/>
            </a:solidFill>
            <a:prstDash val="solid"/>
          </a:ln>
        </p:spPr>
      </p:sp>
      <p:sp>
        <p:nvSpPr>
          <p:cNvPr id="16" name="Text 14"/>
          <p:cNvSpPr txBox="1"/>
          <p:nvPr/>
        </p:nvSpPr>
        <p:spPr>
          <a:xfrm>
            <a:off x="548640" y="4791456"/>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RESPONSABLE</a:t>
            </a:r>
            <a:endParaRPr lang="es-CL" sz="1300" dirty="0"/>
          </a:p>
        </p:txBody>
      </p:sp>
      <p:sp>
        <p:nvSpPr>
          <p:cNvPr id="17" name="Text 15"/>
          <p:cNvSpPr txBox="1"/>
          <p:nvPr/>
        </p:nvSpPr>
        <p:spPr>
          <a:xfrm>
            <a:off x="2514600" y="4791456"/>
            <a:ext cx="4709160" cy="676656"/>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Comercial y Postventa</a:t>
            </a:r>
            <a:endParaRPr lang="es-CL" sz="1800" dirty="0"/>
          </a:p>
        </p:txBody>
      </p:sp>
      <p:sp>
        <p:nvSpPr>
          <p:cNvPr id="18" name="Shape 16"/>
          <p:cNvSpPr/>
          <p:nvPr/>
        </p:nvSpPr>
        <p:spPr>
          <a:xfrm>
            <a:off x="548640" y="5468112"/>
            <a:ext cx="6675120" cy="0"/>
          </a:xfrm>
          <a:prstGeom prst="line">
            <a:avLst/>
          </a:prstGeom>
          <a:noFill/>
          <a:ln w="9525">
            <a:solidFill>
              <a:schemeClr val="accent5"/>
            </a:solidFill>
            <a:prstDash val="solid"/>
          </a:ln>
        </p:spPr>
      </p:sp>
      <p:sp>
        <p:nvSpPr>
          <p:cNvPr id="19" name="Text 17"/>
          <p:cNvSpPr txBox="1"/>
          <p:nvPr/>
        </p:nvSpPr>
        <p:spPr>
          <a:xfrm>
            <a:off x="548640" y="5468112"/>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SI HAY BRECHA</a:t>
            </a:r>
            <a:endParaRPr lang="es-CL" sz="1300" dirty="0"/>
          </a:p>
        </p:txBody>
      </p:sp>
      <p:sp>
        <p:nvSpPr>
          <p:cNvPr id="20" name="Text 18"/>
          <p:cNvSpPr txBox="1"/>
          <p:nvPr/>
        </p:nvSpPr>
        <p:spPr>
          <a:xfrm>
            <a:off x="2514600" y="5468112"/>
            <a:ext cx="4709160" cy="676656"/>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Completar la prueba o transparentar por qué no se pudo</a:t>
            </a:r>
            <a:endParaRPr lang="es-CL" sz="1800" dirty="0"/>
          </a:p>
        </p:txBody>
      </p:sp>
      <p:sp>
        <p:nvSpPr>
          <p:cNvPr id="21" name="Shape 19"/>
          <p:cNvSpPr/>
          <p:nvPr/>
        </p:nvSpPr>
        <p:spPr>
          <a:xfrm>
            <a:off x="548640" y="6144768"/>
            <a:ext cx="6675120" cy="0"/>
          </a:xfrm>
          <a:prstGeom prst="line">
            <a:avLst/>
          </a:prstGeom>
          <a:noFill/>
          <a:ln w="9525">
            <a:solidFill>
              <a:schemeClr val="accent5"/>
            </a:solidFill>
            <a:prstDash val="solid"/>
          </a:ln>
        </p:spPr>
      </p:sp>
      <p:sp>
        <p:nvSpPr>
          <p:cNvPr id="22" name="Text 20"/>
          <p:cNvSpPr txBox="1"/>
          <p:nvPr/>
        </p:nvSpPr>
        <p:spPr>
          <a:xfrm>
            <a:off x="7726680" y="2395728"/>
            <a:ext cx="391637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ESTADOS</a:t>
            </a:r>
            <a:endParaRPr lang="es-CL" sz="1300" dirty="0"/>
          </a:p>
        </p:txBody>
      </p:sp>
      <p:sp>
        <p:nvSpPr>
          <p:cNvPr id="23" name="Shape 21"/>
          <p:cNvSpPr/>
          <p:nvPr/>
        </p:nvSpPr>
        <p:spPr>
          <a:xfrm>
            <a:off x="7726680" y="2880360"/>
            <a:ext cx="310896" cy="310896"/>
          </a:xfrm>
          <a:prstGeom prst="ellipse">
            <a:avLst/>
          </a:prstGeom>
          <a:solidFill>
            <a:srgbClr val="4ADE80"/>
          </a:solidFill>
          <a:ln/>
        </p:spPr>
      </p:sp>
      <p:sp>
        <p:nvSpPr>
          <p:cNvPr id="24" name="Text 22"/>
          <p:cNvSpPr txBox="1"/>
          <p:nvPr/>
        </p:nvSpPr>
        <p:spPr>
          <a:xfrm>
            <a:off x="8229600" y="276148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4ADE80"/>
                </a:solidFill>
                <a:latin typeface="IBM Plex Mono" pitchFamily="34" charset="0"/>
                <a:ea typeface="IBM Plex Mono" pitchFamily="34" charset="-122"/>
                <a:cs typeface="IBM Plex Mono" pitchFamily="34" charset="-120"/>
              </a:rPr>
              <a:t>CUMPLE</a:t>
            </a:r>
            <a:endParaRPr lang="es-CL" sz="1600" dirty="0"/>
          </a:p>
        </p:txBody>
      </p:sp>
      <p:sp>
        <p:nvSpPr>
          <p:cNvPr id="25" name="Shape 23"/>
          <p:cNvSpPr/>
          <p:nvPr/>
        </p:nvSpPr>
        <p:spPr>
          <a:xfrm>
            <a:off x="7726680" y="3429000"/>
            <a:ext cx="310896" cy="310896"/>
          </a:xfrm>
          <a:prstGeom prst="triangle">
            <a:avLst/>
          </a:prstGeom>
          <a:solidFill>
            <a:srgbClr val="F5B94A"/>
          </a:solidFill>
          <a:ln/>
        </p:spPr>
      </p:sp>
      <p:sp>
        <p:nvSpPr>
          <p:cNvPr id="26" name="Text 24"/>
          <p:cNvSpPr txBox="1"/>
          <p:nvPr/>
        </p:nvSpPr>
        <p:spPr>
          <a:xfrm>
            <a:off x="8229600" y="331012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F5B94A"/>
                </a:solidFill>
                <a:latin typeface="IBM Plex Mono" pitchFamily="34" charset="0"/>
                <a:ea typeface="IBM Plex Mono" pitchFamily="34" charset="-122"/>
                <a:cs typeface="IBM Plex Mono" pitchFamily="34" charset="-120"/>
              </a:rPr>
              <a:t>ALERTA</a:t>
            </a:r>
            <a:endParaRPr lang="es-CL" sz="1600" dirty="0"/>
          </a:p>
        </p:txBody>
      </p:sp>
      <p:sp>
        <p:nvSpPr>
          <p:cNvPr id="27" name="Shape 25"/>
          <p:cNvSpPr/>
          <p:nvPr/>
        </p:nvSpPr>
        <p:spPr>
          <a:xfrm>
            <a:off x="7751552" y="4002512"/>
            <a:ext cx="261153" cy="261153"/>
          </a:xfrm>
          <a:prstGeom prst="rect">
            <a:avLst/>
          </a:prstGeom>
          <a:solidFill>
            <a:srgbClr val="F87171"/>
          </a:solidFill>
          <a:ln/>
        </p:spPr>
      </p:sp>
      <p:sp>
        <p:nvSpPr>
          <p:cNvPr id="28" name="Text 26"/>
          <p:cNvSpPr txBox="1"/>
          <p:nvPr/>
        </p:nvSpPr>
        <p:spPr>
          <a:xfrm>
            <a:off x="8229600" y="385876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F87171"/>
                </a:solidFill>
                <a:latin typeface="IBM Plex Mono" pitchFamily="34" charset="0"/>
                <a:ea typeface="IBM Plex Mono" pitchFamily="34" charset="-122"/>
                <a:cs typeface="IBM Plex Mono" pitchFamily="34" charset="-120"/>
              </a:rPr>
              <a:t>NO CUMPLE</a:t>
            </a:r>
            <a:endParaRPr lang="es-CL" sz="1600" dirty="0"/>
          </a:p>
        </p:txBody>
      </p:sp>
      <p:sp>
        <p:nvSpPr>
          <p:cNvPr id="29" name="Shape 27"/>
          <p:cNvSpPr/>
          <p:nvPr/>
        </p:nvSpPr>
        <p:spPr>
          <a:xfrm>
            <a:off x="7751552" y="4551152"/>
            <a:ext cx="261153" cy="261153"/>
          </a:xfrm>
          <a:prstGeom prst="rect">
            <a:avLst/>
          </a:prstGeom>
          <a:solidFill>
            <a:schemeClr val="bg1">
              <a:alpha val="0"/>
            </a:schemeClr>
          </a:solidFill>
          <a:ln w="19050">
            <a:solidFill>
              <a:srgbClr val="8B9598"/>
            </a:solidFill>
            <a:prstDash val="sysDot"/>
          </a:ln>
        </p:spPr>
      </p:sp>
      <p:sp>
        <p:nvSpPr>
          <p:cNvPr id="30" name="Text 28"/>
          <p:cNvSpPr txBox="1"/>
          <p:nvPr/>
        </p:nvSpPr>
        <p:spPr>
          <a:xfrm>
            <a:off x="8229600" y="440740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8B9598"/>
                </a:solidFill>
                <a:latin typeface="IBM Plex Mono" pitchFamily="34" charset="0"/>
                <a:ea typeface="IBM Plex Mono" pitchFamily="34" charset="-122"/>
                <a:cs typeface="IBM Plex Mono" pitchFamily="34" charset="-120"/>
              </a:rPr>
              <a:t>META PENDIENTE</a:t>
            </a:r>
            <a:endParaRPr lang="es-CL" sz="1600" dirty="0"/>
          </a:p>
        </p:txBody>
      </p:sp>
      <p:sp>
        <p:nvSpPr>
          <p:cNvPr id="31" name="Shape 29"/>
          <p:cNvSpPr/>
          <p:nvPr/>
        </p:nvSpPr>
        <p:spPr>
          <a:xfrm>
            <a:off x="7726680" y="5074920"/>
            <a:ext cx="310896" cy="310896"/>
          </a:xfrm>
          <a:prstGeom prst="ellipse">
            <a:avLst/>
          </a:prstGeom>
          <a:solidFill>
            <a:schemeClr val="bg1">
              <a:alpha val="0"/>
            </a:schemeClr>
          </a:solidFill>
          <a:ln w="22225">
            <a:solidFill>
              <a:srgbClr val="8B9598"/>
            </a:solidFill>
            <a:prstDash val="dash"/>
          </a:ln>
        </p:spPr>
      </p:sp>
      <p:sp>
        <p:nvSpPr>
          <p:cNvPr id="32" name="Text 30"/>
          <p:cNvSpPr txBox="1"/>
          <p:nvPr/>
        </p:nvSpPr>
        <p:spPr>
          <a:xfrm>
            <a:off x="8229600" y="4956048"/>
            <a:ext cx="3413455" cy="548640"/>
          </a:xfrm>
          <a:prstGeom prst="rect">
            <a:avLst/>
          </a:prstGeom>
          <a:noFill/>
          <a:ln/>
        </p:spPr>
        <p:txBody>
          <a:bodyPr wrap="square" lIns="0" tIns="0" rIns="0" bIns="0" rtlCol="0" anchor="ctr"/>
          <a:lstStyle/>
          <a:p>
            <a:pPr indent="0" marL="0">
              <a:buNone/>
            </a:pPr>
            <a:r>
              <a:rPr lang="es-CL" altLang="en-US" sz="1600" b="1" spc="100" kern="0" dirty="0">
                <a:solidFill>
                  <a:schemeClr val="tx1"/>
                </a:solidFill>
                <a:latin typeface="IBM Plex Mono" pitchFamily="34" charset="0"/>
                <a:ea typeface="IBM Plex Mono" pitchFamily="34" charset="-122"/>
                <a:cs typeface="IBM Plex Mono" pitchFamily="34" charset="-120"/>
              </a:rPr>
              <a:t>SIN MEDIR</a:t>
            </a:r>
            <a:endParaRPr lang="es-CL" sz="1600" dirty="0"/>
          </a:p>
        </p:txBody>
      </p:sp>
      <p:sp>
        <p:nvSpPr>
          <p:cNvPr id="33" name="Shape 31"/>
          <p:cNvSpPr/>
          <p:nvPr/>
        </p:nvSpPr>
        <p:spPr>
          <a:xfrm>
            <a:off x="7726680" y="5669280"/>
            <a:ext cx="3916375" cy="566928"/>
          </a:xfrm>
          <a:prstGeom prst="rect">
            <a:avLst/>
          </a:prstGeom>
          <a:solidFill>
            <a:srgbClr val="0B1A22"/>
          </a:solidFill>
          <a:ln w="15875">
            <a:solidFill>
              <a:schemeClr val="accent1"/>
            </a:solidFill>
            <a:prstDash val="solid"/>
          </a:ln>
        </p:spPr>
      </p:sp>
      <p:sp>
        <p:nvSpPr>
          <p:cNvPr id="34" name="Shape 32"/>
          <p:cNvSpPr/>
          <p:nvPr/>
        </p:nvSpPr>
        <p:spPr>
          <a:xfrm>
            <a:off x="7671816" y="5614416"/>
            <a:ext cx="155448" cy="0"/>
          </a:xfrm>
          <a:prstGeom prst="line">
            <a:avLst/>
          </a:prstGeom>
          <a:noFill/>
          <a:ln w="15875">
            <a:solidFill>
              <a:schemeClr val="accent1"/>
            </a:solidFill>
            <a:prstDash val="solid"/>
          </a:ln>
        </p:spPr>
      </p:sp>
      <p:sp>
        <p:nvSpPr>
          <p:cNvPr id="35" name="Shape 33"/>
          <p:cNvSpPr/>
          <p:nvPr/>
        </p:nvSpPr>
        <p:spPr>
          <a:xfrm>
            <a:off x="7671816" y="5614416"/>
            <a:ext cx="0" cy="155448"/>
          </a:xfrm>
          <a:prstGeom prst="line">
            <a:avLst/>
          </a:prstGeom>
          <a:noFill/>
          <a:ln w="15875">
            <a:solidFill>
              <a:schemeClr val="accent1"/>
            </a:solidFill>
            <a:prstDash val="solid"/>
          </a:ln>
        </p:spPr>
      </p:sp>
      <p:sp>
        <p:nvSpPr>
          <p:cNvPr id="36" name="Shape 34"/>
          <p:cNvSpPr/>
          <p:nvPr/>
        </p:nvSpPr>
        <p:spPr>
          <a:xfrm>
            <a:off x="11542471" y="5614416"/>
            <a:ext cx="155448" cy="0"/>
          </a:xfrm>
          <a:prstGeom prst="line">
            <a:avLst/>
          </a:prstGeom>
          <a:noFill/>
          <a:ln w="15875">
            <a:solidFill>
              <a:schemeClr val="accent1"/>
            </a:solidFill>
            <a:prstDash val="solid"/>
          </a:ln>
        </p:spPr>
      </p:sp>
      <p:sp>
        <p:nvSpPr>
          <p:cNvPr id="37" name="Shape 35"/>
          <p:cNvSpPr/>
          <p:nvPr/>
        </p:nvSpPr>
        <p:spPr>
          <a:xfrm>
            <a:off x="11697919" y="5614416"/>
            <a:ext cx="0" cy="155448"/>
          </a:xfrm>
          <a:prstGeom prst="line">
            <a:avLst/>
          </a:prstGeom>
          <a:noFill/>
          <a:ln w="15875">
            <a:solidFill>
              <a:schemeClr val="accent1"/>
            </a:solidFill>
            <a:prstDash val="solid"/>
          </a:ln>
        </p:spPr>
      </p:sp>
      <p:sp>
        <p:nvSpPr>
          <p:cNvPr id="38" name="Shape 36"/>
          <p:cNvSpPr/>
          <p:nvPr/>
        </p:nvSpPr>
        <p:spPr>
          <a:xfrm>
            <a:off x="7671816" y="6291072"/>
            <a:ext cx="155448" cy="0"/>
          </a:xfrm>
          <a:prstGeom prst="line">
            <a:avLst/>
          </a:prstGeom>
          <a:noFill/>
          <a:ln w="15875">
            <a:solidFill>
              <a:schemeClr val="accent1"/>
            </a:solidFill>
            <a:prstDash val="solid"/>
          </a:ln>
        </p:spPr>
      </p:sp>
      <p:sp>
        <p:nvSpPr>
          <p:cNvPr id="39" name="Shape 37"/>
          <p:cNvSpPr/>
          <p:nvPr/>
        </p:nvSpPr>
        <p:spPr>
          <a:xfrm>
            <a:off x="7671816" y="6135624"/>
            <a:ext cx="0" cy="155448"/>
          </a:xfrm>
          <a:prstGeom prst="line">
            <a:avLst/>
          </a:prstGeom>
          <a:noFill/>
          <a:ln w="15875">
            <a:solidFill>
              <a:schemeClr val="accent1"/>
            </a:solidFill>
            <a:prstDash val="solid"/>
          </a:ln>
        </p:spPr>
      </p:sp>
      <p:sp>
        <p:nvSpPr>
          <p:cNvPr id="40" name="Shape 38"/>
          <p:cNvSpPr/>
          <p:nvPr/>
        </p:nvSpPr>
        <p:spPr>
          <a:xfrm>
            <a:off x="11542471" y="6291072"/>
            <a:ext cx="155448" cy="0"/>
          </a:xfrm>
          <a:prstGeom prst="line">
            <a:avLst/>
          </a:prstGeom>
          <a:noFill/>
          <a:ln w="15875">
            <a:solidFill>
              <a:schemeClr val="accent1"/>
            </a:solidFill>
            <a:prstDash val="solid"/>
          </a:ln>
        </p:spPr>
      </p:sp>
      <p:sp>
        <p:nvSpPr>
          <p:cNvPr id="41" name="Shape 39"/>
          <p:cNvSpPr/>
          <p:nvPr/>
        </p:nvSpPr>
        <p:spPr>
          <a:xfrm>
            <a:off x="11697919" y="6135624"/>
            <a:ext cx="0" cy="155448"/>
          </a:xfrm>
          <a:prstGeom prst="line">
            <a:avLst/>
          </a:prstGeom>
          <a:noFill/>
          <a:ln w="15875">
            <a:solidFill>
              <a:schemeClr val="accent1"/>
            </a:solidFill>
            <a:prstDash val="solid"/>
          </a:ln>
        </p:spPr>
      </p:sp>
      <p:sp>
        <p:nvSpPr>
          <p:cNvPr id="42" name="Text 40"/>
          <p:cNvSpPr txBox="1"/>
          <p:nvPr/>
        </p:nvSpPr>
        <p:spPr>
          <a:xfrm>
            <a:off x="7927848" y="5669280"/>
            <a:ext cx="3550615" cy="566928"/>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Hoy todo el tablero: </a:t>
            </a:r>
            <a:endParaRPr lang="es-CL" sz="1800" dirty="0"/>
          </a:p>
          <a:p>
            <a:pPr indent="0" marL="0">
              <a:buNone/>
            </a:pPr>
            <a:r>
              <a:rPr lang="es-CL" altLang="en-US" sz="1800" b="1" dirty="0">
                <a:solidFill>
                  <a:schemeClr val="tx1"/>
                </a:solidFill>
                <a:latin typeface="Figtree" pitchFamily="34" charset="0"/>
                <a:ea typeface="Figtree" pitchFamily="34" charset="-122"/>
                <a:cs typeface="Figtree" pitchFamily="34" charset="-120"/>
              </a:rPr>
              <a:t>sin medir, no en rojo.</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CONTROL · CICLO DE DECISIÓN Y CONCLUSIÓN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DECIDE CUÁNDO AVANZAR,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corregir o detenerse.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en red revisado (propuesta del equipo para la Solemne 2), ciclo de decisión; material del curso «Sistemas de Control de Gestión: Indicadores».</a:t>
            </a:r>
            <a:endParaRPr lang="es-CL" sz="1100" dirty="0"/>
          </a:p>
        </p:txBody>
      </p:sp>
      <p:sp>
        <p:nvSpPr>
          <p:cNvPr id="5" name="Shape 3"/>
          <p:cNvSpPr/>
          <p:nvPr/>
        </p:nvSpPr>
        <p:spPr>
          <a:xfrm>
            <a:off x="548640" y="2395728"/>
            <a:ext cx="1984797" cy="731520"/>
          </a:xfrm>
          <a:prstGeom prst="rect">
            <a:avLst/>
          </a:prstGeom>
          <a:solidFill>
            <a:schemeClr val="bg2"/>
          </a:solidFill>
          <a:ln w="9525">
            <a:solidFill>
              <a:schemeClr val="tx2"/>
            </a:solidFill>
            <a:prstDash val="solid"/>
          </a:ln>
        </p:spPr>
      </p:sp>
      <p:sp>
        <p:nvSpPr>
          <p:cNvPr id="6" name="Text 4"/>
          <p:cNvSpPr txBox="1"/>
          <p:nvPr/>
        </p:nvSpPr>
        <p:spPr>
          <a:xfrm>
            <a:off x="685800" y="2395728"/>
            <a:ext cx="1756197" cy="731520"/>
          </a:xfrm>
          <a:prstGeom prst="rect">
            <a:avLst/>
          </a:prstGeom>
          <a:noFill/>
          <a:ln/>
        </p:spPr>
        <p:txBody>
          <a:bodyPr wrap="square" lIns="0" tIns="0" rIns="0" bIns="0" rtlCol="0" anchor="ctr"/>
          <a:lstStyle/>
          <a:p>
            <a:pPr indent="0" marL="0">
              <a:buNone/>
            </a:pPr>
            <a:r>
              <a:rPr lang="es-CL" altLang="en-US" sz="1400" b="1" dirty="0">
                <a:solidFill>
                  <a:schemeClr val="accent1"/>
                </a:solidFill>
                <a:latin typeface="IBM Plex Mono" pitchFamily="34" charset="0"/>
                <a:ea typeface="IBM Plex Mono" pitchFamily="34" charset="-122"/>
                <a:cs typeface="IBM Plex Mono" pitchFamily="34" charset="-120"/>
              </a:rPr>
              <a:t>1  </a:t>
            </a:r>
            <a:pPr indent="0" marL="0">
              <a:buNone/>
            </a:pPr>
            <a:r>
              <a:rPr lang="es-CL" altLang="en-US" sz="1700" b="1" dirty="0">
                <a:solidFill>
                  <a:schemeClr val="tx1"/>
                </a:solidFill>
                <a:latin typeface="Figtree" pitchFamily="34" charset="0"/>
                <a:ea typeface="Figtree" pitchFamily="34" charset="-122"/>
                <a:cs typeface="Figtree" pitchFamily="34" charset="-120"/>
              </a:rPr>
              <a:t>OBSERVAR</a:t>
            </a:r>
            <a:endParaRPr lang="es-CL" sz="1700" dirty="0"/>
          </a:p>
        </p:txBody>
      </p:sp>
      <p:sp>
        <p:nvSpPr>
          <p:cNvPr id="7" name="Shape 5"/>
          <p:cNvSpPr/>
          <p:nvPr/>
        </p:nvSpPr>
        <p:spPr>
          <a:xfrm>
            <a:off x="2570013" y="2761488"/>
            <a:ext cx="219456" cy="0"/>
          </a:xfrm>
          <a:prstGeom prst="line">
            <a:avLst/>
          </a:prstGeom>
          <a:noFill/>
          <a:ln w="22225">
            <a:solidFill>
              <a:schemeClr val="accent1"/>
            </a:solidFill>
            <a:prstDash val="solid"/>
            <a:tailEnd type="triangle"/>
          </a:ln>
        </p:spPr>
      </p:sp>
      <p:sp>
        <p:nvSpPr>
          <p:cNvPr id="8" name="Shape 6"/>
          <p:cNvSpPr/>
          <p:nvPr/>
        </p:nvSpPr>
        <p:spPr>
          <a:xfrm>
            <a:off x="2826045" y="2395728"/>
            <a:ext cx="1984797" cy="731520"/>
          </a:xfrm>
          <a:prstGeom prst="rect">
            <a:avLst/>
          </a:prstGeom>
          <a:solidFill>
            <a:schemeClr val="bg2"/>
          </a:solidFill>
          <a:ln w="9525">
            <a:solidFill>
              <a:schemeClr val="tx2"/>
            </a:solidFill>
            <a:prstDash val="solid"/>
          </a:ln>
        </p:spPr>
      </p:sp>
      <p:sp>
        <p:nvSpPr>
          <p:cNvPr id="9" name="Text 7"/>
          <p:cNvSpPr txBox="1"/>
          <p:nvPr/>
        </p:nvSpPr>
        <p:spPr>
          <a:xfrm>
            <a:off x="2963205" y="2395728"/>
            <a:ext cx="1756197" cy="731520"/>
          </a:xfrm>
          <a:prstGeom prst="rect">
            <a:avLst/>
          </a:prstGeom>
          <a:noFill/>
          <a:ln/>
        </p:spPr>
        <p:txBody>
          <a:bodyPr wrap="square" lIns="0" tIns="0" rIns="0" bIns="0" rtlCol="0" anchor="ctr"/>
          <a:lstStyle/>
          <a:p>
            <a:pPr indent="0" marL="0">
              <a:buNone/>
            </a:pPr>
            <a:r>
              <a:rPr lang="es-CL" altLang="en-US" sz="1400" b="1" dirty="0">
                <a:solidFill>
                  <a:schemeClr val="accent1"/>
                </a:solidFill>
                <a:latin typeface="IBM Plex Mono" pitchFamily="34" charset="0"/>
                <a:ea typeface="IBM Plex Mono" pitchFamily="34" charset="-122"/>
                <a:cs typeface="IBM Plex Mono" pitchFamily="34" charset="-120"/>
              </a:rPr>
              <a:t>2  </a:t>
            </a:r>
            <a:pPr indent="0" marL="0">
              <a:buNone/>
            </a:pPr>
            <a:r>
              <a:rPr lang="es-CL" altLang="en-US" sz="1700" b="1" dirty="0">
                <a:solidFill>
                  <a:schemeClr val="tx1"/>
                </a:solidFill>
                <a:latin typeface="Figtree" pitchFamily="34" charset="0"/>
                <a:ea typeface="Figtree" pitchFamily="34" charset="-122"/>
                <a:cs typeface="Figtree" pitchFamily="34" charset="-120"/>
              </a:rPr>
              <a:t>COMPARAR</a:t>
            </a:r>
            <a:endParaRPr lang="es-CL" sz="1700" dirty="0"/>
          </a:p>
        </p:txBody>
      </p:sp>
      <p:sp>
        <p:nvSpPr>
          <p:cNvPr id="10" name="Shape 8"/>
          <p:cNvSpPr/>
          <p:nvPr/>
        </p:nvSpPr>
        <p:spPr>
          <a:xfrm>
            <a:off x="4847417" y="2761488"/>
            <a:ext cx="219456" cy="0"/>
          </a:xfrm>
          <a:prstGeom prst="line">
            <a:avLst/>
          </a:prstGeom>
          <a:noFill/>
          <a:ln w="22225">
            <a:solidFill>
              <a:schemeClr val="accent1"/>
            </a:solidFill>
            <a:prstDash val="solid"/>
            <a:tailEnd type="triangle"/>
          </a:ln>
        </p:spPr>
      </p:sp>
      <p:sp>
        <p:nvSpPr>
          <p:cNvPr id="11" name="Shape 9"/>
          <p:cNvSpPr/>
          <p:nvPr/>
        </p:nvSpPr>
        <p:spPr>
          <a:xfrm>
            <a:off x="5103449" y="2395728"/>
            <a:ext cx="1984797" cy="731520"/>
          </a:xfrm>
          <a:prstGeom prst="rect">
            <a:avLst/>
          </a:prstGeom>
          <a:solidFill>
            <a:schemeClr val="bg2"/>
          </a:solidFill>
          <a:ln w="9525">
            <a:solidFill>
              <a:schemeClr val="tx2"/>
            </a:solidFill>
            <a:prstDash val="solid"/>
          </a:ln>
        </p:spPr>
      </p:sp>
      <p:sp>
        <p:nvSpPr>
          <p:cNvPr id="12" name="Text 10"/>
          <p:cNvSpPr txBox="1"/>
          <p:nvPr/>
        </p:nvSpPr>
        <p:spPr>
          <a:xfrm>
            <a:off x="5240609" y="2395728"/>
            <a:ext cx="1756197" cy="731520"/>
          </a:xfrm>
          <a:prstGeom prst="rect">
            <a:avLst/>
          </a:prstGeom>
          <a:noFill/>
          <a:ln/>
        </p:spPr>
        <p:txBody>
          <a:bodyPr wrap="square" lIns="0" tIns="0" rIns="0" bIns="0" rtlCol="0" anchor="ctr"/>
          <a:lstStyle/>
          <a:p>
            <a:pPr indent="0" marL="0">
              <a:buNone/>
            </a:pPr>
            <a:r>
              <a:rPr lang="es-CL" altLang="en-US" sz="1400" b="1" dirty="0">
                <a:solidFill>
                  <a:schemeClr val="accent1"/>
                </a:solidFill>
                <a:latin typeface="IBM Plex Mono" pitchFamily="34" charset="0"/>
                <a:ea typeface="IBM Plex Mono" pitchFamily="34" charset="-122"/>
                <a:cs typeface="IBM Plex Mono" pitchFamily="34" charset="-120"/>
              </a:rPr>
              <a:t>3  </a:t>
            </a:r>
            <a:pPr indent="0" marL="0">
              <a:buNone/>
            </a:pPr>
            <a:r>
              <a:rPr lang="es-CL" altLang="en-US" sz="1700" b="1" dirty="0">
                <a:solidFill>
                  <a:schemeClr val="tx1"/>
                </a:solidFill>
                <a:latin typeface="Figtree" pitchFamily="34" charset="0"/>
                <a:ea typeface="Figtree" pitchFamily="34" charset="-122"/>
                <a:cs typeface="Figtree" pitchFamily="34" charset="-120"/>
              </a:rPr>
              <a:t>EXPLICAR</a:t>
            </a:r>
            <a:endParaRPr lang="es-CL" sz="1700" dirty="0"/>
          </a:p>
        </p:txBody>
      </p:sp>
      <p:sp>
        <p:nvSpPr>
          <p:cNvPr id="13" name="Shape 11"/>
          <p:cNvSpPr/>
          <p:nvPr/>
        </p:nvSpPr>
        <p:spPr>
          <a:xfrm>
            <a:off x="7124822" y="2761488"/>
            <a:ext cx="219456" cy="0"/>
          </a:xfrm>
          <a:prstGeom prst="line">
            <a:avLst/>
          </a:prstGeom>
          <a:noFill/>
          <a:ln w="22225">
            <a:solidFill>
              <a:schemeClr val="accent1"/>
            </a:solidFill>
            <a:prstDash val="solid"/>
            <a:tailEnd type="triangle"/>
          </a:ln>
        </p:spPr>
      </p:sp>
      <p:sp>
        <p:nvSpPr>
          <p:cNvPr id="14" name="Shape 12"/>
          <p:cNvSpPr/>
          <p:nvPr/>
        </p:nvSpPr>
        <p:spPr>
          <a:xfrm>
            <a:off x="7380854" y="2395728"/>
            <a:ext cx="1984797" cy="731520"/>
          </a:xfrm>
          <a:prstGeom prst="rect">
            <a:avLst/>
          </a:prstGeom>
          <a:solidFill>
            <a:srgbClr val="0B1A22"/>
          </a:solidFill>
          <a:ln w="15875">
            <a:solidFill>
              <a:schemeClr val="accent1"/>
            </a:solidFill>
            <a:prstDash val="solid"/>
          </a:ln>
        </p:spPr>
      </p:sp>
      <p:sp>
        <p:nvSpPr>
          <p:cNvPr id="15" name="Shape 13"/>
          <p:cNvSpPr/>
          <p:nvPr/>
        </p:nvSpPr>
        <p:spPr>
          <a:xfrm>
            <a:off x="7325990" y="2340864"/>
            <a:ext cx="155448" cy="0"/>
          </a:xfrm>
          <a:prstGeom prst="line">
            <a:avLst/>
          </a:prstGeom>
          <a:noFill/>
          <a:ln w="15875">
            <a:solidFill>
              <a:schemeClr val="accent1"/>
            </a:solidFill>
            <a:prstDash val="solid"/>
          </a:ln>
        </p:spPr>
      </p:sp>
      <p:sp>
        <p:nvSpPr>
          <p:cNvPr id="16" name="Shape 14"/>
          <p:cNvSpPr/>
          <p:nvPr/>
        </p:nvSpPr>
        <p:spPr>
          <a:xfrm>
            <a:off x="7325990" y="2340864"/>
            <a:ext cx="0" cy="155448"/>
          </a:xfrm>
          <a:prstGeom prst="line">
            <a:avLst/>
          </a:prstGeom>
          <a:noFill/>
          <a:ln w="15875">
            <a:solidFill>
              <a:schemeClr val="accent1"/>
            </a:solidFill>
            <a:prstDash val="solid"/>
          </a:ln>
        </p:spPr>
      </p:sp>
      <p:sp>
        <p:nvSpPr>
          <p:cNvPr id="17" name="Shape 15"/>
          <p:cNvSpPr/>
          <p:nvPr/>
        </p:nvSpPr>
        <p:spPr>
          <a:xfrm>
            <a:off x="9265067" y="2340864"/>
            <a:ext cx="155448" cy="0"/>
          </a:xfrm>
          <a:prstGeom prst="line">
            <a:avLst/>
          </a:prstGeom>
          <a:noFill/>
          <a:ln w="15875">
            <a:solidFill>
              <a:schemeClr val="accent1"/>
            </a:solidFill>
            <a:prstDash val="solid"/>
          </a:ln>
        </p:spPr>
      </p:sp>
      <p:sp>
        <p:nvSpPr>
          <p:cNvPr id="18" name="Shape 16"/>
          <p:cNvSpPr/>
          <p:nvPr/>
        </p:nvSpPr>
        <p:spPr>
          <a:xfrm>
            <a:off x="9420515" y="2340864"/>
            <a:ext cx="0" cy="155448"/>
          </a:xfrm>
          <a:prstGeom prst="line">
            <a:avLst/>
          </a:prstGeom>
          <a:noFill/>
          <a:ln w="15875">
            <a:solidFill>
              <a:schemeClr val="accent1"/>
            </a:solidFill>
            <a:prstDash val="solid"/>
          </a:ln>
        </p:spPr>
      </p:sp>
      <p:sp>
        <p:nvSpPr>
          <p:cNvPr id="19" name="Shape 17"/>
          <p:cNvSpPr/>
          <p:nvPr/>
        </p:nvSpPr>
        <p:spPr>
          <a:xfrm>
            <a:off x="7325990" y="3182112"/>
            <a:ext cx="155448" cy="0"/>
          </a:xfrm>
          <a:prstGeom prst="line">
            <a:avLst/>
          </a:prstGeom>
          <a:noFill/>
          <a:ln w="15875">
            <a:solidFill>
              <a:schemeClr val="accent1"/>
            </a:solidFill>
            <a:prstDash val="solid"/>
          </a:ln>
        </p:spPr>
      </p:sp>
      <p:sp>
        <p:nvSpPr>
          <p:cNvPr id="20" name="Shape 18"/>
          <p:cNvSpPr/>
          <p:nvPr/>
        </p:nvSpPr>
        <p:spPr>
          <a:xfrm>
            <a:off x="7325990" y="3026664"/>
            <a:ext cx="0" cy="155448"/>
          </a:xfrm>
          <a:prstGeom prst="line">
            <a:avLst/>
          </a:prstGeom>
          <a:noFill/>
          <a:ln w="15875">
            <a:solidFill>
              <a:schemeClr val="accent1"/>
            </a:solidFill>
            <a:prstDash val="solid"/>
          </a:ln>
        </p:spPr>
      </p:sp>
      <p:sp>
        <p:nvSpPr>
          <p:cNvPr id="21" name="Shape 19"/>
          <p:cNvSpPr/>
          <p:nvPr/>
        </p:nvSpPr>
        <p:spPr>
          <a:xfrm>
            <a:off x="9265067" y="3182112"/>
            <a:ext cx="155448" cy="0"/>
          </a:xfrm>
          <a:prstGeom prst="line">
            <a:avLst/>
          </a:prstGeom>
          <a:noFill/>
          <a:ln w="15875">
            <a:solidFill>
              <a:schemeClr val="accent1"/>
            </a:solidFill>
            <a:prstDash val="solid"/>
          </a:ln>
        </p:spPr>
      </p:sp>
      <p:sp>
        <p:nvSpPr>
          <p:cNvPr id="22" name="Shape 20"/>
          <p:cNvSpPr/>
          <p:nvPr/>
        </p:nvSpPr>
        <p:spPr>
          <a:xfrm>
            <a:off x="9420515" y="3026664"/>
            <a:ext cx="0" cy="155448"/>
          </a:xfrm>
          <a:prstGeom prst="line">
            <a:avLst/>
          </a:prstGeom>
          <a:noFill/>
          <a:ln w="15875">
            <a:solidFill>
              <a:schemeClr val="accent1"/>
            </a:solidFill>
            <a:prstDash val="solid"/>
          </a:ln>
        </p:spPr>
      </p:sp>
      <p:sp>
        <p:nvSpPr>
          <p:cNvPr id="23" name="Text 21"/>
          <p:cNvSpPr txBox="1"/>
          <p:nvPr/>
        </p:nvSpPr>
        <p:spPr>
          <a:xfrm>
            <a:off x="7518014" y="2395728"/>
            <a:ext cx="1756197" cy="731520"/>
          </a:xfrm>
          <a:prstGeom prst="rect">
            <a:avLst/>
          </a:prstGeom>
          <a:noFill/>
          <a:ln/>
        </p:spPr>
        <p:txBody>
          <a:bodyPr wrap="square" lIns="0" tIns="0" rIns="0" bIns="0" rtlCol="0" anchor="ctr"/>
          <a:lstStyle/>
          <a:p>
            <a:pPr indent="0" marL="0">
              <a:buNone/>
            </a:pPr>
            <a:r>
              <a:rPr lang="es-CL" altLang="en-US" sz="1400" b="1" dirty="0">
                <a:solidFill>
                  <a:schemeClr val="accent1"/>
                </a:solidFill>
                <a:latin typeface="IBM Plex Mono" pitchFamily="34" charset="0"/>
                <a:ea typeface="IBM Plex Mono" pitchFamily="34" charset="-122"/>
                <a:cs typeface="IBM Plex Mono" pitchFamily="34" charset="-120"/>
              </a:rPr>
              <a:t>4  </a:t>
            </a:r>
            <a:pPr indent="0" marL="0">
              <a:buNone/>
            </a:pPr>
            <a:r>
              <a:rPr lang="es-CL" altLang="en-US" sz="1700" b="1" dirty="0">
                <a:solidFill>
                  <a:schemeClr val="accent1"/>
                </a:solidFill>
                <a:latin typeface="Figtree" pitchFamily="34" charset="0"/>
                <a:ea typeface="Figtree" pitchFamily="34" charset="-122"/>
                <a:cs typeface="Figtree" pitchFamily="34" charset="-120"/>
              </a:rPr>
              <a:t>DECIDIR</a:t>
            </a:r>
            <a:endParaRPr lang="es-CL" sz="1700" dirty="0"/>
          </a:p>
        </p:txBody>
      </p:sp>
      <p:sp>
        <p:nvSpPr>
          <p:cNvPr id="24" name="Shape 22"/>
          <p:cNvSpPr/>
          <p:nvPr/>
        </p:nvSpPr>
        <p:spPr>
          <a:xfrm>
            <a:off x="9402227" y="2761488"/>
            <a:ext cx="219456" cy="0"/>
          </a:xfrm>
          <a:prstGeom prst="line">
            <a:avLst/>
          </a:prstGeom>
          <a:noFill/>
          <a:ln w="22225">
            <a:solidFill>
              <a:schemeClr val="accent1"/>
            </a:solidFill>
            <a:prstDash val="solid"/>
            <a:tailEnd type="triangle"/>
          </a:ln>
        </p:spPr>
      </p:sp>
      <p:sp>
        <p:nvSpPr>
          <p:cNvPr id="25" name="Shape 23"/>
          <p:cNvSpPr/>
          <p:nvPr/>
        </p:nvSpPr>
        <p:spPr>
          <a:xfrm>
            <a:off x="9658259" y="2395728"/>
            <a:ext cx="1984797" cy="731520"/>
          </a:xfrm>
          <a:prstGeom prst="rect">
            <a:avLst/>
          </a:prstGeom>
          <a:solidFill>
            <a:schemeClr val="bg2"/>
          </a:solidFill>
          <a:ln w="9525">
            <a:solidFill>
              <a:schemeClr val="tx2"/>
            </a:solidFill>
            <a:prstDash val="solid"/>
          </a:ln>
        </p:spPr>
      </p:sp>
      <p:sp>
        <p:nvSpPr>
          <p:cNvPr id="26" name="Text 24"/>
          <p:cNvSpPr txBox="1"/>
          <p:nvPr/>
        </p:nvSpPr>
        <p:spPr>
          <a:xfrm>
            <a:off x="9795419" y="2395728"/>
            <a:ext cx="1756197" cy="731520"/>
          </a:xfrm>
          <a:prstGeom prst="rect">
            <a:avLst/>
          </a:prstGeom>
          <a:noFill/>
          <a:ln/>
        </p:spPr>
        <p:txBody>
          <a:bodyPr wrap="square" lIns="0" tIns="0" rIns="0" bIns="0" rtlCol="0" anchor="ctr"/>
          <a:lstStyle/>
          <a:p>
            <a:pPr indent="0" marL="0">
              <a:buNone/>
            </a:pPr>
            <a:r>
              <a:rPr lang="es-CL" altLang="en-US" sz="1400" b="1" dirty="0">
                <a:solidFill>
                  <a:schemeClr val="accent1"/>
                </a:solidFill>
                <a:latin typeface="IBM Plex Mono" pitchFamily="34" charset="0"/>
                <a:ea typeface="IBM Plex Mono" pitchFamily="34" charset="-122"/>
                <a:cs typeface="IBM Plex Mono" pitchFamily="34" charset="-120"/>
              </a:rPr>
              <a:t>5  </a:t>
            </a:r>
            <a:pPr indent="0" marL="0">
              <a:buNone/>
            </a:pPr>
            <a:r>
              <a:rPr lang="es-CL" altLang="en-US" sz="1700" b="1" dirty="0">
                <a:solidFill>
                  <a:schemeClr val="tx1"/>
                </a:solidFill>
                <a:latin typeface="Figtree" pitchFamily="34" charset="0"/>
                <a:ea typeface="Figtree" pitchFamily="34" charset="-122"/>
                <a:cs typeface="Figtree" pitchFamily="34" charset="-120"/>
              </a:rPr>
              <a:t>VOLVER A MEDIR</a:t>
            </a:r>
            <a:endParaRPr lang="es-CL" sz="1700" dirty="0"/>
          </a:p>
        </p:txBody>
      </p:sp>
      <p:sp>
        <p:nvSpPr>
          <p:cNvPr id="27" name="Shape 25"/>
          <p:cNvSpPr/>
          <p:nvPr/>
        </p:nvSpPr>
        <p:spPr>
          <a:xfrm>
            <a:off x="10650657" y="3127248"/>
            <a:ext cx="0" cy="201168"/>
          </a:xfrm>
          <a:prstGeom prst="line">
            <a:avLst/>
          </a:prstGeom>
          <a:noFill/>
          <a:ln w="19050">
            <a:solidFill>
              <a:schemeClr val="accent1"/>
            </a:solidFill>
            <a:prstDash val="solid"/>
          </a:ln>
        </p:spPr>
      </p:sp>
      <p:sp>
        <p:nvSpPr>
          <p:cNvPr id="28" name="Shape 26"/>
          <p:cNvSpPr/>
          <p:nvPr/>
        </p:nvSpPr>
        <p:spPr>
          <a:xfrm>
            <a:off x="1541038" y="3328416"/>
            <a:ext cx="9109619" cy="0"/>
          </a:xfrm>
          <a:prstGeom prst="line">
            <a:avLst/>
          </a:prstGeom>
          <a:noFill/>
          <a:ln w="19050">
            <a:solidFill>
              <a:schemeClr val="accent1"/>
            </a:solidFill>
            <a:prstDash val="solid"/>
          </a:ln>
        </p:spPr>
      </p:sp>
      <p:sp>
        <p:nvSpPr>
          <p:cNvPr id="29" name="Shape 27"/>
          <p:cNvSpPr/>
          <p:nvPr/>
        </p:nvSpPr>
        <p:spPr>
          <a:xfrm>
            <a:off x="1541038" y="3328416"/>
            <a:ext cx="0" cy="-201168"/>
          </a:xfrm>
          <a:prstGeom prst="line">
            <a:avLst/>
          </a:prstGeom>
          <a:noFill/>
          <a:ln w="19050">
            <a:solidFill>
              <a:schemeClr val="accent1"/>
            </a:solidFill>
            <a:prstDash val="solid"/>
            <a:tailEnd type="triangle"/>
          </a:ln>
        </p:spPr>
      </p:sp>
      <p:sp>
        <p:nvSpPr>
          <p:cNvPr id="30" name="Text 28"/>
          <p:cNvSpPr txBox="1"/>
          <p:nvPr/>
        </p:nvSpPr>
        <p:spPr>
          <a:xfrm>
            <a:off x="548640" y="3602736"/>
            <a:ext cx="36576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REGLAS DE DECISIÓN</a:t>
            </a:r>
            <a:endParaRPr lang="es-CL" sz="1300" dirty="0"/>
          </a:p>
        </p:txBody>
      </p:sp>
      <p:sp>
        <p:nvSpPr>
          <p:cNvPr id="31" name="Shape 29"/>
          <p:cNvSpPr/>
          <p:nvPr/>
        </p:nvSpPr>
        <p:spPr>
          <a:xfrm>
            <a:off x="548640" y="3931920"/>
            <a:ext cx="11094415" cy="0"/>
          </a:xfrm>
          <a:prstGeom prst="line">
            <a:avLst/>
          </a:prstGeom>
          <a:noFill/>
          <a:ln w="9525">
            <a:solidFill>
              <a:schemeClr val="accent1"/>
            </a:solidFill>
            <a:prstDash val="solid"/>
          </a:ln>
        </p:spPr>
      </p:sp>
      <p:sp>
        <p:nvSpPr>
          <p:cNvPr id="32" name="Text 30"/>
          <p:cNvSpPr txBox="1"/>
          <p:nvPr/>
        </p:nvSpPr>
        <p:spPr>
          <a:xfrm>
            <a:off x="548640" y="3931920"/>
            <a:ext cx="5120640" cy="566928"/>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Si </a:t>
            </a:r>
            <a:pPr indent="0" marL="0">
              <a:buNone/>
            </a:pPr>
            <a:r>
              <a:rPr lang="es-CL" altLang="en-US" sz="1900" b="1" dirty="0">
                <a:solidFill>
                  <a:schemeClr val="tx1"/>
                </a:solidFill>
                <a:latin typeface="Figtree" pitchFamily="34" charset="0"/>
                <a:ea typeface="Figtree" pitchFamily="34" charset="-122"/>
                <a:cs typeface="Figtree" pitchFamily="34" charset="-120"/>
              </a:rPr>
              <a:t>una orden no tiene verificación</a:t>
            </a:r>
            <a:endParaRPr lang="es-CL" sz="1900" dirty="0"/>
          </a:p>
        </p:txBody>
      </p:sp>
      <p:sp>
        <p:nvSpPr>
          <p:cNvPr id="33" name="Shape 31"/>
          <p:cNvSpPr/>
          <p:nvPr/>
        </p:nvSpPr>
        <p:spPr>
          <a:xfrm>
            <a:off x="5760720" y="4215384"/>
            <a:ext cx="457200" cy="0"/>
          </a:xfrm>
          <a:prstGeom prst="line">
            <a:avLst/>
          </a:prstGeom>
          <a:noFill/>
          <a:ln w="22225">
            <a:solidFill>
              <a:schemeClr val="accent1"/>
            </a:solidFill>
            <a:prstDash val="solid"/>
            <a:tailEnd type="triangle"/>
          </a:ln>
        </p:spPr>
      </p:sp>
      <p:sp>
        <p:nvSpPr>
          <p:cNvPr id="34" name="Text 32"/>
          <p:cNvSpPr txBox="1"/>
          <p:nvPr/>
        </p:nvSpPr>
        <p:spPr>
          <a:xfrm>
            <a:off x="6400800" y="3931920"/>
            <a:ext cx="5242255" cy="566928"/>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no se entrega</a:t>
            </a:r>
            <a:endParaRPr lang="es-CL" sz="1900" dirty="0"/>
          </a:p>
        </p:txBody>
      </p:sp>
      <p:sp>
        <p:nvSpPr>
          <p:cNvPr id="35" name="Shape 33"/>
          <p:cNvSpPr/>
          <p:nvPr/>
        </p:nvSpPr>
        <p:spPr>
          <a:xfrm>
            <a:off x="548640" y="4498848"/>
            <a:ext cx="11094415" cy="0"/>
          </a:xfrm>
          <a:prstGeom prst="line">
            <a:avLst/>
          </a:prstGeom>
          <a:noFill/>
          <a:ln w="9525">
            <a:solidFill>
              <a:schemeClr val="accent5"/>
            </a:solidFill>
            <a:prstDash val="solid"/>
          </a:ln>
        </p:spPr>
      </p:sp>
      <p:sp>
        <p:nvSpPr>
          <p:cNvPr id="36" name="Text 34"/>
          <p:cNvSpPr txBox="1"/>
          <p:nvPr/>
        </p:nvSpPr>
        <p:spPr>
          <a:xfrm>
            <a:off x="548640" y="4498848"/>
            <a:ext cx="5120640" cy="566928"/>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Si </a:t>
            </a:r>
            <a:pPr indent="0" marL="0">
              <a:buNone/>
            </a:pPr>
            <a:r>
              <a:rPr lang="es-CL" altLang="en-US" sz="1900" b="1" dirty="0">
                <a:solidFill>
                  <a:schemeClr val="tx1"/>
                </a:solidFill>
                <a:latin typeface="Figtree" pitchFamily="34" charset="0"/>
                <a:ea typeface="Figtree" pitchFamily="34" charset="-122"/>
                <a:cs typeface="Figtree" pitchFamily="34" charset="-120"/>
              </a:rPr>
              <a:t>una estimación no tiene respaldo</a:t>
            </a:r>
            <a:endParaRPr lang="es-CL" sz="1900" dirty="0"/>
          </a:p>
        </p:txBody>
      </p:sp>
      <p:sp>
        <p:nvSpPr>
          <p:cNvPr id="37" name="Shape 35"/>
          <p:cNvSpPr/>
          <p:nvPr/>
        </p:nvSpPr>
        <p:spPr>
          <a:xfrm>
            <a:off x="5760720" y="4782312"/>
            <a:ext cx="457200" cy="0"/>
          </a:xfrm>
          <a:prstGeom prst="line">
            <a:avLst/>
          </a:prstGeom>
          <a:noFill/>
          <a:ln w="22225">
            <a:solidFill>
              <a:schemeClr val="accent1"/>
            </a:solidFill>
            <a:prstDash val="solid"/>
            <a:tailEnd type="triangle"/>
          </a:ln>
        </p:spPr>
      </p:sp>
      <p:sp>
        <p:nvSpPr>
          <p:cNvPr id="38" name="Text 36"/>
          <p:cNvSpPr txBox="1"/>
          <p:nvPr/>
        </p:nvSpPr>
        <p:spPr>
          <a:xfrm>
            <a:off x="6400800" y="4498848"/>
            <a:ext cx="5242255" cy="566928"/>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se corrige la información</a:t>
            </a:r>
            <a:endParaRPr lang="es-CL" sz="1900" dirty="0"/>
          </a:p>
        </p:txBody>
      </p:sp>
      <p:sp>
        <p:nvSpPr>
          <p:cNvPr id="39" name="Shape 37"/>
          <p:cNvSpPr/>
          <p:nvPr/>
        </p:nvSpPr>
        <p:spPr>
          <a:xfrm>
            <a:off x="548640" y="5065776"/>
            <a:ext cx="11094415" cy="0"/>
          </a:xfrm>
          <a:prstGeom prst="line">
            <a:avLst/>
          </a:prstGeom>
          <a:noFill/>
          <a:ln w="9525">
            <a:solidFill>
              <a:schemeClr val="accent5"/>
            </a:solidFill>
            <a:prstDash val="solid"/>
          </a:ln>
        </p:spPr>
      </p:sp>
      <p:sp>
        <p:nvSpPr>
          <p:cNvPr id="40" name="Text 38"/>
          <p:cNvSpPr txBox="1"/>
          <p:nvPr/>
        </p:nvSpPr>
        <p:spPr>
          <a:xfrm>
            <a:off x="548640" y="5065776"/>
            <a:ext cx="5120640" cy="566928"/>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Si </a:t>
            </a:r>
            <a:pPr indent="0" marL="0">
              <a:buNone/>
            </a:pPr>
            <a:r>
              <a:rPr lang="es-CL" altLang="en-US" sz="1900" b="1" dirty="0">
                <a:solidFill>
                  <a:schemeClr val="tx1"/>
                </a:solidFill>
                <a:latin typeface="Figtree" pitchFamily="34" charset="0"/>
                <a:ea typeface="Figtree" pitchFamily="34" charset="-122"/>
                <a:cs typeface="Figtree" pitchFamily="34" charset="-120"/>
              </a:rPr>
              <a:t>no hay vía legal</a:t>
            </a:r>
            <a:endParaRPr lang="es-CL" sz="1900" dirty="0"/>
          </a:p>
        </p:txBody>
      </p:sp>
      <p:sp>
        <p:nvSpPr>
          <p:cNvPr id="41" name="Shape 39"/>
          <p:cNvSpPr/>
          <p:nvPr/>
        </p:nvSpPr>
        <p:spPr>
          <a:xfrm>
            <a:off x="5760720" y="5349240"/>
            <a:ext cx="457200" cy="0"/>
          </a:xfrm>
          <a:prstGeom prst="line">
            <a:avLst/>
          </a:prstGeom>
          <a:noFill/>
          <a:ln w="22225">
            <a:solidFill>
              <a:schemeClr val="accent1"/>
            </a:solidFill>
            <a:prstDash val="solid"/>
            <a:tailEnd type="triangle"/>
          </a:ln>
        </p:spPr>
      </p:sp>
      <p:sp>
        <p:nvSpPr>
          <p:cNvPr id="42" name="Text 40"/>
          <p:cNvSpPr txBox="1"/>
          <p:nvPr/>
        </p:nvSpPr>
        <p:spPr>
          <a:xfrm>
            <a:off x="6400800" y="5065776"/>
            <a:ext cx="5242255" cy="566928"/>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se detiene lo que depende de ella</a:t>
            </a:r>
            <a:endParaRPr lang="es-CL" sz="1900" dirty="0"/>
          </a:p>
        </p:txBody>
      </p:sp>
      <p:sp>
        <p:nvSpPr>
          <p:cNvPr id="43" name="Shape 41"/>
          <p:cNvSpPr/>
          <p:nvPr/>
        </p:nvSpPr>
        <p:spPr>
          <a:xfrm>
            <a:off x="548640" y="5742432"/>
            <a:ext cx="11094415" cy="0"/>
          </a:xfrm>
          <a:prstGeom prst="line">
            <a:avLst/>
          </a:prstGeom>
          <a:noFill/>
          <a:ln w="9525">
            <a:solidFill>
              <a:schemeClr val="accent5"/>
            </a:solidFill>
            <a:prstDash val="solid"/>
          </a:ln>
        </p:spPr>
      </p:sp>
      <p:sp>
        <p:nvSpPr>
          <p:cNvPr id="44" name="Text 42"/>
          <p:cNvSpPr txBox="1"/>
          <p:nvPr/>
        </p:nvSpPr>
        <p:spPr>
          <a:xfrm>
            <a:off x="548640" y="5797296"/>
            <a:ext cx="7772400" cy="384048"/>
          </a:xfrm>
          <a:prstGeom prst="rect">
            <a:avLst/>
          </a:prstGeom>
          <a:noFill/>
          <a:ln/>
        </p:spPr>
        <p:txBody>
          <a:bodyPr wrap="square" lIns="0" tIns="0" rIns="0" bIns="0" rtlCol="0" anchor="ctr"/>
          <a:lstStyle/>
          <a:p>
            <a:pPr indent="0" marL="0">
              <a:buNone/>
            </a:pPr>
            <a:r>
              <a:rPr lang="es-CL" altLang="en-US" sz="1800" i="1" dirty="0">
                <a:solidFill>
                  <a:schemeClr val="accent1"/>
                </a:solidFill>
                <a:latin typeface="Instrument Serif" pitchFamily="34" charset="0"/>
                <a:ea typeface="Instrument Serif" pitchFamily="34" charset="-122"/>
                <a:cs typeface="Instrument Serif" pitchFamily="34" charset="-120"/>
              </a:rPr>
              <a:t>hacia la visión 2031 · lo que sigue: iniciativas y presupuesto por hito</a:t>
            </a:r>
            <a:endParaRPr lang="es-CL" sz="1800" dirty="0"/>
          </a:p>
        </p:txBody>
      </p:sp>
      <p:sp>
        <p:nvSpPr>
          <p:cNvPr id="45" name="Text 43"/>
          <p:cNvSpPr txBox="1"/>
          <p:nvPr/>
        </p:nvSpPr>
        <p:spPr>
          <a:xfrm>
            <a:off x="7985455" y="5797296"/>
            <a:ext cx="3657600" cy="384048"/>
          </a:xfrm>
          <a:prstGeom prst="rect">
            <a:avLst/>
          </a:prstGeom>
          <a:noFill/>
          <a:ln/>
        </p:spPr>
        <p:txBody>
          <a:bodyPr wrap="square" lIns="0" tIns="0" rIns="0" bIns="0" rtlCol="0" anchor="ctr"/>
          <a:lstStyle/>
          <a:p>
            <a:pPr algn="r" indent="0" marL="0">
              <a:buNone/>
            </a:pPr>
            <a:r>
              <a:rPr lang="es-CL" altLang="en-US" sz="1800" spc="100" kern="0" dirty="0">
                <a:solidFill>
                  <a:schemeClr val="tx1"/>
                </a:solidFill>
                <a:latin typeface="IBM Plex Mono" pitchFamily="34" charset="0"/>
                <a:ea typeface="IBM Plex Mono" pitchFamily="34" charset="-122"/>
                <a:cs typeface="IBM Plex Mono" pitchFamily="34" charset="-120"/>
              </a:rPr>
              <a:t>GRACIAS · ¿PREGUNTAS?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MATERIAL DE APOYO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preguntas.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Las fuentes de cada tema están al pie de su diapositiva.</a:t>
            </a:r>
            <a:endParaRPr lang="es-CL" sz="1100" dirty="0"/>
          </a:p>
        </p:txBody>
      </p:sp>
      <p:sp>
        <p:nvSpPr>
          <p:cNvPr id="5" name="Shape 3"/>
          <p:cNvSpPr/>
          <p:nvPr/>
        </p:nvSpPr>
        <p:spPr>
          <a:xfrm>
            <a:off x="548640" y="2414016"/>
            <a:ext cx="11094415" cy="0"/>
          </a:xfrm>
          <a:prstGeom prst="line">
            <a:avLst/>
          </a:prstGeom>
          <a:noFill/>
          <a:ln w="9525">
            <a:solidFill>
              <a:schemeClr val="accent5"/>
            </a:solidFill>
            <a:prstDash val="solid"/>
          </a:ln>
        </p:spPr>
      </p:sp>
      <p:sp>
        <p:nvSpPr>
          <p:cNvPr id="6" name="Shape 4"/>
          <p:cNvSpPr/>
          <p:nvPr/>
        </p:nvSpPr>
        <p:spPr>
          <a:xfrm>
            <a:off x="548640" y="2450592"/>
            <a:ext cx="566928" cy="265176"/>
          </a:xfrm>
          <a:prstGeom prst="rect">
            <a:avLst/>
          </a:prstGeom>
          <a:solidFill>
            <a:schemeClr val="accent1"/>
          </a:solidFill>
          <a:ln/>
        </p:spPr>
      </p:sp>
      <p:sp>
        <p:nvSpPr>
          <p:cNvPr id="7" name="Text 5"/>
          <p:cNvSpPr txBox="1"/>
          <p:nvPr/>
        </p:nvSpPr>
        <p:spPr>
          <a:xfrm>
            <a:off x="548640" y="245059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a:t>
            </a:r>
            <a:endParaRPr lang="es-CL" sz="1200" dirty="0"/>
          </a:p>
        </p:txBody>
      </p:sp>
      <p:sp>
        <p:nvSpPr>
          <p:cNvPr id="8" name="Text 6">
            <a:hlinkClick r:id="rId1" tooltip="Ir a ¿Por qué F1 se mide en dos etapas y no solo con el VAN?" action="ppaction://hlinksldjump"/>
          </p:cNvPr>
          <p:cNvSpPr txBox="1"/>
          <p:nvPr/>
        </p:nvSpPr>
        <p:spPr>
          <a:xfrm>
            <a:off x="1280160" y="241401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 action="ppaction://hlinksldjump" tooltip="Ir a ¿Por qué F1 se mide en dos etapas y no solo con el VAN?">
                  <a:extLst>
                    <a:ext uri="{A12FA001-AC4F-418D-AE19-62706E023703}">
                      <ahyp:hlinkClr xmlns:ahyp="http://schemas.microsoft.com/office/drawing/2018/hyperlinkcolor" val="tx"/>
                    </a:ext>
                  </a:extLst>
                </a:hlinkClick>
              </a:rPr>
              <a:t>¿Por qué F1 se mide en dos etapas y no solo con el VAN?</a:t>
            </a:r>
            <a:endParaRPr lang="en-US" sz="1700" dirty="0"/>
          </a:p>
        </p:txBody>
      </p:sp>
      <p:sp>
        <p:nvSpPr>
          <p:cNvPr id="9" name="Text 7">
            <a:hlinkClick r:id="rId2" tooltip="Ir a ¿Por qué F1 se mide en dos etapas y no solo con el VAN?" action="ppaction://hlinksldjump"/>
          </p:cNvPr>
          <p:cNvSpPr txBox="1"/>
          <p:nvPr/>
        </p:nvSpPr>
        <p:spPr>
          <a:xfrm>
            <a:off x="10637215" y="241401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 action="ppaction://hlinksldjump" tooltip="Ir a ¿Por qué F1 se mide en dos etapas y no solo con el VAN?">
                  <a:extLst>
                    <a:ext uri="{A12FA001-AC4F-418D-AE19-62706E023703}">
                      <ahyp:hlinkClr xmlns:ahyp="http://schemas.microsoft.com/office/drawing/2018/hyperlinkcolor" val="tx"/>
                    </a:ext>
                  </a:extLst>
                </a:hlinkClick>
              </a:rPr>
              <a:t>LÁM. 17</a:t>
            </a:r>
            <a:endParaRPr lang="en-US" sz="1300" dirty="0"/>
          </a:p>
        </p:txBody>
      </p:sp>
      <p:sp>
        <p:nvSpPr>
          <p:cNvPr id="10" name="Shape 8"/>
          <p:cNvSpPr/>
          <p:nvPr/>
        </p:nvSpPr>
        <p:spPr>
          <a:xfrm>
            <a:off x="548640" y="2752344"/>
            <a:ext cx="11094415" cy="0"/>
          </a:xfrm>
          <a:prstGeom prst="line">
            <a:avLst/>
          </a:prstGeom>
          <a:noFill/>
          <a:ln w="9525">
            <a:solidFill>
              <a:schemeClr val="accent5"/>
            </a:solidFill>
            <a:prstDash val="solid"/>
          </a:ln>
        </p:spPr>
      </p:sp>
      <p:sp>
        <p:nvSpPr>
          <p:cNvPr id="11" name="Shape 9"/>
          <p:cNvSpPr/>
          <p:nvPr/>
        </p:nvSpPr>
        <p:spPr>
          <a:xfrm>
            <a:off x="548640" y="2788920"/>
            <a:ext cx="566928" cy="265176"/>
          </a:xfrm>
          <a:prstGeom prst="rect">
            <a:avLst/>
          </a:prstGeom>
          <a:solidFill>
            <a:schemeClr val="accent1"/>
          </a:solidFill>
          <a:ln/>
        </p:spPr>
      </p:sp>
      <p:sp>
        <p:nvSpPr>
          <p:cNvPr id="12" name="Text 10"/>
          <p:cNvSpPr txBox="1"/>
          <p:nvPr/>
        </p:nvSpPr>
        <p:spPr>
          <a:xfrm>
            <a:off x="548640" y="278892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A2</a:t>
            </a:r>
            <a:endParaRPr lang="es-CL" sz="1200" dirty="0"/>
          </a:p>
        </p:txBody>
      </p:sp>
      <p:sp>
        <p:nvSpPr>
          <p:cNvPr id="13" name="Text 11">
            <a:hlinkClick r:id="rId3" tooltip="Ir a El CMI completo: objetivo, indicador, meta, responsable e iniciativa" action="ppaction://hlinksldjump"/>
          </p:cNvPr>
          <p:cNvSpPr txBox="1"/>
          <p:nvPr/>
        </p:nvSpPr>
        <p:spPr>
          <a:xfrm>
            <a:off x="1280160" y="275234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3" action="ppaction://hlinksldjump" tooltip="Ir a El CMI completo: objetivo, indicador, meta, responsable e iniciativa">
                  <a:extLst>
                    <a:ext uri="{A12FA001-AC4F-418D-AE19-62706E023703}">
                      <ahyp:hlinkClr xmlns:ahyp="http://schemas.microsoft.com/office/drawing/2018/hyperlinkcolor" val="tx"/>
                    </a:ext>
                  </a:extLst>
                </a:hlinkClick>
              </a:rPr>
              <a:t>El CMI completo: objetivo, indicador, meta, responsable e iniciativa  (4 láminas)</a:t>
            </a:r>
            <a:endParaRPr lang="en-US" sz="1700" dirty="0"/>
          </a:p>
        </p:txBody>
      </p:sp>
      <p:sp>
        <p:nvSpPr>
          <p:cNvPr id="14" name="Text 12">
            <a:hlinkClick r:id="rId4" tooltip="Ir a El CMI completo: objetivo, indicador, meta, responsable e iniciativa" action="ppaction://hlinksldjump"/>
          </p:cNvPr>
          <p:cNvSpPr txBox="1"/>
          <p:nvPr/>
        </p:nvSpPr>
        <p:spPr>
          <a:xfrm>
            <a:off x="10637215" y="275234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4" action="ppaction://hlinksldjump" tooltip="Ir a El CMI completo: objetivo, indicador, meta, responsable e iniciativa">
                  <a:extLst>
                    <a:ext uri="{A12FA001-AC4F-418D-AE19-62706E023703}">
                      <ahyp:hlinkClr xmlns:ahyp="http://schemas.microsoft.com/office/drawing/2018/hyperlinkcolor" val="tx"/>
                    </a:ext>
                  </a:extLst>
                </a:hlinkClick>
              </a:rPr>
              <a:t>LÁM. 18</a:t>
            </a:r>
            <a:endParaRPr lang="en-US" sz="1300" dirty="0"/>
          </a:p>
        </p:txBody>
      </p:sp>
      <p:sp>
        <p:nvSpPr>
          <p:cNvPr id="15" name="Shape 13"/>
          <p:cNvSpPr/>
          <p:nvPr/>
        </p:nvSpPr>
        <p:spPr>
          <a:xfrm>
            <a:off x="548640" y="3090672"/>
            <a:ext cx="11094415" cy="0"/>
          </a:xfrm>
          <a:prstGeom prst="line">
            <a:avLst/>
          </a:prstGeom>
          <a:noFill/>
          <a:ln w="9525">
            <a:solidFill>
              <a:schemeClr val="accent5"/>
            </a:solidFill>
            <a:prstDash val="solid"/>
          </a:ln>
        </p:spPr>
      </p:sp>
      <p:sp>
        <p:nvSpPr>
          <p:cNvPr id="16" name="Shape 14"/>
          <p:cNvSpPr/>
          <p:nvPr/>
        </p:nvSpPr>
        <p:spPr>
          <a:xfrm>
            <a:off x="548640" y="3127248"/>
            <a:ext cx="566928" cy="265176"/>
          </a:xfrm>
          <a:prstGeom prst="rect">
            <a:avLst/>
          </a:prstGeom>
          <a:solidFill>
            <a:schemeClr val="accent1"/>
          </a:solidFill>
          <a:ln/>
        </p:spPr>
      </p:sp>
      <p:sp>
        <p:nvSpPr>
          <p:cNvPr id="17" name="Text 15"/>
          <p:cNvSpPr txBox="1"/>
          <p:nvPr/>
        </p:nvSpPr>
        <p:spPr>
          <a:xfrm>
            <a:off x="548640" y="312724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A3</a:t>
            </a:r>
            <a:endParaRPr lang="es-CL" sz="1200" dirty="0"/>
          </a:p>
        </p:txBody>
      </p:sp>
      <p:sp>
        <p:nvSpPr>
          <p:cNvPr id="18" name="Text 16">
            <a:hlinkClick r:id="rId5" tooltip="Ir a Las 20 relaciones, con mecanismo y prueba" action="ppaction://hlinksldjump"/>
          </p:cNvPr>
          <p:cNvSpPr txBox="1"/>
          <p:nvPr/>
        </p:nvSpPr>
        <p:spPr>
          <a:xfrm>
            <a:off x="1280160" y="309067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5" action="ppaction://hlinksldjump" tooltip="Ir a Las 20 relaciones, con mecanismo y prueba">
                  <a:extLst>
                    <a:ext uri="{A12FA001-AC4F-418D-AE19-62706E023703}">
                      <ahyp:hlinkClr xmlns:ahyp="http://schemas.microsoft.com/office/drawing/2018/hyperlinkcolor" val="tx"/>
                    </a:ext>
                  </a:extLst>
                </a:hlinkClick>
              </a:rPr>
              <a:t>Las 20 relaciones, con mecanismo y prueba  (2 láminas)</a:t>
            </a:r>
            <a:endParaRPr lang="en-US" sz="1700" dirty="0"/>
          </a:p>
        </p:txBody>
      </p:sp>
      <p:sp>
        <p:nvSpPr>
          <p:cNvPr id="19" name="Text 17">
            <a:hlinkClick r:id="rId6" tooltip="Ir a Las 20 relaciones, con mecanismo y prueba" action="ppaction://hlinksldjump"/>
          </p:cNvPr>
          <p:cNvSpPr txBox="1"/>
          <p:nvPr/>
        </p:nvSpPr>
        <p:spPr>
          <a:xfrm>
            <a:off x="10637215" y="309067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6" action="ppaction://hlinksldjump" tooltip="Ir a Las 20 relaciones, con mecanismo y prueba">
                  <a:extLst>
                    <a:ext uri="{A12FA001-AC4F-418D-AE19-62706E023703}">
                      <ahyp:hlinkClr xmlns:ahyp="http://schemas.microsoft.com/office/drawing/2018/hyperlinkcolor" val="tx"/>
                    </a:ext>
                  </a:extLst>
                </a:hlinkClick>
              </a:rPr>
              <a:t>LÁM. 22</a:t>
            </a:r>
            <a:endParaRPr lang="en-US" sz="1300" dirty="0"/>
          </a:p>
        </p:txBody>
      </p:sp>
      <p:sp>
        <p:nvSpPr>
          <p:cNvPr id="20" name="Shape 18"/>
          <p:cNvSpPr/>
          <p:nvPr/>
        </p:nvSpPr>
        <p:spPr>
          <a:xfrm>
            <a:off x="548640" y="3429000"/>
            <a:ext cx="11094415" cy="0"/>
          </a:xfrm>
          <a:prstGeom prst="line">
            <a:avLst/>
          </a:prstGeom>
          <a:noFill/>
          <a:ln w="9525">
            <a:solidFill>
              <a:schemeClr val="accent5"/>
            </a:solidFill>
            <a:prstDash val="solid"/>
          </a:ln>
        </p:spPr>
      </p:sp>
      <p:sp>
        <p:nvSpPr>
          <p:cNvPr id="21" name="Shape 19"/>
          <p:cNvSpPr/>
          <p:nvPr/>
        </p:nvSpPr>
        <p:spPr>
          <a:xfrm>
            <a:off x="548640" y="3465576"/>
            <a:ext cx="566928" cy="265176"/>
          </a:xfrm>
          <a:prstGeom prst="rect">
            <a:avLst/>
          </a:prstGeom>
          <a:solidFill>
            <a:schemeClr val="accent1"/>
          </a:solidFill>
          <a:ln/>
        </p:spPr>
      </p:sp>
      <p:sp>
        <p:nvSpPr>
          <p:cNvPr id="22" name="Text 20"/>
          <p:cNvSpPr txBox="1"/>
          <p:nvPr/>
        </p:nvSpPr>
        <p:spPr>
          <a:xfrm>
            <a:off x="548640" y="346557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A4</a:t>
            </a:r>
            <a:endParaRPr lang="es-CL" sz="1200" dirty="0"/>
          </a:p>
        </p:txBody>
      </p:sp>
      <p:sp>
        <p:nvSpPr>
          <p:cNvPr id="23" name="Text 21">
            <a:hlinkClick r:id="rId7" tooltip="Ir a ¿Qué cambió frente a la propuesta de 17 objetivos y 30 relaciones?" action="ppaction://hlinksldjump"/>
          </p:cNvPr>
          <p:cNvSpPr txBox="1"/>
          <p:nvPr/>
        </p:nvSpPr>
        <p:spPr>
          <a:xfrm>
            <a:off x="1280160" y="342900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7" action="ppaction://hlinksldjump" tooltip="Ir a ¿Qué cambió frente a la propuesta de 17 objetivos y 30 relaciones?">
                  <a:extLst>
                    <a:ext uri="{A12FA001-AC4F-418D-AE19-62706E023703}">
                      <ahyp:hlinkClr xmlns:ahyp="http://schemas.microsoft.com/office/drawing/2018/hyperlinkcolor" val="tx"/>
                    </a:ext>
                  </a:extLst>
                </a:hlinkClick>
              </a:rPr>
              <a:t>¿Qué cambió frente a la propuesta de 17 objetivos y 30 relaciones?</a:t>
            </a:r>
            <a:endParaRPr lang="en-US" sz="1700" dirty="0"/>
          </a:p>
        </p:txBody>
      </p:sp>
      <p:sp>
        <p:nvSpPr>
          <p:cNvPr id="24" name="Text 22">
            <a:hlinkClick r:id="rId8" tooltip="Ir a ¿Qué cambió frente a la propuesta de 17 objetivos y 30 relaciones?" action="ppaction://hlinksldjump"/>
          </p:cNvPr>
          <p:cNvSpPr txBox="1"/>
          <p:nvPr/>
        </p:nvSpPr>
        <p:spPr>
          <a:xfrm>
            <a:off x="10637215" y="342900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8" action="ppaction://hlinksldjump" tooltip="Ir a ¿Qué cambió frente a la propuesta de 17 objetivos y 30 relaciones?">
                  <a:extLst>
                    <a:ext uri="{A12FA001-AC4F-418D-AE19-62706E023703}">
                      <ahyp:hlinkClr xmlns:ahyp="http://schemas.microsoft.com/office/drawing/2018/hyperlinkcolor" val="tx"/>
                    </a:ext>
                  </a:extLst>
                </a:hlinkClick>
              </a:rPr>
              <a:t>LÁM. 24</a:t>
            </a:r>
            <a:endParaRPr lang="en-US" sz="1300" dirty="0"/>
          </a:p>
        </p:txBody>
      </p:sp>
      <p:sp>
        <p:nvSpPr>
          <p:cNvPr id="25" name="Shape 23"/>
          <p:cNvSpPr/>
          <p:nvPr/>
        </p:nvSpPr>
        <p:spPr>
          <a:xfrm>
            <a:off x="548640" y="3767328"/>
            <a:ext cx="11094415" cy="0"/>
          </a:xfrm>
          <a:prstGeom prst="line">
            <a:avLst/>
          </a:prstGeom>
          <a:noFill/>
          <a:ln w="9525">
            <a:solidFill>
              <a:schemeClr val="accent5"/>
            </a:solidFill>
            <a:prstDash val="solid"/>
          </a:ln>
        </p:spPr>
      </p:sp>
      <p:sp>
        <p:nvSpPr>
          <p:cNvPr id="26" name="Shape 24"/>
          <p:cNvSpPr/>
          <p:nvPr/>
        </p:nvSpPr>
        <p:spPr>
          <a:xfrm>
            <a:off x="548640" y="3803904"/>
            <a:ext cx="566928" cy="265176"/>
          </a:xfrm>
          <a:prstGeom prst="rect">
            <a:avLst/>
          </a:prstGeom>
          <a:solidFill>
            <a:schemeClr val="accent1"/>
          </a:solidFill>
          <a:ln/>
        </p:spPr>
      </p:sp>
      <p:sp>
        <p:nvSpPr>
          <p:cNvPr id="27" name="Text 25"/>
          <p:cNvSpPr txBox="1"/>
          <p:nvPr/>
        </p:nvSpPr>
        <p:spPr>
          <a:xfrm>
            <a:off x="548640" y="380390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A5</a:t>
            </a:r>
            <a:endParaRPr lang="es-CL" sz="1200" dirty="0"/>
          </a:p>
        </p:txBody>
      </p:sp>
      <p:sp>
        <p:nvSpPr>
          <p:cNvPr id="28" name="Text 26">
            <a:hlinkClick r:id="rId9" tooltip="Ir a ¿Cómo se lee cada estado del tablero?" action="ppaction://hlinksldjump"/>
          </p:cNvPr>
          <p:cNvSpPr txBox="1"/>
          <p:nvPr/>
        </p:nvSpPr>
        <p:spPr>
          <a:xfrm>
            <a:off x="1280160" y="376732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9" action="ppaction://hlinksldjump" tooltip="Ir a ¿Cómo se lee cada estado del tablero?">
                  <a:extLst>
                    <a:ext uri="{A12FA001-AC4F-418D-AE19-62706E023703}">
                      <ahyp:hlinkClr xmlns:ahyp="http://schemas.microsoft.com/office/drawing/2018/hyperlinkcolor" val="tx"/>
                    </a:ext>
                  </a:extLst>
                </a:hlinkClick>
              </a:rPr>
              <a:t>¿Cómo se lee cada estado del tablero?</a:t>
            </a:r>
            <a:endParaRPr lang="en-US" sz="1700" dirty="0"/>
          </a:p>
        </p:txBody>
      </p:sp>
      <p:sp>
        <p:nvSpPr>
          <p:cNvPr id="29" name="Text 27">
            <a:hlinkClick r:id="rId10" tooltip="Ir a ¿Cómo se lee cada estado del tablero?" action="ppaction://hlinksldjump"/>
          </p:cNvPr>
          <p:cNvSpPr txBox="1"/>
          <p:nvPr/>
        </p:nvSpPr>
        <p:spPr>
          <a:xfrm>
            <a:off x="10637215" y="376732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0" action="ppaction://hlinksldjump" tooltip="Ir a ¿Cómo se lee cada estado del tablero?">
                  <a:extLst>
                    <a:ext uri="{A12FA001-AC4F-418D-AE19-62706E023703}">
                      <ahyp:hlinkClr xmlns:ahyp="http://schemas.microsoft.com/office/drawing/2018/hyperlinkcolor" val="tx"/>
                    </a:ext>
                  </a:extLst>
                </a:hlinkClick>
              </a:rPr>
              <a:t>LÁM. 25</a:t>
            </a:r>
            <a:endParaRPr lang="en-US" sz="1300" dirty="0"/>
          </a:p>
        </p:txBody>
      </p:sp>
      <p:sp>
        <p:nvSpPr>
          <p:cNvPr id="30" name="Shape 28"/>
          <p:cNvSpPr/>
          <p:nvPr/>
        </p:nvSpPr>
        <p:spPr>
          <a:xfrm>
            <a:off x="548640" y="4105656"/>
            <a:ext cx="11094415" cy="0"/>
          </a:xfrm>
          <a:prstGeom prst="line">
            <a:avLst/>
          </a:prstGeom>
          <a:noFill/>
          <a:ln w="9525">
            <a:solidFill>
              <a:schemeClr val="accent5"/>
            </a:solidFill>
            <a:prstDash val="solid"/>
          </a:ln>
        </p:spPr>
      </p:sp>
      <p:sp>
        <p:nvSpPr>
          <p:cNvPr id="31" name="Shape 29"/>
          <p:cNvSpPr/>
          <p:nvPr/>
        </p:nvSpPr>
        <p:spPr>
          <a:xfrm>
            <a:off x="548640" y="4142232"/>
            <a:ext cx="566928" cy="265176"/>
          </a:xfrm>
          <a:prstGeom prst="rect">
            <a:avLst/>
          </a:prstGeom>
          <a:solidFill>
            <a:schemeClr val="accent1"/>
          </a:solidFill>
          <a:ln/>
        </p:spPr>
      </p:sp>
      <p:sp>
        <p:nvSpPr>
          <p:cNvPr id="32" name="Text 30"/>
          <p:cNvSpPr txBox="1"/>
          <p:nvPr/>
        </p:nvSpPr>
        <p:spPr>
          <a:xfrm>
            <a:off x="548640" y="414223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A6</a:t>
            </a:r>
            <a:endParaRPr lang="es-CL" sz="1200" dirty="0"/>
          </a:p>
        </p:txBody>
      </p:sp>
      <p:sp>
        <p:nvSpPr>
          <p:cNvPr id="33" name="Text 31">
            <a:hlinkClick r:id="rId11" tooltip="Ir a ¿Qué iniciativas mueven los objetivos?" action="ppaction://hlinksldjump"/>
          </p:cNvPr>
          <p:cNvSpPr txBox="1"/>
          <p:nvPr/>
        </p:nvSpPr>
        <p:spPr>
          <a:xfrm>
            <a:off x="1280160" y="410565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1" action="ppaction://hlinksldjump" tooltip="Ir a ¿Qué iniciativas mueven los objetivos?">
                  <a:extLst>
                    <a:ext uri="{A12FA001-AC4F-418D-AE19-62706E023703}">
                      <ahyp:hlinkClr xmlns:ahyp="http://schemas.microsoft.com/office/drawing/2018/hyperlinkcolor" val="tx"/>
                    </a:ext>
                  </a:extLst>
                </a:hlinkClick>
              </a:rPr>
              <a:t>¿Qué iniciativas mueven los objetivos?</a:t>
            </a:r>
            <a:endParaRPr lang="en-US" sz="1700" dirty="0"/>
          </a:p>
        </p:txBody>
      </p:sp>
      <p:sp>
        <p:nvSpPr>
          <p:cNvPr id="34" name="Text 32">
            <a:hlinkClick r:id="rId12" tooltip="Ir a ¿Qué iniciativas mueven los objetivos?" action="ppaction://hlinksldjump"/>
          </p:cNvPr>
          <p:cNvSpPr txBox="1"/>
          <p:nvPr/>
        </p:nvSpPr>
        <p:spPr>
          <a:xfrm>
            <a:off x="10637215" y="410565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2" action="ppaction://hlinksldjump" tooltip="Ir a ¿Qué iniciativas mueven los objetivos?">
                  <a:extLst>
                    <a:ext uri="{A12FA001-AC4F-418D-AE19-62706E023703}">
                      <ahyp:hlinkClr xmlns:ahyp="http://schemas.microsoft.com/office/drawing/2018/hyperlinkcolor" val="tx"/>
                    </a:ext>
                  </a:extLst>
                </a:hlinkClick>
              </a:rPr>
              <a:t>LÁM. 26</a:t>
            </a:r>
            <a:endParaRPr lang="en-US" sz="1300" dirty="0"/>
          </a:p>
        </p:txBody>
      </p:sp>
      <p:sp>
        <p:nvSpPr>
          <p:cNvPr id="35" name="Shape 33"/>
          <p:cNvSpPr/>
          <p:nvPr/>
        </p:nvSpPr>
        <p:spPr>
          <a:xfrm>
            <a:off x="548640" y="4443984"/>
            <a:ext cx="11094415" cy="0"/>
          </a:xfrm>
          <a:prstGeom prst="line">
            <a:avLst/>
          </a:prstGeom>
          <a:noFill/>
          <a:ln w="9525">
            <a:solidFill>
              <a:schemeClr val="accent5"/>
            </a:solidFill>
            <a:prstDash val="solid"/>
          </a:ln>
        </p:spPr>
      </p:sp>
      <p:sp>
        <p:nvSpPr>
          <p:cNvPr id="36" name="Shape 34"/>
          <p:cNvSpPr/>
          <p:nvPr/>
        </p:nvSpPr>
        <p:spPr>
          <a:xfrm>
            <a:off x="548640" y="4480560"/>
            <a:ext cx="566928" cy="265176"/>
          </a:xfrm>
          <a:prstGeom prst="rect">
            <a:avLst/>
          </a:prstGeom>
          <a:solidFill>
            <a:schemeClr val="accent1"/>
          </a:solidFill>
          <a:ln/>
        </p:spPr>
      </p:sp>
      <p:sp>
        <p:nvSpPr>
          <p:cNvPr id="37" name="Text 35"/>
          <p:cNvSpPr txBox="1"/>
          <p:nvPr/>
        </p:nvSpPr>
        <p:spPr>
          <a:xfrm>
            <a:off x="548640" y="448056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A7</a:t>
            </a:r>
            <a:endParaRPr lang="es-CL" sz="1200" dirty="0"/>
          </a:p>
        </p:txBody>
      </p:sp>
      <p:sp>
        <p:nvSpPr>
          <p:cNvPr id="38" name="Text 36">
            <a:hlinkClick r:id="rId13" tooltip="Ir a FODA por perspectivas del CMI" action="ppaction://hlinksldjump"/>
          </p:cNvPr>
          <p:cNvSpPr txBox="1"/>
          <p:nvPr/>
        </p:nvSpPr>
        <p:spPr>
          <a:xfrm>
            <a:off x="1280160" y="444398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3" action="ppaction://hlinksldjump" tooltip="Ir a FODA por perspectivas del CMI">
                  <a:extLst>
                    <a:ext uri="{A12FA001-AC4F-418D-AE19-62706E023703}">
                      <ahyp:hlinkClr xmlns:ahyp="http://schemas.microsoft.com/office/drawing/2018/hyperlinkcolor" val="tx"/>
                    </a:ext>
                  </a:extLst>
                </a:hlinkClick>
              </a:rPr>
              <a:t>FODA por perspectivas del CMI</a:t>
            </a:r>
            <a:endParaRPr lang="en-US" sz="1700" dirty="0"/>
          </a:p>
        </p:txBody>
      </p:sp>
      <p:sp>
        <p:nvSpPr>
          <p:cNvPr id="39" name="Text 37">
            <a:hlinkClick r:id="rId14" tooltip="Ir a FODA por perspectivas del CMI" action="ppaction://hlinksldjump"/>
          </p:cNvPr>
          <p:cNvSpPr txBox="1"/>
          <p:nvPr/>
        </p:nvSpPr>
        <p:spPr>
          <a:xfrm>
            <a:off x="10637215" y="444398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4" action="ppaction://hlinksldjump" tooltip="Ir a FODA por perspectivas del CMI">
                  <a:extLst>
                    <a:ext uri="{A12FA001-AC4F-418D-AE19-62706E023703}">
                      <ahyp:hlinkClr xmlns:ahyp="http://schemas.microsoft.com/office/drawing/2018/hyperlinkcolor" val="tx"/>
                    </a:ext>
                  </a:extLst>
                </a:hlinkClick>
              </a:rPr>
              <a:t>LÁM. 27</a:t>
            </a:r>
            <a:endParaRPr lang="en-US" sz="1300" dirty="0"/>
          </a:p>
        </p:txBody>
      </p:sp>
      <p:sp>
        <p:nvSpPr>
          <p:cNvPr id="40" name="Shape 38"/>
          <p:cNvSpPr/>
          <p:nvPr/>
        </p:nvSpPr>
        <p:spPr>
          <a:xfrm>
            <a:off x="548640" y="4782312"/>
            <a:ext cx="11094415" cy="0"/>
          </a:xfrm>
          <a:prstGeom prst="line">
            <a:avLst/>
          </a:prstGeom>
          <a:noFill/>
          <a:ln w="9525">
            <a:solidFill>
              <a:schemeClr val="accent5"/>
            </a:solidFill>
            <a:prstDash val="solid"/>
          </a:ln>
        </p:spPr>
      </p:sp>
      <p:sp>
        <p:nvSpPr>
          <p:cNvPr id="41" name="Shape 39"/>
          <p:cNvSpPr/>
          <p:nvPr/>
        </p:nvSpPr>
        <p:spPr>
          <a:xfrm>
            <a:off x="548640" y="4818888"/>
            <a:ext cx="566928" cy="265176"/>
          </a:xfrm>
          <a:prstGeom prst="rect">
            <a:avLst/>
          </a:prstGeom>
          <a:solidFill>
            <a:schemeClr val="accent1"/>
          </a:solidFill>
          <a:ln/>
        </p:spPr>
      </p:sp>
      <p:sp>
        <p:nvSpPr>
          <p:cNvPr id="42" name="Text 40"/>
          <p:cNvSpPr txBox="1"/>
          <p:nvPr/>
        </p:nvSpPr>
        <p:spPr>
          <a:xfrm>
            <a:off x="548640" y="481888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A8</a:t>
            </a:r>
            <a:endParaRPr lang="es-CL" sz="1200" dirty="0"/>
          </a:p>
        </p:txBody>
      </p:sp>
      <p:sp>
        <p:nvSpPr>
          <p:cNvPr id="43" name="Text 41">
            <a:hlinkClick r:id="rId15" tooltip="Ir a Cadena de valor" action="ppaction://hlinksldjump"/>
          </p:cNvPr>
          <p:cNvSpPr txBox="1"/>
          <p:nvPr/>
        </p:nvSpPr>
        <p:spPr>
          <a:xfrm>
            <a:off x="1280160" y="478231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5" action="ppaction://hlinksldjump" tooltip="Ir a Cadena de valor">
                  <a:extLst>
                    <a:ext uri="{A12FA001-AC4F-418D-AE19-62706E023703}">
                      <ahyp:hlinkClr xmlns:ahyp="http://schemas.microsoft.com/office/drawing/2018/hyperlinkcolor" val="tx"/>
                    </a:ext>
                  </a:extLst>
                </a:hlinkClick>
              </a:rPr>
              <a:t>Cadena de valor</a:t>
            </a:r>
            <a:endParaRPr lang="en-US" sz="1700" dirty="0"/>
          </a:p>
        </p:txBody>
      </p:sp>
      <p:sp>
        <p:nvSpPr>
          <p:cNvPr id="44" name="Text 42">
            <a:hlinkClick r:id="rId16" tooltip="Ir a Cadena de valor" action="ppaction://hlinksldjump"/>
          </p:cNvPr>
          <p:cNvSpPr txBox="1"/>
          <p:nvPr/>
        </p:nvSpPr>
        <p:spPr>
          <a:xfrm>
            <a:off x="10637215" y="478231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6" action="ppaction://hlinksldjump" tooltip="Ir a Cadena de valor">
                  <a:extLst>
                    <a:ext uri="{A12FA001-AC4F-418D-AE19-62706E023703}">
                      <ahyp:hlinkClr xmlns:ahyp="http://schemas.microsoft.com/office/drawing/2018/hyperlinkcolor" val="tx"/>
                    </a:ext>
                  </a:extLst>
                </a:hlinkClick>
              </a:rPr>
              <a:t>LÁM. 28</a:t>
            </a:r>
            <a:endParaRPr lang="en-US" sz="1300" dirty="0"/>
          </a:p>
        </p:txBody>
      </p:sp>
      <p:sp>
        <p:nvSpPr>
          <p:cNvPr id="45" name="Shape 43"/>
          <p:cNvSpPr/>
          <p:nvPr/>
        </p:nvSpPr>
        <p:spPr>
          <a:xfrm>
            <a:off x="548640" y="5120640"/>
            <a:ext cx="11094415" cy="0"/>
          </a:xfrm>
          <a:prstGeom prst="line">
            <a:avLst/>
          </a:prstGeom>
          <a:noFill/>
          <a:ln w="9525">
            <a:solidFill>
              <a:schemeClr val="accent5"/>
            </a:solidFill>
            <a:prstDash val="solid"/>
          </a:ln>
        </p:spPr>
      </p:sp>
      <p:sp>
        <p:nvSpPr>
          <p:cNvPr id="46" name="Shape 44"/>
          <p:cNvSpPr/>
          <p:nvPr/>
        </p:nvSpPr>
        <p:spPr>
          <a:xfrm>
            <a:off x="548640" y="5157216"/>
            <a:ext cx="566928" cy="265176"/>
          </a:xfrm>
          <a:prstGeom prst="rect">
            <a:avLst/>
          </a:prstGeom>
          <a:solidFill>
            <a:schemeClr val="accent1"/>
          </a:solidFill>
          <a:ln/>
        </p:spPr>
      </p:sp>
      <p:sp>
        <p:nvSpPr>
          <p:cNvPr id="47" name="Text 45"/>
          <p:cNvSpPr txBox="1"/>
          <p:nvPr/>
        </p:nvSpPr>
        <p:spPr>
          <a:xfrm>
            <a:off x="548640" y="515721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A9</a:t>
            </a:r>
            <a:endParaRPr lang="es-CL" sz="1200" dirty="0"/>
          </a:p>
        </p:txBody>
      </p:sp>
      <p:sp>
        <p:nvSpPr>
          <p:cNvPr id="48" name="Text 46">
            <a:hlinkClick r:id="rId17" tooltip="Ir a PEST y cinco fuerzas, con su método" action="ppaction://hlinksldjump"/>
          </p:cNvPr>
          <p:cNvSpPr txBox="1"/>
          <p:nvPr/>
        </p:nvSpPr>
        <p:spPr>
          <a:xfrm>
            <a:off x="1280160" y="512064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7" action="ppaction://hlinksldjump" tooltip="Ir a PEST y cinco fuerzas, con su método">
                  <a:extLst>
                    <a:ext uri="{A12FA001-AC4F-418D-AE19-62706E023703}">
                      <ahyp:hlinkClr xmlns:ahyp="http://schemas.microsoft.com/office/drawing/2018/hyperlinkcolor" val="tx"/>
                    </a:ext>
                  </a:extLst>
                </a:hlinkClick>
              </a:rPr>
              <a:t>PEST y cinco fuerzas, con su método</a:t>
            </a:r>
            <a:endParaRPr lang="en-US" sz="1700" dirty="0"/>
          </a:p>
        </p:txBody>
      </p:sp>
      <p:sp>
        <p:nvSpPr>
          <p:cNvPr id="49" name="Text 47">
            <a:hlinkClick r:id="rId18" tooltip="Ir a PEST y cinco fuerzas, con su método" action="ppaction://hlinksldjump"/>
          </p:cNvPr>
          <p:cNvSpPr txBox="1"/>
          <p:nvPr/>
        </p:nvSpPr>
        <p:spPr>
          <a:xfrm>
            <a:off x="10637215" y="512064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8" action="ppaction://hlinksldjump" tooltip="Ir a PEST y cinco fuerzas, con su método">
                  <a:extLst>
                    <a:ext uri="{A12FA001-AC4F-418D-AE19-62706E023703}">
                      <ahyp:hlinkClr xmlns:ahyp="http://schemas.microsoft.com/office/drawing/2018/hyperlinkcolor" val="tx"/>
                    </a:ext>
                  </a:extLst>
                </a:hlinkClick>
              </a:rPr>
              <a:t>LÁM. 29</a:t>
            </a:r>
            <a:endParaRPr lang="en-US" sz="1300" dirty="0"/>
          </a:p>
        </p:txBody>
      </p:sp>
      <p:sp>
        <p:nvSpPr>
          <p:cNvPr id="50" name="Shape 48"/>
          <p:cNvSpPr/>
          <p:nvPr/>
        </p:nvSpPr>
        <p:spPr>
          <a:xfrm>
            <a:off x="548640" y="5458968"/>
            <a:ext cx="11094415" cy="0"/>
          </a:xfrm>
          <a:prstGeom prst="line">
            <a:avLst/>
          </a:prstGeom>
          <a:noFill/>
          <a:ln w="9525">
            <a:solidFill>
              <a:schemeClr val="accent5"/>
            </a:solidFill>
            <a:prstDash val="solid"/>
          </a:ln>
        </p:spPr>
      </p:sp>
      <p:sp>
        <p:nvSpPr>
          <p:cNvPr id="51" name="Shape 49"/>
          <p:cNvSpPr/>
          <p:nvPr/>
        </p:nvSpPr>
        <p:spPr>
          <a:xfrm>
            <a:off x="548640" y="5495544"/>
            <a:ext cx="566928" cy="265176"/>
          </a:xfrm>
          <a:prstGeom prst="rect">
            <a:avLst/>
          </a:prstGeom>
          <a:solidFill>
            <a:schemeClr val="accent1"/>
          </a:solidFill>
          <a:ln/>
        </p:spPr>
      </p:sp>
      <p:sp>
        <p:nvSpPr>
          <p:cNvPr id="52" name="Text 50"/>
          <p:cNvSpPr txBox="1"/>
          <p:nvPr/>
        </p:nvSpPr>
        <p:spPr>
          <a:xfrm>
            <a:off x="548640" y="549554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A10</a:t>
            </a:r>
            <a:endParaRPr lang="es-CL" sz="1200" dirty="0"/>
          </a:p>
        </p:txBody>
      </p:sp>
      <p:sp>
        <p:nvSpPr>
          <p:cNvPr id="53" name="Text 51">
            <a:hlinkClick r:id="rId19" tooltip="Ir a Misión, visión y valores completos" action="ppaction://hlinksldjump"/>
          </p:cNvPr>
          <p:cNvSpPr txBox="1"/>
          <p:nvPr/>
        </p:nvSpPr>
        <p:spPr>
          <a:xfrm>
            <a:off x="1280160" y="545896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9" action="ppaction://hlinksldjump" tooltip="Ir a Misión, visión y valores completos">
                  <a:extLst>
                    <a:ext uri="{A12FA001-AC4F-418D-AE19-62706E023703}">
                      <ahyp:hlinkClr xmlns:ahyp="http://schemas.microsoft.com/office/drawing/2018/hyperlinkcolor" val="tx"/>
                    </a:ext>
                  </a:extLst>
                </a:hlinkClick>
              </a:rPr>
              <a:t>Misión, visión y valores completos</a:t>
            </a:r>
            <a:endParaRPr lang="en-US" sz="1700" dirty="0"/>
          </a:p>
        </p:txBody>
      </p:sp>
      <p:sp>
        <p:nvSpPr>
          <p:cNvPr id="54" name="Text 52">
            <a:hlinkClick r:id="rId20" tooltip="Ir a Misión, visión y valores completos" action="ppaction://hlinksldjump"/>
          </p:cNvPr>
          <p:cNvSpPr txBox="1"/>
          <p:nvPr/>
        </p:nvSpPr>
        <p:spPr>
          <a:xfrm>
            <a:off x="10637215" y="545896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0" action="ppaction://hlinksldjump" tooltip="Ir a Misión, visión y valores completos">
                  <a:extLst>
                    <a:ext uri="{A12FA001-AC4F-418D-AE19-62706E023703}">
                      <ahyp:hlinkClr xmlns:ahyp="http://schemas.microsoft.com/office/drawing/2018/hyperlinkcolor" val="tx"/>
                    </a:ext>
                  </a:extLst>
                </a:hlinkClick>
              </a:rPr>
              <a:t>LÁM. 30</a:t>
            </a:r>
            <a:endParaRPr lang="en-US" sz="1300" dirty="0"/>
          </a:p>
        </p:txBody>
      </p:sp>
      <p:sp>
        <p:nvSpPr>
          <p:cNvPr id="55" name="Shape 53"/>
          <p:cNvSpPr/>
          <p:nvPr/>
        </p:nvSpPr>
        <p:spPr>
          <a:xfrm>
            <a:off x="548640" y="5797296"/>
            <a:ext cx="11094415" cy="0"/>
          </a:xfrm>
          <a:prstGeom prst="line">
            <a:avLst/>
          </a:prstGeom>
          <a:noFill/>
          <a:ln w="9525">
            <a:solidFill>
              <a:schemeClr val="accent5"/>
            </a:solidFill>
            <a:prstDash val="solid"/>
          </a:ln>
        </p:spPr>
      </p:sp>
      <p:sp>
        <p:nvSpPr>
          <p:cNvPr id="56" name="Shape 54"/>
          <p:cNvSpPr/>
          <p:nvPr/>
        </p:nvSpPr>
        <p:spPr>
          <a:xfrm>
            <a:off x="548640" y="5833872"/>
            <a:ext cx="566928" cy="265176"/>
          </a:xfrm>
          <a:prstGeom prst="rect">
            <a:avLst/>
          </a:prstGeom>
          <a:solidFill>
            <a:schemeClr val="accent1"/>
          </a:solidFill>
          <a:ln/>
        </p:spPr>
      </p:sp>
      <p:sp>
        <p:nvSpPr>
          <p:cNvPr id="57" name="Text 55"/>
          <p:cNvSpPr txBox="1"/>
          <p:nvPr/>
        </p:nvSpPr>
        <p:spPr>
          <a:xfrm>
            <a:off x="548640" y="583387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A11</a:t>
            </a:r>
            <a:endParaRPr lang="es-CL" sz="1200" dirty="0"/>
          </a:p>
        </p:txBody>
      </p:sp>
      <p:sp>
        <p:nvSpPr>
          <p:cNvPr id="58" name="Text 56">
            <a:hlinkClick r:id="rId21" tooltip="Ir a ¿Qué es dato, qué es propuesta y qué falta?" action="ppaction://hlinksldjump"/>
          </p:cNvPr>
          <p:cNvSpPr txBox="1"/>
          <p:nvPr/>
        </p:nvSpPr>
        <p:spPr>
          <a:xfrm>
            <a:off x="1280160" y="579729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21" action="ppaction://hlinksldjump" tooltip="Ir a ¿Qué es dato, qué es propuesta y qué falta?">
                  <a:extLst>
                    <a:ext uri="{A12FA001-AC4F-418D-AE19-62706E023703}">
                      <ahyp:hlinkClr xmlns:ahyp="http://schemas.microsoft.com/office/drawing/2018/hyperlinkcolor" val="tx"/>
                    </a:ext>
                  </a:extLst>
                </a:hlinkClick>
              </a:rPr>
              <a:t>¿Qué es dato, qué es propuesta y qué falta?</a:t>
            </a:r>
            <a:endParaRPr lang="en-US" sz="1700" dirty="0"/>
          </a:p>
        </p:txBody>
      </p:sp>
      <p:sp>
        <p:nvSpPr>
          <p:cNvPr id="59" name="Text 57">
            <a:hlinkClick r:id="rId22" tooltip="Ir a ¿Qué es dato, qué es propuesta y qué falta?" action="ppaction://hlinksldjump"/>
          </p:cNvPr>
          <p:cNvSpPr txBox="1"/>
          <p:nvPr/>
        </p:nvSpPr>
        <p:spPr>
          <a:xfrm>
            <a:off x="10637215" y="579729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2" action="ppaction://hlinksldjump" tooltip="Ir a ¿Qué es dato, qué es propuesta y qué falta?">
                  <a:extLst>
                    <a:ext uri="{A12FA001-AC4F-418D-AE19-62706E023703}">
                      <ahyp:hlinkClr xmlns:ahyp="http://schemas.microsoft.com/office/drawing/2018/hyperlinkcolor" val="tx"/>
                    </a:ext>
                  </a:extLst>
                </a:hlinkClick>
              </a:rPr>
              <a:t>LÁM. 31</a:t>
            </a:r>
            <a:endParaRPr lang="en-US" sz="1300" dirty="0"/>
          </a:p>
        </p:txBody>
      </p:sp>
      <p:sp>
        <p:nvSpPr>
          <p:cNvPr id="60" name="Shape 58"/>
          <p:cNvSpPr/>
          <p:nvPr/>
        </p:nvSpPr>
        <p:spPr>
          <a:xfrm>
            <a:off x="548640" y="613562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PERSPECTIVA FINANCIERA · F1</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F1 SE MIDE EN DOS ETAPAS: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decidir invertir y controlar la operación.</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original de Lumine; módulo 4 del curso (creación de valor sobre el costo de capital). Sin cifras de Lumine.</a:t>
            </a:r>
            <a:endParaRPr lang="es-CL" sz="1100" dirty="0"/>
          </a:p>
        </p:txBody>
      </p:sp>
      <p:sp>
        <p:nvSpPr>
          <p:cNvPr id="6" name="Shape 4"/>
          <p:cNvSpPr/>
          <p:nvPr/>
        </p:nvSpPr>
        <p:spPr>
          <a:xfrm>
            <a:off x="548640" y="2395728"/>
            <a:ext cx="5364328" cy="3108960"/>
          </a:xfrm>
          <a:prstGeom prst="rect">
            <a:avLst/>
          </a:prstGeom>
          <a:solidFill>
            <a:srgbClr val="0B1A22"/>
          </a:solidFill>
          <a:ln w="15875">
            <a:solidFill>
              <a:schemeClr val="accent1"/>
            </a:solidFill>
            <a:prstDash val="solid"/>
          </a:ln>
        </p:spPr>
      </p:sp>
      <p:sp>
        <p:nvSpPr>
          <p:cNvPr id="7" name="Shape 5"/>
          <p:cNvSpPr/>
          <p:nvPr/>
        </p:nvSpPr>
        <p:spPr>
          <a:xfrm>
            <a:off x="493776" y="2340864"/>
            <a:ext cx="155448" cy="0"/>
          </a:xfrm>
          <a:prstGeom prst="line">
            <a:avLst/>
          </a:prstGeom>
          <a:noFill/>
          <a:ln w="15875">
            <a:solidFill>
              <a:schemeClr val="accent1"/>
            </a:solidFill>
            <a:prstDash val="solid"/>
          </a:ln>
        </p:spPr>
      </p:sp>
      <p:sp>
        <p:nvSpPr>
          <p:cNvPr id="8" name="Shape 6"/>
          <p:cNvSpPr/>
          <p:nvPr/>
        </p:nvSpPr>
        <p:spPr>
          <a:xfrm>
            <a:off x="493776" y="2340864"/>
            <a:ext cx="0" cy="155448"/>
          </a:xfrm>
          <a:prstGeom prst="line">
            <a:avLst/>
          </a:prstGeom>
          <a:noFill/>
          <a:ln w="15875">
            <a:solidFill>
              <a:schemeClr val="accent1"/>
            </a:solidFill>
            <a:prstDash val="solid"/>
          </a:ln>
        </p:spPr>
      </p:sp>
      <p:sp>
        <p:nvSpPr>
          <p:cNvPr id="9" name="Shape 7"/>
          <p:cNvSpPr/>
          <p:nvPr/>
        </p:nvSpPr>
        <p:spPr>
          <a:xfrm>
            <a:off x="5812384" y="2340864"/>
            <a:ext cx="155448" cy="0"/>
          </a:xfrm>
          <a:prstGeom prst="line">
            <a:avLst/>
          </a:prstGeom>
          <a:noFill/>
          <a:ln w="15875">
            <a:solidFill>
              <a:schemeClr val="accent1"/>
            </a:solidFill>
            <a:prstDash val="solid"/>
          </a:ln>
        </p:spPr>
      </p:sp>
      <p:sp>
        <p:nvSpPr>
          <p:cNvPr id="10" name="Shape 8"/>
          <p:cNvSpPr/>
          <p:nvPr/>
        </p:nvSpPr>
        <p:spPr>
          <a:xfrm>
            <a:off x="5967832" y="2340864"/>
            <a:ext cx="0" cy="155448"/>
          </a:xfrm>
          <a:prstGeom prst="line">
            <a:avLst/>
          </a:prstGeom>
          <a:noFill/>
          <a:ln w="15875">
            <a:solidFill>
              <a:schemeClr val="accent1"/>
            </a:solidFill>
            <a:prstDash val="solid"/>
          </a:ln>
        </p:spPr>
      </p:sp>
      <p:sp>
        <p:nvSpPr>
          <p:cNvPr id="11" name="Shape 9"/>
          <p:cNvSpPr/>
          <p:nvPr/>
        </p:nvSpPr>
        <p:spPr>
          <a:xfrm>
            <a:off x="493776" y="5559552"/>
            <a:ext cx="155448" cy="0"/>
          </a:xfrm>
          <a:prstGeom prst="line">
            <a:avLst/>
          </a:prstGeom>
          <a:noFill/>
          <a:ln w="15875">
            <a:solidFill>
              <a:schemeClr val="accent1"/>
            </a:solidFill>
            <a:prstDash val="solid"/>
          </a:ln>
        </p:spPr>
      </p:sp>
      <p:sp>
        <p:nvSpPr>
          <p:cNvPr id="12" name="Shape 10"/>
          <p:cNvSpPr/>
          <p:nvPr/>
        </p:nvSpPr>
        <p:spPr>
          <a:xfrm>
            <a:off x="493776" y="5404104"/>
            <a:ext cx="0" cy="155448"/>
          </a:xfrm>
          <a:prstGeom prst="line">
            <a:avLst/>
          </a:prstGeom>
          <a:noFill/>
          <a:ln w="15875">
            <a:solidFill>
              <a:schemeClr val="accent1"/>
            </a:solidFill>
            <a:prstDash val="solid"/>
          </a:ln>
        </p:spPr>
      </p:sp>
      <p:sp>
        <p:nvSpPr>
          <p:cNvPr id="13" name="Shape 11"/>
          <p:cNvSpPr/>
          <p:nvPr/>
        </p:nvSpPr>
        <p:spPr>
          <a:xfrm>
            <a:off x="5812384" y="5559552"/>
            <a:ext cx="155448" cy="0"/>
          </a:xfrm>
          <a:prstGeom prst="line">
            <a:avLst/>
          </a:prstGeom>
          <a:noFill/>
          <a:ln w="15875">
            <a:solidFill>
              <a:schemeClr val="accent1"/>
            </a:solidFill>
            <a:prstDash val="solid"/>
          </a:ln>
        </p:spPr>
      </p:sp>
      <p:sp>
        <p:nvSpPr>
          <p:cNvPr id="14" name="Shape 12"/>
          <p:cNvSpPr/>
          <p:nvPr/>
        </p:nvSpPr>
        <p:spPr>
          <a:xfrm>
            <a:off x="5967832" y="5404104"/>
            <a:ext cx="0" cy="155448"/>
          </a:xfrm>
          <a:prstGeom prst="line">
            <a:avLst/>
          </a:prstGeom>
          <a:noFill/>
          <a:ln w="15875">
            <a:solidFill>
              <a:schemeClr val="accent1"/>
            </a:solidFill>
            <a:prstDash val="solid"/>
          </a:ln>
        </p:spPr>
      </p:sp>
      <p:sp>
        <p:nvSpPr>
          <p:cNvPr id="15" name="Text 13"/>
          <p:cNvSpPr txBox="1"/>
          <p:nvPr/>
        </p:nvSpPr>
        <p:spPr>
          <a:xfrm>
            <a:off x="804672" y="2578608"/>
            <a:ext cx="490712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1 · ANTES DE INVERTIR</a:t>
            </a:r>
            <a:endParaRPr lang="es-CL" sz="1300" dirty="0"/>
          </a:p>
        </p:txBody>
      </p:sp>
      <p:sp>
        <p:nvSpPr>
          <p:cNvPr id="16" name="Text 14"/>
          <p:cNvSpPr txBox="1"/>
          <p:nvPr/>
        </p:nvSpPr>
        <p:spPr>
          <a:xfrm>
            <a:off x="804672" y="2898648"/>
            <a:ext cx="4907128" cy="685800"/>
          </a:xfrm>
          <a:prstGeom prst="rect">
            <a:avLst/>
          </a:prstGeom>
          <a:noFill/>
          <a:ln/>
        </p:spPr>
        <p:txBody>
          <a:bodyPr wrap="square" lIns="0" tIns="0" rIns="0" bIns="0" rtlCol="0" anchor="t"/>
          <a:lstStyle/>
          <a:p>
            <a:pPr indent="0" marL="0">
              <a:buNone/>
            </a:pPr>
            <a:r>
              <a:rPr lang="es-CL" altLang="en-US" sz="2100" b="1" dirty="0">
                <a:solidFill>
                  <a:schemeClr val="tx1"/>
                </a:solidFill>
                <a:latin typeface="Figtree" pitchFamily="34" charset="0"/>
                <a:ea typeface="Figtree" pitchFamily="34" charset="-122"/>
                <a:cs typeface="Figtree" pitchFamily="34" charset="-120"/>
              </a:rPr>
              <a:t>VAN &gt; 0 y TIR &gt; tasa exigida</a:t>
            </a:r>
            <a:endParaRPr lang="es-CL" sz="2100" dirty="0"/>
          </a:p>
        </p:txBody>
      </p:sp>
      <p:sp>
        <p:nvSpPr>
          <p:cNvPr id="17" name="Shape 15"/>
          <p:cNvSpPr/>
          <p:nvPr/>
        </p:nvSpPr>
        <p:spPr>
          <a:xfrm>
            <a:off x="804672" y="3721608"/>
            <a:ext cx="4852264" cy="0"/>
          </a:xfrm>
          <a:prstGeom prst="line">
            <a:avLst/>
          </a:prstGeom>
          <a:noFill/>
          <a:ln w="9525">
            <a:solidFill>
              <a:schemeClr val="accent5"/>
            </a:solidFill>
            <a:prstDash val="solid"/>
          </a:ln>
        </p:spPr>
      </p:sp>
      <p:sp>
        <p:nvSpPr>
          <p:cNvPr id="18" name="Text 16"/>
          <p:cNvSpPr txBox="1"/>
          <p:nvPr/>
        </p:nvSpPr>
        <p:spPr>
          <a:xfrm>
            <a:off x="804672" y="3721608"/>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MIDE</a:t>
            </a:r>
            <a:endParaRPr lang="es-CL" sz="1200" dirty="0"/>
          </a:p>
        </p:txBody>
      </p:sp>
      <p:sp>
        <p:nvSpPr>
          <p:cNvPr id="19" name="Text 17"/>
          <p:cNvSpPr txBox="1"/>
          <p:nvPr/>
        </p:nvSpPr>
        <p:spPr>
          <a:xfrm>
            <a:off x="1828800" y="3721608"/>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si conviene invertir, con flujos proyectados</a:t>
            </a:r>
            <a:endParaRPr lang="es-CL" sz="1600" dirty="0"/>
          </a:p>
        </p:txBody>
      </p:sp>
      <p:sp>
        <p:nvSpPr>
          <p:cNvPr id="20" name="Shape 18"/>
          <p:cNvSpPr/>
          <p:nvPr/>
        </p:nvSpPr>
        <p:spPr>
          <a:xfrm>
            <a:off x="804672" y="4288536"/>
            <a:ext cx="4852264" cy="0"/>
          </a:xfrm>
          <a:prstGeom prst="line">
            <a:avLst/>
          </a:prstGeom>
          <a:noFill/>
          <a:ln w="9525">
            <a:solidFill>
              <a:schemeClr val="accent5"/>
            </a:solidFill>
            <a:prstDash val="solid"/>
          </a:ln>
        </p:spPr>
      </p:sp>
      <p:sp>
        <p:nvSpPr>
          <p:cNvPr id="21" name="Text 19"/>
          <p:cNvSpPr txBox="1"/>
          <p:nvPr/>
        </p:nvSpPr>
        <p:spPr>
          <a:xfrm>
            <a:off x="804672" y="4288536"/>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CUÁNDO</a:t>
            </a:r>
            <a:endParaRPr lang="es-CL" sz="1200" dirty="0"/>
          </a:p>
        </p:txBody>
      </p:sp>
      <p:sp>
        <p:nvSpPr>
          <p:cNvPr id="22" name="Text 20"/>
          <p:cNvSpPr txBox="1"/>
          <p:nvPr/>
        </p:nvSpPr>
        <p:spPr>
          <a:xfrm>
            <a:off x="1828800" y="4288536"/>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una vez, con el Plan Financiero</a:t>
            </a:r>
            <a:endParaRPr lang="es-CL" sz="1600" dirty="0"/>
          </a:p>
        </p:txBody>
      </p:sp>
      <p:sp>
        <p:nvSpPr>
          <p:cNvPr id="23" name="Shape 21"/>
          <p:cNvSpPr/>
          <p:nvPr/>
        </p:nvSpPr>
        <p:spPr>
          <a:xfrm>
            <a:off x="804672" y="4855464"/>
            <a:ext cx="4852264" cy="0"/>
          </a:xfrm>
          <a:prstGeom prst="line">
            <a:avLst/>
          </a:prstGeom>
          <a:noFill/>
          <a:ln w="9525">
            <a:solidFill>
              <a:schemeClr val="accent5"/>
            </a:solidFill>
            <a:prstDash val="solid"/>
          </a:ln>
        </p:spPr>
      </p:sp>
      <p:sp>
        <p:nvSpPr>
          <p:cNvPr id="24" name="Text 22"/>
          <p:cNvSpPr txBox="1"/>
          <p:nvPr/>
        </p:nvSpPr>
        <p:spPr>
          <a:xfrm>
            <a:off x="804672" y="4855464"/>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FALTA</a:t>
            </a:r>
            <a:endParaRPr lang="es-CL" sz="1200" dirty="0"/>
          </a:p>
        </p:txBody>
      </p:sp>
      <p:sp>
        <p:nvSpPr>
          <p:cNvPr id="25" name="Text 23"/>
          <p:cNvSpPr txBox="1"/>
          <p:nvPr/>
        </p:nvSpPr>
        <p:spPr>
          <a:xfrm>
            <a:off x="1828800" y="4855464"/>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flujos, inversión inicial y tasa sustentada</a:t>
            </a:r>
            <a:endParaRPr lang="es-CL" sz="1600" dirty="0"/>
          </a:p>
        </p:txBody>
      </p:sp>
      <p:sp>
        <p:nvSpPr>
          <p:cNvPr id="26" name="Shape 24"/>
          <p:cNvSpPr/>
          <p:nvPr/>
        </p:nvSpPr>
        <p:spPr>
          <a:xfrm>
            <a:off x="6278728" y="2395728"/>
            <a:ext cx="5364328" cy="3108960"/>
          </a:xfrm>
          <a:prstGeom prst="rect">
            <a:avLst/>
          </a:prstGeom>
          <a:solidFill>
            <a:schemeClr val="bg2"/>
          </a:solidFill>
          <a:ln w="12700">
            <a:solidFill>
              <a:schemeClr val="accent1"/>
            </a:solidFill>
            <a:prstDash val="solid"/>
          </a:ln>
        </p:spPr>
      </p:sp>
      <p:sp>
        <p:nvSpPr>
          <p:cNvPr id="27" name="Text 25"/>
          <p:cNvSpPr txBox="1"/>
          <p:nvPr/>
        </p:nvSpPr>
        <p:spPr>
          <a:xfrm>
            <a:off x="6534760" y="2578608"/>
            <a:ext cx="490712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2 · OPERANDO</a:t>
            </a:r>
            <a:endParaRPr lang="es-CL" sz="1300" dirty="0"/>
          </a:p>
        </p:txBody>
      </p:sp>
      <p:sp>
        <p:nvSpPr>
          <p:cNvPr id="28" name="Text 26"/>
          <p:cNvSpPr txBox="1"/>
          <p:nvPr/>
        </p:nvSpPr>
        <p:spPr>
          <a:xfrm>
            <a:off x="6534760" y="2898648"/>
            <a:ext cx="4907128" cy="685800"/>
          </a:xfrm>
          <a:prstGeom prst="rect">
            <a:avLst/>
          </a:prstGeom>
          <a:noFill/>
          <a:ln/>
        </p:spPr>
        <p:txBody>
          <a:bodyPr wrap="square" lIns="0" tIns="0" rIns="0" bIns="0" rtlCol="0" anchor="t"/>
          <a:lstStyle/>
          <a:p>
            <a:pPr indent="0" marL="0">
              <a:buNone/>
            </a:pPr>
            <a:r>
              <a:rPr lang="es-CL" altLang="en-US" sz="2100" b="1" dirty="0">
                <a:solidFill>
                  <a:schemeClr val="tx1"/>
                </a:solidFill>
                <a:latin typeface="Figtree" pitchFamily="34" charset="0"/>
                <a:ea typeface="Figtree" pitchFamily="34" charset="-122"/>
                <a:cs typeface="Figtree" pitchFamily="34" charset="-120"/>
              </a:rPr>
              <a:t>Retorno sobre el capital empleado frente a su costo</a:t>
            </a:r>
            <a:endParaRPr lang="es-CL" sz="2100" dirty="0"/>
          </a:p>
        </p:txBody>
      </p:sp>
      <p:sp>
        <p:nvSpPr>
          <p:cNvPr id="29" name="Shape 27"/>
          <p:cNvSpPr/>
          <p:nvPr/>
        </p:nvSpPr>
        <p:spPr>
          <a:xfrm>
            <a:off x="6534760" y="3721608"/>
            <a:ext cx="4852264" cy="0"/>
          </a:xfrm>
          <a:prstGeom prst="line">
            <a:avLst/>
          </a:prstGeom>
          <a:noFill/>
          <a:ln w="9525">
            <a:solidFill>
              <a:schemeClr val="accent5"/>
            </a:solidFill>
            <a:prstDash val="solid"/>
          </a:ln>
        </p:spPr>
      </p:sp>
      <p:sp>
        <p:nvSpPr>
          <p:cNvPr id="30" name="Text 28"/>
          <p:cNvSpPr txBox="1"/>
          <p:nvPr/>
        </p:nvSpPr>
        <p:spPr>
          <a:xfrm>
            <a:off x="6534760" y="3721608"/>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MIDE</a:t>
            </a:r>
            <a:endParaRPr lang="es-CL" sz="1200" dirty="0"/>
          </a:p>
        </p:txBody>
      </p:sp>
      <p:sp>
        <p:nvSpPr>
          <p:cNvPr id="31" name="Text 29"/>
          <p:cNvSpPr txBox="1"/>
          <p:nvPr/>
        </p:nvSpPr>
        <p:spPr>
          <a:xfrm>
            <a:off x="7558888" y="3721608"/>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si la operación rinde más que el capital</a:t>
            </a:r>
            <a:endParaRPr lang="es-CL" sz="1600" dirty="0"/>
          </a:p>
        </p:txBody>
      </p:sp>
      <p:sp>
        <p:nvSpPr>
          <p:cNvPr id="32" name="Shape 30"/>
          <p:cNvSpPr/>
          <p:nvPr/>
        </p:nvSpPr>
        <p:spPr>
          <a:xfrm>
            <a:off x="6534760" y="4288536"/>
            <a:ext cx="4852264" cy="0"/>
          </a:xfrm>
          <a:prstGeom prst="line">
            <a:avLst/>
          </a:prstGeom>
          <a:noFill/>
          <a:ln w="9525">
            <a:solidFill>
              <a:schemeClr val="accent5"/>
            </a:solidFill>
            <a:prstDash val="solid"/>
          </a:ln>
        </p:spPr>
      </p:sp>
      <p:sp>
        <p:nvSpPr>
          <p:cNvPr id="33" name="Text 31"/>
          <p:cNvSpPr txBox="1"/>
          <p:nvPr/>
        </p:nvSpPr>
        <p:spPr>
          <a:xfrm>
            <a:off x="6534760" y="4288536"/>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CUÁNDO</a:t>
            </a:r>
            <a:endParaRPr lang="es-CL" sz="1200" dirty="0"/>
          </a:p>
        </p:txBody>
      </p:sp>
      <p:sp>
        <p:nvSpPr>
          <p:cNvPr id="34" name="Text 32"/>
          <p:cNvSpPr txBox="1"/>
          <p:nvPr/>
        </p:nvSpPr>
        <p:spPr>
          <a:xfrm>
            <a:off x="7558888" y="4288536"/>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cada ejercicio</a:t>
            </a:r>
            <a:endParaRPr lang="es-CL" sz="1600" dirty="0"/>
          </a:p>
        </p:txBody>
      </p:sp>
      <p:sp>
        <p:nvSpPr>
          <p:cNvPr id="35" name="Shape 33"/>
          <p:cNvSpPr/>
          <p:nvPr/>
        </p:nvSpPr>
        <p:spPr>
          <a:xfrm>
            <a:off x="6534760" y="4855464"/>
            <a:ext cx="4852264" cy="0"/>
          </a:xfrm>
          <a:prstGeom prst="line">
            <a:avLst/>
          </a:prstGeom>
          <a:noFill/>
          <a:ln w="9525">
            <a:solidFill>
              <a:schemeClr val="accent5"/>
            </a:solidFill>
            <a:prstDash val="solid"/>
          </a:ln>
        </p:spPr>
      </p:sp>
      <p:sp>
        <p:nvSpPr>
          <p:cNvPr id="36" name="Text 34"/>
          <p:cNvSpPr txBox="1"/>
          <p:nvPr/>
        </p:nvSpPr>
        <p:spPr>
          <a:xfrm>
            <a:off x="6534760" y="4855464"/>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FALTA</a:t>
            </a:r>
            <a:endParaRPr lang="es-CL" sz="1200" dirty="0"/>
          </a:p>
        </p:txBody>
      </p:sp>
      <p:sp>
        <p:nvSpPr>
          <p:cNvPr id="37" name="Text 35"/>
          <p:cNvSpPr txBox="1"/>
          <p:nvPr/>
        </p:nvSpPr>
        <p:spPr>
          <a:xfrm>
            <a:off x="7558888" y="4855464"/>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resultados, capital empleado y costo de capital</a:t>
            </a:r>
            <a:endParaRPr lang="es-CL" sz="1600" dirty="0"/>
          </a:p>
        </p:txBody>
      </p:sp>
      <p:sp>
        <p:nvSpPr>
          <p:cNvPr id="38" name="Text 36"/>
          <p:cNvSpPr txBox="1"/>
          <p:nvPr/>
        </p:nvSpPr>
        <p:spPr>
          <a:xfrm>
            <a:off x="548640" y="5733288"/>
            <a:ext cx="11094415" cy="45720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Un VAN positivo autoriza invertir; </a:t>
            </a:r>
            <a:pPr indent="0" marL="0">
              <a:buNone/>
            </a:pPr>
            <a:r>
              <a:rPr lang="es-CL" altLang="en-US" sz="2000" b="1" dirty="0">
                <a:solidFill>
                  <a:schemeClr val="accent1"/>
                </a:solidFill>
                <a:latin typeface="Figtree" pitchFamily="34" charset="0"/>
                <a:ea typeface="Figtree" pitchFamily="34" charset="-122"/>
                <a:cs typeface="Figtree" pitchFamily="34" charset="-120"/>
              </a:rPr>
              <a:t>no demuestra que la operación rinda.</a:t>
            </a:r>
            <a:endParaRPr lang="es-CL" sz="20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 · APRENDIZAJE Y CRECIMIENTO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aprendizaje y crecimiento.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Responsables según la estructura de la Fase 3; metas propuestas por el equipo.</a:t>
            </a:r>
            <a:endParaRPr lang="es-CL" sz="1100" dirty="0"/>
          </a:p>
        </p:txBody>
      </p:sp>
      <p:sp>
        <p:nvSpPr>
          <p:cNvPr id="6" name="Text 4"/>
          <p:cNvSpPr txBox="1"/>
          <p:nvPr/>
        </p:nvSpPr>
        <p:spPr>
          <a:xfrm>
            <a:off x="548640" y="239572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39572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395728"/>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395728"/>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395728"/>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706624"/>
            <a:ext cx="11094415" cy="0"/>
          </a:xfrm>
          <a:prstGeom prst="line">
            <a:avLst/>
          </a:prstGeom>
          <a:noFill/>
          <a:ln w="9525">
            <a:solidFill>
              <a:schemeClr val="accent1"/>
            </a:solidFill>
            <a:prstDash val="solid"/>
          </a:ln>
        </p:spPr>
      </p:sp>
      <p:sp>
        <p:nvSpPr>
          <p:cNvPr id="12" name="Shape 10"/>
          <p:cNvSpPr/>
          <p:nvPr/>
        </p:nvSpPr>
        <p:spPr>
          <a:xfrm>
            <a:off x="548640" y="2935224"/>
            <a:ext cx="548640" cy="292608"/>
          </a:xfrm>
          <a:prstGeom prst="rect">
            <a:avLst/>
          </a:prstGeom>
          <a:solidFill>
            <a:schemeClr val="accent5"/>
          </a:solidFill>
          <a:ln/>
        </p:spPr>
      </p:sp>
      <p:sp>
        <p:nvSpPr>
          <p:cNvPr id="13" name="Shape 11"/>
          <p:cNvSpPr/>
          <p:nvPr/>
        </p:nvSpPr>
        <p:spPr>
          <a:xfrm>
            <a:off x="548640" y="2935224"/>
            <a:ext cx="548640" cy="45720"/>
          </a:xfrm>
          <a:prstGeom prst="rect">
            <a:avLst/>
          </a:prstGeom>
          <a:solidFill>
            <a:srgbClr val="0A6F9E"/>
          </a:solidFill>
          <a:ln/>
        </p:spPr>
      </p:sp>
      <p:sp>
        <p:nvSpPr>
          <p:cNvPr id="14" name="Text 12"/>
          <p:cNvSpPr txBox="1"/>
          <p:nvPr/>
        </p:nvSpPr>
        <p:spPr>
          <a:xfrm>
            <a:off x="548640" y="293522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a:t>
            </a:r>
            <a:endParaRPr lang="es-CL" sz="1200" dirty="0"/>
          </a:p>
        </p:txBody>
      </p:sp>
      <p:sp>
        <p:nvSpPr>
          <p:cNvPr id="15" name="Text 13"/>
          <p:cNvSpPr txBox="1"/>
          <p:nvPr/>
        </p:nvSpPr>
        <p:spPr>
          <a:xfrm>
            <a:off x="1280160" y="2706624"/>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Biblioteca de calibraciones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Calibraciones registradas y controladas ÷ generadas</a:t>
            </a:r>
            <a:endParaRPr lang="es-CL" sz="1300" dirty="0"/>
          </a:p>
        </p:txBody>
      </p:sp>
      <p:sp>
        <p:nvSpPr>
          <p:cNvPr id="16" name="Text 14"/>
          <p:cNvSpPr txBox="1"/>
          <p:nvPr/>
        </p:nvSpPr>
        <p:spPr>
          <a:xfrm>
            <a:off x="5486400" y="2706624"/>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antes de reutilizar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17" name="Text 15"/>
          <p:cNvSpPr txBox="1"/>
          <p:nvPr/>
        </p:nvSpPr>
        <p:spPr>
          <a:xfrm>
            <a:off x="7818120" y="2706624"/>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18" name="Text 16"/>
          <p:cNvSpPr txBox="1"/>
          <p:nvPr/>
        </p:nvSpPr>
        <p:spPr>
          <a:xfrm>
            <a:off x="9601200" y="2706624"/>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Repositorio versionado con control de acceso</a:t>
            </a:r>
            <a:endParaRPr lang="es-CL" sz="1300" dirty="0"/>
          </a:p>
        </p:txBody>
      </p:sp>
      <p:sp>
        <p:nvSpPr>
          <p:cNvPr id="19" name="Shape 17"/>
          <p:cNvSpPr/>
          <p:nvPr/>
        </p:nvSpPr>
        <p:spPr>
          <a:xfrm>
            <a:off x="548640" y="3456432"/>
            <a:ext cx="11094415" cy="0"/>
          </a:xfrm>
          <a:prstGeom prst="line">
            <a:avLst/>
          </a:prstGeom>
          <a:noFill/>
          <a:ln w="9525">
            <a:solidFill>
              <a:schemeClr val="accent5"/>
            </a:solidFill>
            <a:prstDash val="solid"/>
          </a:ln>
        </p:spPr>
      </p:sp>
      <p:sp>
        <p:nvSpPr>
          <p:cNvPr id="20" name="Shape 18"/>
          <p:cNvSpPr/>
          <p:nvPr/>
        </p:nvSpPr>
        <p:spPr>
          <a:xfrm>
            <a:off x="548640" y="3685032"/>
            <a:ext cx="548640" cy="292608"/>
          </a:xfrm>
          <a:prstGeom prst="rect">
            <a:avLst/>
          </a:prstGeom>
          <a:solidFill>
            <a:schemeClr val="accent5"/>
          </a:solidFill>
          <a:ln/>
        </p:spPr>
      </p:sp>
      <p:sp>
        <p:nvSpPr>
          <p:cNvPr id="21" name="Shape 19"/>
          <p:cNvSpPr/>
          <p:nvPr/>
        </p:nvSpPr>
        <p:spPr>
          <a:xfrm>
            <a:off x="548640" y="3685032"/>
            <a:ext cx="548640" cy="45720"/>
          </a:xfrm>
          <a:prstGeom prst="rect">
            <a:avLst/>
          </a:prstGeom>
          <a:solidFill>
            <a:srgbClr val="0A6F9E"/>
          </a:solidFill>
          <a:ln/>
        </p:spPr>
      </p:sp>
      <p:sp>
        <p:nvSpPr>
          <p:cNvPr id="22" name="Text 20"/>
          <p:cNvSpPr txBox="1"/>
          <p:nvPr/>
        </p:nvSpPr>
        <p:spPr>
          <a:xfrm>
            <a:off x="548640" y="368503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A2</a:t>
            </a:r>
            <a:endParaRPr lang="es-CL" sz="1200" dirty="0"/>
          </a:p>
        </p:txBody>
      </p:sp>
      <p:sp>
        <p:nvSpPr>
          <p:cNvPr id="23" name="Text 21"/>
          <p:cNvSpPr txBox="1"/>
          <p:nvPr/>
        </p:nvSpPr>
        <p:spPr>
          <a:xfrm>
            <a:off x="1280160" y="3456432"/>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Técnicos habilitados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Técnicos con validación vigente ÷ asignados</a:t>
            </a:r>
            <a:endParaRPr lang="es-CL" sz="1300" dirty="0"/>
          </a:p>
        </p:txBody>
      </p:sp>
      <p:sp>
        <p:nvSpPr>
          <p:cNvPr id="24" name="Text 22"/>
          <p:cNvSpPr txBox="1"/>
          <p:nvPr/>
        </p:nvSpPr>
        <p:spPr>
          <a:xfrm>
            <a:off x="5486400" y="3456432"/>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antes de tareas críticas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25" name="Text 23"/>
          <p:cNvSpPr txBox="1"/>
          <p:nvPr/>
        </p:nvSpPr>
        <p:spPr>
          <a:xfrm>
            <a:off x="7818120" y="3456432"/>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26" name="Text 24"/>
          <p:cNvSpPr txBox="1"/>
          <p:nvPr/>
        </p:nvSpPr>
        <p:spPr>
          <a:xfrm>
            <a:off x="9601200" y="3456432"/>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Ruta de habilitación en Lumine Habilita</a:t>
            </a:r>
            <a:endParaRPr lang="es-CL" sz="1300" dirty="0"/>
          </a:p>
        </p:txBody>
      </p:sp>
      <p:sp>
        <p:nvSpPr>
          <p:cNvPr id="27" name="Shape 25"/>
          <p:cNvSpPr/>
          <p:nvPr/>
        </p:nvSpPr>
        <p:spPr>
          <a:xfrm>
            <a:off x="548640" y="4206240"/>
            <a:ext cx="11094415" cy="0"/>
          </a:xfrm>
          <a:prstGeom prst="line">
            <a:avLst/>
          </a:prstGeom>
          <a:noFill/>
          <a:ln w="9525">
            <a:solidFill>
              <a:schemeClr val="accent5"/>
            </a:solidFill>
            <a:prstDash val="solid"/>
          </a:ln>
        </p:spPr>
      </p:sp>
      <p:sp>
        <p:nvSpPr>
          <p:cNvPr id="28" name="Shape 26"/>
          <p:cNvSpPr/>
          <p:nvPr/>
        </p:nvSpPr>
        <p:spPr>
          <a:xfrm>
            <a:off x="548640" y="4434840"/>
            <a:ext cx="548640" cy="292608"/>
          </a:xfrm>
          <a:prstGeom prst="rect">
            <a:avLst/>
          </a:prstGeom>
          <a:solidFill>
            <a:schemeClr val="accent5"/>
          </a:solidFill>
          <a:ln/>
        </p:spPr>
      </p:sp>
      <p:sp>
        <p:nvSpPr>
          <p:cNvPr id="29" name="Shape 27"/>
          <p:cNvSpPr/>
          <p:nvPr/>
        </p:nvSpPr>
        <p:spPr>
          <a:xfrm>
            <a:off x="548640" y="4434840"/>
            <a:ext cx="548640" cy="45720"/>
          </a:xfrm>
          <a:prstGeom prst="rect">
            <a:avLst/>
          </a:prstGeom>
          <a:solidFill>
            <a:srgbClr val="0A6F9E"/>
          </a:solidFill>
          <a:ln/>
        </p:spPr>
      </p:sp>
      <p:sp>
        <p:nvSpPr>
          <p:cNvPr id="30" name="Text 28"/>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A3</a:t>
            </a:r>
            <a:endParaRPr lang="es-CL" sz="1200" dirty="0"/>
          </a:p>
        </p:txBody>
      </p:sp>
      <p:sp>
        <p:nvSpPr>
          <p:cNvPr id="31" name="Text 29"/>
          <p:cNvSpPr txBox="1"/>
          <p:nvPr/>
        </p:nvSpPr>
        <p:spPr>
          <a:xfrm>
            <a:off x="1280160" y="4206240"/>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Protocolo de medición</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Protocolos de prueba aprobados</a:t>
            </a:r>
            <a:endParaRPr lang="es-CL" sz="1300" dirty="0"/>
          </a:p>
        </p:txBody>
      </p:sp>
      <p:sp>
        <p:nvSpPr>
          <p:cNvPr id="32" name="Text 30"/>
          <p:cNvSpPr txBox="1"/>
          <p:nvPr/>
        </p:nvSpPr>
        <p:spPr>
          <a:xfrm>
            <a:off x="5486400" y="4206240"/>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antes del primer piloto</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33" name="Text 31"/>
          <p:cNvSpPr txBox="1"/>
          <p:nvPr/>
        </p:nvSpPr>
        <p:spPr>
          <a:xfrm>
            <a:off x="7818120" y="4206240"/>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34" name="Text 32"/>
          <p:cNvSpPr txBox="1"/>
          <p:nvPr/>
        </p:nvSpPr>
        <p:spPr>
          <a:xfrm>
            <a:off x="9601200" y="4206240"/>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Protocolo antes y después con línea base del mismo auto</a:t>
            </a:r>
            <a:endParaRPr lang="es-CL" sz="1300" dirty="0"/>
          </a:p>
        </p:txBody>
      </p:sp>
      <p:sp>
        <p:nvSpPr>
          <p:cNvPr id="35" name="Shape 33"/>
          <p:cNvSpPr/>
          <p:nvPr/>
        </p:nvSpPr>
        <p:spPr>
          <a:xfrm>
            <a:off x="548640" y="4956048"/>
            <a:ext cx="11094415" cy="0"/>
          </a:xfrm>
          <a:prstGeom prst="line">
            <a:avLst/>
          </a:prstGeom>
          <a:noFill/>
          <a:ln w="9525">
            <a:solidFill>
              <a:schemeClr val="accent5"/>
            </a:solidFill>
            <a:prstDash val="solid"/>
          </a:ln>
        </p:spPr>
      </p:sp>
      <p:sp>
        <p:nvSpPr>
          <p:cNvPr id="36" name="Shape 34"/>
          <p:cNvSpPr/>
          <p:nvPr/>
        </p:nvSpPr>
        <p:spPr>
          <a:xfrm>
            <a:off x="548640" y="5184648"/>
            <a:ext cx="548640" cy="292608"/>
          </a:xfrm>
          <a:prstGeom prst="rect">
            <a:avLst/>
          </a:prstGeom>
          <a:solidFill>
            <a:schemeClr val="accent5"/>
          </a:solidFill>
          <a:ln/>
        </p:spPr>
      </p:sp>
      <p:sp>
        <p:nvSpPr>
          <p:cNvPr id="37" name="Shape 35"/>
          <p:cNvSpPr/>
          <p:nvPr/>
        </p:nvSpPr>
        <p:spPr>
          <a:xfrm>
            <a:off x="548640" y="5184648"/>
            <a:ext cx="548640" cy="45720"/>
          </a:xfrm>
          <a:prstGeom prst="rect">
            <a:avLst/>
          </a:prstGeom>
          <a:solidFill>
            <a:srgbClr val="0A6F9E"/>
          </a:solidFill>
          <a:ln/>
        </p:spPr>
      </p:sp>
      <p:sp>
        <p:nvSpPr>
          <p:cNvPr id="38" name="Text 36"/>
          <p:cNvSpPr txBox="1"/>
          <p:nvPr/>
        </p:nvSpPr>
        <p:spPr>
          <a:xfrm>
            <a:off x="548640" y="518464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A4</a:t>
            </a:r>
            <a:endParaRPr lang="es-CL" sz="1200" dirty="0"/>
          </a:p>
        </p:txBody>
      </p:sp>
      <p:sp>
        <p:nvSpPr>
          <p:cNvPr id="39" name="Text 37"/>
          <p:cNvSpPr txBox="1"/>
          <p:nvPr/>
        </p:nvSpPr>
        <p:spPr>
          <a:xfrm>
            <a:off x="1280160" y="4956048"/>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Lumine Habilita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Componentes de habilitación documentados ÷ definidos</a:t>
            </a:r>
            <a:endParaRPr lang="es-CL" sz="1300" dirty="0"/>
          </a:p>
        </p:txBody>
      </p:sp>
      <p:sp>
        <p:nvSpPr>
          <p:cNvPr id="40" name="Text 38"/>
          <p:cNvSpPr txBox="1"/>
          <p:nvPr/>
        </p:nvSpPr>
        <p:spPr>
          <a:xfrm>
            <a:off x="5486400" y="4956048"/>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del paquete mínimo antes de licenciar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41" name="Text 39"/>
          <p:cNvSpPr txBox="1"/>
          <p:nvPr/>
        </p:nvSpPr>
        <p:spPr>
          <a:xfrm>
            <a:off x="7818120" y="4956048"/>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42" name="Text 40"/>
          <p:cNvSpPr txBox="1"/>
          <p:nvPr/>
        </p:nvSpPr>
        <p:spPr>
          <a:xfrm>
            <a:off x="9601200" y="4956048"/>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Paquete mínimo de formación y evaluación</a:t>
            </a:r>
            <a:endParaRPr lang="es-CL" sz="1300" dirty="0"/>
          </a:p>
        </p:txBody>
      </p:sp>
      <p:sp>
        <p:nvSpPr>
          <p:cNvPr id="43" name="Shape 41"/>
          <p:cNvSpPr/>
          <p:nvPr/>
        </p:nvSpPr>
        <p:spPr>
          <a:xfrm>
            <a:off x="548640" y="570585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 · PROCESOS INTERNOS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procesos internos.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Responsables según la estructura de la Fase 3; metas propuestas por el equipo.</a:t>
            </a:r>
            <a:endParaRPr lang="es-CL" sz="1100" dirty="0"/>
          </a:p>
        </p:txBody>
      </p:sp>
      <p:sp>
        <p:nvSpPr>
          <p:cNvPr id="6" name="Text 4"/>
          <p:cNvSpPr txBox="1"/>
          <p:nvPr/>
        </p:nvSpPr>
        <p:spPr>
          <a:xfrm>
            <a:off x="548640" y="2286000"/>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286000"/>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286000"/>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286000"/>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286000"/>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596896"/>
            <a:ext cx="11094415" cy="0"/>
          </a:xfrm>
          <a:prstGeom prst="line">
            <a:avLst/>
          </a:prstGeom>
          <a:noFill/>
          <a:ln w="9525">
            <a:solidFill>
              <a:schemeClr val="accent1"/>
            </a:solidFill>
            <a:prstDash val="solid"/>
          </a:ln>
        </p:spPr>
      </p:sp>
      <p:sp>
        <p:nvSpPr>
          <p:cNvPr id="12" name="Shape 10"/>
          <p:cNvSpPr/>
          <p:nvPr/>
        </p:nvSpPr>
        <p:spPr>
          <a:xfrm>
            <a:off x="548640" y="2734056"/>
            <a:ext cx="548640" cy="292608"/>
          </a:xfrm>
          <a:prstGeom prst="rect">
            <a:avLst/>
          </a:prstGeom>
          <a:solidFill>
            <a:schemeClr val="accent5"/>
          </a:solidFill>
          <a:ln/>
        </p:spPr>
      </p:sp>
      <p:sp>
        <p:nvSpPr>
          <p:cNvPr id="13" name="Shape 11"/>
          <p:cNvSpPr/>
          <p:nvPr/>
        </p:nvSpPr>
        <p:spPr>
          <a:xfrm>
            <a:off x="548640" y="2734056"/>
            <a:ext cx="548640" cy="45720"/>
          </a:xfrm>
          <a:prstGeom prst="rect">
            <a:avLst/>
          </a:prstGeom>
          <a:solidFill>
            <a:srgbClr val="ECECEC"/>
          </a:solidFill>
          <a:ln/>
        </p:spPr>
      </p:sp>
      <p:sp>
        <p:nvSpPr>
          <p:cNvPr id="14" name="Text 12"/>
          <p:cNvSpPr txBox="1"/>
          <p:nvPr/>
        </p:nvSpPr>
        <p:spPr>
          <a:xfrm>
            <a:off x="548640" y="2734056"/>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P1</a:t>
            </a:r>
            <a:endParaRPr lang="es-CL" sz="1200" dirty="0"/>
          </a:p>
        </p:txBody>
      </p:sp>
      <p:sp>
        <p:nvSpPr>
          <p:cNvPr id="15" name="Text 13"/>
          <p:cNvSpPr txBox="1"/>
          <p:nvPr/>
        </p:nvSpPr>
        <p:spPr>
          <a:xfrm>
            <a:off x="1280160" y="2596896"/>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Vía legal</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Vía sectorial aplicable documentada</a:t>
            </a:r>
            <a:endParaRPr lang="es-CL" sz="1300" dirty="0"/>
          </a:p>
        </p:txBody>
      </p:sp>
      <p:sp>
        <p:nvSpPr>
          <p:cNvPr id="16" name="Text 14"/>
          <p:cNvSpPr txBox="1"/>
          <p:nvPr/>
        </p:nvSpPr>
        <p:spPr>
          <a:xfrm>
            <a:off x="5486400" y="2596896"/>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antes de la actividad comercial</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17" name="Text 15"/>
          <p:cNvSpPr txBox="1"/>
          <p:nvPr/>
        </p:nvSpPr>
        <p:spPr>
          <a:xfrm>
            <a:off x="7818120" y="2596896"/>
            <a:ext cx="164592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18" name="Text 16"/>
          <p:cNvSpPr txBox="1"/>
          <p:nvPr/>
        </p:nvSpPr>
        <p:spPr>
          <a:xfrm>
            <a:off x="9601200" y="2596896"/>
            <a:ext cx="1904695"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Plantear al MTT el precedente del gas licuado</a:t>
            </a:r>
            <a:endParaRPr lang="es-CL" sz="1300" dirty="0"/>
          </a:p>
        </p:txBody>
      </p:sp>
      <p:sp>
        <p:nvSpPr>
          <p:cNvPr id="19" name="Shape 17"/>
          <p:cNvSpPr/>
          <p:nvPr/>
        </p:nvSpPr>
        <p:spPr>
          <a:xfrm>
            <a:off x="548640" y="3163824"/>
            <a:ext cx="11094415" cy="0"/>
          </a:xfrm>
          <a:prstGeom prst="line">
            <a:avLst/>
          </a:prstGeom>
          <a:noFill/>
          <a:ln w="9525">
            <a:solidFill>
              <a:schemeClr val="accent5"/>
            </a:solidFill>
            <a:prstDash val="solid"/>
          </a:ln>
        </p:spPr>
      </p:sp>
      <p:sp>
        <p:nvSpPr>
          <p:cNvPr id="20" name="Shape 18"/>
          <p:cNvSpPr/>
          <p:nvPr/>
        </p:nvSpPr>
        <p:spPr>
          <a:xfrm>
            <a:off x="548640" y="3300984"/>
            <a:ext cx="548640" cy="292608"/>
          </a:xfrm>
          <a:prstGeom prst="rect">
            <a:avLst/>
          </a:prstGeom>
          <a:solidFill>
            <a:schemeClr val="accent5"/>
          </a:solidFill>
          <a:ln/>
        </p:spPr>
      </p:sp>
      <p:sp>
        <p:nvSpPr>
          <p:cNvPr id="21" name="Shape 19"/>
          <p:cNvSpPr/>
          <p:nvPr/>
        </p:nvSpPr>
        <p:spPr>
          <a:xfrm>
            <a:off x="548640" y="3300984"/>
            <a:ext cx="548640" cy="45720"/>
          </a:xfrm>
          <a:prstGeom prst="rect">
            <a:avLst/>
          </a:prstGeom>
          <a:solidFill>
            <a:srgbClr val="ECECEC"/>
          </a:solidFill>
          <a:ln/>
        </p:spPr>
      </p:sp>
      <p:sp>
        <p:nvSpPr>
          <p:cNvPr id="22" name="Text 20"/>
          <p:cNvSpPr txBox="1"/>
          <p:nvPr/>
        </p:nvSpPr>
        <p:spPr>
          <a:xfrm>
            <a:off x="548640" y="330098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P2</a:t>
            </a:r>
            <a:endParaRPr lang="es-CL" sz="1200" dirty="0"/>
          </a:p>
        </p:txBody>
      </p:sp>
      <p:sp>
        <p:nvSpPr>
          <p:cNvPr id="23" name="Text 21"/>
          <p:cNvSpPr txBox="1"/>
          <p:nvPr/>
        </p:nvSpPr>
        <p:spPr>
          <a:xfrm>
            <a:off x="1280160" y="3163824"/>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Par modelo-kit aprobado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Pares modelo-kit formalmente aprobados</a:t>
            </a:r>
            <a:endParaRPr lang="es-CL" sz="1300" dirty="0"/>
          </a:p>
        </p:txBody>
      </p:sp>
      <p:sp>
        <p:nvSpPr>
          <p:cNvPr id="24" name="Text 22"/>
          <p:cNvSpPr txBox="1"/>
          <p:nvPr/>
        </p:nvSpPr>
        <p:spPr>
          <a:xfrm>
            <a:off x="5486400" y="3163824"/>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o más antes de instalar ese par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25" name="Text 23"/>
          <p:cNvSpPr txBox="1"/>
          <p:nvPr/>
        </p:nvSpPr>
        <p:spPr>
          <a:xfrm>
            <a:off x="7818120" y="3163824"/>
            <a:ext cx="164592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26" name="Text 24"/>
          <p:cNvSpPr txBox="1"/>
          <p:nvPr/>
        </p:nvSpPr>
        <p:spPr>
          <a:xfrm>
            <a:off x="9601200" y="3163824"/>
            <a:ext cx="1904695"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Homologar primero los modelos más densos</a:t>
            </a:r>
            <a:endParaRPr lang="es-CL" sz="1300" dirty="0"/>
          </a:p>
        </p:txBody>
      </p:sp>
      <p:sp>
        <p:nvSpPr>
          <p:cNvPr id="27" name="Shape 25"/>
          <p:cNvSpPr/>
          <p:nvPr/>
        </p:nvSpPr>
        <p:spPr>
          <a:xfrm>
            <a:off x="548640" y="3730752"/>
            <a:ext cx="11094415" cy="0"/>
          </a:xfrm>
          <a:prstGeom prst="line">
            <a:avLst/>
          </a:prstGeom>
          <a:noFill/>
          <a:ln w="9525">
            <a:solidFill>
              <a:schemeClr val="accent5"/>
            </a:solidFill>
            <a:prstDash val="solid"/>
          </a:ln>
        </p:spPr>
      </p:sp>
      <p:sp>
        <p:nvSpPr>
          <p:cNvPr id="28" name="Shape 26"/>
          <p:cNvSpPr/>
          <p:nvPr/>
        </p:nvSpPr>
        <p:spPr>
          <a:xfrm>
            <a:off x="548640" y="3867912"/>
            <a:ext cx="548640" cy="292608"/>
          </a:xfrm>
          <a:prstGeom prst="rect">
            <a:avLst/>
          </a:prstGeom>
          <a:solidFill>
            <a:schemeClr val="accent5"/>
          </a:solidFill>
          <a:ln/>
        </p:spPr>
      </p:sp>
      <p:sp>
        <p:nvSpPr>
          <p:cNvPr id="29" name="Text 27"/>
          <p:cNvSpPr txBox="1"/>
          <p:nvPr/>
        </p:nvSpPr>
        <p:spPr>
          <a:xfrm>
            <a:off x="548640" y="386791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P3</a:t>
            </a:r>
            <a:endParaRPr lang="es-CL" sz="1200" dirty="0"/>
          </a:p>
        </p:txBody>
      </p:sp>
      <p:sp>
        <p:nvSpPr>
          <p:cNvPr id="30" name="Text 28"/>
          <p:cNvSpPr txBox="1"/>
          <p:nvPr/>
        </p:nvSpPr>
        <p:spPr>
          <a:xfrm>
            <a:off x="1280160" y="3730752"/>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Instalación segura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Órdenes con control técnico completo ÷ cerradas</a:t>
            </a:r>
            <a:endParaRPr lang="es-CL" sz="1300" dirty="0"/>
          </a:p>
        </p:txBody>
      </p:sp>
      <p:sp>
        <p:nvSpPr>
          <p:cNvPr id="31" name="Text 29"/>
          <p:cNvSpPr txBox="1"/>
          <p:nvPr/>
        </p:nvSpPr>
        <p:spPr>
          <a:xfrm>
            <a:off x="5486400" y="3730752"/>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las órdenes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32" name="Text 30"/>
          <p:cNvSpPr txBox="1"/>
          <p:nvPr/>
        </p:nvSpPr>
        <p:spPr>
          <a:xfrm>
            <a:off x="7818120" y="3730752"/>
            <a:ext cx="164592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33" name="Text 31"/>
          <p:cNvSpPr txBox="1"/>
          <p:nvPr/>
        </p:nvSpPr>
        <p:spPr>
          <a:xfrm>
            <a:off x="9601200" y="3730752"/>
            <a:ext cx="1904695"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Checklist técnico y acta de liberación</a:t>
            </a:r>
            <a:endParaRPr lang="es-CL" sz="1300" dirty="0"/>
          </a:p>
        </p:txBody>
      </p:sp>
      <p:sp>
        <p:nvSpPr>
          <p:cNvPr id="34" name="Shape 32"/>
          <p:cNvSpPr/>
          <p:nvPr/>
        </p:nvSpPr>
        <p:spPr>
          <a:xfrm>
            <a:off x="548640" y="4297680"/>
            <a:ext cx="11094415" cy="0"/>
          </a:xfrm>
          <a:prstGeom prst="line">
            <a:avLst/>
          </a:prstGeom>
          <a:noFill/>
          <a:ln w="9525">
            <a:solidFill>
              <a:schemeClr val="accent5"/>
            </a:solidFill>
            <a:prstDash val="solid"/>
          </a:ln>
        </p:spPr>
      </p:sp>
      <p:sp>
        <p:nvSpPr>
          <p:cNvPr id="35" name="Shape 33"/>
          <p:cNvSpPr/>
          <p:nvPr/>
        </p:nvSpPr>
        <p:spPr>
          <a:xfrm>
            <a:off x="548640" y="4434840"/>
            <a:ext cx="548640" cy="292608"/>
          </a:xfrm>
          <a:prstGeom prst="rect">
            <a:avLst/>
          </a:prstGeom>
          <a:solidFill>
            <a:schemeClr val="accent5"/>
          </a:solidFill>
          <a:ln/>
        </p:spPr>
      </p:sp>
      <p:sp>
        <p:nvSpPr>
          <p:cNvPr id="36" name="Shape 34"/>
          <p:cNvSpPr/>
          <p:nvPr/>
        </p:nvSpPr>
        <p:spPr>
          <a:xfrm>
            <a:off x="548640" y="4434840"/>
            <a:ext cx="548640" cy="45720"/>
          </a:xfrm>
          <a:prstGeom prst="rect">
            <a:avLst/>
          </a:prstGeom>
          <a:solidFill>
            <a:srgbClr val="0A6F9E"/>
          </a:solidFill>
          <a:ln/>
        </p:spPr>
      </p:sp>
      <p:sp>
        <p:nvSpPr>
          <p:cNvPr id="37" name="Text 35"/>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P4</a:t>
            </a:r>
            <a:endParaRPr lang="es-CL" sz="1200" dirty="0"/>
          </a:p>
        </p:txBody>
      </p:sp>
      <p:sp>
        <p:nvSpPr>
          <p:cNvPr id="38" name="Text 36"/>
          <p:cNvSpPr txBox="1"/>
          <p:nvPr/>
        </p:nvSpPr>
        <p:spPr>
          <a:xfrm>
            <a:off x="1280160" y="4297680"/>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Medición y posventa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Expedientes de medición y entrega completos ÷ exigibles</a:t>
            </a:r>
            <a:endParaRPr lang="es-CL" sz="1300" dirty="0"/>
          </a:p>
        </p:txBody>
      </p:sp>
      <p:sp>
        <p:nvSpPr>
          <p:cNvPr id="39" name="Text 37"/>
          <p:cNvSpPr txBox="1"/>
          <p:nvPr/>
        </p:nvSpPr>
        <p:spPr>
          <a:xfrm>
            <a:off x="5486400" y="4297680"/>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los exigibles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40" name="Text 38"/>
          <p:cNvSpPr txBox="1"/>
          <p:nvPr/>
        </p:nvSpPr>
        <p:spPr>
          <a:xfrm>
            <a:off x="7818120" y="4297680"/>
            <a:ext cx="164592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41" name="Text 39"/>
          <p:cNvSpPr txBox="1"/>
          <p:nvPr/>
        </p:nvSpPr>
        <p:spPr>
          <a:xfrm>
            <a:off x="9601200" y="4297680"/>
            <a:ext cx="1904695"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Expediente único por vehículo</a:t>
            </a:r>
            <a:endParaRPr lang="es-CL" sz="1300" dirty="0"/>
          </a:p>
        </p:txBody>
      </p:sp>
      <p:sp>
        <p:nvSpPr>
          <p:cNvPr id="42" name="Shape 40"/>
          <p:cNvSpPr/>
          <p:nvPr/>
        </p:nvSpPr>
        <p:spPr>
          <a:xfrm>
            <a:off x="548640" y="4864608"/>
            <a:ext cx="11094415" cy="0"/>
          </a:xfrm>
          <a:prstGeom prst="line">
            <a:avLst/>
          </a:prstGeom>
          <a:noFill/>
          <a:ln w="9525">
            <a:solidFill>
              <a:schemeClr val="accent5"/>
            </a:solidFill>
            <a:prstDash val="solid"/>
          </a:ln>
        </p:spPr>
      </p:sp>
      <p:sp>
        <p:nvSpPr>
          <p:cNvPr id="43" name="Shape 41"/>
          <p:cNvSpPr/>
          <p:nvPr/>
        </p:nvSpPr>
        <p:spPr>
          <a:xfrm>
            <a:off x="548640" y="5001768"/>
            <a:ext cx="548640" cy="292608"/>
          </a:xfrm>
          <a:prstGeom prst="rect">
            <a:avLst/>
          </a:prstGeom>
          <a:solidFill>
            <a:schemeClr val="accent5"/>
          </a:solidFill>
          <a:ln/>
        </p:spPr>
      </p:sp>
      <p:sp>
        <p:nvSpPr>
          <p:cNvPr id="44" name="Shape 42"/>
          <p:cNvSpPr/>
          <p:nvPr/>
        </p:nvSpPr>
        <p:spPr>
          <a:xfrm>
            <a:off x="548640" y="5001768"/>
            <a:ext cx="548640" cy="45720"/>
          </a:xfrm>
          <a:prstGeom prst="rect">
            <a:avLst/>
          </a:prstGeom>
          <a:solidFill>
            <a:srgbClr val="0A6F9E"/>
          </a:solidFill>
          <a:ln/>
        </p:spPr>
      </p:sp>
      <p:sp>
        <p:nvSpPr>
          <p:cNvPr id="45" name="Text 43"/>
          <p:cNvSpPr txBox="1"/>
          <p:nvPr/>
        </p:nvSpPr>
        <p:spPr>
          <a:xfrm>
            <a:off x="548640" y="500176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P5</a:t>
            </a:r>
            <a:endParaRPr lang="es-CL" sz="1200" dirty="0"/>
          </a:p>
        </p:txBody>
      </p:sp>
      <p:sp>
        <p:nvSpPr>
          <p:cNvPr id="46" name="Text 44"/>
          <p:cNvSpPr txBox="1"/>
          <p:nvPr/>
        </p:nvSpPr>
        <p:spPr>
          <a:xfrm>
            <a:off x="1280160" y="4864608"/>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Réplica en talleres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Paquete de licencia validado</a:t>
            </a:r>
            <a:endParaRPr lang="es-CL" sz="1300" dirty="0"/>
          </a:p>
        </p:txBody>
      </p:sp>
      <p:sp>
        <p:nvSpPr>
          <p:cNvPr id="47" name="Text 45"/>
          <p:cNvSpPr txBox="1"/>
          <p:nvPr/>
        </p:nvSpPr>
        <p:spPr>
          <a:xfrm>
            <a:off x="5486400" y="4864608"/>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Hito; fecha por definir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48" name="Text 46"/>
          <p:cNvSpPr txBox="1"/>
          <p:nvPr/>
        </p:nvSpPr>
        <p:spPr>
          <a:xfrm>
            <a:off x="7818120" y="4864608"/>
            <a:ext cx="164592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49" name="Text 47"/>
          <p:cNvSpPr txBox="1"/>
          <p:nvPr/>
        </p:nvSpPr>
        <p:spPr>
          <a:xfrm>
            <a:off x="9601200" y="4864608"/>
            <a:ext cx="1904695"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Manual técnico y selección de talleres</a:t>
            </a:r>
            <a:endParaRPr lang="es-CL" sz="1300" dirty="0"/>
          </a:p>
        </p:txBody>
      </p:sp>
      <p:sp>
        <p:nvSpPr>
          <p:cNvPr id="50" name="Shape 48"/>
          <p:cNvSpPr/>
          <p:nvPr/>
        </p:nvSpPr>
        <p:spPr>
          <a:xfrm>
            <a:off x="548640" y="5431536"/>
            <a:ext cx="11094415" cy="0"/>
          </a:xfrm>
          <a:prstGeom prst="line">
            <a:avLst/>
          </a:prstGeom>
          <a:noFill/>
          <a:ln w="9525">
            <a:solidFill>
              <a:schemeClr val="accent5"/>
            </a:solidFill>
            <a:prstDash val="solid"/>
          </a:ln>
        </p:spPr>
      </p:sp>
      <p:sp>
        <p:nvSpPr>
          <p:cNvPr id="51" name="Shape 49"/>
          <p:cNvSpPr/>
          <p:nvPr/>
        </p:nvSpPr>
        <p:spPr>
          <a:xfrm>
            <a:off x="548640" y="5568696"/>
            <a:ext cx="548640" cy="292608"/>
          </a:xfrm>
          <a:prstGeom prst="rect">
            <a:avLst/>
          </a:prstGeom>
          <a:solidFill>
            <a:schemeClr val="accent5"/>
          </a:solidFill>
          <a:ln/>
        </p:spPr>
      </p:sp>
      <p:sp>
        <p:nvSpPr>
          <p:cNvPr id="52" name="Shape 50"/>
          <p:cNvSpPr/>
          <p:nvPr/>
        </p:nvSpPr>
        <p:spPr>
          <a:xfrm>
            <a:off x="548640" y="5568696"/>
            <a:ext cx="274320" cy="45720"/>
          </a:xfrm>
          <a:prstGeom prst="rect">
            <a:avLst/>
          </a:prstGeom>
          <a:solidFill>
            <a:srgbClr val="ECECEC"/>
          </a:solidFill>
          <a:ln/>
        </p:spPr>
      </p:sp>
      <p:sp>
        <p:nvSpPr>
          <p:cNvPr id="53" name="Shape 51"/>
          <p:cNvSpPr/>
          <p:nvPr/>
        </p:nvSpPr>
        <p:spPr>
          <a:xfrm>
            <a:off x="822960" y="5568696"/>
            <a:ext cx="274320" cy="45720"/>
          </a:xfrm>
          <a:prstGeom prst="rect">
            <a:avLst/>
          </a:prstGeom>
          <a:solidFill>
            <a:srgbClr val="22B8F0"/>
          </a:solidFill>
          <a:ln/>
        </p:spPr>
      </p:sp>
      <p:sp>
        <p:nvSpPr>
          <p:cNvPr id="54" name="Text 52"/>
          <p:cNvSpPr txBox="1"/>
          <p:nvPr/>
        </p:nvSpPr>
        <p:spPr>
          <a:xfrm>
            <a:off x="548640" y="5568696"/>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55" name="Text 53"/>
          <p:cNvSpPr txBox="1"/>
          <p:nvPr/>
        </p:nvSpPr>
        <p:spPr>
          <a:xfrm>
            <a:off x="1280160" y="5431536"/>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Alianzas que destraban</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Convenios vigentes: aseguradora, planta de revisión y financiera</a:t>
            </a:r>
            <a:endParaRPr lang="es-CL" sz="1300" dirty="0"/>
          </a:p>
        </p:txBody>
      </p:sp>
      <p:sp>
        <p:nvSpPr>
          <p:cNvPr id="56" name="Text 54"/>
          <p:cNvSpPr txBox="1"/>
          <p:nvPr/>
        </p:nvSpPr>
        <p:spPr>
          <a:xfrm>
            <a:off x="5486400" y="5431536"/>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de cada una antes del primer kit</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57" name="Text 55"/>
          <p:cNvSpPr txBox="1"/>
          <p:nvPr/>
        </p:nvSpPr>
        <p:spPr>
          <a:xfrm>
            <a:off x="7818120" y="5431536"/>
            <a:ext cx="164592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58" name="Text 56"/>
          <p:cNvSpPr txBox="1"/>
          <p:nvPr/>
        </p:nvSpPr>
        <p:spPr>
          <a:xfrm>
            <a:off x="9601200" y="5431536"/>
            <a:ext cx="1904695"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Convenios del cruce DA del FODA</a:t>
            </a:r>
            <a:endParaRPr lang="es-CL" sz="1300" dirty="0"/>
          </a:p>
        </p:txBody>
      </p:sp>
      <p:sp>
        <p:nvSpPr>
          <p:cNvPr id="59" name="Shape 57"/>
          <p:cNvSpPr/>
          <p:nvPr/>
        </p:nvSpPr>
        <p:spPr>
          <a:xfrm>
            <a:off x="548640" y="599846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 · CLIENTES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clientes.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Responsables según la estructura de la Fase 3; metas propuestas por el equipo.</a:t>
            </a:r>
            <a:endParaRPr lang="es-CL" sz="1100" dirty="0"/>
          </a:p>
        </p:txBody>
      </p:sp>
      <p:sp>
        <p:nvSpPr>
          <p:cNvPr id="6" name="Text 4"/>
          <p:cNvSpPr txBox="1"/>
          <p:nvPr/>
        </p:nvSpPr>
        <p:spPr>
          <a:xfrm>
            <a:off x="548640" y="239572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39572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395728"/>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395728"/>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395728"/>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706624"/>
            <a:ext cx="11094415" cy="0"/>
          </a:xfrm>
          <a:prstGeom prst="line">
            <a:avLst/>
          </a:prstGeom>
          <a:noFill/>
          <a:ln w="9525">
            <a:solidFill>
              <a:schemeClr val="accent1"/>
            </a:solidFill>
            <a:prstDash val="solid"/>
          </a:ln>
        </p:spPr>
      </p:sp>
      <p:sp>
        <p:nvSpPr>
          <p:cNvPr id="12" name="Shape 10"/>
          <p:cNvSpPr/>
          <p:nvPr/>
        </p:nvSpPr>
        <p:spPr>
          <a:xfrm>
            <a:off x="548640" y="2935224"/>
            <a:ext cx="548640" cy="292608"/>
          </a:xfrm>
          <a:prstGeom prst="rect">
            <a:avLst/>
          </a:prstGeom>
          <a:solidFill>
            <a:schemeClr val="accent5"/>
          </a:solidFill>
          <a:ln/>
        </p:spPr>
      </p:sp>
      <p:sp>
        <p:nvSpPr>
          <p:cNvPr id="13" name="Text 11"/>
          <p:cNvSpPr txBox="1"/>
          <p:nvPr/>
        </p:nvSpPr>
        <p:spPr>
          <a:xfrm>
            <a:off x="548640" y="293522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C1</a:t>
            </a:r>
            <a:endParaRPr lang="es-CL" sz="1200" dirty="0"/>
          </a:p>
        </p:txBody>
      </p:sp>
      <p:sp>
        <p:nvSpPr>
          <p:cNvPr id="14" name="Text 12"/>
          <p:cNvSpPr txBox="1"/>
          <p:nvPr/>
        </p:nvSpPr>
        <p:spPr>
          <a:xfrm>
            <a:off x="1280160" y="2706624"/>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Promesa técnica cumplida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Servicios conformes ÷ entregas verificadas</a:t>
            </a:r>
            <a:endParaRPr lang="es-CL" sz="1300" dirty="0"/>
          </a:p>
        </p:txBody>
      </p:sp>
      <p:sp>
        <p:nvSpPr>
          <p:cNvPr id="15" name="Text 13"/>
          <p:cNvSpPr txBox="1"/>
          <p:nvPr/>
        </p:nvSpPr>
        <p:spPr>
          <a:xfrm>
            <a:off x="5486400" y="2706624"/>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las entregas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16" name="Text 14"/>
          <p:cNvSpPr txBox="1"/>
          <p:nvPr/>
        </p:nvSpPr>
        <p:spPr>
          <a:xfrm>
            <a:off x="7818120" y="2706624"/>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17" name="Text 15"/>
          <p:cNvSpPr txBox="1"/>
          <p:nvPr/>
        </p:nvSpPr>
        <p:spPr>
          <a:xfrm>
            <a:off x="9601200" y="2706624"/>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Acta de conformidad firmada</a:t>
            </a:r>
            <a:endParaRPr lang="es-CL" sz="1300" dirty="0"/>
          </a:p>
        </p:txBody>
      </p:sp>
      <p:sp>
        <p:nvSpPr>
          <p:cNvPr id="18" name="Shape 16"/>
          <p:cNvSpPr/>
          <p:nvPr/>
        </p:nvSpPr>
        <p:spPr>
          <a:xfrm>
            <a:off x="548640" y="3456432"/>
            <a:ext cx="11094415" cy="0"/>
          </a:xfrm>
          <a:prstGeom prst="line">
            <a:avLst/>
          </a:prstGeom>
          <a:noFill/>
          <a:ln w="9525">
            <a:solidFill>
              <a:schemeClr val="accent5"/>
            </a:solidFill>
            <a:prstDash val="solid"/>
          </a:ln>
        </p:spPr>
      </p:sp>
      <p:sp>
        <p:nvSpPr>
          <p:cNvPr id="19" name="Shape 17"/>
          <p:cNvSpPr/>
          <p:nvPr/>
        </p:nvSpPr>
        <p:spPr>
          <a:xfrm>
            <a:off x="548640" y="3685032"/>
            <a:ext cx="548640" cy="292608"/>
          </a:xfrm>
          <a:prstGeom prst="rect">
            <a:avLst/>
          </a:prstGeom>
          <a:solidFill>
            <a:schemeClr val="accent5"/>
          </a:solidFill>
          <a:ln/>
        </p:spPr>
      </p:sp>
      <p:sp>
        <p:nvSpPr>
          <p:cNvPr id="20" name="Shape 18"/>
          <p:cNvSpPr/>
          <p:nvPr/>
        </p:nvSpPr>
        <p:spPr>
          <a:xfrm>
            <a:off x="548640" y="3685032"/>
            <a:ext cx="548640" cy="45720"/>
          </a:xfrm>
          <a:prstGeom prst="rect">
            <a:avLst/>
          </a:prstGeom>
          <a:solidFill>
            <a:srgbClr val="0A6F9E"/>
          </a:solidFill>
          <a:ln/>
        </p:spPr>
      </p:sp>
      <p:sp>
        <p:nvSpPr>
          <p:cNvPr id="21" name="Text 19"/>
          <p:cNvSpPr txBox="1"/>
          <p:nvPr/>
        </p:nvSpPr>
        <p:spPr>
          <a:xfrm>
            <a:off x="548640" y="368503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C2</a:t>
            </a:r>
            <a:endParaRPr lang="es-CL" sz="1200" dirty="0"/>
          </a:p>
        </p:txBody>
      </p:sp>
      <p:sp>
        <p:nvSpPr>
          <p:cNvPr id="22" name="Text 20"/>
          <p:cNvSpPr txBox="1"/>
          <p:nvPr/>
        </p:nvSpPr>
        <p:spPr>
          <a:xfrm>
            <a:off x="1280160" y="3456432"/>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Ahorro acreditado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Reportes comparativos completos ÷ exigibles</a:t>
            </a:r>
            <a:endParaRPr lang="es-CL" sz="1300" dirty="0"/>
          </a:p>
        </p:txBody>
      </p:sp>
      <p:sp>
        <p:nvSpPr>
          <p:cNvPr id="23" name="Text 21"/>
          <p:cNvSpPr txBox="1"/>
          <p:nvPr/>
        </p:nvSpPr>
        <p:spPr>
          <a:xfrm>
            <a:off x="5486400" y="3456432"/>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los exigibles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24" name="Text 22"/>
          <p:cNvSpPr txBox="1"/>
          <p:nvPr/>
        </p:nvSpPr>
        <p:spPr>
          <a:xfrm>
            <a:off x="7818120" y="3456432"/>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Comercial y Postventa</a:t>
            </a:r>
            <a:endParaRPr lang="es-CL" sz="1300" dirty="0"/>
          </a:p>
        </p:txBody>
      </p:sp>
      <p:sp>
        <p:nvSpPr>
          <p:cNvPr id="25" name="Text 23"/>
          <p:cNvSpPr txBox="1"/>
          <p:nvPr/>
        </p:nvSpPr>
        <p:spPr>
          <a:xfrm>
            <a:off x="9601200" y="3456432"/>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Reporte con método, límites y acuse</a:t>
            </a:r>
            <a:endParaRPr lang="es-CL" sz="1300" dirty="0"/>
          </a:p>
        </p:txBody>
      </p:sp>
      <p:sp>
        <p:nvSpPr>
          <p:cNvPr id="26" name="Shape 24"/>
          <p:cNvSpPr/>
          <p:nvPr/>
        </p:nvSpPr>
        <p:spPr>
          <a:xfrm>
            <a:off x="548640" y="4206240"/>
            <a:ext cx="11094415" cy="0"/>
          </a:xfrm>
          <a:prstGeom prst="line">
            <a:avLst/>
          </a:prstGeom>
          <a:noFill/>
          <a:ln w="9525">
            <a:solidFill>
              <a:schemeClr val="accent5"/>
            </a:solidFill>
            <a:prstDash val="solid"/>
          </a:ln>
        </p:spPr>
      </p:sp>
      <p:sp>
        <p:nvSpPr>
          <p:cNvPr id="27" name="Shape 25"/>
          <p:cNvSpPr/>
          <p:nvPr/>
        </p:nvSpPr>
        <p:spPr>
          <a:xfrm>
            <a:off x="548640" y="4434840"/>
            <a:ext cx="548640" cy="292608"/>
          </a:xfrm>
          <a:prstGeom prst="rect">
            <a:avLst/>
          </a:prstGeom>
          <a:solidFill>
            <a:schemeClr val="accent5"/>
          </a:solidFill>
          <a:ln/>
        </p:spPr>
      </p:sp>
      <p:sp>
        <p:nvSpPr>
          <p:cNvPr id="28" name="Text 26"/>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C3</a:t>
            </a:r>
            <a:endParaRPr lang="es-CL" sz="1200" dirty="0"/>
          </a:p>
        </p:txBody>
      </p:sp>
      <p:sp>
        <p:nvSpPr>
          <p:cNvPr id="29" name="Text 27"/>
          <p:cNvSpPr txBox="1"/>
          <p:nvPr/>
        </p:nvSpPr>
        <p:spPr>
          <a:xfrm>
            <a:off x="1280160" y="4206240"/>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Confianza del cliente</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Confianza declarada después del servicio; reclamos por servicio</a:t>
            </a:r>
            <a:endParaRPr lang="es-CL" sz="1300" dirty="0"/>
          </a:p>
        </p:txBody>
      </p:sp>
      <p:sp>
        <p:nvSpPr>
          <p:cNvPr id="30" name="Text 28"/>
          <p:cNvSpPr txBox="1"/>
          <p:nvPr/>
        </p:nvSpPr>
        <p:spPr>
          <a:xfrm>
            <a:off x="5486400" y="4206240"/>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Por definir con la primera muestra</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31" name="Text 29"/>
          <p:cNvSpPr txBox="1"/>
          <p:nvPr/>
        </p:nvSpPr>
        <p:spPr>
          <a:xfrm>
            <a:off x="7818120" y="4206240"/>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Comercial y Postventa</a:t>
            </a:r>
            <a:endParaRPr lang="es-CL" sz="1300" dirty="0"/>
          </a:p>
        </p:txBody>
      </p:sp>
      <p:sp>
        <p:nvSpPr>
          <p:cNvPr id="32" name="Text 30"/>
          <p:cNvSpPr txBox="1"/>
          <p:nvPr/>
        </p:nvSpPr>
        <p:spPr>
          <a:xfrm>
            <a:off x="9601200" y="4206240"/>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Encuesta posservicio y registro de reclamos</a:t>
            </a:r>
            <a:endParaRPr lang="es-CL" sz="1300" dirty="0"/>
          </a:p>
        </p:txBody>
      </p:sp>
      <p:sp>
        <p:nvSpPr>
          <p:cNvPr id="33" name="Shape 31"/>
          <p:cNvSpPr/>
          <p:nvPr/>
        </p:nvSpPr>
        <p:spPr>
          <a:xfrm>
            <a:off x="548640" y="4956048"/>
            <a:ext cx="11094415" cy="0"/>
          </a:xfrm>
          <a:prstGeom prst="line">
            <a:avLst/>
          </a:prstGeom>
          <a:noFill/>
          <a:ln w="9525">
            <a:solidFill>
              <a:schemeClr val="accent5"/>
            </a:solidFill>
            <a:prstDash val="solid"/>
          </a:ln>
        </p:spPr>
      </p:sp>
      <p:sp>
        <p:nvSpPr>
          <p:cNvPr id="34" name="Shape 32"/>
          <p:cNvSpPr/>
          <p:nvPr/>
        </p:nvSpPr>
        <p:spPr>
          <a:xfrm>
            <a:off x="548640" y="5184648"/>
            <a:ext cx="548640" cy="292608"/>
          </a:xfrm>
          <a:prstGeom prst="rect">
            <a:avLst/>
          </a:prstGeom>
          <a:solidFill>
            <a:schemeClr val="accent5"/>
          </a:solidFill>
          <a:ln/>
        </p:spPr>
      </p:sp>
      <p:sp>
        <p:nvSpPr>
          <p:cNvPr id="35" name="Shape 33"/>
          <p:cNvSpPr/>
          <p:nvPr/>
        </p:nvSpPr>
        <p:spPr>
          <a:xfrm>
            <a:off x="548640" y="5184648"/>
            <a:ext cx="548640" cy="45720"/>
          </a:xfrm>
          <a:prstGeom prst="rect">
            <a:avLst/>
          </a:prstGeom>
          <a:solidFill>
            <a:srgbClr val="22B8F0"/>
          </a:solidFill>
          <a:ln/>
        </p:spPr>
      </p:sp>
      <p:sp>
        <p:nvSpPr>
          <p:cNvPr id="36" name="Text 34"/>
          <p:cNvSpPr txBox="1"/>
          <p:nvPr/>
        </p:nvSpPr>
        <p:spPr>
          <a:xfrm>
            <a:off x="548640" y="518464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C4</a:t>
            </a:r>
            <a:endParaRPr lang="es-CL" sz="1200" dirty="0"/>
          </a:p>
        </p:txBody>
      </p:sp>
      <p:sp>
        <p:nvSpPr>
          <p:cNvPr id="37" name="Text 35"/>
          <p:cNvSpPr txBox="1"/>
          <p:nvPr/>
        </p:nvSpPr>
        <p:spPr>
          <a:xfrm>
            <a:off x="1280160" y="4956048"/>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Segmento captado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Consultas del segmento convertidas en instalaciones</a:t>
            </a:r>
            <a:endParaRPr lang="es-CL" sz="1300" dirty="0"/>
          </a:p>
        </p:txBody>
      </p:sp>
      <p:sp>
        <p:nvSpPr>
          <p:cNvPr id="38" name="Text 36"/>
          <p:cNvSpPr txBox="1"/>
          <p:nvPr/>
        </p:nvSpPr>
        <p:spPr>
          <a:xfrm>
            <a:off x="5486400" y="4956048"/>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Por definir con la primera muestra</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39" name="Text 37"/>
          <p:cNvSpPr txBox="1"/>
          <p:nvPr/>
        </p:nvSpPr>
        <p:spPr>
          <a:xfrm>
            <a:off x="7818120" y="4956048"/>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Comercial y Postventa</a:t>
            </a:r>
            <a:endParaRPr lang="es-CL" sz="1300" dirty="0"/>
          </a:p>
        </p:txBody>
      </p:sp>
      <p:sp>
        <p:nvSpPr>
          <p:cNvPr id="40" name="Text 38"/>
          <p:cNvSpPr txBox="1"/>
          <p:nvPr/>
        </p:nvSpPr>
        <p:spPr>
          <a:xfrm>
            <a:off x="9601200" y="4956048"/>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Clasificar consultas por uso y seguir su conversión</a:t>
            </a:r>
            <a:endParaRPr lang="es-CL" sz="1300" dirty="0"/>
          </a:p>
        </p:txBody>
      </p:sp>
      <p:sp>
        <p:nvSpPr>
          <p:cNvPr id="41" name="Shape 39"/>
          <p:cNvSpPr/>
          <p:nvPr/>
        </p:nvSpPr>
        <p:spPr>
          <a:xfrm>
            <a:off x="548640" y="570585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 · FINANCIERA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financiera.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Sin cifras: el Plan Financiero no existe aún.</a:t>
            </a:r>
            <a:endParaRPr lang="es-CL" sz="1100" dirty="0"/>
          </a:p>
        </p:txBody>
      </p:sp>
      <p:sp>
        <p:nvSpPr>
          <p:cNvPr id="6" name="Text 4"/>
          <p:cNvSpPr txBox="1"/>
          <p:nvPr/>
        </p:nvSpPr>
        <p:spPr>
          <a:xfrm>
            <a:off x="548640" y="239572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39572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395728"/>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395728"/>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395728"/>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706624"/>
            <a:ext cx="11094415" cy="0"/>
          </a:xfrm>
          <a:prstGeom prst="line">
            <a:avLst/>
          </a:prstGeom>
          <a:noFill/>
          <a:ln w="9525">
            <a:solidFill>
              <a:schemeClr val="accent1"/>
            </a:solidFill>
            <a:prstDash val="solid"/>
          </a:ln>
        </p:spPr>
      </p:sp>
      <p:sp>
        <p:nvSpPr>
          <p:cNvPr id="12" name="Shape 10"/>
          <p:cNvSpPr/>
          <p:nvPr/>
        </p:nvSpPr>
        <p:spPr>
          <a:xfrm>
            <a:off x="548640" y="2935224"/>
            <a:ext cx="548640" cy="292608"/>
          </a:xfrm>
          <a:prstGeom prst="rect">
            <a:avLst/>
          </a:prstGeom>
          <a:solidFill>
            <a:schemeClr val="accent5"/>
          </a:solidFill>
          <a:ln/>
        </p:spPr>
      </p:sp>
      <p:sp>
        <p:nvSpPr>
          <p:cNvPr id="13" name="Text 11"/>
          <p:cNvSpPr txBox="1"/>
          <p:nvPr/>
        </p:nvSpPr>
        <p:spPr>
          <a:xfrm>
            <a:off x="548640" y="293522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F1</a:t>
            </a:r>
            <a:endParaRPr lang="es-CL" sz="1200" dirty="0"/>
          </a:p>
        </p:txBody>
      </p:sp>
      <p:sp>
        <p:nvSpPr>
          <p:cNvPr id="14" name="Text 12"/>
          <p:cNvSpPr txBox="1"/>
          <p:nvPr/>
        </p:nvSpPr>
        <p:spPr>
          <a:xfrm>
            <a:off x="1280160" y="2706624"/>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Rentabilidad sobre el costo de capital</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Antes de invertir: VAN &gt; 0 y TIR &gt; tasa exigida. Operando: retorno sobre el capital empleado frente a su costo</a:t>
            </a:r>
            <a:endParaRPr lang="es-CL" sz="1300" dirty="0"/>
          </a:p>
        </p:txBody>
      </p:sp>
      <p:sp>
        <p:nvSpPr>
          <p:cNvPr id="15" name="Text 13"/>
          <p:cNvSpPr txBox="1"/>
          <p:nvPr/>
        </p:nvSpPr>
        <p:spPr>
          <a:xfrm>
            <a:off x="5486400" y="2706624"/>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Superar el costo de capital</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RETORNO</a:t>
            </a:r>
            <a:endParaRPr lang="es-CL" sz="1300" dirty="0"/>
          </a:p>
        </p:txBody>
      </p:sp>
      <p:sp>
        <p:nvSpPr>
          <p:cNvPr id="16" name="Text 14"/>
          <p:cNvSpPr txBox="1"/>
          <p:nvPr/>
        </p:nvSpPr>
        <p:spPr>
          <a:xfrm>
            <a:off x="7818120" y="2706624"/>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17" name="Text 15"/>
          <p:cNvSpPr txBox="1"/>
          <p:nvPr/>
        </p:nvSpPr>
        <p:spPr>
          <a:xfrm>
            <a:off x="9601200" y="2706624"/>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Plan Financiero con tasa sustentada</a:t>
            </a:r>
            <a:endParaRPr lang="es-CL" sz="1300" dirty="0"/>
          </a:p>
        </p:txBody>
      </p:sp>
      <p:sp>
        <p:nvSpPr>
          <p:cNvPr id="18" name="Shape 16"/>
          <p:cNvSpPr/>
          <p:nvPr/>
        </p:nvSpPr>
        <p:spPr>
          <a:xfrm>
            <a:off x="548640" y="3456432"/>
            <a:ext cx="11094415" cy="0"/>
          </a:xfrm>
          <a:prstGeom prst="line">
            <a:avLst/>
          </a:prstGeom>
          <a:noFill/>
          <a:ln w="9525">
            <a:solidFill>
              <a:schemeClr val="accent5"/>
            </a:solidFill>
            <a:prstDash val="solid"/>
          </a:ln>
        </p:spPr>
      </p:sp>
      <p:sp>
        <p:nvSpPr>
          <p:cNvPr id="19" name="Shape 17"/>
          <p:cNvSpPr/>
          <p:nvPr/>
        </p:nvSpPr>
        <p:spPr>
          <a:xfrm>
            <a:off x="548640" y="3685032"/>
            <a:ext cx="548640" cy="292608"/>
          </a:xfrm>
          <a:prstGeom prst="rect">
            <a:avLst/>
          </a:prstGeom>
          <a:solidFill>
            <a:schemeClr val="accent5"/>
          </a:solidFill>
          <a:ln/>
        </p:spPr>
      </p:sp>
      <p:sp>
        <p:nvSpPr>
          <p:cNvPr id="20" name="Text 18"/>
          <p:cNvSpPr txBox="1"/>
          <p:nvPr/>
        </p:nvSpPr>
        <p:spPr>
          <a:xfrm>
            <a:off x="548640" y="368503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F2</a:t>
            </a:r>
            <a:endParaRPr lang="es-CL" sz="1200" dirty="0"/>
          </a:p>
        </p:txBody>
      </p:sp>
      <p:sp>
        <p:nvSpPr>
          <p:cNvPr id="21" name="Text 19"/>
          <p:cNvSpPr txBox="1"/>
          <p:nvPr/>
        </p:nvSpPr>
        <p:spPr>
          <a:xfrm>
            <a:off x="1280160" y="3456432"/>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Margen por servicio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Margen de contribución unitario</a:t>
            </a:r>
            <a:endParaRPr lang="es-CL" sz="1300" dirty="0"/>
          </a:p>
        </p:txBody>
      </p:sp>
      <p:sp>
        <p:nvSpPr>
          <p:cNvPr id="22" name="Text 20"/>
          <p:cNvSpPr txBox="1"/>
          <p:nvPr/>
        </p:nvSpPr>
        <p:spPr>
          <a:xfrm>
            <a:off x="5486400" y="3456432"/>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Por definir en el Plan Financiero</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23" name="Text 21"/>
          <p:cNvSpPr txBox="1"/>
          <p:nvPr/>
        </p:nvSpPr>
        <p:spPr>
          <a:xfrm>
            <a:off x="7818120" y="3456432"/>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24" name="Text 22"/>
          <p:cNvSpPr txBox="1"/>
          <p:nvPr/>
        </p:nvSpPr>
        <p:spPr>
          <a:xfrm>
            <a:off x="9601200" y="3456432"/>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Cobertura cambiaria y abastecimiento de largo plazo</a:t>
            </a:r>
            <a:endParaRPr lang="es-CL" sz="1300" dirty="0"/>
          </a:p>
        </p:txBody>
      </p:sp>
      <p:sp>
        <p:nvSpPr>
          <p:cNvPr id="25" name="Shape 23"/>
          <p:cNvSpPr/>
          <p:nvPr/>
        </p:nvSpPr>
        <p:spPr>
          <a:xfrm>
            <a:off x="548640" y="4206240"/>
            <a:ext cx="11094415" cy="0"/>
          </a:xfrm>
          <a:prstGeom prst="line">
            <a:avLst/>
          </a:prstGeom>
          <a:noFill/>
          <a:ln w="9525">
            <a:solidFill>
              <a:schemeClr val="accent5"/>
            </a:solidFill>
            <a:prstDash val="solid"/>
          </a:ln>
        </p:spPr>
      </p:sp>
      <p:sp>
        <p:nvSpPr>
          <p:cNvPr id="26" name="Shape 24"/>
          <p:cNvSpPr/>
          <p:nvPr/>
        </p:nvSpPr>
        <p:spPr>
          <a:xfrm>
            <a:off x="548640" y="4434840"/>
            <a:ext cx="548640" cy="292608"/>
          </a:xfrm>
          <a:prstGeom prst="rect">
            <a:avLst/>
          </a:prstGeom>
          <a:solidFill>
            <a:schemeClr val="accent5"/>
          </a:solidFill>
          <a:ln/>
        </p:spPr>
      </p:sp>
      <p:sp>
        <p:nvSpPr>
          <p:cNvPr id="27" name="Shape 25"/>
          <p:cNvSpPr/>
          <p:nvPr/>
        </p:nvSpPr>
        <p:spPr>
          <a:xfrm>
            <a:off x="548640" y="4434840"/>
            <a:ext cx="548640" cy="45720"/>
          </a:xfrm>
          <a:prstGeom prst="rect">
            <a:avLst/>
          </a:prstGeom>
          <a:solidFill>
            <a:srgbClr val="0A6F9E"/>
          </a:solidFill>
          <a:ln/>
        </p:spPr>
      </p:sp>
      <p:sp>
        <p:nvSpPr>
          <p:cNvPr id="28" name="Text 26"/>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F3</a:t>
            </a:r>
            <a:endParaRPr lang="es-CL" sz="1200" dirty="0"/>
          </a:p>
        </p:txBody>
      </p:sp>
      <p:sp>
        <p:nvSpPr>
          <p:cNvPr id="29" name="Text 27"/>
          <p:cNvSpPr txBox="1"/>
          <p:nvPr/>
        </p:nvSpPr>
        <p:spPr>
          <a:xfrm>
            <a:off x="1280160" y="4206240"/>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Expansión y licencias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Evaluación incremental por alternativa (taller o licencias)</a:t>
            </a:r>
            <a:endParaRPr lang="es-CL" sz="1300" dirty="0"/>
          </a:p>
        </p:txBody>
      </p:sp>
      <p:sp>
        <p:nvSpPr>
          <p:cNvPr id="30" name="Text 28"/>
          <p:cNvSpPr txBox="1"/>
          <p:nvPr/>
        </p:nvSpPr>
        <p:spPr>
          <a:xfrm>
            <a:off x="5486400" y="4206240"/>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Umbral por definir en el Plan Financiero</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31" name="Text 29"/>
          <p:cNvSpPr txBox="1"/>
          <p:nvPr/>
        </p:nvSpPr>
        <p:spPr>
          <a:xfrm>
            <a:off x="7818120" y="4206240"/>
            <a:ext cx="164592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32" name="Text 30"/>
          <p:cNvSpPr txBox="1"/>
          <p:nvPr/>
        </p:nvSpPr>
        <p:spPr>
          <a:xfrm>
            <a:off x="9601200" y="4206240"/>
            <a:ext cx="1904695"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Evaluar cada alternativa antes de abrir</a:t>
            </a:r>
            <a:endParaRPr lang="es-CL" sz="1300" dirty="0"/>
          </a:p>
        </p:txBody>
      </p:sp>
      <p:sp>
        <p:nvSpPr>
          <p:cNvPr id="33" name="Shape 31"/>
          <p:cNvSpPr/>
          <p:nvPr/>
        </p:nvSpPr>
        <p:spPr>
          <a:xfrm>
            <a:off x="548640" y="495604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MAPA · R01 A R10</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LAS 20 RELACIONES: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R01 a R10.</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Relaciones habilitantes, condiciones externas e hipótesis; ninguna es una correlación medida.</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Text 10"/>
          <p:cNvSpPr txBox="1"/>
          <p:nvPr/>
        </p:nvSpPr>
        <p:spPr>
          <a:xfrm>
            <a:off x="548640" y="2322576"/>
            <a:ext cx="1143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a:t>
            </a:r>
            <a:endParaRPr lang="es-CL" sz="1200" dirty="0"/>
          </a:p>
        </p:txBody>
      </p:sp>
      <p:sp>
        <p:nvSpPr>
          <p:cNvPr id="13" name="Text 11"/>
          <p:cNvSpPr txBox="1"/>
          <p:nvPr/>
        </p:nvSpPr>
        <p:spPr>
          <a:xfrm>
            <a:off x="1691640" y="2322576"/>
            <a:ext cx="12801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 · A</a:t>
            </a:r>
            <a:endParaRPr lang="es-CL" sz="1200" dirty="0"/>
          </a:p>
        </p:txBody>
      </p:sp>
      <p:sp>
        <p:nvSpPr>
          <p:cNvPr id="14" name="Text 12"/>
          <p:cNvSpPr txBox="1"/>
          <p:nvPr/>
        </p:nvSpPr>
        <p:spPr>
          <a:xfrm>
            <a:off x="2971800" y="2322576"/>
            <a:ext cx="4937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MECANISMO</a:t>
            </a:r>
            <a:endParaRPr lang="es-CL" sz="1200" dirty="0"/>
          </a:p>
        </p:txBody>
      </p:sp>
      <p:sp>
        <p:nvSpPr>
          <p:cNvPr id="15" name="Text 13"/>
          <p:cNvSpPr txBox="1"/>
          <p:nvPr/>
        </p:nvSpPr>
        <p:spPr>
          <a:xfrm>
            <a:off x="7909560" y="2322576"/>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CÓMO SE COMPRUEBA</a:t>
            </a:r>
            <a:endParaRPr lang="es-CL" sz="1200" dirty="0"/>
          </a:p>
        </p:txBody>
      </p:sp>
      <p:sp>
        <p:nvSpPr>
          <p:cNvPr id="16" name="Shape 14"/>
          <p:cNvSpPr/>
          <p:nvPr/>
        </p:nvSpPr>
        <p:spPr>
          <a:xfrm>
            <a:off x="548640" y="2633472"/>
            <a:ext cx="11094415" cy="0"/>
          </a:xfrm>
          <a:prstGeom prst="line">
            <a:avLst/>
          </a:prstGeom>
          <a:noFill/>
          <a:ln w="9525">
            <a:solidFill>
              <a:schemeClr val="accent1"/>
            </a:solidFill>
            <a:prstDash val="solid"/>
          </a:ln>
        </p:spPr>
      </p:sp>
      <p:sp>
        <p:nvSpPr>
          <p:cNvPr id="17" name="Text 15"/>
          <p:cNvSpPr txBox="1"/>
          <p:nvPr/>
        </p:nvSpPr>
        <p:spPr>
          <a:xfrm>
            <a:off x="548640" y="263347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R01</a:t>
            </a:r>
            <a:endParaRPr lang="es-CL" sz="1200" dirty="0"/>
          </a:p>
        </p:txBody>
      </p:sp>
      <p:sp>
        <p:nvSpPr>
          <p:cNvPr id="18" name="Shape 16"/>
          <p:cNvSpPr/>
          <p:nvPr/>
        </p:nvSpPr>
        <p:spPr>
          <a:xfrm>
            <a:off x="1051560" y="2809494"/>
            <a:ext cx="457200" cy="0"/>
          </a:xfrm>
          <a:prstGeom prst="line">
            <a:avLst/>
          </a:prstGeom>
          <a:noFill/>
          <a:ln w="25400">
            <a:solidFill>
              <a:schemeClr val="accent1"/>
            </a:solidFill>
            <a:prstDash val="solid"/>
          </a:ln>
        </p:spPr>
      </p:sp>
      <p:sp>
        <p:nvSpPr>
          <p:cNvPr id="19" name="Text 17"/>
          <p:cNvSpPr txBox="1"/>
          <p:nvPr/>
        </p:nvSpPr>
        <p:spPr>
          <a:xfrm>
            <a:off x="1691640" y="2633472"/>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A1 a P2</a:t>
            </a:r>
            <a:endParaRPr lang="es-CL" sz="1300" dirty="0"/>
          </a:p>
        </p:txBody>
      </p:sp>
      <p:sp>
        <p:nvSpPr>
          <p:cNvPr id="20" name="Text 18"/>
          <p:cNvSpPr txBox="1"/>
          <p:nvPr/>
        </p:nvSpPr>
        <p:spPr>
          <a:xfrm>
            <a:off x="2971800" y="2633472"/>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Calibraciones versionadas respaldan el expediente del par</a:t>
            </a:r>
            <a:endParaRPr lang="es-CL" sz="1300" dirty="0"/>
          </a:p>
        </p:txBody>
      </p:sp>
      <p:sp>
        <p:nvSpPr>
          <p:cNvPr id="21" name="Text 19"/>
          <p:cNvSpPr txBox="1"/>
          <p:nvPr/>
        </p:nvSpPr>
        <p:spPr>
          <a:xfrm>
            <a:off x="7909560" y="2633472"/>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El expediente usa una calibración aprobada</a:t>
            </a:r>
            <a:endParaRPr lang="es-CL" sz="1300" dirty="0"/>
          </a:p>
        </p:txBody>
      </p:sp>
      <p:sp>
        <p:nvSpPr>
          <p:cNvPr id="22" name="Shape 20"/>
          <p:cNvSpPr/>
          <p:nvPr/>
        </p:nvSpPr>
        <p:spPr>
          <a:xfrm>
            <a:off x="548640" y="2985516"/>
            <a:ext cx="11094415" cy="0"/>
          </a:xfrm>
          <a:prstGeom prst="line">
            <a:avLst/>
          </a:prstGeom>
          <a:noFill/>
          <a:ln w="9525">
            <a:solidFill>
              <a:schemeClr val="accent5"/>
            </a:solidFill>
            <a:prstDash val="solid"/>
          </a:ln>
        </p:spPr>
      </p:sp>
      <p:sp>
        <p:nvSpPr>
          <p:cNvPr id="23" name="Text 21"/>
          <p:cNvSpPr txBox="1"/>
          <p:nvPr/>
        </p:nvSpPr>
        <p:spPr>
          <a:xfrm>
            <a:off x="548640" y="298551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R02</a:t>
            </a:r>
            <a:endParaRPr lang="es-CL" sz="1200" dirty="0"/>
          </a:p>
        </p:txBody>
      </p:sp>
      <p:sp>
        <p:nvSpPr>
          <p:cNvPr id="24" name="Shape 22"/>
          <p:cNvSpPr/>
          <p:nvPr/>
        </p:nvSpPr>
        <p:spPr>
          <a:xfrm>
            <a:off x="1051560" y="3161538"/>
            <a:ext cx="457200" cy="0"/>
          </a:xfrm>
          <a:prstGeom prst="line">
            <a:avLst/>
          </a:prstGeom>
          <a:noFill/>
          <a:ln w="41275">
            <a:solidFill>
              <a:schemeClr val="tx1"/>
            </a:solidFill>
            <a:prstDash val="solid"/>
          </a:ln>
        </p:spPr>
      </p:sp>
      <p:sp>
        <p:nvSpPr>
          <p:cNvPr id="25" name="Text 23"/>
          <p:cNvSpPr txBox="1"/>
          <p:nvPr/>
        </p:nvSpPr>
        <p:spPr>
          <a:xfrm>
            <a:off x="1691640" y="2985516"/>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P1 a P2</a:t>
            </a:r>
            <a:endParaRPr lang="es-CL" sz="1300" dirty="0"/>
          </a:p>
        </p:txBody>
      </p:sp>
      <p:sp>
        <p:nvSpPr>
          <p:cNvPr id="26" name="Text 24"/>
          <p:cNvSpPr txBox="1"/>
          <p:nvPr/>
        </p:nvSpPr>
        <p:spPr>
          <a:xfrm>
            <a:off x="2971800" y="2985516"/>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La vía formal define los requisitos de aprobación del kit</a:t>
            </a:r>
            <a:endParaRPr lang="es-CL" sz="1300" dirty="0"/>
          </a:p>
        </p:txBody>
      </p:sp>
      <p:sp>
        <p:nvSpPr>
          <p:cNvPr id="27" name="Text 25"/>
          <p:cNvSpPr txBox="1"/>
          <p:nvPr/>
        </p:nvSpPr>
        <p:spPr>
          <a:xfrm>
            <a:off x="7909560" y="2985516"/>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Norma o criterio habilitante confirmado</a:t>
            </a:r>
            <a:endParaRPr lang="es-CL" sz="1300" dirty="0"/>
          </a:p>
        </p:txBody>
      </p:sp>
      <p:sp>
        <p:nvSpPr>
          <p:cNvPr id="28" name="Shape 26"/>
          <p:cNvSpPr/>
          <p:nvPr/>
        </p:nvSpPr>
        <p:spPr>
          <a:xfrm>
            <a:off x="548640" y="3337560"/>
            <a:ext cx="11094415" cy="0"/>
          </a:xfrm>
          <a:prstGeom prst="line">
            <a:avLst/>
          </a:prstGeom>
          <a:noFill/>
          <a:ln w="9525">
            <a:solidFill>
              <a:schemeClr val="accent5"/>
            </a:solidFill>
            <a:prstDash val="solid"/>
          </a:ln>
        </p:spPr>
      </p:sp>
      <p:sp>
        <p:nvSpPr>
          <p:cNvPr id="29" name="Text 27"/>
          <p:cNvSpPr txBox="1"/>
          <p:nvPr/>
        </p:nvSpPr>
        <p:spPr>
          <a:xfrm>
            <a:off x="548640" y="333756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R03</a:t>
            </a:r>
            <a:endParaRPr lang="es-CL" sz="1200" dirty="0"/>
          </a:p>
        </p:txBody>
      </p:sp>
      <p:sp>
        <p:nvSpPr>
          <p:cNvPr id="30" name="Shape 28"/>
          <p:cNvSpPr/>
          <p:nvPr/>
        </p:nvSpPr>
        <p:spPr>
          <a:xfrm>
            <a:off x="1051560" y="3513582"/>
            <a:ext cx="457200" cy="0"/>
          </a:xfrm>
          <a:prstGeom prst="line">
            <a:avLst/>
          </a:prstGeom>
          <a:noFill/>
          <a:ln w="25400">
            <a:solidFill>
              <a:schemeClr val="accent1"/>
            </a:solidFill>
            <a:prstDash val="solid"/>
          </a:ln>
        </p:spPr>
      </p:sp>
      <p:sp>
        <p:nvSpPr>
          <p:cNvPr id="31" name="Text 29"/>
          <p:cNvSpPr txBox="1"/>
          <p:nvPr/>
        </p:nvSpPr>
        <p:spPr>
          <a:xfrm>
            <a:off x="1691640" y="3337560"/>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P2 a P3</a:t>
            </a:r>
            <a:endParaRPr lang="es-CL" sz="1300" dirty="0"/>
          </a:p>
        </p:txBody>
      </p:sp>
      <p:sp>
        <p:nvSpPr>
          <p:cNvPr id="32" name="Text 30"/>
          <p:cNvSpPr txBox="1"/>
          <p:nvPr/>
        </p:nvSpPr>
        <p:spPr>
          <a:xfrm>
            <a:off x="2971800" y="3337560"/>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Solo pares aprobados se instalan comercialmente</a:t>
            </a:r>
            <a:endParaRPr lang="es-CL" sz="1300" dirty="0"/>
          </a:p>
        </p:txBody>
      </p:sp>
      <p:sp>
        <p:nvSpPr>
          <p:cNvPr id="33" name="Text 31"/>
          <p:cNvSpPr txBox="1"/>
          <p:nvPr/>
        </p:nvSpPr>
        <p:spPr>
          <a:xfrm>
            <a:off x="7909560" y="3337560"/>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La orden identifica un par aprobado</a:t>
            </a:r>
            <a:endParaRPr lang="es-CL" sz="1300" dirty="0"/>
          </a:p>
        </p:txBody>
      </p:sp>
      <p:sp>
        <p:nvSpPr>
          <p:cNvPr id="34" name="Shape 32"/>
          <p:cNvSpPr/>
          <p:nvPr/>
        </p:nvSpPr>
        <p:spPr>
          <a:xfrm>
            <a:off x="548640" y="3689604"/>
            <a:ext cx="11094415" cy="0"/>
          </a:xfrm>
          <a:prstGeom prst="line">
            <a:avLst/>
          </a:prstGeom>
          <a:noFill/>
          <a:ln w="9525">
            <a:solidFill>
              <a:schemeClr val="accent5"/>
            </a:solidFill>
            <a:prstDash val="solid"/>
          </a:ln>
        </p:spPr>
      </p:sp>
      <p:sp>
        <p:nvSpPr>
          <p:cNvPr id="35" name="Text 33"/>
          <p:cNvSpPr txBox="1"/>
          <p:nvPr/>
        </p:nvSpPr>
        <p:spPr>
          <a:xfrm>
            <a:off x="548640" y="368960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R04</a:t>
            </a:r>
            <a:endParaRPr lang="es-CL" sz="1200" dirty="0"/>
          </a:p>
        </p:txBody>
      </p:sp>
      <p:sp>
        <p:nvSpPr>
          <p:cNvPr id="36" name="Shape 34"/>
          <p:cNvSpPr/>
          <p:nvPr/>
        </p:nvSpPr>
        <p:spPr>
          <a:xfrm>
            <a:off x="1051560" y="3865626"/>
            <a:ext cx="457200" cy="0"/>
          </a:xfrm>
          <a:prstGeom prst="line">
            <a:avLst/>
          </a:prstGeom>
          <a:noFill/>
          <a:ln w="25400">
            <a:solidFill>
              <a:schemeClr val="accent1"/>
            </a:solidFill>
            <a:prstDash val="solid"/>
          </a:ln>
        </p:spPr>
      </p:sp>
      <p:sp>
        <p:nvSpPr>
          <p:cNvPr id="37" name="Text 35"/>
          <p:cNvSpPr txBox="1"/>
          <p:nvPr/>
        </p:nvSpPr>
        <p:spPr>
          <a:xfrm>
            <a:off x="1691640" y="3689604"/>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A2 a P3</a:t>
            </a:r>
            <a:endParaRPr lang="es-CL" sz="1300" dirty="0"/>
          </a:p>
        </p:txBody>
      </p:sp>
      <p:sp>
        <p:nvSpPr>
          <p:cNvPr id="38" name="Text 36"/>
          <p:cNvSpPr txBox="1"/>
          <p:nvPr/>
        </p:nvSpPr>
        <p:spPr>
          <a:xfrm>
            <a:off x="2971800" y="3689604"/>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Personal habilitado sostiene la ejecución segura</a:t>
            </a:r>
            <a:endParaRPr lang="es-CL" sz="1300" dirty="0"/>
          </a:p>
        </p:txBody>
      </p:sp>
      <p:sp>
        <p:nvSpPr>
          <p:cNvPr id="39" name="Text 37"/>
          <p:cNvSpPr txBox="1"/>
          <p:nvPr/>
        </p:nvSpPr>
        <p:spPr>
          <a:xfrm>
            <a:off x="7909560" y="3689604"/>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Asignaciones y checklists validados</a:t>
            </a:r>
            <a:endParaRPr lang="es-CL" sz="1300" dirty="0"/>
          </a:p>
        </p:txBody>
      </p:sp>
      <p:sp>
        <p:nvSpPr>
          <p:cNvPr id="40" name="Shape 38"/>
          <p:cNvSpPr/>
          <p:nvPr/>
        </p:nvSpPr>
        <p:spPr>
          <a:xfrm>
            <a:off x="548640" y="4041648"/>
            <a:ext cx="11094415" cy="0"/>
          </a:xfrm>
          <a:prstGeom prst="line">
            <a:avLst/>
          </a:prstGeom>
          <a:noFill/>
          <a:ln w="9525">
            <a:solidFill>
              <a:schemeClr val="accent5"/>
            </a:solidFill>
            <a:prstDash val="solid"/>
          </a:ln>
        </p:spPr>
      </p:sp>
      <p:sp>
        <p:nvSpPr>
          <p:cNvPr id="41" name="Text 39"/>
          <p:cNvSpPr txBox="1"/>
          <p:nvPr/>
        </p:nvSpPr>
        <p:spPr>
          <a:xfrm>
            <a:off x="548640" y="404164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R05</a:t>
            </a:r>
            <a:endParaRPr lang="es-CL" sz="1200" dirty="0"/>
          </a:p>
        </p:txBody>
      </p:sp>
      <p:sp>
        <p:nvSpPr>
          <p:cNvPr id="42" name="Shape 40"/>
          <p:cNvSpPr/>
          <p:nvPr/>
        </p:nvSpPr>
        <p:spPr>
          <a:xfrm>
            <a:off x="1051560" y="4217670"/>
            <a:ext cx="457200" cy="0"/>
          </a:xfrm>
          <a:prstGeom prst="line">
            <a:avLst/>
          </a:prstGeom>
          <a:noFill/>
          <a:ln w="25400">
            <a:solidFill>
              <a:schemeClr val="accent1"/>
            </a:solidFill>
            <a:prstDash val="solid"/>
          </a:ln>
        </p:spPr>
      </p:sp>
      <p:sp>
        <p:nvSpPr>
          <p:cNvPr id="43" name="Text 41"/>
          <p:cNvSpPr txBox="1"/>
          <p:nvPr/>
        </p:nvSpPr>
        <p:spPr>
          <a:xfrm>
            <a:off x="1691640" y="4041648"/>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P3 a C1</a:t>
            </a:r>
            <a:endParaRPr lang="es-CL" sz="1300" dirty="0"/>
          </a:p>
        </p:txBody>
      </p:sp>
      <p:sp>
        <p:nvSpPr>
          <p:cNvPr id="44" name="Text 42"/>
          <p:cNvSpPr txBox="1"/>
          <p:nvPr/>
        </p:nvSpPr>
        <p:spPr>
          <a:xfrm>
            <a:off x="2971800" y="4041648"/>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control final verifica la promesa técnica</a:t>
            </a:r>
            <a:endParaRPr lang="es-CL" sz="1300" dirty="0"/>
          </a:p>
        </p:txBody>
      </p:sp>
      <p:sp>
        <p:nvSpPr>
          <p:cNvPr id="45" name="Text 43"/>
          <p:cNvSpPr txBox="1"/>
          <p:nvPr/>
        </p:nvSpPr>
        <p:spPr>
          <a:xfrm>
            <a:off x="7909560" y="4041648"/>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Acta de conformidad</a:t>
            </a:r>
            <a:endParaRPr lang="es-CL" sz="1300" dirty="0"/>
          </a:p>
        </p:txBody>
      </p:sp>
      <p:sp>
        <p:nvSpPr>
          <p:cNvPr id="46" name="Shape 44"/>
          <p:cNvSpPr/>
          <p:nvPr/>
        </p:nvSpPr>
        <p:spPr>
          <a:xfrm>
            <a:off x="548640" y="4393692"/>
            <a:ext cx="11094415" cy="0"/>
          </a:xfrm>
          <a:prstGeom prst="line">
            <a:avLst/>
          </a:prstGeom>
          <a:noFill/>
          <a:ln w="9525">
            <a:solidFill>
              <a:schemeClr val="accent5"/>
            </a:solidFill>
            <a:prstDash val="solid"/>
          </a:ln>
        </p:spPr>
      </p:sp>
      <p:sp>
        <p:nvSpPr>
          <p:cNvPr id="47" name="Text 45"/>
          <p:cNvSpPr txBox="1"/>
          <p:nvPr/>
        </p:nvSpPr>
        <p:spPr>
          <a:xfrm>
            <a:off x="548640" y="439369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R06</a:t>
            </a:r>
            <a:endParaRPr lang="es-CL" sz="1200" dirty="0"/>
          </a:p>
        </p:txBody>
      </p:sp>
      <p:sp>
        <p:nvSpPr>
          <p:cNvPr id="48" name="Shape 46"/>
          <p:cNvSpPr/>
          <p:nvPr/>
        </p:nvSpPr>
        <p:spPr>
          <a:xfrm>
            <a:off x="1051560" y="4569714"/>
            <a:ext cx="457200" cy="0"/>
          </a:xfrm>
          <a:prstGeom prst="line">
            <a:avLst/>
          </a:prstGeom>
          <a:noFill/>
          <a:ln w="41275">
            <a:solidFill>
              <a:schemeClr val="tx1"/>
            </a:solidFill>
            <a:prstDash val="solid"/>
          </a:ln>
        </p:spPr>
      </p:sp>
      <p:sp>
        <p:nvSpPr>
          <p:cNvPr id="49" name="Text 47"/>
          <p:cNvSpPr txBox="1"/>
          <p:nvPr/>
        </p:nvSpPr>
        <p:spPr>
          <a:xfrm>
            <a:off x="1691640" y="4393692"/>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P1 a P5</a:t>
            </a:r>
            <a:endParaRPr lang="es-CL" sz="1300" dirty="0"/>
          </a:p>
        </p:txBody>
      </p:sp>
      <p:sp>
        <p:nvSpPr>
          <p:cNvPr id="50" name="Text 48"/>
          <p:cNvSpPr txBox="1"/>
          <p:nvPr/>
        </p:nvSpPr>
        <p:spPr>
          <a:xfrm>
            <a:off x="2971800" y="4393692"/>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La réplica también exige viabilidad regulatoria</a:t>
            </a:r>
            <a:endParaRPr lang="es-CL" sz="1300" dirty="0"/>
          </a:p>
        </p:txBody>
      </p:sp>
      <p:sp>
        <p:nvSpPr>
          <p:cNvPr id="51" name="Text 49"/>
          <p:cNvSpPr txBox="1"/>
          <p:nvPr/>
        </p:nvSpPr>
        <p:spPr>
          <a:xfrm>
            <a:off x="7909560" y="4393692"/>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Aplicabilidad a terceros verificada</a:t>
            </a:r>
            <a:endParaRPr lang="es-CL" sz="1300" dirty="0"/>
          </a:p>
        </p:txBody>
      </p:sp>
      <p:sp>
        <p:nvSpPr>
          <p:cNvPr id="52" name="Shape 50"/>
          <p:cNvSpPr/>
          <p:nvPr/>
        </p:nvSpPr>
        <p:spPr>
          <a:xfrm>
            <a:off x="548640" y="4745736"/>
            <a:ext cx="11094415" cy="0"/>
          </a:xfrm>
          <a:prstGeom prst="line">
            <a:avLst/>
          </a:prstGeom>
          <a:noFill/>
          <a:ln w="9525">
            <a:solidFill>
              <a:schemeClr val="accent5"/>
            </a:solidFill>
            <a:prstDash val="solid"/>
          </a:ln>
        </p:spPr>
      </p:sp>
      <p:sp>
        <p:nvSpPr>
          <p:cNvPr id="53" name="Text 51"/>
          <p:cNvSpPr txBox="1"/>
          <p:nvPr/>
        </p:nvSpPr>
        <p:spPr>
          <a:xfrm>
            <a:off x="548640" y="474573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R07</a:t>
            </a:r>
            <a:endParaRPr lang="es-CL" sz="1200" dirty="0"/>
          </a:p>
        </p:txBody>
      </p:sp>
      <p:sp>
        <p:nvSpPr>
          <p:cNvPr id="54" name="Shape 52"/>
          <p:cNvSpPr/>
          <p:nvPr/>
        </p:nvSpPr>
        <p:spPr>
          <a:xfrm>
            <a:off x="1051560" y="4921758"/>
            <a:ext cx="457200" cy="0"/>
          </a:xfrm>
          <a:prstGeom prst="line">
            <a:avLst/>
          </a:prstGeom>
          <a:noFill/>
          <a:ln w="25400">
            <a:solidFill>
              <a:schemeClr val="accent1"/>
            </a:solidFill>
            <a:prstDash val="solid"/>
          </a:ln>
        </p:spPr>
      </p:sp>
      <p:sp>
        <p:nvSpPr>
          <p:cNvPr id="55" name="Text 53"/>
          <p:cNvSpPr txBox="1"/>
          <p:nvPr/>
        </p:nvSpPr>
        <p:spPr>
          <a:xfrm>
            <a:off x="1691640" y="4745736"/>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A3 a P4</a:t>
            </a:r>
            <a:endParaRPr lang="es-CL" sz="1300" dirty="0"/>
          </a:p>
        </p:txBody>
      </p:sp>
      <p:sp>
        <p:nvSpPr>
          <p:cNvPr id="56" name="Text 54"/>
          <p:cNvSpPr txBox="1"/>
          <p:nvPr/>
        </p:nvSpPr>
        <p:spPr>
          <a:xfrm>
            <a:off x="2971800" y="4745736"/>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Datos comparables permiten informes defendibles</a:t>
            </a:r>
            <a:endParaRPr lang="es-CL" sz="1300" dirty="0"/>
          </a:p>
        </p:txBody>
      </p:sp>
      <p:sp>
        <p:nvSpPr>
          <p:cNvPr id="57" name="Text 55"/>
          <p:cNvSpPr txBox="1"/>
          <p:nvPr/>
        </p:nvSpPr>
        <p:spPr>
          <a:xfrm>
            <a:off x="7909560" y="4745736"/>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Expedientes con línea base común</a:t>
            </a:r>
            <a:endParaRPr lang="es-CL" sz="1300" dirty="0"/>
          </a:p>
        </p:txBody>
      </p:sp>
      <p:sp>
        <p:nvSpPr>
          <p:cNvPr id="58" name="Shape 56"/>
          <p:cNvSpPr/>
          <p:nvPr/>
        </p:nvSpPr>
        <p:spPr>
          <a:xfrm>
            <a:off x="548640" y="5097780"/>
            <a:ext cx="11094415" cy="0"/>
          </a:xfrm>
          <a:prstGeom prst="line">
            <a:avLst/>
          </a:prstGeom>
          <a:noFill/>
          <a:ln w="9525">
            <a:solidFill>
              <a:schemeClr val="accent5"/>
            </a:solidFill>
            <a:prstDash val="solid"/>
          </a:ln>
        </p:spPr>
      </p:sp>
      <p:sp>
        <p:nvSpPr>
          <p:cNvPr id="59" name="Text 57"/>
          <p:cNvSpPr txBox="1"/>
          <p:nvPr/>
        </p:nvSpPr>
        <p:spPr>
          <a:xfrm>
            <a:off x="548640" y="509778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R08</a:t>
            </a:r>
            <a:endParaRPr lang="es-CL" sz="1200" dirty="0"/>
          </a:p>
        </p:txBody>
      </p:sp>
      <p:sp>
        <p:nvSpPr>
          <p:cNvPr id="60" name="Shape 58"/>
          <p:cNvSpPr/>
          <p:nvPr/>
        </p:nvSpPr>
        <p:spPr>
          <a:xfrm>
            <a:off x="1051560" y="5273802"/>
            <a:ext cx="457200" cy="0"/>
          </a:xfrm>
          <a:prstGeom prst="line">
            <a:avLst/>
          </a:prstGeom>
          <a:noFill/>
          <a:ln w="19050">
            <a:solidFill>
              <a:schemeClr val="accent1"/>
            </a:solidFill>
            <a:prstDash val="dash"/>
          </a:ln>
        </p:spPr>
      </p:sp>
      <p:sp>
        <p:nvSpPr>
          <p:cNvPr id="61" name="Text 59"/>
          <p:cNvSpPr txBox="1"/>
          <p:nvPr/>
        </p:nvSpPr>
        <p:spPr>
          <a:xfrm>
            <a:off x="1691640" y="5097780"/>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P3 a P4</a:t>
            </a:r>
            <a:endParaRPr lang="es-CL" sz="1300" dirty="0"/>
          </a:p>
        </p:txBody>
      </p:sp>
      <p:sp>
        <p:nvSpPr>
          <p:cNvPr id="62" name="Text 60"/>
          <p:cNvSpPr txBox="1"/>
          <p:nvPr/>
        </p:nvSpPr>
        <p:spPr>
          <a:xfrm>
            <a:off x="2971800" y="5097780"/>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Una instalación trazable permite el seguimiento</a:t>
            </a:r>
            <a:endParaRPr lang="es-CL" sz="1300" dirty="0"/>
          </a:p>
        </p:txBody>
      </p:sp>
      <p:sp>
        <p:nvSpPr>
          <p:cNvPr id="63" name="Text 61"/>
          <p:cNvSpPr txBox="1"/>
          <p:nvPr/>
        </p:nvSpPr>
        <p:spPr>
          <a:xfrm>
            <a:off x="7909560" y="5097780"/>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Componentes y línea base identificados</a:t>
            </a:r>
            <a:endParaRPr lang="es-CL" sz="1300" dirty="0"/>
          </a:p>
        </p:txBody>
      </p:sp>
      <p:sp>
        <p:nvSpPr>
          <p:cNvPr id="64" name="Shape 62"/>
          <p:cNvSpPr/>
          <p:nvPr/>
        </p:nvSpPr>
        <p:spPr>
          <a:xfrm>
            <a:off x="548640" y="5449824"/>
            <a:ext cx="11094415" cy="0"/>
          </a:xfrm>
          <a:prstGeom prst="line">
            <a:avLst/>
          </a:prstGeom>
          <a:noFill/>
          <a:ln w="9525">
            <a:solidFill>
              <a:schemeClr val="accent5"/>
            </a:solidFill>
            <a:prstDash val="solid"/>
          </a:ln>
        </p:spPr>
      </p:sp>
      <p:sp>
        <p:nvSpPr>
          <p:cNvPr id="65" name="Text 63"/>
          <p:cNvSpPr txBox="1"/>
          <p:nvPr/>
        </p:nvSpPr>
        <p:spPr>
          <a:xfrm>
            <a:off x="548640" y="544982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R09</a:t>
            </a:r>
            <a:endParaRPr lang="es-CL" sz="1200" dirty="0"/>
          </a:p>
        </p:txBody>
      </p:sp>
      <p:sp>
        <p:nvSpPr>
          <p:cNvPr id="66" name="Shape 64"/>
          <p:cNvSpPr/>
          <p:nvPr/>
        </p:nvSpPr>
        <p:spPr>
          <a:xfrm>
            <a:off x="1051560" y="5625846"/>
            <a:ext cx="457200" cy="0"/>
          </a:xfrm>
          <a:prstGeom prst="line">
            <a:avLst/>
          </a:prstGeom>
          <a:noFill/>
          <a:ln w="25400">
            <a:solidFill>
              <a:schemeClr val="accent1"/>
            </a:solidFill>
            <a:prstDash val="solid"/>
          </a:ln>
        </p:spPr>
      </p:sp>
      <p:sp>
        <p:nvSpPr>
          <p:cNvPr id="67" name="Text 65"/>
          <p:cNvSpPr txBox="1"/>
          <p:nvPr/>
        </p:nvSpPr>
        <p:spPr>
          <a:xfrm>
            <a:off x="1691640" y="5449824"/>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P4 a C2</a:t>
            </a:r>
            <a:endParaRPr lang="es-CL" sz="1300" dirty="0"/>
          </a:p>
        </p:txBody>
      </p:sp>
      <p:sp>
        <p:nvSpPr>
          <p:cNvPr id="68" name="Text 66"/>
          <p:cNvSpPr txBox="1"/>
          <p:nvPr/>
        </p:nvSpPr>
        <p:spPr>
          <a:xfrm>
            <a:off x="2971800" y="5449824"/>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Datos revisados habilitan un reporte confiable</a:t>
            </a:r>
            <a:endParaRPr lang="es-CL" sz="1300" dirty="0"/>
          </a:p>
        </p:txBody>
      </p:sp>
      <p:sp>
        <p:nvSpPr>
          <p:cNvPr id="69" name="Text 67"/>
          <p:cNvSpPr txBox="1"/>
          <p:nvPr/>
        </p:nvSpPr>
        <p:spPr>
          <a:xfrm>
            <a:off x="7909560" y="5449824"/>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Informe con método, límites y acuse</a:t>
            </a:r>
            <a:endParaRPr lang="es-CL" sz="1300" dirty="0"/>
          </a:p>
        </p:txBody>
      </p:sp>
      <p:sp>
        <p:nvSpPr>
          <p:cNvPr id="70" name="Shape 68"/>
          <p:cNvSpPr/>
          <p:nvPr/>
        </p:nvSpPr>
        <p:spPr>
          <a:xfrm>
            <a:off x="548640" y="5801868"/>
            <a:ext cx="11094415" cy="0"/>
          </a:xfrm>
          <a:prstGeom prst="line">
            <a:avLst/>
          </a:prstGeom>
          <a:noFill/>
          <a:ln w="9525">
            <a:solidFill>
              <a:schemeClr val="accent5"/>
            </a:solidFill>
            <a:prstDash val="solid"/>
          </a:ln>
        </p:spPr>
      </p:sp>
      <p:sp>
        <p:nvSpPr>
          <p:cNvPr id="71" name="Text 69"/>
          <p:cNvSpPr txBox="1"/>
          <p:nvPr/>
        </p:nvSpPr>
        <p:spPr>
          <a:xfrm>
            <a:off x="548640" y="580186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R10</a:t>
            </a:r>
            <a:endParaRPr lang="es-CL" sz="1200" dirty="0"/>
          </a:p>
        </p:txBody>
      </p:sp>
      <p:sp>
        <p:nvSpPr>
          <p:cNvPr id="72" name="Shape 70"/>
          <p:cNvSpPr/>
          <p:nvPr/>
        </p:nvSpPr>
        <p:spPr>
          <a:xfrm>
            <a:off x="1051560" y="5977890"/>
            <a:ext cx="457200" cy="0"/>
          </a:xfrm>
          <a:prstGeom prst="line">
            <a:avLst/>
          </a:prstGeom>
          <a:noFill/>
          <a:ln w="19050">
            <a:solidFill>
              <a:schemeClr val="accent1"/>
            </a:solidFill>
            <a:prstDash val="dash"/>
          </a:ln>
        </p:spPr>
      </p:sp>
      <p:sp>
        <p:nvSpPr>
          <p:cNvPr id="73" name="Text 71"/>
          <p:cNvSpPr txBox="1"/>
          <p:nvPr/>
        </p:nvSpPr>
        <p:spPr>
          <a:xfrm>
            <a:off x="1691640" y="5801868"/>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C1 a C3</a:t>
            </a:r>
            <a:endParaRPr lang="es-CL" sz="1300" dirty="0"/>
          </a:p>
        </p:txBody>
      </p:sp>
      <p:sp>
        <p:nvSpPr>
          <p:cNvPr id="74" name="Text 72"/>
          <p:cNvSpPr txBox="1"/>
          <p:nvPr/>
        </p:nvSpPr>
        <p:spPr>
          <a:xfrm>
            <a:off x="2971800" y="5801868"/>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Cumplir la promesa técnica reforzaría la confianza</a:t>
            </a:r>
            <a:endParaRPr lang="es-CL" sz="1300" dirty="0"/>
          </a:p>
        </p:txBody>
      </p:sp>
      <p:sp>
        <p:nvSpPr>
          <p:cNvPr id="75" name="Text 73"/>
          <p:cNvSpPr txBox="1"/>
          <p:nvPr/>
        </p:nvSpPr>
        <p:spPr>
          <a:xfrm>
            <a:off x="7909560" y="5801868"/>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Opinión posservicio y reclamos</a:t>
            </a:r>
            <a:endParaRPr lang="es-CL" sz="1300" dirty="0"/>
          </a:p>
        </p:txBody>
      </p:sp>
      <p:sp>
        <p:nvSpPr>
          <p:cNvPr id="76" name="Shape 74"/>
          <p:cNvSpPr/>
          <p:nvPr/>
        </p:nvSpPr>
        <p:spPr>
          <a:xfrm>
            <a:off x="548640" y="615391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MAPA · R11 A R20</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LAS 20 RELACIONES: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R11 a R20.</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CMI en red revisado (propuesta del equipo para la Solemne 2). Relaciones habilitantes, condiciones externas e hipótesis; ninguna es una correlación medida.</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Text 10"/>
          <p:cNvSpPr txBox="1"/>
          <p:nvPr/>
        </p:nvSpPr>
        <p:spPr>
          <a:xfrm>
            <a:off x="548640" y="2322576"/>
            <a:ext cx="1143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a:t>
            </a:r>
            <a:endParaRPr lang="es-CL" sz="1200" dirty="0"/>
          </a:p>
        </p:txBody>
      </p:sp>
      <p:sp>
        <p:nvSpPr>
          <p:cNvPr id="13" name="Text 11"/>
          <p:cNvSpPr txBox="1"/>
          <p:nvPr/>
        </p:nvSpPr>
        <p:spPr>
          <a:xfrm>
            <a:off x="1691640" y="2322576"/>
            <a:ext cx="12801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 · A</a:t>
            </a:r>
            <a:endParaRPr lang="es-CL" sz="1200" dirty="0"/>
          </a:p>
        </p:txBody>
      </p:sp>
      <p:sp>
        <p:nvSpPr>
          <p:cNvPr id="14" name="Text 12"/>
          <p:cNvSpPr txBox="1"/>
          <p:nvPr/>
        </p:nvSpPr>
        <p:spPr>
          <a:xfrm>
            <a:off x="2971800" y="2322576"/>
            <a:ext cx="4937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MECANISMO</a:t>
            </a:r>
            <a:endParaRPr lang="es-CL" sz="1200" dirty="0"/>
          </a:p>
        </p:txBody>
      </p:sp>
      <p:sp>
        <p:nvSpPr>
          <p:cNvPr id="15" name="Text 13"/>
          <p:cNvSpPr txBox="1"/>
          <p:nvPr/>
        </p:nvSpPr>
        <p:spPr>
          <a:xfrm>
            <a:off x="7909560" y="2322576"/>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CÓMO SE COMPRUEBA</a:t>
            </a:r>
            <a:endParaRPr lang="es-CL" sz="1200" dirty="0"/>
          </a:p>
        </p:txBody>
      </p:sp>
      <p:sp>
        <p:nvSpPr>
          <p:cNvPr id="16" name="Shape 14"/>
          <p:cNvSpPr/>
          <p:nvPr/>
        </p:nvSpPr>
        <p:spPr>
          <a:xfrm>
            <a:off x="548640" y="2633472"/>
            <a:ext cx="11094415" cy="0"/>
          </a:xfrm>
          <a:prstGeom prst="line">
            <a:avLst/>
          </a:prstGeom>
          <a:noFill/>
          <a:ln w="9525">
            <a:solidFill>
              <a:schemeClr val="accent1"/>
            </a:solidFill>
            <a:prstDash val="solid"/>
          </a:ln>
        </p:spPr>
      </p:sp>
      <p:sp>
        <p:nvSpPr>
          <p:cNvPr id="17" name="Text 15"/>
          <p:cNvSpPr txBox="1"/>
          <p:nvPr/>
        </p:nvSpPr>
        <p:spPr>
          <a:xfrm>
            <a:off x="548640" y="263347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R11</a:t>
            </a:r>
            <a:endParaRPr lang="es-CL" sz="1200" dirty="0"/>
          </a:p>
        </p:txBody>
      </p:sp>
      <p:sp>
        <p:nvSpPr>
          <p:cNvPr id="18" name="Shape 16"/>
          <p:cNvSpPr/>
          <p:nvPr/>
        </p:nvSpPr>
        <p:spPr>
          <a:xfrm>
            <a:off x="1051560" y="2809494"/>
            <a:ext cx="457200" cy="0"/>
          </a:xfrm>
          <a:prstGeom prst="line">
            <a:avLst/>
          </a:prstGeom>
          <a:noFill/>
          <a:ln w="19050">
            <a:solidFill>
              <a:schemeClr val="accent1"/>
            </a:solidFill>
            <a:prstDash val="dash"/>
          </a:ln>
        </p:spPr>
      </p:sp>
      <p:sp>
        <p:nvSpPr>
          <p:cNvPr id="19" name="Text 17"/>
          <p:cNvSpPr txBox="1"/>
          <p:nvPr/>
        </p:nvSpPr>
        <p:spPr>
          <a:xfrm>
            <a:off x="1691640" y="2633472"/>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C2 a C3</a:t>
            </a:r>
            <a:endParaRPr lang="es-CL" sz="1300" dirty="0"/>
          </a:p>
        </p:txBody>
      </p:sp>
      <p:sp>
        <p:nvSpPr>
          <p:cNvPr id="20" name="Text 18"/>
          <p:cNvSpPr txBox="1"/>
          <p:nvPr/>
        </p:nvSpPr>
        <p:spPr>
          <a:xfrm>
            <a:off x="2971800" y="2633472"/>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Evidencia comprensible del ahorro sumaría confianza</a:t>
            </a:r>
            <a:endParaRPr lang="es-CL" sz="1300" dirty="0"/>
          </a:p>
        </p:txBody>
      </p:sp>
      <p:sp>
        <p:nvSpPr>
          <p:cNvPr id="21" name="Text 19"/>
          <p:cNvSpPr txBox="1"/>
          <p:nvPr/>
        </p:nvSpPr>
        <p:spPr>
          <a:xfrm>
            <a:off x="7909560" y="2633472"/>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Opinión posservicio y reclamos</a:t>
            </a:r>
            <a:endParaRPr lang="es-CL" sz="1300" dirty="0"/>
          </a:p>
        </p:txBody>
      </p:sp>
      <p:sp>
        <p:nvSpPr>
          <p:cNvPr id="22" name="Shape 20"/>
          <p:cNvSpPr/>
          <p:nvPr/>
        </p:nvSpPr>
        <p:spPr>
          <a:xfrm>
            <a:off x="548640" y="2985516"/>
            <a:ext cx="11094415" cy="0"/>
          </a:xfrm>
          <a:prstGeom prst="line">
            <a:avLst/>
          </a:prstGeom>
          <a:noFill/>
          <a:ln w="9525">
            <a:solidFill>
              <a:schemeClr val="accent5"/>
            </a:solidFill>
            <a:prstDash val="solid"/>
          </a:ln>
        </p:spPr>
      </p:sp>
      <p:sp>
        <p:nvSpPr>
          <p:cNvPr id="23" name="Text 21"/>
          <p:cNvSpPr txBox="1"/>
          <p:nvPr/>
        </p:nvSpPr>
        <p:spPr>
          <a:xfrm>
            <a:off x="548640" y="298551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R12</a:t>
            </a:r>
            <a:endParaRPr lang="es-CL" sz="1200" dirty="0"/>
          </a:p>
        </p:txBody>
      </p:sp>
      <p:sp>
        <p:nvSpPr>
          <p:cNvPr id="24" name="Shape 22"/>
          <p:cNvSpPr/>
          <p:nvPr/>
        </p:nvSpPr>
        <p:spPr>
          <a:xfrm>
            <a:off x="1051560" y="3161538"/>
            <a:ext cx="457200" cy="0"/>
          </a:xfrm>
          <a:prstGeom prst="line">
            <a:avLst/>
          </a:prstGeom>
          <a:noFill/>
          <a:ln w="19050">
            <a:solidFill>
              <a:schemeClr val="accent1"/>
            </a:solidFill>
            <a:prstDash val="dash"/>
          </a:ln>
        </p:spPr>
      </p:sp>
      <p:sp>
        <p:nvSpPr>
          <p:cNvPr id="25" name="Text 23"/>
          <p:cNvSpPr txBox="1"/>
          <p:nvPr/>
        </p:nvSpPr>
        <p:spPr>
          <a:xfrm>
            <a:off x="1691640" y="2985516"/>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P6 a C3</a:t>
            </a:r>
            <a:endParaRPr lang="es-CL" sz="1300" dirty="0"/>
          </a:p>
        </p:txBody>
      </p:sp>
      <p:sp>
        <p:nvSpPr>
          <p:cNvPr id="26" name="Text 24"/>
          <p:cNvSpPr txBox="1"/>
          <p:nvPr/>
        </p:nvSpPr>
        <p:spPr>
          <a:xfrm>
            <a:off x="2971800" y="2985516"/>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respaldo de aseguradoras y plantas suma confianza</a:t>
            </a:r>
            <a:endParaRPr lang="es-CL" sz="1300" dirty="0"/>
          </a:p>
        </p:txBody>
      </p:sp>
      <p:sp>
        <p:nvSpPr>
          <p:cNvPr id="27" name="Text 25"/>
          <p:cNvSpPr txBox="1"/>
          <p:nvPr/>
        </p:nvSpPr>
        <p:spPr>
          <a:xfrm>
            <a:off x="7909560" y="2985516"/>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Confianza con y sin respaldo</a:t>
            </a:r>
            <a:endParaRPr lang="es-CL" sz="1300" dirty="0"/>
          </a:p>
        </p:txBody>
      </p:sp>
      <p:sp>
        <p:nvSpPr>
          <p:cNvPr id="28" name="Shape 26"/>
          <p:cNvSpPr/>
          <p:nvPr/>
        </p:nvSpPr>
        <p:spPr>
          <a:xfrm>
            <a:off x="548640" y="3337560"/>
            <a:ext cx="11094415" cy="0"/>
          </a:xfrm>
          <a:prstGeom prst="line">
            <a:avLst/>
          </a:prstGeom>
          <a:noFill/>
          <a:ln w="9525">
            <a:solidFill>
              <a:schemeClr val="accent5"/>
            </a:solidFill>
            <a:prstDash val="solid"/>
          </a:ln>
        </p:spPr>
      </p:sp>
      <p:sp>
        <p:nvSpPr>
          <p:cNvPr id="29" name="Text 27"/>
          <p:cNvSpPr txBox="1"/>
          <p:nvPr/>
        </p:nvSpPr>
        <p:spPr>
          <a:xfrm>
            <a:off x="548640" y="333756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R13</a:t>
            </a:r>
            <a:endParaRPr lang="es-CL" sz="1200" dirty="0"/>
          </a:p>
        </p:txBody>
      </p:sp>
      <p:sp>
        <p:nvSpPr>
          <p:cNvPr id="30" name="Shape 28"/>
          <p:cNvSpPr/>
          <p:nvPr/>
        </p:nvSpPr>
        <p:spPr>
          <a:xfrm>
            <a:off x="1051560" y="3513582"/>
            <a:ext cx="457200" cy="0"/>
          </a:xfrm>
          <a:prstGeom prst="line">
            <a:avLst/>
          </a:prstGeom>
          <a:noFill/>
          <a:ln w="19050">
            <a:solidFill>
              <a:schemeClr val="accent1"/>
            </a:solidFill>
            <a:prstDash val="dash"/>
          </a:ln>
        </p:spPr>
      </p:sp>
      <p:sp>
        <p:nvSpPr>
          <p:cNvPr id="31" name="Text 29"/>
          <p:cNvSpPr txBox="1"/>
          <p:nvPr/>
        </p:nvSpPr>
        <p:spPr>
          <a:xfrm>
            <a:off x="1691640" y="3337560"/>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C3 a C4</a:t>
            </a:r>
            <a:endParaRPr lang="es-CL" sz="1300" dirty="0"/>
          </a:p>
        </p:txBody>
      </p:sp>
      <p:sp>
        <p:nvSpPr>
          <p:cNvPr id="32" name="Text 30"/>
          <p:cNvSpPr txBox="1"/>
          <p:nvPr/>
        </p:nvSpPr>
        <p:spPr>
          <a:xfrm>
            <a:off x="2971800" y="3337560"/>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Más confianza mejoraría la conversión de consultas</a:t>
            </a:r>
            <a:endParaRPr lang="es-CL" sz="1300" dirty="0"/>
          </a:p>
        </p:txBody>
      </p:sp>
      <p:sp>
        <p:nvSpPr>
          <p:cNvPr id="33" name="Text 31"/>
          <p:cNvSpPr txBox="1"/>
          <p:nvPr/>
        </p:nvSpPr>
        <p:spPr>
          <a:xfrm>
            <a:off x="7909560" y="3337560"/>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Conversión segmentada antes y después</a:t>
            </a:r>
            <a:endParaRPr lang="es-CL" sz="1300" dirty="0"/>
          </a:p>
        </p:txBody>
      </p:sp>
      <p:sp>
        <p:nvSpPr>
          <p:cNvPr id="34" name="Shape 32"/>
          <p:cNvSpPr/>
          <p:nvPr/>
        </p:nvSpPr>
        <p:spPr>
          <a:xfrm>
            <a:off x="548640" y="3689604"/>
            <a:ext cx="11094415" cy="0"/>
          </a:xfrm>
          <a:prstGeom prst="line">
            <a:avLst/>
          </a:prstGeom>
          <a:noFill/>
          <a:ln w="9525">
            <a:solidFill>
              <a:schemeClr val="accent5"/>
            </a:solidFill>
            <a:prstDash val="solid"/>
          </a:ln>
        </p:spPr>
      </p:sp>
      <p:sp>
        <p:nvSpPr>
          <p:cNvPr id="35" name="Text 33"/>
          <p:cNvSpPr txBox="1"/>
          <p:nvPr/>
        </p:nvSpPr>
        <p:spPr>
          <a:xfrm>
            <a:off x="548640" y="368960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R14</a:t>
            </a:r>
            <a:endParaRPr lang="es-CL" sz="1200" dirty="0"/>
          </a:p>
        </p:txBody>
      </p:sp>
      <p:sp>
        <p:nvSpPr>
          <p:cNvPr id="36" name="Shape 34"/>
          <p:cNvSpPr/>
          <p:nvPr/>
        </p:nvSpPr>
        <p:spPr>
          <a:xfrm>
            <a:off x="1051560" y="3865626"/>
            <a:ext cx="457200" cy="0"/>
          </a:xfrm>
          <a:prstGeom prst="line">
            <a:avLst/>
          </a:prstGeom>
          <a:noFill/>
          <a:ln w="19050">
            <a:solidFill>
              <a:schemeClr val="accent1"/>
            </a:solidFill>
            <a:prstDash val="dash"/>
          </a:ln>
        </p:spPr>
      </p:sp>
      <p:sp>
        <p:nvSpPr>
          <p:cNvPr id="37" name="Text 35"/>
          <p:cNvSpPr txBox="1"/>
          <p:nvPr/>
        </p:nvSpPr>
        <p:spPr>
          <a:xfrm>
            <a:off x="1691640" y="3689604"/>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P6 a C4</a:t>
            </a:r>
            <a:endParaRPr lang="es-CL" sz="1300" dirty="0"/>
          </a:p>
        </p:txBody>
      </p:sp>
      <p:sp>
        <p:nvSpPr>
          <p:cNvPr id="38" name="Text 36"/>
          <p:cNvSpPr txBox="1"/>
          <p:nvPr/>
        </p:nvSpPr>
        <p:spPr>
          <a:xfrm>
            <a:off x="2971800" y="3689604"/>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La cuota disponible destrabaría la compra</a:t>
            </a:r>
            <a:endParaRPr lang="es-CL" sz="1300" dirty="0"/>
          </a:p>
        </p:txBody>
      </p:sp>
      <p:sp>
        <p:nvSpPr>
          <p:cNvPr id="39" name="Text 37"/>
          <p:cNvSpPr txBox="1"/>
          <p:nvPr/>
        </p:nvSpPr>
        <p:spPr>
          <a:xfrm>
            <a:off x="7909560" y="3689604"/>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Conversión con y sin financiamiento</a:t>
            </a:r>
            <a:endParaRPr lang="es-CL" sz="1300" dirty="0"/>
          </a:p>
        </p:txBody>
      </p:sp>
      <p:sp>
        <p:nvSpPr>
          <p:cNvPr id="40" name="Shape 38"/>
          <p:cNvSpPr/>
          <p:nvPr/>
        </p:nvSpPr>
        <p:spPr>
          <a:xfrm>
            <a:off x="548640" y="4041648"/>
            <a:ext cx="11094415" cy="0"/>
          </a:xfrm>
          <a:prstGeom prst="line">
            <a:avLst/>
          </a:prstGeom>
          <a:noFill/>
          <a:ln w="9525">
            <a:solidFill>
              <a:schemeClr val="accent5"/>
            </a:solidFill>
            <a:prstDash val="solid"/>
          </a:ln>
        </p:spPr>
      </p:sp>
      <p:sp>
        <p:nvSpPr>
          <p:cNvPr id="41" name="Text 39"/>
          <p:cNvSpPr txBox="1"/>
          <p:nvPr/>
        </p:nvSpPr>
        <p:spPr>
          <a:xfrm>
            <a:off x="548640" y="404164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R15</a:t>
            </a:r>
            <a:endParaRPr lang="es-CL" sz="1200" dirty="0"/>
          </a:p>
        </p:txBody>
      </p:sp>
      <p:sp>
        <p:nvSpPr>
          <p:cNvPr id="42" name="Shape 40"/>
          <p:cNvSpPr/>
          <p:nvPr/>
        </p:nvSpPr>
        <p:spPr>
          <a:xfrm>
            <a:off x="1051560" y="4217670"/>
            <a:ext cx="457200" cy="0"/>
          </a:xfrm>
          <a:prstGeom prst="line">
            <a:avLst/>
          </a:prstGeom>
          <a:noFill/>
          <a:ln w="19050">
            <a:solidFill>
              <a:schemeClr val="accent1"/>
            </a:solidFill>
            <a:prstDash val="dash"/>
          </a:ln>
        </p:spPr>
      </p:sp>
      <p:sp>
        <p:nvSpPr>
          <p:cNvPr id="43" name="Text 41"/>
          <p:cNvSpPr txBox="1"/>
          <p:nvPr/>
        </p:nvSpPr>
        <p:spPr>
          <a:xfrm>
            <a:off x="1691640" y="4041648"/>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C4 a F2</a:t>
            </a:r>
            <a:endParaRPr lang="es-CL" sz="1300" dirty="0"/>
          </a:p>
        </p:txBody>
      </p:sp>
      <p:sp>
        <p:nvSpPr>
          <p:cNvPr id="44" name="Text 42"/>
          <p:cNvSpPr txBox="1"/>
          <p:nvPr/>
        </p:nvSpPr>
        <p:spPr>
          <a:xfrm>
            <a:off x="2971800" y="4041648"/>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Más volumen aporta solo con precio y costo controlados</a:t>
            </a:r>
            <a:endParaRPr lang="es-CL" sz="1300" dirty="0"/>
          </a:p>
        </p:txBody>
      </p:sp>
      <p:sp>
        <p:nvSpPr>
          <p:cNvPr id="45" name="Text 43"/>
          <p:cNvSpPr txBox="1"/>
          <p:nvPr/>
        </p:nvSpPr>
        <p:spPr>
          <a:xfrm>
            <a:off x="7909560" y="4041648"/>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Margen real y contribución total</a:t>
            </a:r>
            <a:endParaRPr lang="es-CL" sz="1300" dirty="0"/>
          </a:p>
        </p:txBody>
      </p:sp>
      <p:sp>
        <p:nvSpPr>
          <p:cNvPr id="46" name="Shape 44"/>
          <p:cNvSpPr/>
          <p:nvPr/>
        </p:nvSpPr>
        <p:spPr>
          <a:xfrm>
            <a:off x="548640" y="4393692"/>
            <a:ext cx="11094415" cy="0"/>
          </a:xfrm>
          <a:prstGeom prst="line">
            <a:avLst/>
          </a:prstGeom>
          <a:noFill/>
          <a:ln w="9525">
            <a:solidFill>
              <a:schemeClr val="accent5"/>
            </a:solidFill>
            <a:prstDash val="solid"/>
          </a:ln>
        </p:spPr>
      </p:sp>
      <p:sp>
        <p:nvSpPr>
          <p:cNvPr id="47" name="Text 45"/>
          <p:cNvSpPr txBox="1"/>
          <p:nvPr/>
        </p:nvSpPr>
        <p:spPr>
          <a:xfrm>
            <a:off x="548640" y="439369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R16</a:t>
            </a:r>
            <a:endParaRPr lang="es-CL" sz="1200" dirty="0"/>
          </a:p>
        </p:txBody>
      </p:sp>
      <p:sp>
        <p:nvSpPr>
          <p:cNvPr id="48" name="Shape 46"/>
          <p:cNvSpPr/>
          <p:nvPr/>
        </p:nvSpPr>
        <p:spPr>
          <a:xfrm>
            <a:off x="1051560" y="4569714"/>
            <a:ext cx="457200" cy="0"/>
          </a:xfrm>
          <a:prstGeom prst="line">
            <a:avLst/>
          </a:prstGeom>
          <a:noFill/>
          <a:ln w="19050">
            <a:solidFill>
              <a:schemeClr val="accent1"/>
            </a:solidFill>
            <a:prstDash val="dash"/>
          </a:ln>
        </p:spPr>
      </p:sp>
      <p:sp>
        <p:nvSpPr>
          <p:cNvPr id="49" name="Text 47"/>
          <p:cNvSpPr txBox="1"/>
          <p:nvPr/>
        </p:nvSpPr>
        <p:spPr>
          <a:xfrm>
            <a:off x="1691640" y="4393692"/>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P3 a F2</a:t>
            </a:r>
            <a:endParaRPr lang="es-CL" sz="1300" dirty="0"/>
          </a:p>
        </p:txBody>
      </p:sp>
      <p:sp>
        <p:nvSpPr>
          <p:cNvPr id="50" name="Text 48"/>
          <p:cNvSpPr txBox="1"/>
          <p:nvPr/>
        </p:nvSpPr>
        <p:spPr>
          <a:xfrm>
            <a:off x="2971800" y="4393692"/>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Menos retrabajo contendría el costo variable</a:t>
            </a:r>
            <a:endParaRPr lang="es-CL" sz="1300" dirty="0"/>
          </a:p>
        </p:txBody>
      </p:sp>
      <p:sp>
        <p:nvSpPr>
          <p:cNvPr id="51" name="Text 49"/>
          <p:cNvSpPr txBox="1"/>
          <p:nvPr/>
        </p:nvSpPr>
        <p:spPr>
          <a:xfrm>
            <a:off x="7909560" y="4393692"/>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Costo por orden y reprocesos</a:t>
            </a:r>
            <a:endParaRPr lang="es-CL" sz="1300" dirty="0"/>
          </a:p>
        </p:txBody>
      </p:sp>
      <p:sp>
        <p:nvSpPr>
          <p:cNvPr id="52" name="Shape 50"/>
          <p:cNvSpPr/>
          <p:nvPr/>
        </p:nvSpPr>
        <p:spPr>
          <a:xfrm>
            <a:off x="548640" y="4745736"/>
            <a:ext cx="11094415" cy="0"/>
          </a:xfrm>
          <a:prstGeom prst="line">
            <a:avLst/>
          </a:prstGeom>
          <a:noFill/>
          <a:ln w="9525">
            <a:solidFill>
              <a:schemeClr val="accent5"/>
            </a:solidFill>
            <a:prstDash val="solid"/>
          </a:ln>
        </p:spPr>
      </p:sp>
      <p:sp>
        <p:nvSpPr>
          <p:cNvPr id="53" name="Text 51"/>
          <p:cNvSpPr txBox="1"/>
          <p:nvPr/>
        </p:nvSpPr>
        <p:spPr>
          <a:xfrm>
            <a:off x="548640" y="474573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R17</a:t>
            </a:r>
            <a:endParaRPr lang="es-CL" sz="1200" dirty="0"/>
          </a:p>
        </p:txBody>
      </p:sp>
      <p:sp>
        <p:nvSpPr>
          <p:cNvPr id="54" name="Shape 52"/>
          <p:cNvSpPr/>
          <p:nvPr/>
        </p:nvSpPr>
        <p:spPr>
          <a:xfrm>
            <a:off x="1051560" y="4921758"/>
            <a:ext cx="457200" cy="0"/>
          </a:xfrm>
          <a:prstGeom prst="line">
            <a:avLst/>
          </a:prstGeom>
          <a:noFill/>
          <a:ln w="19050">
            <a:solidFill>
              <a:schemeClr val="accent1"/>
            </a:solidFill>
            <a:prstDash val="dash"/>
          </a:ln>
        </p:spPr>
      </p:sp>
      <p:sp>
        <p:nvSpPr>
          <p:cNvPr id="55" name="Text 53"/>
          <p:cNvSpPr txBox="1"/>
          <p:nvPr/>
        </p:nvSpPr>
        <p:spPr>
          <a:xfrm>
            <a:off x="1691640" y="4745736"/>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F2 a F1</a:t>
            </a:r>
            <a:endParaRPr lang="es-CL" sz="1300" dirty="0"/>
          </a:p>
        </p:txBody>
      </p:sp>
      <p:sp>
        <p:nvSpPr>
          <p:cNvPr id="56" name="Text 54"/>
          <p:cNvSpPr txBox="1"/>
          <p:nvPr/>
        </p:nvSpPr>
        <p:spPr>
          <a:xfrm>
            <a:off x="2971800" y="4745736"/>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margen alimenta flujos descontables</a:t>
            </a:r>
            <a:endParaRPr lang="es-CL" sz="1300" dirty="0"/>
          </a:p>
        </p:txBody>
      </p:sp>
      <p:sp>
        <p:nvSpPr>
          <p:cNvPr id="57" name="Text 55"/>
          <p:cNvSpPr txBox="1"/>
          <p:nvPr/>
        </p:nvSpPr>
        <p:spPr>
          <a:xfrm>
            <a:off x="7909560" y="4745736"/>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Conciliación de costos, ventas y flujo</a:t>
            </a:r>
            <a:endParaRPr lang="es-CL" sz="1300" dirty="0"/>
          </a:p>
        </p:txBody>
      </p:sp>
      <p:sp>
        <p:nvSpPr>
          <p:cNvPr id="58" name="Shape 56"/>
          <p:cNvSpPr/>
          <p:nvPr/>
        </p:nvSpPr>
        <p:spPr>
          <a:xfrm>
            <a:off x="548640" y="5097780"/>
            <a:ext cx="11094415" cy="0"/>
          </a:xfrm>
          <a:prstGeom prst="line">
            <a:avLst/>
          </a:prstGeom>
          <a:noFill/>
          <a:ln w="9525">
            <a:solidFill>
              <a:schemeClr val="accent5"/>
            </a:solidFill>
            <a:prstDash val="solid"/>
          </a:ln>
        </p:spPr>
      </p:sp>
      <p:sp>
        <p:nvSpPr>
          <p:cNvPr id="59" name="Text 57"/>
          <p:cNvSpPr txBox="1"/>
          <p:nvPr/>
        </p:nvSpPr>
        <p:spPr>
          <a:xfrm>
            <a:off x="548640" y="509778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R18</a:t>
            </a:r>
            <a:endParaRPr lang="es-CL" sz="1200" dirty="0"/>
          </a:p>
        </p:txBody>
      </p:sp>
      <p:sp>
        <p:nvSpPr>
          <p:cNvPr id="60" name="Shape 58"/>
          <p:cNvSpPr/>
          <p:nvPr/>
        </p:nvSpPr>
        <p:spPr>
          <a:xfrm>
            <a:off x="1051560" y="5273802"/>
            <a:ext cx="457200" cy="0"/>
          </a:xfrm>
          <a:prstGeom prst="line">
            <a:avLst/>
          </a:prstGeom>
          <a:noFill/>
          <a:ln w="19050">
            <a:solidFill>
              <a:schemeClr val="accent1"/>
            </a:solidFill>
            <a:prstDash val="dash"/>
          </a:ln>
        </p:spPr>
      </p:sp>
      <p:sp>
        <p:nvSpPr>
          <p:cNvPr id="61" name="Text 59"/>
          <p:cNvSpPr txBox="1"/>
          <p:nvPr/>
        </p:nvSpPr>
        <p:spPr>
          <a:xfrm>
            <a:off x="1691640" y="5097780"/>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A4 a P5</a:t>
            </a:r>
            <a:endParaRPr lang="es-CL" sz="1300" dirty="0"/>
          </a:p>
        </p:txBody>
      </p:sp>
      <p:sp>
        <p:nvSpPr>
          <p:cNvPr id="62" name="Text 60"/>
          <p:cNvSpPr txBox="1"/>
          <p:nvPr/>
        </p:nvSpPr>
        <p:spPr>
          <a:xfrm>
            <a:off x="2971800" y="5097780"/>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Un método documentado hace replicable el servicio</a:t>
            </a:r>
            <a:endParaRPr lang="es-CL" sz="1300" dirty="0"/>
          </a:p>
        </p:txBody>
      </p:sp>
      <p:sp>
        <p:nvSpPr>
          <p:cNvPr id="63" name="Text 61"/>
          <p:cNvSpPr txBox="1"/>
          <p:nvPr/>
        </p:nvSpPr>
        <p:spPr>
          <a:xfrm>
            <a:off x="7909560" y="5097780"/>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Paquete de formación revisado</a:t>
            </a:r>
            <a:endParaRPr lang="es-CL" sz="1300" dirty="0"/>
          </a:p>
        </p:txBody>
      </p:sp>
      <p:sp>
        <p:nvSpPr>
          <p:cNvPr id="64" name="Shape 62"/>
          <p:cNvSpPr/>
          <p:nvPr/>
        </p:nvSpPr>
        <p:spPr>
          <a:xfrm>
            <a:off x="548640" y="5449824"/>
            <a:ext cx="11094415" cy="0"/>
          </a:xfrm>
          <a:prstGeom prst="line">
            <a:avLst/>
          </a:prstGeom>
          <a:noFill/>
          <a:ln w="9525">
            <a:solidFill>
              <a:schemeClr val="accent5"/>
            </a:solidFill>
            <a:prstDash val="solid"/>
          </a:ln>
        </p:spPr>
      </p:sp>
      <p:sp>
        <p:nvSpPr>
          <p:cNvPr id="65" name="Text 63"/>
          <p:cNvSpPr txBox="1"/>
          <p:nvPr/>
        </p:nvSpPr>
        <p:spPr>
          <a:xfrm>
            <a:off x="548640" y="544982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R19</a:t>
            </a:r>
            <a:endParaRPr lang="es-CL" sz="1200" dirty="0"/>
          </a:p>
        </p:txBody>
      </p:sp>
      <p:sp>
        <p:nvSpPr>
          <p:cNvPr id="66" name="Shape 64"/>
          <p:cNvSpPr/>
          <p:nvPr/>
        </p:nvSpPr>
        <p:spPr>
          <a:xfrm>
            <a:off x="1051560" y="5625846"/>
            <a:ext cx="457200" cy="0"/>
          </a:xfrm>
          <a:prstGeom prst="line">
            <a:avLst/>
          </a:prstGeom>
          <a:noFill/>
          <a:ln w="19050">
            <a:solidFill>
              <a:schemeClr val="accent1"/>
            </a:solidFill>
            <a:prstDash val="dash"/>
          </a:ln>
        </p:spPr>
      </p:sp>
      <p:sp>
        <p:nvSpPr>
          <p:cNvPr id="67" name="Text 65"/>
          <p:cNvSpPr txBox="1"/>
          <p:nvPr/>
        </p:nvSpPr>
        <p:spPr>
          <a:xfrm>
            <a:off x="1691640" y="5449824"/>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P5 a F3</a:t>
            </a:r>
            <a:endParaRPr lang="es-CL" sz="1300" dirty="0"/>
          </a:p>
        </p:txBody>
      </p:sp>
      <p:sp>
        <p:nvSpPr>
          <p:cNvPr id="68" name="Text 66"/>
          <p:cNvSpPr txBox="1"/>
          <p:nvPr/>
        </p:nvSpPr>
        <p:spPr>
          <a:xfrm>
            <a:off x="2971800" y="5449824"/>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paquete permite evaluar la línea de licencias</a:t>
            </a:r>
            <a:endParaRPr lang="es-CL" sz="1300" dirty="0"/>
          </a:p>
        </p:txBody>
      </p:sp>
      <p:sp>
        <p:nvSpPr>
          <p:cNvPr id="69" name="Text 67"/>
          <p:cNvSpPr txBox="1"/>
          <p:nvPr/>
        </p:nvSpPr>
        <p:spPr>
          <a:xfrm>
            <a:off x="7909560" y="5449824"/>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Modelo de ingresos y costos aprobado</a:t>
            </a:r>
            <a:endParaRPr lang="es-CL" sz="1300" dirty="0"/>
          </a:p>
        </p:txBody>
      </p:sp>
      <p:sp>
        <p:nvSpPr>
          <p:cNvPr id="70" name="Shape 68"/>
          <p:cNvSpPr/>
          <p:nvPr/>
        </p:nvSpPr>
        <p:spPr>
          <a:xfrm>
            <a:off x="548640" y="5801868"/>
            <a:ext cx="11094415" cy="0"/>
          </a:xfrm>
          <a:prstGeom prst="line">
            <a:avLst/>
          </a:prstGeom>
          <a:noFill/>
          <a:ln w="9525">
            <a:solidFill>
              <a:schemeClr val="accent5"/>
            </a:solidFill>
            <a:prstDash val="solid"/>
          </a:ln>
        </p:spPr>
      </p:sp>
      <p:sp>
        <p:nvSpPr>
          <p:cNvPr id="71" name="Text 69"/>
          <p:cNvSpPr txBox="1"/>
          <p:nvPr/>
        </p:nvSpPr>
        <p:spPr>
          <a:xfrm>
            <a:off x="548640" y="580186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R20</a:t>
            </a:r>
            <a:endParaRPr lang="es-CL" sz="1200" dirty="0"/>
          </a:p>
        </p:txBody>
      </p:sp>
      <p:sp>
        <p:nvSpPr>
          <p:cNvPr id="72" name="Shape 70"/>
          <p:cNvSpPr/>
          <p:nvPr/>
        </p:nvSpPr>
        <p:spPr>
          <a:xfrm>
            <a:off x="1051560" y="5977890"/>
            <a:ext cx="457200" cy="0"/>
          </a:xfrm>
          <a:prstGeom prst="line">
            <a:avLst/>
          </a:prstGeom>
          <a:noFill/>
          <a:ln w="19050">
            <a:solidFill>
              <a:schemeClr val="accent1"/>
            </a:solidFill>
            <a:prstDash val="dash"/>
          </a:ln>
        </p:spPr>
      </p:sp>
      <p:sp>
        <p:nvSpPr>
          <p:cNvPr id="73" name="Text 71"/>
          <p:cNvSpPr txBox="1"/>
          <p:nvPr/>
        </p:nvSpPr>
        <p:spPr>
          <a:xfrm>
            <a:off x="1691640" y="5801868"/>
            <a:ext cx="11430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F3 a F1</a:t>
            </a:r>
            <a:endParaRPr lang="es-CL" sz="1300" dirty="0"/>
          </a:p>
        </p:txBody>
      </p:sp>
      <p:sp>
        <p:nvSpPr>
          <p:cNvPr id="74" name="Text 72"/>
          <p:cNvSpPr txBox="1"/>
          <p:nvPr/>
        </p:nvSpPr>
        <p:spPr>
          <a:xfrm>
            <a:off x="2971800" y="5801868"/>
            <a:ext cx="4800600"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Expandirse crea valor solo con evaluación positiva</a:t>
            </a:r>
            <a:endParaRPr lang="es-CL" sz="1300" dirty="0"/>
          </a:p>
        </p:txBody>
      </p:sp>
      <p:sp>
        <p:nvSpPr>
          <p:cNvPr id="75" name="Text 73"/>
          <p:cNvSpPr txBox="1"/>
          <p:nvPr/>
        </p:nvSpPr>
        <p:spPr>
          <a:xfrm>
            <a:off x="7909560" y="5801868"/>
            <a:ext cx="3596335" cy="352044"/>
          </a:xfrm>
          <a:prstGeom prst="rect">
            <a:avLst/>
          </a:prstGeom>
          <a:noFill/>
          <a:ln/>
        </p:spPr>
        <p:txBody>
          <a:bodyPr wrap="square" lIns="0" tIns="0" rIns="0" bIns="0" rtlCol="0" anchor="ctr"/>
          <a:lstStyle/>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VAN incremental por alternativa</a:t>
            </a:r>
            <a:endParaRPr lang="es-CL" sz="1300" dirty="0"/>
          </a:p>
        </p:txBody>
      </p:sp>
      <p:sp>
        <p:nvSpPr>
          <p:cNvPr id="76" name="Shape 74"/>
          <p:cNvSpPr/>
          <p:nvPr/>
        </p:nvSpPr>
        <p:spPr>
          <a:xfrm>
            <a:off x="548640" y="615391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DISEÑO DEL CMI · DECISIONES DEL EQUIPO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QUÉ CAMBIÓ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frente a la propuesta de 30 relaciones.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Excel «04_CMI_Red_Causal_y_Control» y dossier del CMI corregido (propuesta previa); decisiones del equipo del 20-10-2026.</a:t>
            </a:r>
            <a:endParaRPr lang="es-CL" sz="1100" dirty="0"/>
          </a:p>
        </p:txBody>
      </p:sp>
      <p:sp>
        <p:nvSpPr>
          <p:cNvPr id="6" name="Text 4"/>
          <p:cNvSpPr txBox="1"/>
          <p:nvPr/>
        </p:nvSpPr>
        <p:spPr>
          <a:xfrm>
            <a:off x="548640" y="2395728"/>
            <a:ext cx="1920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TEMA</a:t>
            </a:r>
            <a:endParaRPr lang="es-CL" sz="1200" dirty="0"/>
          </a:p>
        </p:txBody>
      </p:sp>
      <p:sp>
        <p:nvSpPr>
          <p:cNvPr id="7" name="Text 5"/>
          <p:cNvSpPr txBox="1"/>
          <p:nvPr/>
        </p:nvSpPr>
        <p:spPr>
          <a:xfrm>
            <a:off x="2468880" y="2395728"/>
            <a:ext cx="27432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PROPUESTA PREVIA</a:t>
            </a:r>
            <a:endParaRPr lang="es-CL" sz="1200" dirty="0"/>
          </a:p>
        </p:txBody>
      </p:sp>
      <p:sp>
        <p:nvSpPr>
          <p:cNvPr id="8" name="Text 6"/>
          <p:cNvSpPr txBox="1"/>
          <p:nvPr/>
        </p:nvSpPr>
        <p:spPr>
          <a:xfrm>
            <a:off x="5212080" y="2395728"/>
            <a:ext cx="3017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AHORA</a:t>
            </a:r>
            <a:endParaRPr lang="es-CL" sz="1200" dirty="0"/>
          </a:p>
        </p:txBody>
      </p:sp>
      <p:sp>
        <p:nvSpPr>
          <p:cNvPr id="9" name="Text 7"/>
          <p:cNvSpPr txBox="1"/>
          <p:nvPr/>
        </p:nvSpPr>
        <p:spPr>
          <a:xfrm>
            <a:off x="8229600" y="2395728"/>
            <a:ext cx="34134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POR QUÉ</a:t>
            </a:r>
            <a:endParaRPr lang="es-CL" sz="1200" dirty="0"/>
          </a:p>
        </p:txBody>
      </p:sp>
      <p:sp>
        <p:nvSpPr>
          <p:cNvPr id="10" name="Shape 8"/>
          <p:cNvSpPr/>
          <p:nvPr/>
        </p:nvSpPr>
        <p:spPr>
          <a:xfrm>
            <a:off x="548640" y="2706624"/>
            <a:ext cx="11094415" cy="0"/>
          </a:xfrm>
          <a:prstGeom prst="line">
            <a:avLst/>
          </a:prstGeom>
          <a:noFill/>
          <a:ln w="9525">
            <a:solidFill>
              <a:schemeClr val="accent1"/>
            </a:solidFill>
            <a:prstDash val="solid"/>
          </a:ln>
        </p:spPr>
      </p:sp>
      <p:sp>
        <p:nvSpPr>
          <p:cNvPr id="11" name="Text 9"/>
          <p:cNvSpPr txBox="1"/>
          <p:nvPr/>
        </p:nvSpPr>
        <p:spPr>
          <a:xfrm>
            <a:off x="548640" y="2706624"/>
            <a:ext cx="178308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F1 · rentabilidad</a:t>
            </a:r>
            <a:endParaRPr lang="es-CL" sz="1500" dirty="0"/>
          </a:p>
        </p:txBody>
      </p:sp>
      <p:sp>
        <p:nvSpPr>
          <p:cNvPr id="12" name="Text 10"/>
          <p:cNvSpPr txBox="1"/>
          <p:nvPr/>
        </p:nvSpPr>
        <p:spPr>
          <a:xfrm>
            <a:off x="2468880" y="2706624"/>
            <a:ext cx="2606040"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VAN del proyecto</a:t>
            </a:r>
            <a:endParaRPr lang="es-CL" sz="1500" dirty="0"/>
          </a:p>
        </p:txBody>
      </p:sp>
      <p:sp>
        <p:nvSpPr>
          <p:cNvPr id="13" name="Text 11"/>
          <p:cNvSpPr txBox="1"/>
          <p:nvPr/>
        </p:nvSpPr>
        <p:spPr>
          <a:xfrm>
            <a:off x="5212080" y="2706624"/>
            <a:ext cx="288036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Dos etapas: VAN y TIR; luego retorno frente al costo de capital</a:t>
            </a:r>
            <a:endParaRPr lang="es-CL" sz="1500" dirty="0"/>
          </a:p>
        </p:txBody>
      </p:sp>
      <p:sp>
        <p:nvSpPr>
          <p:cNvPr id="14" name="Text 12"/>
          <p:cNvSpPr txBox="1"/>
          <p:nvPr/>
        </p:nvSpPr>
        <p:spPr>
          <a:xfrm>
            <a:off x="8229600" y="2706624"/>
            <a:ext cx="3276295"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El VAN autoriza invertir, no controla la operación</a:t>
            </a:r>
            <a:endParaRPr lang="es-CL" sz="1500" dirty="0"/>
          </a:p>
        </p:txBody>
      </p:sp>
      <p:sp>
        <p:nvSpPr>
          <p:cNvPr id="15" name="Shape 13"/>
          <p:cNvSpPr/>
          <p:nvPr/>
        </p:nvSpPr>
        <p:spPr>
          <a:xfrm>
            <a:off x="548640" y="3401568"/>
            <a:ext cx="11094415" cy="0"/>
          </a:xfrm>
          <a:prstGeom prst="line">
            <a:avLst/>
          </a:prstGeom>
          <a:noFill/>
          <a:ln w="9525">
            <a:solidFill>
              <a:schemeClr val="accent5"/>
            </a:solidFill>
            <a:prstDash val="solid"/>
          </a:ln>
        </p:spPr>
      </p:sp>
      <p:sp>
        <p:nvSpPr>
          <p:cNvPr id="16" name="Text 14"/>
          <p:cNvSpPr txBox="1"/>
          <p:nvPr/>
        </p:nvSpPr>
        <p:spPr>
          <a:xfrm>
            <a:off x="548640" y="3401568"/>
            <a:ext cx="178308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Financiamiento</a:t>
            </a:r>
            <a:endParaRPr lang="es-CL" sz="1500" dirty="0"/>
          </a:p>
        </p:txBody>
      </p:sp>
      <p:sp>
        <p:nvSpPr>
          <p:cNvPr id="17" name="Text 15"/>
          <p:cNvSpPr txBox="1"/>
          <p:nvPr/>
        </p:nvSpPr>
        <p:spPr>
          <a:xfrm>
            <a:off x="2468880" y="3401568"/>
            <a:ext cx="2606040"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F3, en la perspectiva financiera</a:t>
            </a:r>
            <a:endParaRPr lang="es-CL" sz="1500" dirty="0"/>
          </a:p>
        </p:txBody>
      </p:sp>
      <p:sp>
        <p:nvSpPr>
          <p:cNvPr id="18" name="Text 16"/>
          <p:cNvSpPr txBox="1"/>
          <p:nvPr/>
        </p:nvSpPr>
        <p:spPr>
          <a:xfrm>
            <a:off x="5212080" y="3401568"/>
            <a:ext cx="288036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Parte de P6, alianzas en procesos</a:t>
            </a:r>
            <a:endParaRPr lang="es-CL" sz="1500" dirty="0"/>
          </a:p>
        </p:txBody>
      </p:sp>
      <p:sp>
        <p:nvSpPr>
          <p:cNvPr id="19" name="Text 17"/>
          <p:cNvSpPr txBox="1"/>
          <p:nvPr/>
        </p:nvSpPr>
        <p:spPr>
          <a:xfrm>
            <a:off x="8229600" y="3401568"/>
            <a:ext cx="3276295"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Es algo que Lumine hace; el cliente lo percibe como acceso</a:t>
            </a:r>
            <a:endParaRPr lang="es-CL" sz="1500" dirty="0"/>
          </a:p>
        </p:txBody>
      </p:sp>
      <p:sp>
        <p:nvSpPr>
          <p:cNvPr id="20" name="Shape 18"/>
          <p:cNvSpPr/>
          <p:nvPr/>
        </p:nvSpPr>
        <p:spPr>
          <a:xfrm>
            <a:off x="548640" y="4096512"/>
            <a:ext cx="11094415" cy="0"/>
          </a:xfrm>
          <a:prstGeom prst="line">
            <a:avLst/>
          </a:prstGeom>
          <a:noFill/>
          <a:ln w="9525">
            <a:solidFill>
              <a:schemeClr val="accent5"/>
            </a:solidFill>
            <a:prstDash val="solid"/>
          </a:ln>
        </p:spPr>
      </p:sp>
      <p:sp>
        <p:nvSpPr>
          <p:cNvPr id="21" name="Text 19"/>
          <p:cNvSpPr txBox="1"/>
          <p:nvPr/>
        </p:nvSpPr>
        <p:spPr>
          <a:xfrm>
            <a:off x="548640" y="4096512"/>
            <a:ext cx="178308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C3 · confianza</a:t>
            </a:r>
            <a:endParaRPr lang="es-CL" sz="1500" dirty="0"/>
          </a:p>
        </p:txBody>
      </p:sp>
      <p:sp>
        <p:nvSpPr>
          <p:cNvPr id="22" name="Text 20"/>
          <p:cNvSpPr txBox="1"/>
          <p:nvPr/>
        </p:nvSpPr>
        <p:spPr>
          <a:xfrm>
            <a:off x="2468880" y="4096512"/>
            <a:ext cx="2606040"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Convenios institucionales firmados</a:t>
            </a:r>
            <a:endParaRPr lang="es-CL" sz="1500" dirty="0"/>
          </a:p>
        </p:txBody>
      </p:sp>
      <p:sp>
        <p:nvSpPr>
          <p:cNvPr id="23" name="Text 21"/>
          <p:cNvSpPr txBox="1"/>
          <p:nvPr/>
        </p:nvSpPr>
        <p:spPr>
          <a:xfrm>
            <a:off x="5212080" y="4096512"/>
            <a:ext cx="288036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Opinión del cliente y reclamos</a:t>
            </a:r>
            <a:endParaRPr lang="es-CL" sz="1500" dirty="0"/>
          </a:p>
        </p:txBody>
      </p:sp>
      <p:sp>
        <p:nvSpPr>
          <p:cNvPr id="24" name="Text 22"/>
          <p:cNvSpPr txBox="1"/>
          <p:nvPr/>
        </p:nvSpPr>
        <p:spPr>
          <a:xfrm>
            <a:off x="8229600" y="4096512"/>
            <a:ext cx="3276295"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La confianza se mide desde el cliente</a:t>
            </a:r>
            <a:endParaRPr lang="es-CL" sz="1500" dirty="0"/>
          </a:p>
        </p:txBody>
      </p:sp>
      <p:sp>
        <p:nvSpPr>
          <p:cNvPr id="25" name="Shape 23"/>
          <p:cNvSpPr/>
          <p:nvPr/>
        </p:nvSpPr>
        <p:spPr>
          <a:xfrm>
            <a:off x="548640" y="4791456"/>
            <a:ext cx="11094415" cy="0"/>
          </a:xfrm>
          <a:prstGeom prst="line">
            <a:avLst/>
          </a:prstGeom>
          <a:noFill/>
          <a:ln w="9525">
            <a:solidFill>
              <a:schemeClr val="accent5"/>
            </a:solidFill>
            <a:prstDash val="solid"/>
          </a:ln>
        </p:spPr>
      </p:sp>
      <p:sp>
        <p:nvSpPr>
          <p:cNvPr id="26" name="Text 24"/>
          <p:cNvSpPr txBox="1"/>
          <p:nvPr/>
        </p:nvSpPr>
        <p:spPr>
          <a:xfrm>
            <a:off x="548640" y="4791456"/>
            <a:ext cx="178308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C4 · captación</a:t>
            </a:r>
            <a:endParaRPr lang="es-CL" sz="1500" dirty="0"/>
          </a:p>
        </p:txBody>
      </p:sp>
      <p:sp>
        <p:nvSpPr>
          <p:cNvPr id="27" name="Text 25"/>
          <p:cNvSpPr txBox="1"/>
          <p:nvPr/>
        </p:nvSpPr>
        <p:spPr>
          <a:xfrm>
            <a:off x="2468880" y="4791456"/>
            <a:ext cx="2606040"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Proporción de consultas de uso intensivo</a:t>
            </a:r>
            <a:endParaRPr lang="es-CL" sz="1500" dirty="0"/>
          </a:p>
        </p:txBody>
      </p:sp>
      <p:sp>
        <p:nvSpPr>
          <p:cNvPr id="28" name="Text 26"/>
          <p:cNvSpPr txBox="1"/>
          <p:nvPr/>
        </p:nvSpPr>
        <p:spPr>
          <a:xfrm>
            <a:off x="5212080" y="4791456"/>
            <a:ext cx="288036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Conversión de consultas del segmento</a:t>
            </a:r>
            <a:endParaRPr lang="es-CL" sz="1500" dirty="0"/>
          </a:p>
        </p:txBody>
      </p:sp>
      <p:sp>
        <p:nvSpPr>
          <p:cNvPr id="29" name="Text 27"/>
          <p:cNvSpPr txBox="1"/>
          <p:nvPr/>
        </p:nvSpPr>
        <p:spPr>
          <a:xfrm>
            <a:off x="8229600" y="4791456"/>
            <a:ext cx="3276295"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Un resultado, no una mezcla de consultas</a:t>
            </a:r>
            <a:endParaRPr lang="es-CL" sz="1500" dirty="0"/>
          </a:p>
        </p:txBody>
      </p:sp>
      <p:sp>
        <p:nvSpPr>
          <p:cNvPr id="30" name="Shape 28"/>
          <p:cNvSpPr/>
          <p:nvPr/>
        </p:nvSpPr>
        <p:spPr>
          <a:xfrm>
            <a:off x="548640" y="5486400"/>
            <a:ext cx="11094415" cy="0"/>
          </a:xfrm>
          <a:prstGeom prst="line">
            <a:avLst/>
          </a:prstGeom>
          <a:noFill/>
          <a:ln w="9525">
            <a:solidFill>
              <a:schemeClr val="accent5"/>
            </a:solidFill>
            <a:prstDash val="solid"/>
          </a:ln>
        </p:spPr>
      </p:sp>
      <p:sp>
        <p:nvSpPr>
          <p:cNvPr id="31" name="Text 29"/>
          <p:cNvSpPr txBox="1"/>
          <p:nvPr/>
        </p:nvSpPr>
        <p:spPr>
          <a:xfrm>
            <a:off x="548640" y="5486400"/>
            <a:ext cx="178308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Relaciones</a:t>
            </a:r>
            <a:endParaRPr lang="es-CL" sz="1500" dirty="0"/>
          </a:p>
        </p:txBody>
      </p:sp>
      <p:sp>
        <p:nvSpPr>
          <p:cNvPr id="32" name="Text 30"/>
          <p:cNvSpPr txBox="1"/>
          <p:nvPr/>
        </p:nvSpPr>
        <p:spPr>
          <a:xfrm>
            <a:off x="2468880" y="5486400"/>
            <a:ext cx="2606040"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30, con duplicados</a:t>
            </a:r>
            <a:endParaRPr lang="es-CL" sz="1500" dirty="0"/>
          </a:p>
        </p:txBody>
      </p:sp>
      <p:sp>
        <p:nvSpPr>
          <p:cNvPr id="33" name="Text 31"/>
          <p:cNvSpPr txBox="1"/>
          <p:nvPr/>
        </p:nvSpPr>
        <p:spPr>
          <a:xfrm>
            <a:off x="5212080" y="5486400"/>
            <a:ext cx="2880360" cy="694944"/>
          </a:xfrm>
          <a:prstGeom prst="rect">
            <a:avLst/>
          </a:prstGeom>
          <a:noFill/>
          <a:ln/>
        </p:spPr>
        <p:txBody>
          <a:bodyPr wrap="square" lIns="0" tIns="0" rIns="0" bIns="0" rtlCol="0" anchor="ctr"/>
          <a:lstStyle/>
          <a:p>
            <a:pP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20, en tres rutas</a:t>
            </a:r>
            <a:endParaRPr lang="es-CL" sz="1500" dirty="0"/>
          </a:p>
        </p:txBody>
      </p:sp>
      <p:sp>
        <p:nvSpPr>
          <p:cNvPr id="34" name="Text 32"/>
          <p:cNvSpPr txBox="1"/>
          <p:nvPr/>
        </p:nvSpPr>
        <p:spPr>
          <a:xfrm>
            <a:off x="8229600" y="5486400"/>
            <a:ext cx="3276295" cy="694944"/>
          </a:xfrm>
          <a:prstGeom prst="rect">
            <a:avLst/>
          </a:prstGeom>
          <a:noFill/>
          <a:ln/>
        </p:spPr>
        <p:txBody>
          <a:bodyPr wrap="square" lIns="0" tIns="0" rIns="0" bIns="0" rtlCol="0" anchor="ctr"/>
          <a:lstStyle/>
          <a:p>
            <a:pPr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caminos repetidos ni flechas que no cambian decisiones</a:t>
            </a:r>
            <a:endParaRPr lang="es-CL" sz="1500" dirty="0"/>
          </a:p>
        </p:txBody>
      </p:sp>
      <p:sp>
        <p:nvSpPr>
          <p:cNvPr id="35" name="Shape 33"/>
          <p:cNvSpPr/>
          <p:nvPr/>
        </p:nvSpPr>
        <p:spPr>
          <a:xfrm>
            <a:off x="548640" y="618134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SEGUIMIENTO · ESTADOS DEL TABLERO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ESTADO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tiene una regla.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en red revisado (propuesta del equipo para la Solemne 2), hoja de seguimiento; material del curso «Sistemas de Control de Gestión: Indicadores». Umbrales propuestos.</a:t>
            </a:r>
            <a:endParaRPr lang="es-CL" sz="1100" dirty="0"/>
          </a:p>
        </p:txBody>
      </p:sp>
      <p:sp>
        <p:nvSpPr>
          <p:cNvPr id="6" name="Shape 4"/>
          <p:cNvSpPr/>
          <p:nvPr/>
        </p:nvSpPr>
        <p:spPr>
          <a:xfrm>
            <a:off x="548640" y="2395728"/>
            <a:ext cx="11094415" cy="0"/>
          </a:xfrm>
          <a:prstGeom prst="line">
            <a:avLst/>
          </a:prstGeom>
          <a:noFill/>
          <a:ln w="9525">
            <a:solidFill>
              <a:schemeClr val="accent1"/>
            </a:solidFill>
            <a:prstDash val="solid"/>
          </a:ln>
        </p:spPr>
      </p:sp>
      <p:sp>
        <p:nvSpPr>
          <p:cNvPr id="7" name="Shape 5"/>
          <p:cNvSpPr/>
          <p:nvPr/>
        </p:nvSpPr>
        <p:spPr>
          <a:xfrm>
            <a:off x="548640" y="2514600"/>
            <a:ext cx="310896" cy="310896"/>
          </a:xfrm>
          <a:prstGeom prst="ellipse">
            <a:avLst/>
          </a:prstGeom>
          <a:solidFill>
            <a:srgbClr val="4ADE80"/>
          </a:solidFill>
          <a:ln/>
        </p:spPr>
      </p:sp>
      <p:sp>
        <p:nvSpPr>
          <p:cNvPr id="8" name="Text 6"/>
          <p:cNvSpPr txBox="1"/>
          <p:nvPr/>
        </p:nvSpPr>
        <p:spPr>
          <a:xfrm>
            <a:off x="1051560" y="2395728"/>
            <a:ext cx="2377440" cy="548640"/>
          </a:xfrm>
          <a:prstGeom prst="rect">
            <a:avLst/>
          </a:prstGeom>
          <a:noFill/>
          <a:ln/>
        </p:spPr>
        <p:txBody>
          <a:bodyPr wrap="square" lIns="0" tIns="0" rIns="0" bIns="0" rtlCol="0" anchor="ctr"/>
          <a:lstStyle/>
          <a:p>
            <a:pPr indent="0" marL="0">
              <a:buNone/>
            </a:pPr>
            <a:r>
              <a:rPr lang="es-CL" altLang="en-US" sz="1500" b="1" spc="100" kern="0" dirty="0">
                <a:solidFill>
                  <a:srgbClr val="4ADE80"/>
                </a:solidFill>
                <a:latin typeface="IBM Plex Mono" pitchFamily="34" charset="0"/>
                <a:ea typeface="IBM Plex Mono" pitchFamily="34" charset="-122"/>
                <a:cs typeface="IBM Plex Mono" pitchFamily="34" charset="-120"/>
              </a:rPr>
              <a:t>CUMPLE</a:t>
            </a:r>
            <a:endParaRPr lang="es-CL" sz="1500" dirty="0"/>
          </a:p>
        </p:txBody>
      </p:sp>
      <p:sp>
        <p:nvSpPr>
          <p:cNvPr id="9" name="Text 7"/>
          <p:cNvSpPr txBox="1"/>
          <p:nvPr/>
        </p:nvSpPr>
        <p:spPr>
          <a:xfrm>
            <a:off x="3474720" y="2395728"/>
            <a:ext cx="8168335" cy="54864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Alcanza la meta, con evidencia</a:t>
            </a:r>
            <a:endParaRPr lang="es-CL" sz="1800" dirty="0"/>
          </a:p>
        </p:txBody>
      </p:sp>
      <p:sp>
        <p:nvSpPr>
          <p:cNvPr id="10" name="Shape 8"/>
          <p:cNvSpPr/>
          <p:nvPr/>
        </p:nvSpPr>
        <p:spPr>
          <a:xfrm>
            <a:off x="548640" y="2944368"/>
            <a:ext cx="11094415" cy="0"/>
          </a:xfrm>
          <a:prstGeom prst="line">
            <a:avLst/>
          </a:prstGeom>
          <a:noFill/>
          <a:ln w="9525">
            <a:solidFill>
              <a:schemeClr val="accent5"/>
            </a:solidFill>
            <a:prstDash val="solid"/>
          </a:ln>
        </p:spPr>
      </p:sp>
      <p:sp>
        <p:nvSpPr>
          <p:cNvPr id="11" name="Shape 9"/>
          <p:cNvSpPr/>
          <p:nvPr/>
        </p:nvSpPr>
        <p:spPr>
          <a:xfrm>
            <a:off x="548640" y="3063240"/>
            <a:ext cx="310896" cy="310896"/>
          </a:xfrm>
          <a:prstGeom prst="triangle">
            <a:avLst/>
          </a:prstGeom>
          <a:solidFill>
            <a:srgbClr val="F5B94A"/>
          </a:solidFill>
          <a:ln/>
        </p:spPr>
      </p:sp>
      <p:sp>
        <p:nvSpPr>
          <p:cNvPr id="12" name="Text 10"/>
          <p:cNvSpPr txBox="1"/>
          <p:nvPr/>
        </p:nvSpPr>
        <p:spPr>
          <a:xfrm>
            <a:off x="1051560" y="2944368"/>
            <a:ext cx="2377440" cy="548640"/>
          </a:xfrm>
          <a:prstGeom prst="rect">
            <a:avLst/>
          </a:prstGeom>
          <a:noFill/>
          <a:ln/>
        </p:spPr>
        <p:txBody>
          <a:bodyPr wrap="square" lIns="0" tIns="0" rIns="0" bIns="0" rtlCol="0" anchor="ctr"/>
          <a:lstStyle/>
          <a:p>
            <a:pPr indent="0" marL="0">
              <a:buNone/>
            </a:pPr>
            <a:r>
              <a:rPr lang="es-CL" altLang="en-US" sz="1500" b="1" spc="100" kern="0" dirty="0">
                <a:solidFill>
                  <a:srgbClr val="F5B94A"/>
                </a:solidFill>
                <a:latin typeface="IBM Plex Mono" pitchFamily="34" charset="0"/>
                <a:ea typeface="IBM Plex Mono" pitchFamily="34" charset="-122"/>
                <a:cs typeface="IBM Plex Mono" pitchFamily="34" charset="-120"/>
              </a:rPr>
              <a:t>ALERTA</a:t>
            </a:r>
            <a:endParaRPr lang="es-CL" sz="1500" dirty="0"/>
          </a:p>
        </p:txBody>
      </p:sp>
      <p:sp>
        <p:nvSpPr>
          <p:cNvPr id="13" name="Text 11"/>
          <p:cNvSpPr txBox="1"/>
          <p:nvPr/>
        </p:nvSpPr>
        <p:spPr>
          <a:xfrm>
            <a:off x="3474720" y="2944368"/>
            <a:ext cx="8168335" cy="54864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Indicador proporcional entre 70% y 89%</a:t>
            </a:r>
            <a:endParaRPr lang="es-CL" sz="1800" dirty="0"/>
          </a:p>
        </p:txBody>
      </p:sp>
      <p:sp>
        <p:nvSpPr>
          <p:cNvPr id="14" name="Shape 12"/>
          <p:cNvSpPr/>
          <p:nvPr/>
        </p:nvSpPr>
        <p:spPr>
          <a:xfrm>
            <a:off x="548640" y="3493008"/>
            <a:ext cx="11094415" cy="0"/>
          </a:xfrm>
          <a:prstGeom prst="line">
            <a:avLst/>
          </a:prstGeom>
          <a:noFill/>
          <a:ln w="9525">
            <a:solidFill>
              <a:schemeClr val="accent5"/>
            </a:solidFill>
            <a:prstDash val="solid"/>
          </a:ln>
        </p:spPr>
      </p:sp>
      <p:sp>
        <p:nvSpPr>
          <p:cNvPr id="15" name="Shape 13"/>
          <p:cNvSpPr/>
          <p:nvPr/>
        </p:nvSpPr>
        <p:spPr>
          <a:xfrm>
            <a:off x="573512" y="3636752"/>
            <a:ext cx="261153" cy="261153"/>
          </a:xfrm>
          <a:prstGeom prst="rect">
            <a:avLst/>
          </a:prstGeom>
          <a:solidFill>
            <a:srgbClr val="F87171"/>
          </a:solidFill>
          <a:ln/>
        </p:spPr>
      </p:sp>
      <p:sp>
        <p:nvSpPr>
          <p:cNvPr id="16" name="Text 14"/>
          <p:cNvSpPr txBox="1"/>
          <p:nvPr/>
        </p:nvSpPr>
        <p:spPr>
          <a:xfrm>
            <a:off x="1051560" y="3493008"/>
            <a:ext cx="2377440" cy="548640"/>
          </a:xfrm>
          <a:prstGeom prst="rect">
            <a:avLst/>
          </a:prstGeom>
          <a:noFill/>
          <a:ln/>
        </p:spPr>
        <p:txBody>
          <a:bodyPr wrap="square" lIns="0" tIns="0" rIns="0" bIns="0" rtlCol="0" anchor="ctr"/>
          <a:lstStyle/>
          <a:p>
            <a:pPr indent="0" marL="0">
              <a:buNone/>
            </a:pPr>
            <a:r>
              <a:rPr lang="es-CL" altLang="en-US" sz="1500" b="1" spc="100" kern="0" dirty="0">
                <a:solidFill>
                  <a:srgbClr val="F87171"/>
                </a:solidFill>
                <a:latin typeface="IBM Plex Mono" pitchFamily="34" charset="0"/>
                <a:ea typeface="IBM Plex Mono" pitchFamily="34" charset="-122"/>
                <a:cs typeface="IBM Plex Mono" pitchFamily="34" charset="-120"/>
              </a:rPr>
              <a:t>NO CUMPLE</a:t>
            </a:r>
            <a:endParaRPr lang="es-CL" sz="1500" dirty="0"/>
          </a:p>
        </p:txBody>
      </p:sp>
      <p:sp>
        <p:nvSpPr>
          <p:cNvPr id="17" name="Text 15"/>
          <p:cNvSpPr txBox="1"/>
          <p:nvPr/>
        </p:nvSpPr>
        <p:spPr>
          <a:xfrm>
            <a:off x="3474720" y="3493008"/>
            <a:ext cx="8168335" cy="54864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Bajo la meta, o rechazo formal documentado</a:t>
            </a:r>
            <a:endParaRPr lang="es-CL" sz="1800" dirty="0"/>
          </a:p>
        </p:txBody>
      </p:sp>
      <p:sp>
        <p:nvSpPr>
          <p:cNvPr id="18" name="Shape 16"/>
          <p:cNvSpPr/>
          <p:nvPr/>
        </p:nvSpPr>
        <p:spPr>
          <a:xfrm>
            <a:off x="548640" y="4041648"/>
            <a:ext cx="11094415" cy="0"/>
          </a:xfrm>
          <a:prstGeom prst="line">
            <a:avLst/>
          </a:prstGeom>
          <a:noFill/>
          <a:ln w="9525">
            <a:solidFill>
              <a:schemeClr val="accent5"/>
            </a:solidFill>
            <a:prstDash val="solid"/>
          </a:ln>
        </p:spPr>
      </p:sp>
      <p:sp>
        <p:nvSpPr>
          <p:cNvPr id="19" name="Shape 17"/>
          <p:cNvSpPr/>
          <p:nvPr/>
        </p:nvSpPr>
        <p:spPr>
          <a:xfrm>
            <a:off x="573512" y="4185392"/>
            <a:ext cx="261153" cy="261153"/>
          </a:xfrm>
          <a:prstGeom prst="rect">
            <a:avLst/>
          </a:prstGeom>
          <a:solidFill>
            <a:schemeClr val="bg1">
              <a:alpha val="0"/>
            </a:schemeClr>
          </a:solidFill>
          <a:ln w="19050">
            <a:solidFill>
              <a:srgbClr val="8B9598"/>
            </a:solidFill>
            <a:prstDash val="sysDot"/>
          </a:ln>
        </p:spPr>
      </p:sp>
      <p:sp>
        <p:nvSpPr>
          <p:cNvPr id="20" name="Text 18"/>
          <p:cNvSpPr txBox="1"/>
          <p:nvPr/>
        </p:nvSpPr>
        <p:spPr>
          <a:xfrm>
            <a:off x="1051560" y="4041648"/>
            <a:ext cx="2377440" cy="548640"/>
          </a:xfrm>
          <a:prstGeom prst="rect">
            <a:avLst/>
          </a:prstGeom>
          <a:noFill/>
          <a:ln/>
        </p:spPr>
        <p:txBody>
          <a:bodyPr wrap="square" lIns="0" tIns="0" rIns="0" bIns="0" rtlCol="0" anchor="ctr"/>
          <a:lstStyle/>
          <a:p>
            <a:pPr indent="0" marL="0">
              <a:buNone/>
            </a:pPr>
            <a:r>
              <a:rPr lang="es-CL" altLang="en-US" sz="1500" b="1" spc="100" kern="0" dirty="0">
                <a:solidFill>
                  <a:srgbClr val="8B9598"/>
                </a:solidFill>
                <a:latin typeface="IBM Plex Mono" pitchFamily="34" charset="0"/>
                <a:ea typeface="IBM Plex Mono" pitchFamily="34" charset="-122"/>
                <a:cs typeface="IBM Plex Mono" pitchFamily="34" charset="-120"/>
              </a:rPr>
              <a:t>META PENDIENTE</a:t>
            </a:r>
            <a:endParaRPr lang="es-CL" sz="1500" dirty="0"/>
          </a:p>
        </p:txBody>
      </p:sp>
      <p:sp>
        <p:nvSpPr>
          <p:cNvPr id="21" name="Text 19"/>
          <p:cNvSpPr txBox="1"/>
          <p:nvPr/>
        </p:nvSpPr>
        <p:spPr>
          <a:xfrm>
            <a:off x="3474720" y="4041648"/>
            <a:ext cx="8168335" cy="54864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La meta aún no está aprobada</a:t>
            </a:r>
            <a:endParaRPr lang="es-CL" sz="1800" dirty="0"/>
          </a:p>
        </p:txBody>
      </p:sp>
      <p:sp>
        <p:nvSpPr>
          <p:cNvPr id="22" name="Shape 20"/>
          <p:cNvSpPr/>
          <p:nvPr/>
        </p:nvSpPr>
        <p:spPr>
          <a:xfrm>
            <a:off x="548640" y="4590288"/>
            <a:ext cx="11094415" cy="0"/>
          </a:xfrm>
          <a:prstGeom prst="line">
            <a:avLst/>
          </a:prstGeom>
          <a:noFill/>
          <a:ln w="9525">
            <a:solidFill>
              <a:schemeClr val="accent5"/>
            </a:solidFill>
            <a:prstDash val="solid"/>
          </a:ln>
        </p:spPr>
      </p:sp>
      <p:sp>
        <p:nvSpPr>
          <p:cNvPr id="23" name="Shape 21"/>
          <p:cNvSpPr/>
          <p:nvPr/>
        </p:nvSpPr>
        <p:spPr>
          <a:xfrm>
            <a:off x="548640" y="4709160"/>
            <a:ext cx="310896" cy="310896"/>
          </a:xfrm>
          <a:prstGeom prst="ellipse">
            <a:avLst/>
          </a:prstGeom>
          <a:solidFill>
            <a:schemeClr val="bg1">
              <a:alpha val="0"/>
            </a:schemeClr>
          </a:solidFill>
          <a:ln w="22225">
            <a:solidFill>
              <a:srgbClr val="8B9598"/>
            </a:solidFill>
            <a:prstDash val="dash"/>
          </a:ln>
        </p:spPr>
      </p:sp>
      <p:sp>
        <p:nvSpPr>
          <p:cNvPr id="24" name="Text 22"/>
          <p:cNvSpPr txBox="1"/>
          <p:nvPr/>
        </p:nvSpPr>
        <p:spPr>
          <a:xfrm>
            <a:off x="1051560" y="4590288"/>
            <a:ext cx="2377440" cy="548640"/>
          </a:xfrm>
          <a:prstGeom prst="rect">
            <a:avLst/>
          </a:prstGeom>
          <a:noFill/>
          <a:ln/>
        </p:spPr>
        <p:txBody>
          <a:bodyPr wrap="square" lIns="0" tIns="0" rIns="0" bIns="0" rtlCol="0" anchor="ctr"/>
          <a:lstStyle/>
          <a:p>
            <a:pPr indent="0" marL="0">
              <a:buNone/>
            </a:pPr>
            <a:r>
              <a:rPr lang="es-CL" altLang="en-US" sz="1500" b="1" spc="100" kern="0" dirty="0">
                <a:solidFill>
                  <a:schemeClr val="tx1"/>
                </a:solidFill>
                <a:latin typeface="IBM Plex Mono" pitchFamily="34" charset="0"/>
                <a:ea typeface="IBM Plex Mono" pitchFamily="34" charset="-122"/>
                <a:cs typeface="IBM Plex Mono" pitchFamily="34" charset="-120"/>
              </a:rPr>
              <a:t>SIN MEDIR</a:t>
            </a:r>
            <a:endParaRPr lang="es-CL" sz="1500" dirty="0"/>
          </a:p>
        </p:txBody>
      </p:sp>
      <p:sp>
        <p:nvSpPr>
          <p:cNvPr id="25" name="Text 23"/>
          <p:cNvSpPr txBox="1"/>
          <p:nvPr/>
        </p:nvSpPr>
        <p:spPr>
          <a:xfrm>
            <a:off x="3474720" y="4590288"/>
            <a:ext cx="8168335" cy="548640"/>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Falta el dato o el documento: no vale cero</a:t>
            </a:r>
            <a:endParaRPr lang="es-CL" sz="1800" dirty="0"/>
          </a:p>
        </p:txBody>
      </p:sp>
      <p:sp>
        <p:nvSpPr>
          <p:cNvPr id="26" name="Shape 24"/>
          <p:cNvSpPr/>
          <p:nvPr/>
        </p:nvSpPr>
        <p:spPr>
          <a:xfrm>
            <a:off x="548640" y="5138928"/>
            <a:ext cx="11094415" cy="0"/>
          </a:xfrm>
          <a:prstGeom prst="line">
            <a:avLst/>
          </a:prstGeom>
          <a:noFill/>
          <a:ln w="9525">
            <a:solidFill>
              <a:schemeClr val="accent5"/>
            </a:solidFill>
            <a:prstDash val="solid"/>
          </a:ln>
        </p:spPr>
      </p:sp>
      <p:sp>
        <p:nvSpPr>
          <p:cNvPr id="27" name="Text 25"/>
          <p:cNvSpPr txBox="1"/>
          <p:nvPr/>
        </p:nvSpPr>
        <p:spPr>
          <a:xfrm>
            <a:off x="548640" y="5321808"/>
            <a:ext cx="11094415" cy="731520"/>
          </a:xfrm>
          <a:prstGeom prst="rect">
            <a:avLst/>
          </a:prstGeom>
          <a:noFill/>
          <a:ln/>
        </p:spPr>
        <p:txBody>
          <a:bodyPr wrap="square" lIns="0" tIns="0" rIns="0" bIns="0" rtlCol="0" anchor="t"/>
          <a:lstStyle/>
          <a:p>
            <a:pPr indent="0" marL="0">
              <a:buNone/>
            </a:pPr>
            <a:r>
              <a:rPr lang="es-CL" altLang="en-US" sz="1800" b="1" dirty="0">
                <a:solidFill>
                  <a:schemeClr val="tx1"/>
                </a:solidFill>
                <a:latin typeface="Figtree" pitchFamily="34" charset="0"/>
                <a:ea typeface="Figtree" pitchFamily="34" charset="-122"/>
                <a:cs typeface="Figtree" pitchFamily="34" charset="-120"/>
              </a:rPr>
              <a:t>Críticos e hitos cumplen solo al 100% o con documento: </a:t>
            </a:r>
            <a:pPr indent="0" marL="0">
              <a:buNone/>
            </a:pPr>
            <a:r>
              <a:rPr lang="es-CL" altLang="en-US" sz="1800" dirty="0">
                <a:solidFill>
                  <a:schemeClr val="tx2"/>
                </a:solidFill>
                <a:latin typeface="Figtree" pitchFamily="34" charset="0"/>
                <a:ea typeface="Figtree" pitchFamily="34" charset="-122"/>
                <a:cs typeface="Figtree" pitchFamily="34" charset="-120"/>
              </a:rPr>
              <a:t>no existe el cumplimiento parcial de un requisito regulatorio.</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 INICIATIVAS ESTRATÉGICAS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LAS INICIATIVAS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que mueven los objetivos.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(Control de Gestión, octubre de 2026), FODA cruzado; CMI en red revisado (propuesta del equipo para la Solemne 2). Sin presupuesto: es la siguiente etapa del plan.</a:t>
            </a:r>
            <a:endParaRPr lang="es-CL" sz="1100" dirty="0"/>
          </a:p>
        </p:txBody>
      </p:sp>
      <p:sp>
        <p:nvSpPr>
          <p:cNvPr id="6" name="Text 4"/>
          <p:cNvSpPr txBox="1"/>
          <p:nvPr/>
        </p:nvSpPr>
        <p:spPr>
          <a:xfrm>
            <a:off x="548640" y="2350008"/>
            <a:ext cx="73152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7" name="Text 5"/>
          <p:cNvSpPr txBox="1"/>
          <p:nvPr/>
        </p:nvSpPr>
        <p:spPr>
          <a:xfrm>
            <a:off x="7863840" y="2350008"/>
            <a:ext cx="12801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a:t>
            </a:r>
            <a:endParaRPr lang="es-CL" sz="1200" dirty="0"/>
          </a:p>
        </p:txBody>
      </p:sp>
      <p:sp>
        <p:nvSpPr>
          <p:cNvPr id="8" name="Text 6"/>
          <p:cNvSpPr txBox="1"/>
          <p:nvPr/>
        </p:nvSpPr>
        <p:spPr>
          <a:xfrm>
            <a:off x="9144000" y="2350008"/>
            <a:ext cx="24990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ORIGEN</a:t>
            </a:r>
            <a:endParaRPr lang="es-CL" sz="1200" dirty="0"/>
          </a:p>
        </p:txBody>
      </p:sp>
      <p:sp>
        <p:nvSpPr>
          <p:cNvPr id="9" name="Shape 7"/>
          <p:cNvSpPr/>
          <p:nvPr/>
        </p:nvSpPr>
        <p:spPr>
          <a:xfrm>
            <a:off x="548640" y="2660904"/>
            <a:ext cx="11094415" cy="0"/>
          </a:xfrm>
          <a:prstGeom prst="line">
            <a:avLst/>
          </a:prstGeom>
          <a:noFill/>
          <a:ln w="9525">
            <a:solidFill>
              <a:schemeClr val="accent1"/>
            </a:solidFill>
            <a:prstDash val="solid"/>
          </a:ln>
        </p:spPr>
      </p:sp>
      <p:sp>
        <p:nvSpPr>
          <p:cNvPr id="10" name="Text 8"/>
          <p:cNvSpPr txBox="1"/>
          <p:nvPr/>
        </p:nvSpPr>
        <p:spPr>
          <a:xfrm>
            <a:off x="548640" y="2660904"/>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Plantear al MTT el precedente del gas licuado</a:t>
            </a:r>
            <a:endParaRPr lang="es-CL" sz="1600" dirty="0"/>
          </a:p>
        </p:txBody>
      </p:sp>
      <p:sp>
        <p:nvSpPr>
          <p:cNvPr id="11" name="Shape 9"/>
          <p:cNvSpPr/>
          <p:nvPr/>
        </p:nvSpPr>
        <p:spPr>
          <a:xfrm>
            <a:off x="7863840" y="2734056"/>
            <a:ext cx="548640" cy="292608"/>
          </a:xfrm>
          <a:prstGeom prst="rect">
            <a:avLst/>
          </a:prstGeom>
          <a:solidFill>
            <a:schemeClr val="accent5"/>
          </a:solidFill>
          <a:ln/>
        </p:spPr>
      </p:sp>
      <p:sp>
        <p:nvSpPr>
          <p:cNvPr id="12" name="Shape 10"/>
          <p:cNvSpPr/>
          <p:nvPr/>
        </p:nvSpPr>
        <p:spPr>
          <a:xfrm>
            <a:off x="7863840" y="2734056"/>
            <a:ext cx="548640" cy="45720"/>
          </a:xfrm>
          <a:prstGeom prst="rect">
            <a:avLst/>
          </a:prstGeom>
          <a:solidFill>
            <a:srgbClr val="ECECEC"/>
          </a:solidFill>
          <a:ln/>
        </p:spPr>
      </p:sp>
      <p:sp>
        <p:nvSpPr>
          <p:cNvPr id="13" name="Text 11"/>
          <p:cNvSpPr txBox="1"/>
          <p:nvPr/>
        </p:nvSpPr>
        <p:spPr>
          <a:xfrm>
            <a:off x="7863840" y="2734056"/>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P1</a:t>
            </a:r>
            <a:endParaRPr lang="es-CL" sz="1200" dirty="0"/>
          </a:p>
        </p:txBody>
      </p:sp>
      <p:sp>
        <p:nvSpPr>
          <p:cNvPr id="14" name="Text 12"/>
          <p:cNvSpPr txBox="1"/>
          <p:nvPr/>
        </p:nvSpPr>
        <p:spPr>
          <a:xfrm>
            <a:off x="9144000" y="2660904"/>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FODA · DO</a:t>
            </a:r>
            <a:endParaRPr lang="es-CL" sz="1600" dirty="0"/>
          </a:p>
        </p:txBody>
      </p:sp>
      <p:sp>
        <p:nvSpPr>
          <p:cNvPr id="15" name="Shape 13"/>
          <p:cNvSpPr/>
          <p:nvPr/>
        </p:nvSpPr>
        <p:spPr>
          <a:xfrm>
            <a:off x="548640" y="3099816"/>
            <a:ext cx="11094415" cy="0"/>
          </a:xfrm>
          <a:prstGeom prst="line">
            <a:avLst/>
          </a:prstGeom>
          <a:noFill/>
          <a:ln w="9525">
            <a:solidFill>
              <a:schemeClr val="accent5"/>
            </a:solidFill>
            <a:prstDash val="solid"/>
          </a:ln>
        </p:spPr>
      </p:sp>
      <p:sp>
        <p:nvSpPr>
          <p:cNvPr id="16" name="Text 14"/>
          <p:cNvSpPr txBox="1"/>
          <p:nvPr/>
        </p:nvSpPr>
        <p:spPr>
          <a:xfrm>
            <a:off x="548640" y="3099816"/>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Homologar primero los modelos más densos del segmento</a:t>
            </a:r>
            <a:endParaRPr lang="es-CL" sz="1600" dirty="0"/>
          </a:p>
        </p:txBody>
      </p:sp>
      <p:sp>
        <p:nvSpPr>
          <p:cNvPr id="17" name="Shape 15"/>
          <p:cNvSpPr/>
          <p:nvPr/>
        </p:nvSpPr>
        <p:spPr>
          <a:xfrm>
            <a:off x="7863840" y="3172968"/>
            <a:ext cx="548640" cy="292608"/>
          </a:xfrm>
          <a:prstGeom prst="rect">
            <a:avLst/>
          </a:prstGeom>
          <a:solidFill>
            <a:schemeClr val="accent5"/>
          </a:solidFill>
          <a:ln/>
        </p:spPr>
      </p:sp>
      <p:sp>
        <p:nvSpPr>
          <p:cNvPr id="18" name="Shape 16"/>
          <p:cNvSpPr/>
          <p:nvPr/>
        </p:nvSpPr>
        <p:spPr>
          <a:xfrm>
            <a:off x="7863840" y="3172968"/>
            <a:ext cx="548640" cy="45720"/>
          </a:xfrm>
          <a:prstGeom prst="rect">
            <a:avLst/>
          </a:prstGeom>
          <a:solidFill>
            <a:srgbClr val="ECECEC"/>
          </a:solidFill>
          <a:ln/>
        </p:spPr>
      </p:sp>
      <p:sp>
        <p:nvSpPr>
          <p:cNvPr id="19" name="Text 17"/>
          <p:cNvSpPr txBox="1"/>
          <p:nvPr/>
        </p:nvSpPr>
        <p:spPr>
          <a:xfrm>
            <a:off x="7863840" y="317296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P2</a:t>
            </a:r>
            <a:endParaRPr lang="es-CL" sz="1200" dirty="0"/>
          </a:p>
        </p:txBody>
      </p:sp>
      <p:sp>
        <p:nvSpPr>
          <p:cNvPr id="20" name="Text 18"/>
          <p:cNvSpPr txBox="1"/>
          <p:nvPr/>
        </p:nvSpPr>
        <p:spPr>
          <a:xfrm>
            <a:off x="9144000" y="3099816"/>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FODA · FO</a:t>
            </a:r>
            <a:endParaRPr lang="es-CL" sz="1600" dirty="0"/>
          </a:p>
        </p:txBody>
      </p:sp>
      <p:sp>
        <p:nvSpPr>
          <p:cNvPr id="21" name="Shape 19"/>
          <p:cNvSpPr/>
          <p:nvPr/>
        </p:nvSpPr>
        <p:spPr>
          <a:xfrm>
            <a:off x="548640" y="3538728"/>
            <a:ext cx="11094415" cy="0"/>
          </a:xfrm>
          <a:prstGeom prst="line">
            <a:avLst/>
          </a:prstGeom>
          <a:noFill/>
          <a:ln w="9525">
            <a:solidFill>
              <a:schemeClr val="accent5"/>
            </a:solidFill>
            <a:prstDash val="solid"/>
          </a:ln>
        </p:spPr>
      </p:sp>
      <p:sp>
        <p:nvSpPr>
          <p:cNvPr id="22" name="Text 20"/>
          <p:cNvSpPr txBox="1"/>
          <p:nvPr/>
        </p:nvSpPr>
        <p:spPr>
          <a:xfrm>
            <a:off x="548640" y="3538728"/>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Convenios con aseguradora, planta de revisión y financiera antes del primer kit</a:t>
            </a:r>
            <a:endParaRPr lang="es-CL" sz="1600" dirty="0"/>
          </a:p>
        </p:txBody>
      </p:sp>
      <p:sp>
        <p:nvSpPr>
          <p:cNvPr id="23" name="Shape 21"/>
          <p:cNvSpPr/>
          <p:nvPr/>
        </p:nvSpPr>
        <p:spPr>
          <a:xfrm>
            <a:off x="7863840" y="3611880"/>
            <a:ext cx="548640" cy="292608"/>
          </a:xfrm>
          <a:prstGeom prst="rect">
            <a:avLst/>
          </a:prstGeom>
          <a:solidFill>
            <a:schemeClr val="accent5"/>
          </a:solidFill>
          <a:ln/>
        </p:spPr>
      </p:sp>
      <p:sp>
        <p:nvSpPr>
          <p:cNvPr id="24" name="Shape 22"/>
          <p:cNvSpPr/>
          <p:nvPr/>
        </p:nvSpPr>
        <p:spPr>
          <a:xfrm>
            <a:off x="7863840" y="3611880"/>
            <a:ext cx="274320" cy="45720"/>
          </a:xfrm>
          <a:prstGeom prst="rect">
            <a:avLst/>
          </a:prstGeom>
          <a:solidFill>
            <a:srgbClr val="ECECEC"/>
          </a:solidFill>
          <a:ln/>
        </p:spPr>
      </p:sp>
      <p:sp>
        <p:nvSpPr>
          <p:cNvPr id="25" name="Shape 23"/>
          <p:cNvSpPr/>
          <p:nvPr/>
        </p:nvSpPr>
        <p:spPr>
          <a:xfrm>
            <a:off x="8138160" y="3611880"/>
            <a:ext cx="274320" cy="45720"/>
          </a:xfrm>
          <a:prstGeom prst="rect">
            <a:avLst/>
          </a:prstGeom>
          <a:solidFill>
            <a:srgbClr val="22B8F0"/>
          </a:solidFill>
          <a:ln/>
        </p:spPr>
      </p:sp>
      <p:sp>
        <p:nvSpPr>
          <p:cNvPr id="26" name="Text 24"/>
          <p:cNvSpPr txBox="1"/>
          <p:nvPr/>
        </p:nvSpPr>
        <p:spPr>
          <a:xfrm>
            <a:off x="7863840" y="361188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27" name="Text 25"/>
          <p:cNvSpPr txBox="1"/>
          <p:nvPr/>
        </p:nvSpPr>
        <p:spPr>
          <a:xfrm>
            <a:off x="9144000" y="3538728"/>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FODA · DA</a:t>
            </a:r>
            <a:endParaRPr lang="es-CL" sz="1600" dirty="0"/>
          </a:p>
        </p:txBody>
      </p:sp>
      <p:sp>
        <p:nvSpPr>
          <p:cNvPr id="28" name="Shape 26"/>
          <p:cNvSpPr/>
          <p:nvPr/>
        </p:nvSpPr>
        <p:spPr>
          <a:xfrm>
            <a:off x="548640" y="3977640"/>
            <a:ext cx="11094415" cy="0"/>
          </a:xfrm>
          <a:prstGeom prst="line">
            <a:avLst/>
          </a:prstGeom>
          <a:noFill/>
          <a:ln w="9525">
            <a:solidFill>
              <a:schemeClr val="accent5"/>
            </a:solidFill>
            <a:prstDash val="solid"/>
          </a:ln>
        </p:spPr>
      </p:sp>
      <p:sp>
        <p:nvSpPr>
          <p:cNvPr id="29" name="Text 27"/>
          <p:cNvSpPr txBox="1"/>
          <p:nvPr/>
        </p:nvSpPr>
        <p:spPr>
          <a:xfrm>
            <a:off x="548640" y="3977640"/>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Cobertura cambiaria y abastecimiento de largo plazo</a:t>
            </a:r>
            <a:endParaRPr lang="es-CL" sz="1600" dirty="0"/>
          </a:p>
        </p:txBody>
      </p:sp>
      <p:sp>
        <p:nvSpPr>
          <p:cNvPr id="30" name="Shape 28"/>
          <p:cNvSpPr/>
          <p:nvPr/>
        </p:nvSpPr>
        <p:spPr>
          <a:xfrm>
            <a:off x="7863840" y="4050792"/>
            <a:ext cx="548640" cy="292608"/>
          </a:xfrm>
          <a:prstGeom prst="rect">
            <a:avLst/>
          </a:prstGeom>
          <a:solidFill>
            <a:schemeClr val="accent5"/>
          </a:solidFill>
          <a:ln/>
        </p:spPr>
      </p:sp>
      <p:sp>
        <p:nvSpPr>
          <p:cNvPr id="31" name="Text 29"/>
          <p:cNvSpPr txBox="1"/>
          <p:nvPr/>
        </p:nvSpPr>
        <p:spPr>
          <a:xfrm>
            <a:off x="7863840" y="405079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F2</a:t>
            </a:r>
            <a:endParaRPr lang="es-CL" sz="1200" dirty="0"/>
          </a:p>
        </p:txBody>
      </p:sp>
      <p:sp>
        <p:nvSpPr>
          <p:cNvPr id="32" name="Text 30"/>
          <p:cNvSpPr txBox="1"/>
          <p:nvPr/>
        </p:nvSpPr>
        <p:spPr>
          <a:xfrm>
            <a:off x="9144000" y="3977640"/>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FODA · quinto cruce</a:t>
            </a:r>
            <a:endParaRPr lang="es-CL" sz="1600" dirty="0"/>
          </a:p>
        </p:txBody>
      </p:sp>
      <p:sp>
        <p:nvSpPr>
          <p:cNvPr id="33" name="Shape 31"/>
          <p:cNvSpPr/>
          <p:nvPr/>
        </p:nvSpPr>
        <p:spPr>
          <a:xfrm>
            <a:off x="548640" y="4416552"/>
            <a:ext cx="11094415" cy="0"/>
          </a:xfrm>
          <a:prstGeom prst="line">
            <a:avLst/>
          </a:prstGeom>
          <a:noFill/>
          <a:ln w="9525">
            <a:solidFill>
              <a:schemeClr val="accent5"/>
            </a:solidFill>
            <a:prstDash val="solid"/>
          </a:ln>
        </p:spPr>
      </p:sp>
      <p:sp>
        <p:nvSpPr>
          <p:cNvPr id="34" name="Text 32"/>
          <p:cNvSpPr txBox="1"/>
          <p:nvPr/>
        </p:nvSpPr>
        <p:spPr>
          <a:xfrm>
            <a:off x="548640" y="4416552"/>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Protocolo antes y después con línea base del mismo auto</a:t>
            </a:r>
            <a:endParaRPr lang="es-CL" sz="1600" dirty="0"/>
          </a:p>
        </p:txBody>
      </p:sp>
      <p:sp>
        <p:nvSpPr>
          <p:cNvPr id="35" name="Shape 33"/>
          <p:cNvSpPr/>
          <p:nvPr/>
        </p:nvSpPr>
        <p:spPr>
          <a:xfrm>
            <a:off x="7863840" y="4489704"/>
            <a:ext cx="548640" cy="292608"/>
          </a:xfrm>
          <a:prstGeom prst="rect">
            <a:avLst/>
          </a:prstGeom>
          <a:solidFill>
            <a:schemeClr val="accent5"/>
          </a:solidFill>
          <a:ln/>
        </p:spPr>
      </p:sp>
      <p:sp>
        <p:nvSpPr>
          <p:cNvPr id="36" name="Shape 34"/>
          <p:cNvSpPr/>
          <p:nvPr/>
        </p:nvSpPr>
        <p:spPr>
          <a:xfrm>
            <a:off x="7863840" y="4489704"/>
            <a:ext cx="548640" cy="45720"/>
          </a:xfrm>
          <a:prstGeom prst="rect">
            <a:avLst/>
          </a:prstGeom>
          <a:solidFill>
            <a:srgbClr val="0A6F9E"/>
          </a:solidFill>
          <a:ln/>
        </p:spPr>
      </p:sp>
      <p:sp>
        <p:nvSpPr>
          <p:cNvPr id="37" name="Text 35"/>
          <p:cNvSpPr txBox="1"/>
          <p:nvPr/>
        </p:nvSpPr>
        <p:spPr>
          <a:xfrm>
            <a:off x="7863840" y="448970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A3</a:t>
            </a:r>
            <a:endParaRPr lang="es-CL" sz="1200" dirty="0"/>
          </a:p>
        </p:txBody>
      </p:sp>
      <p:sp>
        <p:nvSpPr>
          <p:cNvPr id="38" name="Text 36"/>
          <p:cNvSpPr txBox="1"/>
          <p:nvPr/>
        </p:nvSpPr>
        <p:spPr>
          <a:xfrm>
            <a:off x="9144000" y="4416552"/>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CMI actualizado</a:t>
            </a:r>
            <a:endParaRPr lang="es-CL" sz="1600" dirty="0"/>
          </a:p>
        </p:txBody>
      </p:sp>
      <p:sp>
        <p:nvSpPr>
          <p:cNvPr id="39" name="Shape 37"/>
          <p:cNvSpPr/>
          <p:nvPr/>
        </p:nvSpPr>
        <p:spPr>
          <a:xfrm>
            <a:off x="548640" y="4855464"/>
            <a:ext cx="11094415" cy="0"/>
          </a:xfrm>
          <a:prstGeom prst="line">
            <a:avLst/>
          </a:prstGeom>
          <a:noFill/>
          <a:ln w="9525">
            <a:solidFill>
              <a:schemeClr val="accent5"/>
            </a:solidFill>
            <a:prstDash val="solid"/>
          </a:ln>
        </p:spPr>
      </p:sp>
      <p:sp>
        <p:nvSpPr>
          <p:cNvPr id="40" name="Text 38"/>
          <p:cNvSpPr txBox="1"/>
          <p:nvPr/>
        </p:nvSpPr>
        <p:spPr>
          <a:xfrm>
            <a:off x="548640" y="4855464"/>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Repositorio versionado de calibraciones con control de acceso</a:t>
            </a:r>
            <a:endParaRPr lang="es-CL" sz="1600" dirty="0"/>
          </a:p>
        </p:txBody>
      </p:sp>
      <p:sp>
        <p:nvSpPr>
          <p:cNvPr id="41" name="Shape 39"/>
          <p:cNvSpPr/>
          <p:nvPr/>
        </p:nvSpPr>
        <p:spPr>
          <a:xfrm>
            <a:off x="7863840" y="4928616"/>
            <a:ext cx="548640" cy="292608"/>
          </a:xfrm>
          <a:prstGeom prst="rect">
            <a:avLst/>
          </a:prstGeom>
          <a:solidFill>
            <a:schemeClr val="accent5"/>
          </a:solidFill>
          <a:ln/>
        </p:spPr>
      </p:sp>
      <p:sp>
        <p:nvSpPr>
          <p:cNvPr id="42" name="Shape 40"/>
          <p:cNvSpPr/>
          <p:nvPr/>
        </p:nvSpPr>
        <p:spPr>
          <a:xfrm>
            <a:off x="7863840" y="4928616"/>
            <a:ext cx="548640" cy="45720"/>
          </a:xfrm>
          <a:prstGeom prst="rect">
            <a:avLst/>
          </a:prstGeom>
          <a:solidFill>
            <a:srgbClr val="0A6F9E"/>
          </a:solidFill>
          <a:ln/>
        </p:spPr>
      </p:sp>
      <p:sp>
        <p:nvSpPr>
          <p:cNvPr id="43" name="Text 41"/>
          <p:cNvSpPr txBox="1"/>
          <p:nvPr/>
        </p:nvSpPr>
        <p:spPr>
          <a:xfrm>
            <a:off x="7863840" y="4928616"/>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a:t>
            </a:r>
            <a:endParaRPr lang="es-CL" sz="1200" dirty="0"/>
          </a:p>
        </p:txBody>
      </p:sp>
      <p:sp>
        <p:nvSpPr>
          <p:cNvPr id="44" name="Text 42"/>
          <p:cNvSpPr txBox="1"/>
          <p:nvPr/>
        </p:nvSpPr>
        <p:spPr>
          <a:xfrm>
            <a:off x="9144000" y="4855464"/>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CMI en red</a:t>
            </a:r>
            <a:endParaRPr lang="es-CL" sz="1600" dirty="0"/>
          </a:p>
        </p:txBody>
      </p:sp>
      <p:sp>
        <p:nvSpPr>
          <p:cNvPr id="45" name="Shape 43"/>
          <p:cNvSpPr/>
          <p:nvPr/>
        </p:nvSpPr>
        <p:spPr>
          <a:xfrm>
            <a:off x="548640" y="5294376"/>
            <a:ext cx="11094415" cy="0"/>
          </a:xfrm>
          <a:prstGeom prst="line">
            <a:avLst/>
          </a:prstGeom>
          <a:noFill/>
          <a:ln w="9525">
            <a:solidFill>
              <a:schemeClr val="accent5"/>
            </a:solidFill>
            <a:prstDash val="solid"/>
          </a:ln>
        </p:spPr>
      </p:sp>
      <p:sp>
        <p:nvSpPr>
          <p:cNvPr id="46" name="Text 44"/>
          <p:cNvSpPr txBox="1"/>
          <p:nvPr/>
        </p:nvSpPr>
        <p:spPr>
          <a:xfrm>
            <a:off x="548640" y="5294376"/>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Ruta de habilitación N1 a N4 en Lumine Habilita</a:t>
            </a:r>
            <a:endParaRPr lang="es-CL" sz="1600" dirty="0"/>
          </a:p>
        </p:txBody>
      </p:sp>
      <p:sp>
        <p:nvSpPr>
          <p:cNvPr id="47" name="Shape 45"/>
          <p:cNvSpPr/>
          <p:nvPr/>
        </p:nvSpPr>
        <p:spPr>
          <a:xfrm>
            <a:off x="7863840" y="5367528"/>
            <a:ext cx="548640" cy="292608"/>
          </a:xfrm>
          <a:prstGeom prst="rect">
            <a:avLst/>
          </a:prstGeom>
          <a:solidFill>
            <a:schemeClr val="accent5"/>
          </a:solidFill>
          <a:ln/>
        </p:spPr>
      </p:sp>
      <p:sp>
        <p:nvSpPr>
          <p:cNvPr id="48" name="Shape 46"/>
          <p:cNvSpPr/>
          <p:nvPr/>
        </p:nvSpPr>
        <p:spPr>
          <a:xfrm>
            <a:off x="7863840" y="5367528"/>
            <a:ext cx="548640" cy="45720"/>
          </a:xfrm>
          <a:prstGeom prst="rect">
            <a:avLst/>
          </a:prstGeom>
          <a:solidFill>
            <a:srgbClr val="0A6F9E"/>
          </a:solidFill>
          <a:ln/>
        </p:spPr>
      </p:sp>
      <p:sp>
        <p:nvSpPr>
          <p:cNvPr id="49" name="Text 47"/>
          <p:cNvSpPr txBox="1"/>
          <p:nvPr/>
        </p:nvSpPr>
        <p:spPr>
          <a:xfrm>
            <a:off x="7863840" y="536752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A2</a:t>
            </a:r>
            <a:endParaRPr lang="es-CL" sz="1200" dirty="0"/>
          </a:p>
        </p:txBody>
      </p:sp>
      <p:sp>
        <p:nvSpPr>
          <p:cNvPr id="50" name="Text 48"/>
          <p:cNvSpPr txBox="1"/>
          <p:nvPr/>
        </p:nvSpPr>
        <p:spPr>
          <a:xfrm>
            <a:off x="9144000" y="5294376"/>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Lumine Habilita</a:t>
            </a:r>
            <a:endParaRPr lang="es-CL" sz="1600" dirty="0"/>
          </a:p>
        </p:txBody>
      </p:sp>
      <p:sp>
        <p:nvSpPr>
          <p:cNvPr id="51" name="Shape 49"/>
          <p:cNvSpPr/>
          <p:nvPr/>
        </p:nvSpPr>
        <p:spPr>
          <a:xfrm>
            <a:off x="548640" y="5733288"/>
            <a:ext cx="11094415" cy="0"/>
          </a:xfrm>
          <a:prstGeom prst="line">
            <a:avLst/>
          </a:prstGeom>
          <a:noFill/>
          <a:ln w="9525">
            <a:solidFill>
              <a:schemeClr val="accent5"/>
            </a:solidFill>
            <a:prstDash val="solid"/>
          </a:ln>
        </p:spPr>
      </p:sp>
      <p:sp>
        <p:nvSpPr>
          <p:cNvPr id="52" name="Text 50"/>
          <p:cNvSpPr txBox="1"/>
          <p:nvPr/>
        </p:nvSpPr>
        <p:spPr>
          <a:xfrm>
            <a:off x="548640" y="5733288"/>
            <a:ext cx="7178040"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Encuesta posservicio y registro de reclamos</a:t>
            </a:r>
            <a:endParaRPr lang="es-CL" sz="1600" dirty="0"/>
          </a:p>
        </p:txBody>
      </p:sp>
      <p:sp>
        <p:nvSpPr>
          <p:cNvPr id="53" name="Shape 51"/>
          <p:cNvSpPr/>
          <p:nvPr/>
        </p:nvSpPr>
        <p:spPr>
          <a:xfrm>
            <a:off x="7863840" y="5806440"/>
            <a:ext cx="548640" cy="292608"/>
          </a:xfrm>
          <a:prstGeom prst="rect">
            <a:avLst/>
          </a:prstGeom>
          <a:solidFill>
            <a:schemeClr val="accent5"/>
          </a:solidFill>
          <a:ln/>
        </p:spPr>
      </p:sp>
      <p:sp>
        <p:nvSpPr>
          <p:cNvPr id="54" name="Text 52"/>
          <p:cNvSpPr txBox="1"/>
          <p:nvPr/>
        </p:nvSpPr>
        <p:spPr>
          <a:xfrm>
            <a:off x="7863840" y="58064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C3</a:t>
            </a:r>
            <a:endParaRPr lang="es-CL" sz="1200" dirty="0"/>
          </a:p>
        </p:txBody>
      </p:sp>
      <p:sp>
        <p:nvSpPr>
          <p:cNvPr id="55" name="Text 53"/>
          <p:cNvSpPr txBox="1"/>
          <p:nvPr/>
        </p:nvSpPr>
        <p:spPr>
          <a:xfrm>
            <a:off x="9144000" y="5733288"/>
            <a:ext cx="2361895" cy="438912"/>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Propuesta del equipo</a:t>
            </a:r>
            <a:endParaRPr lang="es-CL" sz="1600" dirty="0"/>
          </a:p>
        </p:txBody>
      </p:sp>
      <p:sp>
        <p:nvSpPr>
          <p:cNvPr id="56" name="Shape 54"/>
          <p:cNvSpPr/>
          <p:nvPr/>
        </p:nvSpPr>
        <p:spPr>
          <a:xfrm>
            <a:off x="548640" y="617220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DIAGNÓSTICO · FODA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FODA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que alimenta los objetivos.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FODA por perspectivas del CMI, y las fuentes citadas allí.</a:t>
            </a:r>
            <a:endParaRPr lang="es-CL" sz="1100" dirty="0"/>
          </a:p>
        </p:txBody>
      </p:sp>
      <p:sp>
        <p:nvSpPr>
          <p:cNvPr id="6" name="Shape 4"/>
          <p:cNvSpPr/>
          <p:nvPr/>
        </p:nvSpPr>
        <p:spPr>
          <a:xfrm>
            <a:off x="548640" y="2395728"/>
            <a:ext cx="5410048" cy="1783080"/>
          </a:xfrm>
          <a:prstGeom prst="rect">
            <a:avLst/>
          </a:prstGeom>
          <a:solidFill>
            <a:schemeClr val="bg2"/>
          </a:solidFill>
          <a:ln w="9525">
            <a:solidFill>
              <a:schemeClr val="accent1"/>
            </a:solidFill>
            <a:prstDash val="solid"/>
          </a:ln>
        </p:spPr>
      </p:sp>
      <p:sp>
        <p:nvSpPr>
          <p:cNvPr id="7" name="Text 5"/>
          <p:cNvSpPr txBox="1"/>
          <p:nvPr/>
        </p:nvSpPr>
        <p:spPr>
          <a:xfrm>
            <a:off x="749808" y="2505456"/>
            <a:ext cx="504428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FORTALEZAS</a:t>
            </a:r>
            <a:endParaRPr lang="es-CL" sz="1300" dirty="0"/>
          </a:p>
        </p:txBody>
      </p:sp>
      <p:sp>
        <p:nvSpPr>
          <p:cNvPr id="8" name="Text 6"/>
          <p:cNvSpPr txBox="1"/>
          <p:nvPr/>
        </p:nvSpPr>
        <p:spPr>
          <a:xfrm>
            <a:off x="749808" y="2807208"/>
            <a:ext cx="5044288" cy="1280160"/>
          </a:xfrm>
          <a:prstGeom prst="rect">
            <a:avLst/>
          </a:prstGeom>
          <a:noFill/>
          <a:ln/>
        </p:spPr>
        <p:txBody>
          <a:bodyPr wrap="square" lIns="0" tIns="0" rIns="0" bIns="0" rtlCol="0" anchor="t"/>
          <a:lstStyle/>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Arquitectura en eje trasero y proceso de cinco etapas</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Segmento definido y estrategia de producto única</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Riesgos identificados y protocolo de contención</a:t>
            </a:r>
            <a:endParaRPr lang="es-CL" sz="1500" dirty="0"/>
          </a:p>
        </p:txBody>
      </p:sp>
      <p:sp>
        <p:nvSpPr>
          <p:cNvPr id="9" name="Shape 7"/>
          <p:cNvSpPr/>
          <p:nvPr/>
        </p:nvSpPr>
        <p:spPr>
          <a:xfrm>
            <a:off x="6233008" y="2395728"/>
            <a:ext cx="5410048" cy="1783080"/>
          </a:xfrm>
          <a:prstGeom prst="rect">
            <a:avLst/>
          </a:prstGeom>
          <a:solidFill>
            <a:schemeClr val="bg2"/>
          </a:solidFill>
          <a:ln w="9525">
            <a:solidFill>
              <a:schemeClr val="tx2"/>
            </a:solidFill>
            <a:prstDash val="solid"/>
          </a:ln>
        </p:spPr>
      </p:sp>
      <p:sp>
        <p:nvSpPr>
          <p:cNvPr id="10" name="Text 8"/>
          <p:cNvSpPr txBox="1"/>
          <p:nvPr/>
        </p:nvSpPr>
        <p:spPr>
          <a:xfrm>
            <a:off x="6434176" y="2505456"/>
            <a:ext cx="504428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DEBILIDADES</a:t>
            </a:r>
            <a:endParaRPr lang="es-CL" sz="1300" dirty="0"/>
          </a:p>
        </p:txBody>
      </p:sp>
      <p:sp>
        <p:nvSpPr>
          <p:cNvPr id="11" name="Text 9"/>
          <p:cNvSpPr txBox="1"/>
          <p:nvPr/>
        </p:nvSpPr>
        <p:spPr>
          <a:xfrm>
            <a:off x="6434176" y="2807208"/>
            <a:ext cx="5044288" cy="1280160"/>
          </a:xfrm>
          <a:prstGeom prst="rect">
            <a:avLst/>
          </a:prstGeom>
          <a:noFill/>
          <a:ln/>
        </p:spPr>
        <p:txBody>
          <a:bodyPr wrap="square" lIns="0" tIns="0" rIns="0" bIns="0" rtlCol="0" anchor="t"/>
          <a:lstStyle/>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Sin ensayo ni homologación; biblioteca vacía</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Técnicos escasos y sin esquema de retención</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Inventario en dólares sin cobertura; marca sin casos</a:t>
            </a:r>
            <a:endParaRPr lang="es-CL" sz="1500" dirty="0"/>
          </a:p>
        </p:txBody>
      </p:sp>
      <p:sp>
        <p:nvSpPr>
          <p:cNvPr id="12" name="Shape 10"/>
          <p:cNvSpPr/>
          <p:nvPr/>
        </p:nvSpPr>
        <p:spPr>
          <a:xfrm>
            <a:off x="548640" y="4453128"/>
            <a:ext cx="5410048" cy="1783080"/>
          </a:xfrm>
          <a:prstGeom prst="rect">
            <a:avLst/>
          </a:prstGeom>
          <a:solidFill>
            <a:schemeClr val="bg2"/>
          </a:solidFill>
          <a:ln w="9525">
            <a:solidFill>
              <a:schemeClr val="tx2"/>
            </a:solidFill>
            <a:prstDash val="solid"/>
          </a:ln>
        </p:spPr>
      </p:sp>
      <p:sp>
        <p:nvSpPr>
          <p:cNvPr id="13" name="Text 11"/>
          <p:cNvSpPr txBox="1"/>
          <p:nvPr/>
        </p:nvSpPr>
        <p:spPr>
          <a:xfrm>
            <a:off x="749808" y="4562856"/>
            <a:ext cx="504428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OPORTUNIDADES</a:t>
            </a:r>
            <a:endParaRPr lang="es-CL" sz="1300" dirty="0"/>
          </a:p>
        </p:txBody>
      </p:sp>
      <p:sp>
        <p:nvSpPr>
          <p:cNvPr id="14" name="Text 12"/>
          <p:cNvSpPr txBox="1"/>
          <p:nvPr/>
        </p:nvSpPr>
        <p:spPr>
          <a:xfrm>
            <a:off x="749808" y="4864608"/>
            <a:ext cx="5044288" cy="1280160"/>
          </a:xfrm>
          <a:prstGeom prst="rect">
            <a:avLst/>
          </a:prstGeom>
          <a:noFill/>
          <a:ln/>
        </p:spPr>
        <p:txBody>
          <a:bodyPr wrap="square" lIns="0" tIns="0" rIns="0" bIns="0" rtlCol="0" anchor="t"/>
          <a:lstStyle/>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El parque se conserva: 3,5 usados por cada auto nuevo</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Bencina 93 de $1.149 a $1.541 por litro en la RM</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Baterías LFP en US$81 por kWh</a:t>
            </a:r>
            <a:endParaRPr lang="es-CL" sz="1500" dirty="0"/>
          </a:p>
        </p:txBody>
      </p:sp>
      <p:sp>
        <p:nvSpPr>
          <p:cNvPr id="15" name="Shape 13"/>
          <p:cNvSpPr/>
          <p:nvPr/>
        </p:nvSpPr>
        <p:spPr>
          <a:xfrm>
            <a:off x="6233008" y="4453128"/>
            <a:ext cx="5410048" cy="1783080"/>
          </a:xfrm>
          <a:prstGeom prst="rect">
            <a:avLst/>
          </a:prstGeom>
          <a:solidFill>
            <a:schemeClr val="bg2"/>
          </a:solidFill>
          <a:ln w="9525">
            <a:solidFill>
              <a:schemeClr val="accent1"/>
            </a:solidFill>
            <a:prstDash val="solid"/>
          </a:ln>
        </p:spPr>
      </p:sp>
      <p:sp>
        <p:nvSpPr>
          <p:cNvPr id="16" name="Text 14"/>
          <p:cNvSpPr txBox="1"/>
          <p:nvPr/>
        </p:nvSpPr>
        <p:spPr>
          <a:xfrm>
            <a:off x="6434176" y="4562856"/>
            <a:ext cx="504428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AMENAZAS</a:t>
            </a:r>
            <a:endParaRPr lang="es-CL" sz="1300" dirty="0"/>
          </a:p>
        </p:txBody>
      </p:sp>
      <p:sp>
        <p:nvSpPr>
          <p:cNvPr id="17" name="Text 15"/>
          <p:cNvSpPr txBox="1"/>
          <p:nvPr/>
        </p:nvSpPr>
        <p:spPr>
          <a:xfrm>
            <a:off x="6434176" y="4864608"/>
            <a:ext cx="5044288" cy="1280160"/>
          </a:xfrm>
          <a:prstGeom prst="rect">
            <a:avLst/>
          </a:prstGeom>
          <a:noFill/>
          <a:ln/>
        </p:spPr>
        <p:txBody>
          <a:bodyPr wrap="square" lIns="0" tIns="0" rIns="0" bIns="0" rtlCol="0" anchor="t"/>
          <a:lstStyle/>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Ley N° 21.793 sin reglamento; borrador de 2021 sin vía</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Dólar cerca de $970 con kit 100% importado</a:t>
            </a:r>
            <a:endParaRPr lang="es-CL" sz="1500" dirty="0"/>
          </a:p>
          <a:p>
            <a:pPr marL="342900" indent="-342900">
              <a:spcAft>
                <a:spcPts val="400"/>
              </a:spcAft>
              <a:buSzPct val="100000"/>
              <a:buChar char="•"/>
            </a:pPr>
            <a:r>
              <a:rPr lang="es-CL" altLang="en-US" sz="1500" dirty="0">
                <a:solidFill>
                  <a:schemeClr val="tx1"/>
                </a:solidFill>
                <a:latin typeface="Figtree" pitchFamily="34" charset="0"/>
                <a:ea typeface="Figtree" pitchFamily="34" charset="-122"/>
                <a:cs typeface="Figtree" pitchFamily="34" charset="-120"/>
              </a:rPr>
              <a:t>Desempleo de 9,5% y no hacer nada cuesta $0</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DIAGNÓSTICO · CADENA DE VALOR</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CADENA DE VALOR: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costo y la exclusividad no coinciden.</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cadena de valor (instrumento 06).</a:t>
            </a:r>
            <a:endParaRPr lang="es-CL" sz="1100" dirty="0"/>
          </a:p>
        </p:txBody>
      </p:sp>
      <p:sp>
        <p:nvSpPr>
          <p:cNvPr id="6" name="Text 4"/>
          <p:cNvSpPr txBox="1"/>
          <p:nvPr/>
        </p:nvSpPr>
        <p:spPr>
          <a:xfrm>
            <a:off x="548640" y="2395728"/>
            <a:ext cx="27432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ESLABÓN</a:t>
            </a:r>
            <a:endParaRPr lang="es-CL" sz="1200" dirty="0"/>
          </a:p>
        </p:txBody>
      </p:sp>
      <p:sp>
        <p:nvSpPr>
          <p:cNvPr id="7" name="Text 5"/>
          <p:cNvSpPr txBox="1"/>
          <p:nvPr/>
        </p:nvSpPr>
        <p:spPr>
          <a:xfrm>
            <a:off x="3291840" y="2395728"/>
            <a:ext cx="835121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LECTURA</a:t>
            </a:r>
            <a:endParaRPr lang="es-CL" sz="1200" dirty="0"/>
          </a:p>
        </p:txBody>
      </p:sp>
      <p:sp>
        <p:nvSpPr>
          <p:cNvPr id="8" name="Shape 6"/>
          <p:cNvSpPr/>
          <p:nvPr/>
        </p:nvSpPr>
        <p:spPr>
          <a:xfrm>
            <a:off x="548640" y="2706624"/>
            <a:ext cx="11094415" cy="0"/>
          </a:xfrm>
          <a:prstGeom prst="line">
            <a:avLst/>
          </a:prstGeom>
          <a:noFill/>
          <a:ln w="9525">
            <a:solidFill>
              <a:schemeClr val="accent1"/>
            </a:solidFill>
            <a:prstDash val="solid"/>
          </a:ln>
        </p:spPr>
      </p:sp>
      <p:sp>
        <p:nvSpPr>
          <p:cNvPr id="9" name="Text 7"/>
          <p:cNvSpPr txBox="1"/>
          <p:nvPr/>
        </p:nvSpPr>
        <p:spPr>
          <a:xfrm>
            <a:off x="548640" y="2706624"/>
            <a:ext cx="2606040" cy="640080"/>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Infraestructura</a:t>
            </a:r>
            <a:endParaRPr lang="es-CL" sz="1800" dirty="0"/>
          </a:p>
        </p:txBody>
      </p:sp>
      <p:sp>
        <p:nvSpPr>
          <p:cNvPr id="10" name="Text 8"/>
          <p:cNvSpPr txBox="1"/>
          <p:nvPr/>
        </p:nvSpPr>
        <p:spPr>
          <a:xfrm>
            <a:off x="3291840" y="2706624"/>
            <a:ext cx="8214055" cy="640080"/>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Condición de entrada: sin autorización no opera ningún eslabón</a:t>
            </a:r>
            <a:endParaRPr lang="es-CL" sz="1800" dirty="0"/>
          </a:p>
        </p:txBody>
      </p:sp>
      <p:sp>
        <p:nvSpPr>
          <p:cNvPr id="11" name="Shape 9"/>
          <p:cNvSpPr/>
          <p:nvPr/>
        </p:nvSpPr>
        <p:spPr>
          <a:xfrm>
            <a:off x="548640" y="3346704"/>
            <a:ext cx="11094415" cy="0"/>
          </a:xfrm>
          <a:prstGeom prst="line">
            <a:avLst/>
          </a:prstGeom>
          <a:noFill/>
          <a:ln w="9525">
            <a:solidFill>
              <a:schemeClr val="accent5"/>
            </a:solidFill>
            <a:prstDash val="solid"/>
          </a:ln>
        </p:spPr>
      </p:sp>
      <p:sp>
        <p:nvSpPr>
          <p:cNvPr id="12" name="Text 10"/>
          <p:cNvSpPr txBox="1"/>
          <p:nvPr/>
        </p:nvSpPr>
        <p:spPr>
          <a:xfrm>
            <a:off x="548640" y="3346704"/>
            <a:ext cx="2606040" cy="640080"/>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Desarrollo tecnológico</a:t>
            </a:r>
            <a:endParaRPr lang="es-CL" sz="1800" dirty="0"/>
          </a:p>
        </p:txBody>
      </p:sp>
      <p:sp>
        <p:nvSpPr>
          <p:cNvPr id="13" name="Text 11"/>
          <p:cNvSpPr txBox="1"/>
          <p:nvPr/>
        </p:nvSpPr>
        <p:spPr>
          <a:xfrm>
            <a:off x="3291840" y="3346704"/>
            <a:ext cx="8214055" cy="640080"/>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Única fuente de exclusividad: la calibración</a:t>
            </a:r>
            <a:endParaRPr lang="es-CL" sz="1800" dirty="0"/>
          </a:p>
        </p:txBody>
      </p:sp>
      <p:sp>
        <p:nvSpPr>
          <p:cNvPr id="14" name="Shape 12"/>
          <p:cNvSpPr/>
          <p:nvPr/>
        </p:nvSpPr>
        <p:spPr>
          <a:xfrm>
            <a:off x="548640" y="3986784"/>
            <a:ext cx="11094415" cy="0"/>
          </a:xfrm>
          <a:prstGeom prst="line">
            <a:avLst/>
          </a:prstGeom>
          <a:noFill/>
          <a:ln w="9525">
            <a:solidFill>
              <a:schemeClr val="accent5"/>
            </a:solidFill>
            <a:prstDash val="solid"/>
          </a:ln>
        </p:spPr>
      </p:sp>
      <p:sp>
        <p:nvSpPr>
          <p:cNvPr id="15" name="Text 13"/>
          <p:cNvSpPr txBox="1"/>
          <p:nvPr/>
        </p:nvSpPr>
        <p:spPr>
          <a:xfrm>
            <a:off x="548640" y="3986784"/>
            <a:ext cx="2606040" cy="640080"/>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Operaciones</a:t>
            </a:r>
            <a:endParaRPr lang="es-CL" sz="1800" dirty="0"/>
          </a:p>
        </p:txBody>
      </p:sp>
      <p:sp>
        <p:nvSpPr>
          <p:cNvPr id="16" name="Text 14"/>
          <p:cNvSpPr txBox="1"/>
          <p:nvPr/>
        </p:nvSpPr>
        <p:spPr>
          <a:xfrm>
            <a:off x="3291840" y="3986784"/>
            <a:ext cx="8214055" cy="640080"/>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Cuello de botella: homologación por modelo, internación y escasez de técnicos</a:t>
            </a:r>
            <a:endParaRPr lang="es-CL" sz="1800" dirty="0"/>
          </a:p>
        </p:txBody>
      </p:sp>
      <p:sp>
        <p:nvSpPr>
          <p:cNvPr id="17" name="Shape 15"/>
          <p:cNvSpPr/>
          <p:nvPr/>
        </p:nvSpPr>
        <p:spPr>
          <a:xfrm>
            <a:off x="548640" y="4626864"/>
            <a:ext cx="11094415" cy="0"/>
          </a:xfrm>
          <a:prstGeom prst="line">
            <a:avLst/>
          </a:prstGeom>
          <a:noFill/>
          <a:ln w="9525">
            <a:solidFill>
              <a:schemeClr val="accent5"/>
            </a:solidFill>
            <a:prstDash val="solid"/>
          </a:ln>
        </p:spPr>
      </p:sp>
      <p:sp>
        <p:nvSpPr>
          <p:cNvPr id="18" name="Text 16"/>
          <p:cNvSpPr txBox="1"/>
          <p:nvPr/>
        </p:nvSpPr>
        <p:spPr>
          <a:xfrm>
            <a:off x="548640" y="4626864"/>
            <a:ext cx="2606040" cy="640080"/>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Adquisiciones</a:t>
            </a:r>
            <a:endParaRPr lang="es-CL" sz="1800" dirty="0"/>
          </a:p>
        </p:txBody>
      </p:sp>
      <p:sp>
        <p:nvSpPr>
          <p:cNvPr id="19" name="Text 17"/>
          <p:cNvSpPr txBox="1"/>
          <p:nvPr/>
        </p:nvSpPr>
        <p:spPr>
          <a:xfrm>
            <a:off x="3291840" y="4626864"/>
            <a:ext cx="8214055" cy="640080"/>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Directriz de costo: kit importado, carga Clase 9 y dólar</a:t>
            </a:r>
            <a:endParaRPr lang="es-CL" sz="1800" dirty="0"/>
          </a:p>
        </p:txBody>
      </p:sp>
      <p:sp>
        <p:nvSpPr>
          <p:cNvPr id="20" name="Shape 18"/>
          <p:cNvSpPr/>
          <p:nvPr/>
        </p:nvSpPr>
        <p:spPr>
          <a:xfrm>
            <a:off x="548640" y="5266944"/>
            <a:ext cx="11094415" cy="0"/>
          </a:xfrm>
          <a:prstGeom prst="line">
            <a:avLst/>
          </a:prstGeom>
          <a:noFill/>
          <a:ln w="9525">
            <a:solidFill>
              <a:schemeClr val="accent5"/>
            </a:solidFill>
            <a:prstDash val="solid"/>
          </a:ln>
        </p:spPr>
      </p:sp>
      <p:sp>
        <p:nvSpPr>
          <p:cNvPr id="21" name="Text 19"/>
          <p:cNvSpPr txBox="1"/>
          <p:nvPr/>
        </p:nvSpPr>
        <p:spPr>
          <a:xfrm>
            <a:off x="548640" y="5266944"/>
            <a:ext cx="2606040" cy="640080"/>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Externalizable</a:t>
            </a:r>
            <a:endParaRPr lang="es-CL" sz="1800" dirty="0"/>
          </a:p>
        </p:txBody>
      </p:sp>
      <p:sp>
        <p:nvSpPr>
          <p:cNvPr id="22" name="Text 20"/>
          <p:cNvSpPr txBox="1"/>
          <p:nvPr/>
        </p:nvSpPr>
        <p:spPr>
          <a:xfrm>
            <a:off x="3291840" y="5266944"/>
            <a:ext cx="8214055" cy="640080"/>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Contabilidad, aduana, transporte peligroso y remuneraciones</a:t>
            </a:r>
            <a:endParaRPr lang="es-CL" sz="1800" dirty="0"/>
          </a:p>
        </p:txBody>
      </p:sp>
      <p:sp>
        <p:nvSpPr>
          <p:cNvPr id="23" name="Shape 21"/>
          <p:cNvSpPr/>
          <p:nvPr/>
        </p:nvSpPr>
        <p:spPr>
          <a:xfrm>
            <a:off x="548640" y="590702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DIAGNÓSTICO · MÉTODO DE LOS INSTRUMENTOS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PEST Y CINCO FUERZAS,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con su escala.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instrumentos 02 (cinco fuerzas) y 03 (PEST). Escalas propias, no comparables con las del informe de Integrador II.</a:t>
            </a:r>
            <a:endParaRPr lang="es-CL" sz="1100" dirty="0"/>
          </a:p>
        </p:txBody>
      </p:sp>
      <p:sp>
        <p:nvSpPr>
          <p:cNvPr id="6" name="Text 4"/>
          <p:cNvSpPr txBox="1"/>
          <p:nvPr/>
        </p:nvSpPr>
        <p:spPr>
          <a:xfrm>
            <a:off x="548640" y="2395728"/>
            <a:ext cx="512064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PEST · 1 A 5 · 3 = NEUTRO</a:t>
            </a:r>
            <a:endParaRPr lang="es-CL" sz="1300" dirty="0"/>
          </a:p>
        </p:txBody>
      </p:sp>
      <p:sp>
        <p:nvSpPr>
          <p:cNvPr id="7" name="Text 5"/>
          <p:cNvSpPr txBox="1"/>
          <p:nvPr/>
        </p:nvSpPr>
        <p:spPr>
          <a:xfrm>
            <a:off x="3657600" y="2706624"/>
            <a:ext cx="914400" cy="274320"/>
          </a:xfrm>
          <a:prstGeom prst="rect">
            <a:avLst/>
          </a:prstGeom>
          <a:noFill/>
          <a:ln/>
        </p:spPr>
        <p:txBody>
          <a:bodyPr wrap="square" lIns="0" tIns="0" rIns="0" bIns="0" rtlCol="0" anchor="t"/>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HOY</a:t>
            </a:r>
            <a:endParaRPr lang="es-CL" sz="1200" dirty="0"/>
          </a:p>
        </p:txBody>
      </p:sp>
      <p:sp>
        <p:nvSpPr>
          <p:cNvPr id="8" name="Text 6"/>
          <p:cNvSpPr txBox="1"/>
          <p:nvPr/>
        </p:nvSpPr>
        <p:spPr>
          <a:xfrm>
            <a:off x="4663440" y="2706624"/>
            <a:ext cx="1005840" cy="274320"/>
          </a:xfrm>
          <a:prstGeom prst="rect">
            <a:avLst/>
          </a:prstGeom>
          <a:noFill/>
          <a:ln/>
        </p:spPr>
        <p:txBody>
          <a:bodyPr wrap="square" lIns="0" tIns="0" rIns="0" bIns="0" rtlCol="0" anchor="t"/>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FUTURO</a:t>
            </a:r>
            <a:endParaRPr lang="es-CL" sz="1200" dirty="0"/>
          </a:p>
        </p:txBody>
      </p:sp>
      <p:sp>
        <p:nvSpPr>
          <p:cNvPr id="9" name="Shape 7"/>
          <p:cNvSpPr/>
          <p:nvPr/>
        </p:nvSpPr>
        <p:spPr>
          <a:xfrm>
            <a:off x="548640" y="3017520"/>
            <a:ext cx="5120640" cy="0"/>
          </a:xfrm>
          <a:prstGeom prst="line">
            <a:avLst/>
          </a:prstGeom>
          <a:noFill/>
          <a:ln w="9525">
            <a:solidFill>
              <a:schemeClr val="accent1"/>
            </a:solidFill>
            <a:prstDash val="solid"/>
          </a:ln>
        </p:spPr>
      </p:sp>
      <p:sp>
        <p:nvSpPr>
          <p:cNvPr id="10" name="Text 8"/>
          <p:cNvSpPr txBox="1"/>
          <p:nvPr/>
        </p:nvSpPr>
        <p:spPr>
          <a:xfrm>
            <a:off x="548640" y="3017520"/>
            <a:ext cx="301752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Político-jurídico</a:t>
            </a:r>
            <a:endParaRPr lang="es-CL" sz="1700" dirty="0"/>
          </a:p>
        </p:txBody>
      </p:sp>
      <p:sp>
        <p:nvSpPr>
          <p:cNvPr id="11" name="Text 9"/>
          <p:cNvSpPr txBox="1"/>
          <p:nvPr/>
        </p:nvSpPr>
        <p:spPr>
          <a:xfrm>
            <a:off x="3657600" y="3017520"/>
            <a:ext cx="914400"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2,67</a:t>
            </a:r>
            <a:endParaRPr lang="es-CL" sz="2200" dirty="0"/>
          </a:p>
        </p:txBody>
      </p:sp>
      <p:sp>
        <p:nvSpPr>
          <p:cNvPr id="12" name="Text 10"/>
          <p:cNvSpPr txBox="1"/>
          <p:nvPr/>
        </p:nvSpPr>
        <p:spPr>
          <a:xfrm>
            <a:off x="4663440" y="3017520"/>
            <a:ext cx="1005840" cy="457200"/>
          </a:xfrm>
          <a:prstGeom prst="rect">
            <a:avLst/>
          </a:prstGeom>
          <a:noFill/>
          <a:ln/>
        </p:spPr>
        <p:txBody>
          <a:bodyPr wrap="square" lIns="0" tIns="0" rIns="0" bIns="0" rtlCol="0" anchor="ctr"/>
          <a:lstStyle/>
          <a:p>
            <a:pPr algn="r" indent="0" marL="0">
              <a:buNone/>
            </a:pPr>
            <a:r>
              <a:rPr lang="es-CL" altLang="en-US" sz="2200" b="1" dirty="0">
                <a:solidFill>
                  <a:schemeClr val="tx2"/>
                </a:solidFill>
                <a:latin typeface="Archivo Condensed" pitchFamily="34" charset="0"/>
                <a:ea typeface="Archivo Condensed" pitchFamily="34" charset="-122"/>
                <a:cs typeface="Archivo Condensed" pitchFamily="34" charset="-120"/>
              </a:rPr>
              <a:t>2,78</a:t>
            </a:r>
            <a:endParaRPr lang="es-CL" sz="2200" dirty="0"/>
          </a:p>
        </p:txBody>
      </p:sp>
      <p:sp>
        <p:nvSpPr>
          <p:cNvPr id="13" name="Shape 11"/>
          <p:cNvSpPr/>
          <p:nvPr/>
        </p:nvSpPr>
        <p:spPr>
          <a:xfrm>
            <a:off x="548640" y="3474720"/>
            <a:ext cx="5120640" cy="0"/>
          </a:xfrm>
          <a:prstGeom prst="line">
            <a:avLst/>
          </a:prstGeom>
          <a:noFill/>
          <a:ln w="9525">
            <a:solidFill>
              <a:schemeClr val="accent5"/>
            </a:solidFill>
            <a:prstDash val="solid"/>
          </a:ln>
        </p:spPr>
      </p:sp>
      <p:sp>
        <p:nvSpPr>
          <p:cNvPr id="14" name="Text 12"/>
          <p:cNvSpPr txBox="1"/>
          <p:nvPr/>
        </p:nvSpPr>
        <p:spPr>
          <a:xfrm>
            <a:off x="548640" y="3474720"/>
            <a:ext cx="301752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Económico</a:t>
            </a:r>
            <a:endParaRPr lang="es-CL" sz="1700" dirty="0"/>
          </a:p>
        </p:txBody>
      </p:sp>
      <p:sp>
        <p:nvSpPr>
          <p:cNvPr id="15" name="Text 13"/>
          <p:cNvSpPr txBox="1"/>
          <p:nvPr/>
        </p:nvSpPr>
        <p:spPr>
          <a:xfrm>
            <a:off x="3657600" y="3474720"/>
            <a:ext cx="914400"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2,38</a:t>
            </a:r>
            <a:endParaRPr lang="es-CL" sz="2200" dirty="0"/>
          </a:p>
        </p:txBody>
      </p:sp>
      <p:sp>
        <p:nvSpPr>
          <p:cNvPr id="16" name="Text 14"/>
          <p:cNvSpPr txBox="1"/>
          <p:nvPr/>
        </p:nvSpPr>
        <p:spPr>
          <a:xfrm>
            <a:off x="4663440" y="3474720"/>
            <a:ext cx="1005840" cy="457200"/>
          </a:xfrm>
          <a:prstGeom prst="rect">
            <a:avLst/>
          </a:prstGeom>
          <a:noFill/>
          <a:ln/>
        </p:spPr>
        <p:txBody>
          <a:bodyPr wrap="square" lIns="0" tIns="0" rIns="0" bIns="0" rtlCol="0" anchor="ctr"/>
          <a:lstStyle/>
          <a:p>
            <a:pPr algn="r" indent="0" marL="0">
              <a:buNone/>
            </a:pPr>
            <a:r>
              <a:rPr lang="es-CL" altLang="en-US" sz="2200" b="1" dirty="0">
                <a:solidFill>
                  <a:schemeClr val="tx2"/>
                </a:solidFill>
                <a:latin typeface="Archivo Condensed" pitchFamily="34" charset="0"/>
                <a:ea typeface="Archivo Condensed" pitchFamily="34" charset="-122"/>
                <a:cs typeface="Archivo Condensed" pitchFamily="34" charset="-120"/>
              </a:rPr>
              <a:t>2,81</a:t>
            </a:r>
            <a:endParaRPr lang="es-CL" sz="2200" dirty="0"/>
          </a:p>
        </p:txBody>
      </p:sp>
      <p:sp>
        <p:nvSpPr>
          <p:cNvPr id="17" name="Shape 15"/>
          <p:cNvSpPr/>
          <p:nvPr/>
        </p:nvSpPr>
        <p:spPr>
          <a:xfrm>
            <a:off x="548640" y="3931920"/>
            <a:ext cx="5120640" cy="0"/>
          </a:xfrm>
          <a:prstGeom prst="line">
            <a:avLst/>
          </a:prstGeom>
          <a:noFill/>
          <a:ln w="9525">
            <a:solidFill>
              <a:schemeClr val="accent5"/>
            </a:solidFill>
            <a:prstDash val="solid"/>
          </a:ln>
        </p:spPr>
      </p:sp>
      <p:sp>
        <p:nvSpPr>
          <p:cNvPr id="18" name="Text 16"/>
          <p:cNvSpPr txBox="1"/>
          <p:nvPr/>
        </p:nvSpPr>
        <p:spPr>
          <a:xfrm>
            <a:off x="548640" y="3931920"/>
            <a:ext cx="301752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Sociocultural</a:t>
            </a:r>
            <a:endParaRPr lang="es-CL" sz="1700" dirty="0"/>
          </a:p>
        </p:txBody>
      </p:sp>
      <p:sp>
        <p:nvSpPr>
          <p:cNvPr id="19" name="Text 17"/>
          <p:cNvSpPr txBox="1"/>
          <p:nvPr/>
        </p:nvSpPr>
        <p:spPr>
          <a:xfrm>
            <a:off x="3657600" y="3931920"/>
            <a:ext cx="914400"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3,00</a:t>
            </a:r>
            <a:endParaRPr lang="es-CL" sz="2200" dirty="0"/>
          </a:p>
        </p:txBody>
      </p:sp>
      <p:sp>
        <p:nvSpPr>
          <p:cNvPr id="20" name="Text 18"/>
          <p:cNvSpPr txBox="1"/>
          <p:nvPr/>
        </p:nvSpPr>
        <p:spPr>
          <a:xfrm>
            <a:off x="4663440" y="3931920"/>
            <a:ext cx="1005840" cy="457200"/>
          </a:xfrm>
          <a:prstGeom prst="rect">
            <a:avLst/>
          </a:prstGeom>
          <a:noFill/>
          <a:ln/>
        </p:spPr>
        <p:txBody>
          <a:bodyPr wrap="square" lIns="0" tIns="0" rIns="0" bIns="0" rtlCol="0" anchor="ctr"/>
          <a:lstStyle/>
          <a:p>
            <a:pPr algn="r" indent="0" marL="0">
              <a:buNone/>
            </a:pPr>
            <a:r>
              <a:rPr lang="es-CL" altLang="en-US" sz="2200" b="1" dirty="0">
                <a:solidFill>
                  <a:schemeClr val="tx2"/>
                </a:solidFill>
                <a:latin typeface="Archivo Condensed" pitchFamily="34" charset="0"/>
                <a:ea typeface="Archivo Condensed" pitchFamily="34" charset="-122"/>
                <a:cs typeface="Archivo Condensed" pitchFamily="34" charset="-120"/>
              </a:rPr>
              <a:t>3,00</a:t>
            </a:r>
            <a:endParaRPr lang="es-CL" sz="2200" dirty="0"/>
          </a:p>
        </p:txBody>
      </p:sp>
      <p:sp>
        <p:nvSpPr>
          <p:cNvPr id="21" name="Shape 19"/>
          <p:cNvSpPr/>
          <p:nvPr/>
        </p:nvSpPr>
        <p:spPr>
          <a:xfrm>
            <a:off x="548640" y="4389120"/>
            <a:ext cx="5120640" cy="0"/>
          </a:xfrm>
          <a:prstGeom prst="line">
            <a:avLst/>
          </a:prstGeom>
          <a:noFill/>
          <a:ln w="9525">
            <a:solidFill>
              <a:schemeClr val="accent5"/>
            </a:solidFill>
            <a:prstDash val="solid"/>
          </a:ln>
        </p:spPr>
      </p:sp>
      <p:sp>
        <p:nvSpPr>
          <p:cNvPr id="22" name="Text 20"/>
          <p:cNvSpPr txBox="1"/>
          <p:nvPr/>
        </p:nvSpPr>
        <p:spPr>
          <a:xfrm>
            <a:off x="548640" y="4389120"/>
            <a:ext cx="301752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Tecnológico</a:t>
            </a:r>
            <a:endParaRPr lang="es-CL" sz="1700" dirty="0"/>
          </a:p>
        </p:txBody>
      </p:sp>
      <p:sp>
        <p:nvSpPr>
          <p:cNvPr id="23" name="Text 21"/>
          <p:cNvSpPr txBox="1"/>
          <p:nvPr/>
        </p:nvSpPr>
        <p:spPr>
          <a:xfrm>
            <a:off x="3657600" y="4389120"/>
            <a:ext cx="914400"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3,23</a:t>
            </a:r>
            <a:endParaRPr lang="es-CL" sz="2200" dirty="0"/>
          </a:p>
        </p:txBody>
      </p:sp>
      <p:sp>
        <p:nvSpPr>
          <p:cNvPr id="24" name="Text 22"/>
          <p:cNvSpPr txBox="1"/>
          <p:nvPr/>
        </p:nvSpPr>
        <p:spPr>
          <a:xfrm>
            <a:off x="4663440" y="4389120"/>
            <a:ext cx="1005840" cy="457200"/>
          </a:xfrm>
          <a:prstGeom prst="rect">
            <a:avLst/>
          </a:prstGeom>
          <a:noFill/>
          <a:ln/>
        </p:spPr>
        <p:txBody>
          <a:bodyPr wrap="square" lIns="0" tIns="0" rIns="0" bIns="0" rtlCol="0" anchor="ctr"/>
          <a:lstStyle/>
          <a:p>
            <a:pPr algn="r" indent="0" marL="0">
              <a:buNone/>
            </a:pPr>
            <a:r>
              <a:rPr lang="es-CL" altLang="en-US" sz="2200" b="1" dirty="0">
                <a:solidFill>
                  <a:schemeClr val="tx2"/>
                </a:solidFill>
                <a:latin typeface="Archivo Condensed" pitchFamily="34" charset="0"/>
                <a:ea typeface="Archivo Condensed" pitchFamily="34" charset="-122"/>
                <a:cs typeface="Archivo Condensed" pitchFamily="34" charset="-120"/>
              </a:rPr>
              <a:t>3,38</a:t>
            </a:r>
            <a:endParaRPr lang="es-CL" sz="2200" dirty="0"/>
          </a:p>
        </p:txBody>
      </p:sp>
      <p:sp>
        <p:nvSpPr>
          <p:cNvPr id="25" name="Shape 23"/>
          <p:cNvSpPr/>
          <p:nvPr/>
        </p:nvSpPr>
        <p:spPr>
          <a:xfrm>
            <a:off x="548640" y="4846320"/>
            <a:ext cx="5120640" cy="0"/>
          </a:xfrm>
          <a:prstGeom prst="line">
            <a:avLst/>
          </a:prstGeom>
          <a:noFill/>
          <a:ln w="9525">
            <a:solidFill>
              <a:schemeClr val="accent5"/>
            </a:solidFill>
            <a:prstDash val="solid"/>
          </a:ln>
        </p:spPr>
      </p:sp>
      <p:sp>
        <p:nvSpPr>
          <p:cNvPr id="26" name="Text 24"/>
          <p:cNvSpPr txBox="1"/>
          <p:nvPr/>
        </p:nvSpPr>
        <p:spPr>
          <a:xfrm>
            <a:off x="548640" y="4846320"/>
            <a:ext cx="3017520" cy="457200"/>
          </a:xfrm>
          <a:prstGeom prst="rect">
            <a:avLst/>
          </a:prstGeom>
          <a:noFill/>
          <a:ln/>
        </p:spPr>
        <p:txBody>
          <a:bodyPr wrap="square" lIns="0" tIns="0" rIns="0" bIns="0" rtlCol="0" anchor="ctr"/>
          <a:lstStyle/>
          <a:p>
            <a:pPr indent="0" marL="0">
              <a:buNone/>
            </a:pPr>
            <a:r>
              <a:rPr lang="es-CL" altLang="en-US" sz="1700" b="1" dirty="0">
                <a:solidFill>
                  <a:schemeClr val="tx1"/>
                </a:solidFill>
                <a:latin typeface="Figtree" pitchFamily="34" charset="0"/>
                <a:ea typeface="Figtree" pitchFamily="34" charset="-122"/>
                <a:cs typeface="Figtree" pitchFamily="34" charset="-120"/>
              </a:rPr>
              <a:t>Global</a:t>
            </a:r>
            <a:endParaRPr lang="es-CL" sz="1700" dirty="0"/>
          </a:p>
        </p:txBody>
      </p:sp>
      <p:sp>
        <p:nvSpPr>
          <p:cNvPr id="27" name="Text 25"/>
          <p:cNvSpPr txBox="1"/>
          <p:nvPr/>
        </p:nvSpPr>
        <p:spPr>
          <a:xfrm>
            <a:off x="3657600" y="4846320"/>
            <a:ext cx="914400"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2,82</a:t>
            </a:r>
            <a:endParaRPr lang="es-CL" sz="2200" dirty="0"/>
          </a:p>
        </p:txBody>
      </p:sp>
      <p:sp>
        <p:nvSpPr>
          <p:cNvPr id="28" name="Text 26"/>
          <p:cNvSpPr txBox="1"/>
          <p:nvPr/>
        </p:nvSpPr>
        <p:spPr>
          <a:xfrm>
            <a:off x="4663440" y="4846320"/>
            <a:ext cx="1005840" cy="457200"/>
          </a:xfrm>
          <a:prstGeom prst="rect">
            <a:avLst/>
          </a:prstGeom>
          <a:noFill/>
          <a:ln/>
        </p:spPr>
        <p:txBody>
          <a:bodyPr wrap="square" lIns="0" tIns="0" rIns="0" bIns="0" rtlCol="0" anchor="ctr"/>
          <a:lstStyle/>
          <a:p>
            <a:pPr algn="r" indent="0" marL="0">
              <a:buNone/>
            </a:pPr>
            <a:r>
              <a:rPr lang="es-CL" altLang="en-US" sz="2200" b="1" dirty="0">
                <a:solidFill>
                  <a:schemeClr val="tx2"/>
                </a:solidFill>
                <a:latin typeface="Archivo Condensed" pitchFamily="34" charset="0"/>
                <a:ea typeface="Archivo Condensed" pitchFamily="34" charset="-122"/>
                <a:cs typeface="Archivo Condensed" pitchFamily="34" charset="-120"/>
              </a:rPr>
              <a:t>2,99</a:t>
            </a:r>
            <a:endParaRPr lang="es-CL" sz="2200" dirty="0"/>
          </a:p>
        </p:txBody>
      </p:sp>
      <p:sp>
        <p:nvSpPr>
          <p:cNvPr id="29" name="Text 27"/>
          <p:cNvSpPr txBox="1"/>
          <p:nvPr/>
        </p:nvSpPr>
        <p:spPr>
          <a:xfrm>
            <a:off x="548640" y="5413248"/>
            <a:ext cx="5120640" cy="36576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20 amenazas, 13 oportunidades y 18 neutros</a:t>
            </a:r>
            <a:endParaRPr lang="es-CL" sz="1600" dirty="0"/>
          </a:p>
        </p:txBody>
      </p:sp>
      <p:sp>
        <p:nvSpPr>
          <p:cNvPr id="30" name="Text 28"/>
          <p:cNvSpPr txBox="1"/>
          <p:nvPr/>
        </p:nvSpPr>
        <p:spPr>
          <a:xfrm>
            <a:off x="6217920" y="2395728"/>
            <a:ext cx="5425135"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CINCO FUERZAS · 0 A 5 · PONDERACIÓN</a:t>
            </a:r>
            <a:endParaRPr lang="es-CL" sz="1300" dirty="0"/>
          </a:p>
        </p:txBody>
      </p:sp>
      <p:sp>
        <p:nvSpPr>
          <p:cNvPr id="31" name="Shape 29"/>
          <p:cNvSpPr/>
          <p:nvPr/>
        </p:nvSpPr>
        <p:spPr>
          <a:xfrm>
            <a:off x="6217920" y="2761488"/>
            <a:ext cx="5425135" cy="0"/>
          </a:xfrm>
          <a:prstGeom prst="line">
            <a:avLst/>
          </a:prstGeom>
          <a:noFill/>
          <a:ln w="9525">
            <a:solidFill>
              <a:schemeClr val="accent1"/>
            </a:solidFill>
            <a:prstDash val="solid"/>
          </a:ln>
        </p:spPr>
      </p:sp>
      <p:sp>
        <p:nvSpPr>
          <p:cNvPr id="32" name="Text 30"/>
          <p:cNvSpPr txBox="1"/>
          <p:nvPr/>
        </p:nvSpPr>
        <p:spPr>
          <a:xfrm>
            <a:off x="6217920" y="2761488"/>
            <a:ext cx="292608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Sustitutos</a:t>
            </a:r>
            <a:endParaRPr lang="es-CL" sz="1700" dirty="0"/>
          </a:p>
        </p:txBody>
      </p:sp>
      <p:sp>
        <p:nvSpPr>
          <p:cNvPr id="33" name="Text 31"/>
          <p:cNvSpPr txBox="1"/>
          <p:nvPr/>
        </p:nvSpPr>
        <p:spPr>
          <a:xfrm>
            <a:off x="9144000" y="2761488"/>
            <a:ext cx="914400" cy="457200"/>
          </a:xfrm>
          <a:prstGeom prst="rect">
            <a:avLst/>
          </a:prstGeom>
          <a:noFill/>
          <a:ln/>
        </p:spPr>
        <p:txBody>
          <a:bodyPr wrap="square" lIns="0" tIns="0" rIns="0" bIns="0" rtlCol="0" anchor="ctr"/>
          <a:lstStyle/>
          <a:p>
            <a:pPr algn="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30%</a:t>
            </a:r>
            <a:endParaRPr lang="es-CL" sz="1400" dirty="0"/>
          </a:p>
        </p:txBody>
      </p:sp>
      <p:sp>
        <p:nvSpPr>
          <p:cNvPr id="34" name="Text 32"/>
          <p:cNvSpPr txBox="1"/>
          <p:nvPr/>
        </p:nvSpPr>
        <p:spPr>
          <a:xfrm>
            <a:off x="10149840" y="2761488"/>
            <a:ext cx="1493215"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5,00</a:t>
            </a:r>
            <a:endParaRPr lang="es-CL" sz="2200" dirty="0"/>
          </a:p>
        </p:txBody>
      </p:sp>
      <p:sp>
        <p:nvSpPr>
          <p:cNvPr id="35" name="Shape 33"/>
          <p:cNvSpPr/>
          <p:nvPr/>
        </p:nvSpPr>
        <p:spPr>
          <a:xfrm>
            <a:off x="6217920" y="3218688"/>
            <a:ext cx="5425135" cy="0"/>
          </a:xfrm>
          <a:prstGeom prst="line">
            <a:avLst/>
          </a:prstGeom>
          <a:noFill/>
          <a:ln w="9525">
            <a:solidFill>
              <a:schemeClr val="accent5"/>
            </a:solidFill>
            <a:prstDash val="solid"/>
          </a:ln>
        </p:spPr>
      </p:sp>
      <p:sp>
        <p:nvSpPr>
          <p:cNvPr id="36" name="Text 34"/>
          <p:cNvSpPr txBox="1"/>
          <p:nvPr/>
        </p:nvSpPr>
        <p:spPr>
          <a:xfrm>
            <a:off x="6217920" y="3218688"/>
            <a:ext cx="292608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Nuevos entrantes</a:t>
            </a:r>
            <a:endParaRPr lang="es-CL" sz="1700" dirty="0"/>
          </a:p>
        </p:txBody>
      </p:sp>
      <p:sp>
        <p:nvSpPr>
          <p:cNvPr id="37" name="Text 35"/>
          <p:cNvSpPr txBox="1"/>
          <p:nvPr/>
        </p:nvSpPr>
        <p:spPr>
          <a:xfrm>
            <a:off x="9144000" y="3218688"/>
            <a:ext cx="914400" cy="457200"/>
          </a:xfrm>
          <a:prstGeom prst="rect">
            <a:avLst/>
          </a:prstGeom>
          <a:noFill/>
          <a:ln/>
        </p:spPr>
        <p:txBody>
          <a:bodyPr wrap="square" lIns="0" tIns="0" rIns="0" bIns="0" rtlCol="0" anchor="ctr"/>
          <a:lstStyle/>
          <a:p>
            <a:pPr algn="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20%</a:t>
            </a:r>
            <a:endParaRPr lang="es-CL" sz="1400" dirty="0"/>
          </a:p>
        </p:txBody>
      </p:sp>
      <p:sp>
        <p:nvSpPr>
          <p:cNvPr id="38" name="Text 36"/>
          <p:cNvSpPr txBox="1"/>
          <p:nvPr/>
        </p:nvSpPr>
        <p:spPr>
          <a:xfrm>
            <a:off x="10149840" y="3218688"/>
            <a:ext cx="1493215"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3,75</a:t>
            </a:r>
            <a:endParaRPr lang="es-CL" sz="2200" dirty="0"/>
          </a:p>
        </p:txBody>
      </p:sp>
      <p:sp>
        <p:nvSpPr>
          <p:cNvPr id="39" name="Shape 37"/>
          <p:cNvSpPr/>
          <p:nvPr/>
        </p:nvSpPr>
        <p:spPr>
          <a:xfrm>
            <a:off x="6217920" y="3675888"/>
            <a:ext cx="5425135" cy="0"/>
          </a:xfrm>
          <a:prstGeom prst="line">
            <a:avLst/>
          </a:prstGeom>
          <a:noFill/>
          <a:ln w="9525">
            <a:solidFill>
              <a:schemeClr val="accent5"/>
            </a:solidFill>
            <a:prstDash val="solid"/>
          </a:ln>
        </p:spPr>
      </p:sp>
      <p:sp>
        <p:nvSpPr>
          <p:cNvPr id="40" name="Text 38"/>
          <p:cNvSpPr txBox="1"/>
          <p:nvPr/>
        </p:nvSpPr>
        <p:spPr>
          <a:xfrm>
            <a:off x="6217920" y="3675888"/>
            <a:ext cx="292608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Clientes</a:t>
            </a:r>
            <a:endParaRPr lang="es-CL" sz="1700" dirty="0"/>
          </a:p>
        </p:txBody>
      </p:sp>
      <p:sp>
        <p:nvSpPr>
          <p:cNvPr id="41" name="Text 39"/>
          <p:cNvSpPr txBox="1"/>
          <p:nvPr/>
        </p:nvSpPr>
        <p:spPr>
          <a:xfrm>
            <a:off x="9144000" y="3675888"/>
            <a:ext cx="914400" cy="457200"/>
          </a:xfrm>
          <a:prstGeom prst="rect">
            <a:avLst/>
          </a:prstGeom>
          <a:noFill/>
          <a:ln/>
        </p:spPr>
        <p:txBody>
          <a:bodyPr wrap="square" lIns="0" tIns="0" rIns="0" bIns="0" rtlCol="0" anchor="ctr"/>
          <a:lstStyle/>
          <a:p>
            <a:pPr algn="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25%</a:t>
            </a:r>
            <a:endParaRPr lang="es-CL" sz="1400" dirty="0"/>
          </a:p>
        </p:txBody>
      </p:sp>
      <p:sp>
        <p:nvSpPr>
          <p:cNvPr id="42" name="Text 40"/>
          <p:cNvSpPr txBox="1"/>
          <p:nvPr/>
        </p:nvSpPr>
        <p:spPr>
          <a:xfrm>
            <a:off x="10149840" y="3675888"/>
            <a:ext cx="1493215"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2,64</a:t>
            </a:r>
            <a:endParaRPr lang="es-CL" sz="2200" dirty="0"/>
          </a:p>
        </p:txBody>
      </p:sp>
      <p:sp>
        <p:nvSpPr>
          <p:cNvPr id="43" name="Shape 41"/>
          <p:cNvSpPr/>
          <p:nvPr/>
        </p:nvSpPr>
        <p:spPr>
          <a:xfrm>
            <a:off x="6217920" y="4133088"/>
            <a:ext cx="5425135" cy="0"/>
          </a:xfrm>
          <a:prstGeom prst="line">
            <a:avLst/>
          </a:prstGeom>
          <a:noFill/>
          <a:ln w="9525">
            <a:solidFill>
              <a:schemeClr val="accent5"/>
            </a:solidFill>
            <a:prstDash val="solid"/>
          </a:ln>
        </p:spPr>
      </p:sp>
      <p:sp>
        <p:nvSpPr>
          <p:cNvPr id="44" name="Text 42"/>
          <p:cNvSpPr txBox="1"/>
          <p:nvPr/>
        </p:nvSpPr>
        <p:spPr>
          <a:xfrm>
            <a:off x="6217920" y="4133088"/>
            <a:ext cx="292608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Proveedores</a:t>
            </a:r>
            <a:endParaRPr lang="es-CL" sz="1700" dirty="0"/>
          </a:p>
        </p:txBody>
      </p:sp>
      <p:sp>
        <p:nvSpPr>
          <p:cNvPr id="45" name="Text 43"/>
          <p:cNvSpPr txBox="1"/>
          <p:nvPr/>
        </p:nvSpPr>
        <p:spPr>
          <a:xfrm>
            <a:off x="9144000" y="4133088"/>
            <a:ext cx="914400" cy="457200"/>
          </a:xfrm>
          <a:prstGeom prst="rect">
            <a:avLst/>
          </a:prstGeom>
          <a:noFill/>
          <a:ln/>
        </p:spPr>
        <p:txBody>
          <a:bodyPr wrap="square" lIns="0" tIns="0" rIns="0" bIns="0" rtlCol="0" anchor="ctr"/>
          <a:lstStyle/>
          <a:p>
            <a:pPr algn="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15%</a:t>
            </a:r>
            <a:endParaRPr lang="es-CL" sz="1400" dirty="0"/>
          </a:p>
        </p:txBody>
      </p:sp>
      <p:sp>
        <p:nvSpPr>
          <p:cNvPr id="46" name="Text 44"/>
          <p:cNvSpPr txBox="1"/>
          <p:nvPr/>
        </p:nvSpPr>
        <p:spPr>
          <a:xfrm>
            <a:off x="10149840" y="4133088"/>
            <a:ext cx="1493215"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2,67</a:t>
            </a:r>
            <a:endParaRPr lang="es-CL" sz="2200" dirty="0"/>
          </a:p>
        </p:txBody>
      </p:sp>
      <p:sp>
        <p:nvSpPr>
          <p:cNvPr id="47" name="Shape 45"/>
          <p:cNvSpPr/>
          <p:nvPr/>
        </p:nvSpPr>
        <p:spPr>
          <a:xfrm>
            <a:off x="6217920" y="4590288"/>
            <a:ext cx="5425135" cy="0"/>
          </a:xfrm>
          <a:prstGeom prst="line">
            <a:avLst/>
          </a:prstGeom>
          <a:noFill/>
          <a:ln w="9525">
            <a:solidFill>
              <a:schemeClr val="accent5"/>
            </a:solidFill>
            <a:prstDash val="solid"/>
          </a:ln>
        </p:spPr>
      </p:sp>
      <p:sp>
        <p:nvSpPr>
          <p:cNvPr id="48" name="Text 46"/>
          <p:cNvSpPr txBox="1"/>
          <p:nvPr/>
        </p:nvSpPr>
        <p:spPr>
          <a:xfrm>
            <a:off x="6217920" y="4590288"/>
            <a:ext cx="2926080" cy="45720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Rivalidad</a:t>
            </a:r>
            <a:endParaRPr lang="es-CL" sz="1700" dirty="0"/>
          </a:p>
        </p:txBody>
      </p:sp>
      <p:sp>
        <p:nvSpPr>
          <p:cNvPr id="49" name="Text 47"/>
          <p:cNvSpPr txBox="1"/>
          <p:nvPr/>
        </p:nvSpPr>
        <p:spPr>
          <a:xfrm>
            <a:off x="9144000" y="4590288"/>
            <a:ext cx="914400" cy="457200"/>
          </a:xfrm>
          <a:prstGeom prst="rect">
            <a:avLst/>
          </a:prstGeom>
          <a:noFill/>
          <a:ln/>
        </p:spPr>
        <p:txBody>
          <a:bodyPr wrap="square" lIns="0" tIns="0" rIns="0" bIns="0" rtlCol="0" anchor="ctr"/>
          <a:lstStyle/>
          <a:p>
            <a:pPr algn="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10%</a:t>
            </a:r>
            <a:endParaRPr lang="es-CL" sz="1400" dirty="0"/>
          </a:p>
        </p:txBody>
      </p:sp>
      <p:sp>
        <p:nvSpPr>
          <p:cNvPr id="50" name="Text 48"/>
          <p:cNvSpPr txBox="1"/>
          <p:nvPr/>
        </p:nvSpPr>
        <p:spPr>
          <a:xfrm>
            <a:off x="10149840" y="4590288"/>
            <a:ext cx="1493215" cy="457200"/>
          </a:xfrm>
          <a:prstGeom prst="rect">
            <a:avLst/>
          </a:prstGeom>
          <a:noFill/>
          <a:ln/>
        </p:spPr>
        <p:txBody>
          <a:bodyPr wrap="square" lIns="0" tIns="0" rIns="0" bIns="0" rtlCol="0" anchor="ctr"/>
          <a:lstStyle/>
          <a:p>
            <a:pPr algn="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1,83</a:t>
            </a:r>
            <a:endParaRPr lang="es-CL" sz="2200" dirty="0"/>
          </a:p>
        </p:txBody>
      </p:sp>
      <p:sp>
        <p:nvSpPr>
          <p:cNvPr id="51" name="Shape 49"/>
          <p:cNvSpPr/>
          <p:nvPr/>
        </p:nvSpPr>
        <p:spPr>
          <a:xfrm>
            <a:off x="6217920" y="5047488"/>
            <a:ext cx="5425135" cy="0"/>
          </a:xfrm>
          <a:prstGeom prst="line">
            <a:avLst/>
          </a:prstGeom>
          <a:noFill/>
          <a:ln w="9525">
            <a:solidFill>
              <a:schemeClr val="accent5"/>
            </a:solidFill>
            <a:prstDash val="solid"/>
          </a:ln>
        </p:spPr>
      </p:sp>
      <p:sp>
        <p:nvSpPr>
          <p:cNvPr id="52" name="Text 50"/>
          <p:cNvSpPr txBox="1"/>
          <p:nvPr/>
        </p:nvSpPr>
        <p:spPr>
          <a:xfrm>
            <a:off x="6217920" y="5047488"/>
            <a:ext cx="2926080" cy="457200"/>
          </a:xfrm>
          <a:prstGeom prst="rect">
            <a:avLst/>
          </a:prstGeom>
          <a:noFill/>
          <a:ln/>
        </p:spPr>
        <p:txBody>
          <a:bodyPr wrap="square" lIns="0" tIns="0" rIns="0" bIns="0" rtlCol="0" anchor="ctr"/>
          <a:lstStyle/>
          <a:p>
            <a:pPr indent="0" marL="0">
              <a:buNone/>
            </a:pPr>
            <a:r>
              <a:rPr lang="es-CL" altLang="en-US" sz="1700" b="1" dirty="0">
                <a:solidFill>
                  <a:schemeClr val="tx1"/>
                </a:solidFill>
                <a:latin typeface="Figtree" pitchFamily="34" charset="0"/>
                <a:ea typeface="Figtree" pitchFamily="34" charset="-122"/>
                <a:cs typeface="Figtree" pitchFamily="34" charset="-120"/>
              </a:rPr>
              <a:t>Promedio ponderado</a:t>
            </a:r>
            <a:endParaRPr lang="es-CL" sz="1700" dirty="0"/>
          </a:p>
        </p:txBody>
      </p:sp>
      <p:sp>
        <p:nvSpPr>
          <p:cNvPr id="53" name="Text 51"/>
          <p:cNvSpPr txBox="1"/>
          <p:nvPr/>
        </p:nvSpPr>
        <p:spPr>
          <a:xfrm>
            <a:off x="9144000" y="5047488"/>
            <a:ext cx="914400" cy="457200"/>
          </a:xfrm>
          <a:prstGeom prst="rect">
            <a:avLst/>
          </a:prstGeom>
          <a:noFill/>
          <a:ln/>
        </p:spPr>
        <p:txBody>
          <a:bodyPr wrap="square" lIns="0" tIns="0" rIns="0" bIns="0" rtlCol="0" anchor="ctr"/>
          <a:lstStyle/>
          <a:p>
            <a:pPr algn="r" indent="0" marL="0">
              <a:buNone/>
            </a:pPr>
            <a:endParaRPr lang="es-CL" sz="1400" dirty="0"/>
          </a:p>
        </p:txBody>
      </p:sp>
      <p:sp>
        <p:nvSpPr>
          <p:cNvPr id="54" name="Text 52"/>
          <p:cNvSpPr txBox="1"/>
          <p:nvPr/>
        </p:nvSpPr>
        <p:spPr>
          <a:xfrm>
            <a:off x="10149840" y="5047488"/>
            <a:ext cx="1493215" cy="457200"/>
          </a:xfrm>
          <a:prstGeom prst="rect">
            <a:avLst/>
          </a:prstGeom>
          <a:noFill/>
          <a:ln/>
        </p:spPr>
        <p:txBody>
          <a:bodyPr wrap="square" lIns="0" tIns="0" rIns="0" bIns="0" rtlCol="0" anchor="ctr"/>
          <a:lstStyle/>
          <a:p>
            <a:pPr algn="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3,49</a:t>
            </a:r>
            <a:endParaRPr lang="es-CL" sz="2200" dirty="0"/>
          </a:p>
        </p:txBody>
      </p:sp>
      <p:sp>
        <p:nvSpPr>
          <p:cNvPr id="55" name="Shape 53"/>
          <p:cNvSpPr/>
          <p:nvPr/>
        </p:nvSpPr>
        <p:spPr>
          <a:xfrm>
            <a:off x="6217920" y="5596128"/>
            <a:ext cx="4476496" cy="329184"/>
          </a:xfrm>
          <a:prstGeom prst="rect">
            <a:avLst/>
          </a:prstGeom>
          <a:solidFill>
            <a:schemeClr val="bg1">
              <a:alpha val="0"/>
            </a:schemeClr>
          </a:solidFill>
          <a:ln w="12700">
            <a:solidFill>
              <a:schemeClr val="tx2"/>
            </a:solidFill>
            <a:prstDash val="sysDot"/>
          </a:ln>
        </p:spPr>
      </p:sp>
      <p:sp>
        <p:nvSpPr>
          <p:cNvPr id="56" name="Text 54"/>
          <p:cNvSpPr txBox="1"/>
          <p:nvPr/>
        </p:nvSpPr>
        <p:spPr>
          <a:xfrm>
            <a:off x="6327648" y="5596128"/>
            <a:ext cx="425704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ESCALAS NO COMPARABLES CON INTEGRADOR II</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LA ORGANIZACIÓN · TEXTOS LITERALES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completos.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presentación «Análisis estratégico» (Control de Gestión, octubre de 2026), presentación de la organización.</a:t>
            </a:r>
            <a:endParaRPr lang="es-CL" sz="1100" dirty="0"/>
          </a:p>
        </p:txBody>
      </p:sp>
      <p:sp>
        <p:nvSpPr>
          <p:cNvPr id="6" name="Text 4"/>
          <p:cNvSpPr txBox="1"/>
          <p:nvPr/>
        </p:nvSpPr>
        <p:spPr>
          <a:xfrm>
            <a:off x="548640" y="2395728"/>
            <a:ext cx="11094415" cy="86868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MISIÓN  </a:t>
            </a:r>
            <a:pPr indent="0" marL="0">
              <a:buNone/>
            </a:pPr>
            <a:r>
              <a:rPr lang="es-CL" altLang="en-US" sz="1600" dirty="0">
                <a:solidFill>
                  <a:schemeClr val="tx1"/>
                </a:solidFill>
                <a:latin typeface="Figtree" pitchFamily="34" charset="0"/>
                <a:ea typeface="Figtree" pitchFamily="34" charset="-122"/>
                <a:cs typeface="Figtree"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600" dirty="0"/>
          </a:p>
        </p:txBody>
      </p:sp>
      <p:sp>
        <p:nvSpPr>
          <p:cNvPr id="7" name="Text 5"/>
          <p:cNvSpPr txBox="1"/>
          <p:nvPr/>
        </p:nvSpPr>
        <p:spPr>
          <a:xfrm>
            <a:off x="548640" y="3310128"/>
            <a:ext cx="11094415" cy="68580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VISIÓN  </a:t>
            </a:r>
            <a:pPr indent="0" marL="0">
              <a:buNone/>
            </a:pPr>
            <a:r>
              <a:rPr lang="es-CL" altLang="en-US" sz="1600" dirty="0">
                <a:solidFill>
                  <a:schemeClr val="tx1"/>
                </a:solidFill>
                <a:latin typeface="Figtree" pitchFamily="34" charset="0"/>
                <a:ea typeface="Figtree" pitchFamily="34" charset="-122"/>
                <a:cs typeface="Figtree" pitchFamily="34" charset="-120"/>
              </a:rPr>
              <a:t>«Ser hacia 2031 el taller de referencia en hibridación de vehículos en uso en Chile, con un procedimiento reconocido por la autoridad, las plantas de revisión técnica y las compañías de seguros.»</a:t>
            </a:r>
            <a:endParaRPr lang="es-CL" sz="1600" dirty="0"/>
          </a:p>
        </p:txBody>
      </p:sp>
      <p:sp>
        <p:nvSpPr>
          <p:cNvPr id="8" name="Shape 6"/>
          <p:cNvSpPr/>
          <p:nvPr/>
        </p:nvSpPr>
        <p:spPr>
          <a:xfrm>
            <a:off x="548640" y="4133088"/>
            <a:ext cx="5364328" cy="0"/>
          </a:xfrm>
          <a:prstGeom prst="line">
            <a:avLst/>
          </a:prstGeom>
          <a:noFill/>
          <a:ln w="9525">
            <a:solidFill>
              <a:schemeClr val="accent1"/>
            </a:solidFill>
            <a:prstDash val="solid"/>
          </a:ln>
        </p:spPr>
      </p:sp>
      <p:sp>
        <p:nvSpPr>
          <p:cNvPr id="9" name="Text 7"/>
          <p:cNvSpPr txBox="1"/>
          <p:nvPr/>
        </p:nvSpPr>
        <p:spPr>
          <a:xfrm>
            <a:off x="548640"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0" name="Text 8"/>
          <p:cNvSpPr txBox="1"/>
          <p:nvPr/>
        </p:nvSpPr>
        <p:spPr>
          <a:xfrm>
            <a:off x="548640" y="4544568"/>
            <a:ext cx="5364328" cy="169164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Verificabilidad antes que afirmación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Formalidad como condición de operación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Trazabilidad del conocimiento técnico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11" name="Shape 9"/>
          <p:cNvSpPr/>
          <p:nvPr/>
        </p:nvSpPr>
        <p:spPr>
          <a:xfrm>
            <a:off x="6278728" y="4133088"/>
            <a:ext cx="5364328" cy="0"/>
          </a:xfrm>
          <a:prstGeom prst="line">
            <a:avLst/>
          </a:prstGeom>
          <a:noFill/>
          <a:ln w="9525">
            <a:solidFill>
              <a:schemeClr val="accent1"/>
            </a:solidFill>
            <a:prstDash val="solid"/>
          </a:ln>
        </p:spPr>
      </p:sp>
      <p:sp>
        <p:nvSpPr>
          <p:cNvPr id="12" name="Text 10"/>
          <p:cNvSpPr txBox="1"/>
          <p:nvPr/>
        </p:nvSpPr>
        <p:spPr>
          <a:xfrm>
            <a:off x="6278728"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13" name="Text 11"/>
          <p:cNvSpPr txBox="1"/>
          <p:nvPr/>
        </p:nvSpPr>
        <p:spPr>
          <a:xfrm>
            <a:off x="6278728" y="4544568"/>
            <a:ext cx="5364328" cy="169164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Honestidad técnica en el diagnóstico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individual sobre la instalación ejecutada</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Reconocimiento del oficio técnico</a:t>
            </a:r>
            <a:endParaRPr lang="es-CL" sz="1600" dirty="0"/>
          </a:p>
        </p:txBody>
      </p:sp>
      <p:sp>
        <p:nvSpPr>
          <p:cNvPr id="14" name="Shape 12"/>
          <p:cNvSpPr/>
          <p:nvPr/>
        </p:nvSpPr>
        <p:spPr>
          <a:xfrm>
            <a:off x="8822639" y="5907024"/>
            <a:ext cx="2820416" cy="310896"/>
          </a:xfrm>
          <a:prstGeom prst="rect">
            <a:avLst/>
          </a:prstGeom>
          <a:solidFill>
            <a:schemeClr val="bg1">
              <a:alpha val="0"/>
            </a:schemeClr>
          </a:solidFill>
          <a:ln w="12700">
            <a:solidFill>
              <a:schemeClr val="tx1"/>
            </a:solidFill>
            <a:prstDash val="dash"/>
          </a:ln>
        </p:spPr>
      </p:sp>
      <p:sp>
        <p:nvSpPr>
          <p:cNvPr id="15" name="Text 13"/>
          <p:cNvSpPr txBox="1"/>
          <p:nvPr/>
        </p:nvSpPr>
        <p:spPr>
          <a:xfrm>
            <a:off x="8932367" y="5907024"/>
            <a:ext cx="2600960" cy="310896"/>
          </a:xfrm>
          <a:prstGeom prst="rect">
            <a:avLst/>
          </a:prstGeom>
          <a:noFill/>
          <a:ln/>
        </p:spPr>
        <p:txBody>
          <a:bodyPr wrap="square" lIns="0" tIns="0" rIns="0" bIns="0" rtlCol="0" anchor="ctr"/>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NO ES UN VALOR: INNOVACIÓN</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TRANSPARENCIA · ORIGEN DE CADA AFIRMACIÓN</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DATO, PROPUESTA, ESTIMACIÓN O FALTA: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cada cifra dice qué es.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contexto vigente de Lumine Motors; CMI en red revisado (propuesta del equipo para la Solemne 2).</a:t>
            </a:r>
            <a:endParaRPr lang="es-CL" sz="1100" dirty="0"/>
          </a:p>
        </p:txBody>
      </p:sp>
      <p:sp>
        <p:nvSpPr>
          <p:cNvPr id="6" name="Shape 4"/>
          <p:cNvSpPr/>
          <p:nvPr/>
        </p:nvSpPr>
        <p:spPr>
          <a:xfrm>
            <a:off x="548640" y="2395728"/>
            <a:ext cx="2602154" cy="3785616"/>
          </a:xfrm>
          <a:prstGeom prst="rect">
            <a:avLst/>
          </a:prstGeom>
          <a:solidFill>
            <a:schemeClr val="bg2"/>
          </a:solidFill>
          <a:ln w="15875">
            <a:solidFill>
              <a:schemeClr val="accent1"/>
            </a:solidFill>
            <a:prstDash val="solid"/>
          </a:ln>
        </p:spPr>
      </p:sp>
      <p:sp>
        <p:nvSpPr>
          <p:cNvPr id="7" name="Text 5"/>
          <p:cNvSpPr txBox="1"/>
          <p:nvPr/>
        </p:nvSpPr>
        <p:spPr>
          <a:xfrm>
            <a:off x="749808" y="2578608"/>
            <a:ext cx="2236394" cy="45720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DATO</a:t>
            </a:r>
            <a:endParaRPr lang="es-CL" sz="1300" dirty="0"/>
          </a:p>
        </p:txBody>
      </p:sp>
      <p:sp>
        <p:nvSpPr>
          <p:cNvPr id="8" name="Shape 6"/>
          <p:cNvSpPr/>
          <p:nvPr/>
        </p:nvSpPr>
        <p:spPr>
          <a:xfrm>
            <a:off x="749808" y="3172968"/>
            <a:ext cx="2199818" cy="0"/>
          </a:xfrm>
          <a:prstGeom prst="line">
            <a:avLst/>
          </a:prstGeom>
          <a:noFill/>
          <a:ln w="9525">
            <a:solidFill>
              <a:schemeClr val="accent5"/>
            </a:solidFill>
            <a:prstDash val="solid"/>
          </a:ln>
        </p:spPr>
      </p:sp>
      <p:sp>
        <p:nvSpPr>
          <p:cNvPr id="9" name="Text 7"/>
          <p:cNvSpPr txBox="1"/>
          <p:nvPr/>
        </p:nvSpPr>
        <p:spPr>
          <a:xfrm>
            <a:off x="749808" y="322783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Lumine es preoperativa</a:t>
            </a:r>
            <a:endParaRPr lang="es-CL" sz="1700" dirty="0"/>
          </a:p>
        </p:txBody>
      </p:sp>
      <p:sp>
        <p:nvSpPr>
          <p:cNvPr id="10" name="Shape 8"/>
          <p:cNvSpPr/>
          <p:nvPr/>
        </p:nvSpPr>
        <p:spPr>
          <a:xfrm>
            <a:off x="749808" y="4041648"/>
            <a:ext cx="2199818" cy="0"/>
          </a:xfrm>
          <a:prstGeom prst="line">
            <a:avLst/>
          </a:prstGeom>
          <a:noFill/>
          <a:ln w="9525">
            <a:solidFill>
              <a:schemeClr val="accent5"/>
            </a:solidFill>
            <a:prstDash val="solid"/>
          </a:ln>
        </p:spPr>
      </p:sp>
      <p:sp>
        <p:nvSpPr>
          <p:cNvPr id="11" name="Text 9"/>
          <p:cNvSpPr txBox="1"/>
          <p:nvPr/>
        </p:nvSpPr>
        <p:spPr>
          <a:xfrm>
            <a:off x="749808" y="409651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Ley N° 21.793 sin reglamento</a:t>
            </a:r>
            <a:endParaRPr lang="es-CL" sz="1700" dirty="0"/>
          </a:p>
        </p:txBody>
      </p:sp>
      <p:sp>
        <p:nvSpPr>
          <p:cNvPr id="12" name="Shape 10"/>
          <p:cNvSpPr/>
          <p:nvPr/>
        </p:nvSpPr>
        <p:spPr>
          <a:xfrm>
            <a:off x="749808" y="4910328"/>
            <a:ext cx="2199818" cy="0"/>
          </a:xfrm>
          <a:prstGeom prst="line">
            <a:avLst/>
          </a:prstGeom>
          <a:noFill/>
          <a:ln w="9525">
            <a:solidFill>
              <a:schemeClr val="accent5"/>
            </a:solidFill>
            <a:prstDash val="solid"/>
          </a:ln>
        </p:spPr>
      </p:sp>
      <p:sp>
        <p:nvSpPr>
          <p:cNvPr id="13" name="Text 11"/>
          <p:cNvSpPr txBox="1"/>
          <p:nvPr/>
        </p:nvSpPr>
        <p:spPr>
          <a:xfrm>
            <a:off x="749808" y="496519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Sin ventas, homologaciones ni convenios</a:t>
            </a:r>
            <a:endParaRPr lang="es-CL" sz="1700" dirty="0"/>
          </a:p>
        </p:txBody>
      </p:sp>
      <p:sp>
        <p:nvSpPr>
          <p:cNvPr id="14" name="Shape 12"/>
          <p:cNvSpPr/>
          <p:nvPr/>
        </p:nvSpPr>
        <p:spPr>
          <a:xfrm>
            <a:off x="3379394" y="2395728"/>
            <a:ext cx="2602154" cy="3785616"/>
          </a:xfrm>
          <a:prstGeom prst="rect">
            <a:avLst/>
          </a:prstGeom>
          <a:solidFill>
            <a:schemeClr val="bg2"/>
          </a:solidFill>
          <a:ln w="12700">
            <a:solidFill>
              <a:srgbClr val="8B9598"/>
            </a:solidFill>
            <a:prstDash val="sysDot"/>
          </a:ln>
        </p:spPr>
      </p:sp>
      <p:sp>
        <p:nvSpPr>
          <p:cNvPr id="15" name="Text 13"/>
          <p:cNvSpPr txBox="1"/>
          <p:nvPr/>
        </p:nvSpPr>
        <p:spPr>
          <a:xfrm>
            <a:off x="3580562" y="2578608"/>
            <a:ext cx="2236394" cy="45720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PROPUESTA DEL EQUIPO</a:t>
            </a:r>
            <a:endParaRPr lang="es-CL" sz="1300" dirty="0"/>
          </a:p>
        </p:txBody>
      </p:sp>
      <p:sp>
        <p:nvSpPr>
          <p:cNvPr id="16" name="Shape 14"/>
          <p:cNvSpPr/>
          <p:nvPr/>
        </p:nvSpPr>
        <p:spPr>
          <a:xfrm>
            <a:off x="3580562" y="3172968"/>
            <a:ext cx="2199818" cy="0"/>
          </a:xfrm>
          <a:prstGeom prst="line">
            <a:avLst/>
          </a:prstGeom>
          <a:noFill/>
          <a:ln w="9525">
            <a:solidFill>
              <a:schemeClr val="accent5"/>
            </a:solidFill>
            <a:prstDash val="solid"/>
          </a:ln>
        </p:spPr>
      </p:sp>
      <p:sp>
        <p:nvSpPr>
          <p:cNvPr id="17" name="Text 15"/>
          <p:cNvSpPr txBox="1"/>
          <p:nvPr/>
        </p:nvSpPr>
        <p:spPr>
          <a:xfrm>
            <a:off x="3580562" y="322783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17 objetivos y 20 relaciones</a:t>
            </a:r>
            <a:endParaRPr lang="es-CL" sz="1700" dirty="0"/>
          </a:p>
        </p:txBody>
      </p:sp>
      <p:sp>
        <p:nvSpPr>
          <p:cNvPr id="18" name="Shape 16"/>
          <p:cNvSpPr/>
          <p:nvPr/>
        </p:nvSpPr>
        <p:spPr>
          <a:xfrm>
            <a:off x="3580562" y="4041648"/>
            <a:ext cx="2199818" cy="0"/>
          </a:xfrm>
          <a:prstGeom prst="line">
            <a:avLst/>
          </a:prstGeom>
          <a:noFill/>
          <a:ln w="9525">
            <a:solidFill>
              <a:schemeClr val="accent5"/>
            </a:solidFill>
            <a:prstDash val="solid"/>
          </a:ln>
        </p:spPr>
      </p:sp>
      <p:sp>
        <p:nvSpPr>
          <p:cNvPr id="19" name="Text 17"/>
          <p:cNvSpPr txBox="1"/>
          <p:nvPr/>
        </p:nvSpPr>
        <p:spPr>
          <a:xfrm>
            <a:off x="3580562" y="409651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Metas de 100% y umbrales 90/70</a:t>
            </a:r>
            <a:endParaRPr lang="es-CL" sz="1700" dirty="0"/>
          </a:p>
        </p:txBody>
      </p:sp>
      <p:sp>
        <p:nvSpPr>
          <p:cNvPr id="20" name="Shape 18"/>
          <p:cNvSpPr/>
          <p:nvPr/>
        </p:nvSpPr>
        <p:spPr>
          <a:xfrm>
            <a:off x="3580562" y="4910328"/>
            <a:ext cx="2199818" cy="0"/>
          </a:xfrm>
          <a:prstGeom prst="line">
            <a:avLst/>
          </a:prstGeom>
          <a:noFill/>
          <a:ln w="9525">
            <a:solidFill>
              <a:schemeClr val="accent5"/>
            </a:solidFill>
            <a:prstDash val="solid"/>
          </a:ln>
        </p:spPr>
      </p:sp>
      <p:sp>
        <p:nvSpPr>
          <p:cNvPr id="21" name="Text 19"/>
          <p:cNvSpPr txBox="1"/>
          <p:nvPr/>
        </p:nvSpPr>
        <p:spPr>
          <a:xfrm>
            <a:off x="3580562" y="496519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Responsables e iniciativas</a:t>
            </a:r>
            <a:endParaRPr lang="es-CL" sz="1700" dirty="0"/>
          </a:p>
        </p:txBody>
      </p:sp>
      <p:sp>
        <p:nvSpPr>
          <p:cNvPr id="22" name="Shape 20"/>
          <p:cNvSpPr/>
          <p:nvPr/>
        </p:nvSpPr>
        <p:spPr>
          <a:xfrm>
            <a:off x="6210148" y="2395728"/>
            <a:ext cx="2602154" cy="3785616"/>
          </a:xfrm>
          <a:prstGeom prst="rect">
            <a:avLst/>
          </a:prstGeom>
          <a:solidFill>
            <a:schemeClr val="bg2"/>
          </a:solidFill>
          <a:ln w="12700">
            <a:solidFill>
              <a:srgbClr val="8B9598"/>
            </a:solidFill>
            <a:prstDash val="dash"/>
          </a:ln>
        </p:spPr>
      </p:sp>
      <p:sp>
        <p:nvSpPr>
          <p:cNvPr id="23" name="Text 21"/>
          <p:cNvSpPr txBox="1"/>
          <p:nvPr/>
        </p:nvSpPr>
        <p:spPr>
          <a:xfrm>
            <a:off x="6411316" y="2578608"/>
            <a:ext cx="2236394" cy="45720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ESTIMACIÓN</a:t>
            </a:r>
            <a:endParaRPr lang="es-CL" sz="1300" dirty="0"/>
          </a:p>
        </p:txBody>
      </p:sp>
      <p:sp>
        <p:nvSpPr>
          <p:cNvPr id="24" name="Shape 22"/>
          <p:cNvSpPr/>
          <p:nvPr/>
        </p:nvSpPr>
        <p:spPr>
          <a:xfrm>
            <a:off x="6411316" y="3172968"/>
            <a:ext cx="2199818" cy="0"/>
          </a:xfrm>
          <a:prstGeom prst="line">
            <a:avLst/>
          </a:prstGeom>
          <a:noFill/>
          <a:ln w="9525">
            <a:solidFill>
              <a:schemeClr val="accent5"/>
            </a:solidFill>
            <a:prstDash val="solid"/>
          </a:ln>
        </p:spPr>
      </p:sp>
      <p:sp>
        <p:nvSpPr>
          <p:cNvPr id="25" name="Text 23"/>
          <p:cNvSpPr txBox="1"/>
          <p:nvPr/>
        </p:nvSpPr>
        <p:spPr>
          <a:xfrm>
            <a:off x="6411316" y="322783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Hasta 20% menos bencina en ciudad</a:t>
            </a:r>
            <a:endParaRPr lang="es-CL" sz="1700" dirty="0"/>
          </a:p>
        </p:txBody>
      </p:sp>
      <p:sp>
        <p:nvSpPr>
          <p:cNvPr id="26" name="Shape 24"/>
          <p:cNvSpPr/>
          <p:nvPr/>
        </p:nvSpPr>
        <p:spPr>
          <a:xfrm>
            <a:off x="6411316" y="4041648"/>
            <a:ext cx="2199818" cy="0"/>
          </a:xfrm>
          <a:prstGeom prst="line">
            <a:avLst/>
          </a:prstGeom>
          <a:noFill/>
          <a:ln w="9525">
            <a:solidFill>
              <a:schemeClr val="accent5"/>
            </a:solidFill>
            <a:prstDash val="solid"/>
          </a:ln>
        </p:spPr>
      </p:sp>
      <p:sp>
        <p:nvSpPr>
          <p:cNvPr id="27" name="Text 25"/>
          <p:cNvSpPr txBox="1"/>
          <p:nvPr/>
        </p:nvSpPr>
        <p:spPr>
          <a:xfrm>
            <a:off x="6411316" y="409651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Orden de atributos (3 entrevistas)</a:t>
            </a:r>
            <a:endParaRPr lang="es-CL" sz="1700" dirty="0"/>
          </a:p>
        </p:txBody>
      </p:sp>
      <p:sp>
        <p:nvSpPr>
          <p:cNvPr id="28" name="Shape 26"/>
          <p:cNvSpPr/>
          <p:nvPr/>
        </p:nvSpPr>
        <p:spPr>
          <a:xfrm>
            <a:off x="9040901" y="2395728"/>
            <a:ext cx="2602154" cy="3785616"/>
          </a:xfrm>
          <a:prstGeom prst="rect">
            <a:avLst/>
          </a:prstGeom>
          <a:solidFill>
            <a:schemeClr val="bg2"/>
          </a:solidFill>
          <a:ln w="15875">
            <a:solidFill>
              <a:schemeClr val="tx1"/>
            </a:solidFill>
            <a:prstDash val="dash"/>
          </a:ln>
        </p:spPr>
      </p:sp>
      <p:sp>
        <p:nvSpPr>
          <p:cNvPr id="29" name="Text 27"/>
          <p:cNvSpPr txBox="1"/>
          <p:nvPr/>
        </p:nvSpPr>
        <p:spPr>
          <a:xfrm>
            <a:off x="9242069" y="2578608"/>
            <a:ext cx="2236394" cy="45720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SIN DATO HOY</a:t>
            </a:r>
            <a:endParaRPr lang="es-CL" sz="1300" dirty="0"/>
          </a:p>
        </p:txBody>
      </p:sp>
      <p:sp>
        <p:nvSpPr>
          <p:cNvPr id="30" name="Shape 28"/>
          <p:cNvSpPr/>
          <p:nvPr/>
        </p:nvSpPr>
        <p:spPr>
          <a:xfrm>
            <a:off x="9242069" y="3172968"/>
            <a:ext cx="2199818" cy="0"/>
          </a:xfrm>
          <a:prstGeom prst="line">
            <a:avLst/>
          </a:prstGeom>
          <a:noFill/>
          <a:ln w="9525">
            <a:solidFill>
              <a:schemeClr val="accent5"/>
            </a:solidFill>
            <a:prstDash val="solid"/>
          </a:ln>
        </p:spPr>
      </p:sp>
      <p:sp>
        <p:nvSpPr>
          <p:cNvPr id="31" name="Text 29"/>
          <p:cNvSpPr txBox="1"/>
          <p:nvPr/>
        </p:nvSpPr>
        <p:spPr>
          <a:xfrm>
            <a:off x="9242069" y="322783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VAN, TIR y tasa</a:t>
            </a:r>
            <a:endParaRPr lang="es-CL" sz="1700" dirty="0"/>
          </a:p>
        </p:txBody>
      </p:sp>
      <p:sp>
        <p:nvSpPr>
          <p:cNvPr id="32" name="Shape 30"/>
          <p:cNvSpPr/>
          <p:nvPr/>
        </p:nvSpPr>
        <p:spPr>
          <a:xfrm>
            <a:off x="9242069" y="4041648"/>
            <a:ext cx="2199818" cy="0"/>
          </a:xfrm>
          <a:prstGeom prst="line">
            <a:avLst/>
          </a:prstGeom>
          <a:noFill/>
          <a:ln w="9525">
            <a:solidFill>
              <a:schemeClr val="accent5"/>
            </a:solidFill>
            <a:prstDash val="solid"/>
          </a:ln>
        </p:spPr>
      </p:sp>
      <p:sp>
        <p:nvSpPr>
          <p:cNvPr id="33" name="Text 31"/>
          <p:cNvSpPr txBox="1"/>
          <p:nvPr/>
        </p:nvSpPr>
        <p:spPr>
          <a:xfrm>
            <a:off x="9242069" y="409651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Margen y costos unitarios</a:t>
            </a:r>
            <a:endParaRPr lang="es-CL" sz="1700" dirty="0"/>
          </a:p>
        </p:txBody>
      </p:sp>
      <p:sp>
        <p:nvSpPr>
          <p:cNvPr id="34" name="Shape 32"/>
          <p:cNvSpPr/>
          <p:nvPr/>
        </p:nvSpPr>
        <p:spPr>
          <a:xfrm>
            <a:off x="9242069" y="4910328"/>
            <a:ext cx="2199818" cy="0"/>
          </a:xfrm>
          <a:prstGeom prst="line">
            <a:avLst/>
          </a:prstGeom>
          <a:noFill/>
          <a:ln w="9525">
            <a:solidFill>
              <a:schemeClr val="accent5"/>
            </a:solidFill>
            <a:prstDash val="solid"/>
          </a:ln>
        </p:spPr>
      </p:sp>
      <p:sp>
        <p:nvSpPr>
          <p:cNvPr id="35" name="Text 33"/>
          <p:cNvSpPr txBox="1"/>
          <p:nvPr/>
        </p:nvSpPr>
        <p:spPr>
          <a:xfrm>
            <a:off x="9242069" y="4965192"/>
            <a:ext cx="2199818" cy="749808"/>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Ahorro real, clientes y permisos</a:t>
            </a:r>
            <a:endParaRPr lang="es-CL" sz="17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8B9598"/>
      </a:accent2>
      <a:accent3>
        <a:srgbClr val="4A5257"/>
      </a:accent3>
      <a:accent4>
        <a:srgbClr val="ECECEC"/>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Lumine Motors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Solemne 2 · Mapa estratégico y CMI · Lumine Motors</dc:title>
  <dc:subject>Control de Gestión · ICMA901 · UNAB</dc:subject>
  <dc:creator>Diego Alarcón, Benjamín Torres y Lukas Verdugo</dc:creator>
  <cp:lastModifiedBy>Diego Alarcón, Benjamín Torres y Lukas Verdugo</cp:lastModifiedBy>
  <cp:revision>1</cp:revision>
  <dcterms:created xsi:type="dcterms:W3CDTF">2026-10-21T02:06:29Z</dcterms:created>
  <dcterms:modified xsi:type="dcterms:W3CDTF">2026-10-21T02:06:29Z</dcterms:modified>
</cp:coreProperties>
</file>