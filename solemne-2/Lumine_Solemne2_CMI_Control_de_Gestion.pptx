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fcdf7b45-a22a-435b-04d0-614b2aca8297}">
          <p14:sldIdLst>
            <p14:sldId id="256"/>
            <p14:sldId id="257"/>
            <p14:sldId id="258"/>
            <p14:sldId id="259"/>
          </p14:sldIdLst>
        </p14:section>
        <p14:section name="2 · Benjamín Torres" id="{3910a072-3094-f9e1-320d-74e74df332f9}">
          <p14:sldIdLst>
            <p14:sldId id="260"/>
            <p14:sldId id="261"/>
            <p14:sldId id="262"/>
            <p14:sldId id="263"/>
          </p14:sldIdLst>
        </p14:section>
        <p14:section name="3 · Lukas Verdugo" id="{3a8c2321-09af-d05b-f0e8-9653522d57d7}">
          <p14:sldIdLst>
            <p14:sldId id="264"/>
            <p14:sldId id="265"/>
            <p14:sldId id="266"/>
            <p14:sldId id="267"/>
          </p14:sldIdLst>
        </p14:section>
        <p14:section name="Anexo" id="{cdb63c92-fe0c-9321-4cf3-45c72a7de7b2}">
          <p14:sldIdLst>
            <p14:sldId id="268"/>
            <p14:sldId id="269"/>
            <p14:sldId id="270"/>
            <p14:sldId id="271"/>
            <p14:sldId id="272"/>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0:25 a 130 palabras por minuto (52 palabras)
En la presentación anterior llegamos a una estrategia de diferenciación enfocada. Hoy respondemos cómo controlarla en una empresa que todavía no opera: Lumine no tiene ventas, clientes ni instalaciones. Por eso nuestro Cuadro de Mando Integral no muestra logros. Muestra qué debemos demostrar antes de operar y con qué evidencia lo comprobaremos.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(132 palabras)
El profesor revisó nuestro primer CMI y nos dejó tres observaciones. La primera fue positiva: el objetivo financiero de obtener rentabilidad por sobre el costo de capital. La versión actualizada lo había perdido al reemplazarlo por convenios de financiamiento; lo recuperamos y ahora lo medimos con EVA. La segunda fue una crítica: la perspectiva de clientes hablaba de canales y convenios, no de lo que recibe el usuario. Ahora su indicador central mide la propuesta de valor. La tercera: los objetivos estaban ordenados por perspectiva, pero no se explicaba cómo uno provoca el siguiente. Ahora cada relación es una flecha con su mecanismo y su indicador. Tampoco reutilizamos las cifras financieras del CMI original, porque no estaban conciliadas con el proyecto vigente, y hoy no existe un Plan Financiero que las respalde.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1:10 a 130 palabras por minuto (147 palabras)
¿Qué compra el cliente de Lumine? No compra un porcentaje. Compra la posibilidad de modernizar su propio auto, con un procedimiento seguro y trazable, y compra evidencia de su consumo. Por eso el indicador central de clientes es la proporción de clientes intervenidos que reciben un informe individual de consumo antes y después de la instalación, medido en condiciones comparables. La meta de diseño es cien por ciento, porque el informe es parte del servicio. Esto no garantiza que cada auto ahorre veinte por ciento: esa cifra sigue siendo una estimación de ingeniería, no una medición. Lo que garantiza es que cada cliente sepa cuánto ahorró realmente y bajo qué condiciones. Un cliente informado es coherente con la diferenciación que elegimos. Los convenios con aseguradoras y el foco en conductores de uso intensivo siguen en el tablero, pero como apoyo de esta promesa, no como su centro.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1:25 a 130 palabras por minuto (183 palabras)
Este es el mapa estratégico. Se lee de abajo hacia arriba, y cada flecha es una hipótesis que podemos comprobar. En aprendizaje están la biblioteca de calibraciones, los técnicos habilitados y la medición comparativa. La biblioteca permite homologar cada combinación de modelo y kit; la habilitación hace posible que cada orden de trabajo cierre con sus controles de seguridad; y la medición comparativa sustenta el informe que recibe el cliente. En procesos, la autorización sectorial permite operar y obtener el respaldo de aseguradoras y plantas de revisión técnica. En clientes, el informe y ese respaldo construyen confianza. Y la confianza, si se traduce en contratación y en un margen suficiente, es la que permitiría obtener un EVA positivo. Que una calibración exista no genera valor por sí sola: necesita un proceso repetible, clientes que valoren el resultado y márgenes que cubran el capital. Así ningún objetivo queda suelto: si una flecha falla, sabemos qué indicador mirar primero. Los objetivos en rojo son hitos críticos que hoy están pendientes; los grises todavía no tienen datos. Benjamín explica qué significa ese rojo para la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0:55 a 130 palabras por minuto (122 palabras)
Gracias, Diego. Hay dos hitos que no admiten compensación: la autorización sectorial y la homologación del primer par modelo-kit. La Ley 21.793 está publicada, pero sin reglamento, así que hoy la autorización no depende de nosotros: es el principal riesgo externo del proyecto. Si el reglamento se atrasa, el plan no se fuerza: se ajustan el calendario y la escala, sin asumir aportes que no existen. Aunque los técnicos estuvieran habilitados y la biblioteca completa, sin esos dos hitos no corresponde vender ni instalar. Lo mismo vale para las actas de seguridad de cada orden de trabajo, que se exigen completas. Por eso estos indicadores no se promedian con los demás. Funcionan como una compuerta: o están cumplidos, o Lumine no opera.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0:40 a 130 palabras por minuto (91 palabras)
Uno de estos indicadores ya tiene dónde medirse. El de técnicos habilitados antes de intervenir se apoya en Lumine Habilita, la plataforma de habilitación por competencias que desarrollamos, con treinta y nueve competencias y cuatro niveles. Pueden escanear el código y revisar la demostración: registra en qué nivel está cada técnico y qué competencias tiene validadas. Los datos de la demostración son ficticios; lo que prueba es que la evidencia de este indicador no dependería de una planilla manual. Es la misma lógica del tablero: medir con evidencia, no con declaraciones.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1:25 a 130 palabras por minuto (179 palabras)
Pasemos a la perspectiva financiera. Una utilidad contable positiva no basta: puede no alcanzar para pagar el capital que se invirtió. El EVA corrige eso. Se calcula como el NOPAT, es decir, el resultado operativo después de impuestos, menos un cargo por el capital: el capital invertido multiplicado por el WACC, el costo promedio ponderado del capital. Usamos el ejemplo del módulo cuatro, que es de una empresa genérica y no de Lumine. Con un NOPAT de ciento cincuenta mil dólares y un capital de un millón al doce por ciento, el cargo es de ciento veinte mil dólares y el EVA es positivo en treinta mil. La empresa crea valor porque gana más de lo que cuesta su capital. ¿Por qué EVA y no solo VAN o TIR? El VAN y la TIR evalúan el proyecto completo antes de invertir; el EVA mide, período a período, si la operación crea valor. Lumine todavía no puede calcularlo: no tiene NOPAT, capital invertido ni un WACC respaldado. Por eso el objetivo queda definido, con su fórmula, pero sin cifra propia.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1:00 a 130 palabras por minuto (135 palabras)
Un objetivo por sí solo no es control: cada indicador necesita una ficha. Tomemos el informe al cliente. La fórmula es clientes con informe sobre clientes intervenidos. La meta es la que vimos en la propuesta de valor, y se mide en cada instalación. El responsable es el área Comercial y Postventa. La evidencia es el informe, con sus limitaciones, y el acuse de entrega firmado por el cliente. Y la ficha dice de antemano qué hacer si hay desviación: completar el informe y contactar al cliente. Sin responsable, nadie responde por la brecha; sin evidencia, el dato no se puede auditar. Los doce indicadores del tablero tienen esta misma ficha, con su frecuencia propia: las autorizaciones por evento, los informes por instalación y el EVA por ejercicio. Lukas explica cómo se lee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0:45 a 130 palabras por minuto (93 palabras)
Gracias, Benjamín. Para leer el resultado usamos un semáforo: verde desde noventa por ciento de cumplimiento, ámbar desde setenta y rojo bajo setenta. Pero hay un color más que importa: el gris. Si una celda está vacía, el tablero dice sin medir, que no es lo mismo que incumplido. Hoy los indicadores de Lumine que dependen de datos están en gris, y sería falso pintarlos de rojo o de verde. El gris también muestra dónde falta información para decidir. Los controles críticos tienen una regla aparte: solo son verdes al cien por ciento.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1:15 a 130 palabras por minuto (161 palabras)
Veamos un caso completamente hipotético. Supongamos que en un mes se intervienen diez autos y solo ocho clientes reciben su informe. El resultado es ocho de diez: ochenta por ciento. Frente a una meta de cien, la desviación es de menos veinte puntos porcentuales. Con el semáforo general, ochenta por ciento sería ámbar, porque está entre setenta y noventa. Pero el informe no es un extra: es la propuesta de valor que prometimos. Si el cliente no recibe la evidencia de su consumo, el servicio quedó incompleto. Por eso este indicador se define como control crítico, y el resultado es rojo. La lección es que un semáforo no puede ser una regla igual para todo: tiene que ajustarse a la naturaleza del riesgo. Estar cerca de la meta basta para un indicador comercial, como el foco en conductores de uso intensivo, pero no para una obligación con el cliente. Esa regla se escribe antes de medir, no cuando aparece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(152 palabras)
El color no corrige nada; la decisión sí. Con los dos informes que faltan, el ciclo tiene cuatro pasos. Primero, medir: el corte mensual detecta la brecha. Segundo, explicar: ¿faltó medir el consumo, validar el resultado o entregarlo? Tercero, corregir: se asigna un responsable y un plazo, se completan los dos informes y se entregan. Cuarto, verificar: el informe firmado, la entrega registrada y el acuse del cliente. Solo con esa evidencia la desviación se cierra; mientras falte, sigue abierta. En el siguiente corte se vuelve a medir. La desviación tiene dueño desde el primer día, no desde que alguien reclama. Y si la falla se repite por causas del proceso, la respuesta es rediseñar el protocolo, no culpar al último técnico. En la etapa preoperativa este mismo ciclo ya se aplica a los hitos de ingeniería, regulación y habilitación: medir el avance, explicar el atraso, corregir y verificar con un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0:50 a 130 palabras por minuto (109 palabras)
En resumen, el CMI le dice a Lumine cuándo avanzar: primero, capacidades verificables; luego, procesos formales; después, valor demostrado al cliente; y finalmente, un EVA positivo. Ese orden evita invertir en escala antes de demostrar que el servicio funciona. No presentamos ventas, homologaciones ni EVA que todavía no existen. Quedan dos definiciones pendientes, que deben hacerse con antecedentes y no con supuestos: el WACC de Lumine y la tolerancia de error aceptable en la medición del ahorro. Mostrarlas como pendientes protege la credibilidad del tablero. La siguiente pregunta es qué iniciativas y qué presupuesto necesita cada hito para pasar de gris a verde.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EVA = NOPAT − capital × WACC = (ROIC − WACC) × capital. Ejemplo del módulo 4 (no Lumine): (15% − 12%) × US$1.000.000 = US$30.000. VAN y TIR evalúan el proyecto antes de invertir con sus flujos; EVA mide el valor creado en cada período.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Cada tipo de indicador tiene su regla, fijada antes de medir. Ratio común: 90/70. Ratio crítico (A01, A02, P03, C01): verde solo al 100%. Hito crítico (A03, P01, P02, C02): verde al cumplirse, rojo mientras falte. EVA: verde si es mayor que cero. En el Excel, C03 usa otra regla (verde sobre la meta): está anotado en RESPALDO.md.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Fórmula, meta, frecuencia y responsable. Los responsables siguen la estructura de la Fase 3; el Excel del paquete nombra otras áreas para A02 y P03.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Los responsables siguen la estructura de la Fase 3; el Excel del paquete nombra otras áreas para F01 y F03.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Original: rentabilidad sobre el costo de capital con VAN, TIR y WACC; clientes como convenios gremiales, aseguradoras y penetración; flechas solo verticales. Actualizado: financiamiento y expansión; reconocimiento institucional; perspectivas sin relaciones. Solemne 2: EVA, informe al cliente y flechas con mecanismo.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El 20% es una estimación de ingeniería. Un ensayo comparable debe controlar el consumo base del mismo auto, el recorrido, la conducción, las condiciones y el método. El primer protocolo comparativo es el hito A03. La tolerancia de error queda por definir.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C02: al menos una aseguradora y una planta de revisión técnica con protocolo, antes de vender (hito crítico). C03: más de 50% de consultas de uso intensivo, meta orientativa, sin excluir particulares ni flotas. Apoyan la promesa; no son la promesa.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F02: al menos un convenio de financiamiento para el cliente antes de la primera venta (el financiamiento verde para el kit no está confirmado). F03: financiamiento disponible igual o mayor que el capital de trabajo requerido. Sin cifras: el Plan Financiero no existe aún.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Dato: Lumine es preoperativa y la ley no tiene reglamento. Diseño o estimación: metas, umbrales y el ahorro de hasta 20%. Ejemplo: el EVA del módulo 4 y el caso 8 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SOLEMNE 2</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 Target="slide14.xml"/><Relationship Id="rId3" Type="http://schemas.openxmlformats.org/officeDocument/2006/relationships/slide" Target="slide15.xml"/><Relationship Id="rId4" Type="http://schemas.openxmlformats.org/officeDocument/2006/relationships/slide" Target="slide15.xml"/><Relationship Id="rId5" Type="http://schemas.openxmlformats.org/officeDocument/2006/relationships/slide" Target="slide16.xml"/><Relationship Id="rId6" Type="http://schemas.openxmlformats.org/officeDocument/2006/relationships/slide" Target="slide16.xml"/><Relationship Id="rId7" Type="http://schemas.openxmlformats.org/officeDocument/2006/relationships/slide" Target="slide17.xml"/><Relationship Id="rId8" Type="http://schemas.openxmlformats.org/officeDocument/2006/relationships/slide" Target="slide17.xml"/><Relationship Id="rId9" Type="http://schemas.openxmlformats.org/officeDocument/2006/relationships/slide" Target="slide18.xml"/><Relationship Id="rId10" Type="http://schemas.openxmlformats.org/officeDocument/2006/relationships/slide" Target="slide18.xml"/><Relationship Id="rId11" Type="http://schemas.openxmlformats.org/officeDocument/2006/relationships/slide" Target="slide19.xml"/><Relationship Id="rId12" Type="http://schemas.openxmlformats.org/officeDocument/2006/relationships/slide" Target="slide19.xml"/><Relationship Id="rId13" Type="http://schemas.openxmlformats.org/officeDocument/2006/relationships/slide" Target="slide20.xml"/><Relationship Id="rId14" Type="http://schemas.openxmlformats.org/officeDocument/2006/relationships/slide" Target="slide20.xml"/><Relationship Id="rId15" Type="http://schemas.openxmlformats.org/officeDocument/2006/relationships/slide" Target="slide21.xml"/><Relationship Id="rId16" Type="http://schemas.openxmlformats.org/officeDocument/2006/relationships/slide" Target="slide21.xml"/><Relationship Id="rId17" Type="http://schemas.openxmlformats.org/officeDocument/2006/relationships/slide" Target="slide22.xml"/><Relationship Id="rId18" Type="http://schemas.openxmlformats.org/officeDocument/2006/relationships/slide" Target="slide22.xml"/><Relationship Id="rId19" Type="http://schemas.openxmlformats.org/officeDocument/2006/relationships/slideLayout" Target="../slideLayouts/slideLayout3.xml"/><Relationship Id="rId2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3.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SOLEMNE 2</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MAPA ESTRATÉGICO Y CUADRO DE MANDO INTEGRAL</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5400" dirty="0">
                <a:solidFill>
                  <a:schemeClr val="tx1"/>
                </a:solidFill>
                <a:latin typeface="Archivo SemiExpanded ExtraBold" pitchFamily="34" charset="0"/>
                <a:ea typeface="Archivo SemiExpanded ExtraBold" pitchFamily="34" charset="-122"/>
                <a:cs typeface="Archivo SemiExpanded ExtraBold" pitchFamily="34" charset="-120"/>
              </a:rPr>
              <a:t>¿CÓMO CONTROLAR</a:t>
            </a:r>
            <a:endParaRPr lang="en-US" sz="5400" dirty="0"/>
          </a:p>
          <a:p>
            <a:pPr algn="l" indent="0" marL="0">
              <a:lnSpc>
                <a:spcPct val="90000"/>
              </a:lnSpc>
              <a:buNone/>
            </a:pPr>
            <a:r>
              <a:rPr lang="en-US" sz="4600" i="1" dirty="0">
                <a:solidFill>
                  <a:schemeClr val="accent1"/>
                </a:solidFill>
                <a:latin typeface="Instrument Serif" pitchFamily="34" charset="0"/>
                <a:ea typeface="Instrument Serif" pitchFamily="34" charset="-122"/>
                <a:cs typeface="Instrument Serif" pitchFamily="34" charset="-120"/>
              </a:rPr>
              <a:t>una empresa que aún no opera?</a:t>
            </a:r>
            <a:endParaRPr lang="en-US" sz="5400" dirty="0"/>
          </a:p>
        </p:txBody>
      </p:sp>
      <p:sp>
        <p:nvSpPr>
          <p:cNvPr id="5" name="Shape 3"/>
          <p:cNvSpPr/>
          <p:nvPr/>
        </p:nvSpPr>
        <p:spPr>
          <a:xfrm>
            <a:off x="548640" y="2743200"/>
            <a:ext cx="54864" cy="786384"/>
          </a:xfrm>
          <a:prstGeom prst="line">
            <a:avLst/>
          </a:prstGeom>
          <a:noFill/>
          <a:ln w="38100">
            <a:solidFill>
              <a:schemeClr val="accent1"/>
            </a:solidFill>
            <a:prstDash val="solid"/>
          </a:ln>
        </p:spPr>
      </p:sp>
      <p:sp>
        <p:nvSpPr>
          <p:cNvPr id="6" name="Text 4"/>
          <p:cNvSpPr txBox="1"/>
          <p:nvPr/>
        </p:nvSpPr>
        <p:spPr>
          <a:xfrm>
            <a:off x="822960" y="2724912"/>
            <a:ext cx="5120640" cy="822960"/>
          </a:xfrm>
          <a:prstGeom prst="rect">
            <a:avLst/>
          </a:prstGeom>
          <a:noFill/>
          <a:ln/>
        </p:spPr>
        <p:txBody>
          <a:bodyPr wrap="square" lIns="0" tIns="0" rIns="0" bIns="0" rtlCol="0" anchor="ctr"/>
          <a:lstStyle/>
          <a:p>
            <a:pPr indent="0" marL="0">
              <a:lnSpc>
                <a:spcPct val="105000"/>
              </a:lnSpc>
              <a:buNone/>
            </a:pPr>
            <a:r>
              <a:rPr lang="es-CL" altLang="en-US" sz="22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200" dirty="0">
                <a:solidFill>
                  <a:schemeClr val="tx2"/>
                </a:solidFill>
                <a:latin typeface="Figtree" pitchFamily="34" charset="0"/>
                <a:ea typeface="Figtree" pitchFamily="34" charset="-122"/>
                <a:cs typeface="Figtree" pitchFamily="34" charset="-120"/>
              </a:rPr>
              <a:t>el tablero mide lo que falta demostrar, no logros.</a:t>
            </a:r>
            <a:endParaRPr lang="es-CL" sz="2200" dirty="0"/>
          </a:p>
        </p:txBody>
      </p:sp>
      <p:sp>
        <p:nvSpPr>
          <p:cNvPr id="7" name="Shape 5"/>
          <p:cNvSpPr/>
          <p:nvPr/>
        </p:nvSpPr>
        <p:spPr>
          <a:xfrm>
            <a:off x="548640" y="4956048"/>
            <a:ext cx="1097280" cy="0"/>
          </a:xfrm>
          <a:prstGeom prst="line">
            <a:avLst/>
          </a:prstGeom>
          <a:noFill/>
          <a:ln w="15875">
            <a:solidFill>
              <a:schemeClr val="accent1"/>
            </a:solidFill>
            <a:prstDash val="solid"/>
          </a:ln>
        </p:spPr>
      </p:sp>
      <p:sp>
        <p:nvSpPr>
          <p:cNvPr id="8" name="Text 6"/>
          <p:cNvSpPr txBox="1"/>
          <p:nvPr/>
        </p:nvSpPr>
        <p:spPr>
          <a:xfrm>
            <a:off x="548640" y="5102352"/>
            <a:ext cx="3429000" cy="109728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RETROALIMENTACIÓN · CMI ORIGINAL Y ACTUALIZADO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CONSERVA EL RETORNO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corrige lo criticado.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de Lumine, versión original y versión actualizada a las Fases 1 y 2; retroalimentación del profesor, transcrita por el equipo.</a:t>
            </a:r>
            <a:endParaRPr lang="es-CL" sz="1100" dirty="0"/>
          </a:p>
        </p:txBody>
      </p:sp>
      <p:sp>
        <p:nvSpPr>
          <p:cNvPr id="5" name="Shape 3"/>
          <p:cNvSpPr/>
          <p:nvPr/>
        </p:nvSpPr>
        <p:spPr>
          <a:xfrm>
            <a:off x="8351215" y="905256"/>
            <a:ext cx="146304" cy="146304"/>
          </a:xfrm>
          <a:prstGeom prst="ellipse">
            <a:avLst/>
          </a:prstGeom>
          <a:solidFill>
            <a:schemeClr val="accent1"/>
          </a:solidFill>
          <a:ln/>
        </p:spPr>
      </p:sp>
      <p:sp>
        <p:nvSpPr>
          <p:cNvPr id="6" name="Text 4"/>
          <p:cNvSpPr txBox="1"/>
          <p:nvPr/>
        </p:nvSpPr>
        <p:spPr>
          <a:xfrm>
            <a:off x="8588959" y="841248"/>
            <a:ext cx="1097280" cy="274320"/>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DESTACADO</a:t>
            </a:r>
            <a:endParaRPr lang="es-CL" sz="1200" dirty="0"/>
          </a:p>
        </p:txBody>
      </p:sp>
      <p:sp>
        <p:nvSpPr>
          <p:cNvPr id="7" name="Shape 5"/>
          <p:cNvSpPr/>
          <p:nvPr/>
        </p:nvSpPr>
        <p:spPr>
          <a:xfrm>
            <a:off x="9905695" y="905256"/>
            <a:ext cx="146304" cy="146304"/>
          </a:xfrm>
          <a:prstGeom prst="ellipse">
            <a:avLst/>
          </a:prstGeom>
          <a:solidFill>
            <a:schemeClr val="bg1">
              <a:alpha val="0"/>
            </a:schemeClr>
          </a:solidFill>
          <a:ln w="19050">
            <a:solidFill>
              <a:schemeClr val="tx1"/>
            </a:solidFill>
            <a:prstDash val="solid"/>
          </a:ln>
        </p:spPr>
      </p:sp>
      <p:sp>
        <p:nvSpPr>
          <p:cNvPr id="8" name="Text 6"/>
          <p:cNvSpPr txBox="1"/>
          <p:nvPr/>
        </p:nvSpPr>
        <p:spPr>
          <a:xfrm>
            <a:off x="10143439" y="841248"/>
            <a:ext cx="1188720" cy="274320"/>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CRITICADO</a:t>
            </a:r>
            <a:endParaRPr lang="es-CL" sz="1200" dirty="0"/>
          </a:p>
        </p:txBody>
      </p:sp>
      <p:sp>
        <p:nvSpPr>
          <p:cNvPr id="9" name="Text 7"/>
          <p:cNvSpPr txBox="1"/>
          <p:nvPr/>
        </p:nvSpPr>
        <p:spPr>
          <a:xfrm>
            <a:off x="548640" y="2395728"/>
            <a:ext cx="512064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LO QUE DIJO EL PROFESOR</a:t>
            </a:r>
            <a:endParaRPr lang="es-CL" sz="1600" dirty="0"/>
          </a:p>
        </p:txBody>
      </p:sp>
      <p:sp>
        <p:nvSpPr>
          <p:cNvPr id="10" name="Text 8"/>
          <p:cNvSpPr txBox="1"/>
          <p:nvPr/>
        </p:nvSpPr>
        <p:spPr>
          <a:xfrm>
            <a:off x="6537960" y="2395728"/>
            <a:ext cx="5105095" cy="274320"/>
          </a:xfrm>
          <a:prstGeom prst="rect">
            <a:avLst/>
          </a:prstGeom>
          <a:noFill/>
          <a:ln/>
        </p:spPr>
        <p:txBody>
          <a:bodyPr wrap="square" lIns="0" tIns="0" rIns="0" bIns="0" rtlCol="0" anchor="t"/>
          <a:lstStyle/>
          <a:p>
            <a:pPr indent="0" marL="0">
              <a:buNone/>
            </a:pPr>
            <a:r>
              <a:rPr lang="es-CL" altLang="en-US" sz="1600" spc="100" kern="0" dirty="0">
                <a:solidFill>
                  <a:schemeClr val="accent1"/>
                </a:solidFill>
                <a:latin typeface="IBM Plex Mono" pitchFamily="34" charset="0"/>
                <a:ea typeface="IBM Plex Mono" pitchFamily="34" charset="-122"/>
                <a:cs typeface="IBM Plex Mono" pitchFamily="34" charset="-120"/>
              </a:rPr>
              <a:t>LO QUE CAMBIAMOS</a:t>
            </a:r>
            <a:endParaRPr lang="es-CL" sz="1600" dirty="0"/>
          </a:p>
        </p:txBody>
      </p:sp>
      <p:sp>
        <p:nvSpPr>
          <p:cNvPr id="11" name="Shape 9"/>
          <p:cNvSpPr/>
          <p:nvPr/>
        </p:nvSpPr>
        <p:spPr>
          <a:xfrm>
            <a:off x="548640" y="2834640"/>
            <a:ext cx="5120640" cy="914400"/>
          </a:xfrm>
          <a:prstGeom prst="rect">
            <a:avLst/>
          </a:prstGeom>
          <a:solidFill>
            <a:schemeClr val="bg2"/>
          </a:solidFill>
          <a:ln w="9525">
            <a:solidFill>
              <a:schemeClr val="accent5"/>
            </a:solidFill>
            <a:prstDash val="solid"/>
          </a:ln>
        </p:spPr>
      </p:sp>
      <p:sp>
        <p:nvSpPr>
          <p:cNvPr id="12" name="Shape 10"/>
          <p:cNvSpPr/>
          <p:nvPr/>
        </p:nvSpPr>
        <p:spPr>
          <a:xfrm>
            <a:off x="804672" y="3154680"/>
            <a:ext cx="274320" cy="274320"/>
          </a:xfrm>
          <a:prstGeom prst="ellipse">
            <a:avLst/>
          </a:prstGeom>
          <a:solidFill>
            <a:schemeClr val="accent1"/>
          </a:solidFill>
          <a:ln/>
        </p:spPr>
      </p:sp>
      <p:sp>
        <p:nvSpPr>
          <p:cNvPr id="13" name="Text 11"/>
          <p:cNvSpPr txBox="1"/>
          <p:nvPr/>
        </p:nvSpPr>
        <p:spPr>
          <a:xfrm>
            <a:off x="1325880" y="2834640"/>
            <a:ext cx="4160520" cy="91440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Rentabilidad sobre el costo de capital</a:t>
            </a:r>
            <a:endParaRPr lang="es-CL" sz="2000" dirty="0"/>
          </a:p>
        </p:txBody>
      </p:sp>
      <p:sp>
        <p:nvSpPr>
          <p:cNvPr id="14" name="Shape 12"/>
          <p:cNvSpPr/>
          <p:nvPr/>
        </p:nvSpPr>
        <p:spPr>
          <a:xfrm>
            <a:off x="5806440" y="3291840"/>
            <a:ext cx="594360" cy="0"/>
          </a:xfrm>
          <a:prstGeom prst="line">
            <a:avLst/>
          </a:prstGeom>
          <a:noFill/>
          <a:ln w="22225">
            <a:solidFill>
              <a:schemeClr val="accent1"/>
            </a:solidFill>
            <a:prstDash val="solid"/>
            <a:tailEnd type="triangle"/>
          </a:ln>
        </p:spPr>
      </p:sp>
      <p:pic>
        <p:nvPicPr>
          <p:cNvPr id="15" name="Image 0" descr="C:\Users\Usuario\Documents\GitHub\lumine\solemne-2\generador\assets\brillo.png">    </p:cNvPr>
          <p:cNvPicPr>
            <a:picLocks noChangeAspect="1"/>
          </p:cNvPicPr>
          <p:nvPr/>
        </p:nvPicPr>
        <p:blipFill>
          <a:blip r:embed="rId1"/>
          <a:stretch>
            <a:fillRect/>
          </a:stretch>
        </p:blipFill>
        <p:spPr>
          <a:xfrm>
            <a:off x="6172200" y="2578608"/>
            <a:ext cx="5836615" cy="1426464"/>
          </a:xfrm>
          <a:prstGeom prst="rect">
            <a:avLst/>
          </a:prstGeom>
        </p:spPr>
      </p:pic>
      <p:sp>
        <p:nvSpPr>
          <p:cNvPr id="16" name="Shape 13"/>
          <p:cNvSpPr/>
          <p:nvPr/>
        </p:nvSpPr>
        <p:spPr>
          <a:xfrm>
            <a:off x="6537960" y="2834640"/>
            <a:ext cx="5105095" cy="914400"/>
          </a:xfrm>
          <a:prstGeom prst="rect">
            <a:avLst/>
          </a:prstGeom>
          <a:solidFill>
            <a:srgbClr val="0B1A22"/>
          </a:solidFill>
          <a:ln w="15875">
            <a:solidFill>
              <a:schemeClr val="accent1"/>
            </a:solidFill>
            <a:prstDash val="solid"/>
          </a:ln>
        </p:spPr>
      </p:sp>
      <p:sp>
        <p:nvSpPr>
          <p:cNvPr id="17" name="Shape 14"/>
          <p:cNvSpPr/>
          <p:nvPr/>
        </p:nvSpPr>
        <p:spPr>
          <a:xfrm>
            <a:off x="6483096" y="2779776"/>
            <a:ext cx="155448" cy="0"/>
          </a:xfrm>
          <a:prstGeom prst="line">
            <a:avLst/>
          </a:prstGeom>
          <a:noFill/>
          <a:ln w="15875">
            <a:solidFill>
              <a:schemeClr val="accent1"/>
            </a:solidFill>
            <a:prstDash val="solid"/>
          </a:ln>
        </p:spPr>
      </p:sp>
      <p:sp>
        <p:nvSpPr>
          <p:cNvPr id="18" name="Shape 15"/>
          <p:cNvSpPr/>
          <p:nvPr/>
        </p:nvSpPr>
        <p:spPr>
          <a:xfrm>
            <a:off x="6483096" y="2779776"/>
            <a:ext cx="0" cy="155448"/>
          </a:xfrm>
          <a:prstGeom prst="line">
            <a:avLst/>
          </a:prstGeom>
          <a:noFill/>
          <a:ln w="15875">
            <a:solidFill>
              <a:schemeClr val="accent1"/>
            </a:solidFill>
            <a:prstDash val="solid"/>
          </a:ln>
        </p:spPr>
      </p:sp>
      <p:sp>
        <p:nvSpPr>
          <p:cNvPr id="19" name="Shape 16"/>
          <p:cNvSpPr/>
          <p:nvPr/>
        </p:nvSpPr>
        <p:spPr>
          <a:xfrm>
            <a:off x="11542471" y="2779776"/>
            <a:ext cx="155448" cy="0"/>
          </a:xfrm>
          <a:prstGeom prst="line">
            <a:avLst/>
          </a:prstGeom>
          <a:noFill/>
          <a:ln w="15875">
            <a:solidFill>
              <a:schemeClr val="accent1"/>
            </a:solidFill>
            <a:prstDash val="solid"/>
          </a:ln>
        </p:spPr>
      </p:sp>
      <p:sp>
        <p:nvSpPr>
          <p:cNvPr id="20" name="Shape 17"/>
          <p:cNvSpPr/>
          <p:nvPr/>
        </p:nvSpPr>
        <p:spPr>
          <a:xfrm>
            <a:off x="11697919" y="2779776"/>
            <a:ext cx="0" cy="155448"/>
          </a:xfrm>
          <a:prstGeom prst="line">
            <a:avLst/>
          </a:prstGeom>
          <a:noFill/>
          <a:ln w="15875">
            <a:solidFill>
              <a:schemeClr val="accent1"/>
            </a:solidFill>
            <a:prstDash val="solid"/>
          </a:ln>
        </p:spPr>
      </p:sp>
      <p:sp>
        <p:nvSpPr>
          <p:cNvPr id="21" name="Shape 18"/>
          <p:cNvSpPr/>
          <p:nvPr/>
        </p:nvSpPr>
        <p:spPr>
          <a:xfrm>
            <a:off x="6483096" y="3803904"/>
            <a:ext cx="155448" cy="0"/>
          </a:xfrm>
          <a:prstGeom prst="line">
            <a:avLst/>
          </a:prstGeom>
          <a:noFill/>
          <a:ln w="15875">
            <a:solidFill>
              <a:schemeClr val="accent1"/>
            </a:solidFill>
            <a:prstDash val="solid"/>
          </a:ln>
        </p:spPr>
      </p:sp>
      <p:sp>
        <p:nvSpPr>
          <p:cNvPr id="22" name="Shape 19"/>
          <p:cNvSpPr/>
          <p:nvPr/>
        </p:nvSpPr>
        <p:spPr>
          <a:xfrm>
            <a:off x="6483096" y="3648456"/>
            <a:ext cx="0" cy="155448"/>
          </a:xfrm>
          <a:prstGeom prst="line">
            <a:avLst/>
          </a:prstGeom>
          <a:noFill/>
          <a:ln w="15875">
            <a:solidFill>
              <a:schemeClr val="accent1"/>
            </a:solidFill>
            <a:prstDash val="solid"/>
          </a:ln>
        </p:spPr>
      </p:sp>
      <p:sp>
        <p:nvSpPr>
          <p:cNvPr id="23" name="Shape 20"/>
          <p:cNvSpPr/>
          <p:nvPr/>
        </p:nvSpPr>
        <p:spPr>
          <a:xfrm>
            <a:off x="11542471" y="3803904"/>
            <a:ext cx="155448" cy="0"/>
          </a:xfrm>
          <a:prstGeom prst="line">
            <a:avLst/>
          </a:prstGeom>
          <a:noFill/>
          <a:ln w="15875">
            <a:solidFill>
              <a:schemeClr val="accent1"/>
            </a:solidFill>
            <a:prstDash val="solid"/>
          </a:ln>
        </p:spPr>
      </p:sp>
      <p:sp>
        <p:nvSpPr>
          <p:cNvPr id="24" name="Shape 21"/>
          <p:cNvSpPr/>
          <p:nvPr/>
        </p:nvSpPr>
        <p:spPr>
          <a:xfrm>
            <a:off x="11697919" y="3648456"/>
            <a:ext cx="0" cy="155448"/>
          </a:xfrm>
          <a:prstGeom prst="line">
            <a:avLst/>
          </a:prstGeom>
          <a:noFill/>
          <a:ln w="15875">
            <a:solidFill>
              <a:schemeClr val="accent1"/>
            </a:solidFill>
            <a:prstDash val="solid"/>
          </a:ln>
        </p:spPr>
      </p:sp>
      <p:sp>
        <p:nvSpPr>
          <p:cNvPr id="25" name="Text 22"/>
          <p:cNvSpPr txBox="1"/>
          <p:nvPr/>
        </p:nvSpPr>
        <p:spPr>
          <a:xfrm>
            <a:off x="6812280" y="2834640"/>
            <a:ext cx="4693615" cy="9144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Se conserva y se mide con EVA</a:t>
            </a:r>
            <a:endParaRPr lang="es-CL" sz="2200" dirty="0"/>
          </a:p>
        </p:txBody>
      </p:sp>
      <p:sp>
        <p:nvSpPr>
          <p:cNvPr id="26" name="Shape 23"/>
          <p:cNvSpPr/>
          <p:nvPr/>
        </p:nvSpPr>
        <p:spPr>
          <a:xfrm>
            <a:off x="548640" y="3950208"/>
            <a:ext cx="5120640" cy="914400"/>
          </a:xfrm>
          <a:prstGeom prst="rect">
            <a:avLst/>
          </a:prstGeom>
          <a:solidFill>
            <a:schemeClr val="bg2"/>
          </a:solidFill>
          <a:ln w="9525">
            <a:solidFill>
              <a:schemeClr val="accent5"/>
            </a:solidFill>
            <a:prstDash val="solid"/>
          </a:ln>
        </p:spPr>
      </p:sp>
      <p:sp>
        <p:nvSpPr>
          <p:cNvPr id="27" name="Shape 24"/>
          <p:cNvSpPr/>
          <p:nvPr/>
        </p:nvSpPr>
        <p:spPr>
          <a:xfrm>
            <a:off x="804672" y="4270248"/>
            <a:ext cx="274320" cy="274320"/>
          </a:xfrm>
          <a:prstGeom prst="ellipse">
            <a:avLst/>
          </a:prstGeom>
          <a:solidFill>
            <a:schemeClr val="bg1">
              <a:alpha val="0"/>
            </a:schemeClr>
          </a:solidFill>
          <a:ln w="25400">
            <a:solidFill>
              <a:schemeClr val="tx1"/>
            </a:solidFill>
            <a:prstDash val="solid"/>
          </a:ln>
        </p:spPr>
      </p:sp>
      <p:sp>
        <p:nvSpPr>
          <p:cNvPr id="28" name="Text 25"/>
          <p:cNvSpPr txBox="1"/>
          <p:nvPr/>
        </p:nvSpPr>
        <p:spPr>
          <a:xfrm>
            <a:off x="1325880" y="3950208"/>
            <a:ext cx="4160520" cy="91440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Clientes descritos como canales y convenios</a:t>
            </a:r>
            <a:endParaRPr lang="es-CL" sz="2000" dirty="0"/>
          </a:p>
        </p:txBody>
      </p:sp>
      <p:sp>
        <p:nvSpPr>
          <p:cNvPr id="29" name="Shape 26"/>
          <p:cNvSpPr/>
          <p:nvPr/>
        </p:nvSpPr>
        <p:spPr>
          <a:xfrm>
            <a:off x="5806440" y="4407408"/>
            <a:ext cx="594360" cy="0"/>
          </a:xfrm>
          <a:prstGeom prst="line">
            <a:avLst/>
          </a:prstGeom>
          <a:noFill/>
          <a:ln w="22225">
            <a:solidFill>
              <a:schemeClr val="accent1"/>
            </a:solidFill>
            <a:prstDash val="solid"/>
            <a:tailEnd type="triangle"/>
          </a:ln>
        </p:spPr>
      </p:sp>
      <p:sp>
        <p:nvSpPr>
          <p:cNvPr id="30" name="Shape 27"/>
          <p:cNvSpPr/>
          <p:nvPr/>
        </p:nvSpPr>
        <p:spPr>
          <a:xfrm>
            <a:off x="6537960" y="3950208"/>
            <a:ext cx="5105095" cy="914400"/>
          </a:xfrm>
          <a:prstGeom prst="rect">
            <a:avLst/>
          </a:prstGeom>
          <a:solidFill>
            <a:schemeClr val="bg2"/>
          </a:solidFill>
          <a:ln w="12700">
            <a:solidFill>
              <a:schemeClr val="accent1"/>
            </a:solidFill>
            <a:prstDash val="solid"/>
          </a:ln>
        </p:spPr>
      </p:sp>
      <p:sp>
        <p:nvSpPr>
          <p:cNvPr id="31" name="Text 28"/>
          <p:cNvSpPr txBox="1"/>
          <p:nvPr/>
        </p:nvSpPr>
        <p:spPr>
          <a:xfrm>
            <a:off x="6812280" y="3950208"/>
            <a:ext cx="4693615" cy="9144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El informe al cliente pasa al centro</a:t>
            </a:r>
            <a:endParaRPr lang="es-CL" sz="2200" dirty="0"/>
          </a:p>
        </p:txBody>
      </p:sp>
      <p:sp>
        <p:nvSpPr>
          <p:cNvPr id="32" name="Shape 29"/>
          <p:cNvSpPr/>
          <p:nvPr/>
        </p:nvSpPr>
        <p:spPr>
          <a:xfrm>
            <a:off x="548640" y="5065776"/>
            <a:ext cx="5120640" cy="914400"/>
          </a:xfrm>
          <a:prstGeom prst="rect">
            <a:avLst/>
          </a:prstGeom>
          <a:solidFill>
            <a:schemeClr val="bg2"/>
          </a:solidFill>
          <a:ln w="9525">
            <a:solidFill>
              <a:schemeClr val="accent5"/>
            </a:solidFill>
            <a:prstDash val="solid"/>
          </a:ln>
        </p:spPr>
      </p:sp>
      <p:sp>
        <p:nvSpPr>
          <p:cNvPr id="33" name="Shape 30"/>
          <p:cNvSpPr/>
          <p:nvPr/>
        </p:nvSpPr>
        <p:spPr>
          <a:xfrm>
            <a:off x="804672" y="5385816"/>
            <a:ext cx="274320" cy="274320"/>
          </a:xfrm>
          <a:prstGeom prst="ellipse">
            <a:avLst/>
          </a:prstGeom>
          <a:solidFill>
            <a:schemeClr val="bg1">
              <a:alpha val="0"/>
            </a:schemeClr>
          </a:solidFill>
          <a:ln w="25400">
            <a:solidFill>
              <a:schemeClr val="tx1"/>
            </a:solidFill>
            <a:prstDash val="solid"/>
          </a:ln>
        </p:spPr>
      </p:sp>
      <p:sp>
        <p:nvSpPr>
          <p:cNvPr id="34" name="Text 31"/>
          <p:cNvSpPr txBox="1"/>
          <p:nvPr/>
        </p:nvSpPr>
        <p:spPr>
          <a:xfrm>
            <a:off x="1325880" y="5065776"/>
            <a:ext cx="4160520" cy="91440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Objetivos sin relación de causa y efecto</a:t>
            </a:r>
            <a:endParaRPr lang="es-CL" sz="2000" dirty="0"/>
          </a:p>
        </p:txBody>
      </p:sp>
      <p:sp>
        <p:nvSpPr>
          <p:cNvPr id="35" name="Shape 32"/>
          <p:cNvSpPr/>
          <p:nvPr/>
        </p:nvSpPr>
        <p:spPr>
          <a:xfrm>
            <a:off x="5806440" y="5522976"/>
            <a:ext cx="594360" cy="0"/>
          </a:xfrm>
          <a:prstGeom prst="line">
            <a:avLst/>
          </a:prstGeom>
          <a:noFill/>
          <a:ln w="22225">
            <a:solidFill>
              <a:schemeClr val="accent1"/>
            </a:solidFill>
            <a:prstDash val="solid"/>
            <a:tailEnd type="triangle"/>
          </a:ln>
        </p:spPr>
      </p:sp>
      <p:sp>
        <p:nvSpPr>
          <p:cNvPr id="36" name="Shape 33"/>
          <p:cNvSpPr/>
          <p:nvPr/>
        </p:nvSpPr>
        <p:spPr>
          <a:xfrm>
            <a:off x="6537960" y="5065776"/>
            <a:ext cx="5105095" cy="914400"/>
          </a:xfrm>
          <a:prstGeom prst="rect">
            <a:avLst/>
          </a:prstGeom>
          <a:solidFill>
            <a:schemeClr val="bg2"/>
          </a:solidFill>
          <a:ln w="12700">
            <a:solidFill>
              <a:schemeClr val="accent1"/>
            </a:solidFill>
            <a:prstDash val="solid"/>
          </a:ln>
        </p:spPr>
      </p:sp>
      <p:sp>
        <p:nvSpPr>
          <p:cNvPr id="37" name="Text 34"/>
          <p:cNvSpPr txBox="1"/>
          <p:nvPr/>
        </p:nvSpPr>
        <p:spPr>
          <a:xfrm>
            <a:off x="6812280" y="5065776"/>
            <a:ext cx="4693615" cy="9144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Flechas con mecanismo e indicador</a:t>
            </a:r>
            <a:endParaRPr lang="es-CL" sz="2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PERSPECTIVA DE CLIENTES · PROPUESTA DE VALOR</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CLIENTE COMPRA EVIDENCIA,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una promesa de 20%.</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contexto vigente de Lumine Motors (17-10-2026); Excel de la Solemne 2, indicador C01. El ahorro es una estimación de ingeniería, no medida en autos chilenos.</a:t>
            </a:r>
            <a:endParaRPr lang="es-CL" sz="1100" dirty="0"/>
          </a:p>
        </p:txBody>
      </p:sp>
      <p:sp>
        <p:nvSpPr>
          <p:cNvPr id="5" name="Text 3"/>
          <p:cNvSpPr txBox="1"/>
          <p:nvPr/>
        </p:nvSpPr>
        <p:spPr>
          <a:xfrm>
            <a:off x="10580065" y="841248"/>
            <a:ext cx="1062990" cy="274320"/>
          </a:xfrm>
          <a:prstGeom prst="rect">
            <a:avLst/>
          </a:prstGeom>
          <a:noFill/>
          <a:ln/>
        </p:spPr>
        <p:txBody>
          <a:bodyPr wrap="square" lIns="0" tIns="0" rIns="0" bIns="0" rtlCol="0" anchor="ctr"/>
          <a:lstStyle/>
          <a:p>
            <a:pPr indent="0" marL="0">
              <a:buNone/>
            </a:pPr>
            <a:r>
              <a:rPr lang="es-CL" altLang="en-US" sz="1200" spc="50" kern="0" dirty="0">
                <a:solidFill>
                  <a:srgbClr val="8B9598"/>
                </a:solidFill>
                <a:latin typeface="IBM Plex Mono" pitchFamily="34" charset="0"/>
                <a:ea typeface="IBM Plex Mono" pitchFamily="34" charset="-122"/>
                <a:cs typeface="IBM Plex Mono" pitchFamily="34" charset="-120"/>
              </a:rPr>
              <a:t>SIN MEDIR</a:t>
            </a:r>
            <a:endParaRPr lang="es-CL" sz="1200" dirty="0"/>
          </a:p>
        </p:txBody>
      </p:sp>
      <p:sp>
        <p:nvSpPr>
          <p:cNvPr id="6" name="Shape 4"/>
          <p:cNvSpPr/>
          <p:nvPr/>
        </p:nvSpPr>
        <p:spPr>
          <a:xfrm>
            <a:off x="10269169" y="896112"/>
            <a:ext cx="219456" cy="164592"/>
          </a:xfrm>
          <a:prstGeom prst="rect">
            <a:avLst/>
          </a:prstGeom>
          <a:solidFill>
            <a:schemeClr val="bg1">
              <a:alpha val="0"/>
            </a:schemeClr>
          </a:solidFill>
          <a:ln w="12700">
            <a:solidFill>
              <a:srgbClr val="8B9598"/>
            </a:solidFill>
            <a:prstDash val="dash"/>
          </a:ln>
        </p:spPr>
      </p:sp>
      <p:sp>
        <p:nvSpPr>
          <p:cNvPr id="7" name="Text 5"/>
          <p:cNvSpPr txBox="1"/>
          <p:nvPr/>
        </p:nvSpPr>
        <p:spPr>
          <a:xfrm>
            <a:off x="548640" y="2395728"/>
            <a:ext cx="457200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LO QUE COMPRA</a:t>
            </a:r>
            <a:endParaRPr lang="es-CL" sz="1600" dirty="0"/>
          </a:p>
        </p:txBody>
      </p:sp>
      <p:sp>
        <p:nvSpPr>
          <p:cNvPr id="8" name="Shape 6"/>
          <p:cNvSpPr/>
          <p:nvPr/>
        </p:nvSpPr>
        <p:spPr>
          <a:xfrm>
            <a:off x="548640" y="2944368"/>
            <a:ext cx="457200" cy="457200"/>
          </a:xfrm>
          <a:prstGeom prst="rect">
            <a:avLst/>
          </a:prstGeom>
          <a:solidFill>
            <a:schemeClr val="accent5"/>
          </a:solidFill>
          <a:ln/>
        </p:spPr>
      </p:sp>
      <p:sp>
        <p:nvSpPr>
          <p:cNvPr id="9" name="Text 7"/>
          <p:cNvSpPr txBox="1"/>
          <p:nvPr/>
        </p:nvSpPr>
        <p:spPr>
          <a:xfrm>
            <a:off x="548640" y="2944368"/>
            <a:ext cx="457200" cy="45720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IBM Plex Mono" pitchFamily="34" charset="0"/>
                <a:ea typeface="IBM Plex Mono" pitchFamily="34" charset="-122"/>
                <a:cs typeface="IBM Plex Mono" pitchFamily="34" charset="-120"/>
              </a:rPr>
              <a:t>1</a:t>
            </a:r>
            <a:endParaRPr lang="es-CL" sz="2000" dirty="0"/>
          </a:p>
        </p:txBody>
      </p:sp>
      <p:sp>
        <p:nvSpPr>
          <p:cNvPr id="10" name="Text 8"/>
          <p:cNvSpPr txBox="1"/>
          <p:nvPr/>
        </p:nvSpPr>
        <p:spPr>
          <a:xfrm>
            <a:off x="1234440" y="2852928"/>
            <a:ext cx="3886200" cy="640080"/>
          </a:xfrm>
          <a:prstGeom prst="rect">
            <a:avLst/>
          </a:prstGeom>
          <a:noFill/>
          <a:ln/>
        </p:spPr>
        <p:txBody>
          <a:bodyPr wrap="square" lIns="0" tIns="0" rIns="0" bIns="0" rtlCol="0" anchor="ctr"/>
          <a:lstStyle/>
          <a:p>
            <a:pPr indent="0" marL="0">
              <a:buNone/>
            </a:pPr>
            <a:r>
              <a:rPr lang="es-CL" altLang="en-US" sz="2200" dirty="0">
                <a:solidFill>
                  <a:schemeClr val="tx1"/>
                </a:solidFill>
                <a:latin typeface="Figtree" pitchFamily="34" charset="0"/>
                <a:ea typeface="Figtree" pitchFamily="34" charset="-122"/>
                <a:cs typeface="Figtree" pitchFamily="34" charset="-120"/>
              </a:rPr>
              <a:t>Modernizar su propio auto</a:t>
            </a:r>
            <a:endParaRPr lang="es-CL" sz="2200" dirty="0"/>
          </a:p>
        </p:txBody>
      </p:sp>
      <p:sp>
        <p:nvSpPr>
          <p:cNvPr id="11" name="Shape 9"/>
          <p:cNvSpPr/>
          <p:nvPr/>
        </p:nvSpPr>
        <p:spPr>
          <a:xfrm>
            <a:off x="548640" y="3767328"/>
            <a:ext cx="457200" cy="457200"/>
          </a:xfrm>
          <a:prstGeom prst="rect">
            <a:avLst/>
          </a:prstGeom>
          <a:solidFill>
            <a:schemeClr val="accent5"/>
          </a:solidFill>
          <a:ln/>
        </p:spPr>
      </p:sp>
      <p:sp>
        <p:nvSpPr>
          <p:cNvPr id="12" name="Text 10"/>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IBM Plex Mono" pitchFamily="34" charset="0"/>
                <a:ea typeface="IBM Plex Mono" pitchFamily="34" charset="-122"/>
                <a:cs typeface="IBM Plex Mono" pitchFamily="34" charset="-120"/>
              </a:rPr>
              <a:t>2</a:t>
            </a:r>
            <a:endParaRPr lang="es-CL" sz="2000" dirty="0"/>
          </a:p>
        </p:txBody>
      </p:sp>
      <p:sp>
        <p:nvSpPr>
          <p:cNvPr id="13" name="Text 11"/>
          <p:cNvSpPr txBox="1"/>
          <p:nvPr/>
        </p:nvSpPr>
        <p:spPr>
          <a:xfrm>
            <a:off x="1234440" y="3675888"/>
            <a:ext cx="3886200" cy="640080"/>
          </a:xfrm>
          <a:prstGeom prst="rect">
            <a:avLst/>
          </a:prstGeom>
          <a:noFill/>
          <a:ln/>
        </p:spPr>
        <p:txBody>
          <a:bodyPr wrap="square" lIns="0" tIns="0" rIns="0" bIns="0" rtlCol="0" anchor="ctr"/>
          <a:lstStyle/>
          <a:p>
            <a:pPr indent="0" marL="0">
              <a:buNone/>
            </a:pPr>
            <a:r>
              <a:rPr lang="es-CL" altLang="en-US" sz="2200" dirty="0">
                <a:solidFill>
                  <a:schemeClr val="tx1"/>
                </a:solidFill>
                <a:latin typeface="Figtree" pitchFamily="34" charset="0"/>
                <a:ea typeface="Figtree" pitchFamily="34" charset="-122"/>
                <a:cs typeface="Figtree" pitchFamily="34" charset="-120"/>
              </a:rPr>
              <a:t>Un procedimiento seguro y trazable</a:t>
            </a:r>
            <a:endParaRPr lang="es-CL" sz="2200" dirty="0"/>
          </a:p>
        </p:txBody>
      </p:sp>
      <p:sp>
        <p:nvSpPr>
          <p:cNvPr id="14" name="Shape 12"/>
          <p:cNvSpPr/>
          <p:nvPr/>
        </p:nvSpPr>
        <p:spPr>
          <a:xfrm>
            <a:off x="548640" y="4681728"/>
            <a:ext cx="4572000" cy="0"/>
          </a:xfrm>
          <a:prstGeom prst="line">
            <a:avLst/>
          </a:prstGeom>
          <a:noFill/>
          <a:ln w="9525">
            <a:solidFill>
              <a:schemeClr val="accent5"/>
            </a:solidFill>
            <a:prstDash val="solid"/>
          </a:ln>
        </p:spPr>
      </p:sp>
      <p:sp>
        <p:nvSpPr>
          <p:cNvPr id="15" name="Text 13"/>
          <p:cNvSpPr txBox="1"/>
          <p:nvPr/>
        </p:nvSpPr>
        <p:spPr>
          <a:xfrm>
            <a:off x="548640" y="4809744"/>
            <a:ext cx="457200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LO QUE NO SE PROMETE</a:t>
            </a:r>
            <a:endParaRPr lang="es-CL" sz="1600" dirty="0"/>
          </a:p>
        </p:txBody>
      </p:sp>
      <p:sp>
        <p:nvSpPr>
          <p:cNvPr id="16" name="Text 14"/>
          <p:cNvSpPr txBox="1"/>
          <p:nvPr/>
        </p:nvSpPr>
        <p:spPr>
          <a:xfrm>
            <a:off x="548640" y="5138928"/>
            <a:ext cx="4572000" cy="457200"/>
          </a:xfrm>
          <a:prstGeom prst="rect">
            <a:avLst/>
          </a:prstGeom>
          <a:noFill/>
          <a:ln/>
        </p:spPr>
        <p:txBody>
          <a:bodyPr wrap="square" lIns="0" tIns="0" rIns="0" bIns="0" rtlCol="0" anchor="ctr"/>
          <a:lstStyle/>
          <a:p>
            <a:pPr indent="0" marL="0">
              <a:buNone/>
            </a:pPr>
            <a:r>
              <a:rPr lang="es-CL" altLang="en-US" sz="2200" dirty="0">
                <a:solidFill>
                  <a:schemeClr val="tx2"/>
                </a:solidFill>
                <a:latin typeface="Figtree" pitchFamily="34" charset="0"/>
                <a:ea typeface="Figtree" pitchFamily="34" charset="-122"/>
                <a:cs typeface="Figtree" pitchFamily="34" charset="-120"/>
              </a:rPr>
              <a:t>Hasta 20% menos bencina</a:t>
            </a:r>
            <a:endParaRPr lang="es-CL" sz="2200" dirty="0"/>
          </a:p>
        </p:txBody>
      </p:sp>
      <p:sp>
        <p:nvSpPr>
          <p:cNvPr id="17" name="Shape 15"/>
          <p:cNvSpPr/>
          <p:nvPr/>
        </p:nvSpPr>
        <p:spPr>
          <a:xfrm>
            <a:off x="548640" y="5650992"/>
            <a:ext cx="3056636" cy="365760"/>
          </a:xfrm>
          <a:prstGeom prst="rect">
            <a:avLst/>
          </a:prstGeom>
          <a:solidFill>
            <a:schemeClr val="bg1">
              <a:alpha val="0"/>
            </a:schemeClr>
          </a:solidFill>
          <a:ln w="12700">
            <a:solidFill>
              <a:schemeClr val="tx2"/>
            </a:solidFill>
            <a:prstDash val="dash"/>
          </a:ln>
        </p:spPr>
      </p:sp>
      <p:sp>
        <p:nvSpPr>
          <p:cNvPr id="18" name="Text 16"/>
          <p:cNvSpPr txBox="1"/>
          <p:nvPr/>
        </p:nvSpPr>
        <p:spPr>
          <a:xfrm>
            <a:off x="658368" y="5650992"/>
            <a:ext cx="283718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ESTIMACIÓN, NO MEDICIÓN</a:t>
            </a:r>
            <a:endParaRPr lang="es-CL" sz="1400" dirty="0"/>
          </a:p>
        </p:txBody>
      </p:sp>
      <p:pic>
        <p:nvPicPr>
          <p:cNvPr id="19" name="Image 0" descr="C:\Users\Usuario\Documents\GitHub\lumine\solemne-2\generador\assets\brillo.png">    </p:cNvPr>
          <p:cNvPicPr>
            <a:picLocks noChangeAspect="1"/>
          </p:cNvPicPr>
          <p:nvPr/>
        </p:nvPicPr>
        <p:blipFill>
          <a:blip r:embed="rId1"/>
          <a:stretch>
            <a:fillRect/>
          </a:stretch>
        </p:blipFill>
        <p:spPr>
          <a:xfrm>
            <a:off x="5212080" y="2011680"/>
            <a:ext cx="6979615" cy="4517136"/>
          </a:xfrm>
          <a:prstGeom prst="rect">
            <a:avLst/>
          </a:prstGeom>
        </p:spPr>
      </p:pic>
      <p:sp>
        <p:nvSpPr>
          <p:cNvPr id="20" name="Shape 17"/>
          <p:cNvSpPr/>
          <p:nvPr/>
        </p:nvSpPr>
        <p:spPr>
          <a:xfrm>
            <a:off x="5760720" y="2395728"/>
            <a:ext cx="5882335" cy="3749040"/>
          </a:xfrm>
          <a:prstGeom prst="rect">
            <a:avLst/>
          </a:prstGeom>
          <a:solidFill>
            <a:srgbClr val="0B1A22"/>
          </a:solidFill>
          <a:ln w="15875">
            <a:solidFill>
              <a:schemeClr val="accent1"/>
            </a:solidFill>
            <a:prstDash val="solid"/>
          </a:ln>
        </p:spPr>
      </p:sp>
      <p:sp>
        <p:nvSpPr>
          <p:cNvPr id="21" name="Shape 18"/>
          <p:cNvSpPr/>
          <p:nvPr/>
        </p:nvSpPr>
        <p:spPr>
          <a:xfrm>
            <a:off x="5705856" y="2340864"/>
            <a:ext cx="155448" cy="0"/>
          </a:xfrm>
          <a:prstGeom prst="line">
            <a:avLst/>
          </a:prstGeom>
          <a:noFill/>
          <a:ln w="15875">
            <a:solidFill>
              <a:schemeClr val="accent1"/>
            </a:solidFill>
            <a:prstDash val="solid"/>
          </a:ln>
        </p:spPr>
      </p:sp>
      <p:sp>
        <p:nvSpPr>
          <p:cNvPr id="22" name="Shape 19"/>
          <p:cNvSpPr/>
          <p:nvPr/>
        </p:nvSpPr>
        <p:spPr>
          <a:xfrm>
            <a:off x="5705856" y="2340864"/>
            <a:ext cx="0" cy="155448"/>
          </a:xfrm>
          <a:prstGeom prst="line">
            <a:avLst/>
          </a:prstGeom>
          <a:noFill/>
          <a:ln w="15875">
            <a:solidFill>
              <a:schemeClr val="accent1"/>
            </a:solidFill>
            <a:prstDash val="solid"/>
          </a:ln>
        </p:spPr>
      </p:sp>
      <p:sp>
        <p:nvSpPr>
          <p:cNvPr id="23" name="Shape 20"/>
          <p:cNvSpPr/>
          <p:nvPr/>
        </p:nvSpPr>
        <p:spPr>
          <a:xfrm>
            <a:off x="11542471" y="2340864"/>
            <a:ext cx="155448" cy="0"/>
          </a:xfrm>
          <a:prstGeom prst="line">
            <a:avLst/>
          </a:prstGeom>
          <a:noFill/>
          <a:ln w="15875">
            <a:solidFill>
              <a:schemeClr val="accent1"/>
            </a:solidFill>
            <a:prstDash val="solid"/>
          </a:ln>
        </p:spPr>
      </p:sp>
      <p:sp>
        <p:nvSpPr>
          <p:cNvPr id="24" name="Shape 21"/>
          <p:cNvSpPr/>
          <p:nvPr/>
        </p:nvSpPr>
        <p:spPr>
          <a:xfrm>
            <a:off x="11697919" y="2340864"/>
            <a:ext cx="0" cy="155448"/>
          </a:xfrm>
          <a:prstGeom prst="line">
            <a:avLst/>
          </a:prstGeom>
          <a:noFill/>
          <a:ln w="15875">
            <a:solidFill>
              <a:schemeClr val="accent1"/>
            </a:solidFill>
            <a:prstDash val="solid"/>
          </a:ln>
        </p:spPr>
      </p:sp>
      <p:sp>
        <p:nvSpPr>
          <p:cNvPr id="25" name="Shape 22"/>
          <p:cNvSpPr/>
          <p:nvPr/>
        </p:nvSpPr>
        <p:spPr>
          <a:xfrm>
            <a:off x="5705856" y="6199632"/>
            <a:ext cx="155448" cy="0"/>
          </a:xfrm>
          <a:prstGeom prst="line">
            <a:avLst/>
          </a:prstGeom>
          <a:noFill/>
          <a:ln w="15875">
            <a:solidFill>
              <a:schemeClr val="accent1"/>
            </a:solidFill>
            <a:prstDash val="solid"/>
          </a:ln>
        </p:spPr>
      </p:sp>
      <p:sp>
        <p:nvSpPr>
          <p:cNvPr id="26" name="Shape 23"/>
          <p:cNvSpPr/>
          <p:nvPr/>
        </p:nvSpPr>
        <p:spPr>
          <a:xfrm>
            <a:off x="5705856" y="6044184"/>
            <a:ext cx="0" cy="155448"/>
          </a:xfrm>
          <a:prstGeom prst="line">
            <a:avLst/>
          </a:prstGeom>
          <a:noFill/>
          <a:ln w="15875">
            <a:solidFill>
              <a:schemeClr val="accent1"/>
            </a:solidFill>
            <a:prstDash val="solid"/>
          </a:ln>
        </p:spPr>
      </p:sp>
      <p:sp>
        <p:nvSpPr>
          <p:cNvPr id="27" name="Shape 24"/>
          <p:cNvSpPr/>
          <p:nvPr/>
        </p:nvSpPr>
        <p:spPr>
          <a:xfrm>
            <a:off x="11542471" y="6199632"/>
            <a:ext cx="155448" cy="0"/>
          </a:xfrm>
          <a:prstGeom prst="line">
            <a:avLst/>
          </a:prstGeom>
          <a:noFill/>
          <a:ln w="15875">
            <a:solidFill>
              <a:schemeClr val="accent1"/>
            </a:solidFill>
            <a:prstDash val="solid"/>
          </a:ln>
        </p:spPr>
      </p:sp>
      <p:sp>
        <p:nvSpPr>
          <p:cNvPr id="28" name="Shape 25"/>
          <p:cNvSpPr/>
          <p:nvPr/>
        </p:nvSpPr>
        <p:spPr>
          <a:xfrm>
            <a:off x="11697919" y="6044184"/>
            <a:ext cx="0" cy="155448"/>
          </a:xfrm>
          <a:prstGeom prst="line">
            <a:avLst/>
          </a:prstGeom>
          <a:noFill/>
          <a:ln w="15875">
            <a:solidFill>
              <a:schemeClr val="accent1"/>
            </a:solidFill>
            <a:prstDash val="solid"/>
          </a:ln>
        </p:spPr>
      </p:sp>
      <p:sp>
        <p:nvSpPr>
          <p:cNvPr id="29" name="Shape 26"/>
          <p:cNvSpPr/>
          <p:nvPr/>
        </p:nvSpPr>
        <p:spPr>
          <a:xfrm>
            <a:off x="11076127" y="2633472"/>
            <a:ext cx="274320" cy="201168"/>
          </a:xfrm>
          <a:prstGeom prst="rect">
            <a:avLst/>
          </a:prstGeom>
          <a:solidFill>
            <a:schemeClr val="bg1">
              <a:alpha val="0"/>
            </a:schemeClr>
          </a:solidFill>
          <a:ln w="12700">
            <a:solidFill>
              <a:srgbClr val="8B9598"/>
            </a:solidFill>
            <a:prstDash val="dash"/>
          </a:ln>
        </p:spPr>
      </p:sp>
      <p:sp>
        <p:nvSpPr>
          <p:cNvPr id="30" name="Text 27"/>
          <p:cNvSpPr txBox="1"/>
          <p:nvPr/>
        </p:nvSpPr>
        <p:spPr>
          <a:xfrm>
            <a:off x="6080760" y="2615184"/>
            <a:ext cx="4785055" cy="274320"/>
          </a:xfrm>
          <a:prstGeom prst="rect">
            <a:avLst/>
          </a:prstGeom>
          <a:noFill/>
          <a:ln/>
        </p:spPr>
        <p:txBody>
          <a:bodyPr wrap="square" lIns="0" tIns="0" rIns="0" bIns="0" rtlCol="0" anchor="t"/>
          <a:lstStyle/>
          <a:p>
            <a:pPr indent="0" marL="0">
              <a:buNone/>
            </a:pPr>
            <a:r>
              <a:rPr lang="es-CL" altLang="en-US" sz="1600" spc="100" kern="0" dirty="0">
                <a:solidFill>
                  <a:schemeClr val="accent1"/>
                </a:solidFill>
                <a:latin typeface="IBM Plex Mono" pitchFamily="34" charset="0"/>
                <a:ea typeface="IBM Plex Mono" pitchFamily="34" charset="-122"/>
                <a:cs typeface="IBM Plex Mono" pitchFamily="34" charset="-120"/>
              </a:rPr>
              <a:t>C01 · INDICADOR CENTRAL DE CLIENTES</a:t>
            </a:r>
            <a:endParaRPr lang="es-CL" sz="1600" dirty="0"/>
          </a:p>
        </p:txBody>
      </p:sp>
      <p:sp>
        <p:nvSpPr>
          <p:cNvPr id="31" name="Text 28"/>
          <p:cNvSpPr txBox="1"/>
          <p:nvPr/>
        </p:nvSpPr>
        <p:spPr>
          <a:xfrm>
            <a:off x="6126480" y="3172968"/>
            <a:ext cx="5150815" cy="1005840"/>
          </a:xfrm>
          <a:prstGeom prst="rect">
            <a:avLst/>
          </a:prstGeom>
          <a:noFill/>
          <a:ln/>
        </p:spPr>
        <p:txBody>
          <a:bodyPr wrap="square" lIns="0" tIns="0" rIns="0" bIns="0" rtlCol="0" anchor="ctr"/>
          <a:lstStyle/>
          <a:p>
            <a:pPr algn="ctr" indent="0" marL="0">
              <a:buNone/>
            </a:pPr>
            <a:r>
              <a:rPr lang="es-CL" altLang="en-US" sz="2800" b="1" dirty="0">
                <a:solidFill>
                  <a:schemeClr val="tx1"/>
                </a:solidFill>
                <a:latin typeface="Figtree" pitchFamily="34" charset="0"/>
                <a:ea typeface="Figtree" pitchFamily="34" charset="-122"/>
                <a:cs typeface="Figtree" pitchFamily="34" charset="-120"/>
              </a:rPr>
              <a:t>Clientes con informe de consumo antes y después</a:t>
            </a:r>
            <a:endParaRPr lang="es-CL" sz="2800" dirty="0"/>
          </a:p>
        </p:txBody>
      </p:sp>
      <p:sp>
        <p:nvSpPr>
          <p:cNvPr id="32" name="Shape 29"/>
          <p:cNvSpPr/>
          <p:nvPr/>
        </p:nvSpPr>
        <p:spPr>
          <a:xfrm>
            <a:off x="6309360" y="4297680"/>
            <a:ext cx="4785055" cy="0"/>
          </a:xfrm>
          <a:prstGeom prst="line">
            <a:avLst/>
          </a:prstGeom>
          <a:noFill/>
          <a:ln w="31750">
            <a:solidFill>
              <a:schemeClr val="accent1"/>
            </a:solidFill>
            <a:prstDash val="solid"/>
          </a:ln>
        </p:spPr>
      </p:sp>
      <p:sp>
        <p:nvSpPr>
          <p:cNvPr id="33" name="Text 30"/>
          <p:cNvSpPr txBox="1"/>
          <p:nvPr/>
        </p:nvSpPr>
        <p:spPr>
          <a:xfrm>
            <a:off x="6126480" y="4425696"/>
            <a:ext cx="5150815" cy="548640"/>
          </a:xfrm>
          <a:prstGeom prst="rect">
            <a:avLst/>
          </a:prstGeom>
          <a:noFill/>
          <a:ln/>
        </p:spPr>
        <p:txBody>
          <a:bodyPr wrap="square" lIns="0" tIns="0" rIns="0" bIns="0" rtlCol="0" anchor="ctr"/>
          <a:lstStyle/>
          <a:p>
            <a:pPr algn="ctr" indent="0" marL="0">
              <a:buNone/>
            </a:pPr>
            <a:r>
              <a:rPr lang="es-CL" altLang="en-US" sz="2800" dirty="0">
                <a:solidFill>
                  <a:schemeClr val="tx1"/>
                </a:solidFill>
                <a:latin typeface="Figtree" pitchFamily="34" charset="0"/>
                <a:ea typeface="Figtree" pitchFamily="34" charset="-122"/>
                <a:cs typeface="Figtree" pitchFamily="34" charset="-120"/>
              </a:rPr>
              <a:t>Clientes intervenidos</a:t>
            </a:r>
            <a:endParaRPr lang="es-CL" sz="2800" dirty="0"/>
          </a:p>
        </p:txBody>
      </p:sp>
      <p:sp>
        <p:nvSpPr>
          <p:cNvPr id="34" name="Text 31"/>
          <p:cNvSpPr txBox="1"/>
          <p:nvPr/>
        </p:nvSpPr>
        <p:spPr>
          <a:xfrm>
            <a:off x="6126480" y="5321808"/>
            <a:ext cx="5150815" cy="457200"/>
          </a:xfrm>
          <a:prstGeom prst="rect">
            <a:avLst/>
          </a:prstGeom>
          <a:noFill/>
          <a:ln/>
        </p:spPr>
        <p:txBody>
          <a:bodyPr wrap="square" lIns="0" tIns="0" rIns="0" bIns="0" rtlCol="0" anchor="ctr"/>
          <a:lstStyle/>
          <a:p>
            <a:pPr algn="ctr" indent="0" marL="0">
              <a:buNone/>
            </a:pPr>
            <a:r>
              <a:rPr lang="es-CL" altLang="en-US" sz="2400" i="1" dirty="0">
                <a:solidFill>
                  <a:schemeClr val="accent1"/>
                </a:solidFill>
                <a:latin typeface="Instrument Serif" pitchFamily="34" charset="0"/>
                <a:ea typeface="Instrument Serif" pitchFamily="34" charset="-122"/>
                <a:cs typeface="Instrument Serif" pitchFamily="34" charset="-120"/>
              </a:rPr>
              <a:t>en condiciones comparables</a:t>
            </a:r>
            <a:endParaRPr lang="es-CL" sz="2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MAPA ESTRATÉGICO · CAUSA Y EFECTO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OBJETIVO CAUSA EL SIGUIENTE:</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del técnico al EVA.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de Lumine actualizado (Fases 1 y 2); Excel de la Solemne 2, hoja MATRIZ_CMI; módulos 2 y 3 del curso. Cada flecha es una hipótesis por verificar.</a:t>
            </a:r>
            <a:endParaRPr lang="es-CL" sz="1100" dirty="0"/>
          </a:p>
        </p:txBody>
      </p:sp>
      <p:sp>
        <p:nvSpPr>
          <p:cNvPr id="5" name="Text 3"/>
          <p:cNvSpPr txBox="1"/>
          <p:nvPr/>
        </p:nvSpPr>
        <p:spPr>
          <a:xfrm>
            <a:off x="9308795" y="841248"/>
            <a:ext cx="2334260" cy="274320"/>
          </a:xfrm>
          <a:prstGeom prst="rect">
            <a:avLst/>
          </a:prstGeom>
          <a:noFill/>
          <a:ln/>
        </p:spPr>
        <p:txBody>
          <a:bodyPr wrap="square" lIns="0" tIns="0" rIns="0" bIns="0" rtlCol="0" anchor="ctr"/>
          <a:lstStyle/>
          <a:p>
            <a:pPr indent="0" marL="0">
              <a:buNone/>
            </a:pPr>
            <a:r>
              <a:rPr lang="es-CL" altLang="en-US" sz="1200" spc="50" kern="0" dirty="0">
                <a:solidFill>
                  <a:srgbClr val="F87171"/>
                </a:solidFill>
                <a:latin typeface="IBM Plex Mono" pitchFamily="34" charset="0"/>
                <a:ea typeface="IBM Plex Mono" pitchFamily="34" charset="-122"/>
                <a:cs typeface="IBM Plex Mono" pitchFamily="34" charset="-120"/>
              </a:rPr>
              <a:t>HITO CRÍTICO PENDIENTE</a:t>
            </a:r>
            <a:endParaRPr lang="es-CL" sz="1200" dirty="0"/>
          </a:p>
        </p:txBody>
      </p:sp>
      <p:sp>
        <p:nvSpPr>
          <p:cNvPr id="6" name="Shape 4"/>
          <p:cNvSpPr/>
          <p:nvPr/>
        </p:nvSpPr>
        <p:spPr>
          <a:xfrm>
            <a:off x="8997899" y="896112"/>
            <a:ext cx="219456" cy="164592"/>
          </a:xfrm>
          <a:prstGeom prst="rect">
            <a:avLst/>
          </a:prstGeom>
          <a:solidFill>
            <a:schemeClr val="bg1">
              <a:alpha val="0"/>
            </a:schemeClr>
          </a:solidFill>
          <a:ln w="22225">
            <a:solidFill>
              <a:srgbClr val="F87171"/>
            </a:solidFill>
            <a:prstDash val="solid"/>
          </a:ln>
        </p:spPr>
      </p:sp>
      <p:sp>
        <p:nvSpPr>
          <p:cNvPr id="7" name="Text 5"/>
          <p:cNvSpPr txBox="1"/>
          <p:nvPr/>
        </p:nvSpPr>
        <p:spPr>
          <a:xfrm>
            <a:off x="7651445" y="841248"/>
            <a:ext cx="1062990" cy="274320"/>
          </a:xfrm>
          <a:prstGeom prst="rect">
            <a:avLst/>
          </a:prstGeom>
          <a:noFill/>
          <a:ln/>
        </p:spPr>
        <p:txBody>
          <a:bodyPr wrap="square" lIns="0" tIns="0" rIns="0" bIns="0" rtlCol="0" anchor="ctr"/>
          <a:lstStyle/>
          <a:p>
            <a:pPr indent="0" marL="0">
              <a:buNone/>
            </a:pPr>
            <a:r>
              <a:rPr lang="es-CL" altLang="en-US" sz="1200" spc="50" kern="0" dirty="0">
                <a:solidFill>
                  <a:srgbClr val="8B9598"/>
                </a:solidFill>
                <a:latin typeface="IBM Plex Mono" pitchFamily="34" charset="0"/>
                <a:ea typeface="IBM Plex Mono" pitchFamily="34" charset="-122"/>
                <a:cs typeface="IBM Plex Mono" pitchFamily="34" charset="-120"/>
              </a:rPr>
              <a:t>SIN MEDIR</a:t>
            </a:r>
            <a:endParaRPr lang="es-CL" sz="1200" dirty="0"/>
          </a:p>
        </p:txBody>
      </p:sp>
      <p:sp>
        <p:nvSpPr>
          <p:cNvPr id="8" name="Shape 6"/>
          <p:cNvSpPr/>
          <p:nvPr/>
        </p:nvSpPr>
        <p:spPr>
          <a:xfrm>
            <a:off x="7340549" y="896112"/>
            <a:ext cx="219456" cy="164592"/>
          </a:xfrm>
          <a:prstGeom prst="rect">
            <a:avLst/>
          </a:prstGeom>
          <a:solidFill>
            <a:schemeClr val="bg1">
              <a:alpha val="0"/>
            </a:schemeClr>
          </a:solidFill>
          <a:ln w="12700">
            <a:solidFill>
              <a:srgbClr val="8B9598"/>
            </a:solidFill>
            <a:prstDash val="dash"/>
          </a:ln>
        </p:spPr>
      </p:sp>
      <p:sp>
        <p:nvSpPr>
          <p:cNvPr id="9" name="Shape 7"/>
          <p:cNvSpPr/>
          <p:nvPr/>
        </p:nvSpPr>
        <p:spPr>
          <a:xfrm>
            <a:off x="548640" y="2359152"/>
            <a:ext cx="0" cy="548640"/>
          </a:xfrm>
          <a:prstGeom prst="line">
            <a:avLst/>
          </a:prstGeom>
          <a:noFill/>
          <a:ln w="25400">
            <a:solidFill>
              <a:schemeClr val="accent1"/>
            </a:solidFill>
            <a:prstDash val="solid"/>
          </a:ln>
        </p:spPr>
      </p:sp>
      <p:sp>
        <p:nvSpPr>
          <p:cNvPr id="10" name="Text 8"/>
          <p:cNvSpPr txBox="1"/>
          <p:nvPr/>
        </p:nvSpPr>
        <p:spPr>
          <a:xfrm>
            <a:off x="694944" y="2359152"/>
            <a:ext cx="1645920" cy="548640"/>
          </a:xfrm>
          <a:prstGeom prst="rect">
            <a:avLst/>
          </a:prstGeom>
          <a:noFill/>
          <a:ln/>
        </p:spPr>
        <p:txBody>
          <a:bodyPr wrap="square" lIns="0" tIns="0" rIns="0" bIns="0" rtlCol="0" anchor="ctr"/>
          <a:lstStyle/>
          <a:p>
            <a:pPr indent="0" marL="0">
              <a:buNone/>
            </a:pPr>
            <a:r>
              <a:rPr lang="es-CL" altLang="en-US" sz="1400" spc="100" kern="0" dirty="0">
                <a:solidFill>
                  <a:schemeClr val="tx1"/>
                </a:solidFill>
                <a:latin typeface="IBM Plex Mono" pitchFamily="34" charset="0"/>
                <a:ea typeface="IBM Plex Mono" pitchFamily="34" charset="-122"/>
                <a:cs typeface="IBM Plex Mono" pitchFamily="34" charset="-120"/>
              </a:rPr>
              <a:t>FINANCIERA</a:t>
            </a:r>
            <a:endParaRPr lang="es-CL" sz="1400" dirty="0"/>
          </a:p>
        </p:txBody>
      </p:sp>
      <p:sp>
        <p:nvSpPr>
          <p:cNvPr id="11" name="Shape 9"/>
          <p:cNvSpPr/>
          <p:nvPr/>
        </p:nvSpPr>
        <p:spPr>
          <a:xfrm>
            <a:off x="548640" y="3200400"/>
            <a:ext cx="0" cy="1389888"/>
          </a:xfrm>
          <a:prstGeom prst="line">
            <a:avLst/>
          </a:prstGeom>
          <a:noFill/>
          <a:ln w="25400">
            <a:solidFill>
              <a:schemeClr val="accent1"/>
            </a:solidFill>
            <a:prstDash val="solid"/>
          </a:ln>
        </p:spPr>
      </p:sp>
      <p:sp>
        <p:nvSpPr>
          <p:cNvPr id="12" name="Text 10"/>
          <p:cNvSpPr txBox="1"/>
          <p:nvPr/>
        </p:nvSpPr>
        <p:spPr>
          <a:xfrm>
            <a:off x="694944" y="3200400"/>
            <a:ext cx="1645920" cy="1389888"/>
          </a:xfrm>
          <a:prstGeom prst="rect">
            <a:avLst/>
          </a:prstGeom>
          <a:noFill/>
          <a:ln/>
        </p:spPr>
        <p:txBody>
          <a:bodyPr wrap="square" lIns="0" tIns="0" rIns="0" bIns="0" rtlCol="0" anchor="ctr"/>
          <a:lstStyle/>
          <a:p>
            <a:pPr indent="0" marL="0">
              <a:buNone/>
            </a:pPr>
            <a:r>
              <a:rPr lang="es-CL" altLang="en-US" sz="1400" spc="100" kern="0" dirty="0">
                <a:solidFill>
                  <a:schemeClr val="tx1"/>
                </a:solidFill>
                <a:latin typeface="IBM Plex Mono" pitchFamily="34" charset="0"/>
                <a:ea typeface="IBM Plex Mono" pitchFamily="34" charset="-122"/>
                <a:cs typeface="IBM Plex Mono" pitchFamily="34" charset="-120"/>
              </a:rPr>
              <a:t>CLIENTES</a:t>
            </a:r>
            <a:endParaRPr lang="es-CL" sz="1400" dirty="0"/>
          </a:p>
        </p:txBody>
      </p:sp>
      <p:sp>
        <p:nvSpPr>
          <p:cNvPr id="13" name="Shape 11"/>
          <p:cNvSpPr/>
          <p:nvPr/>
        </p:nvSpPr>
        <p:spPr>
          <a:xfrm>
            <a:off x="548640" y="4882896"/>
            <a:ext cx="0" cy="548640"/>
          </a:xfrm>
          <a:prstGeom prst="line">
            <a:avLst/>
          </a:prstGeom>
          <a:noFill/>
          <a:ln w="25400">
            <a:solidFill>
              <a:schemeClr val="accent1"/>
            </a:solidFill>
            <a:prstDash val="solid"/>
          </a:ln>
        </p:spPr>
      </p:sp>
      <p:sp>
        <p:nvSpPr>
          <p:cNvPr id="14" name="Text 12"/>
          <p:cNvSpPr txBox="1"/>
          <p:nvPr/>
        </p:nvSpPr>
        <p:spPr>
          <a:xfrm>
            <a:off x="694944" y="4882896"/>
            <a:ext cx="1645920" cy="548640"/>
          </a:xfrm>
          <a:prstGeom prst="rect">
            <a:avLst/>
          </a:prstGeom>
          <a:noFill/>
          <a:ln/>
        </p:spPr>
        <p:txBody>
          <a:bodyPr wrap="square" lIns="0" tIns="0" rIns="0" bIns="0" rtlCol="0" anchor="ctr"/>
          <a:lstStyle/>
          <a:p>
            <a:pPr indent="0" marL="0">
              <a:buNone/>
            </a:pPr>
            <a:r>
              <a:rPr lang="es-CL" altLang="en-US" sz="1400" spc="100" kern="0" dirty="0">
                <a:solidFill>
                  <a:schemeClr val="tx1"/>
                </a:solidFill>
                <a:latin typeface="IBM Plex Mono" pitchFamily="34" charset="0"/>
                <a:ea typeface="IBM Plex Mono" pitchFamily="34" charset="-122"/>
                <a:cs typeface="IBM Plex Mono" pitchFamily="34" charset="-120"/>
              </a:rPr>
              <a:t>PROCESOS</a:t>
            </a:r>
            <a:endParaRPr lang="es-CL" sz="1400" dirty="0"/>
          </a:p>
        </p:txBody>
      </p:sp>
      <p:sp>
        <p:nvSpPr>
          <p:cNvPr id="15" name="Shape 13"/>
          <p:cNvSpPr/>
          <p:nvPr/>
        </p:nvSpPr>
        <p:spPr>
          <a:xfrm>
            <a:off x="548640" y="5724144"/>
            <a:ext cx="0" cy="548640"/>
          </a:xfrm>
          <a:prstGeom prst="line">
            <a:avLst/>
          </a:prstGeom>
          <a:noFill/>
          <a:ln w="25400">
            <a:solidFill>
              <a:schemeClr val="accent1"/>
            </a:solidFill>
            <a:prstDash val="solid"/>
          </a:ln>
        </p:spPr>
      </p:sp>
      <p:sp>
        <p:nvSpPr>
          <p:cNvPr id="16" name="Text 14"/>
          <p:cNvSpPr txBox="1"/>
          <p:nvPr/>
        </p:nvSpPr>
        <p:spPr>
          <a:xfrm>
            <a:off x="694944" y="5724144"/>
            <a:ext cx="1645920" cy="548640"/>
          </a:xfrm>
          <a:prstGeom prst="rect">
            <a:avLst/>
          </a:prstGeom>
          <a:noFill/>
          <a:ln/>
        </p:spPr>
        <p:txBody>
          <a:bodyPr wrap="square" lIns="0" tIns="0" rIns="0" bIns="0" rtlCol="0" anchor="ctr"/>
          <a:lstStyle/>
          <a:p>
            <a:pPr indent="0" marL="0">
              <a:buNone/>
            </a:pPr>
            <a:r>
              <a:rPr lang="es-CL" altLang="en-US" sz="1400" spc="100" kern="0" dirty="0">
                <a:solidFill>
                  <a:schemeClr val="tx1"/>
                </a:solidFill>
                <a:latin typeface="IBM Plex Mono" pitchFamily="34" charset="0"/>
                <a:ea typeface="IBM Plex Mono" pitchFamily="34" charset="-122"/>
                <a:cs typeface="IBM Plex Mono" pitchFamily="34" charset="-120"/>
              </a:rPr>
              <a:t>APRENDIZAJE</a:t>
            </a:r>
            <a:endParaRPr lang="es-CL" sz="1400" dirty="0"/>
          </a:p>
        </p:txBody>
      </p:sp>
      <p:pic>
        <p:nvPicPr>
          <p:cNvPr id="17" name="Image 0" descr="C:\Users\Usuario\Documents\GitHub\lumine\solemne-2\generador\assets\brillo.png">    </p:cNvPr>
          <p:cNvPicPr>
            <a:picLocks noChangeAspect="1"/>
          </p:cNvPicPr>
          <p:nvPr/>
        </p:nvPicPr>
        <p:blipFill>
          <a:blip r:embed="rId1"/>
          <a:stretch>
            <a:fillRect/>
          </a:stretch>
        </p:blipFill>
        <p:spPr>
          <a:xfrm>
            <a:off x="4370832" y="2103120"/>
            <a:ext cx="5230368" cy="1060704"/>
          </a:xfrm>
          <a:prstGeom prst="rect">
            <a:avLst/>
          </a:prstGeom>
        </p:spPr>
      </p:pic>
      <p:sp>
        <p:nvSpPr>
          <p:cNvPr id="18" name="Shape 15"/>
          <p:cNvSpPr/>
          <p:nvPr/>
        </p:nvSpPr>
        <p:spPr>
          <a:xfrm>
            <a:off x="4736592" y="2359152"/>
            <a:ext cx="4498848" cy="548640"/>
          </a:xfrm>
          <a:prstGeom prst="rect">
            <a:avLst/>
          </a:prstGeom>
          <a:solidFill>
            <a:srgbClr val="0B1A22"/>
          </a:solidFill>
          <a:ln w="15875">
            <a:solidFill>
              <a:schemeClr val="accent1"/>
            </a:solidFill>
            <a:prstDash val="solid"/>
          </a:ln>
        </p:spPr>
      </p:sp>
      <p:sp>
        <p:nvSpPr>
          <p:cNvPr id="19" name="Shape 16"/>
          <p:cNvSpPr/>
          <p:nvPr/>
        </p:nvSpPr>
        <p:spPr>
          <a:xfrm>
            <a:off x="4681728" y="2304288"/>
            <a:ext cx="155448" cy="0"/>
          </a:xfrm>
          <a:prstGeom prst="line">
            <a:avLst/>
          </a:prstGeom>
          <a:noFill/>
          <a:ln w="15875">
            <a:solidFill>
              <a:schemeClr val="accent1"/>
            </a:solidFill>
            <a:prstDash val="solid"/>
          </a:ln>
        </p:spPr>
      </p:sp>
      <p:sp>
        <p:nvSpPr>
          <p:cNvPr id="20" name="Shape 17"/>
          <p:cNvSpPr/>
          <p:nvPr/>
        </p:nvSpPr>
        <p:spPr>
          <a:xfrm>
            <a:off x="4681728" y="2304288"/>
            <a:ext cx="0" cy="155448"/>
          </a:xfrm>
          <a:prstGeom prst="line">
            <a:avLst/>
          </a:prstGeom>
          <a:noFill/>
          <a:ln w="15875">
            <a:solidFill>
              <a:schemeClr val="accent1"/>
            </a:solidFill>
            <a:prstDash val="solid"/>
          </a:ln>
        </p:spPr>
      </p:sp>
      <p:sp>
        <p:nvSpPr>
          <p:cNvPr id="21" name="Shape 18"/>
          <p:cNvSpPr/>
          <p:nvPr/>
        </p:nvSpPr>
        <p:spPr>
          <a:xfrm>
            <a:off x="9134856" y="2304288"/>
            <a:ext cx="155448" cy="0"/>
          </a:xfrm>
          <a:prstGeom prst="line">
            <a:avLst/>
          </a:prstGeom>
          <a:noFill/>
          <a:ln w="15875">
            <a:solidFill>
              <a:schemeClr val="accent1"/>
            </a:solidFill>
            <a:prstDash val="solid"/>
          </a:ln>
        </p:spPr>
      </p:sp>
      <p:sp>
        <p:nvSpPr>
          <p:cNvPr id="22" name="Shape 19"/>
          <p:cNvSpPr/>
          <p:nvPr/>
        </p:nvSpPr>
        <p:spPr>
          <a:xfrm>
            <a:off x="9290304" y="2304288"/>
            <a:ext cx="0" cy="155448"/>
          </a:xfrm>
          <a:prstGeom prst="line">
            <a:avLst/>
          </a:prstGeom>
          <a:noFill/>
          <a:ln w="15875">
            <a:solidFill>
              <a:schemeClr val="accent1"/>
            </a:solidFill>
            <a:prstDash val="solid"/>
          </a:ln>
        </p:spPr>
      </p:sp>
      <p:sp>
        <p:nvSpPr>
          <p:cNvPr id="23" name="Shape 20"/>
          <p:cNvSpPr/>
          <p:nvPr/>
        </p:nvSpPr>
        <p:spPr>
          <a:xfrm>
            <a:off x="4681728" y="2962656"/>
            <a:ext cx="155448" cy="0"/>
          </a:xfrm>
          <a:prstGeom prst="line">
            <a:avLst/>
          </a:prstGeom>
          <a:noFill/>
          <a:ln w="15875">
            <a:solidFill>
              <a:schemeClr val="accent1"/>
            </a:solidFill>
            <a:prstDash val="solid"/>
          </a:ln>
        </p:spPr>
      </p:sp>
      <p:sp>
        <p:nvSpPr>
          <p:cNvPr id="24" name="Shape 21"/>
          <p:cNvSpPr/>
          <p:nvPr/>
        </p:nvSpPr>
        <p:spPr>
          <a:xfrm>
            <a:off x="4681728" y="2807208"/>
            <a:ext cx="0" cy="155448"/>
          </a:xfrm>
          <a:prstGeom prst="line">
            <a:avLst/>
          </a:prstGeom>
          <a:noFill/>
          <a:ln w="15875">
            <a:solidFill>
              <a:schemeClr val="accent1"/>
            </a:solidFill>
            <a:prstDash val="solid"/>
          </a:ln>
        </p:spPr>
      </p:sp>
      <p:sp>
        <p:nvSpPr>
          <p:cNvPr id="25" name="Shape 22"/>
          <p:cNvSpPr/>
          <p:nvPr/>
        </p:nvSpPr>
        <p:spPr>
          <a:xfrm>
            <a:off x="9134856" y="2962656"/>
            <a:ext cx="155448" cy="0"/>
          </a:xfrm>
          <a:prstGeom prst="line">
            <a:avLst/>
          </a:prstGeom>
          <a:noFill/>
          <a:ln w="15875">
            <a:solidFill>
              <a:schemeClr val="accent1"/>
            </a:solidFill>
            <a:prstDash val="solid"/>
          </a:ln>
        </p:spPr>
      </p:sp>
      <p:sp>
        <p:nvSpPr>
          <p:cNvPr id="26" name="Shape 23"/>
          <p:cNvSpPr/>
          <p:nvPr/>
        </p:nvSpPr>
        <p:spPr>
          <a:xfrm>
            <a:off x="9290304" y="2807208"/>
            <a:ext cx="0" cy="155448"/>
          </a:xfrm>
          <a:prstGeom prst="line">
            <a:avLst/>
          </a:prstGeom>
          <a:noFill/>
          <a:ln w="15875">
            <a:solidFill>
              <a:schemeClr val="accent1"/>
            </a:solidFill>
            <a:prstDash val="solid"/>
          </a:ln>
        </p:spPr>
      </p:sp>
      <p:sp>
        <p:nvSpPr>
          <p:cNvPr id="27" name="Shape 24"/>
          <p:cNvSpPr/>
          <p:nvPr/>
        </p:nvSpPr>
        <p:spPr>
          <a:xfrm>
            <a:off x="4846320" y="2487168"/>
            <a:ext cx="530352" cy="292608"/>
          </a:xfrm>
          <a:prstGeom prst="rect">
            <a:avLst/>
          </a:prstGeom>
          <a:solidFill>
            <a:schemeClr val="accent1"/>
          </a:solidFill>
          <a:ln/>
        </p:spPr>
      </p:sp>
      <p:sp>
        <p:nvSpPr>
          <p:cNvPr id="28" name="Text 25"/>
          <p:cNvSpPr txBox="1"/>
          <p:nvPr/>
        </p:nvSpPr>
        <p:spPr>
          <a:xfrm>
            <a:off x="4846320" y="2487168"/>
            <a:ext cx="530352" cy="292608"/>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F01</a:t>
            </a:r>
            <a:endParaRPr lang="es-CL" sz="1300" dirty="0"/>
          </a:p>
        </p:txBody>
      </p:sp>
      <p:sp>
        <p:nvSpPr>
          <p:cNvPr id="29" name="Text 26"/>
          <p:cNvSpPr txBox="1"/>
          <p:nvPr/>
        </p:nvSpPr>
        <p:spPr>
          <a:xfrm>
            <a:off x="5486400" y="2359152"/>
            <a:ext cx="3675888" cy="548640"/>
          </a:xfrm>
          <a:prstGeom prst="rect">
            <a:avLst/>
          </a:prstGeom>
          <a:noFill/>
          <a:ln/>
        </p:spPr>
        <p:txBody>
          <a:bodyPr wrap="square" lIns="0" tIns="0" rIns="0" bIns="0" rtlCol="0" anchor="ctr"/>
          <a:lstStyle/>
          <a:p>
            <a:pPr indent="0" marL="0">
              <a:lnSpc>
                <a:spcPct val="88000"/>
              </a:lnSpc>
              <a:buNone/>
            </a:pPr>
            <a:r>
              <a:rPr lang="es-CL" altLang="en-US" sz="1600" b="1" dirty="0">
                <a:solidFill>
                  <a:schemeClr val="tx1"/>
                </a:solidFill>
                <a:latin typeface="Figtree" pitchFamily="34" charset="0"/>
                <a:ea typeface="Figtree" pitchFamily="34" charset="-122"/>
                <a:cs typeface="Figtree" pitchFamily="34" charset="-120"/>
              </a:rPr>
              <a:t>EVA &gt; 0: rentabilidad sobre el costo de capital</a:t>
            </a:r>
            <a:endParaRPr lang="es-CL" sz="1600" dirty="0"/>
          </a:p>
        </p:txBody>
      </p:sp>
      <p:sp>
        <p:nvSpPr>
          <p:cNvPr id="30" name="Shape 27"/>
          <p:cNvSpPr/>
          <p:nvPr/>
        </p:nvSpPr>
        <p:spPr>
          <a:xfrm>
            <a:off x="2331720" y="3200400"/>
            <a:ext cx="9308592" cy="548640"/>
          </a:xfrm>
          <a:prstGeom prst="rect">
            <a:avLst/>
          </a:prstGeom>
          <a:solidFill>
            <a:schemeClr val="bg2"/>
          </a:solidFill>
          <a:ln w="12700">
            <a:solidFill>
              <a:schemeClr val="accent1"/>
            </a:solidFill>
            <a:prstDash val="solid"/>
          </a:ln>
        </p:spPr>
      </p:sp>
      <p:sp>
        <p:nvSpPr>
          <p:cNvPr id="31" name="Text 28"/>
          <p:cNvSpPr txBox="1"/>
          <p:nvPr/>
        </p:nvSpPr>
        <p:spPr>
          <a:xfrm>
            <a:off x="2331720" y="3200400"/>
            <a:ext cx="9308592" cy="548640"/>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Figtree" pitchFamily="34" charset="0"/>
                <a:ea typeface="Figtree" pitchFamily="34" charset="-122"/>
                <a:cs typeface="Figtree" pitchFamily="34" charset="-120"/>
              </a:rPr>
              <a:t>Confianza: el cliente valora el resultado</a:t>
            </a:r>
            <a:endParaRPr lang="es-CL" sz="1800" dirty="0"/>
          </a:p>
        </p:txBody>
      </p:sp>
      <p:sp>
        <p:nvSpPr>
          <p:cNvPr id="32" name="Shape 29"/>
          <p:cNvSpPr/>
          <p:nvPr/>
        </p:nvSpPr>
        <p:spPr>
          <a:xfrm>
            <a:off x="2331720" y="4041648"/>
            <a:ext cx="4498848" cy="548640"/>
          </a:xfrm>
          <a:prstGeom prst="rect">
            <a:avLst/>
          </a:prstGeom>
          <a:solidFill>
            <a:schemeClr val="bg2"/>
          </a:solidFill>
          <a:ln w="12700">
            <a:solidFill>
              <a:srgbClr val="8B9598"/>
            </a:solidFill>
            <a:prstDash val="dash"/>
          </a:ln>
        </p:spPr>
      </p:sp>
      <p:sp>
        <p:nvSpPr>
          <p:cNvPr id="33" name="Shape 30"/>
          <p:cNvSpPr/>
          <p:nvPr/>
        </p:nvSpPr>
        <p:spPr>
          <a:xfrm>
            <a:off x="2441448" y="4169664"/>
            <a:ext cx="530352" cy="292608"/>
          </a:xfrm>
          <a:prstGeom prst="rect">
            <a:avLst/>
          </a:prstGeom>
          <a:solidFill>
            <a:schemeClr val="accent5"/>
          </a:solidFill>
          <a:ln/>
        </p:spPr>
      </p:sp>
      <p:sp>
        <p:nvSpPr>
          <p:cNvPr id="34" name="Text 31"/>
          <p:cNvSpPr txBox="1"/>
          <p:nvPr/>
        </p:nvSpPr>
        <p:spPr>
          <a:xfrm>
            <a:off x="2441448" y="4169664"/>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C01</a:t>
            </a:r>
            <a:endParaRPr lang="es-CL" sz="1300" dirty="0"/>
          </a:p>
        </p:txBody>
      </p:sp>
      <p:sp>
        <p:nvSpPr>
          <p:cNvPr id="35" name="Text 32"/>
          <p:cNvSpPr txBox="1"/>
          <p:nvPr/>
        </p:nvSpPr>
        <p:spPr>
          <a:xfrm>
            <a:off x="3081528" y="4041648"/>
            <a:ext cx="3675888"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Informe individual antes y después</a:t>
            </a:r>
            <a:endParaRPr lang="es-CL" sz="1600" dirty="0"/>
          </a:p>
        </p:txBody>
      </p:sp>
      <p:sp>
        <p:nvSpPr>
          <p:cNvPr id="36" name="Shape 33"/>
          <p:cNvSpPr/>
          <p:nvPr/>
        </p:nvSpPr>
        <p:spPr>
          <a:xfrm>
            <a:off x="7141464" y="4041648"/>
            <a:ext cx="4498848" cy="548640"/>
          </a:xfrm>
          <a:prstGeom prst="rect">
            <a:avLst/>
          </a:prstGeom>
          <a:solidFill>
            <a:schemeClr val="bg2"/>
          </a:solidFill>
          <a:ln w="22225">
            <a:solidFill>
              <a:srgbClr val="F87171"/>
            </a:solidFill>
            <a:prstDash val="solid"/>
          </a:ln>
        </p:spPr>
      </p:sp>
      <p:sp>
        <p:nvSpPr>
          <p:cNvPr id="37" name="Shape 34"/>
          <p:cNvSpPr/>
          <p:nvPr/>
        </p:nvSpPr>
        <p:spPr>
          <a:xfrm>
            <a:off x="7251192" y="4169664"/>
            <a:ext cx="530352" cy="292608"/>
          </a:xfrm>
          <a:prstGeom prst="rect">
            <a:avLst/>
          </a:prstGeom>
          <a:solidFill>
            <a:schemeClr val="accent5"/>
          </a:solidFill>
          <a:ln/>
        </p:spPr>
      </p:sp>
      <p:sp>
        <p:nvSpPr>
          <p:cNvPr id="38" name="Text 35"/>
          <p:cNvSpPr txBox="1"/>
          <p:nvPr/>
        </p:nvSpPr>
        <p:spPr>
          <a:xfrm>
            <a:off x="7251192" y="4169664"/>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C02</a:t>
            </a:r>
            <a:endParaRPr lang="es-CL" sz="1300" dirty="0"/>
          </a:p>
        </p:txBody>
      </p:sp>
      <p:sp>
        <p:nvSpPr>
          <p:cNvPr id="39" name="Text 36"/>
          <p:cNvSpPr txBox="1"/>
          <p:nvPr/>
        </p:nvSpPr>
        <p:spPr>
          <a:xfrm>
            <a:off x="7891272" y="4041648"/>
            <a:ext cx="3675888"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Respaldo de aseguradora y planta de revisión técnica</a:t>
            </a:r>
            <a:endParaRPr lang="es-CL" sz="1600" dirty="0"/>
          </a:p>
        </p:txBody>
      </p:sp>
      <p:sp>
        <p:nvSpPr>
          <p:cNvPr id="40" name="Shape 37"/>
          <p:cNvSpPr/>
          <p:nvPr/>
        </p:nvSpPr>
        <p:spPr>
          <a:xfrm>
            <a:off x="4736592" y="4882896"/>
            <a:ext cx="2093976" cy="548640"/>
          </a:xfrm>
          <a:prstGeom prst="rect">
            <a:avLst/>
          </a:prstGeom>
          <a:solidFill>
            <a:schemeClr val="bg2"/>
          </a:solidFill>
          <a:ln w="12700">
            <a:solidFill>
              <a:srgbClr val="8B9598"/>
            </a:solidFill>
            <a:prstDash val="dash"/>
          </a:ln>
        </p:spPr>
      </p:sp>
      <p:sp>
        <p:nvSpPr>
          <p:cNvPr id="41" name="Shape 38"/>
          <p:cNvSpPr/>
          <p:nvPr/>
        </p:nvSpPr>
        <p:spPr>
          <a:xfrm>
            <a:off x="4846320" y="5010912"/>
            <a:ext cx="530352" cy="292608"/>
          </a:xfrm>
          <a:prstGeom prst="rect">
            <a:avLst/>
          </a:prstGeom>
          <a:solidFill>
            <a:schemeClr val="accent5"/>
          </a:solidFill>
          <a:ln/>
        </p:spPr>
      </p:sp>
      <p:sp>
        <p:nvSpPr>
          <p:cNvPr id="42" name="Text 39"/>
          <p:cNvSpPr txBox="1"/>
          <p:nvPr/>
        </p:nvSpPr>
        <p:spPr>
          <a:xfrm>
            <a:off x="4846320" y="5010912"/>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P03</a:t>
            </a:r>
            <a:endParaRPr lang="es-CL" sz="1300" dirty="0"/>
          </a:p>
        </p:txBody>
      </p:sp>
      <p:sp>
        <p:nvSpPr>
          <p:cNvPr id="43" name="Text 40"/>
          <p:cNvSpPr txBox="1"/>
          <p:nvPr/>
        </p:nvSpPr>
        <p:spPr>
          <a:xfrm>
            <a:off x="5486400" y="4882896"/>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Actas de seguridad</a:t>
            </a:r>
            <a:endParaRPr lang="es-CL" sz="1600" dirty="0"/>
          </a:p>
        </p:txBody>
      </p:sp>
      <p:sp>
        <p:nvSpPr>
          <p:cNvPr id="44" name="Shape 41"/>
          <p:cNvSpPr/>
          <p:nvPr/>
        </p:nvSpPr>
        <p:spPr>
          <a:xfrm>
            <a:off x="7141464" y="4882896"/>
            <a:ext cx="2093976" cy="548640"/>
          </a:xfrm>
          <a:prstGeom prst="rect">
            <a:avLst/>
          </a:prstGeom>
          <a:solidFill>
            <a:schemeClr val="bg2"/>
          </a:solidFill>
          <a:ln w="22225">
            <a:solidFill>
              <a:srgbClr val="F87171"/>
            </a:solidFill>
            <a:prstDash val="solid"/>
          </a:ln>
        </p:spPr>
      </p:sp>
      <p:sp>
        <p:nvSpPr>
          <p:cNvPr id="45" name="Shape 42"/>
          <p:cNvSpPr/>
          <p:nvPr/>
        </p:nvSpPr>
        <p:spPr>
          <a:xfrm>
            <a:off x="7251192" y="5010912"/>
            <a:ext cx="530352" cy="292608"/>
          </a:xfrm>
          <a:prstGeom prst="rect">
            <a:avLst/>
          </a:prstGeom>
          <a:solidFill>
            <a:schemeClr val="accent5"/>
          </a:solidFill>
          <a:ln/>
        </p:spPr>
      </p:sp>
      <p:sp>
        <p:nvSpPr>
          <p:cNvPr id="46" name="Text 43"/>
          <p:cNvSpPr txBox="1"/>
          <p:nvPr/>
        </p:nvSpPr>
        <p:spPr>
          <a:xfrm>
            <a:off x="7251192" y="5010912"/>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P02</a:t>
            </a:r>
            <a:endParaRPr lang="es-CL" sz="1300" dirty="0"/>
          </a:p>
        </p:txBody>
      </p:sp>
      <p:sp>
        <p:nvSpPr>
          <p:cNvPr id="47" name="Text 44"/>
          <p:cNvSpPr txBox="1"/>
          <p:nvPr/>
        </p:nvSpPr>
        <p:spPr>
          <a:xfrm>
            <a:off x="7891272" y="4882896"/>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Kit homologado</a:t>
            </a:r>
            <a:endParaRPr lang="es-CL" sz="1600" dirty="0"/>
          </a:p>
        </p:txBody>
      </p:sp>
      <p:sp>
        <p:nvSpPr>
          <p:cNvPr id="48" name="Shape 45"/>
          <p:cNvSpPr/>
          <p:nvPr/>
        </p:nvSpPr>
        <p:spPr>
          <a:xfrm>
            <a:off x="9546336" y="4882896"/>
            <a:ext cx="2093976" cy="548640"/>
          </a:xfrm>
          <a:prstGeom prst="rect">
            <a:avLst/>
          </a:prstGeom>
          <a:solidFill>
            <a:schemeClr val="bg2"/>
          </a:solidFill>
          <a:ln w="22225">
            <a:solidFill>
              <a:srgbClr val="F87171"/>
            </a:solidFill>
            <a:prstDash val="solid"/>
          </a:ln>
        </p:spPr>
      </p:sp>
      <p:sp>
        <p:nvSpPr>
          <p:cNvPr id="49" name="Shape 46"/>
          <p:cNvSpPr/>
          <p:nvPr/>
        </p:nvSpPr>
        <p:spPr>
          <a:xfrm>
            <a:off x="9656064" y="5010912"/>
            <a:ext cx="530352" cy="292608"/>
          </a:xfrm>
          <a:prstGeom prst="rect">
            <a:avLst/>
          </a:prstGeom>
          <a:solidFill>
            <a:schemeClr val="accent5"/>
          </a:solidFill>
          <a:ln/>
        </p:spPr>
      </p:sp>
      <p:sp>
        <p:nvSpPr>
          <p:cNvPr id="50" name="Text 47"/>
          <p:cNvSpPr txBox="1"/>
          <p:nvPr/>
        </p:nvSpPr>
        <p:spPr>
          <a:xfrm>
            <a:off x="9656064" y="5010912"/>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P01</a:t>
            </a:r>
            <a:endParaRPr lang="es-CL" sz="1300" dirty="0"/>
          </a:p>
        </p:txBody>
      </p:sp>
      <p:sp>
        <p:nvSpPr>
          <p:cNvPr id="51" name="Text 48"/>
          <p:cNvSpPr txBox="1"/>
          <p:nvPr/>
        </p:nvSpPr>
        <p:spPr>
          <a:xfrm>
            <a:off x="10296144" y="4882896"/>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Autorización sectorial</a:t>
            </a:r>
            <a:endParaRPr lang="es-CL" sz="1600" dirty="0"/>
          </a:p>
        </p:txBody>
      </p:sp>
      <p:sp>
        <p:nvSpPr>
          <p:cNvPr id="52" name="Shape 49"/>
          <p:cNvSpPr/>
          <p:nvPr/>
        </p:nvSpPr>
        <p:spPr>
          <a:xfrm>
            <a:off x="2331720" y="5724144"/>
            <a:ext cx="2093976" cy="548640"/>
          </a:xfrm>
          <a:prstGeom prst="rect">
            <a:avLst/>
          </a:prstGeom>
          <a:solidFill>
            <a:schemeClr val="bg2"/>
          </a:solidFill>
          <a:ln w="22225">
            <a:solidFill>
              <a:srgbClr val="F87171"/>
            </a:solidFill>
            <a:prstDash val="solid"/>
          </a:ln>
        </p:spPr>
      </p:sp>
      <p:sp>
        <p:nvSpPr>
          <p:cNvPr id="53" name="Shape 50"/>
          <p:cNvSpPr/>
          <p:nvPr/>
        </p:nvSpPr>
        <p:spPr>
          <a:xfrm>
            <a:off x="2441448" y="5852160"/>
            <a:ext cx="530352" cy="292608"/>
          </a:xfrm>
          <a:prstGeom prst="rect">
            <a:avLst/>
          </a:prstGeom>
          <a:solidFill>
            <a:schemeClr val="accent5"/>
          </a:solidFill>
          <a:ln/>
        </p:spPr>
      </p:sp>
      <p:sp>
        <p:nvSpPr>
          <p:cNvPr id="54" name="Text 51"/>
          <p:cNvSpPr txBox="1"/>
          <p:nvPr/>
        </p:nvSpPr>
        <p:spPr>
          <a:xfrm>
            <a:off x="2441448" y="5852160"/>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A03</a:t>
            </a:r>
            <a:endParaRPr lang="es-CL" sz="1300" dirty="0"/>
          </a:p>
        </p:txBody>
      </p:sp>
      <p:sp>
        <p:nvSpPr>
          <p:cNvPr id="55" name="Text 52"/>
          <p:cNvSpPr txBox="1"/>
          <p:nvPr/>
        </p:nvSpPr>
        <p:spPr>
          <a:xfrm>
            <a:off x="3081528" y="5724144"/>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Medición comparativa</a:t>
            </a:r>
            <a:endParaRPr lang="es-CL" sz="1600" dirty="0"/>
          </a:p>
        </p:txBody>
      </p:sp>
      <p:sp>
        <p:nvSpPr>
          <p:cNvPr id="56" name="Shape 53"/>
          <p:cNvSpPr/>
          <p:nvPr/>
        </p:nvSpPr>
        <p:spPr>
          <a:xfrm>
            <a:off x="4736592" y="5724144"/>
            <a:ext cx="2093976" cy="548640"/>
          </a:xfrm>
          <a:prstGeom prst="rect">
            <a:avLst/>
          </a:prstGeom>
          <a:solidFill>
            <a:schemeClr val="bg2"/>
          </a:solidFill>
          <a:ln w="12700">
            <a:solidFill>
              <a:srgbClr val="8B9598"/>
            </a:solidFill>
            <a:prstDash val="dash"/>
          </a:ln>
        </p:spPr>
      </p:sp>
      <p:sp>
        <p:nvSpPr>
          <p:cNvPr id="57" name="Shape 54"/>
          <p:cNvSpPr/>
          <p:nvPr/>
        </p:nvSpPr>
        <p:spPr>
          <a:xfrm>
            <a:off x="4846320" y="5852160"/>
            <a:ext cx="530352" cy="292608"/>
          </a:xfrm>
          <a:prstGeom prst="rect">
            <a:avLst/>
          </a:prstGeom>
          <a:solidFill>
            <a:schemeClr val="accent5"/>
          </a:solidFill>
          <a:ln/>
        </p:spPr>
      </p:sp>
      <p:sp>
        <p:nvSpPr>
          <p:cNvPr id="58" name="Text 55"/>
          <p:cNvSpPr txBox="1"/>
          <p:nvPr/>
        </p:nvSpPr>
        <p:spPr>
          <a:xfrm>
            <a:off x="4846320" y="5852160"/>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A02</a:t>
            </a:r>
            <a:endParaRPr lang="es-CL" sz="1300" dirty="0"/>
          </a:p>
        </p:txBody>
      </p:sp>
      <p:sp>
        <p:nvSpPr>
          <p:cNvPr id="59" name="Text 56"/>
          <p:cNvSpPr txBox="1"/>
          <p:nvPr/>
        </p:nvSpPr>
        <p:spPr>
          <a:xfrm>
            <a:off x="5486400" y="5724144"/>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Técnicos habilitados</a:t>
            </a:r>
            <a:endParaRPr lang="es-CL" sz="1600" dirty="0"/>
          </a:p>
        </p:txBody>
      </p:sp>
      <p:sp>
        <p:nvSpPr>
          <p:cNvPr id="60" name="Shape 57"/>
          <p:cNvSpPr/>
          <p:nvPr/>
        </p:nvSpPr>
        <p:spPr>
          <a:xfrm>
            <a:off x="7141464" y="5724144"/>
            <a:ext cx="2093976" cy="548640"/>
          </a:xfrm>
          <a:prstGeom prst="rect">
            <a:avLst/>
          </a:prstGeom>
          <a:solidFill>
            <a:schemeClr val="bg2"/>
          </a:solidFill>
          <a:ln w="12700">
            <a:solidFill>
              <a:srgbClr val="8B9598"/>
            </a:solidFill>
            <a:prstDash val="dash"/>
          </a:ln>
        </p:spPr>
      </p:sp>
      <p:sp>
        <p:nvSpPr>
          <p:cNvPr id="61" name="Shape 58"/>
          <p:cNvSpPr/>
          <p:nvPr/>
        </p:nvSpPr>
        <p:spPr>
          <a:xfrm>
            <a:off x="7251192" y="5852160"/>
            <a:ext cx="530352" cy="292608"/>
          </a:xfrm>
          <a:prstGeom prst="rect">
            <a:avLst/>
          </a:prstGeom>
          <a:solidFill>
            <a:schemeClr val="accent5"/>
          </a:solidFill>
          <a:ln/>
        </p:spPr>
      </p:sp>
      <p:sp>
        <p:nvSpPr>
          <p:cNvPr id="62" name="Text 59"/>
          <p:cNvSpPr txBox="1"/>
          <p:nvPr/>
        </p:nvSpPr>
        <p:spPr>
          <a:xfrm>
            <a:off x="7251192" y="5852160"/>
            <a:ext cx="530352"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A01</a:t>
            </a:r>
            <a:endParaRPr lang="es-CL" sz="1300" dirty="0"/>
          </a:p>
        </p:txBody>
      </p:sp>
      <p:sp>
        <p:nvSpPr>
          <p:cNvPr id="63" name="Text 60"/>
          <p:cNvSpPr txBox="1"/>
          <p:nvPr/>
        </p:nvSpPr>
        <p:spPr>
          <a:xfrm>
            <a:off x="7891272" y="5724144"/>
            <a:ext cx="1271016" cy="548640"/>
          </a:xfrm>
          <a:prstGeom prst="rect">
            <a:avLst/>
          </a:prstGeom>
          <a:noFill/>
          <a:ln/>
        </p:spPr>
        <p:txBody>
          <a:bodyPr wrap="square" lIns="0" tIns="0" rIns="0" bIns="0" rtlCol="0" anchor="ctr"/>
          <a:lstStyle/>
          <a:p>
            <a:pPr indent="0" marL="0">
              <a:lnSpc>
                <a:spcPct val="88000"/>
              </a:lnSpc>
              <a:buNone/>
            </a:pPr>
            <a:r>
              <a:rPr lang="es-CL" altLang="en-US" sz="1600" dirty="0">
                <a:solidFill>
                  <a:schemeClr val="tx1"/>
                </a:solidFill>
                <a:latin typeface="Figtree" pitchFamily="34" charset="0"/>
                <a:ea typeface="Figtree" pitchFamily="34" charset="-122"/>
                <a:cs typeface="Figtree" pitchFamily="34" charset="-120"/>
              </a:rPr>
              <a:t>Biblioteca de calibraciones</a:t>
            </a:r>
            <a:endParaRPr lang="es-CL" sz="1600" dirty="0"/>
          </a:p>
        </p:txBody>
      </p:sp>
      <p:sp>
        <p:nvSpPr>
          <p:cNvPr id="64" name="Shape 61"/>
          <p:cNvSpPr/>
          <p:nvPr/>
        </p:nvSpPr>
        <p:spPr>
          <a:xfrm>
            <a:off x="2660904" y="5724144"/>
            <a:ext cx="0" cy="-1133856"/>
          </a:xfrm>
          <a:prstGeom prst="line">
            <a:avLst/>
          </a:prstGeom>
          <a:noFill/>
          <a:ln w="22225">
            <a:solidFill>
              <a:schemeClr val="accent1"/>
            </a:solidFill>
            <a:prstDash val="solid"/>
            <a:tailEnd type="triangle"/>
          </a:ln>
        </p:spPr>
      </p:sp>
      <p:sp>
        <p:nvSpPr>
          <p:cNvPr id="65" name="Text 62"/>
          <p:cNvSpPr txBox="1"/>
          <p:nvPr/>
        </p:nvSpPr>
        <p:spPr>
          <a:xfrm>
            <a:off x="2770632" y="4882896"/>
            <a:ext cx="1828800" cy="548640"/>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sustenta el informe</a:t>
            </a:r>
            <a:endParaRPr lang="es-CL" sz="1700" dirty="0"/>
          </a:p>
        </p:txBody>
      </p:sp>
      <p:sp>
        <p:nvSpPr>
          <p:cNvPr id="66" name="Shape 63"/>
          <p:cNvSpPr/>
          <p:nvPr/>
        </p:nvSpPr>
        <p:spPr>
          <a:xfrm>
            <a:off x="5065776" y="5724144"/>
            <a:ext cx="0" cy="-292608"/>
          </a:xfrm>
          <a:prstGeom prst="line">
            <a:avLst/>
          </a:prstGeom>
          <a:noFill/>
          <a:ln w="22225">
            <a:solidFill>
              <a:schemeClr val="accent1"/>
            </a:solidFill>
            <a:prstDash val="solid"/>
            <a:tailEnd type="triangle"/>
          </a:ln>
        </p:spPr>
      </p:sp>
      <p:sp>
        <p:nvSpPr>
          <p:cNvPr id="67" name="Text 64"/>
          <p:cNvSpPr txBox="1"/>
          <p:nvPr/>
        </p:nvSpPr>
        <p:spPr>
          <a:xfrm>
            <a:off x="5175504" y="5431536"/>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habilita el control</a:t>
            </a:r>
            <a:endParaRPr lang="es-CL" sz="1700" dirty="0"/>
          </a:p>
        </p:txBody>
      </p:sp>
      <p:sp>
        <p:nvSpPr>
          <p:cNvPr id="68" name="Shape 65"/>
          <p:cNvSpPr/>
          <p:nvPr/>
        </p:nvSpPr>
        <p:spPr>
          <a:xfrm>
            <a:off x="7470648" y="5724144"/>
            <a:ext cx="0" cy="-292608"/>
          </a:xfrm>
          <a:prstGeom prst="line">
            <a:avLst/>
          </a:prstGeom>
          <a:noFill/>
          <a:ln w="22225">
            <a:solidFill>
              <a:schemeClr val="accent1"/>
            </a:solidFill>
            <a:prstDash val="solid"/>
            <a:tailEnd type="triangle"/>
          </a:ln>
        </p:spPr>
      </p:sp>
      <p:sp>
        <p:nvSpPr>
          <p:cNvPr id="69" name="Text 66"/>
          <p:cNvSpPr txBox="1"/>
          <p:nvPr/>
        </p:nvSpPr>
        <p:spPr>
          <a:xfrm>
            <a:off x="7580376" y="5431536"/>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permite homologar</a:t>
            </a:r>
            <a:endParaRPr lang="es-CL" sz="1700" dirty="0"/>
          </a:p>
        </p:txBody>
      </p:sp>
      <p:sp>
        <p:nvSpPr>
          <p:cNvPr id="70" name="Shape 67"/>
          <p:cNvSpPr/>
          <p:nvPr/>
        </p:nvSpPr>
        <p:spPr>
          <a:xfrm>
            <a:off x="5065776" y="4882896"/>
            <a:ext cx="0" cy="-292608"/>
          </a:xfrm>
          <a:prstGeom prst="line">
            <a:avLst/>
          </a:prstGeom>
          <a:noFill/>
          <a:ln w="22225">
            <a:solidFill>
              <a:schemeClr val="accent1"/>
            </a:solidFill>
            <a:prstDash val="solid"/>
            <a:tailEnd type="triangle"/>
          </a:ln>
        </p:spPr>
      </p:sp>
      <p:sp>
        <p:nvSpPr>
          <p:cNvPr id="71" name="Text 68"/>
          <p:cNvSpPr txBox="1"/>
          <p:nvPr/>
        </p:nvSpPr>
        <p:spPr>
          <a:xfrm>
            <a:off x="5175504" y="4590288"/>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trazabilidad</a:t>
            </a:r>
            <a:endParaRPr lang="es-CL" sz="1700" dirty="0"/>
          </a:p>
        </p:txBody>
      </p:sp>
      <p:sp>
        <p:nvSpPr>
          <p:cNvPr id="72" name="Shape 69"/>
          <p:cNvSpPr/>
          <p:nvPr/>
        </p:nvSpPr>
        <p:spPr>
          <a:xfrm>
            <a:off x="7470648" y="4882896"/>
            <a:ext cx="0" cy="-292608"/>
          </a:xfrm>
          <a:prstGeom prst="line">
            <a:avLst/>
          </a:prstGeom>
          <a:noFill/>
          <a:ln w="22225">
            <a:solidFill>
              <a:schemeClr val="accent1"/>
            </a:solidFill>
            <a:prstDash val="solid"/>
            <a:tailEnd type="triangle"/>
          </a:ln>
        </p:spPr>
      </p:sp>
      <p:sp>
        <p:nvSpPr>
          <p:cNvPr id="73" name="Text 70"/>
          <p:cNvSpPr txBox="1"/>
          <p:nvPr/>
        </p:nvSpPr>
        <p:spPr>
          <a:xfrm>
            <a:off x="7580376" y="4590288"/>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kit homologado</a:t>
            </a:r>
            <a:endParaRPr lang="es-CL" sz="1700" dirty="0"/>
          </a:p>
        </p:txBody>
      </p:sp>
      <p:sp>
        <p:nvSpPr>
          <p:cNvPr id="74" name="Shape 71"/>
          <p:cNvSpPr/>
          <p:nvPr/>
        </p:nvSpPr>
        <p:spPr>
          <a:xfrm>
            <a:off x="9875520" y="4882896"/>
            <a:ext cx="0" cy="-292608"/>
          </a:xfrm>
          <a:prstGeom prst="line">
            <a:avLst/>
          </a:prstGeom>
          <a:noFill/>
          <a:ln w="22225">
            <a:solidFill>
              <a:schemeClr val="accent1"/>
            </a:solidFill>
            <a:prstDash val="solid"/>
            <a:tailEnd type="triangle"/>
          </a:ln>
        </p:spPr>
      </p:sp>
      <p:sp>
        <p:nvSpPr>
          <p:cNvPr id="75" name="Text 72"/>
          <p:cNvSpPr txBox="1"/>
          <p:nvPr/>
        </p:nvSpPr>
        <p:spPr>
          <a:xfrm>
            <a:off x="9985248" y="4590288"/>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autoriza operar</a:t>
            </a:r>
            <a:endParaRPr lang="es-CL" sz="1700" dirty="0"/>
          </a:p>
        </p:txBody>
      </p:sp>
      <p:sp>
        <p:nvSpPr>
          <p:cNvPr id="76" name="Shape 73"/>
          <p:cNvSpPr/>
          <p:nvPr/>
        </p:nvSpPr>
        <p:spPr>
          <a:xfrm>
            <a:off x="2660904" y="4041648"/>
            <a:ext cx="0" cy="-292608"/>
          </a:xfrm>
          <a:prstGeom prst="line">
            <a:avLst/>
          </a:prstGeom>
          <a:noFill/>
          <a:ln w="22225">
            <a:solidFill>
              <a:schemeClr val="accent1"/>
            </a:solidFill>
            <a:prstDash val="solid"/>
            <a:tailEnd type="triangle"/>
          </a:ln>
        </p:spPr>
      </p:sp>
      <p:sp>
        <p:nvSpPr>
          <p:cNvPr id="77" name="Text 74"/>
          <p:cNvSpPr txBox="1"/>
          <p:nvPr/>
        </p:nvSpPr>
        <p:spPr>
          <a:xfrm>
            <a:off x="2770632" y="3749040"/>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evidencia</a:t>
            </a:r>
            <a:endParaRPr lang="es-CL" sz="1700" dirty="0"/>
          </a:p>
        </p:txBody>
      </p:sp>
      <p:sp>
        <p:nvSpPr>
          <p:cNvPr id="78" name="Shape 75"/>
          <p:cNvSpPr/>
          <p:nvPr/>
        </p:nvSpPr>
        <p:spPr>
          <a:xfrm>
            <a:off x="7470648" y="4041648"/>
            <a:ext cx="0" cy="-292608"/>
          </a:xfrm>
          <a:prstGeom prst="line">
            <a:avLst/>
          </a:prstGeom>
          <a:noFill/>
          <a:ln w="22225">
            <a:solidFill>
              <a:schemeClr val="accent1"/>
            </a:solidFill>
            <a:prstDash val="solid"/>
            <a:tailEnd type="triangle"/>
          </a:ln>
        </p:spPr>
      </p:sp>
      <p:sp>
        <p:nvSpPr>
          <p:cNvPr id="79" name="Text 76"/>
          <p:cNvSpPr txBox="1"/>
          <p:nvPr/>
        </p:nvSpPr>
        <p:spPr>
          <a:xfrm>
            <a:off x="7580376" y="3749040"/>
            <a:ext cx="18288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respaldo</a:t>
            </a:r>
            <a:endParaRPr lang="es-CL" sz="1700" dirty="0"/>
          </a:p>
        </p:txBody>
      </p:sp>
      <p:sp>
        <p:nvSpPr>
          <p:cNvPr id="80" name="Shape 77"/>
          <p:cNvSpPr/>
          <p:nvPr/>
        </p:nvSpPr>
        <p:spPr>
          <a:xfrm>
            <a:off x="5065776" y="3200400"/>
            <a:ext cx="0" cy="-292608"/>
          </a:xfrm>
          <a:prstGeom prst="line">
            <a:avLst/>
          </a:prstGeom>
          <a:noFill/>
          <a:ln w="22225">
            <a:solidFill>
              <a:schemeClr val="accent1"/>
            </a:solidFill>
            <a:prstDash val="solid"/>
            <a:tailEnd type="triangle"/>
          </a:ln>
        </p:spPr>
      </p:sp>
      <p:sp>
        <p:nvSpPr>
          <p:cNvPr id="81" name="Text 78"/>
          <p:cNvSpPr txBox="1"/>
          <p:nvPr/>
        </p:nvSpPr>
        <p:spPr>
          <a:xfrm>
            <a:off x="5175504" y="2907792"/>
            <a:ext cx="3200400" cy="292608"/>
          </a:xfrm>
          <a:prstGeom prst="rect">
            <a:avLst/>
          </a:prstGeom>
          <a:noFill/>
          <a:ln/>
        </p:spPr>
        <p:txBody>
          <a:bodyPr wrap="square" lIns="0" tIns="0" rIns="0" bIns="0" rtlCol="0" anchor="ctr"/>
          <a:lstStyle/>
          <a:p>
            <a:pPr indent="0" marL="0">
              <a:buNone/>
            </a:pPr>
            <a:r>
              <a:rPr lang="es-CL" altLang="en-US" sz="1700" i="1" dirty="0">
                <a:solidFill>
                  <a:schemeClr val="accent1"/>
                </a:solidFill>
                <a:latin typeface="Instrument Serif" pitchFamily="34" charset="0"/>
                <a:ea typeface="Instrument Serif" pitchFamily="34" charset="-122"/>
                <a:cs typeface="Instrument Serif" pitchFamily="34" charset="-120"/>
              </a:rPr>
              <a:t>valor captado y margen</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PROCESOS · HITOS CRÍTICOS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SIN AUTORIZACIÓN NI HOMOLOGACIÓN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opera, aunque todo esté verde.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Ley N° 21.793 (publicada el 14-01-2026, sin reglamento); Excel de la Solemne 2, hoja MATRIZ_CMI (P01, P02 y P03).</a:t>
            </a:r>
            <a:endParaRPr lang="es-CL" sz="1100" dirty="0"/>
          </a:p>
        </p:txBody>
      </p:sp>
      <p:sp>
        <p:nvSpPr>
          <p:cNvPr id="5" name="Text 3"/>
          <p:cNvSpPr txBox="1"/>
          <p:nvPr/>
        </p:nvSpPr>
        <p:spPr>
          <a:xfrm>
            <a:off x="9308795" y="841248"/>
            <a:ext cx="2334260" cy="274320"/>
          </a:xfrm>
          <a:prstGeom prst="rect">
            <a:avLst/>
          </a:prstGeom>
          <a:noFill/>
          <a:ln/>
        </p:spPr>
        <p:txBody>
          <a:bodyPr wrap="square" lIns="0" tIns="0" rIns="0" bIns="0" rtlCol="0" anchor="ctr"/>
          <a:lstStyle/>
          <a:p>
            <a:pPr indent="0" marL="0">
              <a:buNone/>
            </a:pPr>
            <a:r>
              <a:rPr lang="es-CL" altLang="en-US" sz="1200" spc="50" kern="0" dirty="0">
                <a:solidFill>
                  <a:srgbClr val="F87171"/>
                </a:solidFill>
                <a:latin typeface="IBM Plex Mono" pitchFamily="34" charset="0"/>
                <a:ea typeface="IBM Plex Mono" pitchFamily="34" charset="-122"/>
                <a:cs typeface="IBM Plex Mono" pitchFamily="34" charset="-120"/>
              </a:rPr>
              <a:t>HITO CRÍTICO PENDIENTE</a:t>
            </a:r>
            <a:endParaRPr lang="es-CL" sz="1200" dirty="0"/>
          </a:p>
        </p:txBody>
      </p:sp>
      <p:sp>
        <p:nvSpPr>
          <p:cNvPr id="6" name="Shape 4"/>
          <p:cNvSpPr/>
          <p:nvPr/>
        </p:nvSpPr>
        <p:spPr>
          <a:xfrm>
            <a:off x="8997899" y="896112"/>
            <a:ext cx="219456" cy="164592"/>
          </a:xfrm>
          <a:prstGeom prst="rect">
            <a:avLst/>
          </a:prstGeom>
          <a:solidFill>
            <a:schemeClr val="bg1">
              <a:alpha val="0"/>
            </a:schemeClr>
          </a:solidFill>
          <a:ln w="22225">
            <a:solidFill>
              <a:srgbClr val="F87171"/>
            </a:solidFill>
            <a:prstDash val="solid"/>
          </a:ln>
        </p:spPr>
      </p:sp>
      <p:sp>
        <p:nvSpPr>
          <p:cNvPr id="7" name="Shape 5"/>
          <p:cNvSpPr/>
          <p:nvPr/>
        </p:nvSpPr>
        <p:spPr>
          <a:xfrm>
            <a:off x="548640" y="2441448"/>
            <a:ext cx="2697480" cy="2286000"/>
          </a:xfrm>
          <a:prstGeom prst="rect">
            <a:avLst/>
          </a:prstGeom>
          <a:solidFill>
            <a:schemeClr val="bg2"/>
          </a:solidFill>
          <a:ln w="12700">
            <a:solidFill>
              <a:srgbClr val="8B9598"/>
            </a:solidFill>
            <a:prstDash val="dash"/>
          </a:ln>
        </p:spPr>
      </p:sp>
      <p:sp>
        <p:nvSpPr>
          <p:cNvPr id="8" name="Text 6"/>
          <p:cNvSpPr txBox="1"/>
          <p:nvPr/>
        </p:nvSpPr>
        <p:spPr>
          <a:xfrm>
            <a:off x="777240" y="2660904"/>
            <a:ext cx="2240280"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AUNQUE ESTÉN LISTOS</a:t>
            </a:r>
            <a:endParaRPr lang="es-CL" sz="1300" dirty="0"/>
          </a:p>
        </p:txBody>
      </p:sp>
      <p:sp>
        <p:nvSpPr>
          <p:cNvPr id="9" name="Text 7"/>
          <p:cNvSpPr txBox="1"/>
          <p:nvPr/>
        </p:nvSpPr>
        <p:spPr>
          <a:xfrm>
            <a:off x="777240" y="3081528"/>
            <a:ext cx="2286000" cy="1280160"/>
          </a:xfrm>
          <a:prstGeom prst="rect">
            <a:avLst/>
          </a:prstGeom>
          <a:noFill/>
          <a:ln/>
        </p:spPr>
        <p:txBody>
          <a:bodyPr wrap="square" lIns="0" tIns="0" rIns="0" bIns="0" rtlCol="0" anchor="t"/>
          <a:lstStyle/>
          <a:p>
            <a:pPr indent="0" marL="0">
              <a:buNone/>
            </a:pPr>
            <a:r>
              <a:rPr lang="es-CL" altLang="en-US" sz="2200" dirty="0">
                <a:solidFill>
                  <a:schemeClr val="tx2"/>
                </a:solidFill>
                <a:latin typeface="Figtree" pitchFamily="34" charset="0"/>
                <a:ea typeface="Figtree" pitchFamily="34" charset="-122"/>
                <a:cs typeface="Figtree" pitchFamily="34" charset="-120"/>
              </a:rPr>
              <a:t>Técnicos, biblioteca y clientes</a:t>
            </a:r>
            <a:endParaRPr lang="es-CL" sz="2200" dirty="0"/>
          </a:p>
        </p:txBody>
      </p:sp>
      <p:sp>
        <p:nvSpPr>
          <p:cNvPr id="10" name="Shape 8"/>
          <p:cNvSpPr/>
          <p:nvPr/>
        </p:nvSpPr>
        <p:spPr>
          <a:xfrm>
            <a:off x="3355848" y="3584448"/>
            <a:ext cx="548640" cy="0"/>
          </a:xfrm>
          <a:prstGeom prst="line">
            <a:avLst/>
          </a:prstGeom>
          <a:noFill/>
          <a:ln w="22225">
            <a:solidFill>
              <a:schemeClr val="tx2"/>
            </a:solidFill>
            <a:prstDash val="solid"/>
            <a:tailEnd type="triangle"/>
          </a:ln>
        </p:spPr>
      </p:sp>
      <p:sp>
        <p:nvSpPr>
          <p:cNvPr id="11" name="Shape 9"/>
          <p:cNvSpPr/>
          <p:nvPr/>
        </p:nvSpPr>
        <p:spPr>
          <a:xfrm>
            <a:off x="4023360" y="2441448"/>
            <a:ext cx="4069080" cy="1033272"/>
          </a:xfrm>
          <a:prstGeom prst="rect">
            <a:avLst/>
          </a:prstGeom>
          <a:solidFill>
            <a:srgbClr val="1A0E10"/>
          </a:solidFill>
          <a:ln w="25400">
            <a:solidFill>
              <a:srgbClr val="F87171"/>
            </a:solidFill>
            <a:prstDash val="solid"/>
          </a:ln>
        </p:spPr>
      </p:sp>
      <p:sp>
        <p:nvSpPr>
          <p:cNvPr id="12" name="Shape 10"/>
          <p:cNvSpPr/>
          <p:nvPr/>
        </p:nvSpPr>
        <p:spPr>
          <a:xfrm>
            <a:off x="4251960" y="2756916"/>
            <a:ext cx="658368" cy="402336"/>
          </a:xfrm>
          <a:prstGeom prst="rect">
            <a:avLst/>
          </a:prstGeom>
          <a:solidFill>
            <a:schemeClr val="accent5"/>
          </a:solidFill>
          <a:ln/>
        </p:spPr>
      </p:sp>
      <p:sp>
        <p:nvSpPr>
          <p:cNvPr id="13" name="Text 11"/>
          <p:cNvSpPr txBox="1"/>
          <p:nvPr/>
        </p:nvSpPr>
        <p:spPr>
          <a:xfrm>
            <a:off x="4251960" y="2756916"/>
            <a:ext cx="658368" cy="402336"/>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IBM Plex Mono" pitchFamily="34" charset="0"/>
                <a:ea typeface="IBM Plex Mono" pitchFamily="34" charset="-122"/>
                <a:cs typeface="IBM Plex Mono" pitchFamily="34" charset="-120"/>
              </a:rPr>
              <a:t>P01</a:t>
            </a:r>
            <a:endParaRPr lang="es-CL" sz="1800" dirty="0"/>
          </a:p>
        </p:txBody>
      </p:sp>
      <p:sp>
        <p:nvSpPr>
          <p:cNvPr id="14" name="Text 12"/>
          <p:cNvSpPr txBox="1"/>
          <p:nvPr/>
        </p:nvSpPr>
        <p:spPr>
          <a:xfrm>
            <a:off x="5120640" y="2441448"/>
            <a:ext cx="2834640" cy="1033272"/>
          </a:xfrm>
          <a:prstGeom prst="rect">
            <a:avLst/>
          </a:prstGeom>
          <a:noFill/>
          <a:ln/>
        </p:spPr>
        <p:txBody>
          <a:bodyPr wrap="square" lIns="0" tIns="0" rIns="0" bIns="0" rtlCol="0" anchor="ctr"/>
          <a:lstStyle/>
          <a:p>
            <a:pPr indent="0" marL="0">
              <a:lnSpc>
                <a:spcPct val="95000"/>
              </a:lnSpc>
              <a:buNone/>
            </a:pPr>
            <a:r>
              <a:rPr lang="es-CL" altLang="en-US" sz="2400" b="1" dirty="0">
                <a:solidFill>
                  <a:schemeClr val="tx1"/>
                </a:solidFill>
                <a:latin typeface="Figtree" pitchFamily="34" charset="0"/>
                <a:ea typeface="Figtree" pitchFamily="34" charset="-122"/>
                <a:cs typeface="Figtree" pitchFamily="34" charset="-120"/>
              </a:rPr>
              <a:t>Autorización sectorial</a:t>
            </a:r>
            <a:endParaRPr lang="es-CL" sz="2400" dirty="0"/>
          </a:p>
        </p:txBody>
      </p:sp>
      <p:sp>
        <p:nvSpPr>
          <p:cNvPr id="15" name="Shape 13"/>
          <p:cNvSpPr/>
          <p:nvPr/>
        </p:nvSpPr>
        <p:spPr>
          <a:xfrm>
            <a:off x="4023360" y="3694176"/>
            <a:ext cx="4069080" cy="1033272"/>
          </a:xfrm>
          <a:prstGeom prst="rect">
            <a:avLst/>
          </a:prstGeom>
          <a:solidFill>
            <a:srgbClr val="1A0E10"/>
          </a:solidFill>
          <a:ln w="25400">
            <a:solidFill>
              <a:srgbClr val="F87171"/>
            </a:solidFill>
            <a:prstDash val="solid"/>
          </a:ln>
        </p:spPr>
      </p:sp>
      <p:sp>
        <p:nvSpPr>
          <p:cNvPr id="16" name="Shape 14"/>
          <p:cNvSpPr/>
          <p:nvPr/>
        </p:nvSpPr>
        <p:spPr>
          <a:xfrm>
            <a:off x="4251960" y="4009644"/>
            <a:ext cx="658368" cy="402336"/>
          </a:xfrm>
          <a:prstGeom prst="rect">
            <a:avLst/>
          </a:prstGeom>
          <a:solidFill>
            <a:schemeClr val="accent5"/>
          </a:solidFill>
          <a:ln/>
        </p:spPr>
      </p:sp>
      <p:sp>
        <p:nvSpPr>
          <p:cNvPr id="17" name="Text 15"/>
          <p:cNvSpPr txBox="1"/>
          <p:nvPr/>
        </p:nvSpPr>
        <p:spPr>
          <a:xfrm>
            <a:off x="4251960" y="4009644"/>
            <a:ext cx="658368" cy="402336"/>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IBM Plex Mono" pitchFamily="34" charset="0"/>
                <a:ea typeface="IBM Plex Mono" pitchFamily="34" charset="-122"/>
                <a:cs typeface="IBM Plex Mono" pitchFamily="34" charset="-120"/>
              </a:rPr>
              <a:t>P02</a:t>
            </a:r>
            <a:endParaRPr lang="es-CL" sz="1800" dirty="0"/>
          </a:p>
        </p:txBody>
      </p:sp>
      <p:sp>
        <p:nvSpPr>
          <p:cNvPr id="18" name="Text 16"/>
          <p:cNvSpPr txBox="1"/>
          <p:nvPr/>
        </p:nvSpPr>
        <p:spPr>
          <a:xfrm>
            <a:off x="5120640" y="3694176"/>
            <a:ext cx="2834640" cy="1033272"/>
          </a:xfrm>
          <a:prstGeom prst="rect">
            <a:avLst/>
          </a:prstGeom>
          <a:noFill/>
          <a:ln/>
        </p:spPr>
        <p:txBody>
          <a:bodyPr wrap="square" lIns="0" tIns="0" rIns="0" bIns="0" rtlCol="0" anchor="ctr"/>
          <a:lstStyle/>
          <a:p>
            <a:pPr indent="0" marL="0">
              <a:lnSpc>
                <a:spcPct val="95000"/>
              </a:lnSpc>
              <a:buNone/>
            </a:pPr>
            <a:r>
              <a:rPr lang="es-CL" altLang="en-US" sz="2400" b="1" dirty="0">
                <a:solidFill>
                  <a:schemeClr val="tx1"/>
                </a:solidFill>
                <a:latin typeface="Figtree" pitchFamily="34" charset="0"/>
                <a:ea typeface="Figtree" pitchFamily="34" charset="-122"/>
                <a:cs typeface="Figtree" pitchFamily="34" charset="-120"/>
              </a:rPr>
              <a:t>Primer par modelo-kit homologado</a:t>
            </a:r>
            <a:endParaRPr lang="es-CL" sz="2400" dirty="0"/>
          </a:p>
        </p:txBody>
      </p:sp>
      <p:sp>
        <p:nvSpPr>
          <p:cNvPr id="19" name="Shape 17"/>
          <p:cNvSpPr/>
          <p:nvPr/>
        </p:nvSpPr>
        <p:spPr>
          <a:xfrm>
            <a:off x="8202168" y="3584448"/>
            <a:ext cx="548640" cy="0"/>
          </a:xfrm>
          <a:prstGeom prst="line">
            <a:avLst/>
          </a:prstGeom>
          <a:noFill/>
          <a:ln w="22225">
            <a:solidFill>
              <a:srgbClr val="F87171"/>
            </a:solidFill>
            <a:prstDash val="solid"/>
            <a:tailEnd type="triangle"/>
          </a:ln>
        </p:spPr>
      </p:sp>
      <p:sp>
        <p:nvSpPr>
          <p:cNvPr id="20" name="Shape 18"/>
          <p:cNvSpPr/>
          <p:nvPr/>
        </p:nvSpPr>
        <p:spPr>
          <a:xfrm>
            <a:off x="8869680" y="2441448"/>
            <a:ext cx="2773375" cy="2286000"/>
          </a:xfrm>
          <a:prstGeom prst="rect">
            <a:avLst/>
          </a:prstGeom>
          <a:solidFill>
            <a:schemeClr val="bg1"/>
          </a:solidFill>
          <a:ln w="15875">
            <a:solidFill>
              <a:srgbClr val="F87171"/>
            </a:solidFill>
            <a:prstDash val="dash"/>
          </a:ln>
        </p:spPr>
      </p:sp>
      <p:sp>
        <p:nvSpPr>
          <p:cNvPr id="21" name="Text 19"/>
          <p:cNvSpPr txBox="1"/>
          <p:nvPr/>
        </p:nvSpPr>
        <p:spPr>
          <a:xfrm>
            <a:off x="9052560" y="2898648"/>
            <a:ext cx="2407615" cy="914400"/>
          </a:xfrm>
          <a:prstGeom prst="rect">
            <a:avLst/>
          </a:prstGeom>
          <a:noFill/>
          <a:ln/>
        </p:spPr>
        <p:txBody>
          <a:bodyPr wrap="square" lIns="0" tIns="0" rIns="0" bIns="0" rtlCol="0" anchor="ctr"/>
          <a:lstStyle/>
          <a:p>
            <a:pPr algn="ctr" indent="0" marL="0">
              <a:buNone/>
            </a:pPr>
            <a:r>
              <a:rPr lang="es-CL" altLang="en-US" sz="2400" b="1" dirty="0">
                <a:solidFill>
                  <a:schemeClr val="tx2"/>
                </a:solidFill>
                <a:latin typeface="Figtree" pitchFamily="34" charset="0"/>
                <a:ea typeface="Figtree" pitchFamily="34" charset="-122"/>
                <a:cs typeface="Figtree" pitchFamily="34" charset="-120"/>
              </a:rPr>
              <a:t>Vender e instalar</a:t>
            </a:r>
            <a:endParaRPr lang="es-CL" sz="2400" dirty="0"/>
          </a:p>
        </p:txBody>
      </p:sp>
      <p:sp>
        <p:nvSpPr>
          <p:cNvPr id="22" name="Shape 20"/>
          <p:cNvSpPr/>
          <p:nvPr/>
        </p:nvSpPr>
        <p:spPr>
          <a:xfrm>
            <a:off x="9189720" y="3355848"/>
            <a:ext cx="2133295" cy="0"/>
          </a:xfrm>
          <a:prstGeom prst="line">
            <a:avLst/>
          </a:prstGeom>
          <a:noFill/>
          <a:ln w="31750">
            <a:solidFill>
              <a:srgbClr val="F87171"/>
            </a:solidFill>
            <a:prstDash val="solid"/>
          </a:ln>
        </p:spPr>
      </p:sp>
      <p:sp>
        <p:nvSpPr>
          <p:cNvPr id="23" name="Shape 21"/>
          <p:cNvSpPr/>
          <p:nvPr/>
        </p:nvSpPr>
        <p:spPr>
          <a:xfrm>
            <a:off x="548640" y="5047488"/>
            <a:ext cx="11094415" cy="0"/>
          </a:xfrm>
          <a:prstGeom prst="line">
            <a:avLst/>
          </a:prstGeom>
          <a:noFill/>
          <a:ln w="9525">
            <a:solidFill>
              <a:schemeClr val="accent1"/>
            </a:solidFill>
            <a:prstDash val="solid"/>
          </a:ln>
        </p:spPr>
      </p:sp>
      <p:sp>
        <p:nvSpPr>
          <p:cNvPr id="24" name="Text 22"/>
          <p:cNvSpPr txBox="1"/>
          <p:nvPr/>
        </p:nvSpPr>
        <p:spPr>
          <a:xfrm>
            <a:off x="548640" y="5047488"/>
            <a:ext cx="8351215" cy="566928"/>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Ley N° 21.793 publicada, sin reglamento</a:t>
            </a:r>
            <a:endParaRPr lang="es-CL" sz="2000" dirty="0"/>
          </a:p>
        </p:txBody>
      </p:sp>
      <p:sp>
        <p:nvSpPr>
          <p:cNvPr id="25" name="Shape 23"/>
          <p:cNvSpPr/>
          <p:nvPr/>
        </p:nvSpPr>
        <p:spPr>
          <a:xfrm>
            <a:off x="9660839" y="5148072"/>
            <a:ext cx="1982216" cy="365760"/>
          </a:xfrm>
          <a:prstGeom prst="rect">
            <a:avLst/>
          </a:prstGeom>
          <a:solidFill>
            <a:schemeClr val="bg1">
              <a:alpha val="0"/>
            </a:schemeClr>
          </a:solidFill>
          <a:ln w="12700">
            <a:solidFill>
              <a:schemeClr val="tx2"/>
            </a:solidFill>
            <a:prstDash val="solid"/>
          </a:ln>
        </p:spPr>
      </p:sp>
      <p:sp>
        <p:nvSpPr>
          <p:cNvPr id="26" name="Text 24"/>
          <p:cNvSpPr txBox="1"/>
          <p:nvPr/>
        </p:nvSpPr>
        <p:spPr>
          <a:xfrm>
            <a:off x="9770567" y="5148072"/>
            <a:ext cx="176276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RIESGO EXTERNO</a:t>
            </a:r>
            <a:endParaRPr lang="es-CL" sz="1400" dirty="0"/>
          </a:p>
        </p:txBody>
      </p:sp>
      <p:sp>
        <p:nvSpPr>
          <p:cNvPr id="27" name="Shape 25"/>
          <p:cNvSpPr/>
          <p:nvPr/>
        </p:nvSpPr>
        <p:spPr>
          <a:xfrm>
            <a:off x="548640" y="5614416"/>
            <a:ext cx="11094415" cy="0"/>
          </a:xfrm>
          <a:prstGeom prst="line">
            <a:avLst/>
          </a:prstGeom>
          <a:noFill/>
          <a:ln w="9525">
            <a:solidFill>
              <a:schemeClr val="accent5"/>
            </a:solidFill>
            <a:prstDash val="solid"/>
          </a:ln>
        </p:spPr>
      </p:sp>
      <p:sp>
        <p:nvSpPr>
          <p:cNvPr id="28" name="Text 26"/>
          <p:cNvSpPr txBox="1"/>
          <p:nvPr/>
        </p:nvSpPr>
        <p:spPr>
          <a:xfrm>
            <a:off x="548640" y="5614416"/>
            <a:ext cx="8351215" cy="566928"/>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Actas de seguridad completas en cada orden</a:t>
            </a:r>
            <a:endParaRPr lang="es-CL" sz="2000" dirty="0"/>
          </a:p>
        </p:txBody>
      </p:sp>
      <p:sp>
        <p:nvSpPr>
          <p:cNvPr id="29" name="Shape 27"/>
          <p:cNvSpPr/>
          <p:nvPr/>
        </p:nvSpPr>
        <p:spPr>
          <a:xfrm>
            <a:off x="11277295" y="5797296"/>
            <a:ext cx="365760" cy="219456"/>
          </a:xfrm>
          <a:prstGeom prst="rect">
            <a:avLst/>
          </a:prstGeom>
          <a:solidFill>
            <a:schemeClr val="bg1">
              <a:alpha val="0"/>
            </a:schemeClr>
          </a:solidFill>
          <a:ln w="12700">
            <a:solidFill>
              <a:srgbClr val="8B9598"/>
            </a:solidFill>
            <a:prstDash val="dash"/>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APRENDIZAJE · PRUEBA CONCRETA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HABILITACIÓN DE TÉCNICOS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ya se puede medir.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Lumine Habilita, versión de demostración publicada por el equipo (datos ficticios); Excel de la Solemne 2, indicador A02.</a:t>
            </a:r>
            <a:endParaRPr lang="es-CL" sz="1100" dirty="0"/>
          </a:p>
        </p:txBody>
      </p:sp>
      <p:pic>
        <p:nvPicPr>
          <p:cNvPr id="5" name="Image 0" descr="C:\Users\Usuario\Documents\GitHub\lumine\solemne-2\generador\assets\brillo.png">    </p:cNvPr>
          <p:cNvPicPr>
            <a:picLocks noChangeAspect="1"/>
          </p:cNvPicPr>
          <p:nvPr/>
        </p:nvPicPr>
        <p:blipFill>
          <a:blip r:embed="rId1"/>
          <a:stretch>
            <a:fillRect/>
          </a:stretch>
        </p:blipFill>
        <p:spPr>
          <a:xfrm>
            <a:off x="91440" y="1993392"/>
            <a:ext cx="4526280" cy="4142232"/>
          </a:xfrm>
          <a:prstGeom prst="rect">
            <a:avLst/>
          </a:prstGeom>
        </p:spPr>
      </p:pic>
      <p:pic>
        <p:nvPicPr>
          <p:cNvPr id="6" name="Image 1" descr="Código QR a la demostración de Lumine Habilita">    </p:cNvPr>
          <p:cNvPicPr>
            <a:picLocks noChangeAspect="1"/>
          </p:cNvPicPr>
          <p:nvPr/>
        </p:nvPicPr>
        <p:blipFill>
          <a:blip r:embed="rId2"/>
          <a:stretch>
            <a:fillRect/>
          </a:stretch>
        </p:blipFill>
        <p:spPr>
          <a:xfrm>
            <a:off x="731520" y="2441448"/>
            <a:ext cx="3246120" cy="3246120"/>
          </a:xfrm>
          <a:prstGeom prst="rect">
            <a:avLst/>
          </a:prstGeom>
        </p:spPr>
      </p:pic>
      <p:sp>
        <p:nvSpPr>
          <p:cNvPr id="7" name="Shape 3"/>
          <p:cNvSpPr/>
          <p:nvPr/>
        </p:nvSpPr>
        <p:spPr>
          <a:xfrm>
            <a:off x="676656" y="2386584"/>
            <a:ext cx="155448" cy="0"/>
          </a:xfrm>
          <a:prstGeom prst="line">
            <a:avLst/>
          </a:prstGeom>
          <a:noFill/>
          <a:ln w="15875">
            <a:solidFill>
              <a:schemeClr val="accent1"/>
            </a:solidFill>
            <a:prstDash val="solid"/>
          </a:ln>
        </p:spPr>
      </p:sp>
      <p:sp>
        <p:nvSpPr>
          <p:cNvPr id="8" name="Shape 4"/>
          <p:cNvSpPr/>
          <p:nvPr/>
        </p:nvSpPr>
        <p:spPr>
          <a:xfrm>
            <a:off x="676656" y="2386584"/>
            <a:ext cx="0" cy="155448"/>
          </a:xfrm>
          <a:prstGeom prst="line">
            <a:avLst/>
          </a:prstGeom>
          <a:noFill/>
          <a:ln w="15875">
            <a:solidFill>
              <a:schemeClr val="accent1"/>
            </a:solidFill>
            <a:prstDash val="solid"/>
          </a:ln>
        </p:spPr>
      </p:sp>
      <p:sp>
        <p:nvSpPr>
          <p:cNvPr id="9" name="Shape 5"/>
          <p:cNvSpPr/>
          <p:nvPr/>
        </p:nvSpPr>
        <p:spPr>
          <a:xfrm>
            <a:off x="3877056" y="2386584"/>
            <a:ext cx="155448" cy="0"/>
          </a:xfrm>
          <a:prstGeom prst="line">
            <a:avLst/>
          </a:prstGeom>
          <a:noFill/>
          <a:ln w="15875">
            <a:solidFill>
              <a:schemeClr val="accent1"/>
            </a:solidFill>
            <a:prstDash val="solid"/>
          </a:ln>
        </p:spPr>
      </p:sp>
      <p:sp>
        <p:nvSpPr>
          <p:cNvPr id="10" name="Shape 6"/>
          <p:cNvSpPr/>
          <p:nvPr/>
        </p:nvSpPr>
        <p:spPr>
          <a:xfrm>
            <a:off x="4032504" y="2386584"/>
            <a:ext cx="0" cy="155448"/>
          </a:xfrm>
          <a:prstGeom prst="line">
            <a:avLst/>
          </a:prstGeom>
          <a:noFill/>
          <a:ln w="15875">
            <a:solidFill>
              <a:schemeClr val="accent1"/>
            </a:solidFill>
            <a:prstDash val="solid"/>
          </a:ln>
        </p:spPr>
      </p:sp>
      <p:sp>
        <p:nvSpPr>
          <p:cNvPr id="11" name="Shape 7"/>
          <p:cNvSpPr/>
          <p:nvPr/>
        </p:nvSpPr>
        <p:spPr>
          <a:xfrm>
            <a:off x="676656" y="5742432"/>
            <a:ext cx="155448" cy="0"/>
          </a:xfrm>
          <a:prstGeom prst="line">
            <a:avLst/>
          </a:prstGeom>
          <a:noFill/>
          <a:ln w="15875">
            <a:solidFill>
              <a:schemeClr val="accent1"/>
            </a:solidFill>
            <a:prstDash val="solid"/>
          </a:ln>
        </p:spPr>
      </p:sp>
      <p:sp>
        <p:nvSpPr>
          <p:cNvPr id="12" name="Shape 8"/>
          <p:cNvSpPr/>
          <p:nvPr/>
        </p:nvSpPr>
        <p:spPr>
          <a:xfrm>
            <a:off x="676656" y="5586984"/>
            <a:ext cx="0" cy="155448"/>
          </a:xfrm>
          <a:prstGeom prst="line">
            <a:avLst/>
          </a:prstGeom>
          <a:noFill/>
          <a:ln w="15875">
            <a:solidFill>
              <a:schemeClr val="accent1"/>
            </a:solidFill>
            <a:prstDash val="solid"/>
          </a:ln>
        </p:spPr>
      </p:sp>
      <p:sp>
        <p:nvSpPr>
          <p:cNvPr id="13" name="Shape 9"/>
          <p:cNvSpPr/>
          <p:nvPr/>
        </p:nvSpPr>
        <p:spPr>
          <a:xfrm>
            <a:off x="3877056" y="5742432"/>
            <a:ext cx="155448" cy="0"/>
          </a:xfrm>
          <a:prstGeom prst="line">
            <a:avLst/>
          </a:prstGeom>
          <a:noFill/>
          <a:ln w="15875">
            <a:solidFill>
              <a:schemeClr val="accent1"/>
            </a:solidFill>
            <a:prstDash val="solid"/>
          </a:ln>
        </p:spPr>
      </p:sp>
      <p:sp>
        <p:nvSpPr>
          <p:cNvPr id="14" name="Shape 10"/>
          <p:cNvSpPr/>
          <p:nvPr/>
        </p:nvSpPr>
        <p:spPr>
          <a:xfrm>
            <a:off x="4032504" y="5586984"/>
            <a:ext cx="0" cy="155448"/>
          </a:xfrm>
          <a:prstGeom prst="line">
            <a:avLst/>
          </a:prstGeom>
          <a:noFill/>
          <a:ln w="15875">
            <a:solidFill>
              <a:schemeClr val="accent1"/>
            </a:solidFill>
            <a:prstDash val="solid"/>
          </a:ln>
        </p:spPr>
      </p:sp>
      <p:sp>
        <p:nvSpPr>
          <p:cNvPr id="15" name="Text 11"/>
          <p:cNvSpPr txBox="1"/>
          <p:nvPr/>
        </p:nvSpPr>
        <p:spPr>
          <a:xfrm>
            <a:off x="548640" y="5815584"/>
            <a:ext cx="3611880" cy="27432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ESCANEA PARA ABRIR LA DEMO</a:t>
            </a:r>
            <a:endParaRPr lang="es-CL" sz="1200" dirty="0"/>
          </a:p>
        </p:txBody>
      </p:sp>
      <p:sp>
        <p:nvSpPr>
          <p:cNvPr id="16" name="Text 12"/>
          <p:cNvSpPr txBox="1"/>
          <p:nvPr/>
        </p:nvSpPr>
        <p:spPr>
          <a:xfrm>
            <a:off x="4754880" y="2395728"/>
            <a:ext cx="6888175" cy="566928"/>
          </a:xfrm>
          <a:prstGeom prst="rect">
            <a:avLst/>
          </a:prstGeom>
          <a:noFill/>
          <a:ln/>
        </p:spPr>
        <p:txBody>
          <a:bodyPr wrap="square" lIns="0" tIns="0" rIns="0" bIns="0" rtlCol="0" anchor="ctr"/>
          <a:lstStyle/>
          <a:p>
            <a:pPr indent="0" marL="0">
              <a:buNone/>
            </a:pPr>
            <a:r>
              <a:rPr lang="es-CL" altLang="en-US" sz="3000" dirty="0">
                <a:solidFill>
                  <a:schemeClr val="tx1"/>
                </a:solidFill>
                <a:latin typeface="Archivo SemiExpanded ExtraBold" pitchFamily="34" charset="0"/>
                <a:ea typeface="Archivo SemiExpanded ExtraBold" pitchFamily="34" charset="-122"/>
                <a:cs typeface="Archivo SemiExpanded ExtraBold" pitchFamily="34" charset="-120"/>
              </a:rPr>
              <a:t>Lumine Habilita</a:t>
            </a:r>
            <a:endParaRPr lang="es-CL" sz="3000" dirty="0"/>
          </a:p>
        </p:txBody>
      </p:sp>
      <p:sp>
        <p:nvSpPr>
          <p:cNvPr id="17" name="Text 13"/>
          <p:cNvSpPr txBox="1"/>
          <p:nvPr/>
        </p:nvSpPr>
        <p:spPr>
          <a:xfrm>
            <a:off x="4754880" y="2999232"/>
            <a:ext cx="6888175" cy="41148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Habilitación por competencias del técnico instalador</a:t>
            </a:r>
            <a:endParaRPr lang="es-CL" sz="2000" dirty="0"/>
          </a:p>
        </p:txBody>
      </p:sp>
      <p:sp>
        <p:nvSpPr>
          <p:cNvPr id="18" name="Shape 14"/>
          <p:cNvSpPr/>
          <p:nvPr/>
        </p:nvSpPr>
        <p:spPr>
          <a:xfrm>
            <a:off x="4754880" y="3584448"/>
            <a:ext cx="6888175" cy="0"/>
          </a:xfrm>
          <a:prstGeom prst="line">
            <a:avLst/>
          </a:prstGeom>
          <a:noFill/>
          <a:ln w="9525">
            <a:solidFill>
              <a:schemeClr val="accent1"/>
            </a:solidFill>
            <a:prstDash val="solid"/>
          </a:ln>
        </p:spPr>
      </p:sp>
      <p:sp>
        <p:nvSpPr>
          <p:cNvPr id="19" name="Text 15"/>
          <p:cNvSpPr txBox="1"/>
          <p:nvPr/>
        </p:nvSpPr>
        <p:spPr>
          <a:xfrm>
            <a:off x="4754880" y="3657600"/>
            <a:ext cx="1920240" cy="82296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39</a:t>
            </a:r>
            <a:endParaRPr lang="es-CL" sz="5400" dirty="0"/>
          </a:p>
        </p:txBody>
      </p:sp>
      <p:sp>
        <p:nvSpPr>
          <p:cNvPr id="20" name="Text 16"/>
          <p:cNvSpPr txBox="1"/>
          <p:nvPr/>
        </p:nvSpPr>
        <p:spPr>
          <a:xfrm>
            <a:off x="4754880" y="4462272"/>
            <a:ext cx="1920240" cy="329184"/>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competencias</a:t>
            </a:r>
            <a:endParaRPr lang="es-CL" sz="1800" dirty="0"/>
          </a:p>
        </p:txBody>
      </p:sp>
      <p:sp>
        <p:nvSpPr>
          <p:cNvPr id="21" name="Text 17"/>
          <p:cNvSpPr txBox="1"/>
          <p:nvPr/>
        </p:nvSpPr>
        <p:spPr>
          <a:xfrm>
            <a:off x="6858000" y="3657600"/>
            <a:ext cx="1920240" cy="82296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4</a:t>
            </a:r>
            <a:endParaRPr lang="es-CL" sz="5400" dirty="0"/>
          </a:p>
        </p:txBody>
      </p:sp>
      <p:sp>
        <p:nvSpPr>
          <p:cNvPr id="22" name="Text 18"/>
          <p:cNvSpPr txBox="1"/>
          <p:nvPr/>
        </p:nvSpPr>
        <p:spPr>
          <a:xfrm>
            <a:off x="6858000" y="4462272"/>
            <a:ext cx="1920240" cy="329184"/>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niveles</a:t>
            </a:r>
            <a:endParaRPr lang="es-CL" sz="1800" dirty="0"/>
          </a:p>
        </p:txBody>
      </p:sp>
      <p:sp>
        <p:nvSpPr>
          <p:cNvPr id="23" name="Shape 19"/>
          <p:cNvSpPr/>
          <p:nvPr/>
        </p:nvSpPr>
        <p:spPr>
          <a:xfrm>
            <a:off x="4754880" y="4956048"/>
            <a:ext cx="6888175" cy="0"/>
          </a:xfrm>
          <a:prstGeom prst="line">
            <a:avLst/>
          </a:prstGeom>
          <a:noFill/>
          <a:ln w="9525">
            <a:solidFill>
              <a:schemeClr val="accent5"/>
            </a:solidFill>
            <a:prstDash val="solid"/>
          </a:ln>
        </p:spPr>
      </p:sp>
      <p:sp>
        <p:nvSpPr>
          <p:cNvPr id="24" name="Shape 20"/>
          <p:cNvSpPr/>
          <p:nvPr/>
        </p:nvSpPr>
        <p:spPr>
          <a:xfrm>
            <a:off x="4754880" y="5138928"/>
            <a:ext cx="658368" cy="384048"/>
          </a:xfrm>
          <a:prstGeom prst="rect">
            <a:avLst/>
          </a:prstGeom>
          <a:solidFill>
            <a:schemeClr val="accent5"/>
          </a:solidFill>
          <a:ln/>
        </p:spPr>
      </p:sp>
      <p:sp>
        <p:nvSpPr>
          <p:cNvPr id="25" name="Text 21"/>
          <p:cNvSpPr txBox="1"/>
          <p:nvPr/>
        </p:nvSpPr>
        <p:spPr>
          <a:xfrm>
            <a:off x="4754880" y="5138928"/>
            <a:ext cx="658368" cy="384048"/>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A02</a:t>
            </a:r>
            <a:endParaRPr lang="es-CL" sz="1600" dirty="0"/>
          </a:p>
        </p:txBody>
      </p:sp>
      <p:sp>
        <p:nvSpPr>
          <p:cNvPr id="26" name="Text 22"/>
          <p:cNvSpPr txBox="1"/>
          <p:nvPr/>
        </p:nvSpPr>
        <p:spPr>
          <a:xfrm>
            <a:off x="5577840" y="5065776"/>
            <a:ext cx="6065215" cy="530352"/>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Técnicos habilitados ÷ técnicos asignados</a:t>
            </a:r>
            <a:endParaRPr lang="es-CL" sz="2000" dirty="0"/>
          </a:p>
        </p:txBody>
      </p:sp>
      <p:sp>
        <p:nvSpPr>
          <p:cNvPr id="27" name="Shape 23"/>
          <p:cNvSpPr/>
          <p:nvPr/>
        </p:nvSpPr>
        <p:spPr>
          <a:xfrm>
            <a:off x="4754880" y="5742432"/>
            <a:ext cx="3176016" cy="365760"/>
          </a:xfrm>
          <a:prstGeom prst="rect">
            <a:avLst/>
          </a:prstGeom>
          <a:solidFill>
            <a:schemeClr val="bg1">
              <a:alpha val="0"/>
            </a:schemeClr>
          </a:solidFill>
          <a:ln w="12700">
            <a:solidFill>
              <a:schemeClr val="tx2"/>
            </a:solidFill>
            <a:prstDash val="sysDot"/>
          </a:ln>
        </p:spPr>
      </p:sp>
      <p:sp>
        <p:nvSpPr>
          <p:cNvPr id="28" name="Text 24"/>
          <p:cNvSpPr txBox="1"/>
          <p:nvPr/>
        </p:nvSpPr>
        <p:spPr>
          <a:xfrm>
            <a:off x="4864608" y="5742432"/>
            <a:ext cx="295656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DEMO CON DATOS FICTICIOS</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PERSPECTIVA FINANCIERA · EVA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UNA UTILIDAD POSITIVA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puede no pagar el capital: por eso el EVA.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módulo 4 del curso (empresa genérica en US$, no Lumine); Excel de la Solemne 2, hoja EVA.</a:t>
            </a:r>
            <a:endParaRPr lang="es-CL" sz="1100" dirty="0"/>
          </a:p>
        </p:txBody>
      </p:sp>
      <p:sp>
        <p:nvSpPr>
          <p:cNvPr id="5" name="Text 3"/>
          <p:cNvSpPr txBox="1"/>
          <p:nvPr/>
        </p:nvSpPr>
        <p:spPr>
          <a:xfrm>
            <a:off x="548640" y="2340864"/>
            <a:ext cx="11094415" cy="640080"/>
          </a:xfrm>
          <a:prstGeom prst="rect">
            <a:avLst/>
          </a:prstGeom>
          <a:noFill/>
          <a:ln/>
        </p:spPr>
        <p:txBody>
          <a:bodyPr wrap="square" lIns="0" tIns="0" rIns="0" bIns="0" rtlCol="0" anchor="ctr"/>
          <a:lstStyle/>
          <a:p>
            <a:pPr indent="0" marL="0">
              <a:buNone/>
            </a:pPr>
            <a:r>
              <a:rPr lang="es-CL" altLang="en-US" sz="4000" b="1" dirty="0">
                <a:solidFill>
                  <a:schemeClr val="accent1"/>
                </a:solidFill>
                <a:latin typeface="Archivo Condensed" pitchFamily="34" charset="0"/>
                <a:ea typeface="Archivo Condensed" pitchFamily="34" charset="-122"/>
                <a:cs typeface="Archivo Condensed" pitchFamily="34" charset="-120"/>
              </a:rPr>
              <a:t>EVA</a:t>
            </a:r>
            <a:pPr indent="0" marL="0">
              <a:buNone/>
            </a:pPr>
            <a:r>
              <a:rPr lang="es-CL" altLang="en-US" sz="4000" b="1" dirty="0">
                <a:solidFill>
                  <a:schemeClr val="tx1"/>
                </a:solidFill>
                <a:latin typeface="Archivo Condensed" pitchFamily="34" charset="0"/>
                <a:ea typeface="Archivo Condensed" pitchFamily="34" charset="-122"/>
                <a:cs typeface="Archivo Condensed" pitchFamily="34" charset="-120"/>
              </a:rPr>
              <a:t>  =  NOPAT  −  CAPITAL INVERTIDO  ×  WACC</a:t>
            </a:r>
            <a:endParaRPr lang="es-CL" sz="4000" dirty="0"/>
          </a:p>
        </p:txBody>
      </p:sp>
      <p:sp>
        <p:nvSpPr>
          <p:cNvPr id="6" name="Text 4"/>
          <p:cNvSpPr txBox="1"/>
          <p:nvPr/>
        </p:nvSpPr>
        <p:spPr>
          <a:xfrm>
            <a:off x="548640" y="2999232"/>
            <a:ext cx="11094415" cy="32918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NOPAT: </a:t>
            </a:r>
            <a:pPr indent="0" marL="0">
              <a:buNone/>
            </a:pPr>
            <a:r>
              <a:rPr lang="es-CL" altLang="en-US" sz="1800" dirty="0">
                <a:solidFill>
                  <a:schemeClr val="tx2"/>
                </a:solidFill>
                <a:latin typeface="Figtree" pitchFamily="34" charset="0"/>
                <a:ea typeface="Figtree" pitchFamily="34" charset="-122"/>
                <a:cs typeface="Figtree" pitchFamily="34" charset="-120"/>
              </a:rPr>
              <a:t>resultado operativo después de impuestos   ·   </a:t>
            </a:r>
            <a:pPr indent="0" marL="0">
              <a:buNone/>
            </a:pPr>
            <a:r>
              <a:rPr lang="es-CL" altLang="en-US" sz="1800" b="1" dirty="0">
                <a:solidFill>
                  <a:schemeClr val="tx1"/>
                </a:solidFill>
                <a:latin typeface="Figtree" pitchFamily="34" charset="0"/>
                <a:ea typeface="Figtree" pitchFamily="34" charset="-122"/>
                <a:cs typeface="Figtree" pitchFamily="34" charset="-120"/>
              </a:rPr>
              <a:t>WACC: </a:t>
            </a:r>
            <a:pPr indent="0" marL="0">
              <a:buNone/>
            </a:pPr>
            <a:r>
              <a:rPr lang="es-CL" altLang="en-US" sz="1800" dirty="0">
                <a:solidFill>
                  <a:schemeClr val="tx2"/>
                </a:solidFill>
                <a:latin typeface="Figtree" pitchFamily="34" charset="0"/>
                <a:ea typeface="Figtree" pitchFamily="34" charset="-122"/>
                <a:cs typeface="Figtree" pitchFamily="34" charset="-120"/>
              </a:rPr>
              <a:t>costo promedio ponderado del capital</a:t>
            </a:r>
            <a:endParaRPr lang="es-CL" sz="1800" dirty="0"/>
          </a:p>
        </p:txBody>
      </p:sp>
      <p:sp>
        <p:nvSpPr>
          <p:cNvPr id="7" name="Shape 5"/>
          <p:cNvSpPr/>
          <p:nvPr/>
        </p:nvSpPr>
        <p:spPr>
          <a:xfrm>
            <a:off x="548640" y="3584448"/>
            <a:ext cx="6949440" cy="2596896"/>
          </a:xfrm>
          <a:prstGeom prst="rect">
            <a:avLst/>
          </a:prstGeom>
          <a:solidFill>
            <a:srgbClr val="0B1A22"/>
          </a:solidFill>
          <a:ln w="15875">
            <a:solidFill>
              <a:schemeClr val="accent1"/>
            </a:solidFill>
            <a:prstDash val="solid"/>
          </a:ln>
        </p:spPr>
      </p:sp>
      <p:sp>
        <p:nvSpPr>
          <p:cNvPr id="8" name="Shape 6"/>
          <p:cNvSpPr/>
          <p:nvPr/>
        </p:nvSpPr>
        <p:spPr>
          <a:xfrm>
            <a:off x="493776" y="3529584"/>
            <a:ext cx="155448" cy="0"/>
          </a:xfrm>
          <a:prstGeom prst="line">
            <a:avLst/>
          </a:prstGeom>
          <a:noFill/>
          <a:ln w="15875">
            <a:solidFill>
              <a:schemeClr val="accent1"/>
            </a:solidFill>
            <a:prstDash val="solid"/>
          </a:ln>
        </p:spPr>
      </p:sp>
      <p:sp>
        <p:nvSpPr>
          <p:cNvPr id="9" name="Shape 7"/>
          <p:cNvSpPr/>
          <p:nvPr/>
        </p:nvSpPr>
        <p:spPr>
          <a:xfrm>
            <a:off x="493776" y="3529584"/>
            <a:ext cx="0" cy="155448"/>
          </a:xfrm>
          <a:prstGeom prst="line">
            <a:avLst/>
          </a:prstGeom>
          <a:noFill/>
          <a:ln w="15875">
            <a:solidFill>
              <a:schemeClr val="accent1"/>
            </a:solidFill>
            <a:prstDash val="solid"/>
          </a:ln>
        </p:spPr>
      </p:sp>
      <p:sp>
        <p:nvSpPr>
          <p:cNvPr id="10" name="Shape 8"/>
          <p:cNvSpPr/>
          <p:nvPr/>
        </p:nvSpPr>
        <p:spPr>
          <a:xfrm>
            <a:off x="7397496" y="3529584"/>
            <a:ext cx="155448" cy="0"/>
          </a:xfrm>
          <a:prstGeom prst="line">
            <a:avLst/>
          </a:prstGeom>
          <a:noFill/>
          <a:ln w="15875">
            <a:solidFill>
              <a:schemeClr val="accent1"/>
            </a:solidFill>
            <a:prstDash val="solid"/>
          </a:ln>
        </p:spPr>
      </p:sp>
      <p:sp>
        <p:nvSpPr>
          <p:cNvPr id="11" name="Shape 9"/>
          <p:cNvSpPr/>
          <p:nvPr/>
        </p:nvSpPr>
        <p:spPr>
          <a:xfrm>
            <a:off x="7552944" y="3529584"/>
            <a:ext cx="0" cy="155448"/>
          </a:xfrm>
          <a:prstGeom prst="line">
            <a:avLst/>
          </a:prstGeom>
          <a:noFill/>
          <a:ln w="15875">
            <a:solidFill>
              <a:schemeClr val="accent1"/>
            </a:solidFill>
            <a:prstDash val="solid"/>
          </a:ln>
        </p:spPr>
      </p:sp>
      <p:sp>
        <p:nvSpPr>
          <p:cNvPr id="12" name="Shape 10"/>
          <p:cNvSpPr/>
          <p:nvPr/>
        </p:nvSpPr>
        <p:spPr>
          <a:xfrm>
            <a:off x="493776" y="6236208"/>
            <a:ext cx="155448" cy="0"/>
          </a:xfrm>
          <a:prstGeom prst="line">
            <a:avLst/>
          </a:prstGeom>
          <a:noFill/>
          <a:ln w="15875">
            <a:solidFill>
              <a:schemeClr val="accent1"/>
            </a:solidFill>
            <a:prstDash val="solid"/>
          </a:ln>
        </p:spPr>
      </p:sp>
      <p:sp>
        <p:nvSpPr>
          <p:cNvPr id="13" name="Shape 11"/>
          <p:cNvSpPr/>
          <p:nvPr/>
        </p:nvSpPr>
        <p:spPr>
          <a:xfrm>
            <a:off x="493776" y="6080760"/>
            <a:ext cx="0" cy="155448"/>
          </a:xfrm>
          <a:prstGeom prst="line">
            <a:avLst/>
          </a:prstGeom>
          <a:noFill/>
          <a:ln w="15875">
            <a:solidFill>
              <a:schemeClr val="accent1"/>
            </a:solidFill>
            <a:prstDash val="solid"/>
          </a:ln>
        </p:spPr>
      </p:sp>
      <p:sp>
        <p:nvSpPr>
          <p:cNvPr id="14" name="Shape 12"/>
          <p:cNvSpPr/>
          <p:nvPr/>
        </p:nvSpPr>
        <p:spPr>
          <a:xfrm>
            <a:off x="7397496" y="6236208"/>
            <a:ext cx="155448" cy="0"/>
          </a:xfrm>
          <a:prstGeom prst="line">
            <a:avLst/>
          </a:prstGeom>
          <a:noFill/>
          <a:ln w="15875">
            <a:solidFill>
              <a:schemeClr val="accent1"/>
            </a:solidFill>
            <a:prstDash val="solid"/>
          </a:ln>
        </p:spPr>
      </p:sp>
      <p:sp>
        <p:nvSpPr>
          <p:cNvPr id="15" name="Shape 13"/>
          <p:cNvSpPr/>
          <p:nvPr/>
        </p:nvSpPr>
        <p:spPr>
          <a:xfrm>
            <a:off x="7552944" y="6080760"/>
            <a:ext cx="0" cy="155448"/>
          </a:xfrm>
          <a:prstGeom prst="line">
            <a:avLst/>
          </a:prstGeom>
          <a:noFill/>
          <a:ln w="15875">
            <a:solidFill>
              <a:schemeClr val="accent1"/>
            </a:solidFill>
            <a:prstDash val="solid"/>
          </a:ln>
        </p:spPr>
      </p:sp>
      <p:sp>
        <p:nvSpPr>
          <p:cNvPr id="16" name="Shape 14"/>
          <p:cNvSpPr/>
          <p:nvPr/>
        </p:nvSpPr>
        <p:spPr>
          <a:xfrm>
            <a:off x="822960" y="3803904"/>
            <a:ext cx="4080256" cy="420624"/>
          </a:xfrm>
          <a:prstGeom prst="rect">
            <a:avLst/>
          </a:prstGeom>
          <a:solidFill>
            <a:schemeClr val="bg1">
              <a:alpha val="0"/>
            </a:schemeClr>
          </a:solidFill>
          <a:ln w="19050">
            <a:solidFill>
              <a:schemeClr val="tx1"/>
            </a:solidFill>
            <a:prstDash val="dash"/>
          </a:ln>
        </p:spPr>
      </p:sp>
      <p:sp>
        <p:nvSpPr>
          <p:cNvPr id="17" name="Text 15"/>
          <p:cNvSpPr txBox="1"/>
          <p:nvPr/>
        </p:nvSpPr>
        <p:spPr>
          <a:xfrm>
            <a:off x="932688" y="3803904"/>
            <a:ext cx="3860800" cy="420624"/>
          </a:xfrm>
          <a:prstGeom prst="rect">
            <a:avLst/>
          </a:prstGeom>
          <a:noFill/>
          <a:ln/>
        </p:spPr>
        <p:txBody>
          <a:bodyPr wrap="square" lIns="0" tIns="0" rIns="0" bIns="0" rtlCol="0" anchor="ctr"/>
          <a:lstStyle/>
          <a:p>
            <a:pPr algn="ct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EJEMPLO DE CLASE · NO LUMINE</a:t>
            </a:r>
            <a:endParaRPr lang="es-CL" sz="1600" dirty="0"/>
          </a:p>
        </p:txBody>
      </p:sp>
      <p:sp>
        <p:nvSpPr>
          <p:cNvPr id="18" name="Text 16"/>
          <p:cNvSpPr txBox="1"/>
          <p:nvPr/>
        </p:nvSpPr>
        <p:spPr>
          <a:xfrm>
            <a:off x="822960" y="4370832"/>
            <a:ext cx="4023360" cy="45720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NOPAT</a:t>
            </a:r>
            <a:endParaRPr lang="es-CL" sz="2000" dirty="0"/>
          </a:p>
        </p:txBody>
      </p:sp>
      <p:sp>
        <p:nvSpPr>
          <p:cNvPr id="19" name="Text 17"/>
          <p:cNvSpPr txBox="1"/>
          <p:nvPr/>
        </p:nvSpPr>
        <p:spPr>
          <a:xfrm>
            <a:off x="4023360" y="4370832"/>
            <a:ext cx="3200400" cy="457200"/>
          </a:xfrm>
          <a:prstGeom prst="rect">
            <a:avLst/>
          </a:prstGeom>
          <a:noFill/>
          <a:ln/>
        </p:spPr>
        <p:txBody>
          <a:bodyPr wrap="square" lIns="0" tIns="0" rIns="0" bIns="0" rtlCol="0" anchor="ctr"/>
          <a:lstStyle/>
          <a:p>
            <a:pPr algn="r" indent="0" marL="0">
              <a:buNone/>
            </a:pPr>
            <a:r>
              <a:rPr lang="es-CL" altLang="en-US" sz="3000" b="1" dirty="0">
                <a:solidFill>
                  <a:schemeClr val="tx1"/>
                </a:solidFill>
                <a:latin typeface="Archivo Condensed" pitchFamily="34" charset="0"/>
                <a:ea typeface="Archivo Condensed" pitchFamily="34" charset="-122"/>
                <a:cs typeface="Archivo Condensed" pitchFamily="34" charset="-120"/>
              </a:rPr>
              <a:t>US$ 150.000</a:t>
            </a:r>
            <a:endParaRPr lang="es-CL" sz="3000" dirty="0"/>
          </a:p>
        </p:txBody>
      </p:sp>
      <p:sp>
        <p:nvSpPr>
          <p:cNvPr id="20" name="Text 18"/>
          <p:cNvSpPr txBox="1"/>
          <p:nvPr/>
        </p:nvSpPr>
        <p:spPr>
          <a:xfrm>
            <a:off x="822960" y="4864608"/>
            <a:ext cx="4023360" cy="457200"/>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Cargo por capital: 1.000.000 × 12%</a:t>
            </a:r>
            <a:endParaRPr lang="es-CL" sz="1800" dirty="0"/>
          </a:p>
        </p:txBody>
      </p:sp>
      <p:sp>
        <p:nvSpPr>
          <p:cNvPr id="21" name="Text 19"/>
          <p:cNvSpPr txBox="1"/>
          <p:nvPr/>
        </p:nvSpPr>
        <p:spPr>
          <a:xfrm>
            <a:off x="4023360" y="4864608"/>
            <a:ext cx="3200400" cy="457200"/>
          </a:xfrm>
          <a:prstGeom prst="rect">
            <a:avLst/>
          </a:prstGeom>
          <a:noFill/>
          <a:ln/>
        </p:spPr>
        <p:txBody>
          <a:bodyPr wrap="square" lIns="0" tIns="0" rIns="0" bIns="0" rtlCol="0" anchor="ctr"/>
          <a:lstStyle/>
          <a:p>
            <a:pPr algn="r" indent="0" marL="0">
              <a:buNone/>
            </a:pPr>
            <a:r>
              <a:rPr lang="es-CL" altLang="en-US" sz="3000" b="1" dirty="0">
                <a:solidFill>
                  <a:schemeClr val="tx1"/>
                </a:solidFill>
                <a:latin typeface="Archivo Condensed" pitchFamily="34" charset="0"/>
                <a:ea typeface="Archivo Condensed" pitchFamily="34" charset="-122"/>
                <a:cs typeface="Archivo Condensed" pitchFamily="34" charset="-120"/>
              </a:rPr>
              <a:t>− US$ 120.000</a:t>
            </a:r>
            <a:endParaRPr lang="es-CL" sz="3000" dirty="0"/>
          </a:p>
        </p:txBody>
      </p:sp>
      <p:sp>
        <p:nvSpPr>
          <p:cNvPr id="22" name="Shape 20"/>
          <p:cNvSpPr/>
          <p:nvPr/>
        </p:nvSpPr>
        <p:spPr>
          <a:xfrm>
            <a:off x="822960" y="5413248"/>
            <a:ext cx="6400800" cy="0"/>
          </a:xfrm>
          <a:prstGeom prst="line">
            <a:avLst/>
          </a:prstGeom>
          <a:noFill/>
          <a:ln w="9525">
            <a:solidFill>
              <a:schemeClr val="accent1"/>
            </a:solidFill>
            <a:prstDash val="solid"/>
          </a:ln>
        </p:spPr>
      </p:sp>
      <p:sp>
        <p:nvSpPr>
          <p:cNvPr id="23" name="Text 21"/>
          <p:cNvSpPr txBox="1"/>
          <p:nvPr/>
        </p:nvSpPr>
        <p:spPr>
          <a:xfrm>
            <a:off x="822960" y="5522976"/>
            <a:ext cx="4023360" cy="45720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EVA</a:t>
            </a:r>
            <a:endParaRPr lang="es-CL" sz="2000" dirty="0"/>
          </a:p>
        </p:txBody>
      </p:sp>
      <p:sp>
        <p:nvSpPr>
          <p:cNvPr id="24" name="Text 22"/>
          <p:cNvSpPr txBox="1"/>
          <p:nvPr/>
        </p:nvSpPr>
        <p:spPr>
          <a:xfrm>
            <a:off x="4023360" y="5522976"/>
            <a:ext cx="3200400" cy="457200"/>
          </a:xfrm>
          <a:prstGeom prst="rect">
            <a:avLst/>
          </a:prstGeom>
          <a:noFill/>
          <a:ln/>
        </p:spPr>
        <p:txBody>
          <a:bodyPr wrap="square" lIns="0" tIns="0" rIns="0" bIns="0" rtlCol="0" anchor="ctr"/>
          <a:lstStyle/>
          <a:p>
            <a:pPr algn="r" indent="0" marL="0">
              <a:buNone/>
            </a:pPr>
            <a:r>
              <a:rPr lang="es-CL" altLang="en-US" sz="4400" b="1" dirty="0">
                <a:solidFill>
                  <a:schemeClr val="accent1"/>
                </a:solidFill>
                <a:latin typeface="Archivo Condensed" pitchFamily="34" charset="0"/>
                <a:ea typeface="Archivo Condensed" pitchFamily="34" charset="-122"/>
                <a:cs typeface="Archivo Condensed" pitchFamily="34" charset="-120"/>
              </a:rPr>
              <a:t>US$ 30.000</a:t>
            </a:r>
            <a:endParaRPr lang="es-CL" sz="4400" dirty="0"/>
          </a:p>
        </p:txBody>
      </p:sp>
      <p:sp>
        <p:nvSpPr>
          <p:cNvPr id="25" name="Shape 23"/>
          <p:cNvSpPr/>
          <p:nvPr/>
        </p:nvSpPr>
        <p:spPr>
          <a:xfrm>
            <a:off x="7955280" y="3584448"/>
            <a:ext cx="3687775" cy="2596896"/>
          </a:xfrm>
          <a:prstGeom prst="rect">
            <a:avLst/>
          </a:prstGeom>
          <a:solidFill>
            <a:schemeClr val="bg2"/>
          </a:solidFill>
          <a:ln w="12700">
            <a:solidFill>
              <a:srgbClr val="8B9598"/>
            </a:solidFill>
            <a:prstDash val="dash"/>
          </a:ln>
        </p:spPr>
      </p:sp>
      <p:sp>
        <p:nvSpPr>
          <p:cNvPr id="26" name="Text 24"/>
          <p:cNvSpPr txBox="1"/>
          <p:nvPr/>
        </p:nvSpPr>
        <p:spPr>
          <a:xfrm>
            <a:off x="8229600" y="3858768"/>
            <a:ext cx="3139135" cy="274320"/>
          </a:xfrm>
          <a:prstGeom prst="rect">
            <a:avLst/>
          </a:prstGeom>
          <a:noFill/>
          <a:ln/>
        </p:spPr>
        <p:txBody>
          <a:bodyPr wrap="square" lIns="0" tIns="0" rIns="0" bIns="0" rtlCol="0" anchor="t"/>
          <a:lstStyle/>
          <a:p>
            <a:pPr indent="0" marL="0">
              <a:buNone/>
            </a:pPr>
            <a:r>
              <a:rPr lang="es-CL" altLang="en-US" sz="1600" spc="100" kern="0" dirty="0">
                <a:solidFill>
                  <a:schemeClr val="tx1"/>
                </a:solidFill>
                <a:latin typeface="IBM Plex Mono" pitchFamily="34" charset="0"/>
                <a:ea typeface="IBM Plex Mono" pitchFamily="34" charset="-122"/>
                <a:cs typeface="IBM Plex Mono" pitchFamily="34" charset="-120"/>
              </a:rPr>
              <a:t>LUMINE HOY</a:t>
            </a:r>
            <a:endParaRPr lang="es-CL" sz="1600" dirty="0"/>
          </a:p>
        </p:txBody>
      </p:sp>
      <p:sp>
        <p:nvSpPr>
          <p:cNvPr id="27" name="Text 25"/>
          <p:cNvSpPr txBox="1"/>
          <p:nvPr/>
        </p:nvSpPr>
        <p:spPr>
          <a:xfrm>
            <a:off x="8229600" y="4315968"/>
            <a:ext cx="3139135" cy="11887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Sin NOPAT, capital invertido ni WACC respaldado</a:t>
            </a:r>
            <a:endParaRPr lang="es-CL" sz="2200" dirty="0"/>
          </a:p>
        </p:txBody>
      </p:sp>
      <p:sp>
        <p:nvSpPr>
          <p:cNvPr id="28" name="Text 26"/>
          <p:cNvSpPr txBox="1"/>
          <p:nvPr/>
        </p:nvSpPr>
        <p:spPr>
          <a:xfrm>
            <a:off x="8229600" y="5504688"/>
            <a:ext cx="3139135"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La fórmula queda definida; la cifra, pendiente.</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CMI · FICHA DEL INDICADOR</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SIN RESPONSABLE NI EVIDENCIA,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un indicador no controla nada.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MATRIZ_CMI (C01). Responsable según la estructura de la Fase 3.</a:t>
            </a:r>
            <a:endParaRPr lang="es-CL" sz="1100" dirty="0"/>
          </a:p>
        </p:txBody>
      </p:sp>
      <p:sp>
        <p:nvSpPr>
          <p:cNvPr id="5" name="Shape 3"/>
          <p:cNvSpPr/>
          <p:nvPr/>
        </p:nvSpPr>
        <p:spPr>
          <a:xfrm>
            <a:off x="548640" y="2395728"/>
            <a:ext cx="11094415" cy="3785616"/>
          </a:xfrm>
          <a:prstGeom prst="rect">
            <a:avLst/>
          </a:prstGeom>
          <a:solidFill>
            <a:schemeClr val="bg2"/>
          </a:solidFill>
          <a:ln w="9525">
            <a:solidFill>
              <a:schemeClr val="accent5"/>
            </a:solidFill>
            <a:prstDash val="solid"/>
          </a:ln>
        </p:spPr>
      </p:sp>
      <p:sp>
        <p:nvSpPr>
          <p:cNvPr id="6" name="Text 4"/>
          <p:cNvSpPr txBox="1"/>
          <p:nvPr/>
        </p:nvSpPr>
        <p:spPr>
          <a:xfrm>
            <a:off x="868680" y="2633472"/>
            <a:ext cx="5486400" cy="274320"/>
          </a:xfrm>
          <a:prstGeom prst="rect">
            <a:avLst/>
          </a:prstGeom>
          <a:noFill/>
          <a:ln/>
        </p:spPr>
        <p:txBody>
          <a:bodyPr wrap="square" lIns="0" tIns="0" rIns="0" bIns="0" rtlCol="0" anchor="t"/>
          <a:lstStyle/>
          <a:p>
            <a:pPr indent="0" marL="0">
              <a:buNone/>
            </a:pPr>
            <a:r>
              <a:rPr lang="es-CL" altLang="en-US" sz="1600" spc="100" kern="0" dirty="0">
                <a:solidFill>
                  <a:schemeClr val="accent1"/>
                </a:solidFill>
                <a:latin typeface="IBM Plex Mono" pitchFamily="34" charset="0"/>
                <a:ea typeface="IBM Plex Mono" pitchFamily="34" charset="-122"/>
                <a:cs typeface="IBM Plex Mono" pitchFamily="34" charset="-120"/>
              </a:rPr>
              <a:t>FICHA · C01 INFORME AL CLIENTE</a:t>
            </a:r>
            <a:endParaRPr lang="es-CL" sz="1600" dirty="0"/>
          </a:p>
        </p:txBody>
      </p:sp>
      <p:sp>
        <p:nvSpPr>
          <p:cNvPr id="7" name="Text 5"/>
          <p:cNvSpPr txBox="1"/>
          <p:nvPr/>
        </p:nvSpPr>
        <p:spPr>
          <a:xfrm>
            <a:off x="868680" y="2962656"/>
            <a:ext cx="10454335" cy="548640"/>
          </a:xfrm>
          <a:prstGeom prst="rect">
            <a:avLst/>
          </a:prstGeom>
          <a:noFill/>
          <a:ln/>
        </p:spPr>
        <p:txBody>
          <a:bodyPr wrap="square" lIns="0" tIns="0" rIns="0" bIns="0" rtlCol="0" anchor="ctr"/>
          <a:lstStyle/>
          <a:p>
            <a:pPr indent="0" marL="0">
              <a:buNone/>
            </a:pPr>
            <a:r>
              <a:rPr lang="es-CL" altLang="en-US" sz="2600" b="1" dirty="0">
                <a:solidFill>
                  <a:schemeClr val="tx1"/>
                </a:solidFill>
                <a:latin typeface="Figtree" pitchFamily="34" charset="0"/>
                <a:ea typeface="Figtree" pitchFamily="34" charset="-122"/>
                <a:cs typeface="Figtree" pitchFamily="34" charset="-120"/>
              </a:rPr>
              <a:t>Clientes con informe</a:t>
            </a:r>
            <a:pPr indent="0" marL="0">
              <a:buNone/>
            </a:pPr>
            <a:r>
              <a:rPr lang="es-CL" altLang="en-US" sz="2600" dirty="0">
                <a:solidFill>
                  <a:schemeClr val="accent1"/>
                </a:solidFill>
                <a:latin typeface="Figtree" pitchFamily="34" charset="0"/>
                <a:ea typeface="Figtree" pitchFamily="34" charset="-122"/>
                <a:cs typeface="Figtree" pitchFamily="34" charset="-120"/>
              </a:rPr>
              <a:t>  ÷  </a:t>
            </a:r>
            <a:pPr indent="0" marL="0">
              <a:buNone/>
            </a:pPr>
            <a:r>
              <a:rPr lang="es-CL" altLang="en-US" sz="2600" dirty="0">
                <a:solidFill>
                  <a:schemeClr val="tx1"/>
                </a:solidFill>
                <a:latin typeface="Figtree" pitchFamily="34" charset="0"/>
                <a:ea typeface="Figtree" pitchFamily="34" charset="-122"/>
                <a:cs typeface="Figtree" pitchFamily="34" charset="-120"/>
              </a:rPr>
              <a:t>clientes intervenidos</a:t>
            </a:r>
            <a:endParaRPr lang="es-CL" sz="2600" dirty="0"/>
          </a:p>
        </p:txBody>
      </p:sp>
      <p:sp>
        <p:nvSpPr>
          <p:cNvPr id="8" name="Shape 6"/>
          <p:cNvSpPr/>
          <p:nvPr/>
        </p:nvSpPr>
        <p:spPr>
          <a:xfrm>
            <a:off x="868680" y="3694176"/>
            <a:ext cx="10454335" cy="0"/>
          </a:xfrm>
          <a:prstGeom prst="line">
            <a:avLst/>
          </a:prstGeom>
          <a:noFill/>
          <a:ln w="9525">
            <a:solidFill>
              <a:schemeClr val="accent5"/>
            </a:solidFill>
            <a:prstDash val="solid"/>
          </a:ln>
        </p:spPr>
      </p:sp>
      <p:pic>
        <p:nvPicPr>
          <p:cNvPr id="9" name="Image 0" descr="C:\Users\Usuario\Documents\GitHub\lumine\solemne-2\generador\assets\brillo.png">    </p:cNvPr>
          <p:cNvPicPr>
            <a:picLocks noChangeAspect="1"/>
          </p:cNvPicPr>
          <p:nvPr/>
        </p:nvPicPr>
        <p:blipFill>
          <a:blip r:embed="rId1"/>
          <a:stretch>
            <a:fillRect/>
          </a:stretch>
        </p:blipFill>
        <p:spPr>
          <a:xfrm>
            <a:off x="502920" y="3694176"/>
            <a:ext cx="4033418" cy="2514600"/>
          </a:xfrm>
          <a:prstGeom prst="rect">
            <a:avLst/>
          </a:prstGeom>
        </p:spPr>
      </p:pic>
      <p:sp>
        <p:nvSpPr>
          <p:cNvPr id="10" name="Shape 7"/>
          <p:cNvSpPr/>
          <p:nvPr/>
        </p:nvSpPr>
        <p:spPr>
          <a:xfrm>
            <a:off x="868680" y="3950208"/>
            <a:ext cx="3301898" cy="2002536"/>
          </a:xfrm>
          <a:prstGeom prst="rect">
            <a:avLst/>
          </a:prstGeom>
          <a:solidFill>
            <a:srgbClr val="0B1A22"/>
          </a:solidFill>
          <a:ln w="15875">
            <a:solidFill>
              <a:schemeClr val="accent1"/>
            </a:solidFill>
            <a:prstDash val="solid"/>
          </a:ln>
        </p:spPr>
      </p:sp>
      <p:sp>
        <p:nvSpPr>
          <p:cNvPr id="11" name="Shape 8"/>
          <p:cNvSpPr/>
          <p:nvPr/>
        </p:nvSpPr>
        <p:spPr>
          <a:xfrm>
            <a:off x="813816" y="3895344"/>
            <a:ext cx="155448" cy="0"/>
          </a:xfrm>
          <a:prstGeom prst="line">
            <a:avLst/>
          </a:prstGeom>
          <a:noFill/>
          <a:ln w="15875">
            <a:solidFill>
              <a:schemeClr val="accent1"/>
            </a:solidFill>
            <a:prstDash val="solid"/>
          </a:ln>
        </p:spPr>
      </p:sp>
      <p:sp>
        <p:nvSpPr>
          <p:cNvPr id="12" name="Shape 9"/>
          <p:cNvSpPr/>
          <p:nvPr/>
        </p:nvSpPr>
        <p:spPr>
          <a:xfrm>
            <a:off x="813816" y="3895344"/>
            <a:ext cx="0" cy="155448"/>
          </a:xfrm>
          <a:prstGeom prst="line">
            <a:avLst/>
          </a:prstGeom>
          <a:noFill/>
          <a:ln w="15875">
            <a:solidFill>
              <a:schemeClr val="accent1"/>
            </a:solidFill>
            <a:prstDash val="solid"/>
          </a:ln>
        </p:spPr>
      </p:sp>
      <p:sp>
        <p:nvSpPr>
          <p:cNvPr id="13" name="Shape 10"/>
          <p:cNvSpPr/>
          <p:nvPr/>
        </p:nvSpPr>
        <p:spPr>
          <a:xfrm>
            <a:off x="4069994" y="3895344"/>
            <a:ext cx="155448" cy="0"/>
          </a:xfrm>
          <a:prstGeom prst="line">
            <a:avLst/>
          </a:prstGeom>
          <a:noFill/>
          <a:ln w="15875">
            <a:solidFill>
              <a:schemeClr val="accent1"/>
            </a:solidFill>
            <a:prstDash val="solid"/>
          </a:ln>
        </p:spPr>
      </p:sp>
      <p:sp>
        <p:nvSpPr>
          <p:cNvPr id="14" name="Shape 11"/>
          <p:cNvSpPr/>
          <p:nvPr/>
        </p:nvSpPr>
        <p:spPr>
          <a:xfrm>
            <a:off x="4225442" y="3895344"/>
            <a:ext cx="0" cy="155448"/>
          </a:xfrm>
          <a:prstGeom prst="line">
            <a:avLst/>
          </a:prstGeom>
          <a:noFill/>
          <a:ln w="15875">
            <a:solidFill>
              <a:schemeClr val="accent1"/>
            </a:solidFill>
            <a:prstDash val="solid"/>
          </a:ln>
        </p:spPr>
      </p:sp>
      <p:sp>
        <p:nvSpPr>
          <p:cNvPr id="15" name="Shape 12"/>
          <p:cNvSpPr/>
          <p:nvPr/>
        </p:nvSpPr>
        <p:spPr>
          <a:xfrm>
            <a:off x="813816" y="6007608"/>
            <a:ext cx="155448" cy="0"/>
          </a:xfrm>
          <a:prstGeom prst="line">
            <a:avLst/>
          </a:prstGeom>
          <a:noFill/>
          <a:ln w="15875">
            <a:solidFill>
              <a:schemeClr val="accent1"/>
            </a:solidFill>
            <a:prstDash val="solid"/>
          </a:ln>
        </p:spPr>
      </p:sp>
      <p:sp>
        <p:nvSpPr>
          <p:cNvPr id="16" name="Shape 13"/>
          <p:cNvSpPr/>
          <p:nvPr/>
        </p:nvSpPr>
        <p:spPr>
          <a:xfrm>
            <a:off x="813816" y="5852160"/>
            <a:ext cx="0" cy="155448"/>
          </a:xfrm>
          <a:prstGeom prst="line">
            <a:avLst/>
          </a:prstGeom>
          <a:noFill/>
          <a:ln w="15875">
            <a:solidFill>
              <a:schemeClr val="accent1"/>
            </a:solidFill>
            <a:prstDash val="solid"/>
          </a:ln>
        </p:spPr>
      </p:sp>
      <p:sp>
        <p:nvSpPr>
          <p:cNvPr id="17" name="Shape 14"/>
          <p:cNvSpPr/>
          <p:nvPr/>
        </p:nvSpPr>
        <p:spPr>
          <a:xfrm>
            <a:off x="4069994" y="6007608"/>
            <a:ext cx="155448" cy="0"/>
          </a:xfrm>
          <a:prstGeom prst="line">
            <a:avLst/>
          </a:prstGeom>
          <a:noFill/>
          <a:ln w="15875">
            <a:solidFill>
              <a:schemeClr val="accent1"/>
            </a:solidFill>
            <a:prstDash val="solid"/>
          </a:ln>
        </p:spPr>
      </p:sp>
      <p:sp>
        <p:nvSpPr>
          <p:cNvPr id="18" name="Shape 15"/>
          <p:cNvSpPr/>
          <p:nvPr/>
        </p:nvSpPr>
        <p:spPr>
          <a:xfrm>
            <a:off x="4225442" y="5852160"/>
            <a:ext cx="0" cy="155448"/>
          </a:xfrm>
          <a:prstGeom prst="line">
            <a:avLst/>
          </a:prstGeom>
          <a:noFill/>
          <a:ln w="15875">
            <a:solidFill>
              <a:schemeClr val="accent1"/>
            </a:solidFill>
            <a:prstDash val="solid"/>
          </a:ln>
        </p:spPr>
      </p:sp>
      <p:sp>
        <p:nvSpPr>
          <p:cNvPr id="19" name="Text 16"/>
          <p:cNvSpPr txBox="1"/>
          <p:nvPr/>
        </p:nvSpPr>
        <p:spPr>
          <a:xfrm>
            <a:off x="1097280" y="4169664"/>
            <a:ext cx="284469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RESPONSABLE</a:t>
            </a:r>
            <a:endParaRPr lang="es-CL" sz="1400" dirty="0"/>
          </a:p>
        </p:txBody>
      </p:sp>
      <p:sp>
        <p:nvSpPr>
          <p:cNvPr id="20" name="Text 17"/>
          <p:cNvSpPr txBox="1"/>
          <p:nvPr/>
        </p:nvSpPr>
        <p:spPr>
          <a:xfrm>
            <a:off x="1097280" y="4590288"/>
            <a:ext cx="2890418" cy="1179576"/>
          </a:xfrm>
          <a:prstGeom prst="rect">
            <a:avLst/>
          </a:prstGeom>
          <a:noFill/>
          <a:ln/>
        </p:spPr>
        <p:txBody>
          <a:bodyPr wrap="square" lIns="0" tIns="0" rIns="0" bIns="0" rtlCol="0" anchor="t"/>
          <a:lstStyle/>
          <a:p>
            <a:pPr indent="0" marL="0">
              <a:lnSpc>
                <a:spcPct val="100000"/>
              </a:lnSpc>
              <a:buNone/>
            </a:pPr>
            <a:r>
              <a:rPr lang="es-CL" altLang="en-US" sz="2400" b="1" dirty="0">
                <a:solidFill>
                  <a:schemeClr val="tx1"/>
                </a:solidFill>
                <a:latin typeface="Figtree" pitchFamily="34" charset="0"/>
                <a:ea typeface="Figtree" pitchFamily="34" charset="-122"/>
                <a:cs typeface="Figtree" pitchFamily="34" charset="-120"/>
              </a:rPr>
              <a:t>Comercial y Postventa</a:t>
            </a:r>
            <a:endParaRPr lang="es-CL" sz="2400" dirty="0"/>
          </a:p>
        </p:txBody>
      </p:sp>
      <p:sp>
        <p:nvSpPr>
          <p:cNvPr id="21" name="Shape 18"/>
          <p:cNvSpPr/>
          <p:nvPr/>
        </p:nvSpPr>
        <p:spPr>
          <a:xfrm>
            <a:off x="4444898" y="3950208"/>
            <a:ext cx="3301898" cy="2002536"/>
          </a:xfrm>
          <a:prstGeom prst="rect">
            <a:avLst/>
          </a:prstGeom>
          <a:solidFill>
            <a:schemeClr val="bg1"/>
          </a:solidFill>
          <a:ln w="12700">
            <a:solidFill>
              <a:schemeClr val="accent1"/>
            </a:solidFill>
            <a:prstDash val="solid"/>
          </a:ln>
        </p:spPr>
      </p:sp>
      <p:sp>
        <p:nvSpPr>
          <p:cNvPr id="22" name="Text 19"/>
          <p:cNvSpPr txBox="1"/>
          <p:nvPr/>
        </p:nvSpPr>
        <p:spPr>
          <a:xfrm>
            <a:off x="4673498" y="4169664"/>
            <a:ext cx="284469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EVIDENCIA</a:t>
            </a:r>
            <a:endParaRPr lang="es-CL" sz="1400" dirty="0"/>
          </a:p>
        </p:txBody>
      </p:sp>
      <p:sp>
        <p:nvSpPr>
          <p:cNvPr id="23" name="Text 20"/>
          <p:cNvSpPr txBox="1"/>
          <p:nvPr/>
        </p:nvSpPr>
        <p:spPr>
          <a:xfrm>
            <a:off x="4673498" y="4590288"/>
            <a:ext cx="2890418" cy="1179576"/>
          </a:xfrm>
          <a:prstGeom prst="rect">
            <a:avLst/>
          </a:prstGeom>
          <a:noFill/>
          <a:ln/>
        </p:spPr>
        <p:txBody>
          <a:bodyPr wrap="square" lIns="0" tIns="0" rIns="0" bIns="0" rtlCol="0" anchor="t"/>
          <a:lstStyle/>
          <a:p>
            <a:pPr indent="0" marL="0">
              <a:lnSpc>
                <a:spcPct val="100000"/>
              </a:lnSpc>
              <a:buNone/>
            </a:pPr>
            <a:r>
              <a:rPr lang="es-CL" altLang="en-US" sz="2400" b="1" dirty="0">
                <a:solidFill>
                  <a:schemeClr val="tx1"/>
                </a:solidFill>
                <a:latin typeface="Figtree" pitchFamily="34" charset="0"/>
                <a:ea typeface="Figtree" pitchFamily="34" charset="-122"/>
                <a:cs typeface="Figtree" pitchFamily="34" charset="-120"/>
              </a:rPr>
              <a:t>Informe con sus límites y acuse firmado</a:t>
            </a:r>
            <a:endParaRPr lang="es-CL" sz="2400" dirty="0"/>
          </a:p>
        </p:txBody>
      </p:sp>
      <p:sp>
        <p:nvSpPr>
          <p:cNvPr id="24" name="Shape 21"/>
          <p:cNvSpPr/>
          <p:nvPr/>
        </p:nvSpPr>
        <p:spPr>
          <a:xfrm>
            <a:off x="8021117" y="3950208"/>
            <a:ext cx="3301898" cy="2002536"/>
          </a:xfrm>
          <a:prstGeom prst="rect">
            <a:avLst/>
          </a:prstGeom>
          <a:solidFill>
            <a:schemeClr val="bg1"/>
          </a:solidFill>
          <a:ln w="12700">
            <a:solidFill>
              <a:schemeClr val="accent1"/>
            </a:solidFill>
            <a:prstDash val="solid"/>
          </a:ln>
        </p:spPr>
      </p:sp>
      <p:sp>
        <p:nvSpPr>
          <p:cNvPr id="25" name="Text 22"/>
          <p:cNvSpPr txBox="1"/>
          <p:nvPr/>
        </p:nvSpPr>
        <p:spPr>
          <a:xfrm>
            <a:off x="8249717" y="4169664"/>
            <a:ext cx="284469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SI SE DESVÍA</a:t>
            </a:r>
            <a:endParaRPr lang="es-CL" sz="1400" dirty="0"/>
          </a:p>
        </p:txBody>
      </p:sp>
      <p:sp>
        <p:nvSpPr>
          <p:cNvPr id="26" name="Text 23"/>
          <p:cNvSpPr txBox="1"/>
          <p:nvPr/>
        </p:nvSpPr>
        <p:spPr>
          <a:xfrm>
            <a:off x="8249717" y="4590288"/>
            <a:ext cx="2890418" cy="1179576"/>
          </a:xfrm>
          <a:prstGeom prst="rect">
            <a:avLst/>
          </a:prstGeom>
          <a:noFill/>
          <a:ln/>
        </p:spPr>
        <p:txBody>
          <a:bodyPr wrap="square" lIns="0" tIns="0" rIns="0" bIns="0" rtlCol="0" anchor="t"/>
          <a:lstStyle/>
          <a:p>
            <a:pPr indent="0" marL="0">
              <a:lnSpc>
                <a:spcPct val="100000"/>
              </a:lnSpc>
              <a:buNone/>
            </a:pPr>
            <a:r>
              <a:rPr lang="es-CL" altLang="en-US" sz="2400" b="1" dirty="0">
                <a:solidFill>
                  <a:schemeClr val="tx1"/>
                </a:solidFill>
                <a:latin typeface="Figtree" pitchFamily="34" charset="0"/>
                <a:ea typeface="Figtree" pitchFamily="34" charset="-122"/>
                <a:cs typeface="Figtree" pitchFamily="34" charset="-120"/>
              </a:rPr>
              <a:t>Completar el informe y contactar al cliente</a:t>
            </a:r>
            <a:endParaRPr lang="es-CL" sz="2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CMI · LECTURA DEL RESULTADO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SIN MEDIR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es rojo.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material del curso «Sistemas de Control de Gestión: Indicadores»; Excel de la Solemne 2, hoja SEGUIMIENTO. Umbrales propuestos por el equipo.</a:t>
            </a:r>
            <a:endParaRPr lang="es-CL" sz="1100" dirty="0"/>
          </a:p>
        </p:txBody>
      </p:sp>
      <p:sp>
        <p:nvSpPr>
          <p:cNvPr id="5" name="Shape 3"/>
          <p:cNvSpPr/>
          <p:nvPr/>
        </p:nvSpPr>
        <p:spPr>
          <a:xfrm>
            <a:off x="640080" y="2715768"/>
            <a:ext cx="1325880" cy="1325880"/>
          </a:xfrm>
          <a:prstGeom prst="ellipse">
            <a:avLst/>
          </a:prstGeom>
          <a:solidFill>
            <a:srgbClr val="4ADE80"/>
          </a:solidFill>
          <a:ln/>
        </p:spPr>
      </p:sp>
      <p:sp>
        <p:nvSpPr>
          <p:cNvPr id="6" name="Text 4"/>
          <p:cNvSpPr txBox="1"/>
          <p:nvPr/>
        </p:nvSpPr>
        <p:spPr>
          <a:xfrm>
            <a:off x="365760" y="4187952"/>
            <a:ext cx="1874520" cy="274320"/>
          </a:xfrm>
          <a:prstGeom prst="rect">
            <a:avLst/>
          </a:prstGeom>
          <a:noFill/>
          <a:ln/>
        </p:spPr>
        <p:txBody>
          <a:bodyPr wrap="square" lIns="0" tIns="0" rIns="0" bIns="0" rtlCol="0" anchor="t"/>
          <a:lstStyle/>
          <a:p>
            <a:pPr algn="ctr" indent="0" marL="0">
              <a:buNone/>
            </a:pPr>
            <a:r>
              <a:rPr lang="es-CL" altLang="en-US" sz="1500" b="1" spc="100" kern="0" dirty="0">
                <a:solidFill>
                  <a:srgbClr val="4ADE80"/>
                </a:solidFill>
                <a:latin typeface="IBM Plex Mono" pitchFamily="34" charset="0"/>
                <a:ea typeface="IBM Plex Mono" pitchFamily="34" charset="-122"/>
                <a:cs typeface="IBM Plex Mono" pitchFamily="34" charset="-120"/>
              </a:rPr>
              <a:t>VERDE</a:t>
            </a:r>
            <a:endParaRPr lang="es-CL" sz="1500" dirty="0"/>
          </a:p>
        </p:txBody>
      </p:sp>
      <p:sp>
        <p:nvSpPr>
          <p:cNvPr id="7" name="Text 5"/>
          <p:cNvSpPr txBox="1"/>
          <p:nvPr/>
        </p:nvSpPr>
        <p:spPr>
          <a:xfrm>
            <a:off x="365760" y="4498848"/>
            <a:ext cx="1874520" cy="365760"/>
          </a:xfrm>
          <a:prstGeom prst="rect">
            <a:avLst/>
          </a:prstGeom>
          <a:noFill/>
          <a:ln/>
        </p:spPr>
        <p:txBody>
          <a:bodyPr wrap="square" lIns="0" tIns="0" rIns="0" bIns="0" rtlCol="0" anchor="t"/>
          <a:lstStyle/>
          <a:p>
            <a:pPr algn="ctr" indent="0" marL="0">
              <a:buNone/>
            </a:pPr>
            <a:r>
              <a:rPr lang="es-CL" altLang="en-US" sz="2000" dirty="0">
                <a:solidFill>
                  <a:schemeClr val="tx1"/>
                </a:solidFill>
                <a:latin typeface="Figtree" pitchFamily="34" charset="0"/>
                <a:ea typeface="Figtree" pitchFamily="34" charset="-122"/>
                <a:cs typeface="Figtree" pitchFamily="34" charset="-120"/>
              </a:rPr>
              <a:t>90% o más</a:t>
            </a:r>
            <a:endParaRPr lang="es-CL" sz="2000" dirty="0"/>
          </a:p>
        </p:txBody>
      </p:sp>
      <p:sp>
        <p:nvSpPr>
          <p:cNvPr id="8" name="Shape 6"/>
          <p:cNvSpPr/>
          <p:nvPr/>
        </p:nvSpPr>
        <p:spPr>
          <a:xfrm>
            <a:off x="2468880" y="2715768"/>
            <a:ext cx="1325880" cy="1325880"/>
          </a:xfrm>
          <a:prstGeom prst="ellipse">
            <a:avLst/>
          </a:prstGeom>
          <a:solidFill>
            <a:srgbClr val="F5B94A"/>
          </a:solidFill>
          <a:ln/>
        </p:spPr>
      </p:sp>
      <p:sp>
        <p:nvSpPr>
          <p:cNvPr id="9" name="Text 7"/>
          <p:cNvSpPr txBox="1"/>
          <p:nvPr/>
        </p:nvSpPr>
        <p:spPr>
          <a:xfrm>
            <a:off x="2194560" y="4187952"/>
            <a:ext cx="1874520" cy="274320"/>
          </a:xfrm>
          <a:prstGeom prst="rect">
            <a:avLst/>
          </a:prstGeom>
          <a:noFill/>
          <a:ln/>
        </p:spPr>
        <p:txBody>
          <a:bodyPr wrap="square" lIns="0" tIns="0" rIns="0" bIns="0" rtlCol="0" anchor="t"/>
          <a:lstStyle/>
          <a:p>
            <a:pPr algn="ctr" indent="0" marL="0">
              <a:buNone/>
            </a:pPr>
            <a:r>
              <a:rPr lang="es-CL" altLang="en-US" sz="1500" b="1" spc="100" kern="0" dirty="0">
                <a:solidFill>
                  <a:srgbClr val="F5B94A"/>
                </a:solidFill>
                <a:latin typeface="IBM Plex Mono" pitchFamily="34" charset="0"/>
                <a:ea typeface="IBM Plex Mono" pitchFamily="34" charset="-122"/>
                <a:cs typeface="IBM Plex Mono" pitchFamily="34" charset="-120"/>
              </a:rPr>
              <a:t>ÁMBAR</a:t>
            </a:r>
            <a:endParaRPr lang="es-CL" sz="1500" dirty="0"/>
          </a:p>
        </p:txBody>
      </p:sp>
      <p:sp>
        <p:nvSpPr>
          <p:cNvPr id="10" name="Text 8"/>
          <p:cNvSpPr txBox="1"/>
          <p:nvPr/>
        </p:nvSpPr>
        <p:spPr>
          <a:xfrm>
            <a:off x="2194560" y="4498848"/>
            <a:ext cx="1874520" cy="365760"/>
          </a:xfrm>
          <a:prstGeom prst="rect">
            <a:avLst/>
          </a:prstGeom>
          <a:noFill/>
          <a:ln/>
        </p:spPr>
        <p:txBody>
          <a:bodyPr wrap="square" lIns="0" tIns="0" rIns="0" bIns="0" rtlCol="0" anchor="t"/>
          <a:lstStyle/>
          <a:p>
            <a:pPr algn="ctr" indent="0" marL="0">
              <a:buNone/>
            </a:pPr>
            <a:r>
              <a:rPr lang="es-CL" altLang="en-US" sz="2000" dirty="0">
                <a:solidFill>
                  <a:schemeClr val="tx1"/>
                </a:solidFill>
                <a:latin typeface="Figtree" pitchFamily="34" charset="0"/>
                <a:ea typeface="Figtree" pitchFamily="34" charset="-122"/>
                <a:cs typeface="Figtree" pitchFamily="34" charset="-120"/>
              </a:rPr>
              <a:t>70% a 89%</a:t>
            </a:r>
            <a:endParaRPr lang="es-CL" sz="2000" dirty="0"/>
          </a:p>
        </p:txBody>
      </p:sp>
      <p:sp>
        <p:nvSpPr>
          <p:cNvPr id="11" name="Shape 9"/>
          <p:cNvSpPr/>
          <p:nvPr/>
        </p:nvSpPr>
        <p:spPr>
          <a:xfrm>
            <a:off x="4297680" y="2715768"/>
            <a:ext cx="1325880" cy="1325880"/>
          </a:xfrm>
          <a:prstGeom prst="ellipse">
            <a:avLst/>
          </a:prstGeom>
          <a:solidFill>
            <a:srgbClr val="F87171"/>
          </a:solidFill>
          <a:ln/>
        </p:spPr>
      </p:sp>
      <p:sp>
        <p:nvSpPr>
          <p:cNvPr id="12" name="Text 10"/>
          <p:cNvSpPr txBox="1"/>
          <p:nvPr/>
        </p:nvSpPr>
        <p:spPr>
          <a:xfrm>
            <a:off x="4023360" y="4187952"/>
            <a:ext cx="1874520" cy="274320"/>
          </a:xfrm>
          <a:prstGeom prst="rect">
            <a:avLst/>
          </a:prstGeom>
          <a:noFill/>
          <a:ln/>
        </p:spPr>
        <p:txBody>
          <a:bodyPr wrap="square" lIns="0" tIns="0" rIns="0" bIns="0" rtlCol="0" anchor="t"/>
          <a:lstStyle/>
          <a:p>
            <a:pPr algn="ctr" indent="0" marL="0">
              <a:buNone/>
            </a:pPr>
            <a:r>
              <a:rPr lang="es-CL" altLang="en-US" sz="1500" b="1" spc="100" kern="0" dirty="0">
                <a:solidFill>
                  <a:srgbClr val="F87171"/>
                </a:solidFill>
                <a:latin typeface="IBM Plex Mono" pitchFamily="34" charset="0"/>
                <a:ea typeface="IBM Plex Mono" pitchFamily="34" charset="-122"/>
                <a:cs typeface="IBM Plex Mono" pitchFamily="34" charset="-120"/>
              </a:rPr>
              <a:t>ROJO</a:t>
            </a:r>
            <a:endParaRPr lang="es-CL" sz="1500" dirty="0"/>
          </a:p>
        </p:txBody>
      </p:sp>
      <p:sp>
        <p:nvSpPr>
          <p:cNvPr id="13" name="Text 11"/>
          <p:cNvSpPr txBox="1"/>
          <p:nvPr/>
        </p:nvSpPr>
        <p:spPr>
          <a:xfrm>
            <a:off x="4023360" y="4498848"/>
            <a:ext cx="1874520" cy="365760"/>
          </a:xfrm>
          <a:prstGeom prst="rect">
            <a:avLst/>
          </a:prstGeom>
          <a:noFill/>
          <a:ln/>
        </p:spPr>
        <p:txBody>
          <a:bodyPr wrap="square" lIns="0" tIns="0" rIns="0" bIns="0" rtlCol="0" anchor="t"/>
          <a:lstStyle/>
          <a:p>
            <a:pPr algn="ctr" indent="0" marL="0">
              <a:buNone/>
            </a:pPr>
            <a:r>
              <a:rPr lang="es-CL" altLang="en-US" sz="2000" dirty="0">
                <a:solidFill>
                  <a:schemeClr val="tx1"/>
                </a:solidFill>
                <a:latin typeface="Figtree" pitchFamily="34" charset="0"/>
                <a:ea typeface="Figtree" pitchFamily="34" charset="-122"/>
                <a:cs typeface="Figtree" pitchFamily="34" charset="-120"/>
              </a:rPr>
              <a:t>menos de 70%</a:t>
            </a:r>
            <a:endParaRPr lang="es-CL" sz="2000" dirty="0"/>
          </a:p>
        </p:txBody>
      </p:sp>
      <p:sp>
        <p:nvSpPr>
          <p:cNvPr id="14" name="Shape 12"/>
          <p:cNvSpPr/>
          <p:nvPr/>
        </p:nvSpPr>
        <p:spPr>
          <a:xfrm>
            <a:off x="6217920" y="2395728"/>
            <a:ext cx="0" cy="3017520"/>
          </a:xfrm>
          <a:prstGeom prst="line">
            <a:avLst/>
          </a:prstGeom>
          <a:noFill/>
          <a:ln w="12700">
            <a:solidFill>
              <a:schemeClr val="accent5"/>
            </a:solidFill>
            <a:prstDash val="solid"/>
          </a:ln>
        </p:spPr>
      </p:sp>
      <p:pic>
        <p:nvPicPr>
          <p:cNvPr id="15" name="Image 0" descr="C:\Users\Usuario\Documents\GitHub\lumine\solemne-2\generador\assets\brillo.png">    </p:cNvPr>
          <p:cNvPicPr>
            <a:picLocks noChangeAspect="1"/>
          </p:cNvPicPr>
          <p:nvPr/>
        </p:nvPicPr>
        <p:blipFill>
          <a:blip r:embed="rId1"/>
          <a:stretch>
            <a:fillRect/>
          </a:stretch>
        </p:blipFill>
        <p:spPr>
          <a:xfrm>
            <a:off x="6446520" y="2121408"/>
            <a:ext cx="3063240" cy="2788920"/>
          </a:xfrm>
          <a:prstGeom prst="rect">
            <a:avLst/>
          </a:prstGeom>
        </p:spPr>
      </p:pic>
      <p:sp>
        <p:nvSpPr>
          <p:cNvPr id="16" name="Shape 13"/>
          <p:cNvSpPr/>
          <p:nvPr/>
        </p:nvSpPr>
        <p:spPr>
          <a:xfrm>
            <a:off x="6903720" y="2441448"/>
            <a:ext cx="2148840" cy="2148840"/>
          </a:xfrm>
          <a:prstGeom prst="ellipse">
            <a:avLst/>
          </a:prstGeom>
          <a:solidFill>
            <a:srgbClr val="2A3034"/>
          </a:solidFill>
          <a:ln w="31750">
            <a:solidFill>
              <a:srgbClr val="8B9598"/>
            </a:solidFill>
            <a:prstDash val="dash"/>
          </a:ln>
        </p:spPr>
      </p:sp>
      <p:sp>
        <p:nvSpPr>
          <p:cNvPr id="17" name="Text 14"/>
          <p:cNvSpPr txBox="1"/>
          <p:nvPr/>
        </p:nvSpPr>
        <p:spPr>
          <a:xfrm>
            <a:off x="6903720" y="2441448"/>
            <a:ext cx="2148840" cy="214884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IBM Plex Mono" pitchFamily="34" charset="0"/>
                <a:ea typeface="IBM Plex Mono" pitchFamily="34" charset="-122"/>
                <a:cs typeface="IBM Plex Mono" pitchFamily="34" charset="-120"/>
              </a:rPr>
              <a:t>SIN MEDIR</a:t>
            </a:r>
            <a:endParaRPr lang="es-CL" sz="2000" dirty="0"/>
          </a:p>
        </p:txBody>
      </p:sp>
      <p:sp>
        <p:nvSpPr>
          <p:cNvPr id="18" name="Text 15"/>
          <p:cNvSpPr txBox="1"/>
          <p:nvPr/>
        </p:nvSpPr>
        <p:spPr>
          <a:xfrm>
            <a:off x="9418320" y="2898648"/>
            <a:ext cx="2224735" cy="128016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Celda vacía: </a:t>
            </a:r>
            <a:pPr indent="0" marL="0">
              <a:buNone/>
            </a:pPr>
            <a:r>
              <a:rPr lang="es-CL" altLang="en-US" sz="2200" dirty="0">
                <a:solidFill>
                  <a:schemeClr val="tx2"/>
                </a:solidFill>
                <a:latin typeface="Figtree" pitchFamily="34" charset="0"/>
                <a:ea typeface="Figtree" pitchFamily="34" charset="-122"/>
                <a:cs typeface="Figtree" pitchFamily="34" charset="-120"/>
              </a:rPr>
              <a:t>falta el dato, no se incumplió.</a:t>
            </a:r>
            <a:endParaRPr lang="es-CL" sz="2200" dirty="0"/>
          </a:p>
        </p:txBody>
      </p:sp>
      <p:sp>
        <p:nvSpPr>
          <p:cNvPr id="19" name="Shape 16"/>
          <p:cNvSpPr/>
          <p:nvPr/>
        </p:nvSpPr>
        <p:spPr>
          <a:xfrm>
            <a:off x="548640" y="5641848"/>
            <a:ext cx="11094415" cy="0"/>
          </a:xfrm>
          <a:prstGeom prst="line">
            <a:avLst/>
          </a:prstGeom>
          <a:noFill/>
          <a:ln w="9525">
            <a:solidFill>
              <a:schemeClr val="accent1"/>
            </a:solidFill>
            <a:prstDash val="solid"/>
          </a:ln>
        </p:spPr>
      </p:sp>
      <p:sp>
        <p:nvSpPr>
          <p:cNvPr id="20" name="Text 17"/>
          <p:cNvSpPr txBox="1"/>
          <p:nvPr/>
        </p:nvSpPr>
        <p:spPr>
          <a:xfrm>
            <a:off x="548640" y="5751576"/>
            <a:ext cx="11094415" cy="457200"/>
          </a:xfrm>
          <a:prstGeom prst="rect">
            <a:avLst/>
          </a:prstGeom>
          <a:noFill/>
          <a:ln/>
        </p:spPr>
        <p:txBody>
          <a:bodyPr wrap="square" lIns="0" tIns="0" rIns="0" bIns="0" rtlCol="0" anchor="ctr"/>
          <a:lstStyle/>
          <a:p>
            <a:pPr indent="0" marL="0">
              <a:buNone/>
            </a:pPr>
            <a:r>
              <a:rPr lang="es-CL" altLang="en-US" sz="2400" b="1" dirty="0">
                <a:solidFill>
                  <a:schemeClr val="tx1"/>
                </a:solidFill>
                <a:latin typeface="Figtree" pitchFamily="34" charset="0"/>
                <a:ea typeface="Figtree" pitchFamily="34" charset="-122"/>
                <a:cs typeface="Figtree" pitchFamily="34" charset="-120"/>
              </a:rPr>
              <a:t>Control crítico: </a:t>
            </a:r>
            <a:pPr indent="0" marL="0">
              <a:buNone/>
            </a:pPr>
            <a:r>
              <a:rPr lang="es-CL" altLang="en-US" sz="2400" b="1" dirty="0">
                <a:solidFill>
                  <a:schemeClr val="accent1"/>
                </a:solidFill>
                <a:latin typeface="Figtree" pitchFamily="34" charset="0"/>
                <a:ea typeface="Figtree" pitchFamily="34" charset="-122"/>
                <a:cs typeface="Figtree" pitchFamily="34" charset="-120"/>
              </a:rPr>
              <a:t>verde solo al 100%.</a:t>
            </a:r>
            <a:endParaRPr lang="es-CL" sz="2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CONTROL · DESVIACIÓN DE UNA META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8 DE 10 ES ROJO, NO ÁMBAR: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informe es obligatorio.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CASO_SIMULADO. Ejercicio didáctico: no son datos de Lumine.</a:t>
            </a:r>
            <a:endParaRPr lang="es-CL" sz="1100" dirty="0"/>
          </a:p>
        </p:txBody>
      </p:sp>
      <p:sp>
        <p:nvSpPr>
          <p:cNvPr id="5" name="Shape 3"/>
          <p:cNvSpPr/>
          <p:nvPr/>
        </p:nvSpPr>
        <p:spPr>
          <a:xfrm>
            <a:off x="8639759" y="2322576"/>
            <a:ext cx="3003296" cy="420624"/>
          </a:xfrm>
          <a:prstGeom prst="rect">
            <a:avLst/>
          </a:prstGeom>
          <a:solidFill>
            <a:schemeClr val="bg1">
              <a:alpha val="0"/>
            </a:schemeClr>
          </a:solidFill>
          <a:ln w="19050">
            <a:solidFill>
              <a:schemeClr val="tx1"/>
            </a:solidFill>
            <a:prstDash val="dash"/>
          </a:ln>
        </p:spPr>
      </p:sp>
      <p:sp>
        <p:nvSpPr>
          <p:cNvPr id="6" name="Text 4"/>
          <p:cNvSpPr txBox="1"/>
          <p:nvPr/>
        </p:nvSpPr>
        <p:spPr>
          <a:xfrm>
            <a:off x="8749487" y="2322576"/>
            <a:ext cx="2783840" cy="420624"/>
          </a:xfrm>
          <a:prstGeom prst="rect">
            <a:avLst/>
          </a:prstGeom>
          <a:noFill/>
          <a:ln/>
        </p:spPr>
        <p:txBody>
          <a:bodyPr wrap="square" lIns="0" tIns="0" rIns="0" bIns="0" rtlCol="0" anchor="ctr"/>
          <a:lstStyle/>
          <a:p>
            <a:pPr algn="ct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EJERCICIO HIPOTÉTICO</a:t>
            </a:r>
            <a:endParaRPr lang="es-CL" sz="1600" dirty="0"/>
          </a:p>
        </p:txBody>
      </p:sp>
      <p:sp>
        <p:nvSpPr>
          <p:cNvPr id="7" name="Text 5"/>
          <p:cNvSpPr txBox="1"/>
          <p:nvPr/>
        </p:nvSpPr>
        <p:spPr>
          <a:xfrm>
            <a:off x="548640" y="2395728"/>
            <a:ext cx="731520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INFORMES ENTREGADOS A 10 CLIENTES</a:t>
            </a:r>
            <a:endParaRPr lang="es-CL" sz="1600" dirty="0"/>
          </a:p>
        </p:txBody>
      </p:sp>
      <p:sp>
        <p:nvSpPr>
          <p:cNvPr id="8" name="Shape 6"/>
          <p:cNvSpPr/>
          <p:nvPr/>
        </p:nvSpPr>
        <p:spPr>
          <a:xfrm>
            <a:off x="548640" y="2852928"/>
            <a:ext cx="977768" cy="822960"/>
          </a:xfrm>
          <a:prstGeom prst="rect">
            <a:avLst/>
          </a:prstGeom>
          <a:solidFill>
            <a:schemeClr val="accent1"/>
          </a:solidFill>
          <a:ln/>
        </p:spPr>
      </p:sp>
      <p:sp>
        <p:nvSpPr>
          <p:cNvPr id="9" name="Text 7"/>
          <p:cNvSpPr txBox="1"/>
          <p:nvPr/>
        </p:nvSpPr>
        <p:spPr>
          <a:xfrm>
            <a:off x="548640"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1</a:t>
            </a:r>
            <a:endParaRPr lang="es-CL" sz="1800" dirty="0"/>
          </a:p>
        </p:txBody>
      </p:sp>
      <p:sp>
        <p:nvSpPr>
          <p:cNvPr id="10" name="Shape 8"/>
          <p:cNvSpPr/>
          <p:nvPr/>
        </p:nvSpPr>
        <p:spPr>
          <a:xfrm>
            <a:off x="1672712" y="2852928"/>
            <a:ext cx="977768" cy="822960"/>
          </a:xfrm>
          <a:prstGeom prst="rect">
            <a:avLst/>
          </a:prstGeom>
          <a:solidFill>
            <a:schemeClr val="accent1"/>
          </a:solidFill>
          <a:ln/>
        </p:spPr>
      </p:sp>
      <p:sp>
        <p:nvSpPr>
          <p:cNvPr id="11" name="Text 9"/>
          <p:cNvSpPr txBox="1"/>
          <p:nvPr/>
        </p:nvSpPr>
        <p:spPr>
          <a:xfrm>
            <a:off x="1672712"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2</a:t>
            </a:r>
            <a:endParaRPr lang="es-CL" sz="1800" dirty="0"/>
          </a:p>
        </p:txBody>
      </p:sp>
      <p:sp>
        <p:nvSpPr>
          <p:cNvPr id="12" name="Shape 10"/>
          <p:cNvSpPr/>
          <p:nvPr/>
        </p:nvSpPr>
        <p:spPr>
          <a:xfrm>
            <a:off x="2796784" y="2852928"/>
            <a:ext cx="977768" cy="822960"/>
          </a:xfrm>
          <a:prstGeom prst="rect">
            <a:avLst/>
          </a:prstGeom>
          <a:solidFill>
            <a:schemeClr val="accent1"/>
          </a:solidFill>
          <a:ln/>
        </p:spPr>
      </p:sp>
      <p:sp>
        <p:nvSpPr>
          <p:cNvPr id="13" name="Text 11"/>
          <p:cNvSpPr txBox="1"/>
          <p:nvPr/>
        </p:nvSpPr>
        <p:spPr>
          <a:xfrm>
            <a:off x="2796784"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3</a:t>
            </a:r>
            <a:endParaRPr lang="es-CL" sz="1800" dirty="0"/>
          </a:p>
        </p:txBody>
      </p:sp>
      <p:sp>
        <p:nvSpPr>
          <p:cNvPr id="14" name="Shape 12"/>
          <p:cNvSpPr/>
          <p:nvPr/>
        </p:nvSpPr>
        <p:spPr>
          <a:xfrm>
            <a:off x="3920856" y="2852928"/>
            <a:ext cx="977768" cy="822960"/>
          </a:xfrm>
          <a:prstGeom prst="rect">
            <a:avLst/>
          </a:prstGeom>
          <a:solidFill>
            <a:schemeClr val="accent1"/>
          </a:solidFill>
          <a:ln/>
        </p:spPr>
      </p:sp>
      <p:sp>
        <p:nvSpPr>
          <p:cNvPr id="15" name="Text 13"/>
          <p:cNvSpPr txBox="1"/>
          <p:nvPr/>
        </p:nvSpPr>
        <p:spPr>
          <a:xfrm>
            <a:off x="3920856"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4</a:t>
            </a:r>
            <a:endParaRPr lang="es-CL" sz="1800" dirty="0"/>
          </a:p>
        </p:txBody>
      </p:sp>
      <p:sp>
        <p:nvSpPr>
          <p:cNvPr id="16" name="Shape 14"/>
          <p:cNvSpPr/>
          <p:nvPr/>
        </p:nvSpPr>
        <p:spPr>
          <a:xfrm>
            <a:off x="5044928" y="2852928"/>
            <a:ext cx="977768" cy="822960"/>
          </a:xfrm>
          <a:prstGeom prst="rect">
            <a:avLst/>
          </a:prstGeom>
          <a:solidFill>
            <a:schemeClr val="accent1"/>
          </a:solidFill>
          <a:ln/>
        </p:spPr>
      </p:sp>
      <p:sp>
        <p:nvSpPr>
          <p:cNvPr id="17" name="Text 15"/>
          <p:cNvSpPr txBox="1"/>
          <p:nvPr/>
        </p:nvSpPr>
        <p:spPr>
          <a:xfrm>
            <a:off x="5044928"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5</a:t>
            </a:r>
            <a:endParaRPr lang="es-CL" sz="1800" dirty="0"/>
          </a:p>
        </p:txBody>
      </p:sp>
      <p:sp>
        <p:nvSpPr>
          <p:cNvPr id="18" name="Shape 16"/>
          <p:cNvSpPr/>
          <p:nvPr/>
        </p:nvSpPr>
        <p:spPr>
          <a:xfrm>
            <a:off x="6169000" y="2852928"/>
            <a:ext cx="977768" cy="822960"/>
          </a:xfrm>
          <a:prstGeom prst="rect">
            <a:avLst/>
          </a:prstGeom>
          <a:solidFill>
            <a:schemeClr val="accent1"/>
          </a:solidFill>
          <a:ln/>
        </p:spPr>
      </p:sp>
      <p:sp>
        <p:nvSpPr>
          <p:cNvPr id="19" name="Text 17"/>
          <p:cNvSpPr txBox="1"/>
          <p:nvPr/>
        </p:nvSpPr>
        <p:spPr>
          <a:xfrm>
            <a:off x="6169000"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6</a:t>
            </a:r>
            <a:endParaRPr lang="es-CL" sz="1800" dirty="0"/>
          </a:p>
        </p:txBody>
      </p:sp>
      <p:sp>
        <p:nvSpPr>
          <p:cNvPr id="20" name="Shape 18"/>
          <p:cNvSpPr/>
          <p:nvPr/>
        </p:nvSpPr>
        <p:spPr>
          <a:xfrm>
            <a:off x="7293072" y="2852928"/>
            <a:ext cx="977768" cy="822960"/>
          </a:xfrm>
          <a:prstGeom prst="rect">
            <a:avLst/>
          </a:prstGeom>
          <a:solidFill>
            <a:schemeClr val="accent1"/>
          </a:solidFill>
          <a:ln/>
        </p:spPr>
      </p:sp>
      <p:sp>
        <p:nvSpPr>
          <p:cNvPr id="21" name="Text 19"/>
          <p:cNvSpPr txBox="1"/>
          <p:nvPr/>
        </p:nvSpPr>
        <p:spPr>
          <a:xfrm>
            <a:off x="7293072"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7</a:t>
            </a:r>
            <a:endParaRPr lang="es-CL" sz="1800" dirty="0"/>
          </a:p>
        </p:txBody>
      </p:sp>
      <p:sp>
        <p:nvSpPr>
          <p:cNvPr id="22" name="Shape 20"/>
          <p:cNvSpPr/>
          <p:nvPr/>
        </p:nvSpPr>
        <p:spPr>
          <a:xfrm>
            <a:off x="8417143" y="2852928"/>
            <a:ext cx="977768" cy="822960"/>
          </a:xfrm>
          <a:prstGeom prst="rect">
            <a:avLst/>
          </a:prstGeom>
          <a:solidFill>
            <a:schemeClr val="accent1"/>
          </a:solidFill>
          <a:ln/>
        </p:spPr>
      </p:sp>
      <p:sp>
        <p:nvSpPr>
          <p:cNvPr id="23" name="Text 21"/>
          <p:cNvSpPr txBox="1"/>
          <p:nvPr/>
        </p:nvSpPr>
        <p:spPr>
          <a:xfrm>
            <a:off x="8417143" y="2852928"/>
            <a:ext cx="977768" cy="822960"/>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8</a:t>
            </a:r>
            <a:endParaRPr lang="es-CL" sz="1800" dirty="0"/>
          </a:p>
        </p:txBody>
      </p:sp>
      <p:sp>
        <p:nvSpPr>
          <p:cNvPr id="24" name="Shape 22"/>
          <p:cNvSpPr/>
          <p:nvPr/>
        </p:nvSpPr>
        <p:spPr>
          <a:xfrm>
            <a:off x="9541215" y="2852928"/>
            <a:ext cx="977768" cy="822960"/>
          </a:xfrm>
          <a:prstGeom prst="rect">
            <a:avLst/>
          </a:prstGeom>
          <a:solidFill>
            <a:srgbClr val="1A0E10"/>
          </a:solidFill>
          <a:ln w="25400">
            <a:solidFill>
              <a:srgbClr val="F87171"/>
            </a:solidFill>
            <a:prstDash val="dash"/>
          </a:ln>
        </p:spPr>
      </p:sp>
      <p:sp>
        <p:nvSpPr>
          <p:cNvPr id="25" name="Text 23"/>
          <p:cNvSpPr txBox="1"/>
          <p:nvPr/>
        </p:nvSpPr>
        <p:spPr>
          <a:xfrm>
            <a:off x="9541215" y="2852928"/>
            <a:ext cx="977768" cy="822960"/>
          </a:xfrm>
          <a:prstGeom prst="rect">
            <a:avLst/>
          </a:prstGeom>
          <a:noFill/>
          <a:ln/>
        </p:spPr>
        <p:txBody>
          <a:bodyPr wrap="square" lIns="0" tIns="0" rIns="0" bIns="0" rtlCol="0" anchor="ctr"/>
          <a:lstStyle/>
          <a:p>
            <a:pPr algn="ctr" indent="0" marL="0">
              <a:buNone/>
            </a:pPr>
            <a:r>
              <a:rPr lang="es-CL" altLang="en-US" sz="1800" b="1" dirty="0">
                <a:solidFill>
                  <a:srgbClr val="F87171"/>
                </a:solidFill>
                <a:latin typeface="IBM Plex Mono" pitchFamily="34" charset="0"/>
                <a:ea typeface="IBM Plex Mono" pitchFamily="34" charset="-122"/>
                <a:cs typeface="IBM Plex Mono" pitchFamily="34" charset="-120"/>
              </a:rPr>
              <a:t>9</a:t>
            </a:r>
            <a:endParaRPr lang="es-CL" sz="1800" dirty="0"/>
          </a:p>
        </p:txBody>
      </p:sp>
      <p:sp>
        <p:nvSpPr>
          <p:cNvPr id="26" name="Shape 24"/>
          <p:cNvSpPr/>
          <p:nvPr/>
        </p:nvSpPr>
        <p:spPr>
          <a:xfrm>
            <a:off x="10665287" y="2852928"/>
            <a:ext cx="977768" cy="822960"/>
          </a:xfrm>
          <a:prstGeom prst="rect">
            <a:avLst/>
          </a:prstGeom>
          <a:solidFill>
            <a:srgbClr val="1A0E10"/>
          </a:solidFill>
          <a:ln w="25400">
            <a:solidFill>
              <a:srgbClr val="F87171"/>
            </a:solidFill>
            <a:prstDash val="dash"/>
          </a:ln>
        </p:spPr>
      </p:sp>
      <p:sp>
        <p:nvSpPr>
          <p:cNvPr id="27" name="Text 25"/>
          <p:cNvSpPr txBox="1"/>
          <p:nvPr/>
        </p:nvSpPr>
        <p:spPr>
          <a:xfrm>
            <a:off x="10665287" y="2852928"/>
            <a:ext cx="977768" cy="822960"/>
          </a:xfrm>
          <a:prstGeom prst="rect">
            <a:avLst/>
          </a:prstGeom>
          <a:noFill/>
          <a:ln/>
        </p:spPr>
        <p:txBody>
          <a:bodyPr wrap="square" lIns="0" tIns="0" rIns="0" bIns="0" rtlCol="0" anchor="ctr"/>
          <a:lstStyle/>
          <a:p>
            <a:pPr algn="ctr" indent="0" marL="0">
              <a:buNone/>
            </a:pPr>
            <a:r>
              <a:rPr lang="es-CL" altLang="en-US" sz="1800" b="1" dirty="0">
                <a:solidFill>
                  <a:srgbClr val="F87171"/>
                </a:solidFill>
                <a:latin typeface="IBM Plex Mono" pitchFamily="34" charset="0"/>
                <a:ea typeface="IBM Plex Mono" pitchFamily="34" charset="-122"/>
                <a:cs typeface="IBM Plex Mono" pitchFamily="34" charset="-120"/>
              </a:rPr>
              <a:t>10</a:t>
            </a:r>
            <a:endParaRPr lang="es-CL" sz="1800" dirty="0"/>
          </a:p>
        </p:txBody>
      </p:sp>
      <p:sp>
        <p:nvSpPr>
          <p:cNvPr id="28" name="Text 26"/>
          <p:cNvSpPr txBox="1"/>
          <p:nvPr/>
        </p:nvSpPr>
        <p:spPr>
          <a:xfrm>
            <a:off x="548640" y="3931920"/>
            <a:ext cx="3108960" cy="274320"/>
          </a:xfrm>
          <a:prstGeom prst="rect">
            <a:avLst/>
          </a:prstGeom>
          <a:noFill/>
          <a:ln/>
        </p:spPr>
        <p:txBody>
          <a:bodyPr wrap="square" lIns="0" tIns="0" rIns="0" bIns="0" rtlCol="0" anchor="t"/>
          <a:lstStyle/>
          <a:p>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REAL</a:t>
            </a:r>
            <a:endParaRPr lang="es-CL" sz="1400" dirty="0"/>
          </a:p>
        </p:txBody>
      </p:sp>
      <p:sp>
        <p:nvSpPr>
          <p:cNvPr id="29" name="Text 27"/>
          <p:cNvSpPr txBox="1"/>
          <p:nvPr/>
        </p:nvSpPr>
        <p:spPr>
          <a:xfrm>
            <a:off x="548640" y="4206240"/>
            <a:ext cx="3108960" cy="73152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80%</a:t>
            </a:r>
            <a:endParaRPr lang="es-CL" sz="4800" dirty="0"/>
          </a:p>
        </p:txBody>
      </p:sp>
      <p:sp>
        <p:nvSpPr>
          <p:cNvPr id="30" name="Text 28"/>
          <p:cNvSpPr txBox="1"/>
          <p:nvPr/>
        </p:nvSpPr>
        <p:spPr>
          <a:xfrm>
            <a:off x="3840480" y="3931920"/>
            <a:ext cx="3108960" cy="274320"/>
          </a:xfrm>
          <a:prstGeom prst="rect">
            <a:avLst/>
          </a:prstGeom>
          <a:noFill/>
          <a:ln/>
        </p:spPr>
        <p:txBody>
          <a:bodyPr wrap="square" lIns="0" tIns="0" rIns="0" bIns="0" rtlCol="0" anchor="t"/>
          <a:lstStyle/>
          <a:p>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DESVIACIÓN</a:t>
            </a:r>
            <a:endParaRPr lang="es-CL" sz="1400" dirty="0"/>
          </a:p>
        </p:txBody>
      </p:sp>
      <p:sp>
        <p:nvSpPr>
          <p:cNvPr id="31" name="Text 29"/>
          <p:cNvSpPr txBox="1"/>
          <p:nvPr/>
        </p:nvSpPr>
        <p:spPr>
          <a:xfrm>
            <a:off x="3840480" y="4206240"/>
            <a:ext cx="3108960" cy="731520"/>
          </a:xfrm>
          <a:prstGeom prst="rect">
            <a:avLst/>
          </a:prstGeom>
          <a:noFill/>
          <a:ln/>
        </p:spPr>
        <p:txBody>
          <a:bodyPr wrap="square" lIns="0" tIns="0" rIns="0" bIns="0" rtlCol="0" anchor="ctr"/>
          <a:lstStyle/>
          <a:p>
            <a:pPr indent="0" marL="0">
              <a:buNone/>
            </a:pPr>
            <a:r>
              <a:rPr lang="es-CL" altLang="en-US" sz="4800" b="1" dirty="0">
                <a:solidFill>
                  <a:schemeClr val="accent1"/>
                </a:solidFill>
                <a:latin typeface="Archivo Condensed" pitchFamily="34" charset="0"/>
                <a:ea typeface="Archivo Condensed" pitchFamily="34" charset="-122"/>
                <a:cs typeface="Archivo Condensed" pitchFamily="34" charset="-120"/>
              </a:rPr>
              <a:t>−20 pp</a:t>
            </a:r>
            <a:endParaRPr lang="es-CL" sz="4800" dirty="0"/>
          </a:p>
        </p:txBody>
      </p:sp>
      <p:sp>
        <p:nvSpPr>
          <p:cNvPr id="32" name="Shape 30"/>
          <p:cNvSpPr/>
          <p:nvPr/>
        </p:nvSpPr>
        <p:spPr>
          <a:xfrm>
            <a:off x="7223760" y="3931920"/>
            <a:ext cx="4419295" cy="749808"/>
          </a:xfrm>
          <a:prstGeom prst="rect">
            <a:avLst/>
          </a:prstGeom>
          <a:solidFill>
            <a:schemeClr val="bg1"/>
          </a:solidFill>
          <a:ln w="12700">
            <a:solidFill>
              <a:srgbClr val="F5B94A"/>
            </a:solidFill>
            <a:prstDash val="dash"/>
          </a:ln>
        </p:spPr>
      </p:sp>
      <p:sp>
        <p:nvSpPr>
          <p:cNvPr id="33" name="Text 31"/>
          <p:cNvSpPr txBox="1"/>
          <p:nvPr/>
        </p:nvSpPr>
        <p:spPr>
          <a:xfrm>
            <a:off x="7452360" y="3931920"/>
            <a:ext cx="2590495" cy="749808"/>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Regla general</a:t>
            </a:r>
            <a:endParaRPr lang="es-CL" sz="2000" dirty="0"/>
          </a:p>
        </p:txBody>
      </p:sp>
      <p:sp>
        <p:nvSpPr>
          <p:cNvPr id="34" name="Shape 32"/>
          <p:cNvSpPr/>
          <p:nvPr/>
        </p:nvSpPr>
        <p:spPr>
          <a:xfrm>
            <a:off x="10220147" y="4105656"/>
            <a:ext cx="1221740" cy="402336"/>
          </a:xfrm>
          <a:prstGeom prst="rect">
            <a:avLst/>
          </a:prstGeom>
          <a:solidFill>
            <a:schemeClr val="bg1">
              <a:alpha val="0"/>
            </a:schemeClr>
          </a:solidFill>
          <a:ln w="15875">
            <a:solidFill>
              <a:srgbClr val="F5B94A"/>
            </a:solidFill>
            <a:prstDash val="solid"/>
          </a:ln>
        </p:spPr>
      </p:sp>
      <p:sp>
        <p:nvSpPr>
          <p:cNvPr id="35" name="Shape 33"/>
          <p:cNvSpPr/>
          <p:nvPr/>
        </p:nvSpPr>
        <p:spPr>
          <a:xfrm>
            <a:off x="10357307" y="4233672"/>
            <a:ext cx="146304" cy="146304"/>
          </a:xfrm>
          <a:prstGeom prst="ellipse">
            <a:avLst/>
          </a:prstGeom>
          <a:solidFill>
            <a:srgbClr val="F5B94A"/>
          </a:solidFill>
          <a:ln/>
        </p:spPr>
      </p:sp>
      <p:sp>
        <p:nvSpPr>
          <p:cNvPr id="36" name="Text 34"/>
          <p:cNvSpPr txBox="1"/>
          <p:nvPr/>
        </p:nvSpPr>
        <p:spPr>
          <a:xfrm>
            <a:off x="10585907" y="4105656"/>
            <a:ext cx="764540" cy="402336"/>
          </a:xfrm>
          <a:prstGeom prst="rect">
            <a:avLst/>
          </a:prstGeom>
          <a:noFill/>
          <a:ln/>
        </p:spPr>
        <p:txBody>
          <a:bodyPr wrap="square" lIns="0" tIns="0" rIns="0" bIns="0" rtlCol="0" anchor="ctr"/>
          <a:lstStyle/>
          <a:p>
            <a:pPr indent="0" marL="0">
              <a:buNone/>
            </a:pPr>
            <a:r>
              <a:rPr lang="es-CL" altLang="en-US" sz="1600" b="1" spc="100" kern="0" dirty="0">
                <a:solidFill>
                  <a:srgbClr val="F5B94A"/>
                </a:solidFill>
                <a:latin typeface="IBM Plex Mono" pitchFamily="34" charset="0"/>
                <a:ea typeface="IBM Plex Mono" pitchFamily="34" charset="-122"/>
                <a:cs typeface="IBM Plex Mono" pitchFamily="34" charset="-120"/>
              </a:rPr>
              <a:t>ÁMBAR</a:t>
            </a:r>
            <a:endParaRPr lang="es-CL" sz="1600" dirty="0"/>
          </a:p>
        </p:txBody>
      </p:sp>
      <p:sp>
        <p:nvSpPr>
          <p:cNvPr id="37" name="Shape 35"/>
          <p:cNvSpPr/>
          <p:nvPr/>
        </p:nvSpPr>
        <p:spPr>
          <a:xfrm>
            <a:off x="7223760" y="4864608"/>
            <a:ext cx="4419295" cy="1371600"/>
          </a:xfrm>
          <a:prstGeom prst="rect">
            <a:avLst/>
          </a:prstGeom>
          <a:solidFill>
            <a:srgbClr val="0B1A22"/>
          </a:solidFill>
          <a:ln w="15875">
            <a:solidFill>
              <a:schemeClr val="accent1"/>
            </a:solidFill>
            <a:prstDash val="solid"/>
          </a:ln>
        </p:spPr>
      </p:sp>
      <p:sp>
        <p:nvSpPr>
          <p:cNvPr id="38" name="Shape 36"/>
          <p:cNvSpPr/>
          <p:nvPr/>
        </p:nvSpPr>
        <p:spPr>
          <a:xfrm>
            <a:off x="7168896" y="4809744"/>
            <a:ext cx="155448" cy="0"/>
          </a:xfrm>
          <a:prstGeom prst="line">
            <a:avLst/>
          </a:prstGeom>
          <a:noFill/>
          <a:ln w="15875">
            <a:solidFill>
              <a:schemeClr val="accent1"/>
            </a:solidFill>
            <a:prstDash val="solid"/>
          </a:ln>
        </p:spPr>
      </p:sp>
      <p:sp>
        <p:nvSpPr>
          <p:cNvPr id="39" name="Shape 37"/>
          <p:cNvSpPr/>
          <p:nvPr/>
        </p:nvSpPr>
        <p:spPr>
          <a:xfrm>
            <a:off x="7168896" y="4809744"/>
            <a:ext cx="0" cy="155448"/>
          </a:xfrm>
          <a:prstGeom prst="line">
            <a:avLst/>
          </a:prstGeom>
          <a:noFill/>
          <a:ln w="15875">
            <a:solidFill>
              <a:schemeClr val="accent1"/>
            </a:solidFill>
            <a:prstDash val="solid"/>
          </a:ln>
        </p:spPr>
      </p:sp>
      <p:sp>
        <p:nvSpPr>
          <p:cNvPr id="40" name="Shape 38"/>
          <p:cNvSpPr/>
          <p:nvPr/>
        </p:nvSpPr>
        <p:spPr>
          <a:xfrm>
            <a:off x="11542471" y="4809744"/>
            <a:ext cx="155448" cy="0"/>
          </a:xfrm>
          <a:prstGeom prst="line">
            <a:avLst/>
          </a:prstGeom>
          <a:noFill/>
          <a:ln w="15875">
            <a:solidFill>
              <a:schemeClr val="accent1"/>
            </a:solidFill>
            <a:prstDash val="solid"/>
          </a:ln>
        </p:spPr>
      </p:sp>
      <p:sp>
        <p:nvSpPr>
          <p:cNvPr id="41" name="Shape 39"/>
          <p:cNvSpPr/>
          <p:nvPr/>
        </p:nvSpPr>
        <p:spPr>
          <a:xfrm>
            <a:off x="11697919" y="4809744"/>
            <a:ext cx="0" cy="155448"/>
          </a:xfrm>
          <a:prstGeom prst="line">
            <a:avLst/>
          </a:prstGeom>
          <a:noFill/>
          <a:ln w="15875">
            <a:solidFill>
              <a:schemeClr val="accent1"/>
            </a:solidFill>
            <a:prstDash val="solid"/>
          </a:ln>
        </p:spPr>
      </p:sp>
      <p:sp>
        <p:nvSpPr>
          <p:cNvPr id="42" name="Shape 40"/>
          <p:cNvSpPr/>
          <p:nvPr/>
        </p:nvSpPr>
        <p:spPr>
          <a:xfrm>
            <a:off x="7168896" y="6291072"/>
            <a:ext cx="155448" cy="0"/>
          </a:xfrm>
          <a:prstGeom prst="line">
            <a:avLst/>
          </a:prstGeom>
          <a:noFill/>
          <a:ln w="15875">
            <a:solidFill>
              <a:schemeClr val="accent1"/>
            </a:solidFill>
            <a:prstDash val="solid"/>
          </a:ln>
        </p:spPr>
      </p:sp>
      <p:sp>
        <p:nvSpPr>
          <p:cNvPr id="43" name="Shape 41"/>
          <p:cNvSpPr/>
          <p:nvPr/>
        </p:nvSpPr>
        <p:spPr>
          <a:xfrm>
            <a:off x="7168896" y="6135624"/>
            <a:ext cx="0" cy="155448"/>
          </a:xfrm>
          <a:prstGeom prst="line">
            <a:avLst/>
          </a:prstGeom>
          <a:noFill/>
          <a:ln w="15875">
            <a:solidFill>
              <a:schemeClr val="accent1"/>
            </a:solidFill>
            <a:prstDash val="solid"/>
          </a:ln>
        </p:spPr>
      </p:sp>
      <p:sp>
        <p:nvSpPr>
          <p:cNvPr id="44" name="Shape 42"/>
          <p:cNvSpPr/>
          <p:nvPr/>
        </p:nvSpPr>
        <p:spPr>
          <a:xfrm>
            <a:off x="11542471" y="6291072"/>
            <a:ext cx="155448" cy="0"/>
          </a:xfrm>
          <a:prstGeom prst="line">
            <a:avLst/>
          </a:prstGeom>
          <a:noFill/>
          <a:ln w="15875">
            <a:solidFill>
              <a:schemeClr val="accent1"/>
            </a:solidFill>
            <a:prstDash val="solid"/>
          </a:ln>
        </p:spPr>
      </p:sp>
      <p:sp>
        <p:nvSpPr>
          <p:cNvPr id="45" name="Shape 43"/>
          <p:cNvSpPr/>
          <p:nvPr/>
        </p:nvSpPr>
        <p:spPr>
          <a:xfrm>
            <a:off x="11697919" y="6135624"/>
            <a:ext cx="0" cy="155448"/>
          </a:xfrm>
          <a:prstGeom prst="line">
            <a:avLst/>
          </a:prstGeom>
          <a:noFill/>
          <a:ln w="15875">
            <a:solidFill>
              <a:schemeClr val="accent1"/>
            </a:solidFill>
            <a:prstDash val="solid"/>
          </a:ln>
        </p:spPr>
      </p:sp>
      <p:sp>
        <p:nvSpPr>
          <p:cNvPr id="46" name="Text 44"/>
          <p:cNvSpPr txBox="1"/>
          <p:nvPr/>
        </p:nvSpPr>
        <p:spPr>
          <a:xfrm>
            <a:off x="7452360" y="4864608"/>
            <a:ext cx="2590495" cy="13716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Control crítico</a:t>
            </a:r>
            <a:endParaRPr lang="es-CL" sz="2200" dirty="0"/>
          </a:p>
        </p:txBody>
      </p:sp>
      <p:sp>
        <p:nvSpPr>
          <p:cNvPr id="47" name="Shape 45"/>
          <p:cNvSpPr/>
          <p:nvPr/>
        </p:nvSpPr>
        <p:spPr>
          <a:xfrm>
            <a:off x="10293807" y="5321808"/>
            <a:ext cx="1148080" cy="457200"/>
          </a:xfrm>
          <a:prstGeom prst="rect">
            <a:avLst/>
          </a:prstGeom>
          <a:solidFill>
            <a:schemeClr val="bg1">
              <a:alpha val="0"/>
            </a:schemeClr>
          </a:solidFill>
          <a:ln w="15875">
            <a:solidFill>
              <a:srgbClr val="F87171"/>
            </a:solidFill>
            <a:prstDash val="solid"/>
          </a:ln>
        </p:spPr>
      </p:sp>
      <p:sp>
        <p:nvSpPr>
          <p:cNvPr id="48" name="Shape 46"/>
          <p:cNvSpPr/>
          <p:nvPr/>
        </p:nvSpPr>
        <p:spPr>
          <a:xfrm>
            <a:off x="10430967" y="5477256"/>
            <a:ext cx="146304" cy="146304"/>
          </a:xfrm>
          <a:prstGeom prst="ellipse">
            <a:avLst/>
          </a:prstGeom>
          <a:solidFill>
            <a:srgbClr val="F87171"/>
          </a:solidFill>
          <a:ln/>
        </p:spPr>
      </p:sp>
      <p:sp>
        <p:nvSpPr>
          <p:cNvPr id="49" name="Text 47"/>
          <p:cNvSpPr txBox="1"/>
          <p:nvPr/>
        </p:nvSpPr>
        <p:spPr>
          <a:xfrm>
            <a:off x="10659567" y="5321808"/>
            <a:ext cx="690880" cy="457200"/>
          </a:xfrm>
          <a:prstGeom prst="rect">
            <a:avLst/>
          </a:prstGeom>
          <a:noFill/>
          <a:ln/>
        </p:spPr>
        <p:txBody>
          <a:bodyPr wrap="square" lIns="0" tIns="0" rIns="0" bIns="0" rtlCol="0" anchor="ctr"/>
          <a:lstStyle/>
          <a:p>
            <a:pPr indent="0" marL="0">
              <a:buNone/>
            </a:pPr>
            <a:r>
              <a:rPr lang="es-CL" altLang="en-US" sz="1800" b="1" spc="100" kern="0" dirty="0">
                <a:solidFill>
                  <a:srgbClr val="F87171"/>
                </a:solidFill>
                <a:latin typeface="IBM Plex Mono" pitchFamily="34" charset="0"/>
                <a:ea typeface="IBM Plex Mono" pitchFamily="34" charset="-122"/>
                <a:cs typeface="IBM Plex Mono" pitchFamily="34" charset="-120"/>
              </a:rPr>
              <a:t>ROJO</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CONTROL · ACCIÓN CORRECTIVA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DESVIACIÓN SE CIERRA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con evidencia, no cambiando el color.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material del curso «Sistemas de Control de Gestión: Indicadores» (ciclo de seguimiento); Excel de la Solemne 2, hoja CASO_SIMULADO.</a:t>
            </a:r>
            <a:endParaRPr lang="es-CL" sz="1100" dirty="0"/>
          </a:p>
        </p:txBody>
      </p:sp>
      <p:sp>
        <p:nvSpPr>
          <p:cNvPr id="5" name="Shape 3"/>
          <p:cNvSpPr/>
          <p:nvPr/>
        </p:nvSpPr>
        <p:spPr>
          <a:xfrm>
            <a:off x="8639759" y="2322576"/>
            <a:ext cx="3003296" cy="420624"/>
          </a:xfrm>
          <a:prstGeom prst="rect">
            <a:avLst/>
          </a:prstGeom>
          <a:solidFill>
            <a:schemeClr val="bg1">
              <a:alpha val="0"/>
            </a:schemeClr>
          </a:solidFill>
          <a:ln w="19050">
            <a:solidFill>
              <a:schemeClr val="tx1"/>
            </a:solidFill>
            <a:prstDash val="dash"/>
          </a:ln>
        </p:spPr>
      </p:sp>
      <p:sp>
        <p:nvSpPr>
          <p:cNvPr id="6" name="Text 4"/>
          <p:cNvSpPr txBox="1"/>
          <p:nvPr/>
        </p:nvSpPr>
        <p:spPr>
          <a:xfrm>
            <a:off x="8749487" y="2322576"/>
            <a:ext cx="2783840" cy="420624"/>
          </a:xfrm>
          <a:prstGeom prst="rect">
            <a:avLst/>
          </a:prstGeom>
          <a:noFill/>
          <a:ln/>
        </p:spPr>
        <p:txBody>
          <a:bodyPr wrap="square" lIns="0" tIns="0" rIns="0" bIns="0" rtlCol="0" anchor="ctr"/>
          <a:lstStyle/>
          <a:p>
            <a:pPr algn="ct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EJERCICIO HIPOTÉTICO</a:t>
            </a:r>
            <a:endParaRPr lang="es-CL" sz="1600" dirty="0"/>
          </a:p>
        </p:txBody>
      </p:sp>
      <p:sp>
        <p:nvSpPr>
          <p:cNvPr id="7" name="Text 5"/>
          <p:cNvSpPr txBox="1"/>
          <p:nvPr/>
        </p:nvSpPr>
        <p:spPr>
          <a:xfrm>
            <a:off x="548640" y="2395728"/>
            <a:ext cx="731520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LOS 2 INFORMES QUE FALTAN</a:t>
            </a:r>
            <a:endParaRPr lang="es-CL" sz="1600" dirty="0"/>
          </a:p>
        </p:txBody>
      </p:sp>
      <p:sp>
        <p:nvSpPr>
          <p:cNvPr id="8" name="Shape 6"/>
          <p:cNvSpPr/>
          <p:nvPr/>
        </p:nvSpPr>
        <p:spPr>
          <a:xfrm>
            <a:off x="548640" y="2926080"/>
            <a:ext cx="2430704" cy="1783080"/>
          </a:xfrm>
          <a:prstGeom prst="rect">
            <a:avLst/>
          </a:prstGeom>
          <a:solidFill>
            <a:schemeClr val="bg2"/>
          </a:solidFill>
          <a:ln w="9525">
            <a:solidFill>
              <a:schemeClr val="tx2"/>
            </a:solidFill>
            <a:prstDash val="solid"/>
          </a:ln>
        </p:spPr>
      </p:sp>
      <p:sp>
        <p:nvSpPr>
          <p:cNvPr id="9" name="Shape 7"/>
          <p:cNvSpPr/>
          <p:nvPr/>
        </p:nvSpPr>
        <p:spPr>
          <a:xfrm>
            <a:off x="749808" y="3127248"/>
            <a:ext cx="548640" cy="365760"/>
          </a:xfrm>
          <a:prstGeom prst="rect">
            <a:avLst/>
          </a:prstGeom>
          <a:solidFill>
            <a:schemeClr val="accent5"/>
          </a:solidFill>
          <a:ln/>
        </p:spPr>
      </p:sp>
      <p:sp>
        <p:nvSpPr>
          <p:cNvPr id="10" name="Text 8"/>
          <p:cNvSpPr txBox="1"/>
          <p:nvPr/>
        </p:nvSpPr>
        <p:spPr>
          <a:xfrm>
            <a:off x="749808" y="3127248"/>
            <a:ext cx="548640" cy="365760"/>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01</a:t>
            </a:r>
            <a:endParaRPr lang="es-CL" sz="1600" dirty="0"/>
          </a:p>
        </p:txBody>
      </p:sp>
      <p:sp>
        <p:nvSpPr>
          <p:cNvPr id="11" name="Text 9"/>
          <p:cNvSpPr txBox="1"/>
          <p:nvPr/>
        </p:nvSpPr>
        <p:spPr>
          <a:xfrm>
            <a:off x="749808" y="3584448"/>
            <a:ext cx="2028368" cy="402336"/>
          </a:xfrm>
          <a:prstGeom prst="rect">
            <a:avLst/>
          </a:prstGeom>
          <a:noFill/>
          <a:ln/>
        </p:spPr>
        <p:txBody>
          <a:bodyPr wrap="square" lIns="0" tIns="0" rIns="0" bIns="0" rtlCol="0" anchor="ctr"/>
          <a:lstStyle/>
          <a:p>
            <a:pPr indent="0" marL="0">
              <a:buNone/>
            </a:pPr>
            <a:r>
              <a:rPr lang="es-CL" altLang="en-US" sz="2400" b="1" dirty="0">
                <a:solidFill>
                  <a:schemeClr val="tx1"/>
                </a:solidFill>
                <a:latin typeface="Figtree" pitchFamily="34" charset="0"/>
                <a:ea typeface="Figtree" pitchFamily="34" charset="-122"/>
                <a:cs typeface="Figtree" pitchFamily="34" charset="-120"/>
              </a:rPr>
              <a:t>MEDIR</a:t>
            </a:r>
            <a:endParaRPr lang="es-CL" sz="2400" dirty="0"/>
          </a:p>
        </p:txBody>
      </p:sp>
      <p:sp>
        <p:nvSpPr>
          <p:cNvPr id="12" name="Text 10"/>
          <p:cNvSpPr txBox="1"/>
          <p:nvPr/>
        </p:nvSpPr>
        <p:spPr>
          <a:xfrm>
            <a:off x="749808" y="4005072"/>
            <a:ext cx="2064944"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El corte mensual detecta la brecha</a:t>
            </a:r>
            <a:endParaRPr lang="es-CL" sz="1800" dirty="0"/>
          </a:p>
        </p:txBody>
      </p:sp>
      <p:sp>
        <p:nvSpPr>
          <p:cNvPr id="13" name="Shape 11"/>
          <p:cNvSpPr/>
          <p:nvPr/>
        </p:nvSpPr>
        <p:spPr>
          <a:xfrm>
            <a:off x="3052496" y="3817620"/>
            <a:ext cx="310896" cy="0"/>
          </a:xfrm>
          <a:prstGeom prst="line">
            <a:avLst/>
          </a:prstGeom>
          <a:noFill/>
          <a:ln w="22225">
            <a:solidFill>
              <a:schemeClr val="accent1"/>
            </a:solidFill>
            <a:prstDash val="solid"/>
            <a:tailEnd type="triangle"/>
          </a:ln>
        </p:spPr>
      </p:sp>
      <p:sp>
        <p:nvSpPr>
          <p:cNvPr id="14" name="Shape 12"/>
          <p:cNvSpPr/>
          <p:nvPr/>
        </p:nvSpPr>
        <p:spPr>
          <a:xfrm>
            <a:off x="3436544" y="2926080"/>
            <a:ext cx="2430704" cy="1783080"/>
          </a:xfrm>
          <a:prstGeom prst="rect">
            <a:avLst/>
          </a:prstGeom>
          <a:solidFill>
            <a:schemeClr val="bg2"/>
          </a:solidFill>
          <a:ln w="9525">
            <a:solidFill>
              <a:schemeClr val="tx2"/>
            </a:solidFill>
            <a:prstDash val="solid"/>
          </a:ln>
        </p:spPr>
      </p:sp>
      <p:sp>
        <p:nvSpPr>
          <p:cNvPr id="15" name="Shape 13"/>
          <p:cNvSpPr/>
          <p:nvPr/>
        </p:nvSpPr>
        <p:spPr>
          <a:xfrm>
            <a:off x="3637712" y="3127248"/>
            <a:ext cx="548640" cy="365760"/>
          </a:xfrm>
          <a:prstGeom prst="rect">
            <a:avLst/>
          </a:prstGeom>
          <a:solidFill>
            <a:schemeClr val="accent5"/>
          </a:solidFill>
          <a:ln/>
        </p:spPr>
      </p:sp>
      <p:sp>
        <p:nvSpPr>
          <p:cNvPr id="16" name="Text 14"/>
          <p:cNvSpPr txBox="1"/>
          <p:nvPr/>
        </p:nvSpPr>
        <p:spPr>
          <a:xfrm>
            <a:off x="3637712" y="3127248"/>
            <a:ext cx="548640" cy="365760"/>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02</a:t>
            </a:r>
            <a:endParaRPr lang="es-CL" sz="1600" dirty="0"/>
          </a:p>
        </p:txBody>
      </p:sp>
      <p:sp>
        <p:nvSpPr>
          <p:cNvPr id="17" name="Text 15"/>
          <p:cNvSpPr txBox="1"/>
          <p:nvPr/>
        </p:nvSpPr>
        <p:spPr>
          <a:xfrm>
            <a:off x="3637712" y="3584448"/>
            <a:ext cx="2028368" cy="402336"/>
          </a:xfrm>
          <a:prstGeom prst="rect">
            <a:avLst/>
          </a:prstGeom>
          <a:noFill/>
          <a:ln/>
        </p:spPr>
        <p:txBody>
          <a:bodyPr wrap="square" lIns="0" tIns="0" rIns="0" bIns="0" rtlCol="0" anchor="ctr"/>
          <a:lstStyle/>
          <a:p>
            <a:pPr indent="0" marL="0">
              <a:buNone/>
            </a:pPr>
            <a:r>
              <a:rPr lang="es-CL" altLang="en-US" sz="2400" b="1" dirty="0">
                <a:solidFill>
                  <a:schemeClr val="tx1"/>
                </a:solidFill>
                <a:latin typeface="Figtree" pitchFamily="34" charset="0"/>
                <a:ea typeface="Figtree" pitchFamily="34" charset="-122"/>
                <a:cs typeface="Figtree" pitchFamily="34" charset="-120"/>
              </a:rPr>
              <a:t>EXPLICAR</a:t>
            </a:r>
            <a:endParaRPr lang="es-CL" sz="2400" dirty="0"/>
          </a:p>
        </p:txBody>
      </p:sp>
      <p:sp>
        <p:nvSpPr>
          <p:cNvPr id="18" name="Text 16"/>
          <p:cNvSpPr txBox="1"/>
          <p:nvPr/>
        </p:nvSpPr>
        <p:spPr>
          <a:xfrm>
            <a:off x="3637712" y="4005072"/>
            <a:ext cx="2064944"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¿Faltó medir, validar o entregar?</a:t>
            </a:r>
            <a:endParaRPr lang="es-CL" sz="1800" dirty="0"/>
          </a:p>
        </p:txBody>
      </p:sp>
      <p:sp>
        <p:nvSpPr>
          <p:cNvPr id="19" name="Shape 17"/>
          <p:cNvSpPr/>
          <p:nvPr/>
        </p:nvSpPr>
        <p:spPr>
          <a:xfrm>
            <a:off x="5940400" y="3817620"/>
            <a:ext cx="310896" cy="0"/>
          </a:xfrm>
          <a:prstGeom prst="line">
            <a:avLst/>
          </a:prstGeom>
          <a:noFill/>
          <a:ln w="22225">
            <a:solidFill>
              <a:schemeClr val="accent1"/>
            </a:solidFill>
            <a:prstDash val="solid"/>
            <a:tailEnd type="triangle"/>
          </a:ln>
        </p:spPr>
      </p:sp>
      <p:sp>
        <p:nvSpPr>
          <p:cNvPr id="20" name="Shape 18"/>
          <p:cNvSpPr/>
          <p:nvPr/>
        </p:nvSpPr>
        <p:spPr>
          <a:xfrm>
            <a:off x="6324448" y="2926080"/>
            <a:ext cx="2430704" cy="1783080"/>
          </a:xfrm>
          <a:prstGeom prst="rect">
            <a:avLst/>
          </a:prstGeom>
          <a:solidFill>
            <a:schemeClr val="bg2"/>
          </a:solidFill>
          <a:ln w="9525">
            <a:solidFill>
              <a:schemeClr val="tx2"/>
            </a:solidFill>
            <a:prstDash val="solid"/>
          </a:ln>
        </p:spPr>
      </p:sp>
      <p:sp>
        <p:nvSpPr>
          <p:cNvPr id="21" name="Shape 19"/>
          <p:cNvSpPr/>
          <p:nvPr/>
        </p:nvSpPr>
        <p:spPr>
          <a:xfrm>
            <a:off x="6525616" y="3127248"/>
            <a:ext cx="548640" cy="365760"/>
          </a:xfrm>
          <a:prstGeom prst="rect">
            <a:avLst/>
          </a:prstGeom>
          <a:solidFill>
            <a:schemeClr val="accent5"/>
          </a:solidFill>
          <a:ln/>
        </p:spPr>
      </p:sp>
      <p:sp>
        <p:nvSpPr>
          <p:cNvPr id="22" name="Text 20"/>
          <p:cNvSpPr txBox="1"/>
          <p:nvPr/>
        </p:nvSpPr>
        <p:spPr>
          <a:xfrm>
            <a:off x="6525616" y="3127248"/>
            <a:ext cx="548640" cy="365760"/>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03</a:t>
            </a:r>
            <a:endParaRPr lang="es-CL" sz="1600" dirty="0"/>
          </a:p>
        </p:txBody>
      </p:sp>
      <p:sp>
        <p:nvSpPr>
          <p:cNvPr id="23" name="Text 21"/>
          <p:cNvSpPr txBox="1"/>
          <p:nvPr/>
        </p:nvSpPr>
        <p:spPr>
          <a:xfrm>
            <a:off x="6525616" y="3584448"/>
            <a:ext cx="2028368" cy="402336"/>
          </a:xfrm>
          <a:prstGeom prst="rect">
            <a:avLst/>
          </a:prstGeom>
          <a:noFill/>
          <a:ln/>
        </p:spPr>
        <p:txBody>
          <a:bodyPr wrap="square" lIns="0" tIns="0" rIns="0" bIns="0" rtlCol="0" anchor="ctr"/>
          <a:lstStyle/>
          <a:p>
            <a:pPr indent="0" marL="0">
              <a:buNone/>
            </a:pPr>
            <a:r>
              <a:rPr lang="es-CL" altLang="en-US" sz="2400" b="1" dirty="0">
                <a:solidFill>
                  <a:schemeClr val="tx1"/>
                </a:solidFill>
                <a:latin typeface="Figtree" pitchFamily="34" charset="0"/>
                <a:ea typeface="Figtree" pitchFamily="34" charset="-122"/>
                <a:cs typeface="Figtree" pitchFamily="34" charset="-120"/>
              </a:rPr>
              <a:t>CORREGIR</a:t>
            </a:r>
            <a:endParaRPr lang="es-CL" sz="2400" dirty="0"/>
          </a:p>
        </p:txBody>
      </p:sp>
      <p:sp>
        <p:nvSpPr>
          <p:cNvPr id="24" name="Text 22"/>
          <p:cNvSpPr txBox="1"/>
          <p:nvPr/>
        </p:nvSpPr>
        <p:spPr>
          <a:xfrm>
            <a:off x="6525616" y="4005072"/>
            <a:ext cx="2064944"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Responsable y plazo para cerrarlos</a:t>
            </a:r>
            <a:endParaRPr lang="es-CL" sz="1800" dirty="0"/>
          </a:p>
        </p:txBody>
      </p:sp>
      <p:sp>
        <p:nvSpPr>
          <p:cNvPr id="25" name="Shape 23"/>
          <p:cNvSpPr/>
          <p:nvPr/>
        </p:nvSpPr>
        <p:spPr>
          <a:xfrm>
            <a:off x="8828303" y="3817620"/>
            <a:ext cx="310896" cy="0"/>
          </a:xfrm>
          <a:prstGeom prst="line">
            <a:avLst/>
          </a:prstGeom>
          <a:noFill/>
          <a:ln w="22225">
            <a:solidFill>
              <a:schemeClr val="accent1"/>
            </a:solidFill>
            <a:prstDash val="solid"/>
            <a:tailEnd type="triangle"/>
          </a:ln>
        </p:spPr>
      </p:sp>
      <p:pic>
        <p:nvPicPr>
          <p:cNvPr id="26" name="Image 0" descr="C:\Users\Usuario\Documents\GitHub\lumine\solemne-2\generador\assets\brillo.png">    </p:cNvPr>
          <p:cNvPicPr>
            <a:picLocks noChangeAspect="1"/>
          </p:cNvPicPr>
          <p:nvPr/>
        </p:nvPicPr>
        <p:blipFill>
          <a:blip r:embed="rId1"/>
          <a:stretch>
            <a:fillRect/>
          </a:stretch>
        </p:blipFill>
        <p:spPr>
          <a:xfrm>
            <a:off x="8846591" y="2670048"/>
            <a:ext cx="3162224" cy="2295144"/>
          </a:xfrm>
          <a:prstGeom prst="rect">
            <a:avLst/>
          </a:prstGeom>
        </p:spPr>
      </p:pic>
      <p:sp>
        <p:nvSpPr>
          <p:cNvPr id="27" name="Shape 24"/>
          <p:cNvSpPr/>
          <p:nvPr/>
        </p:nvSpPr>
        <p:spPr>
          <a:xfrm>
            <a:off x="9212351" y="2926080"/>
            <a:ext cx="2430704" cy="1783080"/>
          </a:xfrm>
          <a:prstGeom prst="rect">
            <a:avLst/>
          </a:prstGeom>
          <a:solidFill>
            <a:srgbClr val="0B1A22"/>
          </a:solidFill>
          <a:ln w="15875">
            <a:solidFill>
              <a:schemeClr val="accent1"/>
            </a:solidFill>
            <a:prstDash val="solid"/>
          </a:ln>
        </p:spPr>
      </p:sp>
      <p:sp>
        <p:nvSpPr>
          <p:cNvPr id="28" name="Shape 25"/>
          <p:cNvSpPr/>
          <p:nvPr/>
        </p:nvSpPr>
        <p:spPr>
          <a:xfrm>
            <a:off x="9157487" y="2871216"/>
            <a:ext cx="155448" cy="0"/>
          </a:xfrm>
          <a:prstGeom prst="line">
            <a:avLst/>
          </a:prstGeom>
          <a:noFill/>
          <a:ln w="15875">
            <a:solidFill>
              <a:schemeClr val="accent1"/>
            </a:solidFill>
            <a:prstDash val="solid"/>
          </a:ln>
        </p:spPr>
      </p:sp>
      <p:sp>
        <p:nvSpPr>
          <p:cNvPr id="29" name="Shape 26"/>
          <p:cNvSpPr/>
          <p:nvPr/>
        </p:nvSpPr>
        <p:spPr>
          <a:xfrm>
            <a:off x="9157487" y="2871216"/>
            <a:ext cx="0" cy="155448"/>
          </a:xfrm>
          <a:prstGeom prst="line">
            <a:avLst/>
          </a:prstGeom>
          <a:noFill/>
          <a:ln w="15875">
            <a:solidFill>
              <a:schemeClr val="accent1"/>
            </a:solidFill>
            <a:prstDash val="solid"/>
          </a:ln>
        </p:spPr>
      </p:sp>
      <p:sp>
        <p:nvSpPr>
          <p:cNvPr id="30" name="Shape 27"/>
          <p:cNvSpPr/>
          <p:nvPr/>
        </p:nvSpPr>
        <p:spPr>
          <a:xfrm>
            <a:off x="11542471" y="2871216"/>
            <a:ext cx="155448" cy="0"/>
          </a:xfrm>
          <a:prstGeom prst="line">
            <a:avLst/>
          </a:prstGeom>
          <a:noFill/>
          <a:ln w="15875">
            <a:solidFill>
              <a:schemeClr val="accent1"/>
            </a:solidFill>
            <a:prstDash val="solid"/>
          </a:ln>
        </p:spPr>
      </p:sp>
      <p:sp>
        <p:nvSpPr>
          <p:cNvPr id="31" name="Shape 28"/>
          <p:cNvSpPr/>
          <p:nvPr/>
        </p:nvSpPr>
        <p:spPr>
          <a:xfrm>
            <a:off x="11697919" y="2871216"/>
            <a:ext cx="0" cy="155448"/>
          </a:xfrm>
          <a:prstGeom prst="line">
            <a:avLst/>
          </a:prstGeom>
          <a:noFill/>
          <a:ln w="15875">
            <a:solidFill>
              <a:schemeClr val="accent1"/>
            </a:solidFill>
            <a:prstDash val="solid"/>
          </a:ln>
        </p:spPr>
      </p:sp>
      <p:sp>
        <p:nvSpPr>
          <p:cNvPr id="32" name="Shape 29"/>
          <p:cNvSpPr/>
          <p:nvPr/>
        </p:nvSpPr>
        <p:spPr>
          <a:xfrm>
            <a:off x="9157487" y="4764024"/>
            <a:ext cx="155448" cy="0"/>
          </a:xfrm>
          <a:prstGeom prst="line">
            <a:avLst/>
          </a:prstGeom>
          <a:noFill/>
          <a:ln w="15875">
            <a:solidFill>
              <a:schemeClr val="accent1"/>
            </a:solidFill>
            <a:prstDash val="solid"/>
          </a:ln>
        </p:spPr>
      </p:sp>
      <p:sp>
        <p:nvSpPr>
          <p:cNvPr id="33" name="Shape 30"/>
          <p:cNvSpPr/>
          <p:nvPr/>
        </p:nvSpPr>
        <p:spPr>
          <a:xfrm>
            <a:off x="9157487" y="4608576"/>
            <a:ext cx="0" cy="155448"/>
          </a:xfrm>
          <a:prstGeom prst="line">
            <a:avLst/>
          </a:prstGeom>
          <a:noFill/>
          <a:ln w="15875">
            <a:solidFill>
              <a:schemeClr val="accent1"/>
            </a:solidFill>
            <a:prstDash val="solid"/>
          </a:ln>
        </p:spPr>
      </p:sp>
      <p:sp>
        <p:nvSpPr>
          <p:cNvPr id="34" name="Shape 31"/>
          <p:cNvSpPr/>
          <p:nvPr/>
        </p:nvSpPr>
        <p:spPr>
          <a:xfrm>
            <a:off x="11542471" y="4764024"/>
            <a:ext cx="155448" cy="0"/>
          </a:xfrm>
          <a:prstGeom prst="line">
            <a:avLst/>
          </a:prstGeom>
          <a:noFill/>
          <a:ln w="15875">
            <a:solidFill>
              <a:schemeClr val="accent1"/>
            </a:solidFill>
            <a:prstDash val="solid"/>
          </a:ln>
        </p:spPr>
      </p:sp>
      <p:sp>
        <p:nvSpPr>
          <p:cNvPr id="35" name="Shape 32"/>
          <p:cNvSpPr/>
          <p:nvPr/>
        </p:nvSpPr>
        <p:spPr>
          <a:xfrm>
            <a:off x="11697919" y="4608576"/>
            <a:ext cx="0" cy="155448"/>
          </a:xfrm>
          <a:prstGeom prst="line">
            <a:avLst/>
          </a:prstGeom>
          <a:noFill/>
          <a:ln w="15875">
            <a:solidFill>
              <a:schemeClr val="accent1"/>
            </a:solidFill>
            <a:prstDash val="solid"/>
          </a:ln>
        </p:spPr>
      </p:sp>
      <p:sp>
        <p:nvSpPr>
          <p:cNvPr id="36" name="Shape 33"/>
          <p:cNvSpPr/>
          <p:nvPr/>
        </p:nvSpPr>
        <p:spPr>
          <a:xfrm>
            <a:off x="9413519" y="3127248"/>
            <a:ext cx="548640" cy="365760"/>
          </a:xfrm>
          <a:prstGeom prst="rect">
            <a:avLst/>
          </a:prstGeom>
          <a:solidFill>
            <a:schemeClr val="accent1"/>
          </a:solidFill>
          <a:ln/>
        </p:spPr>
      </p:sp>
      <p:sp>
        <p:nvSpPr>
          <p:cNvPr id="37" name="Text 34"/>
          <p:cNvSpPr txBox="1"/>
          <p:nvPr/>
        </p:nvSpPr>
        <p:spPr>
          <a:xfrm>
            <a:off x="9413519" y="3127248"/>
            <a:ext cx="548640" cy="365760"/>
          </a:xfrm>
          <a:prstGeom prst="rect">
            <a:avLst/>
          </a:prstGeom>
          <a:noFill/>
          <a:ln/>
        </p:spPr>
        <p:txBody>
          <a:bodyPr wrap="square" lIns="0" tIns="0" rIns="0" bIns="0" rtlCol="0" anchor="ctr"/>
          <a:lstStyle/>
          <a:p>
            <a:pPr algn="ctr" indent="0" marL="0">
              <a:buNone/>
            </a:pPr>
            <a:r>
              <a:rPr lang="es-CL" altLang="en-US" sz="1600" b="1" dirty="0">
                <a:solidFill>
                  <a:schemeClr val="bg1"/>
                </a:solidFill>
                <a:latin typeface="IBM Plex Mono" pitchFamily="34" charset="0"/>
                <a:ea typeface="IBM Plex Mono" pitchFamily="34" charset="-122"/>
                <a:cs typeface="IBM Plex Mono" pitchFamily="34" charset="-120"/>
              </a:rPr>
              <a:t>04</a:t>
            </a:r>
            <a:endParaRPr lang="es-CL" sz="1600" dirty="0"/>
          </a:p>
        </p:txBody>
      </p:sp>
      <p:sp>
        <p:nvSpPr>
          <p:cNvPr id="38" name="Text 35"/>
          <p:cNvSpPr txBox="1"/>
          <p:nvPr/>
        </p:nvSpPr>
        <p:spPr>
          <a:xfrm>
            <a:off x="9413519" y="3584448"/>
            <a:ext cx="2028368" cy="402336"/>
          </a:xfrm>
          <a:prstGeom prst="rect">
            <a:avLst/>
          </a:prstGeom>
          <a:noFill/>
          <a:ln/>
        </p:spPr>
        <p:txBody>
          <a:bodyPr wrap="square" lIns="0" tIns="0" rIns="0" bIns="0" rtlCol="0" anchor="ctr"/>
          <a:lstStyle/>
          <a:p>
            <a:pPr indent="0" marL="0">
              <a:buNone/>
            </a:pPr>
            <a:r>
              <a:rPr lang="es-CL" altLang="en-US" sz="2400" b="1" dirty="0">
                <a:solidFill>
                  <a:schemeClr val="accent1"/>
                </a:solidFill>
                <a:latin typeface="Figtree" pitchFamily="34" charset="0"/>
                <a:ea typeface="Figtree" pitchFamily="34" charset="-122"/>
                <a:cs typeface="Figtree" pitchFamily="34" charset="-120"/>
              </a:rPr>
              <a:t>VERIFICAR</a:t>
            </a:r>
            <a:endParaRPr lang="es-CL" sz="2400" dirty="0"/>
          </a:p>
        </p:txBody>
      </p:sp>
      <p:sp>
        <p:nvSpPr>
          <p:cNvPr id="39" name="Text 36"/>
          <p:cNvSpPr txBox="1"/>
          <p:nvPr/>
        </p:nvSpPr>
        <p:spPr>
          <a:xfrm>
            <a:off x="9413519" y="4005072"/>
            <a:ext cx="2064944" cy="64008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Informe firmado, entrega y acuse</a:t>
            </a:r>
            <a:endParaRPr lang="es-CL" sz="1800" dirty="0"/>
          </a:p>
        </p:txBody>
      </p:sp>
      <p:sp>
        <p:nvSpPr>
          <p:cNvPr id="40" name="Shape 37"/>
          <p:cNvSpPr/>
          <p:nvPr/>
        </p:nvSpPr>
        <p:spPr>
          <a:xfrm>
            <a:off x="10427703" y="4709160"/>
            <a:ext cx="0" cy="292608"/>
          </a:xfrm>
          <a:prstGeom prst="line">
            <a:avLst/>
          </a:prstGeom>
          <a:noFill/>
          <a:ln w="22225">
            <a:solidFill>
              <a:schemeClr val="accent1"/>
            </a:solidFill>
            <a:prstDash val="solid"/>
          </a:ln>
        </p:spPr>
      </p:sp>
      <p:sp>
        <p:nvSpPr>
          <p:cNvPr id="41" name="Shape 38"/>
          <p:cNvSpPr/>
          <p:nvPr/>
        </p:nvSpPr>
        <p:spPr>
          <a:xfrm>
            <a:off x="1763992" y="5001768"/>
            <a:ext cx="8663711" cy="0"/>
          </a:xfrm>
          <a:prstGeom prst="line">
            <a:avLst/>
          </a:prstGeom>
          <a:noFill/>
          <a:ln w="22225">
            <a:solidFill>
              <a:schemeClr val="accent1"/>
            </a:solidFill>
            <a:prstDash val="solid"/>
          </a:ln>
        </p:spPr>
      </p:sp>
      <p:sp>
        <p:nvSpPr>
          <p:cNvPr id="42" name="Shape 39"/>
          <p:cNvSpPr/>
          <p:nvPr/>
        </p:nvSpPr>
        <p:spPr>
          <a:xfrm>
            <a:off x="1763992" y="5001768"/>
            <a:ext cx="0" cy="-292608"/>
          </a:xfrm>
          <a:prstGeom prst="line">
            <a:avLst/>
          </a:prstGeom>
          <a:noFill/>
          <a:ln w="22225">
            <a:solidFill>
              <a:schemeClr val="accent1"/>
            </a:solidFill>
            <a:prstDash val="solid"/>
            <a:tailEnd type="triangle"/>
          </a:ln>
        </p:spPr>
      </p:sp>
      <p:sp>
        <p:nvSpPr>
          <p:cNvPr id="43" name="Text 40"/>
          <p:cNvSpPr txBox="1"/>
          <p:nvPr/>
        </p:nvSpPr>
        <p:spPr>
          <a:xfrm>
            <a:off x="2038312" y="5038344"/>
            <a:ext cx="5486400" cy="365760"/>
          </a:xfrm>
          <a:prstGeom prst="rect">
            <a:avLst/>
          </a:prstGeom>
          <a:noFill/>
          <a:ln/>
        </p:spPr>
        <p:txBody>
          <a:bodyPr wrap="square" lIns="0" tIns="0" rIns="0" bIns="0" rtlCol="0" anchor="t"/>
          <a:lstStyle/>
          <a:p>
            <a:pPr indent="0" marL="0">
              <a:buNone/>
            </a:pPr>
            <a:r>
              <a:rPr lang="es-CL" altLang="en-US" sz="1800" i="1" dirty="0">
                <a:solidFill>
                  <a:schemeClr val="accent1"/>
                </a:solidFill>
                <a:latin typeface="Instrument Serif" pitchFamily="34" charset="0"/>
                <a:ea typeface="Instrument Serif" pitchFamily="34" charset="-122"/>
                <a:cs typeface="Instrument Serif" pitchFamily="34" charset="-120"/>
              </a:rPr>
              <a:t>nueva medición en el siguiente corte</a:t>
            </a:r>
            <a:endParaRPr lang="es-CL" sz="1800" dirty="0"/>
          </a:p>
        </p:txBody>
      </p:sp>
      <p:sp>
        <p:nvSpPr>
          <p:cNvPr id="44" name="Shape 41"/>
          <p:cNvSpPr/>
          <p:nvPr/>
        </p:nvSpPr>
        <p:spPr>
          <a:xfrm>
            <a:off x="548640" y="5568696"/>
            <a:ext cx="11094415" cy="0"/>
          </a:xfrm>
          <a:prstGeom prst="line">
            <a:avLst/>
          </a:prstGeom>
          <a:noFill/>
          <a:ln w="9525">
            <a:solidFill>
              <a:schemeClr val="accent1"/>
            </a:solidFill>
            <a:prstDash val="solid"/>
          </a:ln>
        </p:spPr>
      </p:sp>
      <p:sp>
        <p:nvSpPr>
          <p:cNvPr id="45" name="Text 42"/>
          <p:cNvSpPr txBox="1"/>
          <p:nvPr/>
        </p:nvSpPr>
        <p:spPr>
          <a:xfrm>
            <a:off x="548640" y="5678424"/>
            <a:ext cx="11094415"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Si la falla se repite: </a:t>
            </a:r>
            <a:pPr indent="0" marL="0">
              <a:buNone/>
            </a:pPr>
            <a:r>
              <a:rPr lang="es-CL" altLang="en-US" sz="2200" dirty="0">
                <a:solidFill>
                  <a:schemeClr val="tx2"/>
                </a:solidFill>
                <a:latin typeface="Figtree" pitchFamily="34" charset="0"/>
                <a:ea typeface="Figtree" pitchFamily="34" charset="-122"/>
                <a:cs typeface="Figtree" pitchFamily="34" charset="-120"/>
              </a:rPr>
              <a:t>se rediseña el protocolo, no se culpa al técnico.</a:t>
            </a:r>
            <a:endParaRPr lang="es-CL" sz="2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CONCLUSIÓN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DICE CUÁNDO AVANZAR;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faltan el WACC y la tolerancia.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El WACC y la tolerancia de error del ahorro quedan por definir con antecedentes.</a:t>
            </a:r>
            <a:endParaRPr lang="es-CL" sz="1100" dirty="0"/>
          </a:p>
        </p:txBody>
      </p:sp>
      <p:sp>
        <p:nvSpPr>
          <p:cNvPr id="5" name="Shape 3"/>
          <p:cNvSpPr/>
          <p:nvPr/>
        </p:nvSpPr>
        <p:spPr>
          <a:xfrm>
            <a:off x="548640" y="4590288"/>
            <a:ext cx="1559052" cy="1600200"/>
          </a:xfrm>
          <a:prstGeom prst="rect">
            <a:avLst/>
          </a:prstGeom>
          <a:solidFill>
            <a:schemeClr val="bg2"/>
          </a:solidFill>
          <a:ln w="9525">
            <a:solidFill>
              <a:schemeClr val="accent5"/>
            </a:solidFill>
            <a:prstDash val="solid"/>
          </a:ln>
        </p:spPr>
      </p:sp>
      <p:sp>
        <p:nvSpPr>
          <p:cNvPr id="6" name="Shape 4"/>
          <p:cNvSpPr/>
          <p:nvPr/>
        </p:nvSpPr>
        <p:spPr>
          <a:xfrm>
            <a:off x="548640" y="4590288"/>
            <a:ext cx="1559052" cy="45720"/>
          </a:xfrm>
          <a:prstGeom prst="rect">
            <a:avLst/>
          </a:prstGeom>
          <a:solidFill>
            <a:schemeClr val="tx2"/>
          </a:solidFill>
          <a:ln/>
        </p:spPr>
      </p:sp>
      <p:sp>
        <p:nvSpPr>
          <p:cNvPr id="7" name="Shape 5"/>
          <p:cNvSpPr/>
          <p:nvPr/>
        </p:nvSpPr>
        <p:spPr>
          <a:xfrm>
            <a:off x="713232" y="4773168"/>
            <a:ext cx="420624" cy="384048"/>
          </a:xfrm>
          <a:prstGeom prst="rect">
            <a:avLst/>
          </a:prstGeom>
          <a:solidFill>
            <a:schemeClr val="accent5"/>
          </a:solidFill>
          <a:ln/>
        </p:spPr>
      </p:sp>
      <p:sp>
        <p:nvSpPr>
          <p:cNvPr id="8" name="Text 6"/>
          <p:cNvSpPr txBox="1"/>
          <p:nvPr/>
        </p:nvSpPr>
        <p:spPr>
          <a:xfrm>
            <a:off x="713232" y="4773168"/>
            <a:ext cx="420624" cy="384048"/>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IBM Plex Mono" pitchFamily="34" charset="0"/>
                <a:ea typeface="IBM Plex Mono" pitchFamily="34" charset="-122"/>
                <a:cs typeface="IBM Plex Mono" pitchFamily="34" charset="-120"/>
              </a:rPr>
              <a:t>1</a:t>
            </a:r>
            <a:endParaRPr lang="es-CL" sz="1800" dirty="0"/>
          </a:p>
        </p:txBody>
      </p:sp>
      <p:sp>
        <p:nvSpPr>
          <p:cNvPr id="9" name="Text 7"/>
          <p:cNvSpPr txBox="1"/>
          <p:nvPr/>
        </p:nvSpPr>
        <p:spPr>
          <a:xfrm>
            <a:off x="713232" y="5248656"/>
            <a:ext cx="1284732"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APRENDIZAJE</a:t>
            </a:r>
            <a:endParaRPr lang="es-CL" sz="1200" dirty="0"/>
          </a:p>
        </p:txBody>
      </p:sp>
      <p:sp>
        <p:nvSpPr>
          <p:cNvPr id="10" name="Text 8"/>
          <p:cNvSpPr txBox="1"/>
          <p:nvPr/>
        </p:nvSpPr>
        <p:spPr>
          <a:xfrm>
            <a:off x="694944" y="5504688"/>
            <a:ext cx="135788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Capacidades verificables</a:t>
            </a:r>
            <a:endParaRPr lang="es-CL" sz="1600" dirty="0"/>
          </a:p>
        </p:txBody>
      </p:sp>
      <p:sp>
        <p:nvSpPr>
          <p:cNvPr id="11" name="Shape 9"/>
          <p:cNvSpPr/>
          <p:nvPr/>
        </p:nvSpPr>
        <p:spPr>
          <a:xfrm>
            <a:off x="2253996" y="3858768"/>
            <a:ext cx="1559052" cy="2331720"/>
          </a:xfrm>
          <a:prstGeom prst="rect">
            <a:avLst/>
          </a:prstGeom>
          <a:solidFill>
            <a:schemeClr val="bg2"/>
          </a:solidFill>
          <a:ln w="9525">
            <a:solidFill>
              <a:schemeClr val="tx2"/>
            </a:solidFill>
            <a:prstDash val="solid"/>
          </a:ln>
        </p:spPr>
      </p:sp>
      <p:sp>
        <p:nvSpPr>
          <p:cNvPr id="12" name="Shape 10"/>
          <p:cNvSpPr/>
          <p:nvPr/>
        </p:nvSpPr>
        <p:spPr>
          <a:xfrm>
            <a:off x="2253996" y="3858768"/>
            <a:ext cx="1559052" cy="45720"/>
          </a:xfrm>
          <a:prstGeom prst="rect">
            <a:avLst/>
          </a:prstGeom>
          <a:solidFill>
            <a:schemeClr val="tx2"/>
          </a:solidFill>
          <a:ln/>
        </p:spPr>
      </p:sp>
      <p:sp>
        <p:nvSpPr>
          <p:cNvPr id="13" name="Shape 11"/>
          <p:cNvSpPr/>
          <p:nvPr/>
        </p:nvSpPr>
        <p:spPr>
          <a:xfrm>
            <a:off x="2418588" y="4041648"/>
            <a:ext cx="420624" cy="384048"/>
          </a:xfrm>
          <a:prstGeom prst="rect">
            <a:avLst/>
          </a:prstGeom>
          <a:solidFill>
            <a:schemeClr val="accent5"/>
          </a:solidFill>
          <a:ln/>
        </p:spPr>
      </p:sp>
      <p:sp>
        <p:nvSpPr>
          <p:cNvPr id="14" name="Text 12"/>
          <p:cNvSpPr txBox="1"/>
          <p:nvPr/>
        </p:nvSpPr>
        <p:spPr>
          <a:xfrm>
            <a:off x="2418588" y="4041648"/>
            <a:ext cx="420624" cy="384048"/>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IBM Plex Mono" pitchFamily="34" charset="0"/>
                <a:ea typeface="IBM Plex Mono" pitchFamily="34" charset="-122"/>
                <a:cs typeface="IBM Plex Mono" pitchFamily="34" charset="-120"/>
              </a:rPr>
              <a:t>2</a:t>
            </a:r>
            <a:endParaRPr lang="es-CL" sz="1800" dirty="0"/>
          </a:p>
        </p:txBody>
      </p:sp>
      <p:sp>
        <p:nvSpPr>
          <p:cNvPr id="15" name="Text 13"/>
          <p:cNvSpPr txBox="1"/>
          <p:nvPr/>
        </p:nvSpPr>
        <p:spPr>
          <a:xfrm>
            <a:off x="2418588" y="4517136"/>
            <a:ext cx="1284732"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PROCESOS</a:t>
            </a:r>
            <a:endParaRPr lang="es-CL" sz="1200" dirty="0"/>
          </a:p>
        </p:txBody>
      </p:sp>
      <p:sp>
        <p:nvSpPr>
          <p:cNvPr id="16" name="Text 14"/>
          <p:cNvSpPr txBox="1"/>
          <p:nvPr/>
        </p:nvSpPr>
        <p:spPr>
          <a:xfrm>
            <a:off x="2400300" y="4773168"/>
            <a:ext cx="135788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Procesos formales</a:t>
            </a:r>
            <a:endParaRPr lang="es-CL" sz="1600" dirty="0"/>
          </a:p>
        </p:txBody>
      </p:sp>
      <p:sp>
        <p:nvSpPr>
          <p:cNvPr id="17" name="Shape 15"/>
          <p:cNvSpPr/>
          <p:nvPr/>
        </p:nvSpPr>
        <p:spPr>
          <a:xfrm>
            <a:off x="3959352" y="3127248"/>
            <a:ext cx="1559052" cy="3063240"/>
          </a:xfrm>
          <a:prstGeom prst="rect">
            <a:avLst/>
          </a:prstGeom>
          <a:solidFill>
            <a:schemeClr val="bg2"/>
          </a:solidFill>
          <a:ln w="9525">
            <a:solidFill>
              <a:schemeClr val="tx2"/>
            </a:solidFill>
            <a:prstDash val="solid"/>
          </a:ln>
        </p:spPr>
      </p:sp>
      <p:sp>
        <p:nvSpPr>
          <p:cNvPr id="18" name="Shape 16"/>
          <p:cNvSpPr/>
          <p:nvPr/>
        </p:nvSpPr>
        <p:spPr>
          <a:xfrm>
            <a:off x="3959352" y="3127248"/>
            <a:ext cx="1559052" cy="45720"/>
          </a:xfrm>
          <a:prstGeom prst="rect">
            <a:avLst/>
          </a:prstGeom>
          <a:solidFill>
            <a:schemeClr val="tx2"/>
          </a:solidFill>
          <a:ln/>
        </p:spPr>
      </p:sp>
      <p:sp>
        <p:nvSpPr>
          <p:cNvPr id="19" name="Shape 17"/>
          <p:cNvSpPr/>
          <p:nvPr/>
        </p:nvSpPr>
        <p:spPr>
          <a:xfrm>
            <a:off x="4123944" y="3310128"/>
            <a:ext cx="420624" cy="384048"/>
          </a:xfrm>
          <a:prstGeom prst="rect">
            <a:avLst/>
          </a:prstGeom>
          <a:solidFill>
            <a:schemeClr val="accent5"/>
          </a:solidFill>
          <a:ln/>
        </p:spPr>
      </p:sp>
      <p:sp>
        <p:nvSpPr>
          <p:cNvPr id="20" name="Text 18"/>
          <p:cNvSpPr txBox="1"/>
          <p:nvPr/>
        </p:nvSpPr>
        <p:spPr>
          <a:xfrm>
            <a:off x="4123944" y="3310128"/>
            <a:ext cx="420624" cy="384048"/>
          </a:xfrm>
          <a:prstGeom prst="rect">
            <a:avLst/>
          </a:prstGeom>
          <a:noFill/>
          <a:ln/>
        </p:spPr>
        <p:txBody>
          <a:bodyPr wrap="square" lIns="0" tIns="0" rIns="0" bIns="0" rtlCol="0" anchor="ctr"/>
          <a:lstStyle/>
          <a:p>
            <a:pPr algn="ctr" indent="0" marL="0">
              <a:buNone/>
            </a:pPr>
            <a:r>
              <a:rPr lang="es-CL" altLang="en-US" sz="1800" b="1" dirty="0">
                <a:solidFill>
                  <a:schemeClr val="tx1"/>
                </a:solidFill>
                <a:latin typeface="IBM Plex Mono" pitchFamily="34" charset="0"/>
                <a:ea typeface="IBM Plex Mono" pitchFamily="34" charset="-122"/>
                <a:cs typeface="IBM Plex Mono" pitchFamily="34" charset="-120"/>
              </a:rPr>
              <a:t>3</a:t>
            </a:r>
            <a:endParaRPr lang="es-CL" sz="1800" dirty="0"/>
          </a:p>
        </p:txBody>
      </p:sp>
      <p:sp>
        <p:nvSpPr>
          <p:cNvPr id="21" name="Text 19"/>
          <p:cNvSpPr txBox="1"/>
          <p:nvPr/>
        </p:nvSpPr>
        <p:spPr>
          <a:xfrm>
            <a:off x="4123944" y="3785616"/>
            <a:ext cx="1284732"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CLIENTES</a:t>
            </a:r>
            <a:endParaRPr lang="es-CL" sz="1200" dirty="0"/>
          </a:p>
        </p:txBody>
      </p:sp>
      <p:sp>
        <p:nvSpPr>
          <p:cNvPr id="22" name="Text 20"/>
          <p:cNvSpPr txBox="1"/>
          <p:nvPr/>
        </p:nvSpPr>
        <p:spPr>
          <a:xfrm>
            <a:off x="4105656" y="4041648"/>
            <a:ext cx="135788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Valor demostrado al cliente</a:t>
            </a:r>
            <a:endParaRPr lang="es-CL" sz="1600" dirty="0"/>
          </a:p>
        </p:txBody>
      </p:sp>
      <p:pic>
        <p:nvPicPr>
          <p:cNvPr id="23" name="Image 0" descr="C:\Users\Usuario\Documents\GitHub\lumine\solemne-2\generador\assets\brillo.png">    </p:cNvPr>
          <p:cNvPicPr>
            <a:picLocks noChangeAspect="1"/>
          </p:cNvPicPr>
          <p:nvPr/>
        </p:nvPicPr>
        <p:blipFill>
          <a:blip r:embed="rId1"/>
          <a:stretch>
            <a:fillRect/>
          </a:stretch>
        </p:blipFill>
        <p:spPr>
          <a:xfrm>
            <a:off x="5207508" y="2075688"/>
            <a:ext cx="2473452" cy="4434840"/>
          </a:xfrm>
          <a:prstGeom prst="rect">
            <a:avLst/>
          </a:prstGeom>
        </p:spPr>
      </p:pic>
      <p:sp>
        <p:nvSpPr>
          <p:cNvPr id="24" name="Shape 21"/>
          <p:cNvSpPr/>
          <p:nvPr/>
        </p:nvSpPr>
        <p:spPr>
          <a:xfrm>
            <a:off x="5664708" y="2395728"/>
            <a:ext cx="1559052" cy="3794760"/>
          </a:xfrm>
          <a:prstGeom prst="rect">
            <a:avLst/>
          </a:prstGeom>
          <a:solidFill>
            <a:srgbClr val="0B1A22"/>
          </a:solidFill>
          <a:ln w="15875">
            <a:solidFill>
              <a:schemeClr val="accent1"/>
            </a:solidFill>
            <a:prstDash val="solid"/>
          </a:ln>
        </p:spPr>
      </p:sp>
      <p:sp>
        <p:nvSpPr>
          <p:cNvPr id="25" name="Shape 22"/>
          <p:cNvSpPr/>
          <p:nvPr/>
        </p:nvSpPr>
        <p:spPr>
          <a:xfrm>
            <a:off x="5609844" y="2340864"/>
            <a:ext cx="155448" cy="0"/>
          </a:xfrm>
          <a:prstGeom prst="line">
            <a:avLst/>
          </a:prstGeom>
          <a:noFill/>
          <a:ln w="15875">
            <a:solidFill>
              <a:schemeClr val="accent1"/>
            </a:solidFill>
            <a:prstDash val="solid"/>
          </a:ln>
        </p:spPr>
      </p:sp>
      <p:sp>
        <p:nvSpPr>
          <p:cNvPr id="26" name="Shape 23"/>
          <p:cNvSpPr/>
          <p:nvPr/>
        </p:nvSpPr>
        <p:spPr>
          <a:xfrm>
            <a:off x="5609844" y="2340864"/>
            <a:ext cx="0" cy="155448"/>
          </a:xfrm>
          <a:prstGeom prst="line">
            <a:avLst/>
          </a:prstGeom>
          <a:noFill/>
          <a:ln w="15875">
            <a:solidFill>
              <a:schemeClr val="accent1"/>
            </a:solidFill>
            <a:prstDash val="solid"/>
          </a:ln>
        </p:spPr>
      </p:sp>
      <p:sp>
        <p:nvSpPr>
          <p:cNvPr id="27" name="Shape 24"/>
          <p:cNvSpPr/>
          <p:nvPr/>
        </p:nvSpPr>
        <p:spPr>
          <a:xfrm>
            <a:off x="7123176" y="2340864"/>
            <a:ext cx="155448" cy="0"/>
          </a:xfrm>
          <a:prstGeom prst="line">
            <a:avLst/>
          </a:prstGeom>
          <a:noFill/>
          <a:ln w="15875">
            <a:solidFill>
              <a:schemeClr val="accent1"/>
            </a:solidFill>
            <a:prstDash val="solid"/>
          </a:ln>
        </p:spPr>
      </p:sp>
      <p:sp>
        <p:nvSpPr>
          <p:cNvPr id="28" name="Shape 25"/>
          <p:cNvSpPr/>
          <p:nvPr/>
        </p:nvSpPr>
        <p:spPr>
          <a:xfrm>
            <a:off x="7278624" y="2340864"/>
            <a:ext cx="0" cy="155448"/>
          </a:xfrm>
          <a:prstGeom prst="line">
            <a:avLst/>
          </a:prstGeom>
          <a:noFill/>
          <a:ln w="15875">
            <a:solidFill>
              <a:schemeClr val="accent1"/>
            </a:solidFill>
            <a:prstDash val="solid"/>
          </a:ln>
        </p:spPr>
      </p:sp>
      <p:sp>
        <p:nvSpPr>
          <p:cNvPr id="29" name="Shape 26"/>
          <p:cNvSpPr/>
          <p:nvPr/>
        </p:nvSpPr>
        <p:spPr>
          <a:xfrm>
            <a:off x="5609844" y="6245352"/>
            <a:ext cx="155448" cy="0"/>
          </a:xfrm>
          <a:prstGeom prst="line">
            <a:avLst/>
          </a:prstGeom>
          <a:noFill/>
          <a:ln w="15875">
            <a:solidFill>
              <a:schemeClr val="accent1"/>
            </a:solidFill>
            <a:prstDash val="solid"/>
          </a:ln>
        </p:spPr>
      </p:sp>
      <p:sp>
        <p:nvSpPr>
          <p:cNvPr id="30" name="Shape 27"/>
          <p:cNvSpPr/>
          <p:nvPr/>
        </p:nvSpPr>
        <p:spPr>
          <a:xfrm>
            <a:off x="5609844" y="6089904"/>
            <a:ext cx="0" cy="155448"/>
          </a:xfrm>
          <a:prstGeom prst="line">
            <a:avLst/>
          </a:prstGeom>
          <a:noFill/>
          <a:ln w="15875">
            <a:solidFill>
              <a:schemeClr val="accent1"/>
            </a:solidFill>
            <a:prstDash val="solid"/>
          </a:ln>
        </p:spPr>
      </p:sp>
      <p:sp>
        <p:nvSpPr>
          <p:cNvPr id="31" name="Shape 28"/>
          <p:cNvSpPr/>
          <p:nvPr/>
        </p:nvSpPr>
        <p:spPr>
          <a:xfrm>
            <a:off x="7123176" y="6245352"/>
            <a:ext cx="155448" cy="0"/>
          </a:xfrm>
          <a:prstGeom prst="line">
            <a:avLst/>
          </a:prstGeom>
          <a:noFill/>
          <a:ln w="15875">
            <a:solidFill>
              <a:schemeClr val="accent1"/>
            </a:solidFill>
            <a:prstDash val="solid"/>
          </a:ln>
        </p:spPr>
      </p:sp>
      <p:sp>
        <p:nvSpPr>
          <p:cNvPr id="32" name="Shape 29"/>
          <p:cNvSpPr/>
          <p:nvPr/>
        </p:nvSpPr>
        <p:spPr>
          <a:xfrm>
            <a:off x="7278624" y="6089904"/>
            <a:ext cx="0" cy="155448"/>
          </a:xfrm>
          <a:prstGeom prst="line">
            <a:avLst/>
          </a:prstGeom>
          <a:noFill/>
          <a:ln w="15875">
            <a:solidFill>
              <a:schemeClr val="accent1"/>
            </a:solidFill>
            <a:prstDash val="solid"/>
          </a:ln>
        </p:spPr>
      </p:sp>
      <p:sp>
        <p:nvSpPr>
          <p:cNvPr id="33" name="Shape 30"/>
          <p:cNvSpPr/>
          <p:nvPr/>
        </p:nvSpPr>
        <p:spPr>
          <a:xfrm>
            <a:off x="5664708" y="2395728"/>
            <a:ext cx="1559052" cy="45720"/>
          </a:xfrm>
          <a:prstGeom prst="rect">
            <a:avLst/>
          </a:prstGeom>
          <a:solidFill>
            <a:schemeClr val="accent1"/>
          </a:solidFill>
          <a:ln/>
        </p:spPr>
      </p:sp>
      <p:sp>
        <p:nvSpPr>
          <p:cNvPr id="34" name="Shape 31"/>
          <p:cNvSpPr/>
          <p:nvPr/>
        </p:nvSpPr>
        <p:spPr>
          <a:xfrm>
            <a:off x="5829300" y="2578608"/>
            <a:ext cx="420624" cy="384048"/>
          </a:xfrm>
          <a:prstGeom prst="rect">
            <a:avLst/>
          </a:prstGeom>
          <a:solidFill>
            <a:schemeClr val="accent1"/>
          </a:solidFill>
          <a:ln/>
        </p:spPr>
      </p:sp>
      <p:sp>
        <p:nvSpPr>
          <p:cNvPr id="35" name="Text 32"/>
          <p:cNvSpPr txBox="1"/>
          <p:nvPr/>
        </p:nvSpPr>
        <p:spPr>
          <a:xfrm>
            <a:off x="5829300" y="2578608"/>
            <a:ext cx="420624" cy="384048"/>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4</a:t>
            </a:r>
            <a:endParaRPr lang="es-CL" sz="1800" dirty="0"/>
          </a:p>
        </p:txBody>
      </p:sp>
      <p:sp>
        <p:nvSpPr>
          <p:cNvPr id="36" name="Text 33"/>
          <p:cNvSpPr txBox="1"/>
          <p:nvPr/>
        </p:nvSpPr>
        <p:spPr>
          <a:xfrm>
            <a:off x="5829300" y="3054096"/>
            <a:ext cx="1284732"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FINANCIERA</a:t>
            </a:r>
            <a:endParaRPr lang="es-CL" sz="1200" dirty="0"/>
          </a:p>
        </p:txBody>
      </p:sp>
      <p:sp>
        <p:nvSpPr>
          <p:cNvPr id="37" name="Text 34"/>
          <p:cNvSpPr txBox="1"/>
          <p:nvPr/>
        </p:nvSpPr>
        <p:spPr>
          <a:xfrm>
            <a:off x="5811012" y="3310128"/>
            <a:ext cx="135788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EVA mayor que cero</a:t>
            </a:r>
            <a:endParaRPr lang="es-CL" sz="1600" dirty="0"/>
          </a:p>
        </p:txBody>
      </p:sp>
      <p:sp>
        <p:nvSpPr>
          <p:cNvPr id="38" name="Text 35"/>
          <p:cNvSpPr txBox="1"/>
          <p:nvPr/>
        </p:nvSpPr>
        <p:spPr>
          <a:xfrm>
            <a:off x="7726680" y="2395728"/>
            <a:ext cx="3916375"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POR DEFINIR</a:t>
            </a:r>
            <a:endParaRPr lang="es-CL" sz="1600" dirty="0"/>
          </a:p>
        </p:txBody>
      </p:sp>
      <p:sp>
        <p:nvSpPr>
          <p:cNvPr id="39" name="Shape 36"/>
          <p:cNvSpPr/>
          <p:nvPr/>
        </p:nvSpPr>
        <p:spPr>
          <a:xfrm>
            <a:off x="7726680" y="2779776"/>
            <a:ext cx="3916375" cy="0"/>
          </a:xfrm>
          <a:prstGeom prst="line">
            <a:avLst/>
          </a:prstGeom>
          <a:noFill/>
          <a:ln w="9525">
            <a:solidFill>
              <a:schemeClr val="accent5"/>
            </a:solidFill>
            <a:prstDash val="solid"/>
          </a:ln>
        </p:spPr>
      </p:sp>
      <p:sp>
        <p:nvSpPr>
          <p:cNvPr id="40" name="Text 37"/>
          <p:cNvSpPr txBox="1"/>
          <p:nvPr/>
        </p:nvSpPr>
        <p:spPr>
          <a:xfrm>
            <a:off x="7726680" y="2779776"/>
            <a:ext cx="2499055" cy="731520"/>
          </a:xfrm>
          <a:prstGeom prst="rect">
            <a:avLst/>
          </a:prstGeom>
          <a:noFill/>
          <a:ln/>
        </p:spPr>
        <p:txBody>
          <a:bodyPr wrap="square" lIns="0" tIns="0" rIns="0" bIns="0" rtlCol="0" anchor="ctr"/>
          <a:lstStyle/>
          <a:p>
            <a:pPr indent="0" marL="0">
              <a:lnSpc>
                <a:spcPct val="95000"/>
              </a:lnSpc>
              <a:buNone/>
            </a:pPr>
            <a:r>
              <a:rPr lang="es-CL" altLang="en-US" sz="2000" dirty="0">
                <a:solidFill>
                  <a:schemeClr val="tx1"/>
                </a:solidFill>
                <a:latin typeface="Figtree" pitchFamily="34" charset="0"/>
                <a:ea typeface="Figtree" pitchFamily="34" charset="-122"/>
                <a:cs typeface="Figtree" pitchFamily="34" charset="-120"/>
              </a:rPr>
              <a:t>WACC de Lumine</a:t>
            </a:r>
            <a:endParaRPr lang="es-CL" sz="2000" dirty="0"/>
          </a:p>
        </p:txBody>
      </p:sp>
      <p:sp>
        <p:nvSpPr>
          <p:cNvPr id="41" name="Shape 38"/>
          <p:cNvSpPr/>
          <p:nvPr/>
        </p:nvSpPr>
        <p:spPr>
          <a:xfrm>
            <a:off x="10394899" y="2980944"/>
            <a:ext cx="1248156" cy="329184"/>
          </a:xfrm>
          <a:prstGeom prst="rect">
            <a:avLst/>
          </a:prstGeom>
          <a:solidFill>
            <a:schemeClr val="bg1">
              <a:alpha val="0"/>
            </a:schemeClr>
          </a:solidFill>
          <a:ln w="12700">
            <a:solidFill>
              <a:schemeClr val="tx2"/>
            </a:solidFill>
            <a:prstDash val="solid"/>
          </a:ln>
        </p:spPr>
      </p:sp>
      <p:sp>
        <p:nvSpPr>
          <p:cNvPr id="42" name="Text 39"/>
          <p:cNvSpPr txBox="1"/>
          <p:nvPr/>
        </p:nvSpPr>
        <p:spPr>
          <a:xfrm>
            <a:off x="10504627" y="2980944"/>
            <a:ext cx="102870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PENDIENTE</a:t>
            </a:r>
            <a:endParaRPr lang="es-CL" sz="1200" dirty="0"/>
          </a:p>
        </p:txBody>
      </p:sp>
      <p:sp>
        <p:nvSpPr>
          <p:cNvPr id="43" name="Shape 40"/>
          <p:cNvSpPr/>
          <p:nvPr/>
        </p:nvSpPr>
        <p:spPr>
          <a:xfrm>
            <a:off x="7726680" y="3511296"/>
            <a:ext cx="3916375" cy="0"/>
          </a:xfrm>
          <a:prstGeom prst="line">
            <a:avLst/>
          </a:prstGeom>
          <a:noFill/>
          <a:ln w="9525">
            <a:solidFill>
              <a:schemeClr val="accent5"/>
            </a:solidFill>
            <a:prstDash val="solid"/>
          </a:ln>
        </p:spPr>
      </p:sp>
      <p:sp>
        <p:nvSpPr>
          <p:cNvPr id="44" name="Text 41"/>
          <p:cNvSpPr txBox="1"/>
          <p:nvPr/>
        </p:nvSpPr>
        <p:spPr>
          <a:xfrm>
            <a:off x="7726680" y="3511296"/>
            <a:ext cx="2499055" cy="731520"/>
          </a:xfrm>
          <a:prstGeom prst="rect">
            <a:avLst/>
          </a:prstGeom>
          <a:noFill/>
          <a:ln/>
        </p:spPr>
        <p:txBody>
          <a:bodyPr wrap="square" lIns="0" tIns="0" rIns="0" bIns="0" rtlCol="0" anchor="ctr"/>
          <a:lstStyle/>
          <a:p>
            <a:pPr indent="0" marL="0">
              <a:lnSpc>
                <a:spcPct val="95000"/>
              </a:lnSpc>
              <a:buNone/>
            </a:pPr>
            <a:r>
              <a:rPr lang="es-CL" altLang="en-US" sz="2000" dirty="0">
                <a:solidFill>
                  <a:schemeClr val="tx1"/>
                </a:solidFill>
                <a:latin typeface="Figtree" pitchFamily="34" charset="0"/>
                <a:ea typeface="Figtree" pitchFamily="34" charset="-122"/>
                <a:cs typeface="Figtree" pitchFamily="34" charset="-120"/>
              </a:rPr>
              <a:t>Tolerancia de error del ahorro</a:t>
            </a:r>
            <a:endParaRPr lang="es-CL" sz="2000" dirty="0"/>
          </a:p>
        </p:txBody>
      </p:sp>
      <p:sp>
        <p:nvSpPr>
          <p:cNvPr id="45" name="Shape 42"/>
          <p:cNvSpPr/>
          <p:nvPr/>
        </p:nvSpPr>
        <p:spPr>
          <a:xfrm>
            <a:off x="10394899" y="3712464"/>
            <a:ext cx="1248156" cy="329184"/>
          </a:xfrm>
          <a:prstGeom prst="rect">
            <a:avLst/>
          </a:prstGeom>
          <a:solidFill>
            <a:schemeClr val="bg1">
              <a:alpha val="0"/>
            </a:schemeClr>
          </a:solidFill>
          <a:ln w="12700">
            <a:solidFill>
              <a:schemeClr val="tx2"/>
            </a:solidFill>
            <a:prstDash val="solid"/>
          </a:ln>
        </p:spPr>
      </p:sp>
      <p:sp>
        <p:nvSpPr>
          <p:cNvPr id="46" name="Text 43"/>
          <p:cNvSpPr txBox="1"/>
          <p:nvPr/>
        </p:nvSpPr>
        <p:spPr>
          <a:xfrm>
            <a:off x="10504627" y="3712464"/>
            <a:ext cx="102870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PENDIENTE</a:t>
            </a:r>
            <a:endParaRPr lang="es-CL" sz="1200" dirty="0"/>
          </a:p>
        </p:txBody>
      </p:sp>
      <p:sp>
        <p:nvSpPr>
          <p:cNvPr id="47" name="Shape 44"/>
          <p:cNvSpPr/>
          <p:nvPr/>
        </p:nvSpPr>
        <p:spPr>
          <a:xfrm>
            <a:off x="7726680" y="4352544"/>
            <a:ext cx="3916375" cy="0"/>
          </a:xfrm>
          <a:prstGeom prst="line">
            <a:avLst/>
          </a:prstGeom>
          <a:noFill/>
          <a:ln w="9525">
            <a:solidFill>
              <a:schemeClr val="accent1"/>
            </a:solidFill>
            <a:prstDash val="solid"/>
          </a:ln>
        </p:spPr>
      </p:sp>
      <p:sp>
        <p:nvSpPr>
          <p:cNvPr id="48" name="Text 45"/>
          <p:cNvSpPr txBox="1"/>
          <p:nvPr/>
        </p:nvSpPr>
        <p:spPr>
          <a:xfrm>
            <a:off x="7726680" y="4480560"/>
            <a:ext cx="3916375" cy="274320"/>
          </a:xfrm>
          <a:prstGeom prst="rect">
            <a:avLst/>
          </a:prstGeom>
          <a:noFill/>
          <a:ln/>
        </p:spPr>
        <p:txBody>
          <a:bodyPr wrap="square" lIns="0" tIns="0" rIns="0" bIns="0" rtlCol="0" anchor="t"/>
          <a:lstStyle/>
          <a:p>
            <a:pPr indent="0" marL="0">
              <a:buNone/>
            </a:pPr>
            <a:r>
              <a:rPr lang="es-CL" altLang="en-US" sz="1600" spc="100" kern="0" dirty="0">
                <a:solidFill>
                  <a:schemeClr val="accent1"/>
                </a:solidFill>
                <a:latin typeface="IBM Plex Mono" pitchFamily="34" charset="0"/>
                <a:ea typeface="IBM Plex Mono" pitchFamily="34" charset="-122"/>
                <a:cs typeface="IBM Plex Mono" pitchFamily="34" charset="-120"/>
              </a:rPr>
              <a:t>LO QUE SIGUE</a:t>
            </a:r>
            <a:endParaRPr lang="es-CL" sz="1600" dirty="0"/>
          </a:p>
        </p:txBody>
      </p:sp>
      <p:sp>
        <p:nvSpPr>
          <p:cNvPr id="49" name="Text 46"/>
          <p:cNvSpPr txBox="1"/>
          <p:nvPr/>
        </p:nvSpPr>
        <p:spPr>
          <a:xfrm>
            <a:off x="7726680" y="4809744"/>
            <a:ext cx="3916375" cy="914400"/>
          </a:xfrm>
          <a:prstGeom prst="rect">
            <a:avLst/>
          </a:prstGeom>
          <a:noFill/>
          <a:ln/>
        </p:spPr>
        <p:txBody>
          <a:bodyPr wrap="square" lIns="0" tIns="0" rIns="0" bIns="0" rtlCol="0" anchor="t"/>
          <a:lstStyle/>
          <a:p>
            <a:pPr indent="0" marL="0">
              <a:buNone/>
            </a:pPr>
            <a:r>
              <a:rPr lang="es-CL" altLang="en-US" sz="2400" i="1" dirty="0">
                <a:solidFill>
                  <a:schemeClr val="tx1"/>
                </a:solidFill>
                <a:latin typeface="Instrument Serif" pitchFamily="34" charset="0"/>
                <a:ea typeface="Instrument Serif" pitchFamily="34" charset="-122"/>
                <a:cs typeface="Instrument Serif" pitchFamily="34" charset="-120"/>
              </a:rPr>
              <a:t>¿Qué iniciativas y presupuesto necesita cada hito?</a:t>
            </a:r>
            <a:endParaRPr lang="es-CL" sz="2400" dirty="0"/>
          </a:p>
        </p:txBody>
      </p:sp>
      <p:sp>
        <p:nvSpPr>
          <p:cNvPr id="50" name="Shape 47"/>
          <p:cNvSpPr/>
          <p:nvPr/>
        </p:nvSpPr>
        <p:spPr>
          <a:xfrm>
            <a:off x="7726680" y="5669280"/>
            <a:ext cx="3916375" cy="0"/>
          </a:xfrm>
          <a:prstGeom prst="line">
            <a:avLst/>
          </a:prstGeom>
          <a:noFill/>
          <a:ln w="9525">
            <a:solidFill>
              <a:schemeClr val="accent5"/>
            </a:solidFill>
            <a:prstDash val="solid"/>
          </a:ln>
        </p:spPr>
      </p:sp>
      <p:sp>
        <p:nvSpPr>
          <p:cNvPr id="51" name="Text 48"/>
          <p:cNvSpPr txBox="1"/>
          <p:nvPr/>
        </p:nvSpPr>
        <p:spPr>
          <a:xfrm>
            <a:off x="7726680" y="5779008"/>
            <a:ext cx="3916375" cy="411480"/>
          </a:xfrm>
          <a:prstGeom prst="rect">
            <a:avLst/>
          </a:prstGeom>
          <a:noFill/>
          <a:ln/>
        </p:spPr>
        <p:txBody>
          <a:bodyPr wrap="square" lIns="0" tIns="0" rIns="0" bIns="0" rtlCol="0" anchor="ctr"/>
          <a:lstStyle/>
          <a:p>
            <a:pP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Text 3"/>
          <p:cNvSpPr txBox="1"/>
          <p:nvPr/>
        </p:nvSpPr>
        <p:spPr>
          <a:xfrm>
            <a:off x="548640" y="2340864"/>
            <a:ext cx="11094415" cy="365760"/>
          </a:xfrm>
          <a:prstGeom prst="rect">
            <a:avLst/>
          </a:prstGeom>
          <a:noFill/>
          <a:ln/>
        </p:spPr>
        <p:txBody>
          <a:bodyPr wrap="square" lIns="0" tIns="0" rIns="0" bIns="0" rtlCol="0" anchor="t"/>
          <a:lstStyle/>
          <a:p>
            <a:pPr indent="0" marL="0">
              <a:buNone/>
            </a:pPr>
            <a:r>
              <a:rPr lang="es-CL" altLang="en-US" sz="1800" dirty="0">
                <a:solidFill>
                  <a:schemeClr val="tx2"/>
                </a:solidFill>
                <a:latin typeface="Figtree" pitchFamily="34" charset="0"/>
                <a:ea typeface="Figtree" pitchFamily="34" charset="-122"/>
                <a:cs typeface="Figtree" pitchFamily="34" charset="-120"/>
              </a:rPr>
              <a:t>No se presenta: clic en la pregunta para saltar a la respuesta.</a:t>
            </a:r>
            <a:endParaRPr lang="es-CL" sz="1800" dirty="0"/>
          </a:p>
        </p:txBody>
      </p:sp>
      <p:sp>
        <p:nvSpPr>
          <p:cNvPr id="6" name="Shape 4"/>
          <p:cNvSpPr/>
          <p:nvPr/>
        </p:nvSpPr>
        <p:spPr>
          <a:xfrm>
            <a:off x="548640" y="2724912"/>
            <a:ext cx="11094415" cy="0"/>
          </a:xfrm>
          <a:prstGeom prst="line">
            <a:avLst/>
          </a:prstGeom>
          <a:noFill/>
          <a:ln w="9525">
            <a:solidFill>
              <a:schemeClr val="accent5"/>
            </a:solidFill>
            <a:prstDash val="solid"/>
          </a:ln>
        </p:spPr>
      </p:sp>
      <p:sp>
        <p:nvSpPr>
          <p:cNvPr id="7" name="Shape 5"/>
          <p:cNvSpPr/>
          <p:nvPr/>
        </p:nvSpPr>
        <p:spPr>
          <a:xfrm>
            <a:off x="548640" y="2779776"/>
            <a:ext cx="548640" cy="292608"/>
          </a:xfrm>
          <a:prstGeom prst="rect">
            <a:avLst/>
          </a:prstGeom>
          <a:solidFill>
            <a:schemeClr val="accent1"/>
          </a:solidFill>
          <a:ln/>
        </p:spPr>
      </p:sp>
      <p:sp>
        <p:nvSpPr>
          <p:cNvPr id="8" name="Text 6"/>
          <p:cNvSpPr txBox="1"/>
          <p:nvPr/>
        </p:nvSpPr>
        <p:spPr>
          <a:xfrm>
            <a:off x="548640" y="2779776"/>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A1</a:t>
            </a:r>
            <a:endParaRPr lang="es-CL" sz="1400" dirty="0"/>
          </a:p>
        </p:txBody>
      </p:sp>
      <p:sp>
        <p:nvSpPr>
          <p:cNvPr id="9" name="Text 7">
            <a:hlinkClick r:id="rId1" tooltip="Ir a ¿Cómo se calcula el EVA y en qué se diferencia de VAN y TIR?" action="ppaction://hlinksldjump"/>
          </p:cNvPr>
          <p:cNvSpPr txBox="1"/>
          <p:nvPr/>
        </p:nvSpPr>
        <p:spPr>
          <a:xfrm>
            <a:off x="1280160" y="2724912"/>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1" action="ppaction://hlinksldjump" tooltip="Ir a ¿Cómo se calcula el EVA y en qué se diferencia de VAN y TIR?">
                  <a:extLst>
                    <a:ext uri="{A12FA001-AC4F-418D-AE19-62706E023703}">
                      <ahyp:hlinkClr xmlns:ahyp="http://schemas.microsoft.com/office/drawing/2018/hyperlinkcolor" val="tx"/>
                    </a:ext>
                  </a:extLst>
                </a:hlinkClick>
              </a:rPr>
              <a:t>¿Cómo se calcula el EVA y en qué se diferencia de VAN y TIR?</a:t>
            </a:r>
            <a:endParaRPr lang="en-US" sz="1900" dirty="0"/>
          </a:p>
        </p:txBody>
      </p:sp>
      <p:sp>
        <p:nvSpPr>
          <p:cNvPr id="10" name="Text 8">
            <a:hlinkClick r:id="rId2" tooltip="Ir a ¿Cómo se calcula el EVA y en qué se diferencia de VAN y TIR?" action="ppaction://hlinksldjump"/>
          </p:cNvPr>
          <p:cNvSpPr txBox="1"/>
          <p:nvPr/>
        </p:nvSpPr>
        <p:spPr>
          <a:xfrm>
            <a:off x="10637215" y="2724912"/>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Cómo se calcula el EVA y en qué se diferencia de VAN y TIR?">
                  <a:extLst>
                    <a:ext uri="{A12FA001-AC4F-418D-AE19-62706E023703}">
                      <ahyp:hlinkClr xmlns:ahyp="http://schemas.microsoft.com/office/drawing/2018/hyperlinkcolor" val="tx"/>
                    </a:ext>
                  </a:extLst>
                </a:hlinkClick>
              </a:rPr>
              <a:t>LÁM. 14</a:t>
            </a:r>
            <a:endParaRPr lang="en-US" sz="1400" dirty="0"/>
          </a:p>
        </p:txBody>
      </p:sp>
      <p:sp>
        <p:nvSpPr>
          <p:cNvPr id="11" name="Shape 9"/>
          <p:cNvSpPr/>
          <p:nvPr/>
        </p:nvSpPr>
        <p:spPr>
          <a:xfrm>
            <a:off x="548640" y="3108960"/>
            <a:ext cx="11094415" cy="0"/>
          </a:xfrm>
          <a:prstGeom prst="line">
            <a:avLst/>
          </a:prstGeom>
          <a:noFill/>
          <a:ln w="9525">
            <a:solidFill>
              <a:schemeClr val="accent5"/>
            </a:solidFill>
            <a:prstDash val="solid"/>
          </a:ln>
        </p:spPr>
      </p:sp>
      <p:sp>
        <p:nvSpPr>
          <p:cNvPr id="12" name="Shape 10"/>
          <p:cNvSpPr/>
          <p:nvPr/>
        </p:nvSpPr>
        <p:spPr>
          <a:xfrm>
            <a:off x="548640" y="3163824"/>
            <a:ext cx="548640" cy="292608"/>
          </a:xfrm>
          <a:prstGeom prst="rect">
            <a:avLst/>
          </a:prstGeom>
          <a:solidFill>
            <a:schemeClr val="accent1"/>
          </a:solidFill>
          <a:ln/>
        </p:spPr>
      </p:sp>
      <p:sp>
        <p:nvSpPr>
          <p:cNvPr id="13" name="Text 11"/>
          <p:cNvSpPr txBox="1"/>
          <p:nvPr/>
        </p:nvSpPr>
        <p:spPr>
          <a:xfrm>
            <a:off x="548640" y="3163824"/>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A2</a:t>
            </a:r>
            <a:endParaRPr lang="es-CL" sz="1400" dirty="0"/>
          </a:p>
        </p:txBody>
      </p:sp>
      <p:sp>
        <p:nvSpPr>
          <p:cNvPr id="14" name="Text 12">
            <a:hlinkClick r:id="rId3" tooltip="Ir a ¿Por qué 80% es rojo? Reglas por tipo de indicador" action="ppaction://hlinksldjump"/>
          </p:cNvPr>
          <p:cNvSpPr txBox="1"/>
          <p:nvPr/>
        </p:nvSpPr>
        <p:spPr>
          <a:xfrm>
            <a:off x="1280160" y="3108960"/>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3" action="ppaction://hlinksldjump" tooltip="Ir a ¿Por qué 80% es rojo? Reglas por tipo de indicador">
                  <a:extLst>
                    <a:ext uri="{A12FA001-AC4F-418D-AE19-62706E023703}">
                      <ahyp:hlinkClr xmlns:ahyp="http://schemas.microsoft.com/office/drawing/2018/hyperlinkcolor" val="tx"/>
                    </a:ext>
                  </a:extLst>
                </a:hlinkClick>
              </a:rPr>
              <a:t>¿Por qué 80% es rojo? Reglas por tipo de indicador</a:t>
            </a:r>
            <a:endParaRPr lang="en-US" sz="1900" dirty="0"/>
          </a:p>
        </p:txBody>
      </p:sp>
      <p:sp>
        <p:nvSpPr>
          <p:cNvPr id="15" name="Text 13">
            <a:hlinkClick r:id="rId4" tooltip="Ir a ¿Por qué 80% es rojo? Reglas por tipo de indicador" action="ppaction://hlinksldjump"/>
          </p:cNvPr>
          <p:cNvSpPr txBox="1"/>
          <p:nvPr/>
        </p:nvSpPr>
        <p:spPr>
          <a:xfrm>
            <a:off x="10637215" y="3108960"/>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Por qué 80% es rojo? Reglas por tipo de indicador">
                  <a:extLst>
                    <a:ext uri="{A12FA001-AC4F-418D-AE19-62706E023703}">
                      <ahyp:hlinkClr xmlns:ahyp="http://schemas.microsoft.com/office/drawing/2018/hyperlinkcolor" val="tx"/>
                    </a:ext>
                  </a:extLst>
                </a:hlinkClick>
              </a:rPr>
              <a:t>LÁM. 15</a:t>
            </a:r>
            <a:endParaRPr lang="en-US" sz="1400" dirty="0"/>
          </a:p>
        </p:txBody>
      </p:sp>
      <p:sp>
        <p:nvSpPr>
          <p:cNvPr id="16" name="Shape 14"/>
          <p:cNvSpPr/>
          <p:nvPr/>
        </p:nvSpPr>
        <p:spPr>
          <a:xfrm>
            <a:off x="548640" y="3493008"/>
            <a:ext cx="11094415" cy="0"/>
          </a:xfrm>
          <a:prstGeom prst="line">
            <a:avLst/>
          </a:prstGeom>
          <a:noFill/>
          <a:ln w="9525">
            <a:solidFill>
              <a:schemeClr val="accent5"/>
            </a:solidFill>
            <a:prstDash val="solid"/>
          </a:ln>
        </p:spPr>
      </p:sp>
      <p:sp>
        <p:nvSpPr>
          <p:cNvPr id="17" name="Shape 15"/>
          <p:cNvSpPr/>
          <p:nvPr/>
        </p:nvSpPr>
        <p:spPr>
          <a:xfrm>
            <a:off x="548640" y="3547872"/>
            <a:ext cx="548640" cy="292608"/>
          </a:xfrm>
          <a:prstGeom prst="rect">
            <a:avLst/>
          </a:prstGeom>
          <a:solidFill>
            <a:schemeClr val="accent1"/>
          </a:solidFill>
          <a:ln/>
        </p:spPr>
      </p:sp>
      <p:sp>
        <p:nvSpPr>
          <p:cNvPr id="18" name="Text 16"/>
          <p:cNvSpPr txBox="1"/>
          <p:nvPr/>
        </p:nvSpPr>
        <p:spPr>
          <a:xfrm>
            <a:off x="548640" y="3547872"/>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A3</a:t>
            </a:r>
            <a:endParaRPr lang="es-CL" sz="1400" dirty="0"/>
          </a:p>
        </p:txBody>
      </p:sp>
      <p:sp>
        <p:nvSpPr>
          <p:cNvPr id="19" name="Text 17">
            <a:hlinkClick r:id="rId5" tooltip="Ir a Los 12 indicadores (1 de 2): aprendizaje y procesos" action="ppaction://hlinksldjump"/>
          </p:cNvPr>
          <p:cNvSpPr txBox="1"/>
          <p:nvPr/>
        </p:nvSpPr>
        <p:spPr>
          <a:xfrm>
            <a:off x="1280160" y="3493008"/>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5" action="ppaction://hlinksldjump" tooltip="Ir a Los 12 indicadores (1 de 2): aprendizaje y procesos">
                  <a:extLst>
                    <a:ext uri="{A12FA001-AC4F-418D-AE19-62706E023703}">
                      <ahyp:hlinkClr xmlns:ahyp="http://schemas.microsoft.com/office/drawing/2018/hyperlinkcolor" val="tx"/>
                    </a:ext>
                  </a:extLst>
                </a:hlinkClick>
              </a:rPr>
              <a:t>Los 12 indicadores (1 de 2): aprendizaje y procesos</a:t>
            </a:r>
            <a:endParaRPr lang="en-US" sz="1900" dirty="0"/>
          </a:p>
        </p:txBody>
      </p:sp>
      <p:sp>
        <p:nvSpPr>
          <p:cNvPr id="20" name="Text 18">
            <a:hlinkClick r:id="rId6" tooltip="Ir a Los 12 indicadores (1 de 2): aprendizaje y procesos" action="ppaction://hlinksldjump"/>
          </p:cNvPr>
          <p:cNvSpPr txBox="1"/>
          <p:nvPr/>
        </p:nvSpPr>
        <p:spPr>
          <a:xfrm>
            <a:off x="10637215" y="3493008"/>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Los 12 indicadores (1 de 2): aprendizaje y procesos">
                  <a:extLst>
                    <a:ext uri="{A12FA001-AC4F-418D-AE19-62706E023703}">
                      <ahyp:hlinkClr xmlns:ahyp="http://schemas.microsoft.com/office/drawing/2018/hyperlinkcolor" val="tx"/>
                    </a:ext>
                  </a:extLst>
                </a:hlinkClick>
              </a:rPr>
              <a:t>LÁM. 16</a:t>
            </a:r>
            <a:endParaRPr lang="en-US" sz="1400" dirty="0"/>
          </a:p>
        </p:txBody>
      </p:sp>
      <p:sp>
        <p:nvSpPr>
          <p:cNvPr id="21" name="Shape 19"/>
          <p:cNvSpPr/>
          <p:nvPr/>
        </p:nvSpPr>
        <p:spPr>
          <a:xfrm>
            <a:off x="548640" y="3877056"/>
            <a:ext cx="11094415" cy="0"/>
          </a:xfrm>
          <a:prstGeom prst="line">
            <a:avLst/>
          </a:prstGeom>
          <a:noFill/>
          <a:ln w="9525">
            <a:solidFill>
              <a:schemeClr val="accent5"/>
            </a:solidFill>
            <a:prstDash val="solid"/>
          </a:ln>
        </p:spPr>
      </p:sp>
      <p:sp>
        <p:nvSpPr>
          <p:cNvPr id="22" name="Shape 20"/>
          <p:cNvSpPr/>
          <p:nvPr/>
        </p:nvSpPr>
        <p:spPr>
          <a:xfrm>
            <a:off x="548640" y="3931920"/>
            <a:ext cx="548640" cy="292608"/>
          </a:xfrm>
          <a:prstGeom prst="rect">
            <a:avLst/>
          </a:prstGeom>
          <a:solidFill>
            <a:schemeClr val="accent1"/>
          </a:solidFill>
          <a:ln/>
        </p:spPr>
      </p:sp>
      <p:sp>
        <p:nvSpPr>
          <p:cNvPr id="23" name="Text 21"/>
          <p:cNvSpPr txBox="1"/>
          <p:nvPr/>
        </p:nvSpPr>
        <p:spPr>
          <a:xfrm>
            <a:off x="548640" y="3931920"/>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A4</a:t>
            </a:r>
            <a:endParaRPr lang="es-CL" sz="1400" dirty="0"/>
          </a:p>
        </p:txBody>
      </p:sp>
      <p:sp>
        <p:nvSpPr>
          <p:cNvPr id="24" name="Text 22">
            <a:hlinkClick r:id="rId7" tooltip="Ir a Los 12 indicadores (2 de 2): clientes y financiera" action="ppaction://hlinksldjump"/>
          </p:cNvPr>
          <p:cNvSpPr txBox="1"/>
          <p:nvPr/>
        </p:nvSpPr>
        <p:spPr>
          <a:xfrm>
            <a:off x="1280160" y="3877056"/>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7" action="ppaction://hlinksldjump" tooltip="Ir a Los 12 indicadores (2 de 2): clientes y financiera">
                  <a:extLst>
                    <a:ext uri="{A12FA001-AC4F-418D-AE19-62706E023703}">
                      <ahyp:hlinkClr xmlns:ahyp="http://schemas.microsoft.com/office/drawing/2018/hyperlinkcolor" val="tx"/>
                    </a:ext>
                  </a:extLst>
                </a:hlinkClick>
              </a:rPr>
              <a:t>Los 12 indicadores (2 de 2): clientes y financiera</a:t>
            </a:r>
            <a:endParaRPr lang="en-US" sz="1900" dirty="0"/>
          </a:p>
        </p:txBody>
      </p:sp>
      <p:sp>
        <p:nvSpPr>
          <p:cNvPr id="25" name="Text 23">
            <a:hlinkClick r:id="rId8" tooltip="Ir a Los 12 indicadores (2 de 2): clientes y financiera" action="ppaction://hlinksldjump"/>
          </p:cNvPr>
          <p:cNvSpPr txBox="1"/>
          <p:nvPr/>
        </p:nvSpPr>
        <p:spPr>
          <a:xfrm>
            <a:off x="10637215" y="3877056"/>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Los 12 indicadores (2 de 2): clientes y financiera">
                  <a:extLst>
                    <a:ext uri="{A12FA001-AC4F-418D-AE19-62706E023703}">
                      <ahyp:hlinkClr xmlns:ahyp="http://schemas.microsoft.com/office/drawing/2018/hyperlinkcolor" val="tx"/>
                    </a:ext>
                  </a:extLst>
                </a:hlinkClick>
              </a:rPr>
              <a:t>LÁM. 17</a:t>
            </a:r>
            <a:endParaRPr lang="en-US" sz="1400" dirty="0"/>
          </a:p>
        </p:txBody>
      </p:sp>
      <p:sp>
        <p:nvSpPr>
          <p:cNvPr id="26" name="Shape 24"/>
          <p:cNvSpPr/>
          <p:nvPr/>
        </p:nvSpPr>
        <p:spPr>
          <a:xfrm>
            <a:off x="548640" y="4261104"/>
            <a:ext cx="11094415" cy="0"/>
          </a:xfrm>
          <a:prstGeom prst="line">
            <a:avLst/>
          </a:prstGeom>
          <a:noFill/>
          <a:ln w="9525">
            <a:solidFill>
              <a:schemeClr val="accent5"/>
            </a:solidFill>
            <a:prstDash val="solid"/>
          </a:ln>
        </p:spPr>
      </p:sp>
      <p:sp>
        <p:nvSpPr>
          <p:cNvPr id="27" name="Shape 25"/>
          <p:cNvSpPr/>
          <p:nvPr/>
        </p:nvSpPr>
        <p:spPr>
          <a:xfrm>
            <a:off x="548640" y="4315968"/>
            <a:ext cx="548640" cy="292608"/>
          </a:xfrm>
          <a:prstGeom prst="rect">
            <a:avLst/>
          </a:prstGeom>
          <a:solidFill>
            <a:schemeClr val="accent1"/>
          </a:solidFill>
          <a:ln/>
        </p:spPr>
      </p:sp>
      <p:sp>
        <p:nvSpPr>
          <p:cNvPr id="28" name="Text 26"/>
          <p:cNvSpPr txBox="1"/>
          <p:nvPr/>
        </p:nvSpPr>
        <p:spPr>
          <a:xfrm>
            <a:off x="548640" y="4315968"/>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A5</a:t>
            </a:r>
            <a:endParaRPr lang="es-CL" sz="1400" dirty="0"/>
          </a:p>
        </p:txBody>
      </p:sp>
      <p:sp>
        <p:nvSpPr>
          <p:cNvPr id="29" name="Text 27">
            <a:hlinkClick r:id="rId9" tooltip="Ir a ¿Qué cambió del CMI original al actual?" action="ppaction://hlinksldjump"/>
          </p:cNvPr>
          <p:cNvSpPr txBox="1"/>
          <p:nvPr/>
        </p:nvSpPr>
        <p:spPr>
          <a:xfrm>
            <a:off x="1280160" y="4261104"/>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9" action="ppaction://hlinksldjump" tooltip="Ir a ¿Qué cambió del CMI original al actual?">
                  <a:extLst>
                    <a:ext uri="{A12FA001-AC4F-418D-AE19-62706E023703}">
                      <ahyp:hlinkClr xmlns:ahyp="http://schemas.microsoft.com/office/drawing/2018/hyperlinkcolor" val="tx"/>
                    </a:ext>
                  </a:extLst>
                </a:hlinkClick>
              </a:rPr>
              <a:t>¿Qué cambió del CMI original al actual?</a:t>
            </a:r>
            <a:endParaRPr lang="en-US" sz="1900" dirty="0"/>
          </a:p>
        </p:txBody>
      </p:sp>
      <p:sp>
        <p:nvSpPr>
          <p:cNvPr id="30" name="Text 28">
            <a:hlinkClick r:id="rId10" tooltip="Ir a ¿Qué cambió del CMI original al actual?" action="ppaction://hlinksldjump"/>
          </p:cNvPr>
          <p:cNvSpPr txBox="1"/>
          <p:nvPr/>
        </p:nvSpPr>
        <p:spPr>
          <a:xfrm>
            <a:off x="10637215" y="4261104"/>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Qué cambió del CMI original al actual?">
                  <a:extLst>
                    <a:ext uri="{A12FA001-AC4F-418D-AE19-62706E023703}">
                      <ahyp:hlinkClr xmlns:ahyp="http://schemas.microsoft.com/office/drawing/2018/hyperlinkcolor" val="tx"/>
                    </a:ext>
                  </a:extLst>
                </a:hlinkClick>
              </a:rPr>
              <a:t>LÁM. 18</a:t>
            </a:r>
            <a:endParaRPr lang="en-US" sz="1400" dirty="0"/>
          </a:p>
        </p:txBody>
      </p:sp>
      <p:sp>
        <p:nvSpPr>
          <p:cNvPr id="31" name="Shape 29"/>
          <p:cNvSpPr/>
          <p:nvPr/>
        </p:nvSpPr>
        <p:spPr>
          <a:xfrm>
            <a:off x="548640" y="4645152"/>
            <a:ext cx="11094415" cy="0"/>
          </a:xfrm>
          <a:prstGeom prst="line">
            <a:avLst/>
          </a:prstGeom>
          <a:noFill/>
          <a:ln w="9525">
            <a:solidFill>
              <a:schemeClr val="accent5"/>
            </a:solidFill>
            <a:prstDash val="solid"/>
          </a:ln>
        </p:spPr>
      </p:sp>
      <p:sp>
        <p:nvSpPr>
          <p:cNvPr id="32" name="Shape 30"/>
          <p:cNvSpPr/>
          <p:nvPr/>
        </p:nvSpPr>
        <p:spPr>
          <a:xfrm>
            <a:off x="548640" y="4700016"/>
            <a:ext cx="548640" cy="292608"/>
          </a:xfrm>
          <a:prstGeom prst="rect">
            <a:avLst/>
          </a:prstGeom>
          <a:solidFill>
            <a:schemeClr val="accent1"/>
          </a:solidFill>
          <a:ln/>
        </p:spPr>
      </p:sp>
      <p:sp>
        <p:nvSpPr>
          <p:cNvPr id="33" name="Text 31"/>
          <p:cNvSpPr txBox="1"/>
          <p:nvPr/>
        </p:nvSpPr>
        <p:spPr>
          <a:xfrm>
            <a:off x="548640" y="4700016"/>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A6</a:t>
            </a:r>
            <a:endParaRPr lang="es-CL" sz="1400" dirty="0"/>
          </a:p>
        </p:txBody>
      </p:sp>
      <p:sp>
        <p:nvSpPr>
          <p:cNvPr id="34" name="Text 32">
            <a:hlinkClick r:id="rId11" tooltip="Ir a ¿Por qué no medir directamente el 20% de ahorro?" action="ppaction://hlinksldjump"/>
          </p:cNvPr>
          <p:cNvSpPr txBox="1"/>
          <p:nvPr/>
        </p:nvSpPr>
        <p:spPr>
          <a:xfrm>
            <a:off x="1280160" y="4645152"/>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11" action="ppaction://hlinksldjump" tooltip="Ir a ¿Por qué no medir directamente el 20% de ahorro?">
                  <a:extLst>
                    <a:ext uri="{A12FA001-AC4F-418D-AE19-62706E023703}">
                      <ahyp:hlinkClr xmlns:ahyp="http://schemas.microsoft.com/office/drawing/2018/hyperlinkcolor" val="tx"/>
                    </a:ext>
                  </a:extLst>
                </a:hlinkClick>
              </a:rPr>
              <a:t>¿Por qué no medir directamente el 20% de ahorro?</a:t>
            </a:r>
            <a:endParaRPr lang="en-US" sz="1900" dirty="0"/>
          </a:p>
        </p:txBody>
      </p:sp>
      <p:sp>
        <p:nvSpPr>
          <p:cNvPr id="35" name="Text 33">
            <a:hlinkClick r:id="rId12" tooltip="Ir a ¿Por qué no medir directamente el 20% de ahorro?" action="ppaction://hlinksldjump"/>
          </p:cNvPr>
          <p:cNvSpPr txBox="1"/>
          <p:nvPr/>
        </p:nvSpPr>
        <p:spPr>
          <a:xfrm>
            <a:off x="10637215" y="4645152"/>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Por qué no medir directamente el 20% de ahorro?">
                  <a:extLst>
                    <a:ext uri="{A12FA001-AC4F-418D-AE19-62706E023703}">
                      <ahyp:hlinkClr xmlns:ahyp="http://schemas.microsoft.com/office/drawing/2018/hyperlinkcolor" val="tx"/>
                    </a:ext>
                  </a:extLst>
                </a:hlinkClick>
              </a:rPr>
              <a:t>LÁM. 19</a:t>
            </a:r>
            <a:endParaRPr lang="en-US" sz="1400" dirty="0"/>
          </a:p>
        </p:txBody>
      </p:sp>
      <p:sp>
        <p:nvSpPr>
          <p:cNvPr id="36" name="Shape 34"/>
          <p:cNvSpPr/>
          <p:nvPr/>
        </p:nvSpPr>
        <p:spPr>
          <a:xfrm>
            <a:off x="548640" y="5029200"/>
            <a:ext cx="11094415" cy="0"/>
          </a:xfrm>
          <a:prstGeom prst="line">
            <a:avLst/>
          </a:prstGeom>
          <a:noFill/>
          <a:ln w="9525">
            <a:solidFill>
              <a:schemeClr val="accent5"/>
            </a:solidFill>
            <a:prstDash val="solid"/>
          </a:ln>
        </p:spPr>
      </p:sp>
      <p:sp>
        <p:nvSpPr>
          <p:cNvPr id="37" name="Shape 35"/>
          <p:cNvSpPr/>
          <p:nvPr/>
        </p:nvSpPr>
        <p:spPr>
          <a:xfrm>
            <a:off x="548640" y="5084064"/>
            <a:ext cx="548640" cy="292608"/>
          </a:xfrm>
          <a:prstGeom prst="rect">
            <a:avLst/>
          </a:prstGeom>
          <a:solidFill>
            <a:schemeClr val="accent1"/>
          </a:solidFill>
          <a:ln/>
        </p:spPr>
      </p:sp>
      <p:sp>
        <p:nvSpPr>
          <p:cNvPr id="38" name="Text 36"/>
          <p:cNvSpPr txBox="1"/>
          <p:nvPr/>
        </p:nvSpPr>
        <p:spPr>
          <a:xfrm>
            <a:off x="548640" y="5084064"/>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A7</a:t>
            </a:r>
            <a:endParaRPr lang="es-CL" sz="1400" dirty="0"/>
          </a:p>
        </p:txBody>
      </p:sp>
      <p:sp>
        <p:nvSpPr>
          <p:cNvPr id="39" name="Text 37">
            <a:hlinkClick r:id="rId13" tooltip="Ir a ¿Dónde quedaron los convenios y el foco comercial?" action="ppaction://hlinksldjump"/>
          </p:cNvPr>
          <p:cNvSpPr txBox="1"/>
          <p:nvPr/>
        </p:nvSpPr>
        <p:spPr>
          <a:xfrm>
            <a:off x="1280160" y="5029200"/>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13" action="ppaction://hlinksldjump" tooltip="Ir a ¿Dónde quedaron los convenios y el foco comercial?">
                  <a:extLst>
                    <a:ext uri="{A12FA001-AC4F-418D-AE19-62706E023703}">
                      <ahyp:hlinkClr xmlns:ahyp="http://schemas.microsoft.com/office/drawing/2018/hyperlinkcolor" val="tx"/>
                    </a:ext>
                  </a:extLst>
                </a:hlinkClick>
              </a:rPr>
              <a:t>¿Dónde quedaron los convenios y el foco comercial?</a:t>
            </a:r>
            <a:endParaRPr lang="en-US" sz="1900" dirty="0"/>
          </a:p>
        </p:txBody>
      </p:sp>
      <p:sp>
        <p:nvSpPr>
          <p:cNvPr id="40" name="Text 38">
            <a:hlinkClick r:id="rId14" tooltip="Ir a ¿Dónde quedaron los convenios y el foco comercial?" action="ppaction://hlinksldjump"/>
          </p:cNvPr>
          <p:cNvSpPr txBox="1"/>
          <p:nvPr/>
        </p:nvSpPr>
        <p:spPr>
          <a:xfrm>
            <a:off x="10637215" y="5029200"/>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Dónde quedaron los convenios y el foco comercial?">
                  <a:extLst>
                    <a:ext uri="{A12FA001-AC4F-418D-AE19-62706E023703}">
                      <ahyp:hlinkClr xmlns:ahyp="http://schemas.microsoft.com/office/drawing/2018/hyperlinkcolor" val="tx"/>
                    </a:ext>
                  </a:extLst>
                </a:hlinkClick>
              </a:rPr>
              <a:t>LÁM. 20</a:t>
            </a:r>
            <a:endParaRPr lang="en-US" sz="1400" dirty="0"/>
          </a:p>
        </p:txBody>
      </p:sp>
      <p:sp>
        <p:nvSpPr>
          <p:cNvPr id="41" name="Shape 39"/>
          <p:cNvSpPr/>
          <p:nvPr/>
        </p:nvSpPr>
        <p:spPr>
          <a:xfrm>
            <a:off x="548640" y="5413248"/>
            <a:ext cx="11094415" cy="0"/>
          </a:xfrm>
          <a:prstGeom prst="line">
            <a:avLst/>
          </a:prstGeom>
          <a:noFill/>
          <a:ln w="9525">
            <a:solidFill>
              <a:schemeClr val="accent5"/>
            </a:solidFill>
            <a:prstDash val="solid"/>
          </a:ln>
        </p:spPr>
      </p:sp>
      <p:sp>
        <p:nvSpPr>
          <p:cNvPr id="42" name="Shape 40"/>
          <p:cNvSpPr/>
          <p:nvPr/>
        </p:nvSpPr>
        <p:spPr>
          <a:xfrm>
            <a:off x="548640" y="5468112"/>
            <a:ext cx="548640" cy="292608"/>
          </a:xfrm>
          <a:prstGeom prst="rect">
            <a:avLst/>
          </a:prstGeom>
          <a:solidFill>
            <a:schemeClr val="accent1"/>
          </a:solidFill>
          <a:ln/>
        </p:spPr>
      </p:sp>
      <p:sp>
        <p:nvSpPr>
          <p:cNvPr id="43" name="Text 41"/>
          <p:cNvSpPr txBox="1"/>
          <p:nvPr/>
        </p:nvSpPr>
        <p:spPr>
          <a:xfrm>
            <a:off x="548640" y="5468112"/>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A8</a:t>
            </a:r>
            <a:endParaRPr lang="es-CL" sz="1400" dirty="0"/>
          </a:p>
        </p:txBody>
      </p:sp>
      <p:sp>
        <p:nvSpPr>
          <p:cNvPr id="44" name="Text 42">
            <a:hlinkClick r:id="rId15" tooltip="Ir a ¿Cómo se financiaría la operación?" action="ppaction://hlinksldjump"/>
          </p:cNvPr>
          <p:cNvSpPr txBox="1"/>
          <p:nvPr/>
        </p:nvSpPr>
        <p:spPr>
          <a:xfrm>
            <a:off x="1280160" y="5413248"/>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15" action="ppaction://hlinksldjump" tooltip="Ir a ¿Cómo se financiaría la operación?">
                  <a:extLst>
                    <a:ext uri="{A12FA001-AC4F-418D-AE19-62706E023703}">
                      <ahyp:hlinkClr xmlns:ahyp="http://schemas.microsoft.com/office/drawing/2018/hyperlinkcolor" val="tx"/>
                    </a:ext>
                  </a:extLst>
                </a:hlinkClick>
              </a:rPr>
              <a:t>¿Cómo se financiaría la operación?</a:t>
            </a:r>
            <a:endParaRPr lang="en-US" sz="1900" dirty="0"/>
          </a:p>
        </p:txBody>
      </p:sp>
      <p:sp>
        <p:nvSpPr>
          <p:cNvPr id="45" name="Text 43">
            <a:hlinkClick r:id="rId16" tooltip="Ir a ¿Cómo se financiaría la operación?" action="ppaction://hlinksldjump"/>
          </p:cNvPr>
          <p:cNvSpPr txBox="1"/>
          <p:nvPr/>
        </p:nvSpPr>
        <p:spPr>
          <a:xfrm>
            <a:off x="10637215" y="5413248"/>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Cómo se financiaría la operación?">
                  <a:extLst>
                    <a:ext uri="{A12FA001-AC4F-418D-AE19-62706E023703}">
                      <ahyp:hlinkClr xmlns:ahyp="http://schemas.microsoft.com/office/drawing/2018/hyperlinkcolor" val="tx"/>
                    </a:ext>
                  </a:extLst>
                </a:hlinkClick>
              </a:rPr>
              <a:t>LÁM. 21</a:t>
            </a:r>
            <a:endParaRPr lang="en-US" sz="1400" dirty="0"/>
          </a:p>
        </p:txBody>
      </p:sp>
      <p:sp>
        <p:nvSpPr>
          <p:cNvPr id="46" name="Shape 44"/>
          <p:cNvSpPr/>
          <p:nvPr/>
        </p:nvSpPr>
        <p:spPr>
          <a:xfrm>
            <a:off x="548640" y="5797296"/>
            <a:ext cx="11094415" cy="0"/>
          </a:xfrm>
          <a:prstGeom prst="line">
            <a:avLst/>
          </a:prstGeom>
          <a:noFill/>
          <a:ln w="9525">
            <a:solidFill>
              <a:schemeClr val="accent5"/>
            </a:solidFill>
            <a:prstDash val="solid"/>
          </a:ln>
        </p:spPr>
      </p:sp>
      <p:sp>
        <p:nvSpPr>
          <p:cNvPr id="47" name="Shape 45"/>
          <p:cNvSpPr/>
          <p:nvPr/>
        </p:nvSpPr>
        <p:spPr>
          <a:xfrm>
            <a:off x="548640" y="5852160"/>
            <a:ext cx="548640" cy="292608"/>
          </a:xfrm>
          <a:prstGeom prst="rect">
            <a:avLst/>
          </a:prstGeom>
          <a:solidFill>
            <a:schemeClr val="accent1"/>
          </a:solidFill>
          <a:ln/>
        </p:spPr>
      </p:sp>
      <p:sp>
        <p:nvSpPr>
          <p:cNvPr id="48" name="Text 46"/>
          <p:cNvSpPr txBox="1"/>
          <p:nvPr/>
        </p:nvSpPr>
        <p:spPr>
          <a:xfrm>
            <a:off x="548640" y="5852160"/>
            <a:ext cx="548640" cy="292608"/>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A9</a:t>
            </a:r>
            <a:endParaRPr lang="es-CL" sz="1400" dirty="0"/>
          </a:p>
        </p:txBody>
      </p:sp>
      <p:sp>
        <p:nvSpPr>
          <p:cNvPr id="49" name="Text 47">
            <a:hlinkClick r:id="rId17" tooltip="Ir a ¿Qué es dato, qué es supuesto y qué es ejemplo?" action="ppaction://hlinksldjump"/>
          </p:cNvPr>
          <p:cNvSpPr txBox="1"/>
          <p:nvPr/>
        </p:nvSpPr>
        <p:spPr>
          <a:xfrm>
            <a:off x="1280160" y="5797296"/>
            <a:ext cx="9265615" cy="384048"/>
          </a:xfrm>
          <a:prstGeom prst="rect">
            <a:avLst/>
          </a:prstGeom>
          <a:noFill/>
          <a:ln/>
        </p:spPr>
        <p:txBody>
          <a:bodyPr wrap="square" lIns="0" tIns="0" rIns="0" bIns="0" rtlCol="0" anchor="ctr"/>
          <a:lstStyle/>
          <a:p>
            <a:pPr indent="0" marL="0">
              <a:buNone/>
            </a:pPr>
            <a:r>
              <a:rPr lang="en-US" sz="1900" u="sng" dirty="0">
                <a:solidFill>
                  <a:schemeClr val="tx1"/>
                </a:solidFill>
                <a:latin typeface="Figtree" pitchFamily="34" charset="0"/>
                <a:ea typeface="Figtree" pitchFamily="34" charset="-122"/>
                <a:cs typeface="Figtree" pitchFamily="34" charset="-120"/>
                <a:hlinkClick r:id="rId17" action="ppaction://hlinksldjump" tooltip="Ir a ¿Qué es dato, qué es supuesto y qué es ejemplo?">
                  <a:extLst>
                    <a:ext uri="{A12FA001-AC4F-418D-AE19-62706E023703}">
                      <ahyp:hlinkClr xmlns:ahyp="http://schemas.microsoft.com/office/drawing/2018/hyperlinkcolor" val="tx"/>
                    </a:ext>
                  </a:extLst>
                </a:hlinkClick>
              </a:rPr>
              <a:t>¿Qué es dato, qué es supuesto y qué es ejemplo?</a:t>
            </a:r>
            <a:endParaRPr lang="en-US" sz="1900" dirty="0"/>
          </a:p>
        </p:txBody>
      </p:sp>
      <p:sp>
        <p:nvSpPr>
          <p:cNvPr id="50" name="Text 48">
            <a:hlinkClick r:id="rId18" tooltip="Ir a ¿Qué es dato, qué es supuesto y qué es ejemplo?" action="ppaction://hlinksldjump"/>
          </p:cNvPr>
          <p:cNvSpPr txBox="1"/>
          <p:nvPr/>
        </p:nvSpPr>
        <p:spPr>
          <a:xfrm>
            <a:off x="10637215" y="5797296"/>
            <a:ext cx="1005840" cy="384048"/>
          </a:xfrm>
          <a:prstGeom prst="rect">
            <a:avLst/>
          </a:prstGeom>
          <a:noFill/>
          <a:ln/>
        </p:spPr>
        <p:txBody>
          <a:bodyPr wrap="square" lIns="0" tIns="0" rIns="0" bIns="0" rtlCol="0" anchor="ctr"/>
          <a:lstStyle/>
          <a:p>
            <a:pPr algn="r" indent="0" marL="0">
              <a:buNone/>
            </a:pPr>
            <a:r>
              <a:rPr lang="en-US" sz="14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Qué es dato, qué es supuesto y qué es ejemplo?">
                  <a:extLst>
                    <a:ext uri="{A12FA001-AC4F-418D-AE19-62706E023703}">
                      <ahyp:hlinkClr xmlns:ahyp="http://schemas.microsoft.com/office/drawing/2018/hyperlinkcolor" val="tx"/>
                    </a:ext>
                  </a:extLst>
                </a:hlinkClick>
              </a:rPr>
              <a:t>LÁM. 22</a:t>
            </a:r>
            <a:endParaRPr lang="en-US" sz="1400" dirty="0"/>
          </a:p>
        </p:txBody>
      </p:sp>
      <p:sp>
        <p:nvSpPr>
          <p:cNvPr id="51" name="Shape 49"/>
          <p:cNvSpPr/>
          <p:nvPr/>
        </p:nvSpPr>
        <p:spPr>
          <a:xfrm>
            <a:off x="548640" y="618134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PERSPECTIVA FINANCIERA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EVA,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en dos fórmulas equivalentes.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módulo 4 del curso (empresa genérica en US$, no Lumine); Excel de la Solemne 2, hoja EVA.</a:t>
            </a:r>
            <a:endParaRPr lang="es-CL" sz="1100" dirty="0"/>
          </a:p>
        </p:txBody>
      </p:sp>
      <p:sp>
        <p:nvSpPr>
          <p:cNvPr id="6" name="Shape 4"/>
          <p:cNvSpPr/>
          <p:nvPr/>
        </p:nvSpPr>
        <p:spPr>
          <a:xfrm>
            <a:off x="7562799" y="2322576"/>
            <a:ext cx="4080256" cy="420624"/>
          </a:xfrm>
          <a:prstGeom prst="rect">
            <a:avLst/>
          </a:prstGeom>
          <a:solidFill>
            <a:schemeClr val="bg1">
              <a:alpha val="0"/>
            </a:schemeClr>
          </a:solidFill>
          <a:ln w="19050">
            <a:solidFill>
              <a:schemeClr val="tx1"/>
            </a:solidFill>
            <a:prstDash val="dash"/>
          </a:ln>
        </p:spPr>
      </p:sp>
      <p:sp>
        <p:nvSpPr>
          <p:cNvPr id="7" name="Text 5"/>
          <p:cNvSpPr txBox="1"/>
          <p:nvPr/>
        </p:nvSpPr>
        <p:spPr>
          <a:xfrm>
            <a:off x="7672527" y="2322576"/>
            <a:ext cx="3860800" cy="420624"/>
          </a:xfrm>
          <a:prstGeom prst="rect">
            <a:avLst/>
          </a:prstGeom>
          <a:noFill/>
          <a:ln/>
        </p:spPr>
        <p:txBody>
          <a:bodyPr wrap="square" lIns="0" tIns="0" rIns="0" bIns="0" rtlCol="0" anchor="ctr"/>
          <a:lstStyle/>
          <a:p>
            <a:pPr algn="ct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EJEMPLO DE CLASE · NO LUMINE</a:t>
            </a:r>
            <a:endParaRPr lang="es-CL" sz="1600" dirty="0"/>
          </a:p>
        </p:txBody>
      </p:sp>
      <p:sp>
        <p:nvSpPr>
          <p:cNvPr id="8" name="Text 6"/>
          <p:cNvSpPr txBox="1"/>
          <p:nvPr/>
        </p:nvSpPr>
        <p:spPr>
          <a:xfrm>
            <a:off x="548640" y="2852928"/>
            <a:ext cx="6035040" cy="548640"/>
          </a:xfrm>
          <a:prstGeom prst="rect">
            <a:avLst/>
          </a:prstGeom>
          <a:noFill/>
          <a:ln/>
        </p:spPr>
        <p:txBody>
          <a:bodyPr wrap="square" lIns="0" tIns="0" rIns="0" bIns="0" rtlCol="0" anchor="ctr"/>
          <a:lstStyle/>
          <a:p>
            <a:pPr indent="0" marL="0">
              <a:buNone/>
            </a:pPr>
            <a:r>
              <a:rPr lang="es-CL" altLang="en-US" sz="3000" b="1" dirty="0">
                <a:solidFill>
                  <a:schemeClr val="tx1"/>
                </a:solidFill>
                <a:latin typeface="Archivo Condensed" pitchFamily="34" charset="0"/>
                <a:ea typeface="Archivo Condensed" pitchFamily="34" charset="-122"/>
                <a:cs typeface="Archivo Condensed" pitchFamily="34" charset="-120"/>
              </a:rPr>
              <a:t>EVA = NOPAT − CAPITAL × WACC</a:t>
            </a:r>
            <a:endParaRPr lang="es-CL" sz="3000" dirty="0"/>
          </a:p>
        </p:txBody>
      </p:sp>
      <p:sp>
        <p:nvSpPr>
          <p:cNvPr id="9" name="Text 7"/>
          <p:cNvSpPr txBox="1"/>
          <p:nvPr/>
        </p:nvSpPr>
        <p:spPr>
          <a:xfrm>
            <a:off x="548640" y="3447288"/>
            <a:ext cx="6035040" cy="548640"/>
          </a:xfrm>
          <a:prstGeom prst="rect">
            <a:avLst/>
          </a:prstGeom>
          <a:noFill/>
          <a:ln/>
        </p:spPr>
        <p:txBody>
          <a:bodyPr wrap="square" lIns="0" tIns="0" rIns="0" bIns="0" rtlCol="0" anchor="ctr"/>
          <a:lstStyle/>
          <a:p>
            <a:pPr indent="0" marL="0">
              <a:buNone/>
            </a:pPr>
            <a:r>
              <a:rPr lang="es-CL" altLang="en-US" sz="3000" b="1" dirty="0">
                <a:solidFill>
                  <a:schemeClr val="tx1"/>
                </a:solidFill>
                <a:latin typeface="Archivo Condensed" pitchFamily="34" charset="0"/>
                <a:ea typeface="Archivo Condensed" pitchFamily="34" charset="-122"/>
                <a:cs typeface="Archivo Condensed" pitchFamily="34" charset="-120"/>
              </a:rPr>
              <a:t>EVA = </a:t>
            </a:r>
            <a:pPr indent="0" marL="0">
              <a:buNone/>
            </a:pPr>
            <a:r>
              <a:rPr lang="es-CL" altLang="en-US" sz="3000" b="1" dirty="0">
                <a:solidFill>
                  <a:schemeClr val="tx1"/>
                </a:solidFill>
                <a:latin typeface="Archivo Condensed" pitchFamily="34" charset="0"/>
                <a:ea typeface="Archivo Condensed" pitchFamily="34" charset="-122"/>
                <a:cs typeface="Archivo Condensed" pitchFamily="34" charset="-120"/>
              </a:rPr>
              <a:t>(ROIC − WACC) × CAPITAL</a:t>
            </a:r>
            <a:endParaRPr lang="es-CL" sz="3000" dirty="0"/>
          </a:p>
        </p:txBody>
      </p:sp>
      <p:sp>
        <p:nvSpPr>
          <p:cNvPr id="10" name="Shape 8"/>
          <p:cNvSpPr/>
          <p:nvPr/>
        </p:nvSpPr>
        <p:spPr>
          <a:xfrm>
            <a:off x="548640" y="4178808"/>
            <a:ext cx="6035040" cy="0"/>
          </a:xfrm>
          <a:prstGeom prst="line">
            <a:avLst/>
          </a:prstGeom>
          <a:noFill/>
          <a:ln w="9525">
            <a:solidFill>
              <a:schemeClr val="accent1"/>
            </a:solidFill>
            <a:prstDash val="solid"/>
          </a:ln>
        </p:spPr>
      </p:sp>
      <p:sp>
        <p:nvSpPr>
          <p:cNvPr id="11" name="Text 9"/>
          <p:cNvSpPr txBox="1"/>
          <p:nvPr/>
        </p:nvSpPr>
        <p:spPr>
          <a:xfrm>
            <a:off x="548640" y="4270248"/>
            <a:ext cx="6035040" cy="548640"/>
          </a:xfrm>
          <a:prstGeom prst="rect">
            <a:avLst/>
          </a:prstGeom>
          <a:noFill/>
          <a:ln/>
        </p:spPr>
        <p:txBody>
          <a:bodyPr wrap="square" lIns="0" tIns="0" rIns="0" bIns="0" rtlCol="0" anchor="ctr"/>
          <a:lstStyle/>
          <a:p>
            <a:pPr indent="0" marL="0">
              <a:buNone/>
            </a:pPr>
            <a:r>
              <a:rPr lang="es-CL" altLang="en-US" sz="3000" b="1" dirty="0">
                <a:solidFill>
                  <a:schemeClr val="tx2"/>
                </a:solidFill>
                <a:latin typeface="Archivo Condensed" pitchFamily="34" charset="0"/>
                <a:ea typeface="Archivo Condensed" pitchFamily="34" charset="-122"/>
                <a:cs typeface="Archivo Condensed" pitchFamily="34" charset="-120"/>
              </a:rPr>
              <a:t>(15% − 12%) × 1.000.000</a:t>
            </a:r>
            <a:endParaRPr lang="es-CL" sz="3000" dirty="0"/>
          </a:p>
        </p:txBody>
      </p:sp>
      <p:sp>
        <p:nvSpPr>
          <p:cNvPr id="12" name="Text 10"/>
          <p:cNvSpPr txBox="1"/>
          <p:nvPr/>
        </p:nvSpPr>
        <p:spPr>
          <a:xfrm>
            <a:off x="548640" y="4818888"/>
            <a:ext cx="6035040" cy="685800"/>
          </a:xfrm>
          <a:prstGeom prst="rect">
            <a:avLst/>
          </a:prstGeom>
          <a:noFill/>
          <a:ln/>
        </p:spPr>
        <p:txBody>
          <a:bodyPr wrap="square" lIns="0" tIns="0" rIns="0" bIns="0" rtlCol="0" anchor="ctr"/>
          <a:lstStyle/>
          <a:p>
            <a:pPr indent="0" marL="0">
              <a:buNone/>
            </a:pPr>
            <a:r>
              <a:rPr lang="es-CL" altLang="en-US" sz="4400" b="1" dirty="0">
                <a:solidFill>
                  <a:schemeClr val="accent1"/>
                </a:solidFill>
                <a:latin typeface="Archivo Condensed" pitchFamily="34" charset="0"/>
                <a:ea typeface="Archivo Condensed" pitchFamily="34" charset="-122"/>
                <a:cs typeface="Archivo Condensed" pitchFamily="34" charset="-120"/>
              </a:rPr>
              <a:t>= US$ 30.000</a:t>
            </a:r>
            <a:endParaRPr lang="es-CL" sz="4400" dirty="0"/>
          </a:p>
        </p:txBody>
      </p:sp>
      <p:sp>
        <p:nvSpPr>
          <p:cNvPr id="13" name="Text 11"/>
          <p:cNvSpPr txBox="1"/>
          <p:nvPr/>
        </p:nvSpPr>
        <p:spPr>
          <a:xfrm>
            <a:off x="8321040" y="2852928"/>
            <a:ext cx="1661008" cy="292608"/>
          </a:xfrm>
          <a:prstGeom prst="rect">
            <a:avLst/>
          </a:prstGeom>
          <a:noFill/>
          <a:ln/>
        </p:spPr>
        <p:txBody>
          <a:bodyPr wrap="square" lIns="0" tIns="0" rIns="0" bIns="0" rtlCol="0" anchor="t"/>
          <a:lstStyle/>
          <a:p>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VAN Y TIR</a:t>
            </a:r>
            <a:endParaRPr lang="es-CL" sz="1400" dirty="0"/>
          </a:p>
        </p:txBody>
      </p:sp>
      <p:sp>
        <p:nvSpPr>
          <p:cNvPr id="14" name="Text 12"/>
          <p:cNvSpPr txBox="1"/>
          <p:nvPr/>
        </p:nvSpPr>
        <p:spPr>
          <a:xfrm>
            <a:off x="9982048" y="2852928"/>
            <a:ext cx="1661008" cy="292608"/>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EVA</a:t>
            </a:r>
            <a:endParaRPr lang="es-CL" sz="1400" dirty="0"/>
          </a:p>
        </p:txBody>
      </p:sp>
      <p:sp>
        <p:nvSpPr>
          <p:cNvPr id="15" name="Shape 13"/>
          <p:cNvSpPr/>
          <p:nvPr/>
        </p:nvSpPr>
        <p:spPr>
          <a:xfrm>
            <a:off x="7040880" y="3218688"/>
            <a:ext cx="4602175" cy="0"/>
          </a:xfrm>
          <a:prstGeom prst="line">
            <a:avLst/>
          </a:prstGeom>
          <a:noFill/>
          <a:ln w="9525">
            <a:solidFill>
              <a:schemeClr val="accent1"/>
            </a:solidFill>
            <a:prstDash val="solid"/>
          </a:ln>
        </p:spPr>
      </p:sp>
      <p:sp>
        <p:nvSpPr>
          <p:cNvPr id="16" name="Text 14"/>
          <p:cNvSpPr txBox="1"/>
          <p:nvPr/>
        </p:nvSpPr>
        <p:spPr>
          <a:xfrm>
            <a:off x="7040880" y="3218688"/>
            <a:ext cx="1280160" cy="71323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EVALÚA</a:t>
            </a:r>
            <a:endParaRPr lang="es-CL" sz="1300" dirty="0"/>
          </a:p>
        </p:txBody>
      </p:sp>
      <p:sp>
        <p:nvSpPr>
          <p:cNvPr id="17" name="Text 15"/>
          <p:cNvSpPr txBox="1"/>
          <p:nvPr/>
        </p:nvSpPr>
        <p:spPr>
          <a:xfrm>
            <a:off x="8321040" y="3218688"/>
            <a:ext cx="1569568" cy="713232"/>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El proyecto completo</a:t>
            </a:r>
            <a:endParaRPr lang="es-CL" sz="1800" dirty="0"/>
          </a:p>
        </p:txBody>
      </p:sp>
      <p:sp>
        <p:nvSpPr>
          <p:cNvPr id="18" name="Text 16"/>
          <p:cNvSpPr txBox="1"/>
          <p:nvPr/>
        </p:nvSpPr>
        <p:spPr>
          <a:xfrm>
            <a:off x="9982048" y="3218688"/>
            <a:ext cx="1569568" cy="71323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Cada período</a:t>
            </a:r>
            <a:endParaRPr lang="es-CL" sz="1800" dirty="0"/>
          </a:p>
        </p:txBody>
      </p:sp>
      <p:sp>
        <p:nvSpPr>
          <p:cNvPr id="19" name="Shape 17"/>
          <p:cNvSpPr/>
          <p:nvPr/>
        </p:nvSpPr>
        <p:spPr>
          <a:xfrm>
            <a:off x="7040880" y="3931920"/>
            <a:ext cx="4602175" cy="0"/>
          </a:xfrm>
          <a:prstGeom prst="line">
            <a:avLst/>
          </a:prstGeom>
          <a:noFill/>
          <a:ln w="9525">
            <a:solidFill>
              <a:schemeClr val="accent5"/>
            </a:solidFill>
            <a:prstDash val="solid"/>
          </a:ln>
        </p:spPr>
      </p:sp>
      <p:sp>
        <p:nvSpPr>
          <p:cNvPr id="20" name="Text 18"/>
          <p:cNvSpPr txBox="1"/>
          <p:nvPr/>
        </p:nvSpPr>
        <p:spPr>
          <a:xfrm>
            <a:off x="7040880" y="3931920"/>
            <a:ext cx="1280160" cy="71323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CUÁNDO</a:t>
            </a:r>
            <a:endParaRPr lang="es-CL" sz="1300" dirty="0"/>
          </a:p>
        </p:txBody>
      </p:sp>
      <p:sp>
        <p:nvSpPr>
          <p:cNvPr id="21" name="Text 19"/>
          <p:cNvSpPr txBox="1"/>
          <p:nvPr/>
        </p:nvSpPr>
        <p:spPr>
          <a:xfrm>
            <a:off x="8321040" y="3931920"/>
            <a:ext cx="1569568" cy="713232"/>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Antes de invertir</a:t>
            </a:r>
            <a:endParaRPr lang="es-CL" sz="1800" dirty="0"/>
          </a:p>
        </p:txBody>
      </p:sp>
      <p:sp>
        <p:nvSpPr>
          <p:cNvPr id="22" name="Text 20"/>
          <p:cNvSpPr txBox="1"/>
          <p:nvPr/>
        </p:nvSpPr>
        <p:spPr>
          <a:xfrm>
            <a:off x="9982048" y="3931920"/>
            <a:ext cx="1569568" cy="71323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Durante la operación</a:t>
            </a:r>
            <a:endParaRPr lang="es-CL" sz="1800" dirty="0"/>
          </a:p>
        </p:txBody>
      </p:sp>
      <p:sp>
        <p:nvSpPr>
          <p:cNvPr id="23" name="Shape 21"/>
          <p:cNvSpPr/>
          <p:nvPr/>
        </p:nvSpPr>
        <p:spPr>
          <a:xfrm>
            <a:off x="7040880" y="4645152"/>
            <a:ext cx="4602175" cy="0"/>
          </a:xfrm>
          <a:prstGeom prst="line">
            <a:avLst/>
          </a:prstGeom>
          <a:noFill/>
          <a:ln w="9525">
            <a:solidFill>
              <a:schemeClr val="accent5"/>
            </a:solidFill>
            <a:prstDash val="solid"/>
          </a:ln>
        </p:spPr>
      </p:sp>
      <p:sp>
        <p:nvSpPr>
          <p:cNvPr id="24" name="Text 22"/>
          <p:cNvSpPr txBox="1"/>
          <p:nvPr/>
        </p:nvSpPr>
        <p:spPr>
          <a:xfrm>
            <a:off x="7040880" y="4645152"/>
            <a:ext cx="1280160" cy="71323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CON QUÉ</a:t>
            </a:r>
            <a:endParaRPr lang="es-CL" sz="1300" dirty="0"/>
          </a:p>
        </p:txBody>
      </p:sp>
      <p:sp>
        <p:nvSpPr>
          <p:cNvPr id="25" name="Text 23"/>
          <p:cNvSpPr txBox="1"/>
          <p:nvPr/>
        </p:nvSpPr>
        <p:spPr>
          <a:xfrm>
            <a:off x="8321040" y="4645152"/>
            <a:ext cx="1569568" cy="713232"/>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Flujos descontados</a:t>
            </a:r>
            <a:endParaRPr lang="es-CL" sz="1800" dirty="0"/>
          </a:p>
        </p:txBody>
      </p:sp>
      <p:sp>
        <p:nvSpPr>
          <p:cNvPr id="26" name="Text 24"/>
          <p:cNvSpPr txBox="1"/>
          <p:nvPr/>
        </p:nvSpPr>
        <p:spPr>
          <a:xfrm>
            <a:off x="9982048" y="4645152"/>
            <a:ext cx="1569568" cy="71323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Resultado y capital</a:t>
            </a:r>
            <a:endParaRPr lang="es-CL" sz="1800" dirty="0"/>
          </a:p>
        </p:txBody>
      </p:sp>
      <p:sp>
        <p:nvSpPr>
          <p:cNvPr id="27" name="Shape 25"/>
          <p:cNvSpPr/>
          <p:nvPr/>
        </p:nvSpPr>
        <p:spPr>
          <a:xfrm>
            <a:off x="7040880" y="5358384"/>
            <a:ext cx="460217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 REGLAS DEL SEMÁFORO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TIPO DE INDICADOR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su regla.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hojas MATRIZ_CMI y SEGUIMIENTO. En el Excel, C03 usa otra regla: verde solo sobre la meta y ámbar desde 70% de ella.</a:t>
            </a:r>
            <a:endParaRPr lang="es-CL" sz="1100" dirty="0"/>
          </a:p>
        </p:txBody>
      </p:sp>
      <p:sp>
        <p:nvSpPr>
          <p:cNvPr id="6" name="Text 4"/>
          <p:cNvSpPr txBox="1"/>
          <p:nvPr/>
        </p:nvSpPr>
        <p:spPr>
          <a:xfrm>
            <a:off x="548640" y="2395728"/>
            <a:ext cx="265176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TIPO</a:t>
            </a:r>
            <a:endParaRPr lang="es-CL" sz="1300" dirty="0"/>
          </a:p>
        </p:txBody>
      </p:sp>
      <p:sp>
        <p:nvSpPr>
          <p:cNvPr id="7" name="Text 5"/>
          <p:cNvSpPr txBox="1"/>
          <p:nvPr/>
        </p:nvSpPr>
        <p:spPr>
          <a:xfrm>
            <a:off x="3200400" y="2395728"/>
            <a:ext cx="310896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INDICADORES</a:t>
            </a:r>
            <a:endParaRPr lang="es-CL" sz="1300" dirty="0"/>
          </a:p>
        </p:txBody>
      </p:sp>
      <p:sp>
        <p:nvSpPr>
          <p:cNvPr id="8" name="Text 6"/>
          <p:cNvSpPr txBox="1"/>
          <p:nvPr/>
        </p:nvSpPr>
        <p:spPr>
          <a:xfrm>
            <a:off x="6309360" y="2395728"/>
            <a:ext cx="274320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VERDE</a:t>
            </a:r>
            <a:endParaRPr lang="es-CL" sz="1300" dirty="0"/>
          </a:p>
        </p:txBody>
      </p:sp>
      <p:sp>
        <p:nvSpPr>
          <p:cNvPr id="9" name="Text 7"/>
          <p:cNvSpPr txBox="1"/>
          <p:nvPr/>
        </p:nvSpPr>
        <p:spPr>
          <a:xfrm>
            <a:off x="9052560" y="2395728"/>
            <a:ext cx="2590495"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ROJO</a:t>
            </a:r>
            <a:endParaRPr lang="es-CL" sz="1300" dirty="0"/>
          </a:p>
        </p:txBody>
      </p:sp>
      <p:sp>
        <p:nvSpPr>
          <p:cNvPr id="10" name="Shape 8"/>
          <p:cNvSpPr/>
          <p:nvPr/>
        </p:nvSpPr>
        <p:spPr>
          <a:xfrm>
            <a:off x="548640" y="2743200"/>
            <a:ext cx="11094415" cy="0"/>
          </a:xfrm>
          <a:prstGeom prst="line">
            <a:avLst/>
          </a:prstGeom>
          <a:noFill/>
          <a:ln w="9525">
            <a:solidFill>
              <a:schemeClr val="accent1"/>
            </a:solidFill>
            <a:prstDash val="solid"/>
          </a:ln>
        </p:spPr>
      </p:sp>
      <p:sp>
        <p:nvSpPr>
          <p:cNvPr id="11" name="Text 9"/>
          <p:cNvSpPr txBox="1"/>
          <p:nvPr/>
        </p:nvSpPr>
        <p:spPr>
          <a:xfrm>
            <a:off x="548640" y="2743200"/>
            <a:ext cx="2514600" cy="749808"/>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Ratio común</a:t>
            </a:r>
            <a:endParaRPr lang="es-CL" sz="1800" dirty="0"/>
          </a:p>
        </p:txBody>
      </p:sp>
      <p:sp>
        <p:nvSpPr>
          <p:cNvPr id="12" name="Text 10"/>
          <p:cNvSpPr txBox="1"/>
          <p:nvPr/>
        </p:nvSpPr>
        <p:spPr>
          <a:xfrm>
            <a:off x="3200400" y="2743200"/>
            <a:ext cx="297180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C03</a:t>
            </a:r>
            <a:endParaRPr lang="es-CL" sz="1800" dirty="0"/>
          </a:p>
        </p:txBody>
      </p:sp>
      <p:sp>
        <p:nvSpPr>
          <p:cNvPr id="13" name="Text 11"/>
          <p:cNvSpPr txBox="1"/>
          <p:nvPr/>
        </p:nvSpPr>
        <p:spPr>
          <a:xfrm>
            <a:off x="6309360" y="2743200"/>
            <a:ext cx="260604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90% o más (ámbar 70% a 89%)</a:t>
            </a:r>
            <a:endParaRPr lang="es-CL" sz="1800" dirty="0"/>
          </a:p>
        </p:txBody>
      </p:sp>
      <p:sp>
        <p:nvSpPr>
          <p:cNvPr id="14" name="Text 12"/>
          <p:cNvSpPr txBox="1"/>
          <p:nvPr/>
        </p:nvSpPr>
        <p:spPr>
          <a:xfrm>
            <a:off x="9052560" y="2743200"/>
            <a:ext cx="2453335"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Menos de 70%</a:t>
            </a:r>
            <a:endParaRPr lang="es-CL" sz="1800" dirty="0"/>
          </a:p>
        </p:txBody>
      </p:sp>
      <p:sp>
        <p:nvSpPr>
          <p:cNvPr id="15" name="Shape 13"/>
          <p:cNvSpPr/>
          <p:nvPr/>
        </p:nvSpPr>
        <p:spPr>
          <a:xfrm>
            <a:off x="548640" y="3493008"/>
            <a:ext cx="11094415" cy="0"/>
          </a:xfrm>
          <a:prstGeom prst="line">
            <a:avLst/>
          </a:prstGeom>
          <a:noFill/>
          <a:ln w="9525">
            <a:solidFill>
              <a:schemeClr val="accent5"/>
            </a:solidFill>
            <a:prstDash val="solid"/>
          </a:ln>
        </p:spPr>
      </p:sp>
      <p:sp>
        <p:nvSpPr>
          <p:cNvPr id="16" name="Text 14"/>
          <p:cNvSpPr txBox="1"/>
          <p:nvPr/>
        </p:nvSpPr>
        <p:spPr>
          <a:xfrm>
            <a:off x="548640" y="3493008"/>
            <a:ext cx="2514600" cy="749808"/>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Ratio o cobertura crítica</a:t>
            </a:r>
            <a:endParaRPr lang="es-CL" sz="1800" dirty="0"/>
          </a:p>
        </p:txBody>
      </p:sp>
      <p:sp>
        <p:nvSpPr>
          <p:cNvPr id="17" name="Text 15"/>
          <p:cNvSpPr txBox="1"/>
          <p:nvPr/>
        </p:nvSpPr>
        <p:spPr>
          <a:xfrm>
            <a:off x="3200400" y="3493008"/>
            <a:ext cx="297180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A01 · A02 · P03 · C01 · F03</a:t>
            </a:r>
            <a:endParaRPr lang="es-CL" sz="1800" dirty="0"/>
          </a:p>
        </p:txBody>
      </p:sp>
      <p:sp>
        <p:nvSpPr>
          <p:cNvPr id="18" name="Text 16"/>
          <p:cNvSpPr txBox="1"/>
          <p:nvPr/>
        </p:nvSpPr>
        <p:spPr>
          <a:xfrm>
            <a:off x="6309360" y="3493008"/>
            <a:ext cx="260604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100% (o cobertura completa)</a:t>
            </a:r>
            <a:endParaRPr lang="es-CL" sz="1800" dirty="0"/>
          </a:p>
        </p:txBody>
      </p:sp>
      <p:sp>
        <p:nvSpPr>
          <p:cNvPr id="19" name="Text 17"/>
          <p:cNvSpPr txBox="1"/>
          <p:nvPr/>
        </p:nvSpPr>
        <p:spPr>
          <a:xfrm>
            <a:off x="9052560" y="3493008"/>
            <a:ext cx="2453335"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Bajo 100%</a:t>
            </a:r>
            <a:endParaRPr lang="es-CL" sz="1800" dirty="0"/>
          </a:p>
        </p:txBody>
      </p:sp>
      <p:sp>
        <p:nvSpPr>
          <p:cNvPr id="20" name="Shape 18"/>
          <p:cNvSpPr/>
          <p:nvPr/>
        </p:nvSpPr>
        <p:spPr>
          <a:xfrm>
            <a:off x="548640" y="4242816"/>
            <a:ext cx="11094415" cy="0"/>
          </a:xfrm>
          <a:prstGeom prst="line">
            <a:avLst/>
          </a:prstGeom>
          <a:noFill/>
          <a:ln w="9525">
            <a:solidFill>
              <a:schemeClr val="accent5"/>
            </a:solidFill>
            <a:prstDash val="solid"/>
          </a:ln>
        </p:spPr>
      </p:sp>
      <p:sp>
        <p:nvSpPr>
          <p:cNvPr id="21" name="Text 19"/>
          <p:cNvSpPr txBox="1"/>
          <p:nvPr/>
        </p:nvSpPr>
        <p:spPr>
          <a:xfrm>
            <a:off x="548640" y="4242816"/>
            <a:ext cx="2514600" cy="749808"/>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Hito</a:t>
            </a:r>
            <a:endParaRPr lang="es-CL" sz="1800" dirty="0"/>
          </a:p>
        </p:txBody>
      </p:sp>
      <p:sp>
        <p:nvSpPr>
          <p:cNvPr id="22" name="Text 20"/>
          <p:cNvSpPr txBox="1"/>
          <p:nvPr/>
        </p:nvSpPr>
        <p:spPr>
          <a:xfrm>
            <a:off x="3200400" y="4242816"/>
            <a:ext cx="297180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A03 · P01 · P02 · C02 · F02</a:t>
            </a:r>
            <a:endParaRPr lang="es-CL" sz="1800" dirty="0"/>
          </a:p>
        </p:txBody>
      </p:sp>
      <p:sp>
        <p:nvSpPr>
          <p:cNvPr id="23" name="Text 21"/>
          <p:cNvSpPr txBox="1"/>
          <p:nvPr/>
        </p:nvSpPr>
        <p:spPr>
          <a:xfrm>
            <a:off x="6309360" y="4242816"/>
            <a:ext cx="260604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Cumplido, con documento</a:t>
            </a:r>
            <a:endParaRPr lang="es-CL" sz="1800" dirty="0"/>
          </a:p>
        </p:txBody>
      </p:sp>
      <p:sp>
        <p:nvSpPr>
          <p:cNvPr id="24" name="Text 22"/>
          <p:cNvSpPr txBox="1"/>
          <p:nvPr/>
        </p:nvSpPr>
        <p:spPr>
          <a:xfrm>
            <a:off x="9052560" y="4242816"/>
            <a:ext cx="2453335"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Pendiente comprobado (críticos)</a:t>
            </a:r>
            <a:endParaRPr lang="es-CL" sz="1800" dirty="0"/>
          </a:p>
        </p:txBody>
      </p:sp>
      <p:sp>
        <p:nvSpPr>
          <p:cNvPr id="25" name="Shape 23"/>
          <p:cNvSpPr/>
          <p:nvPr/>
        </p:nvSpPr>
        <p:spPr>
          <a:xfrm>
            <a:off x="548640" y="4992624"/>
            <a:ext cx="11094415" cy="0"/>
          </a:xfrm>
          <a:prstGeom prst="line">
            <a:avLst/>
          </a:prstGeom>
          <a:noFill/>
          <a:ln w="9525">
            <a:solidFill>
              <a:schemeClr val="accent5"/>
            </a:solidFill>
            <a:prstDash val="solid"/>
          </a:ln>
        </p:spPr>
      </p:sp>
      <p:sp>
        <p:nvSpPr>
          <p:cNvPr id="26" name="Text 24"/>
          <p:cNvSpPr txBox="1"/>
          <p:nvPr/>
        </p:nvSpPr>
        <p:spPr>
          <a:xfrm>
            <a:off x="548640" y="4992624"/>
            <a:ext cx="2514600" cy="749808"/>
          </a:xfrm>
          <a:prstGeom prst="rect">
            <a:avLst/>
          </a:prstGeom>
          <a:noFill/>
          <a:ln/>
        </p:spPr>
        <p:txBody>
          <a:bodyPr wrap="square" lIns="0" tIns="0" rIns="0" bIns="0" rtlCol="0" anchor="ctr"/>
          <a:lstStyle/>
          <a:p>
            <a:pPr indent="0" marL="0">
              <a:lnSpc>
                <a:spcPct val="92000"/>
              </a:lnSpc>
              <a:buNone/>
            </a:pPr>
            <a:r>
              <a:rPr lang="es-CL" altLang="en-US" sz="1800" b="1" dirty="0">
                <a:solidFill>
                  <a:schemeClr val="tx1"/>
                </a:solidFill>
                <a:latin typeface="Figtree" pitchFamily="34" charset="0"/>
                <a:ea typeface="Figtree" pitchFamily="34" charset="-122"/>
                <a:cs typeface="Figtree" pitchFamily="34" charset="-120"/>
              </a:rPr>
              <a:t>Valor económico</a:t>
            </a:r>
            <a:endParaRPr lang="es-CL" sz="1800" dirty="0"/>
          </a:p>
        </p:txBody>
      </p:sp>
      <p:sp>
        <p:nvSpPr>
          <p:cNvPr id="27" name="Text 25"/>
          <p:cNvSpPr txBox="1"/>
          <p:nvPr/>
        </p:nvSpPr>
        <p:spPr>
          <a:xfrm>
            <a:off x="3200400" y="4992624"/>
            <a:ext cx="297180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F01</a:t>
            </a:r>
            <a:endParaRPr lang="es-CL" sz="1800" dirty="0"/>
          </a:p>
        </p:txBody>
      </p:sp>
      <p:sp>
        <p:nvSpPr>
          <p:cNvPr id="28" name="Text 26"/>
          <p:cNvSpPr txBox="1"/>
          <p:nvPr/>
        </p:nvSpPr>
        <p:spPr>
          <a:xfrm>
            <a:off x="6309360" y="4992624"/>
            <a:ext cx="2606040"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EVA mayor que 0</a:t>
            </a:r>
            <a:endParaRPr lang="es-CL" sz="1800" dirty="0"/>
          </a:p>
        </p:txBody>
      </p:sp>
      <p:sp>
        <p:nvSpPr>
          <p:cNvPr id="29" name="Text 27"/>
          <p:cNvSpPr txBox="1"/>
          <p:nvPr/>
        </p:nvSpPr>
        <p:spPr>
          <a:xfrm>
            <a:off x="9052560" y="4992624"/>
            <a:ext cx="2453335" cy="749808"/>
          </a:xfrm>
          <a:prstGeom prst="rect">
            <a:avLst/>
          </a:prstGeom>
          <a:noFill/>
          <a:ln/>
        </p:spPr>
        <p:txBody>
          <a:bodyPr wrap="square" lIns="0" tIns="0" rIns="0" bIns="0" rtlCol="0" anchor="ctr"/>
          <a:lstStyle/>
          <a:p>
            <a:pPr indent="0" marL="0">
              <a:lnSpc>
                <a:spcPct val="92000"/>
              </a:lnSpc>
              <a:buNone/>
            </a:pPr>
            <a:r>
              <a:rPr lang="es-CL" altLang="en-US" sz="1800" dirty="0">
                <a:solidFill>
                  <a:schemeClr val="tx1"/>
                </a:solidFill>
                <a:latin typeface="Figtree" pitchFamily="34" charset="0"/>
                <a:ea typeface="Figtree" pitchFamily="34" charset="-122"/>
                <a:cs typeface="Figtree" pitchFamily="34" charset="-120"/>
              </a:rPr>
              <a:t>EVA de 0 o menos</a:t>
            </a:r>
            <a:endParaRPr lang="es-CL" sz="1800" dirty="0"/>
          </a:p>
        </p:txBody>
      </p:sp>
      <p:sp>
        <p:nvSpPr>
          <p:cNvPr id="30" name="Shape 28"/>
          <p:cNvSpPr/>
          <p:nvPr/>
        </p:nvSpPr>
        <p:spPr>
          <a:xfrm>
            <a:off x="548640" y="5742432"/>
            <a:ext cx="11094415" cy="0"/>
          </a:xfrm>
          <a:prstGeom prst="line">
            <a:avLst/>
          </a:prstGeom>
          <a:noFill/>
          <a:ln w="9525">
            <a:solidFill>
              <a:schemeClr val="accent5"/>
            </a:solidFill>
            <a:prstDash val="solid"/>
          </a:ln>
        </p:spPr>
      </p:sp>
      <p:sp>
        <p:nvSpPr>
          <p:cNvPr id="31" name="Text 29"/>
          <p:cNvSpPr txBox="1"/>
          <p:nvPr/>
        </p:nvSpPr>
        <p:spPr>
          <a:xfrm>
            <a:off x="548640" y="5925312"/>
            <a:ext cx="11094415" cy="41148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Sin dato, cualquier tipo queda en gris: </a:t>
            </a:r>
            <a:pPr indent="0" marL="0">
              <a:buNone/>
            </a:pPr>
            <a:r>
              <a:rPr lang="es-CL" altLang="en-US" sz="2000" dirty="0">
                <a:solidFill>
                  <a:schemeClr val="tx2"/>
                </a:solidFill>
                <a:latin typeface="Figtree" pitchFamily="34" charset="0"/>
                <a:ea typeface="Figtree" pitchFamily="34" charset="-122"/>
                <a:cs typeface="Figtree" pitchFamily="34" charset="-120"/>
              </a:rPr>
              <a:t>sin medir.</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 MATRIZ DE INDICADORES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LOS 12 INDICADORES: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aprendizaje y procesos.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MATRIZ_CMI. Responsables según la estructura de la Fase 3 (el Excel nombra otras áreas para A02 y P03).</a:t>
            </a:r>
            <a:endParaRPr lang="es-CL" sz="1100" dirty="0"/>
          </a:p>
        </p:txBody>
      </p:sp>
      <p:sp>
        <p:nvSpPr>
          <p:cNvPr id="6" name="Text 4"/>
          <p:cNvSpPr txBox="1"/>
          <p:nvPr/>
        </p:nvSpPr>
        <p:spPr>
          <a:xfrm>
            <a:off x="9308795" y="841248"/>
            <a:ext cx="2334260" cy="274320"/>
          </a:xfrm>
          <a:prstGeom prst="rect">
            <a:avLst/>
          </a:prstGeom>
          <a:noFill/>
          <a:ln/>
        </p:spPr>
        <p:txBody>
          <a:bodyPr wrap="square" lIns="0" tIns="0" rIns="0" bIns="0" rtlCol="0" anchor="ctr"/>
          <a:lstStyle/>
          <a:p>
            <a:pPr indent="0" marL="0">
              <a:buNone/>
            </a:pPr>
            <a:r>
              <a:rPr lang="es-CL" altLang="en-US" sz="1200" spc="50" kern="0" dirty="0">
                <a:solidFill>
                  <a:srgbClr val="F87171"/>
                </a:solidFill>
                <a:latin typeface="IBM Plex Mono" pitchFamily="34" charset="0"/>
                <a:ea typeface="IBM Plex Mono" pitchFamily="34" charset="-122"/>
                <a:cs typeface="IBM Plex Mono" pitchFamily="34" charset="-120"/>
              </a:rPr>
              <a:t>HITO CRÍTICO PENDIENTE</a:t>
            </a:r>
            <a:endParaRPr lang="es-CL" sz="1200" dirty="0"/>
          </a:p>
        </p:txBody>
      </p:sp>
      <p:sp>
        <p:nvSpPr>
          <p:cNvPr id="7" name="Shape 5"/>
          <p:cNvSpPr/>
          <p:nvPr/>
        </p:nvSpPr>
        <p:spPr>
          <a:xfrm>
            <a:off x="8997899" y="896112"/>
            <a:ext cx="219456" cy="164592"/>
          </a:xfrm>
          <a:prstGeom prst="rect">
            <a:avLst/>
          </a:prstGeom>
          <a:solidFill>
            <a:schemeClr val="bg1">
              <a:alpha val="0"/>
            </a:schemeClr>
          </a:solidFill>
          <a:ln w="22225">
            <a:solidFill>
              <a:srgbClr val="F87171"/>
            </a:solidFill>
            <a:prstDash val="solid"/>
          </a:ln>
        </p:spPr>
      </p:sp>
      <p:sp>
        <p:nvSpPr>
          <p:cNvPr id="8" name="Text 6"/>
          <p:cNvSpPr txBox="1"/>
          <p:nvPr/>
        </p:nvSpPr>
        <p:spPr>
          <a:xfrm>
            <a:off x="7651445" y="841248"/>
            <a:ext cx="1062990" cy="274320"/>
          </a:xfrm>
          <a:prstGeom prst="rect">
            <a:avLst/>
          </a:prstGeom>
          <a:noFill/>
          <a:ln/>
        </p:spPr>
        <p:txBody>
          <a:bodyPr wrap="square" lIns="0" tIns="0" rIns="0" bIns="0" rtlCol="0" anchor="ctr"/>
          <a:lstStyle/>
          <a:p>
            <a:pPr indent="0" marL="0">
              <a:buNone/>
            </a:pPr>
            <a:r>
              <a:rPr lang="es-CL" altLang="en-US" sz="1200" spc="50" kern="0" dirty="0">
                <a:solidFill>
                  <a:srgbClr val="8B9598"/>
                </a:solidFill>
                <a:latin typeface="IBM Plex Mono" pitchFamily="34" charset="0"/>
                <a:ea typeface="IBM Plex Mono" pitchFamily="34" charset="-122"/>
                <a:cs typeface="IBM Plex Mono" pitchFamily="34" charset="-120"/>
              </a:rPr>
              <a:t>SIN MEDIR</a:t>
            </a:r>
            <a:endParaRPr lang="es-CL" sz="1200" dirty="0"/>
          </a:p>
        </p:txBody>
      </p:sp>
      <p:sp>
        <p:nvSpPr>
          <p:cNvPr id="9" name="Shape 7"/>
          <p:cNvSpPr/>
          <p:nvPr/>
        </p:nvSpPr>
        <p:spPr>
          <a:xfrm>
            <a:off x="7340549" y="896112"/>
            <a:ext cx="219456" cy="164592"/>
          </a:xfrm>
          <a:prstGeom prst="rect">
            <a:avLst/>
          </a:prstGeom>
          <a:solidFill>
            <a:schemeClr val="bg1">
              <a:alpha val="0"/>
            </a:schemeClr>
          </a:solidFill>
          <a:ln w="12700">
            <a:solidFill>
              <a:srgbClr val="8B9598"/>
            </a:solidFill>
            <a:prstDash val="dash"/>
          </a:ln>
        </p:spPr>
      </p:sp>
      <p:sp>
        <p:nvSpPr>
          <p:cNvPr id="10" name="Text 8"/>
          <p:cNvSpPr txBox="1"/>
          <p:nvPr/>
        </p:nvSpPr>
        <p:spPr>
          <a:xfrm>
            <a:off x="548640" y="2395728"/>
            <a:ext cx="9601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ID</a:t>
            </a:r>
            <a:endParaRPr lang="es-CL" sz="1300" dirty="0"/>
          </a:p>
        </p:txBody>
      </p:sp>
      <p:sp>
        <p:nvSpPr>
          <p:cNvPr id="11" name="Text 9"/>
          <p:cNvSpPr txBox="1"/>
          <p:nvPr/>
        </p:nvSpPr>
        <p:spPr>
          <a:xfrm>
            <a:off x="1508760" y="2395728"/>
            <a:ext cx="388620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INDICADOR</a:t>
            </a:r>
            <a:endParaRPr lang="es-CL" sz="1300" dirty="0"/>
          </a:p>
        </p:txBody>
      </p:sp>
      <p:sp>
        <p:nvSpPr>
          <p:cNvPr id="12" name="Text 10"/>
          <p:cNvSpPr txBox="1"/>
          <p:nvPr/>
        </p:nvSpPr>
        <p:spPr>
          <a:xfrm>
            <a:off x="5394960" y="2395728"/>
            <a:ext cx="23317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META</a:t>
            </a:r>
            <a:endParaRPr lang="es-CL" sz="1300" dirty="0"/>
          </a:p>
        </p:txBody>
      </p:sp>
      <p:sp>
        <p:nvSpPr>
          <p:cNvPr id="13" name="Text 11"/>
          <p:cNvSpPr txBox="1"/>
          <p:nvPr/>
        </p:nvSpPr>
        <p:spPr>
          <a:xfrm>
            <a:off x="7726680" y="2395728"/>
            <a:ext cx="178308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FRECUENCIA</a:t>
            </a:r>
            <a:endParaRPr lang="es-CL" sz="1300" dirty="0"/>
          </a:p>
        </p:txBody>
      </p:sp>
      <p:sp>
        <p:nvSpPr>
          <p:cNvPr id="14" name="Text 12"/>
          <p:cNvSpPr txBox="1"/>
          <p:nvPr/>
        </p:nvSpPr>
        <p:spPr>
          <a:xfrm>
            <a:off x="9509760" y="2395728"/>
            <a:ext cx="2133295"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RESPONSABLE</a:t>
            </a:r>
            <a:endParaRPr lang="es-CL" sz="1300" dirty="0"/>
          </a:p>
        </p:txBody>
      </p:sp>
      <p:sp>
        <p:nvSpPr>
          <p:cNvPr id="15" name="Shape 13"/>
          <p:cNvSpPr/>
          <p:nvPr/>
        </p:nvSpPr>
        <p:spPr>
          <a:xfrm>
            <a:off x="548640" y="2743200"/>
            <a:ext cx="11094415" cy="0"/>
          </a:xfrm>
          <a:prstGeom prst="line">
            <a:avLst/>
          </a:prstGeom>
          <a:noFill/>
          <a:ln w="9525">
            <a:solidFill>
              <a:schemeClr val="accent1"/>
            </a:solidFill>
            <a:prstDash val="solid"/>
          </a:ln>
        </p:spPr>
      </p:sp>
      <p:sp>
        <p:nvSpPr>
          <p:cNvPr id="16" name="Shape 14"/>
          <p:cNvSpPr/>
          <p:nvPr/>
        </p:nvSpPr>
        <p:spPr>
          <a:xfrm>
            <a:off x="548640" y="2880360"/>
            <a:ext cx="512064" cy="292608"/>
          </a:xfrm>
          <a:prstGeom prst="rect">
            <a:avLst/>
          </a:prstGeom>
          <a:solidFill>
            <a:schemeClr val="accent5"/>
          </a:solidFill>
          <a:ln/>
        </p:spPr>
      </p:sp>
      <p:sp>
        <p:nvSpPr>
          <p:cNvPr id="17" name="Text 15"/>
          <p:cNvSpPr txBox="1"/>
          <p:nvPr/>
        </p:nvSpPr>
        <p:spPr>
          <a:xfrm>
            <a:off x="548640" y="2880360"/>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A01</a:t>
            </a:r>
            <a:endParaRPr lang="es-CL" sz="1300" dirty="0"/>
          </a:p>
        </p:txBody>
      </p:sp>
      <p:sp>
        <p:nvSpPr>
          <p:cNvPr id="18" name="Shape 16"/>
          <p:cNvSpPr/>
          <p:nvPr/>
        </p:nvSpPr>
        <p:spPr>
          <a:xfrm>
            <a:off x="1133856" y="2944368"/>
            <a:ext cx="182880" cy="164592"/>
          </a:xfrm>
          <a:prstGeom prst="rect">
            <a:avLst/>
          </a:prstGeom>
          <a:solidFill>
            <a:schemeClr val="bg1">
              <a:alpha val="0"/>
            </a:schemeClr>
          </a:solidFill>
          <a:ln w="12700">
            <a:solidFill>
              <a:srgbClr val="8B9598"/>
            </a:solidFill>
            <a:prstDash val="dash"/>
          </a:ln>
        </p:spPr>
      </p:sp>
      <p:sp>
        <p:nvSpPr>
          <p:cNvPr id="19" name="Text 17"/>
          <p:cNvSpPr txBox="1"/>
          <p:nvPr/>
        </p:nvSpPr>
        <p:spPr>
          <a:xfrm>
            <a:off x="1508760" y="2743200"/>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Calibraciones registradas ÷ generadas</a:t>
            </a:r>
            <a:endParaRPr lang="es-CL" sz="1600" dirty="0"/>
          </a:p>
        </p:txBody>
      </p:sp>
      <p:sp>
        <p:nvSpPr>
          <p:cNvPr id="20" name="Text 18"/>
          <p:cNvSpPr txBox="1"/>
          <p:nvPr/>
        </p:nvSpPr>
        <p:spPr>
          <a:xfrm>
            <a:off x="5394960" y="2743200"/>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21" name="Text 19"/>
          <p:cNvSpPr txBox="1"/>
          <p:nvPr/>
        </p:nvSpPr>
        <p:spPr>
          <a:xfrm>
            <a:off x="7726680" y="2743200"/>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Trimestral</a:t>
            </a:r>
            <a:endParaRPr lang="es-CL" sz="1600" dirty="0"/>
          </a:p>
        </p:txBody>
      </p:sp>
      <p:sp>
        <p:nvSpPr>
          <p:cNvPr id="22" name="Text 20"/>
          <p:cNvSpPr txBox="1"/>
          <p:nvPr/>
        </p:nvSpPr>
        <p:spPr>
          <a:xfrm>
            <a:off x="9509760" y="2743200"/>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Calibración</a:t>
            </a:r>
            <a:endParaRPr lang="es-CL" sz="1600" dirty="0"/>
          </a:p>
        </p:txBody>
      </p:sp>
      <p:sp>
        <p:nvSpPr>
          <p:cNvPr id="23" name="Shape 21"/>
          <p:cNvSpPr/>
          <p:nvPr/>
        </p:nvSpPr>
        <p:spPr>
          <a:xfrm>
            <a:off x="548640" y="3310128"/>
            <a:ext cx="11094415" cy="0"/>
          </a:xfrm>
          <a:prstGeom prst="line">
            <a:avLst/>
          </a:prstGeom>
          <a:noFill/>
          <a:ln w="9525">
            <a:solidFill>
              <a:schemeClr val="accent5"/>
            </a:solidFill>
            <a:prstDash val="solid"/>
          </a:ln>
        </p:spPr>
      </p:sp>
      <p:sp>
        <p:nvSpPr>
          <p:cNvPr id="24" name="Shape 22"/>
          <p:cNvSpPr/>
          <p:nvPr/>
        </p:nvSpPr>
        <p:spPr>
          <a:xfrm>
            <a:off x="548640" y="3447288"/>
            <a:ext cx="512064" cy="292608"/>
          </a:xfrm>
          <a:prstGeom prst="rect">
            <a:avLst/>
          </a:prstGeom>
          <a:solidFill>
            <a:schemeClr val="accent5"/>
          </a:solidFill>
          <a:ln/>
        </p:spPr>
      </p:sp>
      <p:sp>
        <p:nvSpPr>
          <p:cNvPr id="25" name="Text 23"/>
          <p:cNvSpPr txBox="1"/>
          <p:nvPr/>
        </p:nvSpPr>
        <p:spPr>
          <a:xfrm>
            <a:off x="548640" y="3447288"/>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A02</a:t>
            </a:r>
            <a:endParaRPr lang="es-CL" sz="1300" dirty="0"/>
          </a:p>
        </p:txBody>
      </p:sp>
      <p:sp>
        <p:nvSpPr>
          <p:cNvPr id="26" name="Shape 24"/>
          <p:cNvSpPr/>
          <p:nvPr/>
        </p:nvSpPr>
        <p:spPr>
          <a:xfrm>
            <a:off x="1133856" y="3511296"/>
            <a:ext cx="182880" cy="164592"/>
          </a:xfrm>
          <a:prstGeom prst="rect">
            <a:avLst/>
          </a:prstGeom>
          <a:solidFill>
            <a:schemeClr val="bg1">
              <a:alpha val="0"/>
            </a:schemeClr>
          </a:solidFill>
          <a:ln w="12700">
            <a:solidFill>
              <a:srgbClr val="8B9598"/>
            </a:solidFill>
            <a:prstDash val="dash"/>
          </a:ln>
        </p:spPr>
      </p:sp>
      <p:sp>
        <p:nvSpPr>
          <p:cNvPr id="27" name="Text 25"/>
          <p:cNvSpPr txBox="1"/>
          <p:nvPr/>
        </p:nvSpPr>
        <p:spPr>
          <a:xfrm>
            <a:off x="1508760" y="3310128"/>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Técnicos habilitados ÷ asignados</a:t>
            </a:r>
            <a:endParaRPr lang="es-CL" sz="1600" dirty="0"/>
          </a:p>
        </p:txBody>
      </p:sp>
      <p:sp>
        <p:nvSpPr>
          <p:cNvPr id="28" name="Text 26"/>
          <p:cNvSpPr txBox="1"/>
          <p:nvPr/>
        </p:nvSpPr>
        <p:spPr>
          <a:xfrm>
            <a:off x="5394960" y="3310128"/>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 antes de abrir</a:t>
            </a:r>
            <a:endParaRPr lang="es-CL" sz="1600" dirty="0"/>
          </a:p>
        </p:txBody>
      </p:sp>
      <p:sp>
        <p:nvSpPr>
          <p:cNvPr id="29" name="Text 27"/>
          <p:cNvSpPr txBox="1"/>
          <p:nvPr/>
        </p:nvSpPr>
        <p:spPr>
          <a:xfrm>
            <a:off x="7726680" y="3310128"/>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Mensual</a:t>
            </a:r>
            <a:endParaRPr lang="es-CL" sz="1600" dirty="0"/>
          </a:p>
        </p:txBody>
      </p:sp>
      <p:sp>
        <p:nvSpPr>
          <p:cNvPr id="30" name="Text 28"/>
          <p:cNvSpPr txBox="1"/>
          <p:nvPr/>
        </p:nvSpPr>
        <p:spPr>
          <a:xfrm>
            <a:off x="9509760" y="3310128"/>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Responsable Técnico</a:t>
            </a:r>
            <a:endParaRPr lang="es-CL" sz="1600" dirty="0"/>
          </a:p>
        </p:txBody>
      </p:sp>
      <p:sp>
        <p:nvSpPr>
          <p:cNvPr id="31" name="Shape 29"/>
          <p:cNvSpPr/>
          <p:nvPr/>
        </p:nvSpPr>
        <p:spPr>
          <a:xfrm>
            <a:off x="548640" y="3877056"/>
            <a:ext cx="11094415" cy="0"/>
          </a:xfrm>
          <a:prstGeom prst="line">
            <a:avLst/>
          </a:prstGeom>
          <a:noFill/>
          <a:ln w="9525">
            <a:solidFill>
              <a:schemeClr val="accent5"/>
            </a:solidFill>
            <a:prstDash val="solid"/>
          </a:ln>
        </p:spPr>
      </p:sp>
      <p:sp>
        <p:nvSpPr>
          <p:cNvPr id="32" name="Shape 30"/>
          <p:cNvSpPr/>
          <p:nvPr/>
        </p:nvSpPr>
        <p:spPr>
          <a:xfrm>
            <a:off x="548640" y="4014216"/>
            <a:ext cx="512064" cy="292608"/>
          </a:xfrm>
          <a:prstGeom prst="rect">
            <a:avLst/>
          </a:prstGeom>
          <a:solidFill>
            <a:schemeClr val="accent5"/>
          </a:solidFill>
          <a:ln/>
        </p:spPr>
      </p:sp>
      <p:sp>
        <p:nvSpPr>
          <p:cNvPr id="33" name="Text 31"/>
          <p:cNvSpPr txBox="1"/>
          <p:nvPr/>
        </p:nvSpPr>
        <p:spPr>
          <a:xfrm>
            <a:off x="548640" y="4014216"/>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A03</a:t>
            </a:r>
            <a:endParaRPr lang="es-CL" sz="1300" dirty="0"/>
          </a:p>
        </p:txBody>
      </p:sp>
      <p:sp>
        <p:nvSpPr>
          <p:cNvPr id="34" name="Shape 32"/>
          <p:cNvSpPr/>
          <p:nvPr/>
        </p:nvSpPr>
        <p:spPr>
          <a:xfrm>
            <a:off x="1133856" y="4078224"/>
            <a:ext cx="182880" cy="164592"/>
          </a:xfrm>
          <a:prstGeom prst="rect">
            <a:avLst/>
          </a:prstGeom>
          <a:solidFill>
            <a:schemeClr val="bg1">
              <a:alpha val="0"/>
            </a:schemeClr>
          </a:solidFill>
          <a:ln w="22225">
            <a:solidFill>
              <a:srgbClr val="F87171"/>
            </a:solidFill>
            <a:prstDash val="solid"/>
          </a:ln>
        </p:spPr>
      </p:sp>
      <p:sp>
        <p:nvSpPr>
          <p:cNvPr id="35" name="Text 33"/>
          <p:cNvSpPr txBox="1"/>
          <p:nvPr/>
        </p:nvSpPr>
        <p:spPr>
          <a:xfrm>
            <a:off x="1508760" y="3877056"/>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Primer protocolo comparativo completo</a:t>
            </a:r>
            <a:endParaRPr lang="es-CL" sz="1600" dirty="0"/>
          </a:p>
        </p:txBody>
      </p:sp>
      <p:sp>
        <p:nvSpPr>
          <p:cNvPr id="36" name="Text 34"/>
          <p:cNvSpPr txBox="1"/>
          <p:nvPr/>
        </p:nvSpPr>
        <p:spPr>
          <a:xfrm>
            <a:off x="5394960" y="3877056"/>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 protocolo</a:t>
            </a:r>
            <a:endParaRPr lang="es-CL" sz="1600" dirty="0"/>
          </a:p>
        </p:txBody>
      </p:sp>
      <p:sp>
        <p:nvSpPr>
          <p:cNvPr id="37" name="Text 35"/>
          <p:cNvSpPr txBox="1"/>
          <p:nvPr/>
        </p:nvSpPr>
        <p:spPr>
          <a:xfrm>
            <a:off x="7726680" y="3877056"/>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piloto</a:t>
            </a:r>
            <a:endParaRPr lang="es-CL" sz="1600" dirty="0"/>
          </a:p>
        </p:txBody>
      </p:sp>
      <p:sp>
        <p:nvSpPr>
          <p:cNvPr id="38" name="Text 36"/>
          <p:cNvSpPr txBox="1"/>
          <p:nvPr/>
        </p:nvSpPr>
        <p:spPr>
          <a:xfrm>
            <a:off x="9509760" y="3877056"/>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Calibración</a:t>
            </a:r>
            <a:endParaRPr lang="es-CL" sz="1600" dirty="0"/>
          </a:p>
        </p:txBody>
      </p:sp>
      <p:sp>
        <p:nvSpPr>
          <p:cNvPr id="39" name="Shape 37"/>
          <p:cNvSpPr/>
          <p:nvPr/>
        </p:nvSpPr>
        <p:spPr>
          <a:xfrm>
            <a:off x="548640" y="4443984"/>
            <a:ext cx="11094415" cy="0"/>
          </a:xfrm>
          <a:prstGeom prst="line">
            <a:avLst/>
          </a:prstGeom>
          <a:noFill/>
          <a:ln w="9525">
            <a:solidFill>
              <a:schemeClr val="accent5"/>
            </a:solidFill>
            <a:prstDash val="solid"/>
          </a:ln>
        </p:spPr>
      </p:sp>
      <p:sp>
        <p:nvSpPr>
          <p:cNvPr id="40" name="Shape 38"/>
          <p:cNvSpPr/>
          <p:nvPr/>
        </p:nvSpPr>
        <p:spPr>
          <a:xfrm>
            <a:off x="548640" y="4581144"/>
            <a:ext cx="512064" cy="292608"/>
          </a:xfrm>
          <a:prstGeom prst="rect">
            <a:avLst/>
          </a:prstGeom>
          <a:solidFill>
            <a:schemeClr val="accent5"/>
          </a:solidFill>
          <a:ln/>
        </p:spPr>
      </p:sp>
      <p:sp>
        <p:nvSpPr>
          <p:cNvPr id="41" name="Text 39"/>
          <p:cNvSpPr txBox="1"/>
          <p:nvPr/>
        </p:nvSpPr>
        <p:spPr>
          <a:xfrm>
            <a:off x="548640" y="4581144"/>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P01</a:t>
            </a:r>
            <a:endParaRPr lang="es-CL" sz="1300" dirty="0"/>
          </a:p>
        </p:txBody>
      </p:sp>
      <p:sp>
        <p:nvSpPr>
          <p:cNvPr id="42" name="Shape 40"/>
          <p:cNvSpPr/>
          <p:nvPr/>
        </p:nvSpPr>
        <p:spPr>
          <a:xfrm>
            <a:off x="1133856" y="4645152"/>
            <a:ext cx="182880" cy="164592"/>
          </a:xfrm>
          <a:prstGeom prst="rect">
            <a:avLst/>
          </a:prstGeom>
          <a:solidFill>
            <a:schemeClr val="bg1">
              <a:alpha val="0"/>
            </a:schemeClr>
          </a:solidFill>
          <a:ln w="22225">
            <a:solidFill>
              <a:srgbClr val="F87171"/>
            </a:solidFill>
            <a:prstDash val="solid"/>
          </a:ln>
        </p:spPr>
      </p:sp>
      <p:sp>
        <p:nvSpPr>
          <p:cNvPr id="43" name="Text 41"/>
          <p:cNvSpPr txBox="1"/>
          <p:nvPr/>
        </p:nvSpPr>
        <p:spPr>
          <a:xfrm>
            <a:off x="1508760" y="4443984"/>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Autorización sectorial vigente</a:t>
            </a:r>
            <a:endParaRPr lang="es-CL" sz="1600" dirty="0"/>
          </a:p>
        </p:txBody>
      </p:sp>
      <p:sp>
        <p:nvSpPr>
          <p:cNvPr id="44" name="Text 42"/>
          <p:cNvSpPr txBox="1"/>
          <p:nvPr/>
        </p:nvSpPr>
        <p:spPr>
          <a:xfrm>
            <a:off x="5394960" y="4443984"/>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a:t>
            </a:r>
            <a:endParaRPr lang="es-CL" sz="1600" dirty="0"/>
          </a:p>
        </p:txBody>
      </p:sp>
      <p:sp>
        <p:nvSpPr>
          <p:cNvPr id="45" name="Text 43"/>
          <p:cNvSpPr txBox="1"/>
          <p:nvPr/>
        </p:nvSpPr>
        <p:spPr>
          <a:xfrm>
            <a:off x="7726680" y="4443984"/>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evento</a:t>
            </a:r>
            <a:endParaRPr lang="es-CL" sz="1600" dirty="0"/>
          </a:p>
        </p:txBody>
      </p:sp>
      <p:sp>
        <p:nvSpPr>
          <p:cNvPr id="46" name="Text 44"/>
          <p:cNvSpPr txBox="1"/>
          <p:nvPr/>
        </p:nvSpPr>
        <p:spPr>
          <a:xfrm>
            <a:off x="9509760" y="4443984"/>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Gerente General</a:t>
            </a:r>
            <a:endParaRPr lang="es-CL" sz="1600" dirty="0"/>
          </a:p>
        </p:txBody>
      </p:sp>
      <p:sp>
        <p:nvSpPr>
          <p:cNvPr id="47" name="Shape 45"/>
          <p:cNvSpPr/>
          <p:nvPr/>
        </p:nvSpPr>
        <p:spPr>
          <a:xfrm>
            <a:off x="548640" y="5010912"/>
            <a:ext cx="11094415" cy="0"/>
          </a:xfrm>
          <a:prstGeom prst="line">
            <a:avLst/>
          </a:prstGeom>
          <a:noFill/>
          <a:ln w="9525">
            <a:solidFill>
              <a:schemeClr val="accent5"/>
            </a:solidFill>
            <a:prstDash val="solid"/>
          </a:ln>
        </p:spPr>
      </p:sp>
      <p:sp>
        <p:nvSpPr>
          <p:cNvPr id="48" name="Shape 46"/>
          <p:cNvSpPr/>
          <p:nvPr/>
        </p:nvSpPr>
        <p:spPr>
          <a:xfrm>
            <a:off x="548640" y="5148072"/>
            <a:ext cx="512064" cy="292608"/>
          </a:xfrm>
          <a:prstGeom prst="rect">
            <a:avLst/>
          </a:prstGeom>
          <a:solidFill>
            <a:schemeClr val="accent5"/>
          </a:solidFill>
          <a:ln/>
        </p:spPr>
      </p:sp>
      <p:sp>
        <p:nvSpPr>
          <p:cNvPr id="49" name="Text 47"/>
          <p:cNvSpPr txBox="1"/>
          <p:nvPr/>
        </p:nvSpPr>
        <p:spPr>
          <a:xfrm>
            <a:off x="548640" y="5148072"/>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P02</a:t>
            </a:r>
            <a:endParaRPr lang="es-CL" sz="1300" dirty="0"/>
          </a:p>
        </p:txBody>
      </p:sp>
      <p:sp>
        <p:nvSpPr>
          <p:cNvPr id="50" name="Shape 48"/>
          <p:cNvSpPr/>
          <p:nvPr/>
        </p:nvSpPr>
        <p:spPr>
          <a:xfrm>
            <a:off x="1133856" y="5212080"/>
            <a:ext cx="182880" cy="164592"/>
          </a:xfrm>
          <a:prstGeom prst="rect">
            <a:avLst/>
          </a:prstGeom>
          <a:solidFill>
            <a:schemeClr val="bg1">
              <a:alpha val="0"/>
            </a:schemeClr>
          </a:solidFill>
          <a:ln w="22225">
            <a:solidFill>
              <a:srgbClr val="F87171"/>
            </a:solidFill>
            <a:prstDash val="solid"/>
          </a:ln>
        </p:spPr>
      </p:sp>
      <p:sp>
        <p:nvSpPr>
          <p:cNvPr id="51" name="Text 49"/>
          <p:cNvSpPr txBox="1"/>
          <p:nvPr/>
        </p:nvSpPr>
        <p:spPr>
          <a:xfrm>
            <a:off x="1508760" y="5010912"/>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Pares modelo-kit homologados</a:t>
            </a:r>
            <a:endParaRPr lang="es-CL" sz="1600" dirty="0"/>
          </a:p>
        </p:txBody>
      </p:sp>
      <p:sp>
        <p:nvSpPr>
          <p:cNvPr id="52" name="Text 50"/>
          <p:cNvSpPr txBox="1"/>
          <p:nvPr/>
        </p:nvSpPr>
        <p:spPr>
          <a:xfrm>
            <a:off x="5394960" y="5010912"/>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 o más antes de vender</a:t>
            </a:r>
            <a:endParaRPr lang="es-CL" sz="1600" dirty="0"/>
          </a:p>
        </p:txBody>
      </p:sp>
      <p:sp>
        <p:nvSpPr>
          <p:cNvPr id="53" name="Text 51"/>
          <p:cNvSpPr txBox="1"/>
          <p:nvPr/>
        </p:nvSpPr>
        <p:spPr>
          <a:xfrm>
            <a:off x="7726680" y="5010912"/>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Trimestral</a:t>
            </a:r>
            <a:endParaRPr lang="es-CL" sz="1600" dirty="0"/>
          </a:p>
        </p:txBody>
      </p:sp>
      <p:sp>
        <p:nvSpPr>
          <p:cNvPr id="54" name="Text 52"/>
          <p:cNvSpPr txBox="1"/>
          <p:nvPr/>
        </p:nvSpPr>
        <p:spPr>
          <a:xfrm>
            <a:off x="9509760" y="5010912"/>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Calibración</a:t>
            </a:r>
            <a:endParaRPr lang="es-CL" sz="1600" dirty="0"/>
          </a:p>
        </p:txBody>
      </p:sp>
      <p:sp>
        <p:nvSpPr>
          <p:cNvPr id="55" name="Shape 53"/>
          <p:cNvSpPr/>
          <p:nvPr/>
        </p:nvSpPr>
        <p:spPr>
          <a:xfrm>
            <a:off x="548640" y="5577840"/>
            <a:ext cx="11094415" cy="0"/>
          </a:xfrm>
          <a:prstGeom prst="line">
            <a:avLst/>
          </a:prstGeom>
          <a:noFill/>
          <a:ln w="9525">
            <a:solidFill>
              <a:schemeClr val="accent5"/>
            </a:solidFill>
            <a:prstDash val="solid"/>
          </a:ln>
        </p:spPr>
      </p:sp>
      <p:sp>
        <p:nvSpPr>
          <p:cNvPr id="56" name="Shape 54"/>
          <p:cNvSpPr/>
          <p:nvPr/>
        </p:nvSpPr>
        <p:spPr>
          <a:xfrm>
            <a:off x="548640" y="5715000"/>
            <a:ext cx="512064" cy="292608"/>
          </a:xfrm>
          <a:prstGeom prst="rect">
            <a:avLst/>
          </a:prstGeom>
          <a:solidFill>
            <a:schemeClr val="accent5"/>
          </a:solidFill>
          <a:ln/>
        </p:spPr>
      </p:sp>
      <p:sp>
        <p:nvSpPr>
          <p:cNvPr id="57" name="Text 55"/>
          <p:cNvSpPr txBox="1"/>
          <p:nvPr/>
        </p:nvSpPr>
        <p:spPr>
          <a:xfrm>
            <a:off x="548640" y="5715000"/>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P03</a:t>
            </a:r>
            <a:endParaRPr lang="es-CL" sz="1300" dirty="0"/>
          </a:p>
        </p:txBody>
      </p:sp>
      <p:sp>
        <p:nvSpPr>
          <p:cNvPr id="58" name="Shape 56"/>
          <p:cNvSpPr/>
          <p:nvPr/>
        </p:nvSpPr>
        <p:spPr>
          <a:xfrm>
            <a:off x="1133856" y="5779008"/>
            <a:ext cx="182880" cy="164592"/>
          </a:xfrm>
          <a:prstGeom prst="rect">
            <a:avLst/>
          </a:prstGeom>
          <a:solidFill>
            <a:schemeClr val="bg1">
              <a:alpha val="0"/>
            </a:schemeClr>
          </a:solidFill>
          <a:ln w="12700">
            <a:solidFill>
              <a:srgbClr val="8B9598"/>
            </a:solidFill>
            <a:prstDash val="dash"/>
          </a:ln>
        </p:spPr>
      </p:sp>
      <p:sp>
        <p:nvSpPr>
          <p:cNvPr id="59" name="Text 57"/>
          <p:cNvSpPr txBox="1"/>
          <p:nvPr/>
        </p:nvSpPr>
        <p:spPr>
          <a:xfrm>
            <a:off x="1508760" y="5577840"/>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Órdenes con acta completa ÷ cerradas</a:t>
            </a:r>
            <a:endParaRPr lang="es-CL" sz="1600" dirty="0"/>
          </a:p>
        </p:txBody>
      </p:sp>
      <p:sp>
        <p:nvSpPr>
          <p:cNvPr id="60" name="Text 58"/>
          <p:cNvSpPr txBox="1"/>
          <p:nvPr/>
        </p:nvSpPr>
        <p:spPr>
          <a:xfrm>
            <a:off x="5394960" y="5577840"/>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61" name="Text 59"/>
          <p:cNvSpPr txBox="1"/>
          <p:nvPr/>
        </p:nvSpPr>
        <p:spPr>
          <a:xfrm>
            <a:off x="7726680" y="5577840"/>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instalación</a:t>
            </a:r>
            <a:endParaRPr lang="es-CL" sz="1600" dirty="0"/>
          </a:p>
        </p:txBody>
      </p:sp>
      <p:sp>
        <p:nvSpPr>
          <p:cNvPr id="62" name="Text 60"/>
          <p:cNvSpPr txBox="1"/>
          <p:nvPr/>
        </p:nvSpPr>
        <p:spPr>
          <a:xfrm>
            <a:off x="9509760" y="5577840"/>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Responsable Técnico</a:t>
            </a:r>
            <a:endParaRPr lang="es-CL" sz="1600" dirty="0"/>
          </a:p>
        </p:txBody>
      </p:sp>
      <p:sp>
        <p:nvSpPr>
          <p:cNvPr id="63" name="Shape 61"/>
          <p:cNvSpPr/>
          <p:nvPr/>
        </p:nvSpPr>
        <p:spPr>
          <a:xfrm>
            <a:off x="548640" y="614476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 MATRIZ DE INDICADORES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LOS 12 INDICADORES: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clientes y financiera.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MATRIZ_CMI. Responsables según la estructura de la Fase 3 (el Excel nombra otras áreas para F01 y F03).</a:t>
            </a:r>
            <a:endParaRPr lang="es-CL" sz="1100" dirty="0"/>
          </a:p>
        </p:txBody>
      </p:sp>
      <p:sp>
        <p:nvSpPr>
          <p:cNvPr id="6" name="Text 4"/>
          <p:cNvSpPr txBox="1"/>
          <p:nvPr/>
        </p:nvSpPr>
        <p:spPr>
          <a:xfrm>
            <a:off x="9308795" y="841248"/>
            <a:ext cx="2334260" cy="274320"/>
          </a:xfrm>
          <a:prstGeom prst="rect">
            <a:avLst/>
          </a:prstGeom>
          <a:noFill/>
          <a:ln/>
        </p:spPr>
        <p:txBody>
          <a:bodyPr wrap="square" lIns="0" tIns="0" rIns="0" bIns="0" rtlCol="0" anchor="ctr"/>
          <a:lstStyle/>
          <a:p>
            <a:pPr indent="0" marL="0">
              <a:buNone/>
            </a:pPr>
            <a:r>
              <a:rPr lang="es-CL" altLang="en-US" sz="1200" spc="50" kern="0" dirty="0">
                <a:solidFill>
                  <a:srgbClr val="F87171"/>
                </a:solidFill>
                <a:latin typeface="IBM Plex Mono" pitchFamily="34" charset="0"/>
                <a:ea typeface="IBM Plex Mono" pitchFamily="34" charset="-122"/>
                <a:cs typeface="IBM Plex Mono" pitchFamily="34" charset="-120"/>
              </a:rPr>
              <a:t>HITO CRÍTICO PENDIENTE</a:t>
            </a:r>
            <a:endParaRPr lang="es-CL" sz="1200" dirty="0"/>
          </a:p>
        </p:txBody>
      </p:sp>
      <p:sp>
        <p:nvSpPr>
          <p:cNvPr id="7" name="Shape 5"/>
          <p:cNvSpPr/>
          <p:nvPr/>
        </p:nvSpPr>
        <p:spPr>
          <a:xfrm>
            <a:off x="8997899" y="896112"/>
            <a:ext cx="219456" cy="164592"/>
          </a:xfrm>
          <a:prstGeom prst="rect">
            <a:avLst/>
          </a:prstGeom>
          <a:solidFill>
            <a:schemeClr val="bg1">
              <a:alpha val="0"/>
            </a:schemeClr>
          </a:solidFill>
          <a:ln w="22225">
            <a:solidFill>
              <a:srgbClr val="F87171"/>
            </a:solidFill>
            <a:prstDash val="solid"/>
          </a:ln>
        </p:spPr>
      </p:sp>
      <p:sp>
        <p:nvSpPr>
          <p:cNvPr id="8" name="Text 6"/>
          <p:cNvSpPr txBox="1"/>
          <p:nvPr/>
        </p:nvSpPr>
        <p:spPr>
          <a:xfrm>
            <a:off x="7651445" y="841248"/>
            <a:ext cx="1062990" cy="274320"/>
          </a:xfrm>
          <a:prstGeom prst="rect">
            <a:avLst/>
          </a:prstGeom>
          <a:noFill/>
          <a:ln/>
        </p:spPr>
        <p:txBody>
          <a:bodyPr wrap="square" lIns="0" tIns="0" rIns="0" bIns="0" rtlCol="0" anchor="ctr"/>
          <a:lstStyle/>
          <a:p>
            <a:pPr indent="0" marL="0">
              <a:buNone/>
            </a:pPr>
            <a:r>
              <a:rPr lang="es-CL" altLang="en-US" sz="1200" spc="50" kern="0" dirty="0">
                <a:solidFill>
                  <a:srgbClr val="8B9598"/>
                </a:solidFill>
                <a:latin typeface="IBM Plex Mono" pitchFamily="34" charset="0"/>
                <a:ea typeface="IBM Plex Mono" pitchFamily="34" charset="-122"/>
                <a:cs typeface="IBM Plex Mono" pitchFamily="34" charset="-120"/>
              </a:rPr>
              <a:t>SIN MEDIR</a:t>
            </a:r>
            <a:endParaRPr lang="es-CL" sz="1200" dirty="0"/>
          </a:p>
        </p:txBody>
      </p:sp>
      <p:sp>
        <p:nvSpPr>
          <p:cNvPr id="9" name="Shape 7"/>
          <p:cNvSpPr/>
          <p:nvPr/>
        </p:nvSpPr>
        <p:spPr>
          <a:xfrm>
            <a:off x="7340549" y="896112"/>
            <a:ext cx="219456" cy="164592"/>
          </a:xfrm>
          <a:prstGeom prst="rect">
            <a:avLst/>
          </a:prstGeom>
          <a:solidFill>
            <a:schemeClr val="bg1">
              <a:alpha val="0"/>
            </a:schemeClr>
          </a:solidFill>
          <a:ln w="12700">
            <a:solidFill>
              <a:srgbClr val="8B9598"/>
            </a:solidFill>
            <a:prstDash val="dash"/>
          </a:ln>
        </p:spPr>
      </p:sp>
      <p:sp>
        <p:nvSpPr>
          <p:cNvPr id="10" name="Text 8"/>
          <p:cNvSpPr txBox="1"/>
          <p:nvPr/>
        </p:nvSpPr>
        <p:spPr>
          <a:xfrm>
            <a:off x="548640" y="2395728"/>
            <a:ext cx="9601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ID</a:t>
            </a:r>
            <a:endParaRPr lang="es-CL" sz="1300" dirty="0"/>
          </a:p>
        </p:txBody>
      </p:sp>
      <p:sp>
        <p:nvSpPr>
          <p:cNvPr id="11" name="Text 9"/>
          <p:cNvSpPr txBox="1"/>
          <p:nvPr/>
        </p:nvSpPr>
        <p:spPr>
          <a:xfrm>
            <a:off x="1508760" y="2395728"/>
            <a:ext cx="388620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INDICADOR</a:t>
            </a:r>
            <a:endParaRPr lang="es-CL" sz="1300" dirty="0"/>
          </a:p>
        </p:txBody>
      </p:sp>
      <p:sp>
        <p:nvSpPr>
          <p:cNvPr id="12" name="Text 10"/>
          <p:cNvSpPr txBox="1"/>
          <p:nvPr/>
        </p:nvSpPr>
        <p:spPr>
          <a:xfrm>
            <a:off x="5394960" y="2395728"/>
            <a:ext cx="23317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META</a:t>
            </a:r>
            <a:endParaRPr lang="es-CL" sz="1300" dirty="0"/>
          </a:p>
        </p:txBody>
      </p:sp>
      <p:sp>
        <p:nvSpPr>
          <p:cNvPr id="13" name="Text 11"/>
          <p:cNvSpPr txBox="1"/>
          <p:nvPr/>
        </p:nvSpPr>
        <p:spPr>
          <a:xfrm>
            <a:off x="7726680" y="2395728"/>
            <a:ext cx="178308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FRECUENCIA</a:t>
            </a:r>
            <a:endParaRPr lang="es-CL" sz="1300" dirty="0"/>
          </a:p>
        </p:txBody>
      </p:sp>
      <p:sp>
        <p:nvSpPr>
          <p:cNvPr id="14" name="Text 12"/>
          <p:cNvSpPr txBox="1"/>
          <p:nvPr/>
        </p:nvSpPr>
        <p:spPr>
          <a:xfrm>
            <a:off x="9509760" y="2395728"/>
            <a:ext cx="2133295"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RESPONSABLE</a:t>
            </a:r>
            <a:endParaRPr lang="es-CL" sz="1300" dirty="0"/>
          </a:p>
        </p:txBody>
      </p:sp>
      <p:sp>
        <p:nvSpPr>
          <p:cNvPr id="15" name="Shape 13"/>
          <p:cNvSpPr/>
          <p:nvPr/>
        </p:nvSpPr>
        <p:spPr>
          <a:xfrm>
            <a:off x="548640" y="2743200"/>
            <a:ext cx="11094415" cy="0"/>
          </a:xfrm>
          <a:prstGeom prst="line">
            <a:avLst/>
          </a:prstGeom>
          <a:noFill/>
          <a:ln w="9525">
            <a:solidFill>
              <a:schemeClr val="accent1"/>
            </a:solidFill>
            <a:prstDash val="solid"/>
          </a:ln>
        </p:spPr>
      </p:sp>
      <p:sp>
        <p:nvSpPr>
          <p:cNvPr id="16" name="Shape 14"/>
          <p:cNvSpPr/>
          <p:nvPr/>
        </p:nvSpPr>
        <p:spPr>
          <a:xfrm>
            <a:off x="548640" y="2880360"/>
            <a:ext cx="512064" cy="292608"/>
          </a:xfrm>
          <a:prstGeom prst="rect">
            <a:avLst/>
          </a:prstGeom>
          <a:solidFill>
            <a:schemeClr val="accent5"/>
          </a:solidFill>
          <a:ln/>
        </p:spPr>
      </p:sp>
      <p:sp>
        <p:nvSpPr>
          <p:cNvPr id="17" name="Text 15"/>
          <p:cNvSpPr txBox="1"/>
          <p:nvPr/>
        </p:nvSpPr>
        <p:spPr>
          <a:xfrm>
            <a:off x="548640" y="2880360"/>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C01</a:t>
            </a:r>
            <a:endParaRPr lang="es-CL" sz="1300" dirty="0"/>
          </a:p>
        </p:txBody>
      </p:sp>
      <p:sp>
        <p:nvSpPr>
          <p:cNvPr id="18" name="Shape 16"/>
          <p:cNvSpPr/>
          <p:nvPr/>
        </p:nvSpPr>
        <p:spPr>
          <a:xfrm>
            <a:off x="1133856" y="2944368"/>
            <a:ext cx="182880" cy="164592"/>
          </a:xfrm>
          <a:prstGeom prst="rect">
            <a:avLst/>
          </a:prstGeom>
          <a:solidFill>
            <a:schemeClr val="bg1">
              <a:alpha val="0"/>
            </a:schemeClr>
          </a:solidFill>
          <a:ln w="12700">
            <a:solidFill>
              <a:srgbClr val="8B9598"/>
            </a:solidFill>
            <a:prstDash val="dash"/>
          </a:ln>
        </p:spPr>
      </p:sp>
      <p:sp>
        <p:nvSpPr>
          <p:cNvPr id="19" name="Text 17"/>
          <p:cNvSpPr txBox="1"/>
          <p:nvPr/>
        </p:nvSpPr>
        <p:spPr>
          <a:xfrm>
            <a:off x="1508760" y="2743200"/>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Clientes con informe ÷ intervenidos</a:t>
            </a:r>
            <a:endParaRPr lang="es-CL" sz="1600" dirty="0"/>
          </a:p>
        </p:txBody>
      </p:sp>
      <p:sp>
        <p:nvSpPr>
          <p:cNvPr id="20" name="Text 18"/>
          <p:cNvSpPr txBox="1"/>
          <p:nvPr/>
        </p:nvSpPr>
        <p:spPr>
          <a:xfrm>
            <a:off x="5394960" y="2743200"/>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21" name="Text 19"/>
          <p:cNvSpPr txBox="1"/>
          <p:nvPr/>
        </p:nvSpPr>
        <p:spPr>
          <a:xfrm>
            <a:off x="7726680" y="2743200"/>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instalación</a:t>
            </a:r>
            <a:endParaRPr lang="es-CL" sz="1600" dirty="0"/>
          </a:p>
        </p:txBody>
      </p:sp>
      <p:sp>
        <p:nvSpPr>
          <p:cNvPr id="22" name="Text 20"/>
          <p:cNvSpPr txBox="1"/>
          <p:nvPr/>
        </p:nvSpPr>
        <p:spPr>
          <a:xfrm>
            <a:off x="9509760" y="2743200"/>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Comercial y Postventa</a:t>
            </a:r>
            <a:endParaRPr lang="es-CL" sz="1600" dirty="0"/>
          </a:p>
        </p:txBody>
      </p:sp>
      <p:sp>
        <p:nvSpPr>
          <p:cNvPr id="23" name="Shape 21"/>
          <p:cNvSpPr/>
          <p:nvPr/>
        </p:nvSpPr>
        <p:spPr>
          <a:xfrm>
            <a:off x="548640" y="3310128"/>
            <a:ext cx="11094415" cy="0"/>
          </a:xfrm>
          <a:prstGeom prst="line">
            <a:avLst/>
          </a:prstGeom>
          <a:noFill/>
          <a:ln w="9525">
            <a:solidFill>
              <a:schemeClr val="accent5"/>
            </a:solidFill>
            <a:prstDash val="solid"/>
          </a:ln>
        </p:spPr>
      </p:sp>
      <p:sp>
        <p:nvSpPr>
          <p:cNvPr id="24" name="Shape 22"/>
          <p:cNvSpPr/>
          <p:nvPr/>
        </p:nvSpPr>
        <p:spPr>
          <a:xfrm>
            <a:off x="548640" y="3447288"/>
            <a:ext cx="512064" cy="292608"/>
          </a:xfrm>
          <a:prstGeom prst="rect">
            <a:avLst/>
          </a:prstGeom>
          <a:solidFill>
            <a:schemeClr val="accent5"/>
          </a:solidFill>
          <a:ln/>
        </p:spPr>
      </p:sp>
      <p:sp>
        <p:nvSpPr>
          <p:cNvPr id="25" name="Text 23"/>
          <p:cNvSpPr txBox="1"/>
          <p:nvPr/>
        </p:nvSpPr>
        <p:spPr>
          <a:xfrm>
            <a:off x="548640" y="3447288"/>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C02</a:t>
            </a:r>
            <a:endParaRPr lang="es-CL" sz="1300" dirty="0"/>
          </a:p>
        </p:txBody>
      </p:sp>
      <p:sp>
        <p:nvSpPr>
          <p:cNvPr id="26" name="Shape 24"/>
          <p:cNvSpPr/>
          <p:nvPr/>
        </p:nvSpPr>
        <p:spPr>
          <a:xfrm>
            <a:off x="1133856" y="3511296"/>
            <a:ext cx="182880" cy="164592"/>
          </a:xfrm>
          <a:prstGeom prst="rect">
            <a:avLst/>
          </a:prstGeom>
          <a:solidFill>
            <a:schemeClr val="bg1">
              <a:alpha val="0"/>
            </a:schemeClr>
          </a:solidFill>
          <a:ln w="22225">
            <a:solidFill>
              <a:srgbClr val="F87171"/>
            </a:solidFill>
            <a:prstDash val="solid"/>
          </a:ln>
        </p:spPr>
      </p:sp>
      <p:sp>
        <p:nvSpPr>
          <p:cNvPr id="27" name="Text 25"/>
          <p:cNvSpPr txBox="1"/>
          <p:nvPr/>
        </p:nvSpPr>
        <p:spPr>
          <a:xfrm>
            <a:off x="1508760" y="3310128"/>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Aseguradora y planta de revisión con protocolo</a:t>
            </a:r>
            <a:endParaRPr lang="es-CL" sz="1600" dirty="0"/>
          </a:p>
        </p:txBody>
      </p:sp>
      <p:sp>
        <p:nvSpPr>
          <p:cNvPr id="28" name="Text 26"/>
          <p:cNvSpPr txBox="1"/>
          <p:nvPr/>
        </p:nvSpPr>
        <p:spPr>
          <a:xfrm>
            <a:off x="5394960" y="3310128"/>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 de cada una antes de vender</a:t>
            </a:r>
            <a:endParaRPr lang="es-CL" sz="1600" dirty="0"/>
          </a:p>
        </p:txBody>
      </p:sp>
      <p:sp>
        <p:nvSpPr>
          <p:cNvPr id="29" name="Text 27"/>
          <p:cNvSpPr txBox="1"/>
          <p:nvPr/>
        </p:nvSpPr>
        <p:spPr>
          <a:xfrm>
            <a:off x="7726680" y="3310128"/>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evento</a:t>
            </a:r>
            <a:endParaRPr lang="es-CL" sz="1600" dirty="0"/>
          </a:p>
        </p:txBody>
      </p:sp>
      <p:sp>
        <p:nvSpPr>
          <p:cNvPr id="30" name="Text 28"/>
          <p:cNvSpPr txBox="1"/>
          <p:nvPr/>
        </p:nvSpPr>
        <p:spPr>
          <a:xfrm>
            <a:off x="9509760" y="3310128"/>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Gerente General</a:t>
            </a:r>
            <a:endParaRPr lang="es-CL" sz="1600" dirty="0"/>
          </a:p>
        </p:txBody>
      </p:sp>
      <p:sp>
        <p:nvSpPr>
          <p:cNvPr id="31" name="Shape 29"/>
          <p:cNvSpPr/>
          <p:nvPr/>
        </p:nvSpPr>
        <p:spPr>
          <a:xfrm>
            <a:off x="548640" y="3877056"/>
            <a:ext cx="11094415" cy="0"/>
          </a:xfrm>
          <a:prstGeom prst="line">
            <a:avLst/>
          </a:prstGeom>
          <a:noFill/>
          <a:ln w="9525">
            <a:solidFill>
              <a:schemeClr val="accent5"/>
            </a:solidFill>
            <a:prstDash val="solid"/>
          </a:ln>
        </p:spPr>
      </p:sp>
      <p:sp>
        <p:nvSpPr>
          <p:cNvPr id="32" name="Shape 30"/>
          <p:cNvSpPr/>
          <p:nvPr/>
        </p:nvSpPr>
        <p:spPr>
          <a:xfrm>
            <a:off x="548640" y="4014216"/>
            <a:ext cx="512064" cy="292608"/>
          </a:xfrm>
          <a:prstGeom prst="rect">
            <a:avLst/>
          </a:prstGeom>
          <a:solidFill>
            <a:schemeClr val="accent5"/>
          </a:solidFill>
          <a:ln/>
        </p:spPr>
      </p:sp>
      <p:sp>
        <p:nvSpPr>
          <p:cNvPr id="33" name="Text 31"/>
          <p:cNvSpPr txBox="1"/>
          <p:nvPr/>
        </p:nvSpPr>
        <p:spPr>
          <a:xfrm>
            <a:off x="548640" y="4014216"/>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C03</a:t>
            </a:r>
            <a:endParaRPr lang="es-CL" sz="1300" dirty="0"/>
          </a:p>
        </p:txBody>
      </p:sp>
      <p:sp>
        <p:nvSpPr>
          <p:cNvPr id="34" name="Shape 32"/>
          <p:cNvSpPr/>
          <p:nvPr/>
        </p:nvSpPr>
        <p:spPr>
          <a:xfrm>
            <a:off x="1133856" y="4078224"/>
            <a:ext cx="182880" cy="164592"/>
          </a:xfrm>
          <a:prstGeom prst="rect">
            <a:avLst/>
          </a:prstGeom>
          <a:solidFill>
            <a:schemeClr val="bg1">
              <a:alpha val="0"/>
            </a:schemeClr>
          </a:solidFill>
          <a:ln w="12700">
            <a:solidFill>
              <a:srgbClr val="8B9598"/>
            </a:solidFill>
            <a:prstDash val="dash"/>
          </a:ln>
        </p:spPr>
      </p:sp>
      <p:sp>
        <p:nvSpPr>
          <p:cNvPr id="35" name="Text 33"/>
          <p:cNvSpPr txBox="1"/>
          <p:nvPr/>
        </p:nvSpPr>
        <p:spPr>
          <a:xfrm>
            <a:off x="1508760" y="3877056"/>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Consultas de uso intensivo ÷ clasificadas</a:t>
            </a:r>
            <a:endParaRPr lang="es-CL" sz="1600" dirty="0"/>
          </a:p>
        </p:txBody>
      </p:sp>
      <p:sp>
        <p:nvSpPr>
          <p:cNvPr id="36" name="Text 34"/>
          <p:cNvSpPr txBox="1"/>
          <p:nvPr/>
        </p:nvSpPr>
        <p:spPr>
          <a:xfrm>
            <a:off x="5394960" y="3877056"/>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Más de 50% (orientativa)</a:t>
            </a:r>
            <a:endParaRPr lang="es-CL" sz="1600" dirty="0"/>
          </a:p>
        </p:txBody>
      </p:sp>
      <p:sp>
        <p:nvSpPr>
          <p:cNvPr id="37" name="Text 35"/>
          <p:cNvSpPr txBox="1"/>
          <p:nvPr/>
        </p:nvSpPr>
        <p:spPr>
          <a:xfrm>
            <a:off x="7726680" y="3877056"/>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Mensual</a:t>
            </a:r>
            <a:endParaRPr lang="es-CL" sz="1600" dirty="0"/>
          </a:p>
        </p:txBody>
      </p:sp>
      <p:sp>
        <p:nvSpPr>
          <p:cNvPr id="38" name="Text 36"/>
          <p:cNvSpPr txBox="1"/>
          <p:nvPr/>
        </p:nvSpPr>
        <p:spPr>
          <a:xfrm>
            <a:off x="9509760" y="3877056"/>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Comercial y Postventa</a:t>
            </a:r>
            <a:endParaRPr lang="es-CL" sz="1600" dirty="0"/>
          </a:p>
        </p:txBody>
      </p:sp>
      <p:sp>
        <p:nvSpPr>
          <p:cNvPr id="39" name="Shape 37"/>
          <p:cNvSpPr/>
          <p:nvPr/>
        </p:nvSpPr>
        <p:spPr>
          <a:xfrm>
            <a:off x="548640" y="4443984"/>
            <a:ext cx="11094415" cy="0"/>
          </a:xfrm>
          <a:prstGeom prst="line">
            <a:avLst/>
          </a:prstGeom>
          <a:noFill/>
          <a:ln w="9525">
            <a:solidFill>
              <a:schemeClr val="accent5"/>
            </a:solidFill>
            <a:prstDash val="solid"/>
          </a:ln>
        </p:spPr>
      </p:sp>
      <p:sp>
        <p:nvSpPr>
          <p:cNvPr id="40" name="Shape 38"/>
          <p:cNvSpPr/>
          <p:nvPr/>
        </p:nvSpPr>
        <p:spPr>
          <a:xfrm>
            <a:off x="548640" y="4581144"/>
            <a:ext cx="512064" cy="292608"/>
          </a:xfrm>
          <a:prstGeom prst="rect">
            <a:avLst/>
          </a:prstGeom>
          <a:solidFill>
            <a:schemeClr val="accent5"/>
          </a:solidFill>
          <a:ln/>
        </p:spPr>
      </p:sp>
      <p:sp>
        <p:nvSpPr>
          <p:cNvPr id="41" name="Text 39"/>
          <p:cNvSpPr txBox="1"/>
          <p:nvPr/>
        </p:nvSpPr>
        <p:spPr>
          <a:xfrm>
            <a:off x="548640" y="4581144"/>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F01</a:t>
            </a:r>
            <a:endParaRPr lang="es-CL" sz="1300" dirty="0"/>
          </a:p>
        </p:txBody>
      </p:sp>
      <p:sp>
        <p:nvSpPr>
          <p:cNvPr id="42" name="Shape 40"/>
          <p:cNvSpPr/>
          <p:nvPr/>
        </p:nvSpPr>
        <p:spPr>
          <a:xfrm>
            <a:off x="1133856" y="4645152"/>
            <a:ext cx="182880" cy="164592"/>
          </a:xfrm>
          <a:prstGeom prst="rect">
            <a:avLst/>
          </a:prstGeom>
          <a:solidFill>
            <a:schemeClr val="bg1">
              <a:alpha val="0"/>
            </a:schemeClr>
          </a:solidFill>
          <a:ln w="12700">
            <a:solidFill>
              <a:srgbClr val="8B9598"/>
            </a:solidFill>
            <a:prstDash val="dash"/>
          </a:ln>
        </p:spPr>
      </p:sp>
      <p:sp>
        <p:nvSpPr>
          <p:cNvPr id="43" name="Text 41"/>
          <p:cNvSpPr txBox="1"/>
          <p:nvPr/>
        </p:nvSpPr>
        <p:spPr>
          <a:xfrm>
            <a:off x="1508760" y="4443984"/>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EVA = NOPAT − capital × WACC</a:t>
            </a:r>
            <a:endParaRPr lang="es-CL" sz="1600" dirty="0"/>
          </a:p>
        </p:txBody>
      </p:sp>
      <p:sp>
        <p:nvSpPr>
          <p:cNvPr id="44" name="Text 42"/>
          <p:cNvSpPr txBox="1"/>
          <p:nvPr/>
        </p:nvSpPr>
        <p:spPr>
          <a:xfrm>
            <a:off x="5394960" y="4443984"/>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Mayor que 0 en régimen</a:t>
            </a:r>
            <a:endParaRPr lang="es-CL" sz="1600" dirty="0"/>
          </a:p>
        </p:txBody>
      </p:sp>
      <p:sp>
        <p:nvSpPr>
          <p:cNvPr id="45" name="Text 43"/>
          <p:cNvSpPr txBox="1"/>
          <p:nvPr/>
        </p:nvSpPr>
        <p:spPr>
          <a:xfrm>
            <a:off x="7726680" y="4443984"/>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Anual</a:t>
            </a:r>
            <a:endParaRPr lang="es-CL" sz="1600" dirty="0"/>
          </a:p>
        </p:txBody>
      </p:sp>
      <p:sp>
        <p:nvSpPr>
          <p:cNvPr id="46" name="Text 44"/>
          <p:cNvSpPr txBox="1"/>
          <p:nvPr/>
        </p:nvSpPr>
        <p:spPr>
          <a:xfrm>
            <a:off x="9509760" y="4443984"/>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Gerente General</a:t>
            </a:r>
            <a:endParaRPr lang="es-CL" sz="1600" dirty="0"/>
          </a:p>
        </p:txBody>
      </p:sp>
      <p:sp>
        <p:nvSpPr>
          <p:cNvPr id="47" name="Shape 45"/>
          <p:cNvSpPr/>
          <p:nvPr/>
        </p:nvSpPr>
        <p:spPr>
          <a:xfrm>
            <a:off x="548640" y="5010912"/>
            <a:ext cx="11094415" cy="0"/>
          </a:xfrm>
          <a:prstGeom prst="line">
            <a:avLst/>
          </a:prstGeom>
          <a:noFill/>
          <a:ln w="9525">
            <a:solidFill>
              <a:schemeClr val="accent5"/>
            </a:solidFill>
            <a:prstDash val="solid"/>
          </a:ln>
        </p:spPr>
      </p:sp>
      <p:sp>
        <p:nvSpPr>
          <p:cNvPr id="48" name="Shape 46"/>
          <p:cNvSpPr/>
          <p:nvPr/>
        </p:nvSpPr>
        <p:spPr>
          <a:xfrm>
            <a:off x="548640" y="5148072"/>
            <a:ext cx="512064" cy="292608"/>
          </a:xfrm>
          <a:prstGeom prst="rect">
            <a:avLst/>
          </a:prstGeom>
          <a:solidFill>
            <a:schemeClr val="accent5"/>
          </a:solidFill>
          <a:ln/>
        </p:spPr>
      </p:sp>
      <p:sp>
        <p:nvSpPr>
          <p:cNvPr id="49" name="Text 47"/>
          <p:cNvSpPr txBox="1"/>
          <p:nvPr/>
        </p:nvSpPr>
        <p:spPr>
          <a:xfrm>
            <a:off x="548640" y="5148072"/>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F02</a:t>
            </a:r>
            <a:endParaRPr lang="es-CL" sz="1300" dirty="0"/>
          </a:p>
        </p:txBody>
      </p:sp>
      <p:sp>
        <p:nvSpPr>
          <p:cNvPr id="50" name="Shape 48"/>
          <p:cNvSpPr/>
          <p:nvPr/>
        </p:nvSpPr>
        <p:spPr>
          <a:xfrm>
            <a:off x="1133856" y="5212080"/>
            <a:ext cx="182880" cy="164592"/>
          </a:xfrm>
          <a:prstGeom prst="rect">
            <a:avLst/>
          </a:prstGeom>
          <a:solidFill>
            <a:schemeClr val="bg1">
              <a:alpha val="0"/>
            </a:schemeClr>
          </a:solidFill>
          <a:ln w="12700">
            <a:solidFill>
              <a:srgbClr val="8B9598"/>
            </a:solidFill>
            <a:prstDash val="dash"/>
          </a:ln>
        </p:spPr>
      </p:sp>
      <p:sp>
        <p:nvSpPr>
          <p:cNvPr id="51" name="Text 49"/>
          <p:cNvSpPr txBox="1"/>
          <p:nvPr/>
        </p:nvSpPr>
        <p:spPr>
          <a:xfrm>
            <a:off x="1508760" y="5010912"/>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Convenios de financiamiento operativos</a:t>
            </a:r>
            <a:endParaRPr lang="es-CL" sz="1600" dirty="0"/>
          </a:p>
        </p:txBody>
      </p:sp>
      <p:sp>
        <p:nvSpPr>
          <p:cNvPr id="52" name="Text 50"/>
          <p:cNvSpPr txBox="1"/>
          <p:nvPr/>
        </p:nvSpPr>
        <p:spPr>
          <a:xfrm>
            <a:off x="5394960" y="5010912"/>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 o más antes de vender</a:t>
            </a:r>
            <a:endParaRPr lang="es-CL" sz="1600" dirty="0"/>
          </a:p>
        </p:txBody>
      </p:sp>
      <p:sp>
        <p:nvSpPr>
          <p:cNvPr id="53" name="Text 51"/>
          <p:cNvSpPr txBox="1"/>
          <p:nvPr/>
        </p:nvSpPr>
        <p:spPr>
          <a:xfrm>
            <a:off x="7726680" y="5010912"/>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Por evento</a:t>
            </a:r>
            <a:endParaRPr lang="es-CL" sz="1600" dirty="0"/>
          </a:p>
        </p:txBody>
      </p:sp>
      <p:sp>
        <p:nvSpPr>
          <p:cNvPr id="54" name="Text 52"/>
          <p:cNvSpPr txBox="1"/>
          <p:nvPr/>
        </p:nvSpPr>
        <p:spPr>
          <a:xfrm>
            <a:off x="9509760" y="5010912"/>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Comercial y Postventa</a:t>
            </a:r>
            <a:endParaRPr lang="es-CL" sz="1600" dirty="0"/>
          </a:p>
        </p:txBody>
      </p:sp>
      <p:sp>
        <p:nvSpPr>
          <p:cNvPr id="55" name="Shape 53"/>
          <p:cNvSpPr/>
          <p:nvPr/>
        </p:nvSpPr>
        <p:spPr>
          <a:xfrm>
            <a:off x="548640" y="5577840"/>
            <a:ext cx="11094415" cy="0"/>
          </a:xfrm>
          <a:prstGeom prst="line">
            <a:avLst/>
          </a:prstGeom>
          <a:noFill/>
          <a:ln w="9525">
            <a:solidFill>
              <a:schemeClr val="accent5"/>
            </a:solidFill>
            <a:prstDash val="solid"/>
          </a:ln>
        </p:spPr>
      </p:sp>
      <p:sp>
        <p:nvSpPr>
          <p:cNvPr id="56" name="Shape 54"/>
          <p:cNvSpPr/>
          <p:nvPr/>
        </p:nvSpPr>
        <p:spPr>
          <a:xfrm>
            <a:off x="548640" y="5715000"/>
            <a:ext cx="512064" cy="292608"/>
          </a:xfrm>
          <a:prstGeom prst="rect">
            <a:avLst/>
          </a:prstGeom>
          <a:solidFill>
            <a:schemeClr val="accent5"/>
          </a:solidFill>
          <a:ln/>
        </p:spPr>
      </p:sp>
      <p:sp>
        <p:nvSpPr>
          <p:cNvPr id="57" name="Text 55"/>
          <p:cNvSpPr txBox="1"/>
          <p:nvPr/>
        </p:nvSpPr>
        <p:spPr>
          <a:xfrm>
            <a:off x="548640" y="5715000"/>
            <a:ext cx="512064" cy="292608"/>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F03</a:t>
            </a:r>
            <a:endParaRPr lang="es-CL" sz="1300" dirty="0"/>
          </a:p>
        </p:txBody>
      </p:sp>
      <p:sp>
        <p:nvSpPr>
          <p:cNvPr id="58" name="Shape 56"/>
          <p:cNvSpPr/>
          <p:nvPr/>
        </p:nvSpPr>
        <p:spPr>
          <a:xfrm>
            <a:off x="1133856" y="5779008"/>
            <a:ext cx="182880" cy="164592"/>
          </a:xfrm>
          <a:prstGeom prst="rect">
            <a:avLst/>
          </a:prstGeom>
          <a:solidFill>
            <a:schemeClr val="bg1">
              <a:alpha val="0"/>
            </a:schemeClr>
          </a:solidFill>
          <a:ln w="12700">
            <a:solidFill>
              <a:srgbClr val="8B9598"/>
            </a:solidFill>
            <a:prstDash val="dash"/>
          </a:ln>
        </p:spPr>
      </p:sp>
      <p:sp>
        <p:nvSpPr>
          <p:cNvPr id="59" name="Text 57"/>
          <p:cNvSpPr txBox="1"/>
          <p:nvPr/>
        </p:nvSpPr>
        <p:spPr>
          <a:xfrm>
            <a:off x="1508760" y="5577840"/>
            <a:ext cx="374904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Financiamiento disponible ÷ capital de trabajo</a:t>
            </a:r>
            <a:endParaRPr lang="es-CL" sz="1600" dirty="0"/>
          </a:p>
        </p:txBody>
      </p:sp>
      <p:sp>
        <p:nvSpPr>
          <p:cNvPr id="60" name="Text 58"/>
          <p:cNvSpPr txBox="1"/>
          <p:nvPr/>
        </p:nvSpPr>
        <p:spPr>
          <a:xfrm>
            <a:off x="5394960" y="5577840"/>
            <a:ext cx="219456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 o más</a:t>
            </a:r>
            <a:endParaRPr lang="es-CL" sz="1600" dirty="0"/>
          </a:p>
        </p:txBody>
      </p:sp>
      <p:sp>
        <p:nvSpPr>
          <p:cNvPr id="61" name="Text 59"/>
          <p:cNvSpPr txBox="1"/>
          <p:nvPr/>
        </p:nvSpPr>
        <p:spPr>
          <a:xfrm>
            <a:off x="7726680" y="5577840"/>
            <a:ext cx="1645920"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Mensual al operar</a:t>
            </a:r>
            <a:endParaRPr lang="es-CL" sz="1600" dirty="0"/>
          </a:p>
        </p:txBody>
      </p:sp>
      <p:sp>
        <p:nvSpPr>
          <p:cNvPr id="62" name="Text 60"/>
          <p:cNvSpPr txBox="1"/>
          <p:nvPr/>
        </p:nvSpPr>
        <p:spPr>
          <a:xfrm>
            <a:off x="9509760" y="5577840"/>
            <a:ext cx="1996135" cy="566928"/>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Administración y Personas</a:t>
            </a:r>
            <a:endParaRPr lang="es-CL" sz="1600" dirty="0"/>
          </a:p>
        </p:txBody>
      </p:sp>
      <p:sp>
        <p:nvSpPr>
          <p:cNvPr id="63" name="Shape 61"/>
          <p:cNvSpPr/>
          <p:nvPr/>
        </p:nvSpPr>
        <p:spPr>
          <a:xfrm>
            <a:off x="548640" y="614476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RETROALIMENTACIÓN · TRES VERSIONES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 QUE SE CONSERVÓ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lo que cambió.</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CMI de Lumine, versión original y versión actualizada a las Fases 1 y 2; dossier de la Solemne 2.</a:t>
            </a:r>
            <a:endParaRPr lang="es-CL" sz="1100" dirty="0"/>
          </a:p>
        </p:txBody>
      </p:sp>
      <p:sp>
        <p:nvSpPr>
          <p:cNvPr id="6" name="Text 4"/>
          <p:cNvSpPr txBox="1"/>
          <p:nvPr/>
        </p:nvSpPr>
        <p:spPr>
          <a:xfrm>
            <a:off x="548640" y="2395728"/>
            <a:ext cx="1737360" cy="292608"/>
          </a:xfrm>
          <a:prstGeom prst="rect">
            <a:avLst/>
          </a:prstGeom>
          <a:noFill/>
          <a:ln/>
        </p:spPr>
        <p:txBody>
          <a:bodyPr wrap="square" lIns="0" tIns="0" rIns="0" bIns="0" rtlCol="0" anchor="t"/>
          <a:lstStyle/>
          <a:p>
            <a:pPr indent="0" marL="0">
              <a:buNone/>
            </a:pPr>
            <a:endParaRPr lang="es-CL" sz="1300" dirty="0"/>
          </a:p>
        </p:txBody>
      </p:sp>
      <p:sp>
        <p:nvSpPr>
          <p:cNvPr id="7" name="Text 5"/>
          <p:cNvSpPr txBox="1"/>
          <p:nvPr/>
        </p:nvSpPr>
        <p:spPr>
          <a:xfrm>
            <a:off x="2286000" y="2395728"/>
            <a:ext cx="30175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CMI ORIGINAL</a:t>
            </a:r>
            <a:endParaRPr lang="es-CL" sz="1300" dirty="0"/>
          </a:p>
        </p:txBody>
      </p:sp>
      <p:sp>
        <p:nvSpPr>
          <p:cNvPr id="8" name="Text 6"/>
          <p:cNvSpPr txBox="1"/>
          <p:nvPr/>
        </p:nvSpPr>
        <p:spPr>
          <a:xfrm>
            <a:off x="5303520" y="2395728"/>
            <a:ext cx="3017520"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CMI ACTUALIZADO</a:t>
            </a:r>
            <a:endParaRPr lang="es-CL" sz="1300" dirty="0"/>
          </a:p>
        </p:txBody>
      </p:sp>
      <p:sp>
        <p:nvSpPr>
          <p:cNvPr id="9" name="Text 7"/>
          <p:cNvSpPr txBox="1"/>
          <p:nvPr/>
        </p:nvSpPr>
        <p:spPr>
          <a:xfrm>
            <a:off x="8321040" y="2395728"/>
            <a:ext cx="3322015" cy="292608"/>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SOLEMNE 2</a:t>
            </a:r>
            <a:endParaRPr lang="es-CL" sz="1300" dirty="0"/>
          </a:p>
        </p:txBody>
      </p:sp>
      <p:sp>
        <p:nvSpPr>
          <p:cNvPr id="10" name="Shape 8"/>
          <p:cNvSpPr/>
          <p:nvPr/>
        </p:nvSpPr>
        <p:spPr>
          <a:xfrm>
            <a:off x="548640" y="2743200"/>
            <a:ext cx="11094415" cy="0"/>
          </a:xfrm>
          <a:prstGeom prst="line">
            <a:avLst/>
          </a:prstGeom>
          <a:noFill/>
          <a:ln w="9525">
            <a:solidFill>
              <a:schemeClr val="accent1"/>
            </a:solidFill>
            <a:prstDash val="solid"/>
          </a:ln>
        </p:spPr>
      </p:sp>
      <p:sp>
        <p:nvSpPr>
          <p:cNvPr id="11" name="Text 9"/>
          <p:cNvSpPr txBox="1"/>
          <p:nvPr/>
        </p:nvSpPr>
        <p:spPr>
          <a:xfrm>
            <a:off x="548640" y="2743200"/>
            <a:ext cx="1600200"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Financiera</a:t>
            </a:r>
            <a:endParaRPr lang="es-CL" sz="1700" dirty="0"/>
          </a:p>
        </p:txBody>
      </p:sp>
      <p:sp>
        <p:nvSpPr>
          <p:cNvPr id="12" name="Text 10"/>
          <p:cNvSpPr txBox="1"/>
          <p:nvPr/>
        </p:nvSpPr>
        <p:spPr>
          <a:xfrm>
            <a:off x="2286000" y="274320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Rentabilidad sobre el costo de capital, con VAN, TIR y WACC</a:t>
            </a:r>
            <a:endParaRPr lang="es-CL" sz="1700" dirty="0"/>
          </a:p>
        </p:txBody>
      </p:sp>
      <p:sp>
        <p:nvSpPr>
          <p:cNvPr id="13" name="Text 11"/>
          <p:cNvSpPr txBox="1"/>
          <p:nvPr/>
        </p:nvSpPr>
        <p:spPr>
          <a:xfrm>
            <a:off x="5303520" y="274320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Convenios de financiamiento y expansión</a:t>
            </a:r>
            <a:endParaRPr lang="es-CL" sz="1700" dirty="0"/>
          </a:p>
        </p:txBody>
      </p:sp>
      <p:sp>
        <p:nvSpPr>
          <p:cNvPr id="14" name="Text 12"/>
          <p:cNvSpPr txBox="1"/>
          <p:nvPr/>
        </p:nvSpPr>
        <p:spPr>
          <a:xfrm>
            <a:off x="8321040" y="2743200"/>
            <a:ext cx="3184855"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Rentabilidad sobre el costo de capital, medida con EVA</a:t>
            </a:r>
            <a:endParaRPr lang="es-CL" sz="1700" dirty="0"/>
          </a:p>
        </p:txBody>
      </p:sp>
      <p:sp>
        <p:nvSpPr>
          <p:cNvPr id="15" name="Shape 13"/>
          <p:cNvSpPr/>
          <p:nvPr/>
        </p:nvSpPr>
        <p:spPr>
          <a:xfrm>
            <a:off x="548640" y="3794760"/>
            <a:ext cx="11094415" cy="0"/>
          </a:xfrm>
          <a:prstGeom prst="line">
            <a:avLst/>
          </a:prstGeom>
          <a:noFill/>
          <a:ln w="9525">
            <a:solidFill>
              <a:schemeClr val="accent5"/>
            </a:solidFill>
            <a:prstDash val="solid"/>
          </a:ln>
        </p:spPr>
      </p:sp>
      <p:sp>
        <p:nvSpPr>
          <p:cNvPr id="16" name="Text 14"/>
          <p:cNvSpPr txBox="1"/>
          <p:nvPr/>
        </p:nvSpPr>
        <p:spPr>
          <a:xfrm>
            <a:off x="548640" y="3794760"/>
            <a:ext cx="1600200"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Clientes</a:t>
            </a:r>
            <a:endParaRPr lang="es-CL" sz="1700" dirty="0"/>
          </a:p>
        </p:txBody>
      </p:sp>
      <p:sp>
        <p:nvSpPr>
          <p:cNvPr id="17" name="Text 15"/>
          <p:cNvSpPr txBox="1"/>
          <p:nvPr/>
        </p:nvSpPr>
        <p:spPr>
          <a:xfrm>
            <a:off x="2286000" y="379476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Convenios gremiales, aseguradoras y penetración</a:t>
            </a:r>
            <a:endParaRPr lang="es-CL" sz="1700" dirty="0"/>
          </a:p>
        </p:txBody>
      </p:sp>
      <p:sp>
        <p:nvSpPr>
          <p:cNvPr id="18" name="Text 16"/>
          <p:cNvSpPr txBox="1"/>
          <p:nvPr/>
        </p:nvSpPr>
        <p:spPr>
          <a:xfrm>
            <a:off x="5303520" y="379476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Reconocimiento institucional y tipo de consulta</a:t>
            </a:r>
            <a:endParaRPr lang="es-CL" sz="1700" dirty="0"/>
          </a:p>
        </p:txBody>
      </p:sp>
      <p:sp>
        <p:nvSpPr>
          <p:cNvPr id="19" name="Text 17"/>
          <p:cNvSpPr txBox="1"/>
          <p:nvPr/>
        </p:nvSpPr>
        <p:spPr>
          <a:xfrm>
            <a:off x="8321040" y="3794760"/>
            <a:ext cx="3184855"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Informe individual antes y después al centro</a:t>
            </a:r>
            <a:endParaRPr lang="es-CL" sz="1700" dirty="0"/>
          </a:p>
        </p:txBody>
      </p:sp>
      <p:sp>
        <p:nvSpPr>
          <p:cNvPr id="20" name="Shape 18"/>
          <p:cNvSpPr/>
          <p:nvPr/>
        </p:nvSpPr>
        <p:spPr>
          <a:xfrm>
            <a:off x="548640" y="4846320"/>
            <a:ext cx="11094415" cy="0"/>
          </a:xfrm>
          <a:prstGeom prst="line">
            <a:avLst/>
          </a:prstGeom>
          <a:noFill/>
          <a:ln w="9525">
            <a:solidFill>
              <a:schemeClr val="accent5"/>
            </a:solidFill>
            <a:prstDash val="solid"/>
          </a:ln>
        </p:spPr>
      </p:sp>
      <p:sp>
        <p:nvSpPr>
          <p:cNvPr id="21" name="Text 19"/>
          <p:cNvSpPr txBox="1"/>
          <p:nvPr/>
        </p:nvSpPr>
        <p:spPr>
          <a:xfrm>
            <a:off x="548640" y="4846320"/>
            <a:ext cx="1600200"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Mapa</a:t>
            </a:r>
            <a:endParaRPr lang="es-CL" sz="1700" dirty="0"/>
          </a:p>
        </p:txBody>
      </p:sp>
      <p:sp>
        <p:nvSpPr>
          <p:cNvPr id="22" name="Text 20"/>
          <p:cNvSpPr txBox="1"/>
          <p:nvPr/>
        </p:nvSpPr>
        <p:spPr>
          <a:xfrm>
            <a:off x="2286000" y="484632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Flechas solo verticales</a:t>
            </a:r>
            <a:endParaRPr lang="es-CL" sz="1700" dirty="0"/>
          </a:p>
        </p:txBody>
      </p:sp>
      <p:sp>
        <p:nvSpPr>
          <p:cNvPr id="23" name="Text 21"/>
          <p:cNvSpPr txBox="1"/>
          <p:nvPr/>
        </p:nvSpPr>
        <p:spPr>
          <a:xfrm>
            <a:off x="5303520" y="4846320"/>
            <a:ext cx="2880360" cy="1051560"/>
          </a:xfrm>
          <a:prstGeom prst="rect">
            <a:avLst/>
          </a:prstGeom>
          <a:noFill/>
          <a:ln/>
        </p:spPr>
        <p:txBody>
          <a:bodyPr wrap="square" lIns="0" tIns="0" rIns="0" bIns="0" rtlCol="0" anchor="ctr"/>
          <a:lstStyle/>
          <a:p>
            <a:pPr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Perspectivas ordenadas, sin relaciones</a:t>
            </a:r>
            <a:endParaRPr lang="es-CL" sz="1700" dirty="0"/>
          </a:p>
        </p:txBody>
      </p:sp>
      <p:sp>
        <p:nvSpPr>
          <p:cNvPr id="24" name="Text 22"/>
          <p:cNvSpPr txBox="1"/>
          <p:nvPr/>
        </p:nvSpPr>
        <p:spPr>
          <a:xfrm>
            <a:off x="8321040" y="4846320"/>
            <a:ext cx="3184855" cy="1051560"/>
          </a:xfrm>
          <a:prstGeom prst="rect">
            <a:avLst/>
          </a:prstGeom>
          <a:noFill/>
          <a:ln/>
        </p:spPr>
        <p:txBody>
          <a:bodyPr wrap="square" lIns="0" tIns="0" rIns="0" bIns="0" rtlCol="0" anchor="ctr"/>
          <a:lstStyle/>
          <a:p>
            <a:pPr indent="0" marL="0">
              <a:lnSpc>
                <a:spcPct val="92000"/>
              </a:lnSpc>
              <a:buNone/>
            </a:pPr>
            <a:r>
              <a:rPr lang="es-CL" altLang="en-US" sz="1700" b="1" dirty="0">
                <a:solidFill>
                  <a:schemeClr val="tx1"/>
                </a:solidFill>
                <a:latin typeface="Figtree" pitchFamily="34" charset="0"/>
                <a:ea typeface="Figtree" pitchFamily="34" charset="-122"/>
                <a:cs typeface="Figtree" pitchFamily="34" charset="-120"/>
              </a:rPr>
              <a:t>Flechas con mecanismo e indicador</a:t>
            </a:r>
            <a:endParaRPr lang="es-CL" sz="1700" dirty="0"/>
          </a:p>
        </p:txBody>
      </p:sp>
      <p:sp>
        <p:nvSpPr>
          <p:cNvPr id="25" name="Shape 23"/>
          <p:cNvSpPr/>
          <p:nvPr/>
        </p:nvSpPr>
        <p:spPr>
          <a:xfrm>
            <a:off x="548640" y="589788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PROPUESTA DE VALOR · MEDICIÓN DEL AHORRO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20% SOLO SE PRUEBA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con un ensayo comparable.</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contexto vigente de Lumine Motors (17-10-2026); dossier de la Solemne 2. El ahorro es una estimación de ingeniería, no medida en autos chilenos.</a:t>
            </a:r>
            <a:endParaRPr lang="es-CL" sz="1100" dirty="0"/>
          </a:p>
        </p:txBody>
      </p:sp>
      <p:sp>
        <p:nvSpPr>
          <p:cNvPr id="6" name="Text 4"/>
          <p:cNvSpPr txBox="1"/>
          <p:nvPr/>
        </p:nvSpPr>
        <p:spPr>
          <a:xfrm>
            <a:off x="548640" y="2395728"/>
            <a:ext cx="5943600"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Hasta 20% menos bencina en ciudad</a:t>
            </a:r>
            <a:endParaRPr lang="es-CL" sz="2200" dirty="0"/>
          </a:p>
        </p:txBody>
      </p:sp>
      <p:sp>
        <p:nvSpPr>
          <p:cNvPr id="7" name="Shape 5"/>
          <p:cNvSpPr/>
          <p:nvPr/>
        </p:nvSpPr>
        <p:spPr>
          <a:xfrm>
            <a:off x="6583680" y="2441448"/>
            <a:ext cx="3056636" cy="365760"/>
          </a:xfrm>
          <a:prstGeom prst="rect">
            <a:avLst/>
          </a:prstGeom>
          <a:solidFill>
            <a:schemeClr val="bg1">
              <a:alpha val="0"/>
            </a:schemeClr>
          </a:solidFill>
          <a:ln w="12700">
            <a:solidFill>
              <a:schemeClr val="tx2"/>
            </a:solidFill>
            <a:prstDash val="dash"/>
          </a:ln>
        </p:spPr>
      </p:sp>
      <p:sp>
        <p:nvSpPr>
          <p:cNvPr id="8" name="Text 6"/>
          <p:cNvSpPr txBox="1"/>
          <p:nvPr/>
        </p:nvSpPr>
        <p:spPr>
          <a:xfrm>
            <a:off x="6693408" y="2441448"/>
            <a:ext cx="283718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ESTIMACIÓN, NO MEDICIÓN</a:t>
            </a:r>
            <a:endParaRPr lang="es-CL" sz="1400" dirty="0"/>
          </a:p>
        </p:txBody>
      </p:sp>
      <p:sp>
        <p:nvSpPr>
          <p:cNvPr id="9" name="Text 7"/>
          <p:cNvSpPr txBox="1"/>
          <p:nvPr/>
        </p:nvSpPr>
        <p:spPr>
          <a:xfrm>
            <a:off x="548640" y="3172968"/>
            <a:ext cx="7315200" cy="274320"/>
          </a:xfrm>
          <a:prstGeom prst="rect">
            <a:avLst/>
          </a:prstGeom>
          <a:noFill/>
          <a:ln/>
        </p:spPr>
        <p:txBody>
          <a:bodyPr wrap="square" lIns="0" tIns="0" rIns="0" bIns="0" rtlCol="0" anchor="t"/>
          <a:lstStyle/>
          <a:p>
            <a:pPr indent="0" marL="0">
              <a:buNone/>
            </a:pPr>
            <a:r>
              <a:rPr lang="es-CL" altLang="en-US" sz="1600" spc="100" kern="0" dirty="0">
                <a:solidFill>
                  <a:schemeClr val="tx2"/>
                </a:solidFill>
                <a:latin typeface="IBM Plex Mono" pitchFamily="34" charset="0"/>
                <a:ea typeface="IBM Plex Mono" pitchFamily="34" charset="-122"/>
                <a:cs typeface="IBM Plex Mono" pitchFamily="34" charset="-120"/>
              </a:rPr>
              <a:t>EL ENSAYO DEBE CONTROLAR</a:t>
            </a:r>
            <a:endParaRPr lang="es-CL" sz="1600" dirty="0"/>
          </a:p>
        </p:txBody>
      </p:sp>
      <p:sp>
        <p:nvSpPr>
          <p:cNvPr id="10" name="Shape 8"/>
          <p:cNvSpPr/>
          <p:nvPr/>
        </p:nvSpPr>
        <p:spPr>
          <a:xfrm>
            <a:off x="548640" y="3538728"/>
            <a:ext cx="2072579" cy="1234440"/>
          </a:xfrm>
          <a:prstGeom prst="rect">
            <a:avLst/>
          </a:prstGeom>
          <a:solidFill>
            <a:schemeClr val="bg2"/>
          </a:solidFill>
          <a:ln w="12700">
            <a:solidFill>
              <a:schemeClr val="accent1"/>
            </a:solidFill>
            <a:prstDash val="solid"/>
          </a:ln>
        </p:spPr>
      </p:sp>
      <p:sp>
        <p:nvSpPr>
          <p:cNvPr id="11" name="Shape 9"/>
          <p:cNvSpPr/>
          <p:nvPr/>
        </p:nvSpPr>
        <p:spPr>
          <a:xfrm>
            <a:off x="713232" y="3703320"/>
            <a:ext cx="384048" cy="347472"/>
          </a:xfrm>
          <a:prstGeom prst="rect">
            <a:avLst/>
          </a:prstGeom>
          <a:solidFill>
            <a:schemeClr val="accent5"/>
          </a:solidFill>
          <a:ln/>
        </p:spPr>
      </p:sp>
      <p:sp>
        <p:nvSpPr>
          <p:cNvPr id="12" name="Text 10"/>
          <p:cNvSpPr txBox="1"/>
          <p:nvPr/>
        </p:nvSpPr>
        <p:spPr>
          <a:xfrm>
            <a:off x="713232" y="3703320"/>
            <a:ext cx="384048" cy="347472"/>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1</a:t>
            </a:r>
            <a:endParaRPr lang="es-CL" sz="1600" dirty="0"/>
          </a:p>
        </p:txBody>
      </p:sp>
      <p:sp>
        <p:nvSpPr>
          <p:cNvPr id="13" name="Text 11"/>
          <p:cNvSpPr txBox="1"/>
          <p:nvPr/>
        </p:nvSpPr>
        <p:spPr>
          <a:xfrm>
            <a:off x="713232" y="4123944"/>
            <a:ext cx="1798259" cy="603504"/>
          </a:xfrm>
          <a:prstGeom prst="rect">
            <a:avLst/>
          </a:prstGeom>
          <a:noFill/>
          <a:ln/>
        </p:spPr>
        <p:txBody>
          <a:bodyPr wrap="square" lIns="0" tIns="0" rIns="0" bIns="0" rtlCol="0" anchor="t"/>
          <a:lstStyle/>
          <a:p>
            <a:pPr indent="0" marL="0">
              <a:lnSpc>
                <a:spcPct val="95000"/>
              </a:lnSpc>
              <a:buNone/>
            </a:pPr>
            <a:r>
              <a:rPr lang="es-CL" altLang="en-US" sz="1800" b="1" dirty="0">
                <a:solidFill>
                  <a:schemeClr val="tx1"/>
                </a:solidFill>
                <a:latin typeface="Figtree" pitchFamily="34" charset="0"/>
                <a:ea typeface="Figtree" pitchFamily="34" charset="-122"/>
                <a:cs typeface="Figtree" pitchFamily="34" charset="-120"/>
              </a:rPr>
              <a:t>Consumo base del mismo auto</a:t>
            </a:r>
            <a:endParaRPr lang="es-CL" sz="1800" dirty="0"/>
          </a:p>
        </p:txBody>
      </p:sp>
      <p:sp>
        <p:nvSpPr>
          <p:cNvPr id="14" name="Shape 12"/>
          <p:cNvSpPr/>
          <p:nvPr/>
        </p:nvSpPr>
        <p:spPr>
          <a:xfrm>
            <a:off x="2804099" y="3538728"/>
            <a:ext cx="2072579" cy="1234440"/>
          </a:xfrm>
          <a:prstGeom prst="rect">
            <a:avLst/>
          </a:prstGeom>
          <a:solidFill>
            <a:schemeClr val="bg2"/>
          </a:solidFill>
          <a:ln w="12700">
            <a:solidFill>
              <a:schemeClr val="accent1"/>
            </a:solidFill>
            <a:prstDash val="solid"/>
          </a:ln>
        </p:spPr>
      </p:sp>
      <p:sp>
        <p:nvSpPr>
          <p:cNvPr id="15" name="Shape 13"/>
          <p:cNvSpPr/>
          <p:nvPr/>
        </p:nvSpPr>
        <p:spPr>
          <a:xfrm>
            <a:off x="2968691" y="3703320"/>
            <a:ext cx="384048" cy="347472"/>
          </a:xfrm>
          <a:prstGeom prst="rect">
            <a:avLst/>
          </a:prstGeom>
          <a:solidFill>
            <a:schemeClr val="accent5"/>
          </a:solidFill>
          <a:ln/>
        </p:spPr>
      </p:sp>
      <p:sp>
        <p:nvSpPr>
          <p:cNvPr id="16" name="Text 14"/>
          <p:cNvSpPr txBox="1"/>
          <p:nvPr/>
        </p:nvSpPr>
        <p:spPr>
          <a:xfrm>
            <a:off x="2968691" y="3703320"/>
            <a:ext cx="384048" cy="347472"/>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2</a:t>
            </a:r>
            <a:endParaRPr lang="es-CL" sz="1600" dirty="0"/>
          </a:p>
        </p:txBody>
      </p:sp>
      <p:sp>
        <p:nvSpPr>
          <p:cNvPr id="17" name="Text 15"/>
          <p:cNvSpPr txBox="1"/>
          <p:nvPr/>
        </p:nvSpPr>
        <p:spPr>
          <a:xfrm>
            <a:off x="2968691" y="4123944"/>
            <a:ext cx="1798259" cy="603504"/>
          </a:xfrm>
          <a:prstGeom prst="rect">
            <a:avLst/>
          </a:prstGeom>
          <a:noFill/>
          <a:ln/>
        </p:spPr>
        <p:txBody>
          <a:bodyPr wrap="square" lIns="0" tIns="0" rIns="0" bIns="0" rtlCol="0" anchor="t"/>
          <a:lstStyle/>
          <a:p>
            <a:pPr indent="0" marL="0">
              <a:lnSpc>
                <a:spcPct val="95000"/>
              </a:lnSpc>
              <a:buNone/>
            </a:pPr>
            <a:r>
              <a:rPr lang="es-CL" altLang="en-US" sz="1800" b="1" dirty="0">
                <a:solidFill>
                  <a:schemeClr val="tx1"/>
                </a:solidFill>
                <a:latin typeface="Figtree" pitchFamily="34" charset="0"/>
                <a:ea typeface="Figtree" pitchFamily="34" charset="-122"/>
                <a:cs typeface="Figtree" pitchFamily="34" charset="-120"/>
              </a:rPr>
              <a:t>Recorrido</a:t>
            </a:r>
            <a:endParaRPr lang="es-CL" sz="1800" dirty="0"/>
          </a:p>
        </p:txBody>
      </p:sp>
      <p:sp>
        <p:nvSpPr>
          <p:cNvPr id="18" name="Shape 16"/>
          <p:cNvSpPr/>
          <p:nvPr/>
        </p:nvSpPr>
        <p:spPr>
          <a:xfrm>
            <a:off x="5059558" y="3538728"/>
            <a:ext cx="2072579" cy="1234440"/>
          </a:xfrm>
          <a:prstGeom prst="rect">
            <a:avLst/>
          </a:prstGeom>
          <a:solidFill>
            <a:schemeClr val="bg2"/>
          </a:solidFill>
          <a:ln w="12700">
            <a:solidFill>
              <a:schemeClr val="accent1"/>
            </a:solidFill>
            <a:prstDash val="solid"/>
          </a:ln>
        </p:spPr>
      </p:sp>
      <p:sp>
        <p:nvSpPr>
          <p:cNvPr id="19" name="Shape 17"/>
          <p:cNvSpPr/>
          <p:nvPr/>
        </p:nvSpPr>
        <p:spPr>
          <a:xfrm>
            <a:off x="5224150" y="3703320"/>
            <a:ext cx="384048" cy="347472"/>
          </a:xfrm>
          <a:prstGeom prst="rect">
            <a:avLst/>
          </a:prstGeom>
          <a:solidFill>
            <a:schemeClr val="accent5"/>
          </a:solidFill>
          <a:ln/>
        </p:spPr>
      </p:sp>
      <p:sp>
        <p:nvSpPr>
          <p:cNvPr id="20" name="Text 18"/>
          <p:cNvSpPr txBox="1"/>
          <p:nvPr/>
        </p:nvSpPr>
        <p:spPr>
          <a:xfrm>
            <a:off x="5224150" y="3703320"/>
            <a:ext cx="384048" cy="347472"/>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3</a:t>
            </a:r>
            <a:endParaRPr lang="es-CL" sz="1600" dirty="0"/>
          </a:p>
        </p:txBody>
      </p:sp>
      <p:sp>
        <p:nvSpPr>
          <p:cNvPr id="21" name="Text 19"/>
          <p:cNvSpPr txBox="1"/>
          <p:nvPr/>
        </p:nvSpPr>
        <p:spPr>
          <a:xfrm>
            <a:off x="5224150" y="4123944"/>
            <a:ext cx="1798259" cy="603504"/>
          </a:xfrm>
          <a:prstGeom prst="rect">
            <a:avLst/>
          </a:prstGeom>
          <a:noFill/>
          <a:ln/>
        </p:spPr>
        <p:txBody>
          <a:bodyPr wrap="square" lIns="0" tIns="0" rIns="0" bIns="0" rtlCol="0" anchor="t"/>
          <a:lstStyle/>
          <a:p>
            <a:pPr indent="0" marL="0">
              <a:lnSpc>
                <a:spcPct val="95000"/>
              </a:lnSpc>
              <a:buNone/>
            </a:pPr>
            <a:r>
              <a:rPr lang="es-CL" altLang="en-US" sz="1800" b="1" dirty="0">
                <a:solidFill>
                  <a:schemeClr val="tx1"/>
                </a:solidFill>
                <a:latin typeface="Figtree" pitchFamily="34" charset="0"/>
                <a:ea typeface="Figtree" pitchFamily="34" charset="-122"/>
                <a:cs typeface="Figtree" pitchFamily="34" charset="-120"/>
              </a:rPr>
              <a:t>Forma de conducir</a:t>
            </a:r>
            <a:endParaRPr lang="es-CL" sz="1800" dirty="0"/>
          </a:p>
        </p:txBody>
      </p:sp>
      <p:sp>
        <p:nvSpPr>
          <p:cNvPr id="22" name="Shape 20"/>
          <p:cNvSpPr/>
          <p:nvPr/>
        </p:nvSpPr>
        <p:spPr>
          <a:xfrm>
            <a:off x="7315017" y="3538728"/>
            <a:ext cx="2072579" cy="1234440"/>
          </a:xfrm>
          <a:prstGeom prst="rect">
            <a:avLst/>
          </a:prstGeom>
          <a:solidFill>
            <a:schemeClr val="bg2"/>
          </a:solidFill>
          <a:ln w="12700">
            <a:solidFill>
              <a:schemeClr val="accent1"/>
            </a:solidFill>
            <a:prstDash val="solid"/>
          </a:ln>
        </p:spPr>
      </p:sp>
      <p:sp>
        <p:nvSpPr>
          <p:cNvPr id="23" name="Shape 21"/>
          <p:cNvSpPr/>
          <p:nvPr/>
        </p:nvSpPr>
        <p:spPr>
          <a:xfrm>
            <a:off x="7479609" y="3703320"/>
            <a:ext cx="384048" cy="347472"/>
          </a:xfrm>
          <a:prstGeom prst="rect">
            <a:avLst/>
          </a:prstGeom>
          <a:solidFill>
            <a:schemeClr val="accent5"/>
          </a:solidFill>
          <a:ln/>
        </p:spPr>
      </p:sp>
      <p:sp>
        <p:nvSpPr>
          <p:cNvPr id="24" name="Text 22"/>
          <p:cNvSpPr txBox="1"/>
          <p:nvPr/>
        </p:nvSpPr>
        <p:spPr>
          <a:xfrm>
            <a:off x="7479609" y="3703320"/>
            <a:ext cx="384048" cy="347472"/>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4</a:t>
            </a:r>
            <a:endParaRPr lang="es-CL" sz="1600" dirty="0"/>
          </a:p>
        </p:txBody>
      </p:sp>
      <p:sp>
        <p:nvSpPr>
          <p:cNvPr id="25" name="Text 23"/>
          <p:cNvSpPr txBox="1"/>
          <p:nvPr/>
        </p:nvSpPr>
        <p:spPr>
          <a:xfrm>
            <a:off x="7479609" y="4123944"/>
            <a:ext cx="1798259" cy="603504"/>
          </a:xfrm>
          <a:prstGeom prst="rect">
            <a:avLst/>
          </a:prstGeom>
          <a:noFill/>
          <a:ln/>
        </p:spPr>
        <p:txBody>
          <a:bodyPr wrap="square" lIns="0" tIns="0" rIns="0" bIns="0" rtlCol="0" anchor="t"/>
          <a:lstStyle/>
          <a:p>
            <a:pPr indent="0" marL="0">
              <a:lnSpc>
                <a:spcPct val="95000"/>
              </a:lnSpc>
              <a:buNone/>
            </a:pPr>
            <a:r>
              <a:rPr lang="es-CL" altLang="en-US" sz="1800" b="1" dirty="0">
                <a:solidFill>
                  <a:schemeClr val="tx1"/>
                </a:solidFill>
                <a:latin typeface="Figtree" pitchFamily="34" charset="0"/>
                <a:ea typeface="Figtree" pitchFamily="34" charset="-122"/>
                <a:cs typeface="Figtree" pitchFamily="34" charset="-120"/>
              </a:rPr>
              <a:t>Condiciones de la prueba</a:t>
            </a:r>
            <a:endParaRPr lang="es-CL" sz="1800" dirty="0"/>
          </a:p>
        </p:txBody>
      </p:sp>
      <p:sp>
        <p:nvSpPr>
          <p:cNvPr id="26" name="Shape 24"/>
          <p:cNvSpPr/>
          <p:nvPr/>
        </p:nvSpPr>
        <p:spPr>
          <a:xfrm>
            <a:off x="9570476" y="3538728"/>
            <a:ext cx="2072579" cy="1234440"/>
          </a:xfrm>
          <a:prstGeom prst="rect">
            <a:avLst/>
          </a:prstGeom>
          <a:solidFill>
            <a:schemeClr val="bg2"/>
          </a:solidFill>
          <a:ln w="12700">
            <a:solidFill>
              <a:schemeClr val="accent1"/>
            </a:solidFill>
            <a:prstDash val="solid"/>
          </a:ln>
        </p:spPr>
      </p:sp>
      <p:sp>
        <p:nvSpPr>
          <p:cNvPr id="27" name="Shape 25"/>
          <p:cNvSpPr/>
          <p:nvPr/>
        </p:nvSpPr>
        <p:spPr>
          <a:xfrm>
            <a:off x="9735068" y="3703320"/>
            <a:ext cx="384048" cy="347472"/>
          </a:xfrm>
          <a:prstGeom prst="rect">
            <a:avLst/>
          </a:prstGeom>
          <a:solidFill>
            <a:schemeClr val="accent5"/>
          </a:solidFill>
          <a:ln/>
        </p:spPr>
      </p:sp>
      <p:sp>
        <p:nvSpPr>
          <p:cNvPr id="28" name="Text 26"/>
          <p:cNvSpPr txBox="1"/>
          <p:nvPr/>
        </p:nvSpPr>
        <p:spPr>
          <a:xfrm>
            <a:off x="9735068" y="3703320"/>
            <a:ext cx="384048" cy="347472"/>
          </a:xfrm>
          <a:prstGeom prst="rect">
            <a:avLst/>
          </a:prstGeom>
          <a:noFill/>
          <a:ln/>
        </p:spPr>
        <p:txBody>
          <a:bodyPr wrap="square" lIns="0" tIns="0" rIns="0" bIns="0" rtlCol="0" anchor="ctr"/>
          <a:lstStyle/>
          <a:p>
            <a:pPr algn="ctr" indent="0" marL="0">
              <a:buNone/>
            </a:pPr>
            <a:r>
              <a:rPr lang="es-CL" altLang="en-US" sz="1600" b="1" dirty="0">
                <a:solidFill>
                  <a:schemeClr val="tx1"/>
                </a:solidFill>
                <a:latin typeface="IBM Plex Mono" pitchFamily="34" charset="0"/>
                <a:ea typeface="IBM Plex Mono" pitchFamily="34" charset="-122"/>
                <a:cs typeface="IBM Plex Mono" pitchFamily="34" charset="-120"/>
              </a:rPr>
              <a:t>5</a:t>
            </a:r>
            <a:endParaRPr lang="es-CL" sz="1600" dirty="0"/>
          </a:p>
        </p:txBody>
      </p:sp>
      <p:sp>
        <p:nvSpPr>
          <p:cNvPr id="29" name="Text 27"/>
          <p:cNvSpPr txBox="1"/>
          <p:nvPr/>
        </p:nvSpPr>
        <p:spPr>
          <a:xfrm>
            <a:off x="9735068" y="4123944"/>
            <a:ext cx="1798259" cy="603504"/>
          </a:xfrm>
          <a:prstGeom prst="rect">
            <a:avLst/>
          </a:prstGeom>
          <a:noFill/>
          <a:ln/>
        </p:spPr>
        <p:txBody>
          <a:bodyPr wrap="square" lIns="0" tIns="0" rIns="0" bIns="0" rtlCol="0" anchor="t"/>
          <a:lstStyle/>
          <a:p>
            <a:pPr indent="0" marL="0">
              <a:lnSpc>
                <a:spcPct val="95000"/>
              </a:lnSpc>
              <a:buNone/>
            </a:pPr>
            <a:r>
              <a:rPr lang="es-CL" altLang="en-US" sz="1800" b="1" dirty="0">
                <a:solidFill>
                  <a:schemeClr val="tx1"/>
                </a:solidFill>
                <a:latin typeface="Figtree" pitchFamily="34" charset="0"/>
                <a:ea typeface="Figtree" pitchFamily="34" charset="-122"/>
                <a:cs typeface="Figtree" pitchFamily="34" charset="-120"/>
              </a:rPr>
              <a:t>Método de medición</a:t>
            </a:r>
            <a:endParaRPr lang="es-CL" sz="1800" dirty="0"/>
          </a:p>
        </p:txBody>
      </p:sp>
      <p:sp>
        <p:nvSpPr>
          <p:cNvPr id="30" name="Shape 28"/>
          <p:cNvSpPr/>
          <p:nvPr/>
        </p:nvSpPr>
        <p:spPr>
          <a:xfrm>
            <a:off x="548640" y="5047488"/>
            <a:ext cx="11094415" cy="0"/>
          </a:xfrm>
          <a:prstGeom prst="line">
            <a:avLst/>
          </a:prstGeom>
          <a:noFill/>
          <a:ln w="9525">
            <a:solidFill>
              <a:schemeClr val="accent1"/>
            </a:solidFill>
            <a:prstDash val="solid"/>
          </a:ln>
        </p:spPr>
      </p:sp>
      <p:sp>
        <p:nvSpPr>
          <p:cNvPr id="31" name="Text 29"/>
          <p:cNvSpPr txBox="1"/>
          <p:nvPr/>
        </p:nvSpPr>
        <p:spPr>
          <a:xfrm>
            <a:off x="548640" y="5047488"/>
            <a:ext cx="7894015" cy="54864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A03 · Primer protocolo comparativo completo</a:t>
            </a:r>
            <a:endParaRPr lang="es-CL" sz="2000" dirty="0"/>
          </a:p>
        </p:txBody>
      </p:sp>
      <p:sp>
        <p:nvSpPr>
          <p:cNvPr id="32" name="Shape 30"/>
          <p:cNvSpPr/>
          <p:nvPr/>
        </p:nvSpPr>
        <p:spPr>
          <a:xfrm>
            <a:off x="8468055" y="5138928"/>
            <a:ext cx="3175000" cy="365760"/>
          </a:xfrm>
          <a:prstGeom prst="rect">
            <a:avLst/>
          </a:prstGeom>
          <a:solidFill>
            <a:schemeClr val="bg1">
              <a:alpha val="0"/>
            </a:schemeClr>
          </a:solidFill>
          <a:ln w="15875">
            <a:solidFill>
              <a:srgbClr val="F87171"/>
            </a:solidFill>
            <a:prstDash val="solid"/>
          </a:ln>
        </p:spPr>
      </p:sp>
      <p:sp>
        <p:nvSpPr>
          <p:cNvPr id="33" name="Shape 31"/>
          <p:cNvSpPr/>
          <p:nvPr/>
        </p:nvSpPr>
        <p:spPr>
          <a:xfrm>
            <a:off x="8605215" y="5248656"/>
            <a:ext cx="146304" cy="146304"/>
          </a:xfrm>
          <a:prstGeom prst="ellipse">
            <a:avLst/>
          </a:prstGeom>
          <a:solidFill>
            <a:srgbClr val="F87171"/>
          </a:solidFill>
          <a:ln/>
        </p:spPr>
      </p:sp>
      <p:sp>
        <p:nvSpPr>
          <p:cNvPr id="34" name="Text 32"/>
          <p:cNvSpPr txBox="1"/>
          <p:nvPr/>
        </p:nvSpPr>
        <p:spPr>
          <a:xfrm>
            <a:off x="8833815" y="5138928"/>
            <a:ext cx="2717800" cy="365760"/>
          </a:xfrm>
          <a:prstGeom prst="rect">
            <a:avLst/>
          </a:prstGeom>
          <a:noFill/>
          <a:ln/>
        </p:spPr>
        <p:txBody>
          <a:bodyPr wrap="square" lIns="0" tIns="0" rIns="0" bIns="0" rtlCol="0" anchor="ctr"/>
          <a:lstStyle/>
          <a:p>
            <a:pPr indent="0" marL="0">
              <a:buNone/>
            </a:pPr>
            <a:r>
              <a:rPr lang="es-CL" altLang="en-US" sz="1400" b="1" spc="100" kern="0" dirty="0">
                <a:solidFill>
                  <a:srgbClr val="F87171"/>
                </a:solidFill>
                <a:latin typeface="IBM Plex Mono" pitchFamily="34" charset="0"/>
                <a:ea typeface="IBM Plex Mono" pitchFamily="34" charset="-122"/>
                <a:cs typeface="IBM Plex Mono" pitchFamily="34" charset="-120"/>
              </a:rPr>
              <a:t>HITO CRÍTICO PENDIENTE</a:t>
            </a:r>
            <a:endParaRPr lang="es-CL" sz="1400" dirty="0"/>
          </a:p>
        </p:txBody>
      </p:sp>
      <p:sp>
        <p:nvSpPr>
          <p:cNvPr id="35" name="Shape 33"/>
          <p:cNvSpPr/>
          <p:nvPr/>
        </p:nvSpPr>
        <p:spPr>
          <a:xfrm>
            <a:off x="548640" y="5596128"/>
            <a:ext cx="11094415" cy="0"/>
          </a:xfrm>
          <a:prstGeom prst="line">
            <a:avLst/>
          </a:prstGeom>
          <a:noFill/>
          <a:ln w="9525">
            <a:solidFill>
              <a:schemeClr val="accent5"/>
            </a:solidFill>
            <a:prstDash val="solid"/>
          </a:ln>
        </p:spPr>
      </p:sp>
      <p:sp>
        <p:nvSpPr>
          <p:cNvPr id="36" name="Text 34"/>
          <p:cNvSpPr txBox="1"/>
          <p:nvPr/>
        </p:nvSpPr>
        <p:spPr>
          <a:xfrm>
            <a:off x="548640" y="5596128"/>
            <a:ext cx="7894015" cy="54864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Tolerancia de error aceptable</a:t>
            </a:r>
            <a:endParaRPr lang="es-CL" sz="2000" dirty="0"/>
          </a:p>
        </p:txBody>
      </p:sp>
      <p:sp>
        <p:nvSpPr>
          <p:cNvPr id="37" name="Shape 35"/>
          <p:cNvSpPr/>
          <p:nvPr/>
        </p:nvSpPr>
        <p:spPr>
          <a:xfrm>
            <a:off x="10018979" y="5687568"/>
            <a:ext cx="1624076" cy="365760"/>
          </a:xfrm>
          <a:prstGeom prst="rect">
            <a:avLst/>
          </a:prstGeom>
          <a:solidFill>
            <a:schemeClr val="bg1">
              <a:alpha val="0"/>
            </a:schemeClr>
          </a:solidFill>
          <a:ln w="12700">
            <a:solidFill>
              <a:schemeClr val="tx2"/>
            </a:solidFill>
            <a:prstDash val="solid"/>
          </a:ln>
        </p:spPr>
      </p:sp>
      <p:sp>
        <p:nvSpPr>
          <p:cNvPr id="38" name="Text 36"/>
          <p:cNvSpPr txBox="1"/>
          <p:nvPr/>
        </p:nvSpPr>
        <p:spPr>
          <a:xfrm>
            <a:off x="10128707" y="5687568"/>
            <a:ext cx="140462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POR DEFINIR</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CLIENTES · APOYO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CONVENIOS Y FOCO COMERCIAL</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apoyan la promesa.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MATRIZ_CMI (C02 y C03). La meta de C03 es orientativa.</a:t>
            </a:r>
            <a:endParaRPr lang="es-CL" sz="1100" dirty="0"/>
          </a:p>
        </p:txBody>
      </p:sp>
      <p:sp>
        <p:nvSpPr>
          <p:cNvPr id="6" name="Text 4"/>
          <p:cNvSpPr txBox="1"/>
          <p:nvPr/>
        </p:nvSpPr>
        <p:spPr>
          <a:xfrm>
            <a:off x="9308795" y="841248"/>
            <a:ext cx="2334260" cy="274320"/>
          </a:xfrm>
          <a:prstGeom prst="rect">
            <a:avLst/>
          </a:prstGeom>
          <a:noFill/>
          <a:ln/>
        </p:spPr>
        <p:txBody>
          <a:bodyPr wrap="square" lIns="0" tIns="0" rIns="0" bIns="0" rtlCol="0" anchor="ctr"/>
          <a:lstStyle/>
          <a:p>
            <a:pPr indent="0" marL="0">
              <a:buNone/>
            </a:pPr>
            <a:r>
              <a:rPr lang="es-CL" altLang="en-US" sz="1200" spc="50" kern="0" dirty="0">
                <a:solidFill>
                  <a:srgbClr val="F87171"/>
                </a:solidFill>
                <a:latin typeface="IBM Plex Mono" pitchFamily="34" charset="0"/>
                <a:ea typeface="IBM Plex Mono" pitchFamily="34" charset="-122"/>
                <a:cs typeface="IBM Plex Mono" pitchFamily="34" charset="-120"/>
              </a:rPr>
              <a:t>HITO CRÍTICO PENDIENTE</a:t>
            </a:r>
            <a:endParaRPr lang="es-CL" sz="1200" dirty="0"/>
          </a:p>
        </p:txBody>
      </p:sp>
      <p:sp>
        <p:nvSpPr>
          <p:cNvPr id="7" name="Shape 5"/>
          <p:cNvSpPr/>
          <p:nvPr/>
        </p:nvSpPr>
        <p:spPr>
          <a:xfrm>
            <a:off x="8997899" y="896112"/>
            <a:ext cx="219456" cy="164592"/>
          </a:xfrm>
          <a:prstGeom prst="rect">
            <a:avLst/>
          </a:prstGeom>
          <a:solidFill>
            <a:schemeClr val="bg1">
              <a:alpha val="0"/>
            </a:schemeClr>
          </a:solidFill>
          <a:ln w="22225">
            <a:solidFill>
              <a:srgbClr val="F87171"/>
            </a:solidFill>
            <a:prstDash val="solid"/>
          </a:ln>
        </p:spPr>
      </p:sp>
      <p:sp>
        <p:nvSpPr>
          <p:cNvPr id="8" name="Text 6"/>
          <p:cNvSpPr txBox="1"/>
          <p:nvPr/>
        </p:nvSpPr>
        <p:spPr>
          <a:xfrm>
            <a:off x="7651445" y="841248"/>
            <a:ext cx="1062990" cy="274320"/>
          </a:xfrm>
          <a:prstGeom prst="rect">
            <a:avLst/>
          </a:prstGeom>
          <a:noFill/>
          <a:ln/>
        </p:spPr>
        <p:txBody>
          <a:bodyPr wrap="square" lIns="0" tIns="0" rIns="0" bIns="0" rtlCol="0" anchor="ctr"/>
          <a:lstStyle/>
          <a:p>
            <a:pPr indent="0" marL="0">
              <a:buNone/>
            </a:pPr>
            <a:r>
              <a:rPr lang="es-CL" altLang="en-US" sz="1200" spc="50" kern="0" dirty="0">
                <a:solidFill>
                  <a:srgbClr val="8B9598"/>
                </a:solidFill>
                <a:latin typeface="IBM Plex Mono" pitchFamily="34" charset="0"/>
                <a:ea typeface="IBM Plex Mono" pitchFamily="34" charset="-122"/>
                <a:cs typeface="IBM Plex Mono" pitchFamily="34" charset="-120"/>
              </a:rPr>
              <a:t>SIN MEDIR</a:t>
            </a:r>
            <a:endParaRPr lang="es-CL" sz="1200" dirty="0"/>
          </a:p>
        </p:txBody>
      </p:sp>
      <p:sp>
        <p:nvSpPr>
          <p:cNvPr id="9" name="Shape 7"/>
          <p:cNvSpPr/>
          <p:nvPr/>
        </p:nvSpPr>
        <p:spPr>
          <a:xfrm>
            <a:off x="7340549" y="896112"/>
            <a:ext cx="219456" cy="164592"/>
          </a:xfrm>
          <a:prstGeom prst="rect">
            <a:avLst/>
          </a:prstGeom>
          <a:solidFill>
            <a:schemeClr val="bg1">
              <a:alpha val="0"/>
            </a:schemeClr>
          </a:solidFill>
          <a:ln w="12700">
            <a:solidFill>
              <a:srgbClr val="8B9598"/>
            </a:solidFill>
            <a:prstDash val="dash"/>
          </a:ln>
        </p:spPr>
      </p:sp>
      <p:sp>
        <p:nvSpPr>
          <p:cNvPr id="10" name="Shape 8"/>
          <p:cNvSpPr/>
          <p:nvPr/>
        </p:nvSpPr>
        <p:spPr>
          <a:xfrm>
            <a:off x="548640" y="2395728"/>
            <a:ext cx="5364328" cy="3200400"/>
          </a:xfrm>
          <a:prstGeom prst="rect">
            <a:avLst/>
          </a:prstGeom>
          <a:solidFill>
            <a:schemeClr val="bg2"/>
          </a:solidFill>
          <a:ln w="22225">
            <a:solidFill>
              <a:srgbClr val="F87171"/>
            </a:solidFill>
            <a:prstDash val="solid"/>
          </a:ln>
        </p:spPr>
      </p:sp>
      <p:sp>
        <p:nvSpPr>
          <p:cNvPr id="11" name="Text 9"/>
          <p:cNvSpPr txBox="1"/>
          <p:nvPr/>
        </p:nvSpPr>
        <p:spPr>
          <a:xfrm>
            <a:off x="822960" y="2633472"/>
            <a:ext cx="481568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C02 · CONFIANZA</a:t>
            </a:r>
            <a:endParaRPr lang="es-CL" sz="1400" dirty="0"/>
          </a:p>
        </p:txBody>
      </p:sp>
      <p:sp>
        <p:nvSpPr>
          <p:cNvPr id="12" name="Text 10"/>
          <p:cNvSpPr txBox="1"/>
          <p:nvPr/>
        </p:nvSpPr>
        <p:spPr>
          <a:xfrm>
            <a:off x="822960" y="3054096"/>
            <a:ext cx="4815688" cy="1371600"/>
          </a:xfrm>
          <a:prstGeom prst="rect">
            <a:avLst/>
          </a:prstGeom>
          <a:noFill/>
          <a:ln/>
        </p:spPr>
        <p:txBody>
          <a:bodyPr wrap="square" lIns="0" tIns="0" rIns="0" bIns="0" rtlCol="0" anchor="t"/>
          <a:lstStyle/>
          <a:p>
            <a:pPr indent="0" marL="0">
              <a:buNone/>
            </a:pPr>
            <a:r>
              <a:rPr lang="es-CL" altLang="en-US" sz="2400" b="1" dirty="0">
                <a:solidFill>
                  <a:schemeClr val="tx1"/>
                </a:solidFill>
                <a:latin typeface="Figtree" pitchFamily="34" charset="0"/>
                <a:ea typeface="Figtree" pitchFamily="34" charset="-122"/>
                <a:cs typeface="Figtree" pitchFamily="34" charset="-120"/>
              </a:rPr>
              <a:t>Protocolo con al menos una aseguradora y una planta de revisión técnica</a:t>
            </a:r>
            <a:endParaRPr lang="es-CL" sz="2400" dirty="0"/>
          </a:p>
        </p:txBody>
      </p:sp>
      <p:sp>
        <p:nvSpPr>
          <p:cNvPr id="13" name="Shape 11"/>
          <p:cNvSpPr/>
          <p:nvPr/>
        </p:nvSpPr>
        <p:spPr>
          <a:xfrm>
            <a:off x="822960" y="4727448"/>
            <a:ext cx="4815688" cy="0"/>
          </a:xfrm>
          <a:prstGeom prst="line">
            <a:avLst/>
          </a:prstGeom>
          <a:noFill/>
          <a:ln w="9525">
            <a:solidFill>
              <a:schemeClr val="accent5"/>
            </a:solidFill>
            <a:prstDash val="solid"/>
          </a:ln>
        </p:spPr>
      </p:sp>
      <p:sp>
        <p:nvSpPr>
          <p:cNvPr id="14" name="Text 12"/>
          <p:cNvSpPr txBox="1"/>
          <p:nvPr/>
        </p:nvSpPr>
        <p:spPr>
          <a:xfrm>
            <a:off x="822960" y="4818888"/>
            <a:ext cx="4815688" cy="54864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Antes de vender</a:t>
            </a:r>
            <a:endParaRPr lang="es-CL" sz="2000" dirty="0"/>
          </a:p>
        </p:txBody>
      </p:sp>
      <p:sp>
        <p:nvSpPr>
          <p:cNvPr id="15" name="Shape 13"/>
          <p:cNvSpPr/>
          <p:nvPr/>
        </p:nvSpPr>
        <p:spPr>
          <a:xfrm>
            <a:off x="6278728" y="2395728"/>
            <a:ext cx="5364328" cy="3200400"/>
          </a:xfrm>
          <a:prstGeom prst="rect">
            <a:avLst/>
          </a:prstGeom>
          <a:solidFill>
            <a:schemeClr val="bg2"/>
          </a:solidFill>
          <a:ln w="12700">
            <a:solidFill>
              <a:srgbClr val="8B9598"/>
            </a:solidFill>
            <a:prstDash val="dash"/>
          </a:ln>
        </p:spPr>
      </p:sp>
      <p:sp>
        <p:nvSpPr>
          <p:cNvPr id="16" name="Text 14"/>
          <p:cNvSpPr txBox="1"/>
          <p:nvPr/>
        </p:nvSpPr>
        <p:spPr>
          <a:xfrm>
            <a:off x="6553048" y="2633472"/>
            <a:ext cx="481568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C03 · FOCO COMERCIAL</a:t>
            </a:r>
            <a:endParaRPr lang="es-CL" sz="1400" dirty="0"/>
          </a:p>
        </p:txBody>
      </p:sp>
      <p:sp>
        <p:nvSpPr>
          <p:cNvPr id="17" name="Text 15"/>
          <p:cNvSpPr txBox="1"/>
          <p:nvPr/>
        </p:nvSpPr>
        <p:spPr>
          <a:xfrm>
            <a:off x="6553048" y="3054096"/>
            <a:ext cx="4815688" cy="1371600"/>
          </a:xfrm>
          <a:prstGeom prst="rect">
            <a:avLst/>
          </a:prstGeom>
          <a:noFill/>
          <a:ln/>
        </p:spPr>
        <p:txBody>
          <a:bodyPr wrap="square" lIns="0" tIns="0" rIns="0" bIns="0" rtlCol="0" anchor="t"/>
          <a:lstStyle/>
          <a:p>
            <a:pPr indent="0" marL="0">
              <a:buNone/>
            </a:pPr>
            <a:r>
              <a:rPr lang="es-CL" altLang="en-US" sz="2400" b="1" dirty="0">
                <a:solidFill>
                  <a:schemeClr val="tx1"/>
                </a:solidFill>
                <a:latin typeface="Figtree" pitchFamily="34" charset="0"/>
                <a:ea typeface="Figtree" pitchFamily="34" charset="-122"/>
                <a:cs typeface="Figtree" pitchFamily="34" charset="-120"/>
              </a:rPr>
              <a:t>Más de 50% de consultas de uso intensivo</a:t>
            </a:r>
            <a:endParaRPr lang="es-CL" sz="2400" dirty="0"/>
          </a:p>
        </p:txBody>
      </p:sp>
      <p:sp>
        <p:nvSpPr>
          <p:cNvPr id="18" name="Shape 16"/>
          <p:cNvSpPr/>
          <p:nvPr/>
        </p:nvSpPr>
        <p:spPr>
          <a:xfrm>
            <a:off x="6553048" y="4727448"/>
            <a:ext cx="4815688" cy="0"/>
          </a:xfrm>
          <a:prstGeom prst="line">
            <a:avLst/>
          </a:prstGeom>
          <a:noFill/>
          <a:ln w="9525">
            <a:solidFill>
              <a:schemeClr val="accent5"/>
            </a:solidFill>
            <a:prstDash val="solid"/>
          </a:ln>
        </p:spPr>
      </p:sp>
      <p:sp>
        <p:nvSpPr>
          <p:cNvPr id="19" name="Text 17"/>
          <p:cNvSpPr txBox="1"/>
          <p:nvPr/>
        </p:nvSpPr>
        <p:spPr>
          <a:xfrm>
            <a:off x="6553048" y="4818888"/>
            <a:ext cx="4815688" cy="54864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Sin excluir particulares ni flotas</a:t>
            </a:r>
            <a:endParaRPr lang="es-CL" sz="2000" dirty="0"/>
          </a:p>
        </p:txBody>
      </p:sp>
      <p:sp>
        <p:nvSpPr>
          <p:cNvPr id="20" name="Shape 18"/>
          <p:cNvSpPr/>
          <p:nvPr/>
        </p:nvSpPr>
        <p:spPr>
          <a:xfrm>
            <a:off x="9391599" y="2578608"/>
            <a:ext cx="1977136" cy="329184"/>
          </a:xfrm>
          <a:prstGeom prst="rect">
            <a:avLst/>
          </a:prstGeom>
          <a:solidFill>
            <a:schemeClr val="bg1">
              <a:alpha val="0"/>
            </a:schemeClr>
          </a:solidFill>
          <a:ln w="12700">
            <a:solidFill>
              <a:schemeClr val="tx2"/>
            </a:solidFill>
            <a:prstDash val="sysDot"/>
          </a:ln>
        </p:spPr>
      </p:sp>
      <p:sp>
        <p:nvSpPr>
          <p:cNvPr id="21" name="Text 19"/>
          <p:cNvSpPr txBox="1"/>
          <p:nvPr/>
        </p:nvSpPr>
        <p:spPr>
          <a:xfrm>
            <a:off x="9501327" y="2578608"/>
            <a:ext cx="175768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META ORIENTATIVA</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FINANCIERA · APOYO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FINANCIAMIENTO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metas, pero aún no cifras.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Excel de la Solemne 2, hoja MATRIZ_CMI (F02 y F03). El Plan Financiero de Lumine aún no existe.</a:t>
            </a:r>
            <a:endParaRPr lang="es-CL" sz="1100" dirty="0"/>
          </a:p>
        </p:txBody>
      </p:sp>
      <p:sp>
        <p:nvSpPr>
          <p:cNvPr id="6" name="Shape 4"/>
          <p:cNvSpPr/>
          <p:nvPr/>
        </p:nvSpPr>
        <p:spPr>
          <a:xfrm>
            <a:off x="7870139" y="2322576"/>
            <a:ext cx="3772916" cy="365760"/>
          </a:xfrm>
          <a:prstGeom prst="rect">
            <a:avLst/>
          </a:prstGeom>
          <a:solidFill>
            <a:schemeClr val="bg1">
              <a:alpha val="0"/>
            </a:schemeClr>
          </a:solidFill>
          <a:ln w="12700">
            <a:solidFill>
              <a:schemeClr val="tx2"/>
            </a:solidFill>
            <a:prstDash val="solid"/>
          </a:ln>
        </p:spPr>
      </p:sp>
      <p:sp>
        <p:nvSpPr>
          <p:cNvPr id="7" name="Text 5"/>
          <p:cNvSpPr txBox="1"/>
          <p:nvPr/>
        </p:nvSpPr>
        <p:spPr>
          <a:xfrm>
            <a:off x="7979867" y="2322576"/>
            <a:ext cx="3553460" cy="365760"/>
          </a:xfrm>
          <a:prstGeom prst="rect">
            <a:avLst/>
          </a:prstGeom>
          <a:noFill/>
          <a:ln/>
        </p:spPr>
        <p:txBody>
          <a:bodyPr wrap="square" lIns="0" tIns="0" rIns="0" bIns="0" rtlCol="0" anchor="ctr"/>
          <a:lstStyle/>
          <a:p>
            <a:pPr algn="ct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PLAN FINANCIERO POR CONFIRMAR</a:t>
            </a:r>
            <a:endParaRPr lang="es-CL" sz="1400" dirty="0"/>
          </a:p>
        </p:txBody>
      </p:sp>
      <p:sp>
        <p:nvSpPr>
          <p:cNvPr id="8" name="Shape 6"/>
          <p:cNvSpPr/>
          <p:nvPr/>
        </p:nvSpPr>
        <p:spPr>
          <a:xfrm>
            <a:off x="548640" y="2852928"/>
            <a:ext cx="5364328" cy="2926080"/>
          </a:xfrm>
          <a:prstGeom prst="rect">
            <a:avLst/>
          </a:prstGeom>
          <a:solidFill>
            <a:schemeClr val="bg2"/>
          </a:solidFill>
          <a:ln w="12700">
            <a:solidFill>
              <a:srgbClr val="8B9598"/>
            </a:solidFill>
            <a:prstDash val="dash"/>
          </a:ln>
        </p:spPr>
      </p:sp>
      <p:sp>
        <p:nvSpPr>
          <p:cNvPr id="9" name="Text 7"/>
          <p:cNvSpPr txBox="1"/>
          <p:nvPr/>
        </p:nvSpPr>
        <p:spPr>
          <a:xfrm>
            <a:off x="822960" y="3090672"/>
            <a:ext cx="481568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F02 · PAGO DEL CLIENTE</a:t>
            </a:r>
            <a:endParaRPr lang="es-CL" sz="1400" dirty="0"/>
          </a:p>
        </p:txBody>
      </p:sp>
      <p:sp>
        <p:nvSpPr>
          <p:cNvPr id="10" name="Text 8"/>
          <p:cNvSpPr txBox="1"/>
          <p:nvPr/>
        </p:nvSpPr>
        <p:spPr>
          <a:xfrm>
            <a:off x="822960" y="3511296"/>
            <a:ext cx="4815688" cy="1280160"/>
          </a:xfrm>
          <a:prstGeom prst="rect">
            <a:avLst/>
          </a:prstGeom>
          <a:noFill/>
          <a:ln/>
        </p:spPr>
        <p:txBody>
          <a:bodyPr wrap="square" lIns="0" tIns="0" rIns="0" bIns="0" rtlCol="0" anchor="t"/>
          <a:lstStyle/>
          <a:p>
            <a:pPr indent="0" marL="0">
              <a:buNone/>
            </a:pPr>
            <a:r>
              <a:rPr lang="es-CL" altLang="en-US" sz="2400" b="1" dirty="0">
                <a:solidFill>
                  <a:schemeClr val="tx1"/>
                </a:solidFill>
                <a:latin typeface="Figtree" pitchFamily="34" charset="0"/>
                <a:ea typeface="Figtree" pitchFamily="34" charset="-122"/>
                <a:cs typeface="Figtree" pitchFamily="34" charset="-120"/>
              </a:rPr>
              <a:t>Al menos un convenio de financiamiento antes de la primera venta</a:t>
            </a:r>
            <a:endParaRPr lang="es-CL" sz="2400" dirty="0"/>
          </a:p>
        </p:txBody>
      </p:sp>
      <p:sp>
        <p:nvSpPr>
          <p:cNvPr id="11" name="Shape 9"/>
          <p:cNvSpPr/>
          <p:nvPr/>
        </p:nvSpPr>
        <p:spPr>
          <a:xfrm>
            <a:off x="822960" y="4910328"/>
            <a:ext cx="4815688" cy="0"/>
          </a:xfrm>
          <a:prstGeom prst="line">
            <a:avLst/>
          </a:prstGeom>
          <a:noFill/>
          <a:ln w="9525">
            <a:solidFill>
              <a:schemeClr val="accent5"/>
            </a:solidFill>
            <a:prstDash val="solid"/>
          </a:ln>
        </p:spPr>
      </p:sp>
      <p:sp>
        <p:nvSpPr>
          <p:cNvPr id="12" name="Text 10"/>
          <p:cNvSpPr txBox="1"/>
          <p:nvPr/>
        </p:nvSpPr>
        <p:spPr>
          <a:xfrm>
            <a:off x="822960" y="5001768"/>
            <a:ext cx="4815688" cy="54864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El financiamiento verde para el kit no está confirmado</a:t>
            </a:r>
            <a:endParaRPr lang="es-CL" sz="2000" dirty="0"/>
          </a:p>
        </p:txBody>
      </p:sp>
      <p:sp>
        <p:nvSpPr>
          <p:cNvPr id="13" name="Shape 11"/>
          <p:cNvSpPr/>
          <p:nvPr/>
        </p:nvSpPr>
        <p:spPr>
          <a:xfrm>
            <a:off x="6278728" y="2852928"/>
            <a:ext cx="5364328" cy="2926080"/>
          </a:xfrm>
          <a:prstGeom prst="rect">
            <a:avLst/>
          </a:prstGeom>
          <a:solidFill>
            <a:schemeClr val="bg2"/>
          </a:solidFill>
          <a:ln w="12700">
            <a:solidFill>
              <a:srgbClr val="8B9598"/>
            </a:solidFill>
            <a:prstDash val="dash"/>
          </a:ln>
        </p:spPr>
      </p:sp>
      <p:sp>
        <p:nvSpPr>
          <p:cNvPr id="14" name="Text 12"/>
          <p:cNvSpPr txBox="1"/>
          <p:nvPr/>
        </p:nvSpPr>
        <p:spPr>
          <a:xfrm>
            <a:off x="6553048" y="3090672"/>
            <a:ext cx="4815688" cy="274320"/>
          </a:xfrm>
          <a:prstGeom prst="rect">
            <a:avLst/>
          </a:prstGeom>
          <a:noFill/>
          <a:ln/>
        </p:spPr>
        <p:txBody>
          <a:bodyPr wrap="square" lIns="0" tIns="0" rIns="0" bIns="0" rtlCol="0" anchor="t"/>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F03 · CAPITAL DE TRABAJO</a:t>
            </a:r>
            <a:endParaRPr lang="es-CL" sz="1400" dirty="0"/>
          </a:p>
        </p:txBody>
      </p:sp>
      <p:sp>
        <p:nvSpPr>
          <p:cNvPr id="15" name="Text 13"/>
          <p:cNvSpPr txBox="1"/>
          <p:nvPr/>
        </p:nvSpPr>
        <p:spPr>
          <a:xfrm>
            <a:off x="6553048" y="3511296"/>
            <a:ext cx="4815688" cy="1280160"/>
          </a:xfrm>
          <a:prstGeom prst="rect">
            <a:avLst/>
          </a:prstGeom>
          <a:noFill/>
          <a:ln/>
        </p:spPr>
        <p:txBody>
          <a:bodyPr wrap="square" lIns="0" tIns="0" rIns="0" bIns="0" rtlCol="0" anchor="t"/>
          <a:lstStyle/>
          <a:p>
            <a:pPr indent="0" marL="0">
              <a:buNone/>
            </a:pPr>
            <a:r>
              <a:rPr lang="es-CL" altLang="en-US" sz="2400" b="1" dirty="0">
                <a:solidFill>
                  <a:schemeClr val="tx1"/>
                </a:solidFill>
                <a:latin typeface="Figtree" pitchFamily="34" charset="0"/>
                <a:ea typeface="Figtree" pitchFamily="34" charset="-122"/>
                <a:cs typeface="Figtree" pitchFamily="34" charset="-120"/>
              </a:rPr>
              <a:t>Financiamiento disponible igual o mayor que el capital de trabajo requerido</a:t>
            </a:r>
            <a:endParaRPr lang="es-CL" sz="2400" dirty="0"/>
          </a:p>
        </p:txBody>
      </p:sp>
      <p:sp>
        <p:nvSpPr>
          <p:cNvPr id="16" name="Shape 14"/>
          <p:cNvSpPr/>
          <p:nvPr/>
        </p:nvSpPr>
        <p:spPr>
          <a:xfrm>
            <a:off x="6553048" y="4910328"/>
            <a:ext cx="4815688" cy="0"/>
          </a:xfrm>
          <a:prstGeom prst="line">
            <a:avLst/>
          </a:prstGeom>
          <a:noFill/>
          <a:ln w="9525">
            <a:solidFill>
              <a:schemeClr val="accent5"/>
            </a:solidFill>
            <a:prstDash val="solid"/>
          </a:ln>
        </p:spPr>
      </p:sp>
      <p:sp>
        <p:nvSpPr>
          <p:cNvPr id="17" name="Text 15"/>
          <p:cNvSpPr txBox="1"/>
          <p:nvPr/>
        </p:nvSpPr>
        <p:spPr>
          <a:xfrm>
            <a:off x="6553048" y="5001768"/>
            <a:ext cx="4815688" cy="548640"/>
          </a:xfrm>
          <a:prstGeom prst="rect">
            <a:avLst/>
          </a:prstGeom>
          <a:noFill/>
          <a:ln/>
        </p:spPr>
        <p:txBody>
          <a:bodyPr wrap="square" lIns="0" tIns="0" rIns="0" bIns="0" rtlCol="0" anchor="ctr"/>
          <a:lstStyle/>
          <a:p>
            <a:pPr indent="0" marL="0">
              <a:buNone/>
            </a:pPr>
            <a:r>
              <a:rPr lang="es-CL" altLang="en-US" sz="2000" dirty="0">
                <a:solidFill>
                  <a:schemeClr val="tx2"/>
                </a:solidFill>
                <a:latin typeface="Figtree" pitchFamily="34" charset="0"/>
                <a:ea typeface="Figtree" pitchFamily="34" charset="-122"/>
                <a:cs typeface="Figtree" pitchFamily="34" charset="-120"/>
              </a:rPr>
              <a:t>Sin asumir aportes que no existen</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ORIGEN DE CADA CIFRA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DISEÑO O EJEMPLO: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dice qué 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contexto vigente de Lumine Motors (17-10-2026); dossier y Excel de la Solemne 2; módulo 4 del curso.</a:t>
            </a:r>
            <a:endParaRPr lang="es-CL" sz="1100" dirty="0"/>
          </a:p>
        </p:txBody>
      </p:sp>
      <p:sp>
        <p:nvSpPr>
          <p:cNvPr id="6" name="Shape 4"/>
          <p:cNvSpPr/>
          <p:nvPr/>
        </p:nvSpPr>
        <p:spPr>
          <a:xfrm>
            <a:off x="548640" y="2395728"/>
            <a:ext cx="3484778" cy="3785616"/>
          </a:xfrm>
          <a:prstGeom prst="rect">
            <a:avLst/>
          </a:prstGeom>
          <a:solidFill>
            <a:schemeClr val="bg2"/>
          </a:solidFill>
          <a:ln w="15875">
            <a:solidFill>
              <a:schemeClr val="accent1"/>
            </a:solidFill>
            <a:prstDash val="solid"/>
          </a:ln>
        </p:spPr>
      </p:sp>
      <p:sp>
        <p:nvSpPr>
          <p:cNvPr id="7" name="Text 5"/>
          <p:cNvSpPr txBox="1"/>
          <p:nvPr/>
        </p:nvSpPr>
        <p:spPr>
          <a:xfrm>
            <a:off x="822960" y="2633472"/>
            <a:ext cx="293613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DATO</a:t>
            </a:r>
            <a:endParaRPr lang="es-CL" sz="1400" dirty="0"/>
          </a:p>
        </p:txBody>
      </p:sp>
      <p:sp>
        <p:nvSpPr>
          <p:cNvPr id="8" name="Shape 6"/>
          <p:cNvSpPr/>
          <p:nvPr/>
        </p:nvSpPr>
        <p:spPr>
          <a:xfrm>
            <a:off x="822960" y="3127248"/>
            <a:ext cx="2936138" cy="0"/>
          </a:xfrm>
          <a:prstGeom prst="line">
            <a:avLst/>
          </a:prstGeom>
          <a:noFill/>
          <a:ln w="9525">
            <a:solidFill>
              <a:schemeClr val="accent5"/>
            </a:solidFill>
            <a:prstDash val="solid"/>
          </a:ln>
        </p:spPr>
      </p:sp>
      <p:sp>
        <p:nvSpPr>
          <p:cNvPr id="9" name="Text 7"/>
          <p:cNvSpPr txBox="1"/>
          <p:nvPr/>
        </p:nvSpPr>
        <p:spPr>
          <a:xfrm>
            <a:off x="822960" y="320040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Lumine es preoperativa</a:t>
            </a:r>
            <a:endParaRPr lang="es-CL" sz="2000" dirty="0"/>
          </a:p>
        </p:txBody>
      </p:sp>
      <p:sp>
        <p:nvSpPr>
          <p:cNvPr id="10" name="Shape 8"/>
          <p:cNvSpPr/>
          <p:nvPr/>
        </p:nvSpPr>
        <p:spPr>
          <a:xfrm>
            <a:off x="822960" y="3995928"/>
            <a:ext cx="2936138" cy="0"/>
          </a:xfrm>
          <a:prstGeom prst="line">
            <a:avLst/>
          </a:prstGeom>
          <a:noFill/>
          <a:ln w="9525">
            <a:solidFill>
              <a:schemeClr val="accent5"/>
            </a:solidFill>
            <a:prstDash val="solid"/>
          </a:ln>
        </p:spPr>
      </p:sp>
      <p:sp>
        <p:nvSpPr>
          <p:cNvPr id="11" name="Text 9"/>
          <p:cNvSpPr txBox="1"/>
          <p:nvPr/>
        </p:nvSpPr>
        <p:spPr>
          <a:xfrm>
            <a:off x="822960" y="406908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Ley N° 21.793 sin reglamento</a:t>
            </a:r>
            <a:endParaRPr lang="es-CL" sz="2000" dirty="0"/>
          </a:p>
        </p:txBody>
      </p:sp>
      <p:sp>
        <p:nvSpPr>
          <p:cNvPr id="12" name="Shape 10"/>
          <p:cNvSpPr/>
          <p:nvPr/>
        </p:nvSpPr>
        <p:spPr>
          <a:xfrm>
            <a:off x="822960" y="4864608"/>
            <a:ext cx="2936138" cy="0"/>
          </a:xfrm>
          <a:prstGeom prst="line">
            <a:avLst/>
          </a:prstGeom>
          <a:noFill/>
          <a:ln w="9525">
            <a:solidFill>
              <a:schemeClr val="accent5"/>
            </a:solidFill>
            <a:prstDash val="solid"/>
          </a:ln>
        </p:spPr>
      </p:sp>
      <p:sp>
        <p:nvSpPr>
          <p:cNvPr id="13" name="Text 11"/>
          <p:cNvSpPr txBox="1"/>
          <p:nvPr/>
        </p:nvSpPr>
        <p:spPr>
          <a:xfrm>
            <a:off x="822960" y="493776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Ninguna venta ni homologación</a:t>
            </a:r>
            <a:endParaRPr lang="es-CL" sz="2000" dirty="0"/>
          </a:p>
        </p:txBody>
      </p:sp>
      <p:sp>
        <p:nvSpPr>
          <p:cNvPr id="14" name="Shape 12"/>
          <p:cNvSpPr/>
          <p:nvPr/>
        </p:nvSpPr>
        <p:spPr>
          <a:xfrm>
            <a:off x="4353458" y="2395728"/>
            <a:ext cx="3484778" cy="3785616"/>
          </a:xfrm>
          <a:prstGeom prst="rect">
            <a:avLst/>
          </a:prstGeom>
          <a:solidFill>
            <a:schemeClr val="bg2"/>
          </a:solidFill>
          <a:ln w="12700">
            <a:solidFill>
              <a:srgbClr val="8B9598"/>
            </a:solidFill>
            <a:prstDash val="dash"/>
          </a:ln>
        </p:spPr>
      </p:sp>
      <p:sp>
        <p:nvSpPr>
          <p:cNvPr id="15" name="Text 13"/>
          <p:cNvSpPr txBox="1"/>
          <p:nvPr/>
        </p:nvSpPr>
        <p:spPr>
          <a:xfrm>
            <a:off x="4627778" y="2633472"/>
            <a:ext cx="2936138" cy="274320"/>
          </a:xfrm>
          <a:prstGeom prst="rect">
            <a:avLst/>
          </a:prstGeom>
          <a:noFill/>
          <a:ln/>
        </p:spPr>
        <p:txBody>
          <a:bodyPr wrap="square" lIns="0" tIns="0" rIns="0" bIns="0" rtlCol="0" anchor="t"/>
          <a:lstStyle/>
          <a:p>
            <a:pPr indent="0" marL="0">
              <a:buNone/>
            </a:pPr>
            <a:r>
              <a:rPr lang="es-CL" altLang="en-US" sz="1400" b="1" spc="100" kern="0" dirty="0">
                <a:solidFill>
                  <a:schemeClr val="tx1"/>
                </a:solidFill>
                <a:latin typeface="IBM Plex Mono" pitchFamily="34" charset="0"/>
                <a:ea typeface="IBM Plex Mono" pitchFamily="34" charset="-122"/>
                <a:cs typeface="IBM Plex Mono" pitchFamily="34" charset="-120"/>
              </a:rPr>
              <a:t>DISEÑO O ESTIMACIÓN</a:t>
            </a:r>
            <a:endParaRPr lang="es-CL" sz="1400" dirty="0"/>
          </a:p>
        </p:txBody>
      </p:sp>
      <p:sp>
        <p:nvSpPr>
          <p:cNvPr id="16" name="Shape 14"/>
          <p:cNvSpPr/>
          <p:nvPr/>
        </p:nvSpPr>
        <p:spPr>
          <a:xfrm>
            <a:off x="4627778" y="3127248"/>
            <a:ext cx="2936138" cy="0"/>
          </a:xfrm>
          <a:prstGeom prst="line">
            <a:avLst/>
          </a:prstGeom>
          <a:noFill/>
          <a:ln w="9525">
            <a:solidFill>
              <a:schemeClr val="accent5"/>
            </a:solidFill>
            <a:prstDash val="solid"/>
          </a:ln>
        </p:spPr>
      </p:sp>
      <p:sp>
        <p:nvSpPr>
          <p:cNvPr id="17" name="Text 15"/>
          <p:cNvSpPr txBox="1"/>
          <p:nvPr/>
        </p:nvSpPr>
        <p:spPr>
          <a:xfrm>
            <a:off x="4627778" y="320040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Metas de 100% y umbrales 90/70</a:t>
            </a:r>
            <a:endParaRPr lang="es-CL" sz="2000" dirty="0"/>
          </a:p>
        </p:txBody>
      </p:sp>
      <p:sp>
        <p:nvSpPr>
          <p:cNvPr id="18" name="Shape 16"/>
          <p:cNvSpPr/>
          <p:nvPr/>
        </p:nvSpPr>
        <p:spPr>
          <a:xfrm>
            <a:off x="4627778" y="3995928"/>
            <a:ext cx="2936138" cy="0"/>
          </a:xfrm>
          <a:prstGeom prst="line">
            <a:avLst/>
          </a:prstGeom>
          <a:noFill/>
          <a:ln w="9525">
            <a:solidFill>
              <a:schemeClr val="accent5"/>
            </a:solidFill>
            <a:prstDash val="solid"/>
          </a:ln>
        </p:spPr>
      </p:sp>
      <p:sp>
        <p:nvSpPr>
          <p:cNvPr id="19" name="Text 17"/>
          <p:cNvSpPr txBox="1"/>
          <p:nvPr/>
        </p:nvSpPr>
        <p:spPr>
          <a:xfrm>
            <a:off x="4627778" y="406908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C03: más de 50%</a:t>
            </a:r>
            <a:endParaRPr lang="es-CL" sz="2000" dirty="0"/>
          </a:p>
        </p:txBody>
      </p:sp>
      <p:sp>
        <p:nvSpPr>
          <p:cNvPr id="20" name="Shape 18"/>
          <p:cNvSpPr/>
          <p:nvPr/>
        </p:nvSpPr>
        <p:spPr>
          <a:xfrm>
            <a:off x="4627778" y="4864608"/>
            <a:ext cx="2936138" cy="0"/>
          </a:xfrm>
          <a:prstGeom prst="line">
            <a:avLst/>
          </a:prstGeom>
          <a:noFill/>
          <a:ln w="9525">
            <a:solidFill>
              <a:schemeClr val="accent5"/>
            </a:solidFill>
            <a:prstDash val="solid"/>
          </a:ln>
        </p:spPr>
      </p:sp>
      <p:sp>
        <p:nvSpPr>
          <p:cNvPr id="21" name="Text 19"/>
          <p:cNvSpPr txBox="1"/>
          <p:nvPr/>
        </p:nvSpPr>
        <p:spPr>
          <a:xfrm>
            <a:off x="4627778" y="493776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Hasta 20% menos bencina</a:t>
            </a:r>
            <a:endParaRPr lang="es-CL" sz="2000" dirty="0"/>
          </a:p>
        </p:txBody>
      </p:sp>
      <p:sp>
        <p:nvSpPr>
          <p:cNvPr id="22" name="Shape 20"/>
          <p:cNvSpPr/>
          <p:nvPr/>
        </p:nvSpPr>
        <p:spPr>
          <a:xfrm>
            <a:off x="8158277" y="2395728"/>
            <a:ext cx="3484778" cy="3785616"/>
          </a:xfrm>
          <a:prstGeom prst="rect">
            <a:avLst/>
          </a:prstGeom>
          <a:solidFill>
            <a:schemeClr val="bg2"/>
          </a:solidFill>
          <a:ln w="15875">
            <a:solidFill>
              <a:schemeClr val="tx1"/>
            </a:solidFill>
            <a:prstDash val="dash"/>
          </a:ln>
        </p:spPr>
      </p:sp>
      <p:sp>
        <p:nvSpPr>
          <p:cNvPr id="23" name="Text 21"/>
          <p:cNvSpPr txBox="1"/>
          <p:nvPr/>
        </p:nvSpPr>
        <p:spPr>
          <a:xfrm>
            <a:off x="8432597" y="2633472"/>
            <a:ext cx="2936138" cy="274320"/>
          </a:xfrm>
          <a:prstGeom prst="rect">
            <a:avLst/>
          </a:prstGeom>
          <a:noFill/>
          <a:ln/>
        </p:spPr>
        <p:txBody>
          <a:bodyPr wrap="square" lIns="0" tIns="0" rIns="0" bIns="0" rtlCol="0" anchor="t"/>
          <a:lstStyle/>
          <a:p>
            <a:pPr indent="0" marL="0">
              <a:buNone/>
            </a:pPr>
            <a:r>
              <a:rPr lang="es-CL" altLang="en-US" sz="1400" b="1" spc="100" kern="0" dirty="0">
                <a:solidFill>
                  <a:schemeClr val="tx1"/>
                </a:solidFill>
                <a:latin typeface="IBM Plex Mono" pitchFamily="34" charset="0"/>
                <a:ea typeface="IBM Plex Mono" pitchFamily="34" charset="-122"/>
                <a:cs typeface="IBM Plex Mono" pitchFamily="34" charset="-120"/>
              </a:rPr>
              <a:t>EJEMPLO, NO LUMINE</a:t>
            </a:r>
            <a:endParaRPr lang="es-CL" sz="1400" dirty="0"/>
          </a:p>
        </p:txBody>
      </p:sp>
      <p:sp>
        <p:nvSpPr>
          <p:cNvPr id="24" name="Shape 22"/>
          <p:cNvSpPr/>
          <p:nvPr/>
        </p:nvSpPr>
        <p:spPr>
          <a:xfrm>
            <a:off x="8432597" y="3127248"/>
            <a:ext cx="2936138" cy="0"/>
          </a:xfrm>
          <a:prstGeom prst="line">
            <a:avLst/>
          </a:prstGeom>
          <a:noFill/>
          <a:ln w="9525">
            <a:solidFill>
              <a:schemeClr val="accent5"/>
            </a:solidFill>
            <a:prstDash val="solid"/>
          </a:ln>
        </p:spPr>
      </p:sp>
      <p:sp>
        <p:nvSpPr>
          <p:cNvPr id="25" name="Text 23"/>
          <p:cNvSpPr txBox="1"/>
          <p:nvPr/>
        </p:nvSpPr>
        <p:spPr>
          <a:xfrm>
            <a:off x="8432597" y="320040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EVA de US$30.000 (módulo 4)</a:t>
            </a:r>
            <a:endParaRPr lang="es-CL" sz="2000" dirty="0"/>
          </a:p>
        </p:txBody>
      </p:sp>
      <p:sp>
        <p:nvSpPr>
          <p:cNvPr id="26" name="Shape 24"/>
          <p:cNvSpPr/>
          <p:nvPr/>
        </p:nvSpPr>
        <p:spPr>
          <a:xfrm>
            <a:off x="8432597" y="3995928"/>
            <a:ext cx="2936138" cy="0"/>
          </a:xfrm>
          <a:prstGeom prst="line">
            <a:avLst/>
          </a:prstGeom>
          <a:noFill/>
          <a:ln w="9525">
            <a:solidFill>
              <a:schemeClr val="accent5"/>
            </a:solidFill>
            <a:prstDash val="solid"/>
          </a:ln>
        </p:spPr>
      </p:sp>
      <p:sp>
        <p:nvSpPr>
          <p:cNvPr id="27" name="Text 25"/>
          <p:cNvSpPr txBox="1"/>
          <p:nvPr/>
        </p:nvSpPr>
        <p:spPr>
          <a:xfrm>
            <a:off x="8432597" y="4069080"/>
            <a:ext cx="2936138" cy="73152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Caso 8 de 10 informes</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Solemne 2 · Mapa estratégico y CMI · Lumine Motors</dc:title>
  <dc:subject>Control de Gestión · ICMA901 · UNAB</dc:subject>
  <dc:creator>Diego Alarcón, Benjamín Torres y Lukas Verdugo</dc:creator>
  <cp:lastModifiedBy>Diego Alarcón, Benjamín Torres y Lukas Verdugo</cp:lastModifiedBy>
  <cp:revision>1</cp:revision>
  <dcterms:created xsi:type="dcterms:W3CDTF">2026-10-21T01:27:06Z</dcterms:created>
  <dcterms:modified xsi:type="dcterms:W3CDTF">2026-10-21T01:27:06Z</dcterms:modified>
</cp:coreProperties>
</file>