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rchivo SemiExpanded ExtraBold" charset="0"/>
      <p:regular r:id="rIdFuente1"/>
    </p:embeddedFont>
    <p:embeddedFont>
      <p:font typeface="Archivo Condensed" charset="0"/>
      <p:regular r:id="rIdFuente2"/>
      <p:bold r:id="rIdFuente3"/>
    </p:embeddedFont>
    <p:embeddedFont>
      <p:font typeface="Figtree" charset="0"/>
      <p:regular r:id="rIdFuente4"/>
      <p:bold r:id="rIdFuente5"/>
    </p:embeddedFont>
    <p:embeddedFont>
      <p:font typeface="IBM Plex Mono" charset="0"/>
      <p:regular r:id="rIdFuente6"/>
      <p:bold r:id="rIdFuente7"/>
    </p:embeddedFont>
    <p:embeddedFont>
      <p:font typeface="Instrument Serif" charset="0"/>
      <p:regular r:id="rIdFuente8"/>
      <p:italic r:id="rIdFuente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Diego Alarcón" id="{e7a9679f-da1a-58a5-34d2-85c272060eac}">
          <p14:sldIdLst>
            <p14:sldId id="256"/>
            <p14:sldId id="257"/>
            <p14:sldId id="258"/>
            <p14:sldId id="259"/>
            <p14:sldId id="260"/>
          </p14:sldIdLst>
        </p14:section>
        <p14:section name="2 · Benjamín Torres" id="{a22484f5-3bd3-36ad-0d24-7fe5f25c8b63}">
          <p14:sldIdLst>
            <p14:sldId id="261"/>
            <p14:sldId id="262"/>
            <p14:sldId id="263"/>
            <p14:sldId id="264"/>
          </p14:sldIdLst>
        </p14:section>
        <p14:section name="3 · Lukas Verdugo" id="{814d4070-c105-722a-28fb-4bed5c3540f3}">
          <p14:sldIdLst>
            <p14:sldId id="265"/>
            <p14:sldId id="266"/>
            <p14:sldId id="267"/>
            <p14:sldId id="268"/>
            <p14:sldId id="269"/>
          </p14:sldIdLst>
        </p14:section>
        <p14:section name="4 · Diego Alarcón" id="{31ffce8a-1d88-d152-b2b9-4609be434b6f}">
          <p14:sldIdLst>
            <p14:sldId id="270"/>
          </p14:sldIdLst>
        </p14:section>
        <p14:section name="Anexo" id="{416876f9-bd53-586a-6388-0146611fa1da}">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uente1" Type="http://schemas.openxmlformats.org/officeDocument/2006/relationships/font" Target="fonts/font1.fntdata"/><Relationship Id="rIdFuente2" Type="http://schemas.openxmlformats.org/officeDocument/2006/relationships/font" Target="fonts/font2.fntdata"/><Relationship Id="rIdFuente3" Type="http://schemas.openxmlformats.org/officeDocument/2006/relationships/font" Target="fonts/font3.fntdata"/><Relationship Id="rIdFuente4" Type="http://schemas.openxmlformats.org/officeDocument/2006/relationships/font" Target="fonts/font4.fntdata"/><Relationship Id="rIdFuente5" Type="http://schemas.openxmlformats.org/officeDocument/2006/relationships/font" Target="fonts/font5.fntdata"/><Relationship Id="rIdFuente6" Type="http://schemas.openxmlformats.org/officeDocument/2006/relationships/font" Target="fonts/font6.fntdata"/><Relationship Id="rIdFuente7" Type="http://schemas.openxmlformats.org/officeDocument/2006/relationships/font" Target="fonts/font7.fntdata"/><Relationship Id="rIdFuente8" Type="http://schemas.openxmlformats.org/officeDocument/2006/relationships/font" Target="fonts/font8.fntdata"/><Relationship Id="rIdFuente9" Type="http://schemas.openxmlformats.org/officeDocument/2006/relationships/font" Target="fonts/font9.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Habilidades</c:v>
                </c:pt>
              </c:strCache>
            </c:strRef>
          </c:tx>
          <c:spPr>
            <a:solidFill>
              <a:srgbClr val="22B8F0"/>
            </a:solidFill>
            <a:effectLst/>
          </c:spPr>
          <c:invertIfNegative val="0"/>
          <c:dLbls>
            <c:numFmt formatCode="0.00" sourceLinked="0"/>
            <c:txPr>
              <a:bodyPr/>
              <a:lstStyle/>
              <a:p>
                <a:pPr>
                  <a:defRPr b="0" i="0" strike="noStrike" sz="1200" u="none">
                    <a:solidFill>
                      <a:srgbClr val="ECECEC"/>
                    </a:solidFill>
                    <a:latin typeface="Archivo Condensed"/>
                  </a:defRPr>
                </a:pPr>
              </a:p>
            </c:txPr>
            <c:showLegendKey val="0"/>
            <c:showVal val="1"/>
            <c:showCatName val="0"/>
            <c:showSerName val="0"/>
            <c:showPercent val="0"/>
            <c:showBubbleSize val="0"/>
            <c:showLeaderLines val="0"/>
          </c:dLbls>
          <c:cat>
            <c:multiLvlStrRef>
              <c:f>Sheet1!$A$2:$A$8</c:f>
              <c:multiLvlStrCache>
                <c:ptCount val="7"/>
                <c:lvl>
                  <c:pt idx="0">
                    <c:v>Conversión GLP</c:v>
                  </c:pt>
                  <c:pt idx="1">
                    <c:v>Eléctricos nuevos</c:v>
                  </c:pt>
                  <c:pt idx="2">
                    <c:v>Reborn*</c:v>
                  </c:pt>
                  <c:pt idx="3">
                    <c:v>Movener*</c:v>
                  </c:pt>
                  <c:pt idx="4">
                    <c:v>Híbridos usados</c:v>
                  </c:pt>
                  <c:pt idx="5">
                    <c:v>Lumine</c:v>
                  </c:pt>
                  <c:pt idx="6">
                    <c:v>Líder</c:v>
                  </c:pt>
                </c:lvl>
              </c:multiLvlStrCache>
            </c:multiLvlStrRef>
          </c:cat>
          <c:val>
            <c:numRef>
              <c:f>Sheet1!$B$2:$B$8</c:f>
              <c:numCache>
                <c:formatCode>General</c:formatCode>
                <c:ptCount val="7"/>
                <c:pt idx="0">
                  <c:v>3.86</c:v>
                </c:pt>
                <c:pt idx="1">
                  <c:v>3.86</c:v>
                </c:pt>
                <c:pt idx="2">
                  <c:v>3.86</c:v>
                </c:pt>
                <c:pt idx="3">
                  <c:v>3.71</c:v>
                </c:pt>
                <c:pt idx="4">
                  <c:v>3.57</c:v>
                </c:pt>
                <c:pt idx="5">
                  <c:v>3</c:v>
                </c:pt>
                <c:pt idx="6">
                  <c:v>4.29</c:v>
                </c:pt>
              </c:numCache>
            </c:numRef>
          </c:val>
        </c:ser>
        <c:ser>
          <c:idx val="1"/>
          <c:order val="1"/>
          <c:tx>
            <c:strRef>
              <c:f>Sheet1!$C$1</c:f>
              <c:strCache>
                <c:ptCount val="1"/>
                <c:pt idx="0">
                  <c:v>Factores de riesgo</c:v>
                </c:pt>
              </c:strCache>
            </c:strRef>
          </c:tx>
          <c:spPr>
            <a:solidFill>
              <a:srgbClr val="8B9598"/>
            </a:solidFill>
            <a:effectLst/>
          </c:spPr>
          <c:invertIfNegative val="0"/>
          <c:dLbls>
            <c:numFmt formatCode="0.00" sourceLinked="0"/>
            <c:txPr>
              <a:bodyPr/>
              <a:lstStyle/>
              <a:p>
                <a:pPr>
                  <a:defRPr b="0" i="0" strike="noStrike" sz="1200" u="none">
                    <a:solidFill>
                      <a:srgbClr val="ECECEC"/>
                    </a:solidFill>
                    <a:latin typeface="Archivo Condensed"/>
                  </a:defRPr>
                </a:pPr>
              </a:p>
            </c:txPr>
            <c:showLegendKey val="0"/>
            <c:showVal val="1"/>
            <c:showCatName val="0"/>
            <c:showSerName val="0"/>
            <c:showPercent val="0"/>
            <c:showBubbleSize val="0"/>
            <c:showLeaderLines val="0"/>
          </c:dLbls>
          <c:cat>
            <c:multiLvlStrRef>
              <c:f>Sheet1!$A$2:$A$8</c:f>
              <c:multiLvlStrCache>
                <c:ptCount val="7"/>
                <c:lvl>
                  <c:pt idx="0">
                    <c:v>Conversión GLP</c:v>
                  </c:pt>
                  <c:pt idx="1">
                    <c:v>Eléctricos nuevos</c:v>
                  </c:pt>
                  <c:pt idx="2">
                    <c:v>Reborn*</c:v>
                  </c:pt>
                  <c:pt idx="3">
                    <c:v>Movener*</c:v>
                  </c:pt>
                  <c:pt idx="4">
                    <c:v>Híbridos usados</c:v>
                  </c:pt>
                  <c:pt idx="5">
                    <c:v>Lumine</c:v>
                  </c:pt>
                  <c:pt idx="6">
                    <c:v>Líder</c:v>
                  </c:pt>
                </c:lvl>
              </c:multiLvlStrCache>
            </c:multiLvlStrRef>
          </c:cat>
          <c:val>
            <c:numRef>
              <c:f>Sheet1!$C$2:$C$8</c:f>
              <c:numCache>
                <c:formatCode>General</c:formatCode>
                <c:ptCount val="7"/>
                <c:pt idx="0">
                  <c:v>4</c:v>
                </c:pt>
                <c:pt idx="1">
                  <c:v>3.43</c:v>
                </c:pt>
                <c:pt idx="2">
                  <c:v>3.71</c:v>
                </c:pt>
                <c:pt idx="3">
                  <c:v>3.43</c:v>
                </c:pt>
                <c:pt idx="4">
                  <c:v>3.43</c:v>
                </c:pt>
                <c:pt idx="5">
                  <c:v>2.71</c:v>
                </c:pt>
                <c:pt idx="6">
                  <c:v>4.14</c:v>
                </c:pt>
              </c:numCache>
            </c:numRef>
          </c:val>
        </c:ser>
        <c:dLbls>
          <c:numFmt formatCode="0.00" sourceLinked="0"/>
          <c:txPr>
            <a:bodyPr/>
            <a:lstStyle/>
            <a:p>
              <a:pPr>
                <a:defRPr b="0" i="0" strike="noStrike" sz="1200" u="none">
                  <a:solidFill>
                    <a:srgbClr val="ECECEC"/>
                  </a:solidFill>
                  <a:latin typeface="Archivo Condensed"/>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CECEC"/>
                </a:solidFill>
                <a:latin typeface="Figtree"/>
              </a:defRPr>
            </a:pPr>
            <a:endParaRPr lang="en-US"/>
          </a:p>
        </c:txPr>
        <c:crossAx val="2094734552"/>
        <c:crosses val="autoZero"/>
        <c:auto val="1"/>
        <c:lblAlgn val="ctr"/>
        <c:noMultiLvlLbl val="1"/>
      </c:catAx>
      <c:valAx>
        <c:axId val="2094734552"/>
        <c:scaling>
          <c:orientation val="minMax"/>
          <c:max val="5"/>
          <c:min val="1"/>
        </c:scaling>
        <c:delete val="0"/>
        <c:axPos val="l"/>
        <c:majorGridlines>
          <c:spPr>
            <a:ln w="6350" cap="flat">
              <a:solidFill>
                <a:srgbClr val="2E343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9598"/>
                </a:solidFill>
                <a:latin typeface="Figtree"/>
              </a:defRPr>
            </a:pPr>
            <a:endParaRPr lang="en-US"/>
          </a:p>
        </c:txPr>
        <c:crossAx val="2094734554"/>
        <c:crosses val="autoZero"/>
        <c:crossBetween val="between"/>
      </c:valAx>
      <c:spPr>
        <a:solidFill>
          <a:srgbClr val="020304"/>
        </a:solidFill>
        <a:ln>
          <a:noFill/>
        </a:ln>
        <a:effectLst/>
      </c:spPr>
    </c:plotArea>
    <c:legend>
      <c:legendPos val="t"/>
      <c:overlay val="0"/>
      <c:txPr>
        <a:bodyPr/>
        <a:lstStyle/>
        <a:p>
          <a:pPr>
            <a:defRPr sz="1300">
              <a:solidFill>
                <a:srgbClr val="ECECEC"/>
              </a:solidFill>
              <a:latin typeface="Figtree"/>
              <a:cs typeface="Figtree"/>
            </a:defRPr>
          </a:pPr>
          <a:endParaRPr lang="en-US"/>
        </a:p>
      </c:txPr>
    </c:legend>
    <c:plotVisOnly val="1"/>
    <c:dispBlanksAs val="span"/>
  </c:chart>
  <c:spPr>
    <a:solidFill>
      <a:srgbClr val="02030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0:30 a 130 palabras por minuto (61 palabras) · Informe: 1. Portada
Buenos días, profesor y compañeros. Somos Diego Alarcón, Benjamín Torres y Lukas Verdugo, y presentamos el informe final de nuestro trabajo de Control de Gestión: el sistema de control de Lumine Motors, una empresa que todavía no opera. No vamos a mostrar ventas ni ahorros que no existen; vamos a mostrar cómo una estrategia se convierte en objetivos, indicadores y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0:45 a 130 palabras por minuto (97 palabras) · Informe: 3. Introducción
Partamos por el problema. En Chile la gente conserva su auto: este año se han transferido tres coma cinco autos usados por cada auto nuevo inscrito. Y usarlo cuesta más: en marzo, la bencina de noventa y tres en la Región Metropolitana subió unos trescientos setenta pesos por litro, y el Banco Central recortó su proyección de crecimiento. Quien depende de su auto paga cada vez más por usarlo y no puede cambiarlo. Nuestro objetivo fue diseñar el sistema de control que le diga a Lumine cuándo avanzar, cuándo corregir y cuándo detenerse frente a ese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0:35 a 130 palabras por minuto (77 palabras) · Informe: 4. Comprensión del negocio
Lumine instalaría un kit de hibridación aditiva en autos a combustión de tracción delantera. El motor original queda intacto. El kit suma una unidad de control, que decide cuándo asistir y corta ante fallas; un banco de baterías, que guarda la energía del frenado, y un motor eléctrico en el eje trasero. No se enchufa, y el freno, el ABS y el control de estabilidad originales siempre mandan. Hoy es un diseño: falta probarlo, homologarlo y documentarlo.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0:45 a 130 palabras por minuto (94 palabras) · Informe: 4. Comprensión del negocio
¿Qué compra el cliente? Ahorro sin cambiar de auto. La propuesta tiene cuatro partes: ahorrar combustible, un respaldo técnico verificable, seguir usando el mismo vehículo y transparencia sobre compatibilidad y costos. La estimación es de hasta veinte por ciento menos bencina en ciudad, todavía no medida en autos chilenos. En tres entrevistas apareció una pista: el precio decide si se compra y la confianza, si uno se atreve. El negocio tendría un taller propio y, como segunda línea potencial, licencias de calibración con la plataforma Lumine Habilita, cuya demostración pueden abrir con este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0:50 a 130 palabras por minuto (104 palabras) · Informe: 5. Declaraciones estratégicas
La misión es reducir el combustible que un auto a combustión necesita por kilómetro, instalando un sistema de hibridación en el auto que el cliente ya tiene, sin reemplazarlo ni intervenir su motor. La visión es ser hacia 2031 el taller de referencia en hibridación de vehículos en uso en Chile, reconocido por la autoridad, las plantas de revisión técnica y las aseguradoras. En nuestro sistema de control, los valores son reglas: verificabilidad antes que afirmación, por eso un dato sin medir no vale cero; y formalidad como condición de operación, por eso hay compuertas que no se saltan. Benjamín sigue con el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1:10 a 130 palabras por minuto (150 palabras) · Informe: 6.1 a 6.3 Análisis estratégico
Gracias, Diego. El diagnóstico se resume en cuatro números. Primero, el entorno general: la matriz PEST da dos coma ochenta y dos sobre cinco, bajo el neutro de tres; el freno es económico, por el desempleo de nueve coma seis por ciento y un dólar sobre novecientos setenta pesos con un kit importado, y también regulatorio. Segundo, la industria: las cinco fuerzas dan tres coma cuarenta y nueve, una industria poco atractiva, y el rival principal no es otro taller: es que el cliente posponga la inversión. Tercero, hacia adentro: de quince recursos y capacidades, solo dos son potencialmente sostenibles, la biblioteca de calibraciones y la ingeniería de integración, y la biblioteca hoy está vacía. Cuarto, la Ley veintiún mil setecientos noventa y tres no tiene reglamento; con el borrador de dos mil veintiuno estamos entre la vía alternativa y ninguna. Eso no se promedia: es una condición de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0:45 a 130 palabras por minuto (97 palabras) · Informe: 6.4 Síntesis FODA y diagnóstico integrado
El FODA cruza esos hallazgos y deja tres brechas. La primera es la habilitación formal: una vía legal y el reconocimiento de aseguradoras y plantas de revisión técnica. La segunda es demostrar valor frente a posponer la compra: medir el ahorro en autos chilenos y ofrecer una forma de pago que el cliente pueda asumir. La tercera es la capacidad de ejecución: llenar la biblioteca, formar técnicos en alta tensión y proteger el costo del kit frente al dólar. Si cualquiera falla, el negocio no funciona; por eso son el puente entre el diagnóstico y la estrategia.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1:00 a 130 palabras por minuto (131 palabras) · Informe: 7. Formulación de estrategia
Con ese diagnóstico elegimos la diferenciación enfocada. Lumine no puede competir por costo: su kit es importado y su principal rival, posponer la compra, no tiene precio. Por eso compite con evidencia, en el segmento donde el ahorro vale más: los conductores de alto kilometraje. La declaración es un servicio certificado que reduce el combustible del auto que el cliente ya tiene, sostenido por un conocimiento de calibración que un competidor no puede comprar. Elegir es renunciar: no competimos por precio y no ofrecemos inmediatez, porque cada instalación depende de un diagnóstico y de un modelo aprobado. La ventaja que buscamos es la biblioteca de calibraciones; hoy es potencial, y no hay que confundirla con la estrategia, que es el camino para construirla. La estrategia tiene tres ejes, uno por brecha.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0:55 a 130 palabras por minuto (122 palabras) · Informe: 8. Redacción de objetivos estratégicos
Esos tres ejes tenían ocho objetivos, y los ocho llegan al Cuadro de Mando Integral. Habilitación formal queda en la vía legal, la aprobación de cada par modelo-kit y las alianzas con aseguradoras y plantas. Acceso comercial, en la captación del segmento y en el financiamiento, que se gestiona dentro de esas alianzas. Conocimiento y escala, en la biblioteca, la medición del ahorro y la expansión. Agregamos cinco objetivos que la formulación no cubría: la instalación segura, la promesa técnica cumplida, la confianza medida desde el cliente, el margen por servicio y la rentabilidad por sobre el costo de capital. En total son diecisiete, cada uno con un verbo, un resultado verificable, un indicador y un responsable. Lukas muestra cómo se conectan.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0:55 a 130 palabras por minuto (121 palabras) · Informe: 9. Desarrollo del Cuadro de Mando Integral
Gracias, Benjamín. El mapa se lee de abajo hacia arriba: las capacidades habilitan los procesos, los procesos producen la propuesta de valor, y de ahí salen la confianza, la captación y, al final, la rentabilidad por sobre el costo de capital. Las flechas tienen tres formas: continua, una condición habilitante; blanca y gruesa, una condición externa, como la vía legal; y punteada, una hipótesis que habrá que comprobar. Las veinte relaciones forman tres rutas: habilitación, que lleva a la promesa técnica; evidencia, que lleva de la medición a la confianza y la compra; y valor económico, que lleva al margen y a la rentabilidad. Cada indicador tiene ficha y cinco estados posibles: cumple, alerta, no cumple, meta pendiente y sin 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0:55 a 130 palabras por minuto (115 palabras) · Informe: 10.1 y 10.2 Análisis de la información
Con esas reglas analizamos la información disponible, sin datos simulados. Hoy, doce indicadores están sin medir y cinco tienen la meta pendiente; ninguno cumple ni incumple, porque la empresa no opera. Pintarlo de rojo o de verde contradiría nuestro primer valor. El segundo hallazgo: de las veinte relaciones, doce son hipótesis, el sesenta por ciento. La ruta de habilitación es sólida, porque son requisitos técnicos y legales; la de valor económico es completamente hipotética. Por eso, al principio, el CMI de Lumine no mide resultados: comprueba hipótesis. Lo que sí se gestiona desde hoy son cuatro hitos previos a la venta: el protocolo de medición, la vía legal, el primer modelo aprobado y las alianzas.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0:40 a 130 palabras por minuto (91 palabras) · Informe: 10.3 Escenarios regulatorios en el CMI
El tercer hallazgo es la vía legal. Actúa sobre el mapa por dos relaciones externas: condiciona la aprobación de cada modelo y la réplica en otros talleres. Si el reglamento abre una vía amplia, se avanza modelo por modelo. Si es acotada, se ajusta la meta de captación al parque elegible. Si es alternativa, cambia el indicador de la vía legal y se recalendarizan los hitos. Y si no hay vía, se detiene todo lo que depende de ella y no se suben metas comerciales. Hoy estamos entre los dos últimos.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0:45 a 130 palabras por minuto (96 palabras) · Informe: 10.4 Umbral de recuperación
El cuarto hallazgo usa solo cifras existentes: el precio de referencia del kit Plus, cuatro millones novecientos noventa mil pesos; el ahorro estimado de veinte por ciento, y el precio actual de la bencina. Para que el ahorro pague el kit, el auto tendría que consumir unos dieciséis mil doscientos litros. El alza de marzo bajó ese umbral en veinticuatro por ciento. Pero si el ahorro real fuera la mitad, el umbral se duplicaría. Dos conclusiones: el foco en el alto kilometraje está bien puesto, y medir el ahorro es la información más valiosa del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0:45 a 130 palabras por minuto (96 palabras) · Informe: 12. Recomendaciones
De ahí salen cinco recomendaciones. Uno, no comprometer inversión comercial antes de documentar una vía legal. Dos, aprobar el protocolo y medir el primer auto antes de comunicar cualquier ahorro. Tres, elaborar el Plan Financiero con una tasa sustentada, para poder medir la rentabilidad sobre el costo de capital. Cuatro, cerrar convenios con aseguradora, planta de revisión y financiera antes del primer kit. Y cinco, proteger cada calibración como secreto empresarial desde la primera. Mientras la empresa no opere, el tablero se revisa cada mes, centrado en los cuatro hitos previos a la venta. Diego cierra.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0:50 a 130 palabras por minuto (104 palabras) · Informe: 11. Conclusiones
Gracias, Lukas. Cerramos con tres conclusiones. Primero, Lumine responde a una necesidad real con una estrategia coherente con su diagnóstico: diferenciación enfocada en el alto kilometraje. Segundo, en una empresa que todavía no opera, el Cuadro de Mando Integral no sirve para mostrar resultados, sino para ordenar decisiones: qué debe cumplirse antes de vender, qué relaciones son hipótesis y cuándo corresponde detenerse. Tercero, lo que falta demostrar es claro: la vía legal, el ahorro medido en autos chilenos y la rentabilidad por sobre el costo de capital, que hoy no tiene cifra y no vamos a inventar.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No se expone. Cada pregunta tiene un enlace a su respuesta; cada lámina del anexo tiene un enlace de vuelta a este índice.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 · Solo si preguntan.
Ficha de C2, ahorro acreditado, y los cinco estados del tablero.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A2 · Solo si preguntan.
Metas propuestas por el equipo; responsables según la estructura de la Fase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A2 · Solo si preguntan.
P6 reúne las alianzas: aseguradora, planta de revisión técnica y financiera.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A2 · Solo si preguntan.
C3 y C4 sin meta numérica: se fijan con la primera muestra de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A2 · Solo si preguntan.
F2 y F3 sin meta numérica hasta el Plan Financiero.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A3 · Solo si preguntan.
Continua: habilitante. Blanca gruesa: condición externa. Punteada: hipótesis por comprobar.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A3 · Solo si preguntan.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A4 · Solo si preguntan.
VAN y TIR deciden si invertir; el retorno sobre el capital empleado frente a su costo controla la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A5 · Solo si preguntan.
Litros de umbral para ahorros de 5% a 25%, con el precio actual de la bencina. Mismo cálculo que el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A6 · Solo si preguntan.
Los cuatro puntajes PEST de hoy y a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A6 · Solo si preguntan.
Suma de peso por intensidad: 1,50 + 0,75 + 0,66 + 0,40 + 0,18 = 3,49.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A7 · Solo si preguntan.
Quince elementos con cuatro filtros.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A7 · Solo si preguntan.
Seis factores; dos son condiciones de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A8 · Solo si preguntan.
El líder es el máximo de cada área, no un competidor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A9 · Solo si preguntan.
Cada factor con la cifra o el hallazgo que lo sostiene.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A10 · Solo si preguntan.
Los ocho valores, organizacionales y humanos.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A11 · Solo si preguntan.
Fuentes públicas en formato APA y el informe de la Fase 3 para los precios de referencia.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A12 · Solo si preguntan.
Cada afirmación dice qué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ORTAD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4563" cy="201168"/>
          </a:xfrm>
          <a:prstGeom prst="rect">
            <a:avLst/>
          </a:prstGeom>
        </p:spPr>
      </p:pic>
      <p:sp>
        <p:nvSpPr>
          <p:cNvPr id="3" name="Text 0"/>
          <p:cNvSpPr/>
          <p:nvPr>
            <p:ph idx="101" type="title" hasCustomPrompt="1"/>
          </p:nvPr>
        </p:nvSpPr>
        <p:spPr>
          <a:xfrm>
            <a:off x="548640" y="1298448"/>
            <a:ext cx="8778240" cy="1737360"/>
          </a:xfrm>
          <a:prstGeom prst="rect">
            <a:avLst/>
          </a:prstGeom>
          <a:noFill/>
          <a:ln/>
        </p:spPr>
        <p:txBody>
          <a:bodyPr wrap="square" rtlCol="0"/>
          <a:lstStyle>
            <a:lvl1pPr algn="l" indent="0" marL="0">
              <a:lnSpc>
                <a:spcPct val="90000"/>
              </a:lnSpc>
              <a:buNone/>
              <a:defRPr lang="en-US" sz="5400" dirty="0">
                <a:solidFill>
                  <a:schemeClr val="tx1"/>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90000"/>
              </a:lnSpc>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4563" cy="201168"/>
          </a:xfrm>
          <a:prstGeom prst="rect">
            <a:avLst/>
          </a:prstGeom>
        </p:spPr>
      </p:pic>
      <p:sp>
        <p:nvSpPr>
          <p:cNvPr id="3" name="Text 0"/>
          <p:cNvSpPr/>
          <p:nvPr/>
        </p:nvSpPr>
        <p:spPr>
          <a:xfrm>
            <a:off x="5669280" y="365760"/>
            <a:ext cx="5973775" cy="237744"/>
          </a:xfrm>
          <a:prstGeom prst="rect">
            <a:avLst/>
          </a:prstGeom>
          <a:noFill/>
          <a:ln/>
        </p:spPr>
        <p:txBody>
          <a:bodyPr wrap="square" lIns="0" tIns="0" rIns="0" bIns="0" rtlCol="0" anchor="ctr"/>
          <a:lstStyle/>
          <a:p>
            <a:pPr algn="r" indent="0" marL="0">
              <a:buNone/>
            </a:pPr>
            <a:r>
              <a:rPr lang="en-US" sz="1100" spc="150" kern="0" dirty="0">
                <a:solidFill>
                  <a:schemeClr val="tx2"/>
                </a:solidFill>
                <a:latin typeface="IBM Plex Mono" pitchFamily="34" charset="0"/>
                <a:ea typeface="IBM Plex Mono" pitchFamily="34" charset="-122"/>
                <a:cs typeface="IBM Plex Mono" pitchFamily="34" charset="-120"/>
              </a:rPr>
              <a:t>CONTROL DE GESTIÓN · ICMA901 · TIG · ENTREGA FINAL</a:t>
            </a:r>
            <a:endParaRPr lang="en-US" sz="1100" dirty="0"/>
          </a:p>
        </p:txBody>
      </p:sp>
      <p:sp>
        <p:nvSpPr>
          <p:cNvPr id="4" name="Text 1"/>
          <p:cNvSpPr/>
          <p:nvPr>
            <p:ph idx="102" type="body" hasCustomPrompt="1"/>
          </p:nvPr>
        </p:nvSpPr>
        <p:spPr>
          <a:xfrm>
            <a:off x="548640" y="841248"/>
            <a:ext cx="6949440" cy="274320"/>
          </a:xfrm>
          <a:prstGeom prst="rect">
            <a:avLst/>
          </a:prstGeom>
          <a:noFill/>
          <a:ln/>
        </p:spPr>
        <p:txBody>
          <a:bodyPr wrap="square" rtlCol="0"/>
          <a:lstStyle>
            <a:lvl1pPr indent="0" marL="0">
              <a:buNone/>
              <a:defRPr lang="en-US" sz="1200" spc="150" kern="0" dirty="0">
                <a:solidFill>
                  <a:schemeClr val="tx2"/>
                </a:solidFill>
                <a:latin typeface="IBM Plex Mono" pitchFamily="34" charset="0"/>
                <a:ea typeface="IBM Plex Mono" pitchFamily="34" charset="-122"/>
                <a:cs typeface="IBM Plex Mono" pitchFamily="34" charset="-120"/>
              </a:defRPr>
            </a:lvl1pPr>
          </a:lstStyle>
          <a:p>
            <a:pPr indent="0" marL="0">
              <a:buNone/>
            </a:pPr>
            <a:endParaRPr lang="en-US" sz="1200" dirty="0"/>
          </a:p>
        </p:txBody>
      </p:sp>
      <p:sp>
        <p:nvSpPr>
          <p:cNvPr id="5" name="Text 1"/>
          <p:cNvSpPr/>
          <p:nvPr>
            <p:ph idx="103" type="title" hasCustomPrompt="1"/>
          </p:nvPr>
        </p:nvSpPr>
        <p:spPr>
          <a:xfrm>
            <a:off x="548640" y="1243584"/>
            <a:ext cx="11094415" cy="1097280"/>
          </a:xfrm>
          <a:prstGeom prst="rect">
            <a:avLst/>
          </a:prstGeom>
          <a:noFill/>
          <a:ln/>
        </p:spPr>
        <p:txBody>
          <a:bodyPr wrap="square" rtlCol="0"/>
          <a:lstStyle>
            <a:lvl1pPr algn="l" indent="0" marL="0">
              <a:lnSpc>
                <a:spcPct val="86000"/>
              </a:lnSpc>
              <a:buNone/>
              <a:defRPr lang="en-US" sz="3400" dirty="0">
                <a:solidFill>
                  <a:schemeClr val="tx1"/>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86000"/>
              </a:lnSpc>
              <a:buNone/>
            </a:pPr>
            <a:endParaRPr lang="en-US" sz="34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8.xml"/><Relationship Id="rId5" Type="http://schemas.openxmlformats.org/officeDocument/2006/relationships/slide" Target="slide22.xml"/><Relationship Id="rId6" Type="http://schemas.openxmlformats.org/officeDocument/2006/relationships/slide" Target="slide22.xml"/><Relationship Id="rId7" Type="http://schemas.openxmlformats.org/officeDocument/2006/relationships/slide" Target="slide24.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25.xml"/><Relationship Id="rId11" Type="http://schemas.openxmlformats.org/officeDocument/2006/relationships/slide" Target="slide26.xml"/><Relationship Id="rId12" Type="http://schemas.openxmlformats.org/officeDocument/2006/relationships/slide" Target="slide26.xml"/><Relationship Id="rId13" Type="http://schemas.openxmlformats.org/officeDocument/2006/relationships/slide" Target="slide28.xml"/><Relationship Id="rId14" Type="http://schemas.openxmlformats.org/officeDocument/2006/relationships/slide" Target="slide28.xml"/><Relationship Id="rId15" Type="http://schemas.openxmlformats.org/officeDocument/2006/relationships/slide" Target="slide30.xml"/><Relationship Id="rId16" Type="http://schemas.openxmlformats.org/officeDocument/2006/relationships/slide" Target="slide30.xml"/><Relationship Id="rId17" Type="http://schemas.openxmlformats.org/officeDocument/2006/relationships/slide" Target="slide31.xml"/><Relationship Id="rId18" Type="http://schemas.openxmlformats.org/officeDocument/2006/relationships/slide" Target="slide31.xml"/><Relationship Id="rId19" Type="http://schemas.openxmlformats.org/officeDocument/2006/relationships/slide" Target="slide32.xml"/><Relationship Id="rId20" Type="http://schemas.openxmlformats.org/officeDocument/2006/relationships/slide" Target="slide32.xml"/><Relationship Id="rId21" Type="http://schemas.openxmlformats.org/officeDocument/2006/relationships/slide" Target="slide33.xml"/><Relationship Id="rId22" Type="http://schemas.openxmlformats.org/officeDocument/2006/relationships/slide" Target="slide33.xml"/><Relationship Id="rId23" Type="http://schemas.openxmlformats.org/officeDocument/2006/relationships/slide" Target="slide34.xml"/><Relationship Id="rId24" Type="http://schemas.openxmlformats.org/officeDocument/2006/relationships/slide" Target="slide34.xml"/><Relationship Id="rId25" Type="http://schemas.openxmlformats.org/officeDocument/2006/relationships/slideLayout" Target="../slideLayouts/slideLayout3.xml"/><Relationship Id="rId2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chart" Target="/ppt/charts/chart1.xml"/><Relationship Id="rId3" Type="http://schemas.openxmlformats.org/officeDocument/2006/relationships/slideLayout" Target="../slideLayouts/slideLayout3.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583680" y="365760"/>
            <a:ext cx="5059375" cy="237744"/>
          </a:xfrm>
          <a:prstGeom prst="rect">
            <a:avLst/>
          </a:prstGeom>
          <a:noFill/>
          <a:ln/>
        </p:spPr>
        <p:txBody>
          <a:bodyPr wrap="square" lIns="0" tIns="0" rIns="0" bIns="0" rtlCol="0" anchor="ctr"/>
          <a:lstStyle/>
          <a:p>
            <a:pPr algn="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UNAB · OCTUBRE 2026</a:t>
            </a:r>
            <a:endParaRPr lang="es-CL" sz="1200" dirty="0"/>
          </a:p>
        </p:txBody>
      </p:sp>
      <p:sp>
        <p:nvSpPr>
          <p:cNvPr id="3" name="Text 1"/>
          <p:cNvSpPr txBox="1"/>
          <p:nvPr/>
        </p:nvSpPr>
        <p:spPr>
          <a:xfrm>
            <a:off x="548640" y="914400"/>
            <a:ext cx="11094415" cy="292608"/>
          </a:xfrm>
          <a:prstGeom prst="rect">
            <a:avLst/>
          </a:prstGeom>
          <a:noFill/>
          <a:ln/>
        </p:spPr>
        <p:txBody>
          <a:bodyPr wrap="square" lIns="0" tIns="0" rIns="0" bIns="0" rtlCol="0" anchor="ctr"/>
          <a:lstStyle/>
          <a:p>
            <a:pPr indent="0" marL="0">
              <a:buNone/>
            </a:pPr>
            <a:r>
              <a:rPr lang="es-CL" altLang="en-US" sz="1400" spc="100" kern="0" dirty="0">
                <a:solidFill>
                  <a:schemeClr val="accent1"/>
                </a:solidFill>
                <a:latin typeface="IBM Plex Mono" pitchFamily="34" charset="0"/>
                <a:ea typeface="IBM Plex Mono" pitchFamily="34" charset="-122"/>
                <a:cs typeface="IBM Plex Mono" pitchFamily="34" charset="-120"/>
              </a:rPr>
              <a:t>TIG · INFORME FINAL</a:t>
            </a:r>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  ·  CONTROL DE GESTIÓN</a:t>
            </a:r>
            <a:endParaRPr lang="es-CL" sz="1400" dirty="0"/>
          </a:p>
        </p:txBody>
      </p:sp>
      <p:sp>
        <p:nvSpPr>
          <p:cNvPr id="4" name="Text 0"/>
          <p:cNvSpPr/>
          <p:nvPr>
            <p:ph idx="101" type="title" hasCustomPrompt="1"/>
          </p:nvPr>
        </p:nvSpPr>
        <p:spPr>
          <a:xfrm>
            <a:off x="548640" y="1298448"/>
            <a:ext cx="8778240" cy="1737360"/>
          </a:xfrm>
          <a:prstGeom prst="rect">
            <a:avLst/>
          </a:prstGeom>
          <a:noFill/>
          <a:ln/>
        </p:spPr>
        <p:txBody>
          <a:bodyPr wrap="square" lIns="0" tIns="0" rIns="0" bIns="0" rtlCol="0" anchor="t"/>
          <a:lstStyle/>
          <a:p>
            <a:pPr algn="l" indent="0" marL="0">
              <a:lnSpc>
                <a:spcPct val="90000"/>
              </a:lnSpc>
              <a:buNone/>
            </a:pPr>
            <a:r>
              <a:rPr lang="en-US" sz="5000" dirty="0">
                <a:solidFill>
                  <a:schemeClr val="tx1"/>
                </a:solidFill>
                <a:latin typeface="Archivo SemiExpanded ExtraBold" pitchFamily="34" charset="0"/>
                <a:ea typeface="Archivo SemiExpanded ExtraBold" pitchFamily="34" charset="-122"/>
                <a:cs typeface="Archivo SemiExpanded ExtraBold" pitchFamily="34" charset="-120"/>
              </a:rPr>
              <a:t>LUMINE MOTORS</a:t>
            </a:r>
            <a:endParaRPr lang="en-US" sz="5400" dirty="0"/>
          </a:p>
          <a:p>
            <a:pPr algn="l" indent="0" marL="0">
              <a:lnSpc>
                <a:spcPct val="90000"/>
              </a:lnSpc>
              <a:buNone/>
            </a:pPr>
            <a:r>
              <a:rPr lang="en-US" sz="3800" i="1" dirty="0">
                <a:solidFill>
                  <a:schemeClr val="accent1"/>
                </a:solidFill>
                <a:latin typeface="Instrument Serif" pitchFamily="34" charset="0"/>
                <a:ea typeface="Instrument Serif" pitchFamily="34" charset="-122"/>
                <a:cs typeface="Instrument Serif" pitchFamily="34" charset="-120"/>
              </a:rPr>
              <a:t>del diagnóstico al Cuadro de Mando Integral</a:t>
            </a:r>
            <a:endParaRPr lang="en-US" sz="5400" dirty="0"/>
          </a:p>
        </p:txBody>
      </p:sp>
      <p:sp>
        <p:nvSpPr>
          <p:cNvPr id="5" name="Shape 3"/>
          <p:cNvSpPr/>
          <p:nvPr/>
        </p:nvSpPr>
        <p:spPr>
          <a:xfrm>
            <a:off x="548640" y="2788920"/>
            <a:ext cx="54864" cy="786384"/>
          </a:xfrm>
          <a:prstGeom prst="line">
            <a:avLst/>
          </a:prstGeom>
          <a:noFill/>
          <a:ln w="38100">
            <a:solidFill>
              <a:schemeClr val="accent1"/>
            </a:solidFill>
            <a:prstDash val="solid"/>
          </a:ln>
        </p:spPr>
      </p:sp>
      <p:sp>
        <p:nvSpPr>
          <p:cNvPr id="6" name="Text 4"/>
          <p:cNvSpPr txBox="1"/>
          <p:nvPr/>
        </p:nvSpPr>
        <p:spPr>
          <a:xfrm>
            <a:off x="822960" y="2770632"/>
            <a:ext cx="4937760" cy="822960"/>
          </a:xfrm>
          <a:prstGeom prst="rect">
            <a:avLst/>
          </a:prstGeom>
          <a:noFill/>
          <a:ln/>
        </p:spPr>
        <p:txBody>
          <a:bodyPr wrap="square" lIns="0" tIns="0" rIns="0" bIns="0" rtlCol="0" anchor="ctr"/>
          <a:lstStyle/>
          <a:p>
            <a:pPr indent="0" marL="0">
              <a:lnSpc>
                <a:spcPct val="105000"/>
              </a:lnSpc>
              <a:buNone/>
            </a:pPr>
            <a:r>
              <a:rPr lang="es-CL" altLang="en-US" sz="2100" b="1" dirty="0">
                <a:solidFill>
                  <a:schemeClr val="tx1"/>
                </a:solidFill>
                <a:latin typeface="Figtree" pitchFamily="34" charset="0"/>
                <a:ea typeface="Figtree" pitchFamily="34" charset="-122"/>
                <a:cs typeface="Figtree" pitchFamily="34" charset="-120"/>
              </a:rPr>
              <a:t>Lumine es preoperativa: </a:t>
            </a:r>
            <a:pPr indent="0" marL="0">
              <a:lnSpc>
                <a:spcPct val="105000"/>
              </a:lnSpc>
              <a:buNone/>
            </a:pPr>
            <a:r>
              <a:rPr lang="es-CL" altLang="en-US" sz="2100" dirty="0">
                <a:solidFill>
                  <a:schemeClr val="tx2"/>
                </a:solidFill>
                <a:latin typeface="Figtree" pitchFamily="34" charset="0"/>
                <a:ea typeface="Figtree" pitchFamily="34" charset="-122"/>
                <a:cs typeface="Figtree" pitchFamily="34" charset="-120"/>
              </a:rPr>
              <a:t>el CMI ordena decisiones antes de tener resultados.</a:t>
            </a:r>
            <a:endParaRPr lang="es-CL" sz="2100" dirty="0"/>
          </a:p>
        </p:txBody>
      </p:sp>
      <p:sp>
        <p:nvSpPr>
          <p:cNvPr id="7" name="Shape 5"/>
          <p:cNvSpPr/>
          <p:nvPr/>
        </p:nvSpPr>
        <p:spPr>
          <a:xfrm>
            <a:off x="548640" y="4846320"/>
            <a:ext cx="1097280" cy="0"/>
          </a:xfrm>
          <a:prstGeom prst="line">
            <a:avLst/>
          </a:prstGeom>
          <a:noFill/>
          <a:ln w="15875">
            <a:solidFill>
              <a:schemeClr val="accent1"/>
            </a:solidFill>
            <a:prstDash val="solid"/>
          </a:ln>
        </p:spPr>
      </p:sp>
      <p:sp>
        <p:nvSpPr>
          <p:cNvPr id="8" name="Text 6"/>
          <p:cNvSpPr txBox="1"/>
          <p:nvPr/>
        </p:nvSpPr>
        <p:spPr>
          <a:xfrm>
            <a:off x="548640" y="4992624"/>
            <a:ext cx="3429000" cy="1280160"/>
          </a:xfrm>
          <a:prstGeom prst="rect">
            <a:avLst/>
          </a:prstGeom>
          <a:noFill/>
          <a:ln/>
        </p:spPr>
        <p:txBody>
          <a:bodyPr wrap="square" lIns="0" tIns="0" rIns="0" bIns="0" rtlCol="0" anchor="t"/>
          <a:lstStyle/>
          <a:p>
            <a:pPr indent="0" marL="0">
              <a:lnSpc>
                <a:spcPct val="115000"/>
              </a:lnSpc>
              <a:buNone/>
            </a:pPr>
            <a:r>
              <a:rPr lang="es-CL" altLang="en-US" sz="1200" b="1" dirty="0">
                <a:solidFill>
                  <a:schemeClr val="tx1"/>
                </a:solidFill>
                <a:latin typeface="Figtree" pitchFamily="34" charset="0"/>
                <a:ea typeface="Figtree" pitchFamily="34" charset="-122"/>
                <a:cs typeface="Figtree" pitchFamily="34" charset="-120"/>
              </a:rPr>
              <a:t>Control de Gestión · ICMA901</a:t>
            </a:r>
            <a:endParaRPr lang="es-CL" sz="1200" dirty="0"/>
          </a:p>
          <a:p>
            <a:pPr indent="0" marL="0">
              <a:lnSpc>
                <a:spcPct val="115000"/>
              </a:lnSpc>
              <a:buNone/>
            </a:pPr>
            <a:r>
              <a:rPr lang="es-CL" altLang="en-US" sz="1200" dirty="0">
                <a:solidFill>
                  <a:schemeClr val="tx2"/>
                </a:solidFill>
                <a:latin typeface="Figtree" pitchFamily="34" charset="0"/>
                <a:ea typeface="Figtree" pitchFamily="34" charset="-122"/>
                <a:cs typeface="Figtree" pitchFamily="34" charset="-120"/>
              </a:rPr>
              <a:t>Sección 500 · NRC 4118 · UNAB</a:t>
            </a:r>
            <a:endParaRPr lang="es-CL" sz="1200" dirty="0"/>
          </a:p>
          <a:p>
            <a:pPr indent="0" marL="0">
              <a:lnSpc>
                <a:spcPct val="115000"/>
              </a:lnSpc>
              <a:buNone/>
            </a:pPr>
            <a:r>
              <a:rPr lang="es-CL" altLang="en-US" sz="1200" dirty="0">
                <a:solidFill>
                  <a:schemeClr val="tx2"/>
                </a:solidFill>
                <a:latin typeface="Figtree" pitchFamily="34" charset="0"/>
                <a:ea typeface="Figtree" pitchFamily="34" charset="-122"/>
                <a:cs typeface="Figtree" pitchFamily="34" charset="-120"/>
              </a:rPr>
              <a:t>Profesor: Leonardo Lizana Contreras</a:t>
            </a:r>
            <a:endParaRPr lang="es-CL" sz="1200" dirty="0"/>
          </a:p>
          <a:p>
            <a:pPr indent="0" marL="0">
              <a:lnSpc>
                <a:spcPct val="115000"/>
              </a:lnSpc>
              <a:buNone/>
            </a:pPr>
            <a:r>
              <a:rPr lang="es-CL" altLang="en-US" sz="1200" dirty="0">
                <a:solidFill>
                  <a:schemeClr val="tx2"/>
                </a:solidFill>
                <a:latin typeface="Figtree" pitchFamily="34" charset="0"/>
                <a:ea typeface="Figtree" pitchFamily="34" charset="-122"/>
                <a:cs typeface="Figtree" pitchFamily="34" charset="-120"/>
              </a:rPr>
              <a:t>Diego Alarcón · Benjamín Torres · Lukas Verdugo</a:t>
            </a:r>
            <a:endParaRPr lang="es-CL" sz="1200" dirty="0"/>
          </a:p>
        </p:txBody>
      </p:sp>
      <p:sp>
        <p:nvSpPr>
          <p:cNvPr id="9" name="Shape 7"/>
          <p:cNvSpPr/>
          <p:nvPr/>
        </p:nvSpPr>
        <p:spPr>
          <a:xfrm>
            <a:off x="5010912" y="6163056"/>
            <a:ext cx="4297680" cy="0"/>
          </a:xfrm>
          <a:prstGeom prst="line">
            <a:avLst/>
          </a:prstGeom>
          <a:noFill/>
          <a:ln w="9525">
            <a:solidFill>
              <a:schemeClr val="tx2"/>
            </a:solidFill>
            <a:prstDash val="solid"/>
          </a:ln>
        </p:spPr>
      </p:sp>
      <p:sp>
        <p:nvSpPr>
          <p:cNvPr id="10" name="Shape 8"/>
          <p:cNvSpPr/>
          <p:nvPr/>
        </p:nvSpPr>
        <p:spPr>
          <a:xfrm>
            <a:off x="5010912" y="4608576"/>
            <a:ext cx="0" cy="1554480"/>
          </a:xfrm>
          <a:prstGeom prst="line">
            <a:avLst/>
          </a:prstGeom>
          <a:noFill/>
          <a:ln w="9525">
            <a:solidFill>
              <a:schemeClr val="tx2"/>
            </a:solidFill>
            <a:prstDash val="sysDot"/>
          </a:ln>
        </p:spPr>
      </p:sp>
      <p:sp>
        <p:nvSpPr>
          <p:cNvPr id="11" name="Shape 9"/>
          <p:cNvSpPr/>
          <p:nvPr/>
        </p:nvSpPr>
        <p:spPr>
          <a:xfrm>
            <a:off x="4956048" y="4489704"/>
            <a:ext cx="109728" cy="109728"/>
          </a:xfrm>
          <a:prstGeom prst="ellipse">
            <a:avLst/>
          </a:prstGeom>
          <a:solidFill>
            <a:schemeClr val="accent1"/>
          </a:solidFill>
          <a:ln w="9525">
            <a:solidFill>
              <a:schemeClr val="tx1"/>
            </a:solidFill>
            <a:prstDash val="solid"/>
          </a:ln>
        </p:spPr>
      </p:sp>
      <p:sp>
        <p:nvSpPr>
          <p:cNvPr id="12" name="Shape 10"/>
          <p:cNvSpPr/>
          <p:nvPr/>
        </p:nvSpPr>
        <p:spPr>
          <a:xfrm>
            <a:off x="4978908" y="6131052"/>
            <a:ext cx="64008" cy="64008"/>
          </a:xfrm>
          <a:prstGeom prst="rect">
            <a:avLst/>
          </a:prstGeom>
          <a:solidFill>
            <a:schemeClr val="tx1"/>
          </a:solidFill>
          <a:ln/>
        </p:spPr>
      </p:sp>
      <p:sp>
        <p:nvSpPr>
          <p:cNvPr id="13" name="Text 11"/>
          <p:cNvSpPr txBox="1"/>
          <p:nvPr/>
        </p:nvSpPr>
        <p:spPr>
          <a:xfrm>
            <a:off x="4005072" y="6254496"/>
            <a:ext cx="2011680" cy="45720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MOTOR ORIGINAL</a:t>
            </a:r>
            <a:endParaRPr lang="es-CL" sz="1200" dirty="0"/>
          </a:p>
          <a:p>
            <a:pPr algn="ctr" indent="0" marL="0">
              <a:buNone/>
            </a:pPr>
            <a:r>
              <a:rPr lang="es-CL" altLang="en-US" sz="1200" dirty="0">
                <a:solidFill>
                  <a:schemeClr val="tx2"/>
                </a:solidFill>
                <a:latin typeface="Figtree" pitchFamily="34" charset="0"/>
                <a:ea typeface="Figtree" pitchFamily="34" charset="-122"/>
                <a:cs typeface="Figtree" pitchFamily="34" charset="-120"/>
              </a:rPr>
              <a:t>intacto</a:t>
            </a:r>
            <a:endParaRPr lang="es-CL" sz="1200" dirty="0"/>
          </a:p>
        </p:txBody>
      </p:sp>
      <p:sp>
        <p:nvSpPr>
          <p:cNvPr id="14" name="Shape 12"/>
          <p:cNvSpPr/>
          <p:nvPr/>
        </p:nvSpPr>
        <p:spPr>
          <a:xfrm>
            <a:off x="6931152" y="5166360"/>
            <a:ext cx="0" cy="996696"/>
          </a:xfrm>
          <a:prstGeom prst="line">
            <a:avLst/>
          </a:prstGeom>
          <a:noFill/>
          <a:ln w="9525">
            <a:solidFill>
              <a:schemeClr val="tx2"/>
            </a:solidFill>
            <a:prstDash val="sysDot"/>
          </a:ln>
        </p:spPr>
      </p:sp>
      <p:sp>
        <p:nvSpPr>
          <p:cNvPr id="15" name="Shape 13"/>
          <p:cNvSpPr/>
          <p:nvPr/>
        </p:nvSpPr>
        <p:spPr>
          <a:xfrm>
            <a:off x="6876288" y="5047488"/>
            <a:ext cx="109728" cy="109728"/>
          </a:xfrm>
          <a:prstGeom prst="ellipse">
            <a:avLst/>
          </a:prstGeom>
          <a:solidFill>
            <a:schemeClr val="accent1"/>
          </a:solidFill>
          <a:ln w="9525">
            <a:solidFill>
              <a:schemeClr val="tx1"/>
            </a:solidFill>
            <a:prstDash val="solid"/>
          </a:ln>
        </p:spPr>
      </p:sp>
      <p:sp>
        <p:nvSpPr>
          <p:cNvPr id="16" name="Shape 14"/>
          <p:cNvSpPr/>
          <p:nvPr/>
        </p:nvSpPr>
        <p:spPr>
          <a:xfrm>
            <a:off x="6899148" y="6131052"/>
            <a:ext cx="64008" cy="64008"/>
          </a:xfrm>
          <a:prstGeom prst="rect">
            <a:avLst/>
          </a:prstGeom>
          <a:solidFill>
            <a:schemeClr val="tx1"/>
          </a:solidFill>
          <a:ln/>
        </p:spPr>
      </p:sp>
      <p:sp>
        <p:nvSpPr>
          <p:cNvPr id="17" name="Text 15"/>
          <p:cNvSpPr txBox="1"/>
          <p:nvPr/>
        </p:nvSpPr>
        <p:spPr>
          <a:xfrm>
            <a:off x="5925312" y="6254496"/>
            <a:ext cx="2011680" cy="45720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BATERÍA</a:t>
            </a:r>
            <a:endParaRPr lang="es-CL" sz="1200" dirty="0"/>
          </a:p>
          <a:p>
            <a:pPr algn="ctr" indent="0" marL="0">
              <a:buNone/>
            </a:pPr>
            <a:r>
              <a:rPr lang="es-CL" altLang="en-US" sz="1200" dirty="0">
                <a:solidFill>
                  <a:schemeClr val="tx2"/>
                </a:solidFill>
                <a:latin typeface="Figtree" pitchFamily="34" charset="0"/>
                <a:ea typeface="Figtree" pitchFamily="34" charset="-122"/>
                <a:cs typeface="Figtree" pitchFamily="34" charset="-120"/>
              </a:rPr>
              <a:t>bajo el piso</a:t>
            </a:r>
            <a:endParaRPr lang="es-CL" sz="1200" dirty="0"/>
          </a:p>
        </p:txBody>
      </p:sp>
      <p:sp>
        <p:nvSpPr>
          <p:cNvPr id="18" name="Shape 16"/>
          <p:cNvSpPr/>
          <p:nvPr/>
        </p:nvSpPr>
        <p:spPr>
          <a:xfrm>
            <a:off x="9308592" y="5102352"/>
            <a:ext cx="0" cy="1060704"/>
          </a:xfrm>
          <a:prstGeom prst="line">
            <a:avLst/>
          </a:prstGeom>
          <a:noFill/>
          <a:ln w="9525">
            <a:solidFill>
              <a:schemeClr val="tx2"/>
            </a:solidFill>
            <a:prstDash val="sysDot"/>
          </a:ln>
        </p:spPr>
      </p:sp>
      <p:sp>
        <p:nvSpPr>
          <p:cNvPr id="19" name="Shape 17"/>
          <p:cNvSpPr/>
          <p:nvPr/>
        </p:nvSpPr>
        <p:spPr>
          <a:xfrm>
            <a:off x="9253728" y="4983480"/>
            <a:ext cx="109728" cy="109728"/>
          </a:xfrm>
          <a:prstGeom prst="ellipse">
            <a:avLst/>
          </a:prstGeom>
          <a:solidFill>
            <a:schemeClr val="accent1"/>
          </a:solidFill>
          <a:ln w="9525">
            <a:solidFill>
              <a:schemeClr val="tx1"/>
            </a:solidFill>
            <a:prstDash val="solid"/>
          </a:ln>
        </p:spPr>
      </p:sp>
      <p:sp>
        <p:nvSpPr>
          <p:cNvPr id="20" name="Shape 18"/>
          <p:cNvSpPr/>
          <p:nvPr/>
        </p:nvSpPr>
        <p:spPr>
          <a:xfrm>
            <a:off x="9276588" y="6131052"/>
            <a:ext cx="64008" cy="64008"/>
          </a:xfrm>
          <a:prstGeom prst="rect">
            <a:avLst/>
          </a:prstGeom>
          <a:solidFill>
            <a:schemeClr val="tx1"/>
          </a:solidFill>
          <a:ln/>
        </p:spPr>
      </p:sp>
      <p:sp>
        <p:nvSpPr>
          <p:cNvPr id="21" name="Text 19"/>
          <p:cNvSpPr txBox="1"/>
          <p:nvPr/>
        </p:nvSpPr>
        <p:spPr>
          <a:xfrm>
            <a:off x="8302752" y="6254496"/>
            <a:ext cx="2011680" cy="45720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TRACCIÓN ELÉCTRICA</a:t>
            </a:r>
            <a:endParaRPr lang="es-CL" sz="1200" dirty="0"/>
          </a:p>
          <a:p>
            <a:pPr algn="ctr" indent="0" marL="0">
              <a:buNone/>
            </a:pPr>
            <a:r>
              <a:rPr lang="es-CL" altLang="en-US" sz="1200" dirty="0">
                <a:solidFill>
                  <a:schemeClr val="tx2"/>
                </a:solidFill>
                <a:latin typeface="Figtree" pitchFamily="34" charset="0"/>
                <a:ea typeface="Figtree" pitchFamily="34" charset="-122"/>
                <a:cs typeface="Figtree" pitchFamily="34" charset="-120"/>
              </a:rPr>
              <a:t>eje trasero</a:t>
            </a:r>
            <a:endParaRPr lang="es-CL" sz="1200" dirty="0"/>
          </a:p>
        </p:txBody>
      </p:sp>
      <p:sp>
        <p:nvSpPr>
          <p:cNvPr id="22" name="Text 20"/>
          <p:cNvSpPr txBox="1"/>
          <p:nvPr/>
        </p:nvSpPr>
        <p:spPr>
          <a:xfrm>
            <a:off x="8899855" y="640080"/>
            <a:ext cx="2743200" cy="237744"/>
          </a:xfrm>
          <a:prstGeom prst="rect">
            <a:avLst/>
          </a:prstGeom>
          <a:noFill/>
          <a:ln/>
        </p:spPr>
        <p:txBody>
          <a:bodyPr wrap="square" lIns="0" tIns="0" rIns="0" bIns="0" rtlCol="0" anchor="t"/>
          <a:lstStyle/>
          <a:p>
            <a:pPr algn="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ILUSTRACIÓN DEL KIT</a:t>
            </a:r>
            <a:endParaRPr lang="es-CL"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3 · INTRODUCCIÓN · CONTEXTO Y PROBLEMA</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PARQUE SE CONSERVA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y usarlo cuesta cada vez más.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CAVEM (2026), mercado automotor enero-agosto; CNE, Bencina en Línea, citado por Emol (24-03-2026); Banco Central de Chile (2026), IPoM de septiembre.</a:t>
            </a:r>
            <a:endParaRPr lang="es-CL" sz="1100" dirty="0"/>
          </a:p>
        </p:txBody>
      </p:sp>
      <p:sp>
        <p:nvSpPr>
          <p:cNvPr id="5" name="Shape 3"/>
          <p:cNvSpPr/>
          <p:nvPr/>
        </p:nvSpPr>
        <p:spPr>
          <a:xfrm>
            <a:off x="548640" y="2395728"/>
            <a:ext cx="3484778" cy="2487168"/>
          </a:xfrm>
          <a:prstGeom prst="rect">
            <a:avLst/>
          </a:prstGeom>
          <a:solidFill>
            <a:schemeClr val="bg2"/>
          </a:solidFill>
          <a:ln w="9525">
            <a:solidFill>
              <a:schemeClr val="tx2"/>
            </a:solidFill>
            <a:prstDash val="solid"/>
          </a:ln>
        </p:spPr>
      </p:sp>
      <p:sp>
        <p:nvSpPr>
          <p:cNvPr id="6" name="Text 4"/>
          <p:cNvSpPr txBox="1"/>
          <p:nvPr/>
        </p:nvSpPr>
        <p:spPr>
          <a:xfrm>
            <a:off x="777240" y="2578608"/>
            <a:ext cx="302757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SE CONSERVA EL AUTO</a:t>
            </a:r>
            <a:endParaRPr lang="es-CL" sz="1300" dirty="0"/>
          </a:p>
        </p:txBody>
      </p:sp>
      <p:sp>
        <p:nvSpPr>
          <p:cNvPr id="7" name="Text 5"/>
          <p:cNvSpPr txBox="1"/>
          <p:nvPr/>
        </p:nvSpPr>
        <p:spPr>
          <a:xfrm>
            <a:off x="777240" y="2852928"/>
            <a:ext cx="3027578" cy="777240"/>
          </a:xfrm>
          <a:prstGeom prst="rect">
            <a:avLst/>
          </a:prstGeom>
          <a:noFill/>
          <a:ln/>
        </p:spPr>
        <p:txBody>
          <a:bodyPr wrap="square" lIns="0" tIns="0" rIns="0" bIns="0" rtlCol="0" anchor="ctr"/>
          <a:lstStyle/>
          <a:p>
            <a:pPr indent="0" marL="0">
              <a:buNone/>
            </a:pPr>
            <a:r>
              <a:rPr lang="es-CL" altLang="en-US" sz="5400" b="1" dirty="0">
                <a:solidFill>
                  <a:schemeClr val="tx1"/>
                </a:solidFill>
                <a:latin typeface="Archivo Condensed" pitchFamily="34" charset="0"/>
                <a:ea typeface="Archivo Condensed" pitchFamily="34" charset="-122"/>
                <a:cs typeface="Archivo Condensed" pitchFamily="34" charset="-120"/>
              </a:rPr>
              <a:t>3,5</a:t>
            </a:r>
            <a:endParaRPr lang="es-CL" sz="5400" dirty="0"/>
          </a:p>
        </p:txBody>
      </p:sp>
      <p:sp>
        <p:nvSpPr>
          <p:cNvPr id="8" name="Text 6"/>
          <p:cNvSpPr txBox="1"/>
          <p:nvPr/>
        </p:nvSpPr>
        <p:spPr>
          <a:xfrm>
            <a:off x="777240" y="3630168"/>
            <a:ext cx="3027578" cy="7772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autos usados transferidos por cada auto nuevo inscrito</a:t>
            </a:r>
            <a:endParaRPr lang="es-CL" sz="1600" dirty="0"/>
          </a:p>
        </p:txBody>
      </p:sp>
      <p:sp>
        <p:nvSpPr>
          <p:cNvPr id="9" name="Text 7"/>
          <p:cNvSpPr txBox="1"/>
          <p:nvPr/>
        </p:nvSpPr>
        <p:spPr>
          <a:xfrm>
            <a:off x="777240" y="4498848"/>
            <a:ext cx="3027578" cy="310896"/>
          </a:xfrm>
          <a:prstGeom prst="rect">
            <a:avLst/>
          </a:prstGeom>
          <a:noFill/>
          <a:ln/>
        </p:spPr>
        <p:txBody>
          <a:bodyPr wrap="square" lIns="0" tIns="0" rIns="0" bIns="0" rtlCol="0" anchor="b"/>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Enero a agosto de 2026 · CAVEM</a:t>
            </a:r>
            <a:endParaRPr lang="es-CL" sz="1100" dirty="0"/>
          </a:p>
        </p:txBody>
      </p:sp>
      <p:pic>
        <p:nvPicPr>
          <p:cNvPr id="10" name="Image 0" descr="C:\Users\Usuario\Documents\GitHub\lumine\tig-final\generador\assets\brillo.png">    </p:cNvPr>
          <p:cNvPicPr>
            <a:picLocks noChangeAspect="1"/>
          </p:cNvPicPr>
          <p:nvPr/>
        </p:nvPicPr>
        <p:blipFill>
          <a:blip r:embed="rId1"/>
          <a:stretch>
            <a:fillRect/>
          </a:stretch>
        </p:blipFill>
        <p:spPr>
          <a:xfrm>
            <a:off x="3896258" y="2075688"/>
            <a:ext cx="4399178" cy="3127248"/>
          </a:xfrm>
          <a:prstGeom prst="rect">
            <a:avLst/>
          </a:prstGeom>
        </p:spPr>
      </p:pic>
      <p:sp>
        <p:nvSpPr>
          <p:cNvPr id="11" name="Shape 8"/>
          <p:cNvSpPr/>
          <p:nvPr/>
        </p:nvSpPr>
        <p:spPr>
          <a:xfrm>
            <a:off x="4353458" y="2395728"/>
            <a:ext cx="3484778" cy="2487168"/>
          </a:xfrm>
          <a:prstGeom prst="rect">
            <a:avLst/>
          </a:prstGeom>
          <a:solidFill>
            <a:srgbClr val="0B1A22"/>
          </a:solidFill>
          <a:ln w="15875">
            <a:solidFill>
              <a:schemeClr val="accent1"/>
            </a:solidFill>
            <a:prstDash val="solid"/>
          </a:ln>
        </p:spPr>
      </p:sp>
      <p:sp>
        <p:nvSpPr>
          <p:cNvPr id="12" name="Shape 9"/>
          <p:cNvSpPr/>
          <p:nvPr/>
        </p:nvSpPr>
        <p:spPr>
          <a:xfrm>
            <a:off x="4298594" y="2340864"/>
            <a:ext cx="155448" cy="0"/>
          </a:xfrm>
          <a:prstGeom prst="line">
            <a:avLst/>
          </a:prstGeom>
          <a:noFill/>
          <a:ln w="15875">
            <a:solidFill>
              <a:schemeClr val="accent1"/>
            </a:solidFill>
            <a:prstDash val="solid"/>
          </a:ln>
        </p:spPr>
      </p:sp>
      <p:sp>
        <p:nvSpPr>
          <p:cNvPr id="13" name="Shape 10"/>
          <p:cNvSpPr/>
          <p:nvPr/>
        </p:nvSpPr>
        <p:spPr>
          <a:xfrm>
            <a:off x="4298594" y="2340864"/>
            <a:ext cx="0" cy="155448"/>
          </a:xfrm>
          <a:prstGeom prst="line">
            <a:avLst/>
          </a:prstGeom>
          <a:noFill/>
          <a:ln w="15875">
            <a:solidFill>
              <a:schemeClr val="accent1"/>
            </a:solidFill>
            <a:prstDash val="solid"/>
          </a:ln>
        </p:spPr>
      </p:sp>
      <p:sp>
        <p:nvSpPr>
          <p:cNvPr id="14" name="Shape 11"/>
          <p:cNvSpPr/>
          <p:nvPr/>
        </p:nvSpPr>
        <p:spPr>
          <a:xfrm>
            <a:off x="7737653" y="2340864"/>
            <a:ext cx="155448" cy="0"/>
          </a:xfrm>
          <a:prstGeom prst="line">
            <a:avLst/>
          </a:prstGeom>
          <a:noFill/>
          <a:ln w="15875">
            <a:solidFill>
              <a:schemeClr val="accent1"/>
            </a:solidFill>
            <a:prstDash val="solid"/>
          </a:ln>
        </p:spPr>
      </p:sp>
      <p:sp>
        <p:nvSpPr>
          <p:cNvPr id="15" name="Shape 12"/>
          <p:cNvSpPr/>
          <p:nvPr/>
        </p:nvSpPr>
        <p:spPr>
          <a:xfrm>
            <a:off x="7893101" y="2340864"/>
            <a:ext cx="0" cy="155448"/>
          </a:xfrm>
          <a:prstGeom prst="line">
            <a:avLst/>
          </a:prstGeom>
          <a:noFill/>
          <a:ln w="15875">
            <a:solidFill>
              <a:schemeClr val="accent1"/>
            </a:solidFill>
            <a:prstDash val="solid"/>
          </a:ln>
        </p:spPr>
      </p:sp>
      <p:sp>
        <p:nvSpPr>
          <p:cNvPr id="16" name="Shape 13"/>
          <p:cNvSpPr/>
          <p:nvPr/>
        </p:nvSpPr>
        <p:spPr>
          <a:xfrm>
            <a:off x="4298594" y="4937760"/>
            <a:ext cx="155448" cy="0"/>
          </a:xfrm>
          <a:prstGeom prst="line">
            <a:avLst/>
          </a:prstGeom>
          <a:noFill/>
          <a:ln w="15875">
            <a:solidFill>
              <a:schemeClr val="accent1"/>
            </a:solidFill>
            <a:prstDash val="solid"/>
          </a:ln>
        </p:spPr>
      </p:sp>
      <p:sp>
        <p:nvSpPr>
          <p:cNvPr id="17" name="Shape 14"/>
          <p:cNvSpPr/>
          <p:nvPr/>
        </p:nvSpPr>
        <p:spPr>
          <a:xfrm>
            <a:off x="4298594" y="4782312"/>
            <a:ext cx="0" cy="155448"/>
          </a:xfrm>
          <a:prstGeom prst="line">
            <a:avLst/>
          </a:prstGeom>
          <a:noFill/>
          <a:ln w="15875">
            <a:solidFill>
              <a:schemeClr val="accent1"/>
            </a:solidFill>
            <a:prstDash val="solid"/>
          </a:ln>
        </p:spPr>
      </p:sp>
      <p:sp>
        <p:nvSpPr>
          <p:cNvPr id="18" name="Shape 15"/>
          <p:cNvSpPr/>
          <p:nvPr/>
        </p:nvSpPr>
        <p:spPr>
          <a:xfrm>
            <a:off x="7737653" y="4937760"/>
            <a:ext cx="155448" cy="0"/>
          </a:xfrm>
          <a:prstGeom prst="line">
            <a:avLst/>
          </a:prstGeom>
          <a:noFill/>
          <a:ln w="15875">
            <a:solidFill>
              <a:schemeClr val="accent1"/>
            </a:solidFill>
            <a:prstDash val="solid"/>
          </a:ln>
        </p:spPr>
      </p:sp>
      <p:sp>
        <p:nvSpPr>
          <p:cNvPr id="19" name="Shape 16"/>
          <p:cNvSpPr/>
          <p:nvPr/>
        </p:nvSpPr>
        <p:spPr>
          <a:xfrm>
            <a:off x="7893101" y="4782312"/>
            <a:ext cx="0" cy="155448"/>
          </a:xfrm>
          <a:prstGeom prst="line">
            <a:avLst/>
          </a:prstGeom>
          <a:noFill/>
          <a:ln w="15875">
            <a:solidFill>
              <a:schemeClr val="accent1"/>
            </a:solidFill>
            <a:prstDash val="solid"/>
          </a:ln>
        </p:spPr>
      </p:sp>
      <p:sp>
        <p:nvSpPr>
          <p:cNvPr id="20" name="Text 17"/>
          <p:cNvSpPr txBox="1"/>
          <p:nvPr/>
        </p:nvSpPr>
        <p:spPr>
          <a:xfrm>
            <a:off x="4582058" y="2578608"/>
            <a:ext cx="302757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USARLO CUESTA MÁS</a:t>
            </a:r>
            <a:endParaRPr lang="es-CL" sz="1300" dirty="0"/>
          </a:p>
        </p:txBody>
      </p:sp>
      <p:sp>
        <p:nvSpPr>
          <p:cNvPr id="21" name="Text 18"/>
          <p:cNvSpPr txBox="1"/>
          <p:nvPr/>
        </p:nvSpPr>
        <p:spPr>
          <a:xfrm>
            <a:off x="4582058" y="2852928"/>
            <a:ext cx="3027578" cy="777240"/>
          </a:xfrm>
          <a:prstGeom prst="rect">
            <a:avLst/>
          </a:prstGeom>
          <a:noFill/>
          <a:ln/>
        </p:spPr>
        <p:txBody>
          <a:bodyPr wrap="square" lIns="0" tIns="0" rIns="0" bIns="0" rtlCol="0" anchor="ctr"/>
          <a:lstStyle/>
          <a:p>
            <a:pPr indent="0" marL="0">
              <a:buNone/>
            </a:pPr>
            <a:r>
              <a:rPr lang="es-CL" altLang="en-US" sz="5400" b="1" dirty="0">
                <a:solidFill>
                  <a:schemeClr val="accent1"/>
                </a:solidFill>
                <a:latin typeface="Archivo Condensed" pitchFamily="34" charset="0"/>
                <a:ea typeface="Archivo Condensed" pitchFamily="34" charset="-122"/>
                <a:cs typeface="Archivo Condensed" pitchFamily="34" charset="-120"/>
              </a:rPr>
              <a:t>+$370</a:t>
            </a:r>
            <a:endParaRPr lang="es-CL" sz="5400" dirty="0"/>
          </a:p>
        </p:txBody>
      </p:sp>
      <p:sp>
        <p:nvSpPr>
          <p:cNvPr id="22" name="Text 19"/>
          <p:cNvSpPr txBox="1"/>
          <p:nvPr/>
        </p:nvSpPr>
        <p:spPr>
          <a:xfrm>
            <a:off x="4582058" y="3630168"/>
            <a:ext cx="3027578" cy="7772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por litro de bencina 93 en la RM con el alza de marzo ($1.169 a $1.539)</a:t>
            </a:r>
            <a:endParaRPr lang="es-CL" sz="1600" dirty="0"/>
          </a:p>
        </p:txBody>
      </p:sp>
      <p:sp>
        <p:nvSpPr>
          <p:cNvPr id="23" name="Text 20"/>
          <p:cNvSpPr txBox="1"/>
          <p:nvPr/>
        </p:nvSpPr>
        <p:spPr>
          <a:xfrm>
            <a:off x="4582058" y="4498848"/>
            <a:ext cx="3027578" cy="310896"/>
          </a:xfrm>
          <a:prstGeom prst="rect">
            <a:avLst/>
          </a:prstGeom>
          <a:noFill/>
          <a:ln/>
        </p:spPr>
        <p:txBody>
          <a:bodyPr wrap="square" lIns="0" tIns="0" rIns="0" bIns="0" rtlCol="0" anchor="b"/>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Marzo de 2026 · CNE, Bencina en Línea</a:t>
            </a:r>
            <a:endParaRPr lang="es-CL" sz="1100" dirty="0"/>
          </a:p>
        </p:txBody>
      </p:sp>
      <p:sp>
        <p:nvSpPr>
          <p:cNvPr id="24" name="Shape 21"/>
          <p:cNvSpPr/>
          <p:nvPr/>
        </p:nvSpPr>
        <p:spPr>
          <a:xfrm>
            <a:off x="8158277" y="2395728"/>
            <a:ext cx="3484778" cy="2487168"/>
          </a:xfrm>
          <a:prstGeom prst="rect">
            <a:avLst/>
          </a:prstGeom>
          <a:solidFill>
            <a:schemeClr val="bg2"/>
          </a:solidFill>
          <a:ln w="9525">
            <a:solidFill>
              <a:schemeClr val="tx2"/>
            </a:solidFill>
            <a:prstDash val="solid"/>
          </a:ln>
        </p:spPr>
      </p:sp>
      <p:sp>
        <p:nvSpPr>
          <p:cNvPr id="25" name="Text 22"/>
          <p:cNvSpPr txBox="1"/>
          <p:nvPr/>
        </p:nvSpPr>
        <p:spPr>
          <a:xfrm>
            <a:off x="8386877" y="2578608"/>
            <a:ext cx="302757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LA ECONOMÍA SE FRENA</a:t>
            </a:r>
            <a:endParaRPr lang="es-CL" sz="1300" dirty="0"/>
          </a:p>
        </p:txBody>
      </p:sp>
      <p:sp>
        <p:nvSpPr>
          <p:cNvPr id="26" name="Text 23"/>
          <p:cNvSpPr txBox="1"/>
          <p:nvPr/>
        </p:nvSpPr>
        <p:spPr>
          <a:xfrm>
            <a:off x="8386877" y="2852928"/>
            <a:ext cx="3027578" cy="777240"/>
          </a:xfrm>
          <a:prstGeom prst="rect">
            <a:avLst/>
          </a:prstGeom>
          <a:noFill/>
          <a:ln/>
        </p:spPr>
        <p:txBody>
          <a:bodyPr wrap="square" lIns="0" tIns="0" rIns="0" bIns="0" rtlCol="0" anchor="ctr"/>
          <a:lstStyle/>
          <a:p>
            <a:pPr indent="0" marL="0">
              <a:buNone/>
            </a:pPr>
            <a:r>
              <a:rPr lang="es-CL" altLang="en-US" sz="4000" b="1" dirty="0">
                <a:solidFill>
                  <a:schemeClr val="tx1"/>
                </a:solidFill>
                <a:latin typeface="Archivo Condensed" pitchFamily="34" charset="0"/>
                <a:ea typeface="Archivo Condensed" pitchFamily="34" charset="-122"/>
                <a:cs typeface="Archivo Condensed" pitchFamily="34" charset="-120"/>
              </a:rPr>
              <a:t>0,25%–0,75%</a:t>
            </a:r>
            <a:endParaRPr lang="es-CL" sz="4000" dirty="0"/>
          </a:p>
        </p:txBody>
      </p:sp>
      <p:sp>
        <p:nvSpPr>
          <p:cNvPr id="27" name="Text 24"/>
          <p:cNvSpPr txBox="1"/>
          <p:nvPr/>
        </p:nvSpPr>
        <p:spPr>
          <a:xfrm>
            <a:off x="8386877" y="3630168"/>
            <a:ext cx="3027578" cy="7772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crecimiento proyectado para 2026, recortado en parte por el alza de los combustibles</a:t>
            </a:r>
            <a:endParaRPr lang="es-CL" sz="1600" dirty="0"/>
          </a:p>
        </p:txBody>
      </p:sp>
      <p:sp>
        <p:nvSpPr>
          <p:cNvPr id="28" name="Text 25"/>
          <p:cNvSpPr txBox="1"/>
          <p:nvPr/>
        </p:nvSpPr>
        <p:spPr>
          <a:xfrm>
            <a:off x="8386877" y="4498848"/>
            <a:ext cx="3027578" cy="310896"/>
          </a:xfrm>
          <a:prstGeom prst="rect">
            <a:avLst/>
          </a:prstGeom>
          <a:noFill/>
          <a:ln/>
        </p:spPr>
        <p:txBody>
          <a:bodyPr wrap="square" lIns="0" tIns="0" rIns="0" bIns="0" rtlCol="0" anchor="b"/>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Septiembre de 2026 · Banco Central, IPoM</a:t>
            </a:r>
            <a:endParaRPr lang="es-CL" sz="1100" dirty="0"/>
          </a:p>
        </p:txBody>
      </p:sp>
      <p:sp>
        <p:nvSpPr>
          <p:cNvPr id="29" name="Shape 26"/>
          <p:cNvSpPr/>
          <p:nvPr/>
        </p:nvSpPr>
        <p:spPr>
          <a:xfrm>
            <a:off x="548640" y="5065776"/>
            <a:ext cx="11094415" cy="0"/>
          </a:xfrm>
          <a:prstGeom prst="line">
            <a:avLst/>
          </a:prstGeom>
          <a:noFill/>
          <a:ln w="9525">
            <a:solidFill>
              <a:schemeClr val="accent1"/>
            </a:solidFill>
            <a:prstDash val="solid"/>
          </a:ln>
        </p:spPr>
      </p:sp>
      <p:sp>
        <p:nvSpPr>
          <p:cNvPr id="30" name="Text 27"/>
          <p:cNvSpPr txBox="1"/>
          <p:nvPr/>
        </p:nvSpPr>
        <p:spPr>
          <a:xfrm>
            <a:off x="548640" y="5157216"/>
            <a:ext cx="2194560" cy="438912"/>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PROBLEMA</a:t>
            </a:r>
            <a:endParaRPr lang="es-CL" sz="1300" dirty="0"/>
          </a:p>
        </p:txBody>
      </p:sp>
      <p:sp>
        <p:nvSpPr>
          <p:cNvPr id="31" name="Text 28"/>
          <p:cNvSpPr txBox="1"/>
          <p:nvPr/>
        </p:nvSpPr>
        <p:spPr>
          <a:xfrm>
            <a:off x="2788920" y="5157216"/>
            <a:ext cx="8854135" cy="438912"/>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Quien depende de su auto paga cada vez más por usarlo y no puede cambiarlo.</a:t>
            </a:r>
            <a:endParaRPr lang="es-CL" sz="1800" dirty="0"/>
          </a:p>
        </p:txBody>
      </p:sp>
      <p:sp>
        <p:nvSpPr>
          <p:cNvPr id="32" name="Text 29"/>
          <p:cNvSpPr txBox="1"/>
          <p:nvPr/>
        </p:nvSpPr>
        <p:spPr>
          <a:xfrm>
            <a:off x="548640" y="5660136"/>
            <a:ext cx="2194560" cy="438912"/>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OBJETIVO DEL TRABAJO</a:t>
            </a:r>
            <a:endParaRPr lang="es-CL" sz="1300" dirty="0"/>
          </a:p>
        </p:txBody>
      </p:sp>
      <p:sp>
        <p:nvSpPr>
          <p:cNvPr id="33" name="Text 30"/>
          <p:cNvSpPr txBox="1"/>
          <p:nvPr/>
        </p:nvSpPr>
        <p:spPr>
          <a:xfrm>
            <a:off x="2788920" y="5660136"/>
            <a:ext cx="8854135" cy="438912"/>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Diseñar el control que diga cuándo avanzar, corregir o detenerse.</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03</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4 · COMPRENSIÓN DEL NEGOCIO · LA SOLUCIÓN</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UN KIT QUE SE SUMA,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no reemplaza.</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presentación «Análisis estratégico» de Control de Gestión (octubre de 2026); contexto vigente del proyecto. Ilustración del kit, no un plano certificado.</a:t>
            </a:r>
            <a:endParaRPr lang="es-CL" sz="1100" dirty="0"/>
          </a:p>
        </p:txBody>
      </p:sp>
      <p:pic>
        <p:nvPicPr>
          <p:cNvPr id="5" name="Image 0" descr="Plano del kit: motor original adelante, unidad de control, banco de baterías y motor eléctrico en el eje trasero">    </p:cNvPr>
          <p:cNvPicPr>
            <a:picLocks noChangeAspect="1"/>
          </p:cNvPicPr>
          <p:nvPr/>
        </p:nvPicPr>
        <p:blipFill>
          <a:blip r:embed="rId1"/>
          <a:stretch>
            <a:fillRect/>
          </a:stretch>
        </p:blipFill>
        <p:spPr>
          <a:xfrm>
            <a:off x="640080" y="2350008"/>
            <a:ext cx="7955280" cy="2452878"/>
          </a:xfrm>
          <a:prstGeom prst="rect">
            <a:avLst/>
          </a:prstGeom>
        </p:spPr>
      </p:pic>
      <p:sp>
        <p:nvSpPr>
          <p:cNvPr id="6" name="Shape 3"/>
          <p:cNvSpPr/>
          <p:nvPr/>
        </p:nvSpPr>
        <p:spPr>
          <a:xfrm>
            <a:off x="548640" y="4894326"/>
            <a:ext cx="8138160" cy="0"/>
          </a:xfrm>
          <a:prstGeom prst="line">
            <a:avLst/>
          </a:prstGeom>
          <a:noFill/>
          <a:ln w="9525">
            <a:solidFill>
              <a:schemeClr val="accent5"/>
            </a:solidFill>
            <a:prstDash val="solid"/>
          </a:ln>
        </p:spPr>
      </p:sp>
      <p:sp>
        <p:nvSpPr>
          <p:cNvPr id="7" name="Shape 4"/>
          <p:cNvSpPr/>
          <p:nvPr/>
        </p:nvSpPr>
        <p:spPr>
          <a:xfrm>
            <a:off x="548640" y="5040630"/>
            <a:ext cx="457200" cy="310896"/>
          </a:xfrm>
          <a:prstGeom prst="rect">
            <a:avLst/>
          </a:prstGeom>
          <a:solidFill>
            <a:schemeClr val="accent5"/>
          </a:solidFill>
          <a:ln/>
        </p:spPr>
      </p:sp>
      <p:sp>
        <p:nvSpPr>
          <p:cNvPr id="8" name="Text 5"/>
          <p:cNvSpPr txBox="1"/>
          <p:nvPr/>
        </p:nvSpPr>
        <p:spPr>
          <a:xfrm>
            <a:off x="548640" y="5040630"/>
            <a:ext cx="457200"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01</a:t>
            </a:r>
            <a:endParaRPr lang="es-CL" sz="1400" dirty="0"/>
          </a:p>
        </p:txBody>
      </p:sp>
      <p:sp>
        <p:nvSpPr>
          <p:cNvPr id="9" name="Text 6"/>
          <p:cNvSpPr txBox="1"/>
          <p:nvPr/>
        </p:nvSpPr>
        <p:spPr>
          <a:xfrm>
            <a:off x="1097280" y="5040630"/>
            <a:ext cx="1440180" cy="310896"/>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MOTOR ORIGINAL</a:t>
            </a:r>
            <a:endParaRPr lang="es-CL" sz="1200" dirty="0"/>
          </a:p>
        </p:txBody>
      </p:sp>
      <p:sp>
        <p:nvSpPr>
          <p:cNvPr id="10" name="Text 7"/>
          <p:cNvSpPr txBox="1"/>
          <p:nvPr/>
        </p:nvSpPr>
        <p:spPr>
          <a:xfrm>
            <a:off x="548640" y="5442966"/>
            <a:ext cx="1897380" cy="64008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Intacto, con su tracción delantera</a:t>
            </a:r>
            <a:endParaRPr lang="es-CL" sz="1600" dirty="0"/>
          </a:p>
        </p:txBody>
      </p:sp>
      <p:sp>
        <p:nvSpPr>
          <p:cNvPr id="11" name="Shape 8"/>
          <p:cNvSpPr/>
          <p:nvPr/>
        </p:nvSpPr>
        <p:spPr>
          <a:xfrm>
            <a:off x="2583180" y="5040630"/>
            <a:ext cx="457200" cy="310896"/>
          </a:xfrm>
          <a:prstGeom prst="rect">
            <a:avLst/>
          </a:prstGeom>
          <a:solidFill>
            <a:schemeClr val="accent1"/>
          </a:solidFill>
          <a:ln/>
        </p:spPr>
      </p:sp>
      <p:sp>
        <p:nvSpPr>
          <p:cNvPr id="12" name="Text 9"/>
          <p:cNvSpPr txBox="1"/>
          <p:nvPr/>
        </p:nvSpPr>
        <p:spPr>
          <a:xfrm>
            <a:off x="2583180" y="5040630"/>
            <a:ext cx="457200"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02</a:t>
            </a:r>
            <a:endParaRPr lang="es-CL" sz="1400" dirty="0"/>
          </a:p>
        </p:txBody>
      </p:sp>
      <p:sp>
        <p:nvSpPr>
          <p:cNvPr id="13" name="Text 10"/>
          <p:cNvSpPr txBox="1"/>
          <p:nvPr/>
        </p:nvSpPr>
        <p:spPr>
          <a:xfrm>
            <a:off x="3131820" y="5040630"/>
            <a:ext cx="1440180" cy="310896"/>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UNIDAD DE CONTROL</a:t>
            </a:r>
            <a:endParaRPr lang="es-CL" sz="1200" dirty="0"/>
          </a:p>
        </p:txBody>
      </p:sp>
      <p:sp>
        <p:nvSpPr>
          <p:cNvPr id="14" name="Text 11"/>
          <p:cNvSpPr txBox="1"/>
          <p:nvPr/>
        </p:nvSpPr>
        <p:spPr>
          <a:xfrm>
            <a:off x="2583180" y="5442966"/>
            <a:ext cx="1897380" cy="64008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Decide cuándo asistir y corta ante fallas</a:t>
            </a:r>
            <a:endParaRPr lang="es-CL" sz="1600" dirty="0"/>
          </a:p>
        </p:txBody>
      </p:sp>
      <p:sp>
        <p:nvSpPr>
          <p:cNvPr id="15" name="Shape 12"/>
          <p:cNvSpPr/>
          <p:nvPr/>
        </p:nvSpPr>
        <p:spPr>
          <a:xfrm>
            <a:off x="4617720" y="5040630"/>
            <a:ext cx="457200" cy="310896"/>
          </a:xfrm>
          <a:prstGeom prst="rect">
            <a:avLst/>
          </a:prstGeom>
          <a:solidFill>
            <a:schemeClr val="accent1"/>
          </a:solidFill>
          <a:ln/>
        </p:spPr>
      </p:sp>
      <p:sp>
        <p:nvSpPr>
          <p:cNvPr id="16" name="Text 13"/>
          <p:cNvSpPr txBox="1"/>
          <p:nvPr/>
        </p:nvSpPr>
        <p:spPr>
          <a:xfrm>
            <a:off x="4617720" y="5040630"/>
            <a:ext cx="457200"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03</a:t>
            </a:r>
            <a:endParaRPr lang="es-CL" sz="1400" dirty="0"/>
          </a:p>
        </p:txBody>
      </p:sp>
      <p:sp>
        <p:nvSpPr>
          <p:cNvPr id="17" name="Text 14"/>
          <p:cNvSpPr txBox="1"/>
          <p:nvPr/>
        </p:nvSpPr>
        <p:spPr>
          <a:xfrm>
            <a:off x="5166360" y="5040630"/>
            <a:ext cx="1440180" cy="310896"/>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BANCO DE BATERÍAS</a:t>
            </a:r>
            <a:endParaRPr lang="es-CL" sz="1200" dirty="0"/>
          </a:p>
        </p:txBody>
      </p:sp>
      <p:sp>
        <p:nvSpPr>
          <p:cNvPr id="18" name="Text 15"/>
          <p:cNvSpPr txBox="1"/>
          <p:nvPr/>
        </p:nvSpPr>
        <p:spPr>
          <a:xfrm>
            <a:off x="4617720" y="5442966"/>
            <a:ext cx="1897380" cy="64008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Guarda la energía del frenado</a:t>
            </a:r>
            <a:endParaRPr lang="es-CL" sz="1600" dirty="0"/>
          </a:p>
        </p:txBody>
      </p:sp>
      <p:sp>
        <p:nvSpPr>
          <p:cNvPr id="19" name="Shape 16"/>
          <p:cNvSpPr/>
          <p:nvPr/>
        </p:nvSpPr>
        <p:spPr>
          <a:xfrm>
            <a:off x="6652260" y="5040630"/>
            <a:ext cx="457200" cy="310896"/>
          </a:xfrm>
          <a:prstGeom prst="rect">
            <a:avLst/>
          </a:prstGeom>
          <a:solidFill>
            <a:schemeClr val="accent1"/>
          </a:solidFill>
          <a:ln/>
        </p:spPr>
      </p:sp>
      <p:sp>
        <p:nvSpPr>
          <p:cNvPr id="20" name="Text 17"/>
          <p:cNvSpPr txBox="1"/>
          <p:nvPr/>
        </p:nvSpPr>
        <p:spPr>
          <a:xfrm>
            <a:off x="6652260" y="5040630"/>
            <a:ext cx="457200"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04</a:t>
            </a:r>
            <a:endParaRPr lang="es-CL" sz="1400" dirty="0"/>
          </a:p>
        </p:txBody>
      </p:sp>
      <p:sp>
        <p:nvSpPr>
          <p:cNvPr id="21" name="Text 18"/>
          <p:cNvSpPr txBox="1"/>
          <p:nvPr/>
        </p:nvSpPr>
        <p:spPr>
          <a:xfrm>
            <a:off x="7200900" y="5040630"/>
            <a:ext cx="1440180" cy="310896"/>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MOTOR ELÉCTRICO</a:t>
            </a:r>
            <a:endParaRPr lang="es-CL" sz="1200" dirty="0"/>
          </a:p>
        </p:txBody>
      </p:sp>
      <p:sp>
        <p:nvSpPr>
          <p:cNvPr id="22" name="Text 19"/>
          <p:cNvSpPr txBox="1"/>
          <p:nvPr/>
        </p:nvSpPr>
        <p:spPr>
          <a:xfrm>
            <a:off x="6652260" y="5442966"/>
            <a:ext cx="1897380" cy="64008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En el eje trasero; no se enchufa</a:t>
            </a:r>
            <a:endParaRPr lang="es-CL" sz="1600" dirty="0"/>
          </a:p>
        </p:txBody>
      </p:sp>
      <p:sp>
        <p:nvSpPr>
          <p:cNvPr id="23" name="Shape 20"/>
          <p:cNvSpPr/>
          <p:nvPr/>
        </p:nvSpPr>
        <p:spPr>
          <a:xfrm>
            <a:off x="9052560" y="2395728"/>
            <a:ext cx="2590495" cy="0"/>
          </a:xfrm>
          <a:prstGeom prst="line">
            <a:avLst/>
          </a:prstGeom>
          <a:noFill/>
          <a:ln w="9525">
            <a:solidFill>
              <a:schemeClr val="accent1"/>
            </a:solidFill>
            <a:prstDash val="solid"/>
          </a:ln>
        </p:spPr>
      </p:sp>
      <p:sp>
        <p:nvSpPr>
          <p:cNvPr id="24" name="Text 21"/>
          <p:cNvSpPr txBox="1"/>
          <p:nvPr/>
        </p:nvSpPr>
        <p:spPr>
          <a:xfrm>
            <a:off x="9052560" y="2487168"/>
            <a:ext cx="259049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ESTADO</a:t>
            </a:r>
            <a:endParaRPr lang="es-CL" sz="1300" dirty="0"/>
          </a:p>
        </p:txBody>
      </p:sp>
      <p:sp>
        <p:nvSpPr>
          <p:cNvPr id="25" name="Text 22"/>
          <p:cNvSpPr txBox="1"/>
          <p:nvPr/>
        </p:nvSpPr>
        <p:spPr>
          <a:xfrm>
            <a:off x="9052560" y="2779776"/>
            <a:ext cx="2590495" cy="777240"/>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Preoperativa: sin taller, personal ni clientes</a:t>
            </a:r>
            <a:endParaRPr lang="es-CL" sz="1700" dirty="0"/>
          </a:p>
        </p:txBody>
      </p:sp>
      <p:sp>
        <p:nvSpPr>
          <p:cNvPr id="26" name="Shape 23"/>
          <p:cNvSpPr/>
          <p:nvPr/>
        </p:nvSpPr>
        <p:spPr>
          <a:xfrm>
            <a:off x="9052560" y="3602736"/>
            <a:ext cx="2590495" cy="0"/>
          </a:xfrm>
          <a:prstGeom prst="line">
            <a:avLst/>
          </a:prstGeom>
          <a:noFill/>
          <a:ln w="9525">
            <a:solidFill>
              <a:schemeClr val="accent5"/>
            </a:solidFill>
            <a:prstDash val="solid"/>
          </a:ln>
        </p:spPr>
      </p:sp>
      <p:sp>
        <p:nvSpPr>
          <p:cNvPr id="27" name="Text 24"/>
          <p:cNvSpPr txBox="1"/>
          <p:nvPr/>
        </p:nvSpPr>
        <p:spPr>
          <a:xfrm>
            <a:off x="9052560" y="3694176"/>
            <a:ext cx="259049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SEGURIDAD</a:t>
            </a:r>
            <a:endParaRPr lang="es-CL" sz="1300" dirty="0"/>
          </a:p>
        </p:txBody>
      </p:sp>
      <p:sp>
        <p:nvSpPr>
          <p:cNvPr id="28" name="Text 25"/>
          <p:cNvSpPr txBox="1"/>
          <p:nvPr/>
        </p:nvSpPr>
        <p:spPr>
          <a:xfrm>
            <a:off x="9052560" y="3986784"/>
            <a:ext cx="2590495" cy="777240"/>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Freno, ABS y control de estabilidad originales mandan sobre el kit</a:t>
            </a:r>
            <a:endParaRPr lang="es-CL" sz="1700" dirty="0"/>
          </a:p>
        </p:txBody>
      </p:sp>
      <p:sp>
        <p:nvSpPr>
          <p:cNvPr id="29" name="Shape 26"/>
          <p:cNvSpPr/>
          <p:nvPr/>
        </p:nvSpPr>
        <p:spPr>
          <a:xfrm>
            <a:off x="9052560" y="4809744"/>
            <a:ext cx="2590495" cy="0"/>
          </a:xfrm>
          <a:prstGeom prst="line">
            <a:avLst/>
          </a:prstGeom>
          <a:noFill/>
          <a:ln w="9525">
            <a:solidFill>
              <a:schemeClr val="accent5"/>
            </a:solidFill>
            <a:prstDash val="solid"/>
          </a:ln>
        </p:spPr>
      </p:sp>
      <p:sp>
        <p:nvSpPr>
          <p:cNvPr id="30" name="Text 27"/>
          <p:cNvSpPr txBox="1"/>
          <p:nvPr/>
        </p:nvSpPr>
        <p:spPr>
          <a:xfrm>
            <a:off x="9052560" y="4901184"/>
            <a:ext cx="259049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DISEÑO</a:t>
            </a:r>
            <a:endParaRPr lang="es-CL" sz="1300" dirty="0"/>
          </a:p>
        </p:txBody>
      </p:sp>
      <p:sp>
        <p:nvSpPr>
          <p:cNvPr id="31" name="Text 28"/>
          <p:cNvSpPr txBox="1"/>
          <p:nvPr/>
        </p:nvSpPr>
        <p:spPr>
          <a:xfrm>
            <a:off x="9052560" y="5193792"/>
            <a:ext cx="2590495" cy="777240"/>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Falta probarlo, homologarlo y documentarlo</a:t>
            </a:r>
            <a:endParaRPr lang="es-CL" sz="1700" dirty="0"/>
          </a:p>
        </p:txBody>
      </p:sp>
      <p:sp>
        <p:nvSpPr>
          <p:cNvPr id="32" name="Shape 29"/>
          <p:cNvSpPr/>
          <p:nvPr/>
        </p:nvSpPr>
        <p:spPr>
          <a:xfrm>
            <a:off x="10186619" y="4864608"/>
            <a:ext cx="1456436" cy="292608"/>
          </a:xfrm>
          <a:prstGeom prst="rect">
            <a:avLst/>
          </a:prstGeom>
          <a:solidFill>
            <a:schemeClr val="bg1">
              <a:alpha val="0"/>
            </a:schemeClr>
          </a:solidFill>
          <a:ln w="12700">
            <a:solidFill>
              <a:schemeClr val="tx2"/>
            </a:solidFill>
            <a:prstDash val="solid"/>
          </a:ln>
        </p:spPr>
      </p:sp>
      <p:sp>
        <p:nvSpPr>
          <p:cNvPr id="33" name="Text 30"/>
          <p:cNvSpPr txBox="1"/>
          <p:nvPr/>
        </p:nvSpPr>
        <p:spPr>
          <a:xfrm>
            <a:off x="10296347" y="4864608"/>
            <a:ext cx="1236980" cy="292608"/>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POR VALIDAR</a:t>
            </a:r>
            <a:endParaRPr lang="es-CL" sz="12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04</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4 · COMPRENSIÓN DEL NEGOCIO · CLIENTE Y MODELO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CLIENTE COMPRA AHORRO</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sin cambiar de auto, si confía.</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entrevistas del equipo (n = 3; evidencia indicativa); estimación de ingeniería del equipo, no medida en autos chilenos; Lumine Habilita, demostración con datos ficticios.</a:t>
            </a:r>
            <a:endParaRPr lang="es-CL" sz="1100" dirty="0"/>
          </a:p>
        </p:txBody>
      </p:sp>
      <p:sp>
        <p:nvSpPr>
          <p:cNvPr id="5" name="Text 3"/>
          <p:cNvSpPr txBox="1"/>
          <p:nvPr/>
        </p:nvSpPr>
        <p:spPr>
          <a:xfrm>
            <a:off x="548640" y="2395728"/>
            <a:ext cx="1828800" cy="365760"/>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NECESIDAD</a:t>
            </a:r>
            <a:endParaRPr lang="es-CL" sz="1300" dirty="0"/>
          </a:p>
        </p:txBody>
      </p:sp>
      <p:sp>
        <p:nvSpPr>
          <p:cNvPr id="6" name="Text 4"/>
          <p:cNvSpPr txBox="1"/>
          <p:nvPr/>
        </p:nvSpPr>
        <p:spPr>
          <a:xfrm>
            <a:off x="2011680" y="2395728"/>
            <a:ext cx="9631375" cy="365760"/>
          </a:xfrm>
          <a:prstGeom prst="rect">
            <a:avLst/>
          </a:prstGeom>
          <a:noFill/>
          <a:ln/>
        </p:spPr>
        <p:txBody>
          <a:bodyPr wrap="square" lIns="0" tIns="0" rIns="0" bIns="0" rtlCol="0" anchor="ctr"/>
          <a:lstStyle/>
          <a:p>
            <a:pPr indent="0" marL="0">
              <a:buNone/>
            </a:pPr>
            <a:r>
              <a:rPr lang="es-CL" altLang="en-US" sz="2200" i="1" dirty="0">
                <a:solidFill>
                  <a:schemeClr val="tx1"/>
                </a:solidFill>
                <a:latin typeface="Instrument Serif" pitchFamily="34" charset="0"/>
                <a:ea typeface="Instrument Serif" pitchFamily="34" charset="-122"/>
                <a:cs typeface="Instrument Serif" pitchFamily="34" charset="-120"/>
              </a:rPr>
              <a:t>«Dejar de pagar cada vez más por usar el auto, sin tener que reemplazarlo.»</a:t>
            </a:r>
            <a:endParaRPr lang="es-CL" sz="2200" dirty="0"/>
          </a:p>
        </p:txBody>
      </p:sp>
      <p:sp>
        <p:nvSpPr>
          <p:cNvPr id="7" name="Shape 5"/>
          <p:cNvSpPr/>
          <p:nvPr/>
        </p:nvSpPr>
        <p:spPr>
          <a:xfrm>
            <a:off x="548640" y="2898648"/>
            <a:ext cx="2602154" cy="1207008"/>
          </a:xfrm>
          <a:prstGeom prst="rect">
            <a:avLst/>
          </a:prstGeom>
          <a:solidFill>
            <a:schemeClr val="bg2"/>
          </a:solidFill>
          <a:ln w="15875">
            <a:solidFill>
              <a:schemeClr val="accent1"/>
            </a:solidFill>
            <a:prstDash val="solid"/>
          </a:ln>
        </p:spPr>
      </p:sp>
      <p:sp>
        <p:nvSpPr>
          <p:cNvPr id="8" name="Shape 6"/>
          <p:cNvSpPr/>
          <p:nvPr/>
        </p:nvSpPr>
        <p:spPr>
          <a:xfrm>
            <a:off x="713232" y="3044952"/>
            <a:ext cx="347472" cy="310896"/>
          </a:xfrm>
          <a:prstGeom prst="rect">
            <a:avLst/>
          </a:prstGeom>
          <a:solidFill>
            <a:schemeClr val="accent1"/>
          </a:solidFill>
          <a:ln/>
        </p:spPr>
      </p:sp>
      <p:sp>
        <p:nvSpPr>
          <p:cNvPr id="9" name="Text 7"/>
          <p:cNvSpPr txBox="1"/>
          <p:nvPr/>
        </p:nvSpPr>
        <p:spPr>
          <a:xfrm>
            <a:off x="713232" y="3044952"/>
            <a:ext cx="347472"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1</a:t>
            </a:r>
            <a:endParaRPr lang="es-CL" sz="1400" dirty="0"/>
          </a:p>
        </p:txBody>
      </p:sp>
      <p:sp>
        <p:nvSpPr>
          <p:cNvPr id="10" name="Text 8"/>
          <p:cNvSpPr txBox="1"/>
          <p:nvPr/>
        </p:nvSpPr>
        <p:spPr>
          <a:xfrm>
            <a:off x="713232" y="3410712"/>
            <a:ext cx="232783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Ahorrar hasta 20% sin cambiar de auto</a:t>
            </a:r>
            <a:endParaRPr lang="es-CL" sz="1600" dirty="0"/>
          </a:p>
        </p:txBody>
      </p:sp>
      <p:sp>
        <p:nvSpPr>
          <p:cNvPr id="11" name="Shape 9"/>
          <p:cNvSpPr/>
          <p:nvPr/>
        </p:nvSpPr>
        <p:spPr>
          <a:xfrm>
            <a:off x="1841170" y="3026664"/>
            <a:ext cx="1199896" cy="274320"/>
          </a:xfrm>
          <a:prstGeom prst="rect">
            <a:avLst/>
          </a:prstGeom>
          <a:solidFill>
            <a:schemeClr val="bg1">
              <a:alpha val="0"/>
            </a:schemeClr>
          </a:solidFill>
          <a:ln w="12700">
            <a:solidFill>
              <a:schemeClr val="tx2"/>
            </a:solidFill>
            <a:prstDash val="dash"/>
          </a:ln>
        </p:spPr>
      </p:sp>
      <p:sp>
        <p:nvSpPr>
          <p:cNvPr id="12" name="Text 10"/>
          <p:cNvSpPr txBox="1"/>
          <p:nvPr/>
        </p:nvSpPr>
        <p:spPr>
          <a:xfrm>
            <a:off x="1950898" y="3026664"/>
            <a:ext cx="980440" cy="274320"/>
          </a:xfrm>
          <a:prstGeom prst="rect">
            <a:avLst/>
          </a:prstGeom>
          <a:noFill/>
          <a:ln/>
        </p:spPr>
        <p:txBody>
          <a:bodyPr wrap="square" lIns="0" tIns="0" rIns="0" bIns="0" rtlCol="0" anchor="ctr"/>
          <a:lstStyle/>
          <a:p>
            <a:pPr algn="ctr" indent="0" marL="0">
              <a:buNone/>
            </a:pPr>
            <a:r>
              <a:rPr lang="es-CL" altLang="en-US" sz="1000" spc="100" kern="0" dirty="0">
                <a:solidFill>
                  <a:schemeClr val="tx2"/>
                </a:solidFill>
                <a:latin typeface="IBM Plex Mono" pitchFamily="34" charset="0"/>
                <a:ea typeface="IBM Plex Mono" pitchFamily="34" charset="-122"/>
                <a:cs typeface="IBM Plex Mono" pitchFamily="34" charset="-120"/>
              </a:rPr>
              <a:t>ESTIMACIÓN</a:t>
            </a:r>
            <a:endParaRPr lang="es-CL" sz="1000" dirty="0"/>
          </a:p>
        </p:txBody>
      </p:sp>
      <p:sp>
        <p:nvSpPr>
          <p:cNvPr id="13" name="Shape 11"/>
          <p:cNvSpPr/>
          <p:nvPr/>
        </p:nvSpPr>
        <p:spPr>
          <a:xfrm>
            <a:off x="3379394" y="2898648"/>
            <a:ext cx="2602154" cy="1207008"/>
          </a:xfrm>
          <a:prstGeom prst="rect">
            <a:avLst/>
          </a:prstGeom>
          <a:solidFill>
            <a:schemeClr val="bg2"/>
          </a:solidFill>
          <a:ln w="9525">
            <a:solidFill>
              <a:schemeClr val="tx2"/>
            </a:solidFill>
            <a:prstDash val="solid"/>
          </a:ln>
        </p:spPr>
      </p:sp>
      <p:sp>
        <p:nvSpPr>
          <p:cNvPr id="14" name="Shape 12"/>
          <p:cNvSpPr/>
          <p:nvPr/>
        </p:nvSpPr>
        <p:spPr>
          <a:xfrm>
            <a:off x="3543986" y="3044952"/>
            <a:ext cx="347472" cy="310896"/>
          </a:xfrm>
          <a:prstGeom prst="rect">
            <a:avLst/>
          </a:prstGeom>
          <a:solidFill>
            <a:schemeClr val="accent5"/>
          </a:solidFill>
          <a:ln/>
        </p:spPr>
      </p:sp>
      <p:sp>
        <p:nvSpPr>
          <p:cNvPr id="15" name="Text 13"/>
          <p:cNvSpPr txBox="1"/>
          <p:nvPr/>
        </p:nvSpPr>
        <p:spPr>
          <a:xfrm>
            <a:off x="3543986" y="3044952"/>
            <a:ext cx="347472"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2</a:t>
            </a:r>
            <a:endParaRPr lang="es-CL" sz="1400" dirty="0"/>
          </a:p>
        </p:txBody>
      </p:sp>
      <p:sp>
        <p:nvSpPr>
          <p:cNvPr id="16" name="Text 14"/>
          <p:cNvSpPr txBox="1"/>
          <p:nvPr/>
        </p:nvSpPr>
        <p:spPr>
          <a:xfrm>
            <a:off x="3543986" y="3410712"/>
            <a:ext cx="232783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Respaldo técnico verificable</a:t>
            </a:r>
            <a:endParaRPr lang="es-CL" sz="1600" dirty="0"/>
          </a:p>
        </p:txBody>
      </p:sp>
      <p:sp>
        <p:nvSpPr>
          <p:cNvPr id="17" name="Shape 15"/>
          <p:cNvSpPr/>
          <p:nvPr/>
        </p:nvSpPr>
        <p:spPr>
          <a:xfrm>
            <a:off x="6210148" y="2898648"/>
            <a:ext cx="2602154" cy="1207008"/>
          </a:xfrm>
          <a:prstGeom prst="rect">
            <a:avLst/>
          </a:prstGeom>
          <a:solidFill>
            <a:schemeClr val="bg2"/>
          </a:solidFill>
          <a:ln w="9525">
            <a:solidFill>
              <a:schemeClr val="tx2"/>
            </a:solidFill>
            <a:prstDash val="solid"/>
          </a:ln>
        </p:spPr>
      </p:sp>
      <p:sp>
        <p:nvSpPr>
          <p:cNvPr id="18" name="Shape 16"/>
          <p:cNvSpPr/>
          <p:nvPr/>
        </p:nvSpPr>
        <p:spPr>
          <a:xfrm>
            <a:off x="6374740" y="3044952"/>
            <a:ext cx="347472" cy="310896"/>
          </a:xfrm>
          <a:prstGeom prst="rect">
            <a:avLst/>
          </a:prstGeom>
          <a:solidFill>
            <a:schemeClr val="accent5"/>
          </a:solidFill>
          <a:ln/>
        </p:spPr>
      </p:sp>
      <p:sp>
        <p:nvSpPr>
          <p:cNvPr id="19" name="Text 17"/>
          <p:cNvSpPr txBox="1"/>
          <p:nvPr/>
        </p:nvSpPr>
        <p:spPr>
          <a:xfrm>
            <a:off x="6374740" y="3044952"/>
            <a:ext cx="347472"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3</a:t>
            </a:r>
            <a:endParaRPr lang="es-CL" sz="1400" dirty="0"/>
          </a:p>
        </p:txBody>
      </p:sp>
      <p:sp>
        <p:nvSpPr>
          <p:cNvPr id="20" name="Text 18"/>
          <p:cNvSpPr txBox="1"/>
          <p:nvPr/>
        </p:nvSpPr>
        <p:spPr>
          <a:xfrm>
            <a:off x="6374740" y="3410712"/>
            <a:ext cx="232783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Seguir usando el mismo vehículo</a:t>
            </a:r>
            <a:endParaRPr lang="es-CL" sz="1600" dirty="0"/>
          </a:p>
        </p:txBody>
      </p:sp>
      <p:sp>
        <p:nvSpPr>
          <p:cNvPr id="21" name="Shape 19"/>
          <p:cNvSpPr/>
          <p:nvPr/>
        </p:nvSpPr>
        <p:spPr>
          <a:xfrm>
            <a:off x="9040901" y="2898648"/>
            <a:ext cx="2602154" cy="1207008"/>
          </a:xfrm>
          <a:prstGeom prst="rect">
            <a:avLst/>
          </a:prstGeom>
          <a:solidFill>
            <a:schemeClr val="bg2"/>
          </a:solidFill>
          <a:ln w="9525">
            <a:solidFill>
              <a:schemeClr val="tx2"/>
            </a:solidFill>
            <a:prstDash val="solid"/>
          </a:ln>
        </p:spPr>
      </p:sp>
      <p:sp>
        <p:nvSpPr>
          <p:cNvPr id="22" name="Shape 20"/>
          <p:cNvSpPr/>
          <p:nvPr/>
        </p:nvSpPr>
        <p:spPr>
          <a:xfrm>
            <a:off x="9205493" y="3044952"/>
            <a:ext cx="347472" cy="310896"/>
          </a:xfrm>
          <a:prstGeom prst="rect">
            <a:avLst/>
          </a:prstGeom>
          <a:solidFill>
            <a:schemeClr val="accent5"/>
          </a:solidFill>
          <a:ln/>
        </p:spPr>
      </p:sp>
      <p:sp>
        <p:nvSpPr>
          <p:cNvPr id="23" name="Text 21"/>
          <p:cNvSpPr txBox="1"/>
          <p:nvPr/>
        </p:nvSpPr>
        <p:spPr>
          <a:xfrm>
            <a:off x="9205493" y="3044952"/>
            <a:ext cx="347472"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4</a:t>
            </a:r>
            <a:endParaRPr lang="es-CL" sz="1400" dirty="0"/>
          </a:p>
        </p:txBody>
      </p:sp>
      <p:sp>
        <p:nvSpPr>
          <p:cNvPr id="24" name="Text 22"/>
          <p:cNvSpPr txBox="1"/>
          <p:nvPr/>
        </p:nvSpPr>
        <p:spPr>
          <a:xfrm>
            <a:off x="9205493" y="3410712"/>
            <a:ext cx="232783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Transparencia en compatibilidad y costos</a:t>
            </a:r>
            <a:endParaRPr lang="es-CL" sz="1600" dirty="0"/>
          </a:p>
        </p:txBody>
      </p:sp>
      <p:sp>
        <p:nvSpPr>
          <p:cNvPr id="25" name="Text 23"/>
          <p:cNvSpPr txBox="1"/>
          <p:nvPr/>
        </p:nvSpPr>
        <p:spPr>
          <a:xfrm>
            <a:off x="548640" y="4251960"/>
            <a:ext cx="8716975" cy="411480"/>
          </a:xfrm>
          <a:prstGeom prst="rect">
            <a:avLst/>
          </a:prstGeom>
          <a:noFill/>
          <a:ln/>
        </p:spPr>
        <p:txBody>
          <a:bodyPr wrap="square" lIns="0" tIns="0" rIns="0" bIns="0" rtlCol="0" anchor="ctr"/>
          <a:lstStyle/>
          <a:p>
            <a:pPr indent="0" marL="0">
              <a:buNone/>
            </a:pPr>
            <a:r>
              <a:rPr lang="es-CL" altLang="en-US" sz="1800" dirty="0">
                <a:solidFill>
                  <a:schemeClr val="tx2"/>
                </a:solidFill>
                <a:latin typeface="Figtree" pitchFamily="34" charset="0"/>
                <a:ea typeface="Figtree" pitchFamily="34" charset="-122"/>
                <a:cs typeface="Figtree" pitchFamily="34" charset="-120"/>
              </a:rPr>
              <a:t>Indicio cualitativo: </a:t>
            </a:r>
            <a:pPr indent="0" marL="0">
              <a:buNone/>
            </a:pPr>
            <a:r>
              <a:rPr lang="es-CL" altLang="en-US" sz="1800" b="1" dirty="0">
                <a:solidFill>
                  <a:schemeClr val="tx1"/>
                </a:solidFill>
                <a:latin typeface="Figtree" pitchFamily="34" charset="0"/>
                <a:ea typeface="Figtree" pitchFamily="34" charset="-122"/>
                <a:cs typeface="Figtree" pitchFamily="34" charset="-120"/>
              </a:rPr>
              <a:t>el precio decide si se compra; la confianza, si uno se atreve.</a:t>
            </a:r>
            <a:endParaRPr lang="es-CL" sz="1800" dirty="0"/>
          </a:p>
        </p:txBody>
      </p:sp>
      <p:sp>
        <p:nvSpPr>
          <p:cNvPr id="26" name="Shape 24"/>
          <p:cNvSpPr/>
          <p:nvPr/>
        </p:nvSpPr>
        <p:spPr>
          <a:xfrm>
            <a:off x="9457639" y="4297680"/>
            <a:ext cx="2185416" cy="329184"/>
          </a:xfrm>
          <a:prstGeom prst="rect">
            <a:avLst/>
          </a:prstGeom>
          <a:solidFill>
            <a:schemeClr val="bg1">
              <a:alpha val="0"/>
            </a:schemeClr>
          </a:solidFill>
          <a:ln w="12700">
            <a:solidFill>
              <a:schemeClr val="tx2"/>
            </a:solidFill>
            <a:prstDash val="sysDot"/>
          </a:ln>
        </p:spPr>
      </p:sp>
      <p:sp>
        <p:nvSpPr>
          <p:cNvPr id="27" name="Text 25"/>
          <p:cNvSpPr txBox="1"/>
          <p:nvPr/>
        </p:nvSpPr>
        <p:spPr>
          <a:xfrm>
            <a:off x="9567367" y="4297680"/>
            <a:ext cx="1965960" cy="329184"/>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INDICATIVO · n = 3</a:t>
            </a:r>
            <a:endParaRPr lang="es-CL" sz="1200" dirty="0"/>
          </a:p>
        </p:txBody>
      </p:sp>
      <p:sp>
        <p:nvSpPr>
          <p:cNvPr id="28" name="Shape 26"/>
          <p:cNvSpPr/>
          <p:nvPr/>
        </p:nvSpPr>
        <p:spPr>
          <a:xfrm>
            <a:off x="548640" y="4846320"/>
            <a:ext cx="11094415" cy="0"/>
          </a:xfrm>
          <a:prstGeom prst="line">
            <a:avLst/>
          </a:prstGeom>
          <a:noFill/>
          <a:ln w="9525">
            <a:solidFill>
              <a:schemeClr val="accent1"/>
            </a:solidFill>
            <a:prstDash val="solid"/>
          </a:ln>
        </p:spPr>
      </p:sp>
      <p:sp>
        <p:nvSpPr>
          <p:cNvPr id="29" name="Text 27"/>
          <p:cNvSpPr txBox="1"/>
          <p:nvPr/>
        </p:nvSpPr>
        <p:spPr>
          <a:xfrm>
            <a:off x="548640" y="4956048"/>
            <a:ext cx="365760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MODELO DE NEGOCIO</a:t>
            </a:r>
            <a:endParaRPr lang="es-CL" sz="1300" dirty="0"/>
          </a:p>
        </p:txBody>
      </p:sp>
      <p:sp>
        <p:nvSpPr>
          <p:cNvPr id="30" name="Text 28"/>
          <p:cNvSpPr txBox="1"/>
          <p:nvPr/>
        </p:nvSpPr>
        <p:spPr>
          <a:xfrm>
            <a:off x="548640" y="5285232"/>
            <a:ext cx="109728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LÍNEA 1</a:t>
            </a:r>
            <a:endParaRPr lang="es-CL" sz="1200" dirty="0"/>
          </a:p>
        </p:txBody>
      </p:sp>
      <p:sp>
        <p:nvSpPr>
          <p:cNvPr id="31" name="Text 29"/>
          <p:cNvSpPr txBox="1"/>
          <p:nvPr/>
        </p:nvSpPr>
        <p:spPr>
          <a:xfrm>
            <a:off x="548640" y="5577840"/>
            <a:ext cx="4486504" cy="612648"/>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Taller propio: diagnóstico, instalación, calibración y posventa</a:t>
            </a:r>
            <a:endParaRPr lang="es-CL" sz="1700" dirty="0"/>
          </a:p>
        </p:txBody>
      </p:sp>
      <p:sp>
        <p:nvSpPr>
          <p:cNvPr id="32" name="Text 30"/>
          <p:cNvSpPr txBox="1"/>
          <p:nvPr/>
        </p:nvSpPr>
        <p:spPr>
          <a:xfrm>
            <a:off x="5355184" y="5285232"/>
            <a:ext cx="109728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LÍNEA 2</a:t>
            </a:r>
            <a:endParaRPr lang="es-CL" sz="1200" dirty="0"/>
          </a:p>
        </p:txBody>
      </p:sp>
      <p:sp>
        <p:nvSpPr>
          <p:cNvPr id="33" name="Text 31"/>
          <p:cNvSpPr txBox="1"/>
          <p:nvPr/>
        </p:nvSpPr>
        <p:spPr>
          <a:xfrm>
            <a:off x="5355184" y="5577840"/>
            <a:ext cx="4486504" cy="612648"/>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Licencias de calibración y procedimiento, con Lumine Habilita</a:t>
            </a:r>
            <a:endParaRPr lang="es-CL" sz="1700" dirty="0"/>
          </a:p>
        </p:txBody>
      </p:sp>
      <p:sp>
        <p:nvSpPr>
          <p:cNvPr id="34" name="Shape 32"/>
          <p:cNvSpPr/>
          <p:nvPr/>
        </p:nvSpPr>
        <p:spPr>
          <a:xfrm>
            <a:off x="8662111" y="5257800"/>
            <a:ext cx="1179576" cy="274320"/>
          </a:xfrm>
          <a:prstGeom prst="rect">
            <a:avLst/>
          </a:prstGeom>
          <a:solidFill>
            <a:schemeClr val="bg1">
              <a:alpha val="0"/>
            </a:schemeClr>
          </a:solidFill>
          <a:ln w="12700">
            <a:solidFill>
              <a:schemeClr val="tx2"/>
            </a:solidFill>
            <a:prstDash val="sysDot"/>
          </a:ln>
        </p:spPr>
      </p:sp>
      <p:sp>
        <p:nvSpPr>
          <p:cNvPr id="35" name="Text 33"/>
          <p:cNvSpPr txBox="1"/>
          <p:nvPr/>
        </p:nvSpPr>
        <p:spPr>
          <a:xfrm>
            <a:off x="8771839" y="5257800"/>
            <a:ext cx="960120" cy="274320"/>
          </a:xfrm>
          <a:prstGeom prst="rect">
            <a:avLst/>
          </a:prstGeom>
          <a:noFill/>
          <a:ln/>
        </p:spPr>
        <p:txBody>
          <a:bodyPr wrap="square" lIns="0" tIns="0" rIns="0" bIns="0" rtlCol="0" anchor="ctr"/>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POTENCIAL</a:t>
            </a:r>
            <a:endParaRPr lang="es-CL" sz="1100" dirty="0"/>
          </a:p>
        </p:txBody>
      </p:sp>
      <p:pic>
        <p:nvPicPr>
          <p:cNvPr id="36" name="Image 0" descr="Código QR a la demostración de Lumine Habilita">    </p:cNvPr>
          <p:cNvPicPr>
            <a:picLocks noChangeAspect="1"/>
          </p:cNvPicPr>
          <p:nvPr/>
        </p:nvPicPr>
        <p:blipFill>
          <a:blip r:embed="rId1"/>
          <a:stretch>
            <a:fillRect/>
          </a:stretch>
        </p:blipFill>
        <p:spPr>
          <a:xfrm>
            <a:off x="10344607" y="4937760"/>
            <a:ext cx="1298448" cy="1298448"/>
          </a:xfrm>
          <a:prstGeom prst="rect">
            <a:avLst/>
          </a:prstGeom>
        </p:spPr>
      </p:pic>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05</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5 · DECLARACIONES ESTRATÉGICAS COMPARTIDAS</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MISIÓN, VISIÓN Y VALORES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que orientan decisiones.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declaraciones estratégicas del proyecto; textos literales en el anexo A7.</a:t>
            </a:r>
            <a:endParaRPr lang="es-CL" sz="1100" dirty="0"/>
          </a:p>
        </p:txBody>
      </p:sp>
      <p:sp>
        <p:nvSpPr>
          <p:cNvPr id="5" name="Shape 3"/>
          <p:cNvSpPr/>
          <p:nvPr/>
        </p:nvSpPr>
        <p:spPr>
          <a:xfrm>
            <a:off x="9015679" y="804672"/>
            <a:ext cx="2627376" cy="292608"/>
          </a:xfrm>
          <a:prstGeom prst="rect">
            <a:avLst/>
          </a:prstGeom>
          <a:solidFill>
            <a:schemeClr val="bg1">
              <a:alpha val="0"/>
            </a:schemeClr>
          </a:solidFill>
          <a:ln w="12700">
            <a:solidFill>
              <a:schemeClr val="tx2"/>
            </a:solidFill>
            <a:prstDash val="sysDot"/>
          </a:ln>
        </p:spPr>
      </p:sp>
      <p:sp>
        <p:nvSpPr>
          <p:cNvPr id="6" name="Text 4"/>
          <p:cNvSpPr txBox="1"/>
          <p:nvPr/>
        </p:nvSpPr>
        <p:spPr>
          <a:xfrm>
            <a:off x="9125407" y="804672"/>
            <a:ext cx="2407920" cy="292608"/>
          </a:xfrm>
          <a:prstGeom prst="rect">
            <a:avLst/>
          </a:prstGeom>
          <a:noFill/>
          <a:ln/>
        </p:spPr>
        <p:txBody>
          <a:bodyPr wrap="square" lIns="0" tIns="0" rIns="0" bIns="0" rtlCol="0" anchor="ctr"/>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DECLARACIÓN DEL PROYECTO</a:t>
            </a:r>
            <a:endParaRPr lang="es-CL" sz="1100" dirty="0"/>
          </a:p>
        </p:txBody>
      </p:sp>
      <p:sp>
        <p:nvSpPr>
          <p:cNvPr id="7" name="Text 5"/>
          <p:cNvSpPr txBox="1"/>
          <p:nvPr/>
        </p:nvSpPr>
        <p:spPr>
          <a:xfrm>
            <a:off x="548640" y="2441448"/>
            <a:ext cx="118872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MISIÓN</a:t>
            </a:r>
            <a:endParaRPr lang="es-CL" sz="1300" dirty="0"/>
          </a:p>
        </p:txBody>
      </p:sp>
      <p:sp>
        <p:nvSpPr>
          <p:cNvPr id="8" name="Text 6"/>
          <p:cNvSpPr txBox="1"/>
          <p:nvPr/>
        </p:nvSpPr>
        <p:spPr>
          <a:xfrm>
            <a:off x="1783080" y="2395728"/>
            <a:ext cx="9859975" cy="841248"/>
          </a:xfrm>
          <a:prstGeom prst="rect">
            <a:avLst/>
          </a:prstGeom>
          <a:noFill/>
          <a:ln/>
        </p:spPr>
        <p:txBody>
          <a:bodyPr wrap="square" lIns="0" tIns="0" rIns="0" bIns="0" rtlCol="0" anchor="t"/>
          <a:lstStyle/>
          <a:p>
            <a:pPr indent="0" marL="0">
              <a:lnSpc>
                <a:spcPct val="95000"/>
              </a:lnSpc>
              <a:buNone/>
            </a:pPr>
            <a:r>
              <a:rPr lang="es-CL" altLang="en-US" sz="1800" i="1" dirty="0">
                <a:solidFill>
                  <a:schemeClr val="tx1"/>
                </a:solidFill>
                <a:latin typeface="Instrument Serif" pitchFamily="34" charset="0"/>
                <a:ea typeface="Instrument Serif" pitchFamily="34" charset="-122"/>
                <a:cs typeface="Instrument Serif" pitchFamily="34" charset="-120"/>
              </a:rPr>
              <a:t>«Reducir el combustible que un vehículo liviano a combustión necesita por kilómetro, mediante la instalación certificada de un sistema de hibridación aditiva sobre el automóvil que el cliente ya tiene, sin reemplazarlo y sin intervenir su motor.»</a:t>
            </a:r>
            <a:endParaRPr lang="es-CL" sz="1800" dirty="0"/>
          </a:p>
        </p:txBody>
      </p:sp>
      <p:sp>
        <p:nvSpPr>
          <p:cNvPr id="9" name="Text 7"/>
          <p:cNvSpPr txBox="1"/>
          <p:nvPr/>
        </p:nvSpPr>
        <p:spPr>
          <a:xfrm>
            <a:off x="548640" y="3337560"/>
            <a:ext cx="118872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VISIÓN</a:t>
            </a:r>
            <a:endParaRPr lang="es-CL" sz="1300" dirty="0"/>
          </a:p>
        </p:txBody>
      </p:sp>
      <p:sp>
        <p:nvSpPr>
          <p:cNvPr id="10" name="Text 8"/>
          <p:cNvSpPr txBox="1"/>
          <p:nvPr/>
        </p:nvSpPr>
        <p:spPr>
          <a:xfrm>
            <a:off x="1783080" y="3291840"/>
            <a:ext cx="9859975" cy="603504"/>
          </a:xfrm>
          <a:prstGeom prst="rect">
            <a:avLst/>
          </a:prstGeom>
          <a:noFill/>
          <a:ln/>
        </p:spPr>
        <p:txBody>
          <a:bodyPr wrap="square" lIns="0" tIns="0" rIns="0" bIns="0" rtlCol="0" anchor="t"/>
          <a:lstStyle/>
          <a:p>
            <a:pPr indent="0" marL="0">
              <a:lnSpc>
                <a:spcPct val="95000"/>
              </a:lnSpc>
              <a:buNone/>
            </a:pPr>
            <a:r>
              <a:rPr lang="es-CL" altLang="en-US" sz="1800" i="1" dirty="0">
                <a:solidFill>
                  <a:schemeClr val="tx1"/>
                </a:solidFill>
                <a:latin typeface="Instrument Serif" pitchFamily="34" charset="0"/>
                <a:ea typeface="Instrument Serif" pitchFamily="34" charset="-122"/>
                <a:cs typeface="Instrument Serif" pitchFamily="34" charset="-120"/>
              </a:rPr>
              <a:t>«Ser hacia 2031 el taller de referencia en hibridación de vehículos en uso en Chile, con un procedimiento reconocido por la autoridad, las plantas de revisión técnica y las compañías de seguros.»</a:t>
            </a:r>
            <a:endParaRPr lang="es-CL" sz="1800" dirty="0"/>
          </a:p>
        </p:txBody>
      </p:sp>
      <p:sp>
        <p:nvSpPr>
          <p:cNvPr id="11" name="Shape 9"/>
          <p:cNvSpPr/>
          <p:nvPr/>
        </p:nvSpPr>
        <p:spPr>
          <a:xfrm>
            <a:off x="548640" y="3968496"/>
            <a:ext cx="5364328" cy="0"/>
          </a:xfrm>
          <a:prstGeom prst="line">
            <a:avLst/>
          </a:prstGeom>
          <a:noFill/>
          <a:ln w="9525">
            <a:solidFill>
              <a:schemeClr val="accent1"/>
            </a:solidFill>
            <a:prstDash val="solid"/>
          </a:ln>
        </p:spPr>
      </p:sp>
      <p:sp>
        <p:nvSpPr>
          <p:cNvPr id="12" name="Text 10"/>
          <p:cNvSpPr txBox="1"/>
          <p:nvPr/>
        </p:nvSpPr>
        <p:spPr>
          <a:xfrm>
            <a:off x="548640" y="4041648"/>
            <a:ext cx="5364328"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VALORES ORGANIZACIONALES</a:t>
            </a:r>
            <a:endParaRPr lang="es-CL" sz="1200" dirty="0"/>
          </a:p>
        </p:txBody>
      </p:sp>
      <p:sp>
        <p:nvSpPr>
          <p:cNvPr id="13" name="Shape 11"/>
          <p:cNvSpPr/>
          <p:nvPr/>
        </p:nvSpPr>
        <p:spPr>
          <a:xfrm>
            <a:off x="548640" y="4517136"/>
            <a:ext cx="128016" cy="128016"/>
          </a:xfrm>
          <a:prstGeom prst="rect">
            <a:avLst/>
          </a:prstGeom>
          <a:solidFill>
            <a:schemeClr val="accent1"/>
          </a:solidFill>
          <a:ln/>
        </p:spPr>
      </p:sp>
      <p:sp>
        <p:nvSpPr>
          <p:cNvPr id="14" name="Text 12"/>
          <p:cNvSpPr txBox="1"/>
          <p:nvPr/>
        </p:nvSpPr>
        <p:spPr>
          <a:xfrm>
            <a:off x="822960" y="4352544"/>
            <a:ext cx="5090008" cy="457200"/>
          </a:xfrm>
          <a:prstGeom prst="rect">
            <a:avLst/>
          </a:prstGeom>
          <a:noFill/>
          <a:ln/>
        </p:spPr>
        <p:txBody>
          <a:bodyPr wrap="square" lIns="0" tIns="0" rIns="0" bIns="0" rtlCol="0" anchor="ctr"/>
          <a:lstStyle/>
          <a:p>
            <a:pPr indent="0" marL="0">
              <a:lnSpc>
                <a:spcPct val="90000"/>
              </a:lnSpc>
              <a:buNone/>
            </a:pPr>
            <a:r>
              <a:rPr lang="es-CL" altLang="en-US" sz="1600" b="1" dirty="0">
                <a:solidFill>
                  <a:schemeClr val="tx1"/>
                </a:solidFill>
                <a:latin typeface="Figtree" pitchFamily="34" charset="0"/>
                <a:ea typeface="Figtree" pitchFamily="34" charset="-122"/>
                <a:cs typeface="Figtree" pitchFamily="34" charset="-120"/>
              </a:rPr>
              <a:t>Verificabilidad antes que afirmación</a:t>
            </a:r>
            <a:endParaRPr lang="es-CL" sz="1600" dirty="0"/>
          </a:p>
        </p:txBody>
      </p:sp>
      <p:sp>
        <p:nvSpPr>
          <p:cNvPr id="15" name="Shape 13"/>
          <p:cNvSpPr/>
          <p:nvPr/>
        </p:nvSpPr>
        <p:spPr>
          <a:xfrm>
            <a:off x="548640" y="4992624"/>
            <a:ext cx="128016" cy="128016"/>
          </a:xfrm>
          <a:prstGeom prst="rect">
            <a:avLst/>
          </a:prstGeom>
          <a:solidFill>
            <a:schemeClr val="accent1"/>
          </a:solidFill>
          <a:ln/>
        </p:spPr>
      </p:sp>
      <p:sp>
        <p:nvSpPr>
          <p:cNvPr id="16" name="Text 14"/>
          <p:cNvSpPr txBox="1"/>
          <p:nvPr/>
        </p:nvSpPr>
        <p:spPr>
          <a:xfrm>
            <a:off x="822960" y="4828032"/>
            <a:ext cx="5090008" cy="457200"/>
          </a:xfrm>
          <a:prstGeom prst="rect">
            <a:avLst/>
          </a:prstGeom>
          <a:noFill/>
          <a:ln/>
        </p:spPr>
        <p:txBody>
          <a:bodyPr wrap="square" lIns="0" tIns="0" rIns="0" bIns="0" rtlCol="0" anchor="ctr"/>
          <a:lstStyle/>
          <a:p>
            <a:pPr indent="0" marL="0">
              <a:lnSpc>
                <a:spcPct val="90000"/>
              </a:lnSpc>
              <a:buNone/>
            </a:pPr>
            <a:r>
              <a:rPr lang="es-CL" altLang="en-US" sz="1600" b="1" dirty="0">
                <a:solidFill>
                  <a:schemeClr val="tx1"/>
                </a:solidFill>
                <a:latin typeface="Figtree" pitchFamily="34" charset="0"/>
                <a:ea typeface="Figtree" pitchFamily="34" charset="-122"/>
                <a:cs typeface="Figtree" pitchFamily="34" charset="-120"/>
              </a:rPr>
              <a:t>Formalidad como condición de operación</a:t>
            </a:r>
            <a:endParaRPr lang="es-CL" sz="1600" dirty="0"/>
          </a:p>
        </p:txBody>
      </p:sp>
      <p:sp>
        <p:nvSpPr>
          <p:cNvPr id="17" name="Shape 15"/>
          <p:cNvSpPr/>
          <p:nvPr/>
        </p:nvSpPr>
        <p:spPr>
          <a:xfrm>
            <a:off x="548640" y="5468112"/>
            <a:ext cx="128016" cy="128016"/>
          </a:xfrm>
          <a:prstGeom prst="rect">
            <a:avLst/>
          </a:prstGeom>
          <a:solidFill>
            <a:schemeClr val="accent5"/>
          </a:solidFill>
          <a:ln/>
        </p:spPr>
      </p:sp>
      <p:sp>
        <p:nvSpPr>
          <p:cNvPr id="18" name="Text 16"/>
          <p:cNvSpPr txBox="1"/>
          <p:nvPr/>
        </p:nvSpPr>
        <p:spPr>
          <a:xfrm>
            <a:off x="822960" y="5303520"/>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Trazabilidad del conocimiento técnico</a:t>
            </a:r>
            <a:endParaRPr lang="es-CL" sz="1600" dirty="0"/>
          </a:p>
        </p:txBody>
      </p:sp>
      <p:sp>
        <p:nvSpPr>
          <p:cNvPr id="19" name="Shape 17"/>
          <p:cNvSpPr/>
          <p:nvPr/>
        </p:nvSpPr>
        <p:spPr>
          <a:xfrm>
            <a:off x="548640" y="5943600"/>
            <a:ext cx="128016" cy="128016"/>
          </a:xfrm>
          <a:prstGeom prst="rect">
            <a:avLst/>
          </a:prstGeom>
          <a:solidFill>
            <a:schemeClr val="accent5"/>
          </a:solidFill>
          <a:ln/>
        </p:spPr>
      </p:sp>
      <p:sp>
        <p:nvSpPr>
          <p:cNvPr id="20" name="Text 18"/>
          <p:cNvSpPr txBox="1"/>
          <p:nvPr/>
        </p:nvSpPr>
        <p:spPr>
          <a:xfrm>
            <a:off x="822960" y="5779008"/>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Responsabilidad sobre el ciclo completo del componente</a:t>
            </a:r>
            <a:endParaRPr lang="es-CL" sz="1600" dirty="0"/>
          </a:p>
        </p:txBody>
      </p:sp>
      <p:sp>
        <p:nvSpPr>
          <p:cNvPr id="21" name="Shape 19"/>
          <p:cNvSpPr/>
          <p:nvPr/>
        </p:nvSpPr>
        <p:spPr>
          <a:xfrm>
            <a:off x="6278728" y="3968496"/>
            <a:ext cx="5364328" cy="0"/>
          </a:xfrm>
          <a:prstGeom prst="line">
            <a:avLst/>
          </a:prstGeom>
          <a:noFill/>
          <a:ln w="9525">
            <a:solidFill>
              <a:schemeClr val="accent1"/>
            </a:solidFill>
            <a:prstDash val="solid"/>
          </a:ln>
        </p:spPr>
      </p:sp>
      <p:sp>
        <p:nvSpPr>
          <p:cNvPr id="22" name="Text 20"/>
          <p:cNvSpPr txBox="1"/>
          <p:nvPr/>
        </p:nvSpPr>
        <p:spPr>
          <a:xfrm>
            <a:off x="6278728" y="4041648"/>
            <a:ext cx="5364328"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VALORES HUMANOS</a:t>
            </a:r>
            <a:endParaRPr lang="es-CL" sz="1200" dirty="0"/>
          </a:p>
        </p:txBody>
      </p:sp>
      <p:sp>
        <p:nvSpPr>
          <p:cNvPr id="23" name="Shape 21"/>
          <p:cNvSpPr/>
          <p:nvPr/>
        </p:nvSpPr>
        <p:spPr>
          <a:xfrm>
            <a:off x="6278728" y="4517136"/>
            <a:ext cx="128016" cy="128016"/>
          </a:xfrm>
          <a:prstGeom prst="rect">
            <a:avLst/>
          </a:prstGeom>
          <a:solidFill>
            <a:schemeClr val="accent5"/>
          </a:solidFill>
          <a:ln/>
        </p:spPr>
      </p:sp>
      <p:sp>
        <p:nvSpPr>
          <p:cNvPr id="24" name="Text 22"/>
          <p:cNvSpPr txBox="1"/>
          <p:nvPr/>
        </p:nvSpPr>
        <p:spPr>
          <a:xfrm>
            <a:off x="6553048" y="4352544"/>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Honestidad técnica en el diagnóstico</a:t>
            </a:r>
            <a:endParaRPr lang="es-CL" sz="1600" dirty="0"/>
          </a:p>
        </p:txBody>
      </p:sp>
      <p:sp>
        <p:nvSpPr>
          <p:cNvPr id="25" name="Shape 23"/>
          <p:cNvSpPr/>
          <p:nvPr/>
        </p:nvSpPr>
        <p:spPr>
          <a:xfrm>
            <a:off x="6278728" y="4992624"/>
            <a:ext cx="128016" cy="128016"/>
          </a:xfrm>
          <a:prstGeom prst="rect">
            <a:avLst/>
          </a:prstGeom>
          <a:solidFill>
            <a:schemeClr val="accent1"/>
          </a:solidFill>
          <a:ln/>
        </p:spPr>
      </p:sp>
      <p:sp>
        <p:nvSpPr>
          <p:cNvPr id="26" name="Text 24"/>
          <p:cNvSpPr txBox="1"/>
          <p:nvPr/>
        </p:nvSpPr>
        <p:spPr>
          <a:xfrm>
            <a:off x="6553048" y="4828032"/>
            <a:ext cx="5090008" cy="457200"/>
          </a:xfrm>
          <a:prstGeom prst="rect">
            <a:avLst/>
          </a:prstGeom>
          <a:noFill/>
          <a:ln/>
        </p:spPr>
        <p:txBody>
          <a:bodyPr wrap="square" lIns="0" tIns="0" rIns="0" bIns="0" rtlCol="0" anchor="ctr"/>
          <a:lstStyle/>
          <a:p>
            <a:pPr indent="0" marL="0">
              <a:lnSpc>
                <a:spcPct val="90000"/>
              </a:lnSpc>
              <a:buNone/>
            </a:pPr>
            <a:r>
              <a:rPr lang="es-CL" altLang="en-US" sz="1600" b="1" dirty="0">
                <a:solidFill>
                  <a:schemeClr val="tx1"/>
                </a:solidFill>
                <a:latin typeface="Figtree" pitchFamily="34" charset="0"/>
                <a:ea typeface="Figtree" pitchFamily="34" charset="-122"/>
                <a:cs typeface="Figtree" pitchFamily="34" charset="-120"/>
              </a:rPr>
              <a:t>Seguridad de quien instala y de quien conduce</a:t>
            </a:r>
            <a:endParaRPr lang="es-CL" sz="1600" dirty="0"/>
          </a:p>
        </p:txBody>
      </p:sp>
      <p:sp>
        <p:nvSpPr>
          <p:cNvPr id="27" name="Shape 25"/>
          <p:cNvSpPr/>
          <p:nvPr/>
        </p:nvSpPr>
        <p:spPr>
          <a:xfrm>
            <a:off x="6278728" y="5468112"/>
            <a:ext cx="128016" cy="128016"/>
          </a:xfrm>
          <a:prstGeom prst="rect">
            <a:avLst/>
          </a:prstGeom>
          <a:solidFill>
            <a:schemeClr val="accent5"/>
          </a:solidFill>
          <a:ln/>
        </p:spPr>
      </p:sp>
      <p:sp>
        <p:nvSpPr>
          <p:cNvPr id="28" name="Text 26"/>
          <p:cNvSpPr txBox="1"/>
          <p:nvPr/>
        </p:nvSpPr>
        <p:spPr>
          <a:xfrm>
            <a:off x="6553048" y="5303520"/>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Responsabilidad individual sobre la instalación ejecutada</a:t>
            </a:r>
            <a:endParaRPr lang="es-CL" sz="1600" dirty="0"/>
          </a:p>
        </p:txBody>
      </p:sp>
      <p:sp>
        <p:nvSpPr>
          <p:cNvPr id="29" name="Shape 27"/>
          <p:cNvSpPr/>
          <p:nvPr/>
        </p:nvSpPr>
        <p:spPr>
          <a:xfrm>
            <a:off x="6278728" y="5943600"/>
            <a:ext cx="128016" cy="128016"/>
          </a:xfrm>
          <a:prstGeom prst="rect">
            <a:avLst/>
          </a:prstGeom>
          <a:solidFill>
            <a:schemeClr val="accent5"/>
          </a:solidFill>
          <a:ln/>
        </p:spPr>
      </p:sp>
      <p:sp>
        <p:nvSpPr>
          <p:cNvPr id="30" name="Text 28"/>
          <p:cNvSpPr txBox="1"/>
          <p:nvPr/>
        </p:nvSpPr>
        <p:spPr>
          <a:xfrm>
            <a:off x="6553048" y="5779008"/>
            <a:ext cx="5090008" cy="457200"/>
          </a:xfrm>
          <a:prstGeom prst="rect">
            <a:avLst/>
          </a:prstGeom>
          <a:noFill/>
          <a:ln/>
        </p:spPr>
        <p:txBody>
          <a:bodyPr wrap="square" lIns="0" tIns="0" rIns="0" bIns="0" rtlCol="0" anchor="ctr"/>
          <a:lstStyle/>
          <a:p>
            <a:pPr indent="0" marL="0">
              <a:lnSpc>
                <a:spcPct val="90000"/>
              </a:lnSpc>
              <a:buNone/>
            </a:pPr>
            <a:r>
              <a:rPr lang="es-CL" altLang="en-US" sz="1600" dirty="0">
                <a:solidFill>
                  <a:schemeClr val="tx2"/>
                </a:solidFill>
                <a:latin typeface="Figtree" pitchFamily="34" charset="0"/>
                <a:ea typeface="Figtree" pitchFamily="34" charset="-122"/>
                <a:cs typeface="Figtree" pitchFamily="34" charset="-120"/>
              </a:rPr>
              <a:t>Reconocimiento del oficio técnico</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06</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6 · ANÁLISIS ESTRATÉGICO · SÍNTESIS DEL DIAGNÓSTICO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CUATRO NÚMEROS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resumen el diagnóstico.</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instrumentos 02, 03 y 05 del equipo; INE (2026); Banco Central de Chile (2026); Ley N° 21.793 (14-01-2026) y borrador del MTT (diciembre de 2021).</a:t>
            </a:r>
            <a:endParaRPr lang="es-CL" sz="1100" dirty="0"/>
          </a:p>
        </p:txBody>
      </p:sp>
      <p:sp>
        <p:nvSpPr>
          <p:cNvPr id="5" name="Shape 3"/>
          <p:cNvSpPr/>
          <p:nvPr/>
        </p:nvSpPr>
        <p:spPr>
          <a:xfrm>
            <a:off x="548640" y="2395728"/>
            <a:ext cx="2602154" cy="3063240"/>
          </a:xfrm>
          <a:prstGeom prst="rect">
            <a:avLst/>
          </a:prstGeom>
          <a:solidFill>
            <a:schemeClr val="bg2"/>
          </a:solidFill>
          <a:ln w="9525">
            <a:solidFill>
              <a:schemeClr val="tx2"/>
            </a:solidFill>
            <a:prstDash val="solid"/>
          </a:ln>
        </p:spPr>
      </p:sp>
      <p:sp>
        <p:nvSpPr>
          <p:cNvPr id="6" name="Text 4"/>
          <p:cNvSpPr txBox="1"/>
          <p:nvPr/>
        </p:nvSpPr>
        <p:spPr>
          <a:xfrm>
            <a:off x="749808" y="2578608"/>
            <a:ext cx="2236394"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ENTORNO · PEST</a:t>
            </a:r>
            <a:endParaRPr lang="es-CL" sz="1300" dirty="0"/>
          </a:p>
        </p:txBody>
      </p:sp>
      <p:sp>
        <p:nvSpPr>
          <p:cNvPr id="7" name="Text 5"/>
          <p:cNvSpPr txBox="1"/>
          <p:nvPr/>
        </p:nvSpPr>
        <p:spPr>
          <a:xfrm>
            <a:off x="749808" y="2898648"/>
            <a:ext cx="2236394" cy="868680"/>
          </a:xfrm>
          <a:prstGeom prst="rect">
            <a:avLst/>
          </a:prstGeom>
          <a:noFill/>
          <a:ln/>
        </p:spPr>
        <p:txBody>
          <a:bodyPr wrap="square" lIns="0" tIns="0" rIns="0" bIns="0" rtlCol="0" anchor="ctr"/>
          <a:lstStyle/>
          <a:p>
            <a:pPr indent="0" marL="0">
              <a:buNone/>
            </a:pPr>
            <a:r>
              <a:rPr lang="es-CL" altLang="en-US" sz="6000" b="1" dirty="0">
                <a:solidFill>
                  <a:schemeClr val="tx1"/>
                </a:solidFill>
                <a:latin typeface="Archivo Condensed" pitchFamily="34" charset="0"/>
                <a:ea typeface="Archivo Condensed" pitchFamily="34" charset="-122"/>
                <a:cs typeface="Archivo Condensed" pitchFamily="34" charset="-120"/>
              </a:rPr>
              <a:t>2,82</a:t>
            </a:r>
            <a:endParaRPr lang="es-CL" sz="6000" dirty="0"/>
          </a:p>
        </p:txBody>
      </p:sp>
      <p:sp>
        <p:nvSpPr>
          <p:cNvPr id="8" name="Text 6"/>
          <p:cNvSpPr txBox="1"/>
          <p:nvPr/>
        </p:nvSpPr>
        <p:spPr>
          <a:xfrm>
            <a:off x="749808" y="3767328"/>
            <a:ext cx="2236394" cy="365760"/>
          </a:xfrm>
          <a:prstGeom prst="rect">
            <a:avLst/>
          </a:prstGeom>
          <a:noFill/>
          <a:ln/>
        </p:spPr>
        <p:txBody>
          <a:bodyPr wrap="square" lIns="0" tIns="0" rIns="0" bIns="0" rtlCol="0" anchor="t"/>
          <a:lstStyle/>
          <a:p>
            <a:pPr indent="0" marL="0">
              <a:buNone/>
            </a:pPr>
            <a:r>
              <a:rPr lang="es-CL" altLang="en-US" sz="1500" dirty="0">
                <a:solidFill>
                  <a:schemeClr val="tx2"/>
                </a:solidFill>
                <a:latin typeface="Figtree" pitchFamily="34" charset="0"/>
                <a:ea typeface="Figtree" pitchFamily="34" charset="-122"/>
                <a:cs typeface="Figtree" pitchFamily="34" charset="-120"/>
              </a:rPr>
              <a:t>de 5 · bajo el neutro 3</a:t>
            </a:r>
            <a:endParaRPr lang="es-CL" sz="1500" dirty="0"/>
          </a:p>
        </p:txBody>
      </p:sp>
      <p:sp>
        <p:nvSpPr>
          <p:cNvPr id="9" name="Shape 7"/>
          <p:cNvSpPr/>
          <p:nvPr/>
        </p:nvSpPr>
        <p:spPr>
          <a:xfrm>
            <a:off x="749808" y="4224528"/>
            <a:ext cx="2199818" cy="0"/>
          </a:xfrm>
          <a:prstGeom prst="line">
            <a:avLst/>
          </a:prstGeom>
          <a:noFill/>
          <a:ln w="9525">
            <a:solidFill>
              <a:schemeClr val="accent5"/>
            </a:solidFill>
            <a:prstDash val="solid"/>
          </a:ln>
        </p:spPr>
      </p:sp>
      <p:sp>
        <p:nvSpPr>
          <p:cNvPr id="10" name="Text 8"/>
          <p:cNvSpPr txBox="1"/>
          <p:nvPr/>
        </p:nvSpPr>
        <p:spPr>
          <a:xfrm>
            <a:off x="749808" y="4315968"/>
            <a:ext cx="2236394" cy="1051560"/>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Frenos: económico (2,38) y político-jurídico (2,67)</a:t>
            </a:r>
            <a:endParaRPr lang="es-CL" sz="1700" dirty="0"/>
          </a:p>
        </p:txBody>
      </p:sp>
      <p:sp>
        <p:nvSpPr>
          <p:cNvPr id="11" name="Shape 9"/>
          <p:cNvSpPr/>
          <p:nvPr/>
        </p:nvSpPr>
        <p:spPr>
          <a:xfrm>
            <a:off x="3379394" y="2395728"/>
            <a:ext cx="2602154" cy="3063240"/>
          </a:xfrm>
          <a:prstGeom prst="rect">
            <a:avLst/>
          </a:prstGeom>
          <a:solidFill>
            <a:schemeClr val="bg2"/>
          </a:solidFill>
          <a:ln w="9525">
            <a:solidFill>
              <a:schemeClr val="tx2"/>
            </a:solidFill>
            <a:prstDash val="solid"/>
          </a:ln>
        </p:spPr>
      </p:sp>
      <p:sp>
        <p:nvSpPr>
          <p:cNvPr id="12" name="Text 10"/>
          <p:cNvSpPr txBox="1"/>
          <p:nvPr/>
        </p:nvSpPr>
        <p:spPr>
          <a:xfrm>
            <a:off x="3580562" y="2578608"/>
            <a:ext cx="2236394"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INDUSTRIA · PORTER</a:t>
            </a:r>
            <a:endParaRPr lang="es-CL" sz="1300" dirty="0"/>
          </a:p>
        </p:txBody>
      </p:sp>
      <p:sp>
        <p:nvSpPr>
          <p:cNvPr id="13" name="Text 11"/>
          <p:cNvSpPr txBox="1"/>
          <p:nvPr/>
        </p:nvSpPr>
        <p:spPr>
          <a:xfrm>
            <a:off x="3580562" y="2898648"/>
            <a:ext cx="2236394" cy="868680"/>
          </a:xfrm>
          <a:prstGeom prst="rect">
            <a:avLst/>
          </a:prstGeom>
          <a:noFill/>
          <a:ln/>
        </p:spPr>
        <p:txBody>
          <a:bodyPr wrap="square" lIns="0" tIns="0" rIns="0" bIns="0" rtlCol="0" anchor="ctr"/>
          <a:lstStyle/>
          <a:p>
            <a:pPr indent="0" marL="0">
              <a:buNone/>
            </a:pPr>
            <a:r>
              <a:rPr lang="es-CL" altLang="en-US" sz="6000" b="1" dirty="0">
                <a:solidFill>
                  <a:schemeClr val="tx1"/>
                </a:solidFill>
                <a:latin typeface="Archivo Condensed" pitchFamily="34" charset="0"/>
                <a:ea typeface="Archivo Condensed" pitchFamily="34" charset="-122"/>
                <a:cs typeface="Archivo Condensed" pitchFamily="34" charset="-120"/>
              </a:rPr>
              <a:t>3,49</a:t>
            </a:r>
            <a:endParaRPr lang="es-CL" sz="6000" dirty="0"/>
          </a:p>
        </p:txBody>
      </p:sp>
      <p:sp>
        <p:nvSpPr>
          <p:cNvPr id="14" name="Text 12"/>
          <p:cNvSpPr txBox="1"/>
          <p:nvPr/>
        </p:nvSpPr>
        <p:spPr>
          <a:xfrm>
            <a:off x="3580562" y="3767328"/>
            <a:ext cx="2236394" cy="365760"/>
          </a:xfrm>
          <a:prstGeom prst="rect">
            <a:avLst/>
          </a:prstGeom>
          <a:noFill/>
          <a:ln/>
        </p:spPr>
        <p:txBody>
          <a:bodyPr wrap="square" lIns="0" tIns="0" rIns="0" bIns="0" rtlCol="0" anchor="t"/>
          <a:lstStyle/>
          <a:p>
            <a:pPr indent="0" marL="0">
              <a:buNone/>
            </a:pPr>
            <a:r>
              <a:rPr lang="es-CL" altLang="en-US" sz="1500" dirty="0">
                <a:solidFill>
                  <a:schemeClr val="tx2"/>
                </a:solidFill>
                <a:latin typeface="Figtree" pitchFamily="34" charset="0"/>
                <a:ea typeface="Figtree" pitchFamily="34" charset="-122"/>
                <a:cs typeface="Figtree" pitchFamily="34" charset="-120"/>
              </a:rPr>
              <a:t>de 5 · poco atractiva</a:t>
            </a:r>
            <a:endParaRPr lang="es-CL" sz="1500" dirty="0"/>
          </a:p>
        </p:txBody>
      </p:sp>
      <p:sp>
        <p:nvSpPr>
          <p:cNvPr id="15" name="Shape 13"/>
          <p:cNvSpPr/>
          <p:nvPr/>
        </p:nvSpPr>
        <p:spPr>
          <a:xfrm>
            <a:off x="3580562" y="4224528"/>
            <a:ext cx="2199818" cy="0"/>
          </a:xfrm>
          <a:prstGeom prst="line">
            <a:avLst/>
          </a:prstGeom>
          <a:noFill/>
          <a:ln w="9525">
            <a:solidFill>
              <a:schemeClr val="accent5"/>
            </a:solidFill>
            <a:prstDash val="solid"/>
          </a:ln>
        </p:spPr>
      </p:sp>
      <p:sp>
        <p:nvSpPr>
          <p:cNvPr id="16" name="Text 14"/>
          <p:cNvSpPr txBox="1"/>
          <p:nvPr/>
        </p:nvSpPr>
        <p:spPr>
          <a:xfrm>
            <a:off x="3580562" y="4315968"/>
            <a:ext cx="2236394" cy="1051560"/>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Sustituto principal: posponer la inversión (5,00)</a:t>
            </a:r>
            <a:endParaRPr lang="es-CL" sz="1700" dirty="0"/>
          </a:p>
        </p:txBody>
      </p:sp>
      <p:sp>
        <p:nvSpPr>
          <p:cNvPr id="17" name="Shape 15"/>
          <p:cNvSpPr/>
          <p:nvPr/>
        </p:nvSpPr>
        <p:spPr>
          <a:xfrm>
            <a:off x="6210148" y="2395728"/>
            <a:ext cx="2602154" cy="3063240"/>
          </a:xfrm>
          <a:prstGeom prst="rect">
            <a:avLst/>
          </a:prstGeom>
          <a:solidFill>
            <a:schemeClr val="bg2"/>
          </a:solidFill>
          <a:ln w="9525">
            <a:solidFill>
              <a:schemeClr val="tx2"/>
            </a:solidFill>
            <a:prstDash val="solid"/>
          </a:ln>
        </p:spPr>
      </p:sp>
      <p:sp>
        <p:nvSpPr>
          <p:cNvPr id="18" name="Text 16"/>
          <p:cNvSpPr txBox="1"/>
          <p:nvPr/>
        </p:nvSpPr>
        <p:spPr>
          <a:xfrm>
            <a:off x="6411316" y="2578608"/>
            <a:ext cx="2236394"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RECURSOS · VRIO</a:t>
            </a:r>
            <a:endParaRPr lang="es-CL" sz="1300" dirty="0"/>
          </a:p>
        </p:txBody>
      </p:sp>
      <p:sp>
        <p:nvSpPr>
          <p:cNvPr id="19" name="Text 17"/>
          <p:cNvSpPr txBox="1"/>
          <p:nvPr/>
        </p:nvSpPr>
        <p:spPr>
          <a:xfrm>
            <a:off x="6411316" y="2898648"/>
            <a:ext cx="2236394" cy="868680"/>
          </a:xfrm>
          <a:prstGeom prst="rect">
            <a:avLst/>
          </a:prstGeom>
          <a:noFill/>
          <a:ln/>
        </p:spPr>
        <p:txBody>
          <a:bodyPr wrap="square" lIns="0" tIns="0" rIns="0" bIns="0" rtlCol="0" anchor="ctr"/>
          <a:lstStyle/>
          <a:p>
            <a:pPr indent="0" marL="0">
              <a:buNone/>
            </a:pPr>
            <a:r>
              <a:rPr lang="es-CL" altLang="en-US" sz="4600" b="1" dirty="0">
                <a:solidFill>
                  <a:schemeClr val="tx1"/>
                </a:solidFill>
                <a:latin typeface="Archivo Condensed" pitchFamily="34" charset="0"/>
                <a:ea typeface="Archivo Condensed" pitchFamily="34" charset="-122"/>
                <a:cs typeface="Archivo Condensed" pitchFamily="34" charset="-120"/>
              </a:rPr>
              <a:t>2 de 15</a:t>
            </a:r>
            <a:endParaRPr lang="es-CL" sz="4600" dirty="0"/>
          </a:p>
        </p:txBody>
      </p:sp>
      <p:sp>
        <p:nvSpPr>
          <p:cNvPr id="20" name="Text 18"/>
          <p:cNvSpPr txBox="1"/>
          <p:nvPr/>
        </p:nvSpPr>
        <p:spPr>
          <a:xfrm>
            <a:off x="6411316" y="3767328"/>
            <a:ext cx="2236394" cy="365760"/>
          </a:xfrm>
          <a:prstGeom prst="rect">
            <a:avLst/>
          </a:prstGeom>
          <a:noFill/>
          <a:ln/>
        </p:spPr>
        <p:txBody>
          <a:bodyPr wrap="square" lIns="0" tIns="0" rIns="0" bIns="0" rtlCol="0" anchor="t"/>
          <a:lstStyle/>
          <a:p>
            <a:pPr indent="0" marL="0">
              <a:buNone/>
            </a:pPr>
            <a:r>
              <a:rPr lang="es-CL" altLang="en-US" sz="1500" dirty="0">
                <a:solidFill>
                  <a:schemeClr val="tx2"/>
                </a:solidFill>
                <a:latin typeface="Figtree" pitchFamily="34" charset="0"/>
                <a:ea typeface="Figtree" pitchFamily="34" charset="-122"/>
                <a:cs typeface="Figtree" pitchFamily="34" charset="-120"/>
              </a:rPr>
              <a:t>potencialmente sostenibles</a:t>
            </a:r>
            <a:endParaRPr lang="es-CL" sz="1500" dirty="0"/>
          </a:p>
        </p:txBody>
      </p:sp>
      <p:sp>
        <p:nvSpPr>
          <p:cNvPr id="21" name="Shape 19"/>
          <p:cNvSpPr/>
          <p:nvPr/>
        </p:nvSpPr>
        <p:spPr>
          <a:xfrm>
            <a:off x="6411316" y="4224528"/>
            <a:ext cx="2199818" cy="0"/>
          </a:xfrm>
          <a:prstGeom prst="line">
            <a:avLst/>
          </a:prstGeom>
          <a:noFill/>
          <a:ln w="9525">
            <a:solidFill>
              <a:schemeClr val="accent5"/>
            </a:solidFill>
            <a:prstDash val="solid"/>
          </a:ln>
        </p:spPr>
      </p:sp>
      <p:sp>
        <p:nvSpPr>
          <p:cNvPr id="22" name="Text 20"/>
          <p:cNvSpPr txBox="1"/>
          <p:nvPr/>
        </p:nvSpPr>
        <p:spPr>
          <a:xfrm>
            <a:off x="6411316" y="4315968"/>
            <a:ext cx="2236394" cy="1051560"/>
          </a:xfrm>
          <a:prstGeom prst="rect">
            <a:avLst/>
          </a:prstGeom>
          <a:noFill/>
          <a:ln/>
        </p:spPr>
        <p:txBody>
          <a:bodyPr wrap="square" lIns="0" tIns="0" rIns="0" bIns="0" rtlCol="0" anchor="t"/>
          <a:lstStyle/>
          <a:p>
            <a:pPr indent="0" marL="0">
              <a:buNone/>
            </a:pPr>
            <a:r>
              <a:rPr lang="es-CL" altLang="en-US" sz="1700" dirty="0">
                <a:solidFill>
                  <a:schemeClr val="tx1"/>
                </a:solidFill>
                <a:latin typeface="Figtree" pitchFamily="34" charset="0"/>
                <a:ea typeface="Figtree" pitchFamily="34" charset="-122"/>
                <a:cs typeface="Figtree" pitchFamily="34" charset="-120"/>
              </a:rPr>
              <a:t>Biblioteca de calibraciones e ingeniería de integración</a:t>
            </a:r>
            <a:endParaRPr lang="es-CL" sz="1700" dirty="0"/>
          </a:p>
        </p:txBody>
      </p:sp>
      <p:pic>
        <p:nvPicPr>
          <p:cNvPr id="23" name="Image 0" descr="C:\Users\Usuario\Documents\GitHub\lumine\tig-final\generador\assets\brillo.png">    </p:cNvPr>
          <p:cNvPicPr>
            <a:picLocks noChangeAspect="1"/>
          </p:cNvPicPr>
          <p:nvPr/>
        </p:nvPicPr>
        <p:blipFill>
          <a:blip r:embed="rId1"/>
          <a:stretch>
            <a:fillRect/>
          </a:stretch>
        </p:blipFill>
        <p:spPr>
          <a:xfrm>
            <a:off x="8629421" y="2107692"/>
            <a:ext cx="3425114" cy="3639312"/>
          </a:xfrm>
          <a:prstGeom prst="rect">
            <a:avLst/>
          </a:prstGeom>
        </p:spPr>
      </p:pic>
      <p:sp>
        <p:nvSpPr>
          <p:cNvPr id="24" name="Shape 21"/>
          <p:cNvSpPr/>
          <p:nvPr/>
        </p:nvSpPr>
        <p:spPr>
          <a:xfrm>
            <a:off x="9040901" y="2395728"/>
            <a:ext cx="2602154" cy="3063240"/>
          </a:xfrm>
          <a:prstGeom prst="rect">
            <a:avLst/>
          </a:prstGeom>
          <a:solidFill>
            <a:srgbClr val="0B1A22"/>
          </a:solidFill>
          <a:ln w="15875">
            <a:solidFill>
              <a:schemeClr val="accent1"/>
            </a:solidFill>
            <a:prstDash val="solid"/>
          </a:ln>
        </p:spPr>
      </p:sp>
      <p:sp>
        <p:nvSpPr>
          <p:cNvPr id="25" name="Shape 22"/>
          <p:cNvSpPr/>
          <p:nvPr/>
        </p:nvSpPr>
        <p:spPr>
          <a:xfrm>
            <a:off x="8986037" y="2340864"/>
            <a:ext cx="155448" cy="0"/>
          </a:xfrm>
          <a:prstGeom prst="line">
            <a:avLst/>
          </a:prstGeom>
          <a:noFill/>
          <a:ln w="15875">
            <a:solidFill>
              <a:schemeClr val="accent1"/>
            </a:solidFill>
            <a:prstDash val="solid"/>
          </a:ln>
        </p:spPr>
      </p:sp>
      <p:sp>
        <p:nvSpPr>
          <p:cNvPr id="26" name="Shape 23"/>
          <p:cNvSpPr/>
          <p:nvPr/>
        </p:nvSpPr>
        <p:spPr>
          <a:xfrm>
            <a:off x="8986037" y="2340864"/>
            <a:ext cx="0" cy="155448"/>
          </a:xfrm>
          <a:prstGeom prst="line">
            <a:avLst/>
          </a:prstGeom>
          <a:noFill/>
          <a:ln w="15875">
            <a:solidFill>
              <a:schemeClr val="accent1"/>
            </a:solidFill>
            <a:prstDash val="solid"/>
          </a:ln>
        </p:spPr>
      </p:sp>
      <p:sp>
        <p:nvSpPr>
          <p:cNvPr id="27" name="Shape 24"/>
          <p:cNvSpPr/>
          <p:nvPr/>
        </p:nvSpPr>
        <p:spPr>
          <a:xfrm>
            <a:off x="11542471" y="2340864"/>
            <a:ext cx="155448" cy="0"/>
          </a:xfrm>
          <a:prstGeom prst="line">
            <a:avLst/>
          </a:prstGeom>
          <a:noFill/>
          <a:ln w="15875">
            <a:solidFill>
              <a:schemeClr val="accent1"/>
            </a:solidFill>
            <a:prstDash val="solid"/>
          </a:ln>
        </p:spPr>
      </p:sp>
      <p:sp>
        <p:nvSpPr>
          <p:cNvPr id="28" name="Shape 25"/>
          <p:cNvSpPr/>
          <p:nvPr/>
        </p:nvSpPr>
        <p:spPr>
          <a:xfrm>
            <a:off x="11697919" y="2340864"/>
            <a:ext cx="0" cy="155448"/>
          </a:xfrm>
          <a:prstGeom prst="line">
            <a:avLst/>
          </a:prstGeom>
          <a:noFill/>
          <a:ln w="15875">
            <a:solidFill>
              <a:schemeClr val="accent1"/>
            </a:solidFill>
            <a:prstDash val="solid"/>
          </a:ln>
        </p:spPr>
      </p:sp>
      <p:sp>
        <p:nvSpPr>
          <p:cNvPr id="29" name="Shape 26"/>
          <p:cNvSpPr/>
          <p:nvPr/>
        </p:nvSpPr>
        <p:spPr>
          <a:xfrm>
            <a:off x="8986037" y="5513832"/>
            <a:ext cx="155448" cy="0"/>
          </a:xfrm>
          <a:prstGeom prst="line">
            <a:avLst/>
          </a:prstGeom>
          <a:noFill/>
          <a:ln w="15875">
            <a:solidFill>
              <a:schemeClr val="accent1"/>
            </a:solidFill>
            <a:prstDash val="solid"/>
          </a:ln>
        </p:spPr>
      </p:sp>
      <p:sp>
        <p:nvSpPr>
          <p:cNvPr id="30" name="Shape 27"/>
          <p:cNvSpPr/>
          <p:nvPr/>
        </p:nvSpPr>
        <p:spPr>
          <a:xfrm>
            <a:off x="8986037" y="5358384"/>
            <a:ext cx="0" cy="155448"/>
          </a:xfrm>
          <a:prstGeom prst="line">
            <a:avLst/>
          </a:prstGeom>
          <a:noFill/>
          <a:ln w="15875">
            <a:solidFill>
              <a:schemeClr val="accent1"/>
            </a:solidFill>
            <a:prstDash val="solid"/>
          </a:ln>
        </p:spPr>
      </p:sp>
      <p:sp>
        <p:nvSpPr>
          <p:cNvPr id="31" name="Shape 28"/>
          <p:cNvSpPr/>
          <p:nvPr/>
        </p:nvSpPr>
        <p:spPr>
          <a:xfrm>
            <a:off x="11542471" y="5513832"/>
            <a:ext cx="155448" cy="0"/>
          </a:xfrm>
          <a:prstGeom prst="line">
            <a:avLst/>
          </a:prstGeom>
          <a:noFill/>
          <a:ln w="15875">
            <a:solidFill>
              <a:schemeClr val="accent1"/>
            </a:solidFill>
            <a:prstDash val="solid"/>
          </a:ln>
        </p:spPr>
      </p:sp>
      <p:sp>
        <p:nvSpPr>
          <p:cNvPr id="32" name="Shape 29"/>
          <p:cNvSpPr/>
          <p:nvPr/>
        </p:nvSpPr>
        <p:spPr>
          <a:xfrm>
            <a:off x="11697919" y="5358384"/>
            <a:ext cx="0" cy="155448"/>
          </a:xfrm>
          <a:prstGeom prst="line">
            <a:avLst/>
          </a:prstGeom>
          <a:noFill/>
          <a:ln w="15875">
            <a:solidFill>
              <a:schemeClr val="accent1"/>
            </a:solidFill>
            <a:prstDash val="solid"/>
          </a:ln>
        </p:spPr>
      </p:sp>
      <p:sp>
        <p:nvSpPr>
          <p:cNvPr id="33" name="Text 30"/>
          <p:cNvSpPr txBox="1"/>
          <p:nvPr/>
        </p:nvSpPr>
        <p:spPr>
          <a:xfrm>
            <a:off x="9242069" y="2578608"/>
            <a:ext cx="2236394"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VÍA LEGAL</a:t>
            </a:r>
            <a:endParaRPr lang="es-CL" sz="1300" dirty="0"/>
          </a:p>
        </p:txBody>
      </p:sp>
      <p:sp>
        <p:nvSpPr>
          <p:cNvPr id="34" name="Text 31"/>
          <p:cNvSpPr txBox="1"/>
          <p:nvPr/>
        </p:nvSpPr>
        <p:spPr>
          <a:xfrm>
            <a:off x="9242069" y="2898648"/>
            <a:ext cx="2236394" cy="868680"/>
          </a:xfrm>
          <a:prstGeom prst="rect">
            <a:avLst/>
          </a:prstGeom>
          <a:noFill/>
          <a:ln/>
        </p:spPr>
        <p:txBody>
          <a:bodyPr wrap="square" lIns="0" tIns="0" rIns="0" bIns="0" rtlCol="0" anchor="ctr"/>
          <a:lstStyle/>
          <a:p>
            <a:pPr indent="0" marL="0">
              <a:buNone/>
            </a:pPr>
            <a:r>
              <a:rPr lang="es-CL" altLang="en-US" sz="4600" b="1" dirty="0">
                <a:solidFill>
                  <a:schemeClr val="accent1"/>
                </a:solidFill>
                <a:latin typeface="Archivo Condensed" pitchFamily="34" charset="0"/>
                <a:ea typeface="Archivo Condensed" pitchFamily="34" charset="-122"/>
                <a:cs typeface="Archivo Condensed" pitchFamily="34" charset="-120"/>
              </a:rPr>
              <a:t>E3–E4</a:t>
            </a:r>
            <a:endParaRPr lang="es-CL" sz="4600" dirty="0"/>
          </a:p>
        </p:txBody>
      </p:sp>
      <p:sp>
        <p:nvSpPr>
          <p:cNvPr id="35" name="Text 32"/>
          <p:cNvSpPr txBox="1"/>
          <p:nvPr/>
        </p:nvSpPr>
        <p:spPr>
          <a:xfrm>
            <a:off x="9242069" y="3767328"/>
            <a:ext cx="2236394" cy="365760"/>
          </a:xfrm>
          <a:prstGeom prst="rect">
            <a:avLst/>
          </a:prstGeom>
          <a:noFill/>
          <a:ln/>
        </p:spPr>
        <p:txBody>
          <a:bodyPr wrap="square" lIns="0" tIns="0" rIns="0" bIns="0" rtlCol="0" anchor="t"/>
          <a:lstStyle/>
          <a:p>
            <a:pPr indent="0" marL="0">
              <a:buNone/>
            </a:pPr>
            <a:r>
              <a:rPr lang="es-CL" altLang="en-US" sz="1500" dirty="0">
                <a:solidFill>
                  <a:schemeClr val="tx2"/>
                </a:solidFill>
                <a:latin typeface="Figtree" pitchFamily="34" charset="0"/>
                <a:ea typeface="Figtree" pitchFamily="34" charset="-122"/>
                <a:cs typeface="Figtree" pitchFamily="34" charset="-120"/>
              </a:rPr>
              <a:t>con el borrador de 2021</a:t>
            </a:r>
            <a:endParaRPr lang="es-CL" sz="1500" dirty="0"/>
          </a:p>
        </p:txBody>
      </p:sp>
      <p:sp>
        <p:nvSpPr>
          <p:cNvPr id="36" name="Shape 33"/>
          <p:cNvSpPr/>
          <p:nvPr/>
        </p:nvSpPr>
        <p:spPr>
          <a:xfrm>
            <a:off x="9242069" y="4224528"/>
            <a:ext cx="2199818" cy="0"/>
          </a:xfrm>
          <a:prstGeom prst="line">
            <a:avLst/>
          </a:prstGeom>
          <a:noFill/>
          <a:ln w="9525">
            <a:solidFill>
              <a:schemeClr val="accent1"/>
            </a:solidFill>
            <a:prstDash val="solid"/>
          </a:ln>
        </p:spPr>
      </p:sp>
      <p:sp>
        <p:nvSpPr>
          <p:cNvPr id="37" name="Text 34"/>
          <p:cNvSpPr txBox="1"/>
          <p:nvPr/>
        </p:nvSpPr>
        <p:spPr>
          <a:xfrm>
            <a:off x="9242069" y="4315968"/>
            <a:ext cx="2236394" cy="1051560"/>
          </a:xfrm>
          <a:prstGeom prst="rect">
            <a:avLst/>
          </a:prstGeom>
          <a:noFill/>
          <a:ln/>
        </p:spPr>
        <p:txBody>
          <a:bodyPr wrap="square" lIns="0" tIns="0" rIns="0" bIns="0" rtlCol="0" anchor="t"/>
          <a:lstStyle/>
          <a:p>
            <a:pPr indent="0" marL="0">
              <a:buNone/>
            </a:pPr>
            <a:r>
              <a:rPr lang="es-CL" altLang="en-US" sz="1700" b="1" dirty="0">
                <a:solidFill>
                  <a:schemeClr val="tx1"/>
                </a:solidFill>
                <a:latin typeface="Figtree" pitchFamily="34" charset="0"/>
                <a:ea typeface="Figtree" pitchFamily="34" charset="-122"/>
                <a:cs typeface="Figtree" pitchFamily="34" charset="-120"/>
              </a:rPr>
              <a:t>Ley N° 21.793 sin reglamento: condición de entrada</a:t>
            </a:r>
            <a:endParaRPr lang="es-CL" sz="1700" dirty="0"/>
          </a:p>
        </p:txBody>
      </p:sp>
      <p:sp>
        <p:nvSpPr>
          <p:cNvPr id="38" name="Text 35"/>
          <p:cNvSpPr txBox="1"/>
          <p:nvPr/>
        </p:nvSpPr>
        <p:spPr>
          <a:xfrm>
            <a:off x="548640" y="5660136"/>
            <a:ext cx="11094415" cy="45720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Una necesidad real </a:t>
            </a:r>
            <a:pPr indent="0" marL="0">
              <a:buNone/>
            </a:pPr>
            <a:r>
              <a:rPr lang="es-CL" altLang="en-US" sz="2000" dirty="0">
                <a:solidFill>
                  <a:schemeClr val="tx2"/>
                </a:solidFill>
                <a:latin typeface="Figtree" pitchFamily="34" charset="0"/>
                <a:ea typeface="Figtree" pitchFamily="34" charset="-122"/>
                <a:cs typeface="Figtree" pitchFamily="34" charset="-120"/>
              </a:rPr>
              <a:t>en un entorno que todavía no habilita el negocio.</a:t>
            </a:r>
            <a:endParaRPr lang="es-CL" sz="20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07</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6 · ANÁLISIS ESTRATÉGICO · FODA Y DIAGNÓSTICO INTEGRADO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TRES BRECHAS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deciden si el negocio funciona.</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a partir del diagnóstico (PEST, cinco fuerzas, recursos y capacidades) y del FODA del informe.</a:t>
            </a:r>
            <a:endParaRPr lang="es-CL" sz="1100" dirty="0"/>
          </a:p>
        </p:txBody>
      </p:sp>
      <p:pic>
        <p:nvPicPr>
          <p:cNvPr id="5" name="Image 0" descr="C:\Users\Usuario\Documents\GitHub\lumine\tig-final\generador\assets\brillo.png">    </p:cNvPr>
          <p:cNvPicPr>
            <a:picLocks noChangeAspect="1"/>
          </p:cNvPicPr>
          <p:nvPr/>
        </p:nvPicPr>
        <p:blipFill>
          <a:blip r:embed="rId1"/>
          <a:stretch>
            <a:fillRect/>
          </a:stretch>
        </p:blipFill>
        <p:spPr>
          <a:xfrm>
            <a:off x="182880" y="2139696"/>
            <a:ext cx="4246778" cy="3758184"/>
          </a:xfrm>
          <a:prstGeom prst="rect">
            <a:avLst/>
          </a:prstGeom>
        </p:spPr>
      </p:pic>
      <p:sp>
        <p:nvSpPr>
          <p:cNvPr id="6" name="Shape 3"/>
          <p:cNvSpPr/>
          <p:nvPr/>
        </p:nvSpPr>
        <p:spPr>
          <a:xfrm>
            <a:off x="548640" y="2395728"/>
            <a:ext cx="3515258" cy="3246120"/>
          </a:xfrm>
          <a:prstGeom prst="rect">
            <a:avLst/>
          </a:prstGeom>
          <a:solidFill>
            <a:srgbClr val="0B1A22"/>
          </a:solidFill>
          <a:ln w="15875">
            <a:solidFill>
              <a:schemeClr val="accent1"/>
            </a:solidFill>
            <a:prstDash val="solid"/>
          </a:ln>
        </p:spPr>
      </p:sp>
      <p:sp>
        <p:nvSpPr>
          <p:cNvPr id="7" name="Shape 4"/>
          <p:cNvSpPr/>
          <p:nvPr/>
        </p:nvSpPr>
        <p:spPr>
          <a:xfrm>
            <a:off x="493776" y="2340864"/>
            <a:ext cx="155448" cy="0"/>
          </a:xfrm>
          <a:prstGeom prst="line">
            <a:avLst/>
          </a:prstGeom>
          <a:noFill/>
          <a:ln w="15875">
            <a:solidFill>
              <a:schemeClr val="accent1"/>
            </a:solidFill>
            <a:prstDash val="solid"/>
          </a:ln>
        </p:spPr>
      </p:sp>
      <p:sp>
        <p:nvSpPr>
          <p:cNvPr id="8" name="Shape 5"/>
          <p:cNvSpPr/>
          <p:nvPr/>
        </p:nvSpPr>
        <p:spPr>
          <a:xfrm>
            <a:off x="493776" y="2340864"/>
            <a:ext cx="0" cy="155448"/>
          </a:xfrm>
          <a:prstGeom prst="line">
            <a:avLst/>
          </a:prstGeom>
          <a:noFill/>
          <a:ln w="15875">
            <a:solidFill>
              <a:schemeClr val="accent1"/>
            </a:solidFill>
            <a:prstDash val="solid"/>
          </a:ln>
        </p:spPr>
      </p:sp>
      <p:sp>
        <p:nvSpPr>
          <p:cNvPr id="9" name="Shape 6"/>
          <p:cNvSpPr/>
          <p:nvPr/>
        </p:nvSpPr>
        <p:spPr>
          <a:xfrm>
            <a:off x="3963314" y="2340864"/>
            <a:ext cx="155448" cy="0"/>
          </a:xfrm>
          <a:prstGeom prst="line">
            <a:avLst/>
          </a:prstGeom>
          <a:noFill/>
          <a:ln w="15875">
            <a:solidFill>
              <a:schemeClr val="accent1"/>
            </a:solidFill>
            <a:prstDash val="solid"/>
          </a:ln>
        </p:spPr>
      </p:sp>
      <p:sp>
        <p:nvSpPr>
          <p:cNvPr id="10" name="Shape 7"/>
          <p:cNvSpPr/>
          <p:nvPr/>
        </p:nvSpPr>
        <p:spPr>
          <a:xfrm>
            <a:off x="4118762" y="2340864"/>
            <a:ext cx="0" cy="155448"/>
          </a:xfrm>
          <a:prstGeom prst="line">
            <a:avLst/>
          </a:prstGeom>
          <a:noFill/>
          <a:ln w="15875">
            <a:solidFill>
              <a:schemeClr val="accent1"/>
            </a:solidFill>
            <a:prstDash val="solid"/>
          </a:ln>
        </p:spPr>
      </p:sp>
      <p:sp>
        <p:nvSpPr>
          <p:cNvPr id="11" name="Shape 8"/>
          <p:cNvSpPr/>
          <p:nvPr/>
        </p:nvSpPr>
        <p:spPr>
          <a:xfrm>
            <a:off x="493776" y="5696712"/>
            <a:ext cx="155448" cy="0"/>
          </a:xfrm>
          <a:prstGeom prst="line">
            <a:avLst/>
          </a:prstGeom>
          <a:noFill/>
          <a:ln w="15875">
            <a:solidFill>
              <a:schemeClr val="accent1"/>
            </a:solidFill>
            <a:prstDash val="solid"/>
          </a:ln>
        </p:spPr>
      </p:sp>
      <p:sp>
        <p:nvSpPr>
          <p:cNvPr id="12" name="Shape 9"/>
          <p:cNvSpPr/>
          <p:nvPr/>
        </p:nvSpPr>
        <p:spPr>
          <a:xfrm>
            <a:off x="493776" y="5541264"/>
            <a:ext cx="0" cy="155448"/>
          </a:xfrm>
          <a:prstGeom prst="line">
            <a:avLst/>
          </a:prstGeom>
          <a:noFill/>
          <a:ln w="15875">
            <a:solidFill>
              <a:schemeClr val="accent1"/>
            </a:solidFill>
            <a:prstDash val="solid"/>
          </a:ln>
        </p:spPr>
      </p:sp>
      <p:sp>
        <p:nvSpPr>
          <p:cNvPr id="13" name="Shape 10"/>
          <p:cNvSpPr/>
          <p:nvPr/>
        </p:nvSpPr>
        <p:spPr>
          <a:xfrm>
            <a:off x="3963314" y="5696712"/>
            <a:ext cx="155448" cy="0"/>
          </a:xfrm>
          <a:prstGeom prst="line">
            <a:avLst/>
          </a:prstGeom>
          <a:noFill/>
          <a:ln w="15875">
            <a:solidFill>
              <a:schemeClr val="accent1"/>
            </a:solidFill>
            <a:prstDash val="solid"/>
          </a:ln>
        </p:spPr>
      </p:sp>
      <p:sp>
        <p:nvSpPr>
          <p:cNvPr id="14" name="Shape 11"/>
          <p:cNvSpPr/>
          <p:nvPr/>
        </p:nvSpPr>
        <p:spPr>
          <a:xfrm>
            <a:off x="4118762" y="5541264"/>
            <a:ext cx="0" cy="155448"/>
          </a:xfrm>
          <a:prstGeom prst="line">
            <a:avLst/>
          </a:prstGeom>
          <a:noFill/>
          <a:ln w="15875">
            <a:solidFill>
              <a:schemeClr val="accent1"/>
            </a:solidFill>
            <a:prstDash val="solid"/>
          </a:ln>
        </p:spPr>
      </p:sp>
      <p:sp>
        <p:nvSpPr>
          <p:cNvPr id="15" name="Shape 12"/>
          <p:cNvSpPr/>
          <p:nvPr/>
        </p:nvSpPr>
        <p:spPr>
          <a:xfrm>
            <a:off x="777240" y="2624328"/>
            <a:ext cx="457200" cy="402336"/>
          </a:xfrm>
          <a:prstGeom prst="rect">
            <a:avLst/>
          </a:prstGeom>
          <a:solidFill>
            <a:schemeClr val="accent1"/>
          </a:solidFill>
          <a:ln/>
        </p:spPr>
      </p:sp>
      <p:sp>
        <p:nvSpPr>
          <p:cNvPr id="16" name="Text 13"/>
          <p:cNvSpPr txBox="1"/>
          <p:nvPr/>
        </p:nvSpPr>
        <p:spPr>
          <a:xfrm>
            <a:off x="777240" y="2624328"/>
            <a:ext cx="457200" cy="402336"/>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1</a:t>
            </a:r>
            <a:endParaRPr lang="es-CL" sz="1800" dirty="0"/>
          </a:p>
        </p:txBody>
      </p:sp>
      <p:sp>
        <p:nvSpPr>
          <p:cNvPr id="17" name="Text 14"/>
          <p:cNvSpPr txBox="1"/>
          <p:nvPr/>
        </p:nvSpPr>
        <p:spPr>
          <a:xfrm>
            <a:off x="777240" y="3172968"/>
            <a:ext cx="3103778" cy="502920"/>
          </a:xfrm>
          <a:prstGeom prst="rect">
            <a:avLst/>
          </a:prstGeom>
          <a:noFill/>
          <a:ln/>
        </p:spPr>
        <p:txBody>
          <a:bodyPr wrap="square" lIns="0" tIns="0" rIns="0" bIns="0" rtlCol="0" anchor="t"/>
          <a:lstStyle/>
          <a:p>
            <a:pPr indent="0" marL="0">
              <a:buNone/>
            </a:pPr>
            <a:r>
              <a:rPr lang="es-CL" altLang="en-US" sz="2200" b="1" dirty="0">
                <a:solidFill>
                  <a:schemeClr val="tx1"/>
                </a:solidFill>
                <a:latin typeface="Figtree" pitchFamily="34" charset="0"/>
                <a:ea typeface="Figtree" pitchFamily="34" charset="-122"/>
                <a:cs typeface="Figtree" pitchFamily="34" charset="-120"/>
              </a:rPr>
              <a:t>Habilitación formal</a:t>
            </a:r>
            <a:endParaRPr lang="es-CL" sz="2200" dirty="0"/>
          </a:p>
        </p:txBody>
      </p:sp>
      <p:sp>
        <p:nvSpPr>
          <p:cNvPr id="18" name="Shape 15"/>
          <p:cNvSpPr/>
          <p:nvPr/>
        </p:nvSpPr>
        <p:spPr>
          <a:xfrm>
            <a:off x="777240" y="3813048"/>
            <a:ext cx="3058058" cy="0"/>
          </a:xfrm>
          <a:prstGeom prst="line">
            <a:avLst/>
          </a:prstGeom>
          <a:noFill/>
          <a:ln w="9525">
            <a:solidFill>
              <a:schemeClr val="accent5"/>
            </a:solidFill>
            <a:prstDash val="solid"/>
          </a:ln>
        </p:spPr>
      </p:sp>
      <p:sp>
        <p:nvSpPr>
          <p:cNvPr id="19" name="Text 16"/>
          <p:cNvSpPr txBox="1"/>
          <p:nvPr/>
        </p:nvSpPr>
        <p:spPr>
          <a:xfrm>
            <a:off x="777240" y="3858768"/>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Vía legal aplicable</a:t>
            </a:r>
            <a:endParaRPr lang="es-CL" sz="1700" dirty="0"/>
          </a:p>
        </p:txBody>
      </p:sp>
      <p:sp>
        <p:nvSpPr>
          <p:cNvPr id="20" name="Shape 17"/>
          <p:cNvSpPr/>
          <p:nvPr/>
        </p:nvSpPr>
        <p:spPr>
          <a:xfrm>
            <a:off x="777240" y="4471416"/>
            <a:ext cx="3058058" cy="0"/>
          </a:xfrm>
          <a:prstGeom prst="line">
            <a:avLst/>
          </a:prstGeom>
          <a:noFill/>
          <a:ln w="9525">
            <a:solidFill>
              <a:schemeClr val="accent5"/>
            </a:solidFill>
            <a:prstDash val="solid"/>
          </a:ln>
        </p:spPr>
      </p:sp>
      <p:sp>
        <p:nvSpPr>
          <p:cNvPr id="21" name="Text 18"/>
          <p:cNvSpPr txBox="1"/>
          <p:nvPr/>
        </p:nvSpPr>
        <p:spPr>
          <a:xfrm>
            <a:off x="777240" y="4517136"/>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Aseguradoras y plantas de revisión</a:t>
            </a:r>
            <a:endParaRPr lang="es-CL" sz="1700" dirty="0"/>
          </a:p>
        </p:txBody>
      </p:sp>
      <p:sp>
        <p:nvSpPr>
          <p:cNvPr id="22" name="Text 19"/>
          <p:cNvSpPr txBox="1"/>
          <p:nvPr/>
        </p:nvSpPr>
        <p:spPr>
          <a:xfrm>
            <a:off x="777240" y="5257800"/>
            <a:ext cx="3103778" cy="274320"/>
          </a:xfrm>
          <a:prstGeom prst="rect">
            <a:avLst/>
          </a:prstGeom>
          <a:noFill/>
          <a:ln/>
        </p:spPr>
        <p:txBody>
          <a:bodyPr wrap="square" lIns="0" tIns="0" rIns="0" bIns="0" rtlCol="0" anchor="t"/>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VIENE DE · PEST · LEY · FCE</a:t>
            </a:r>
            <a:endParaRPr lang="es-CL" sz="1100" dirty="0"/>
          </a:p>
        </p:txBody>
      </p:sp>
      <p:sp>
        <p:nvSpPr>
          <p:cNvPr id="23" name="Shape 20"/>
          <p:cNvSpPr/>
          <p:nvPr/>
        </p:nvSpPr>
        <p:spPr>
          <a:xfrm>
            <a:off x="4338218" y="2395728"/>
            <a:ext cx="3515258" cy="3246120"/>
          </a:xfrm>
          <a:prstGeom prst="rect">
            <a:avLst/>
          </a:prstGeom>
          <a:solidFill>
            <a:schemeClr val="bg2"/>
          </a:solidFill>
          <a:ln w="12700">
            <a:solidFill>
              <a:schemeClr val="accent1"/>
            </a:solidFill>
            <a:prstDash val="solid"/>
          </a:ln>
        </p:spPr>
      </p:sp>
      <p:sp>
        <p:nvSpPr>
          <p:cNvPr id="24" name="Shape 21"/>
          <p:cNvSpPr/>
          <p:nvPr/>
        </p:nvSpPr>
        <p:spPr>
          <a:xfrm>
            <a:off x="4566818" y="2624328"/>
            <a:ext cx="457200" cy="402336"/>
          </a:xfrm>
          <a:prstGeom prst="rect">
            <a:avLst/>
          </a:prstGeom>
          <a:solidFill>
            <a:schemeClr val="accent1"/>
          </a:solidFill>
          <a:ln/>
        </p:spPr>
      </p:sp>
      <p:sp>
        <p:nvSpPr>
          <p:cNvPr id="25" name="Text 22"/>
          <p:cNvSpPr txBox="1"/>
          <p:nvPr/>
        </p:nvSpPr>
        <p:spPr>
          <a:xfrm>
            <a:off x="4566818" y="2624328"/>
            <a:ext cx="457200" cy="402336"/>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2</a:t>
            </a:r>
            <a:endParaRPr lang="es-CL" sz="1800" dirty="0"/>
          </a:p>
        </p:txBody>
      </p:sp>
      <p:sp>
        <p:nvSpPr>
          <p:cNvPr id="26" name="Text 23"/>
          <p:cNvSpPr txBox="1"/>
          <p:nvPr/>
        </p:nvSpPr>
        <p:spPr>
          <a:xfrm>
            <a:off x="4566818" y="3172968"/>
            <a:ext cx="3103778" cy="502920"/>
          </a:xfrm>
          <a:prstGeom prst="rect">
            <a:avLst/>
          </a:prstGeom>
          <a:noFill/>
          <a:ln/>
        </p:spPr>
        <p:txBody>
          <a:bodyPr wrap="square" lIns="0" tIns="0" rIns="0" bIns="0" rtlCol="0" anchor="t"/>
          <a:lstStyle/>
          <a:p>
            <a:pPr indent="0" marL="0">
              <a:buNone/>
            </a:pPr>
            <a:r>
              <a:rPr lang="es-CL" altLang="en-US" sz="2200" b="1" dirty="0">
                <a:solidFill>
                  <a:schemeClr val="tx1"/>
                </a:solidFill>
                <a:latin typeface="Figtree" pitchFamily="34" charset="0"/>
                <a:ea typeface="Figtree" pitchFamily="34" charset="-122"/>
                <a:cs typeface="Figtree" pitchFamily="34" charset="-120"/>
              </a:rPr>
              <a:t>Valor frente a posponer</a:t>
            </a:r>
            <a:endParaRPr lang="es-CL" sz="2200" dirty="0"/>
          </a:p>
        </p:txBody>
      </p:sp>
      <p:sp>
        <p:nvSpPr>
          <p:cNvPr id="27" name="Shape 24"/>
          <p:cNvSpPr/>
          <p:nvPr/>
        </p:nvSpPr>
        <p:spPr>
          <a:xfrm>
            <a:off x="4566818" y="3813048"/>
            <a:ext cx="3058058" cy="0"/>
          </a:xfrm>
          <a:prstGeom prst="line">
            <a:avLst/>
          </a:prstGeom>
          <a:noFill/>
          <a:ln w="9525">
            <a:solidFill>
              <a:schemeClr val="accent5"/>
            </a:solidFill>
            <a:prstDash val="solid"/>
          </a:ln>
        </p:spPr>
      </p:sp>
      <p:sp>
        <p:nvSpPr>
          <p:cNvPr id="28" name="Text 25"/>
          <p:cNvSpPr txBox="1"/>
          <p:nvPr/>
        </p:nvSpPr>
        <p:spPr>
          <a:xfrm>
            <a:off x="4566818" y="3858768"/>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Ahorro medido en autos chilenos</a:t>
            </a:r>
            <a:endParaRPr lang="es-CL" sz="1700" dirty="0"/>
          </a:p>
        </p:txBody>
      </p:sp>
      <p:sp>
        <p:nvSpPr>
          <p:cNvPr id="29" name="Shape 26"/>
          <p:cNvSpPr/>
          <p:nvPr/>
        </p:nvSpPr>
        <p:spPr>
          <a:xfrm>
            <a:off x="4566818" y="4471416"/>
            <a:ext cx="3058058" cy="0"/>
          </a:xfrm>
          <a:prstGeom prst="line">
            <a:avLst/>
          </a:prstGeom>
          <a:noFill/>
          <a:ln w="9525">
            <a:solidFill>
              <a:schemeClr val="accent5"/>
            </a:solidFill>
            <a:prstDash val="solid"/>
          </a:ln>
        </p:spPr>
      </p:sp>
      <p:sp>
        <p:nvSpPr>
          <p:cNvPr id="30" name="Text 27"/>
          <p:cNvSpPr txBox="1"/>
          <p:nvPr/>
        </p:nvSpPr>
        <p:spPr>
          <a:xfrm>
            <a:off x="4566818" y="4517136"/>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Forma de pago que el cliente pueda asumir</a:t>
            </a:r>
            <a:endParaRPr lang="es-CL" sz="1700" dirty="0"/>
          </a:p>
        </p:txBody>
      </p:sp>
      <p:sp>
        <p:nvSpPr>
          <p:cNvPr id="31" name="Text 28"/>
          <p:cNvSpPr txBox="1"/>
          <p:nvPr/>
        </p:nvSpPr>
        <p:spPr>
          <a:xfrm>
            <a:off x="4566818" y="5257800"/>
            <a:ext cx="3103778" cy="274320"/>
          </a:xfrm>
          <a:prstGeom prst="rect">
            <a:avLst/>
          </a:prstGeom>
          <a:noFill/>
          <a:ln/>
        </p:spPr>
        <p:txBody>
          <a:bodyPr wrap="square" lIns="0" tIns="0" rIns="0" bIns="0" rtlCol="0" anchor="t"/>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VIENE DE · PORTER · PEST · FODA</a:t>
            </a:r>
            <a:endParaRPr lang="es-CL" sz="1100" dirty="0"/>
          </a:p>
        </p:txBody>
      </p:sp>
      <p:sp>
        <p:nvSpPr>
          <p:cNvPr id="32" name="Shape 29"/>
          <p:cNvSpPr/>
          <p:nvPr/>
        </p:nvSpPr>
        <p:spPr>
          <a:xfrm>
            <a:off x="8127797" y="2395728"/>
            <a:ext cx="3515258" cy="3246120"/>
          </a:xfrm>
          <a:prstGeom prst="rect">
            <a:avLst/>
          </a:prstGeom>
          <a:solidFill>
            <a:schemeClr val="bg2"/>
          </a:solidFill>
          <a:ln w="12700">
            <a:solidFill>
              <a:schemeClr val="accent1"/>
            </a:solidFill>
            <a:prstDash val="solid"/>
          </a:ln>
        </p:spPr>
      </p:sp>
      <p:sp>
        <p:nvSpPr>
          <p:cNvPr id="33" name="Shape 30"/>
          <p:cNvSpPr/>
          <p:nvPr/>
        </p:nvSpPr>
        <p:spPr>
          <a:xfrm>
            <a:off x="8356397" y="2624328"/>
            <a:ext cx="457200" cy="402336"/>
          </a:xfrm>
          <a:prstGeom prst="rect">
            <a:avLst/>
          </a:prstGeom>
          <a:solidFill>
            <a:schemeClr val="accent1"/>
          </a:solidFill>
          <a:ln/>
        </p:spPr>
      </p:sp>
      <p:sp>
        <p:nvSpPr>
          <p:cNvPr id="34" name="Text 31"/>
          <p:cNvSpPr txBox="1"/>
          <p:nvPr/>
        </p:nvSpPr>
        <p:spPr>
          <a:xfrm>
            <a:off x="8356397" y="2624328"/>
            <a:ext cx="457200" cy="402336"/>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3</a:t>
            </a:r>
            <a:endParaRPr lang="es-CL" sz="1800" dirty="0"/>
          </a:p>
        </p:txBody>
      </p:sp>
      <p:sp>
        <p:nvSpPr>
          <p:cNvPr id="35" name="Text 32"/>
          <p:cNvSpPr txBox="1"/>
          <p:nvPr/>
        </p:nvSpPr>
        <p:spPr>
          <a:xfrm>
            <a:off x="8356397" y="3172968"/>
            <a:ext cx="3103778" cy="502920"/>
          </a:xfrm>
          <a:prstGeom prst="rect">
            <a:avLst/>
          </a:prstGeom>
          <a:noFill/>
          <a:ln/>
        </p:spPr>
        <p:txBody>
          <a:bodyPr wrap="square" lIns="0" tIns="0" rIns="0" bIns="0" rtlCol="0" anchor="t"/>
          <a:lstStyle/>
          <a:p>
            <a:pPr indent="0" marL="0">
              <a:buNone/>
            </a:pPr>
            <a:r>
              <a:rPr lang="es-CL" altLang="en-US" sz="2200" b="1" dirty="0">
                <a:solidFill>
                  <a:schemeClr val="tx1"/>
                </a:solidFill>
                <a:latin typeface="Figtree" pitchFamily="34" charset="0"/>
                <a:ea typeface="Figtree" pitchFamily="34" charset="-122"/>
                <a:cs typeface="Figtree" pitchFamily="34" charset="-120"/>
              </a:rPr>
              <a:t>Capacidad de ejecución</a:t>
            </a:r>
            <a:endParaRPr lang="es-CL" sz="2200" dirty="0"/>
          </a:p>
        </p:txBody>
      </p:sp>
      <p:sp>
        <p:nvSpPr>
          <p:cNvPr id="36" name="Shape 33"/>
          <p:cNvSpPr/>
          <p:nvPr/>
        </p:nvSpPr>
        <p:spPr>
          <a:xfrm>
            <a:off x="8356397" y="3813048"/>
            <a:ext cx="3058058" cy="0"/>
          </a:xfrm>
          <a:prstGeom prst="line">
            <a:avLst/>
          </a:prstGeom>
          <a:noFill/>
          <a:ln w="9525">
            <a:solidFill>
              <a:schemeClr val="accent5"/>
            </a:solidFill>
            <a:prstDash val="solid"/>
          </a:ln>
        </p:spPr>
      </p:sp>
      <p:sp>
        <p:nvSpPr>
          <p:cNvPr id="37" name="Text 34"/>
          <p:cNvSpPr txBox="1"/>
          <p:nvPr/>
        </p:nvSpPr>
        <p:spPr>
          <a:xfrm>
            <a:off x="8356397" y="3858768"/>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Biblioteca de calibraciones con datos</a:t>
            </a:r>
            <a:endParaRPr lang="es-CL" sz="1700" dirty="0"/>
          </a:p>
        </p:txBody>
      </p:sp>
      <p:sp>
        <p:nvSpPr>
          <p:cNvPr id="38" name="Shape 35"/>
          <p:cNvSpPr/>
          <p:nvPr/>
        </p:nvSpPr>
        <p:spPr>
          <a:xfrm>
            <a:off x="8356397" y="4471416"/>
            <a:ext cx="3058058" cy="0"/>
          </a:xfrm>
          <a:prstGeom prst="line">
            <a:avLst/>
          </a:prstGeom>
          <a:noFill/>
          <a:ln w="9525">
            <a:solidFill>
              <a:schemeClr val="accent5"/>
            </a:solidFill>
            <a:prstDash val="solid"/>
          </a:ln>
        </p:spPr>
      </p:sp>
      <p:sp>
        <p:nvSpPr>
          <p:cNvPr id="39" name="Text 36"/>
          <p:cNvSpPr txBox="1"/>
          <p:nvPr/>
        </p:nvSpPr>
        <p:spPr>
          <a:xfrm>
            <a:off x="8356397" y="4517136"/>
            <a:ext cx="3103778" cy="594360"/>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Técnicos en alta tensión y kit protegido del dólar</a:t>
            </a:r>
            <a:endParaRPr lang="es-CL" sz="1700" dirty="0"/>
          </a:p>
        </p:txBody>
      </p:sp>
      <p:sp>
        <p:nvSpPr>
          <p:cNvPr id="40" name="Text 37"/>
          <p:cNvSpPr txBox="1"/>
          <p:nvPr/>
        </p:nvSpPr>
        <p:spPr>
          <a:xfrm>
            <a:off x="8356397" y="5257800"/>
            <a:ext cx="3103778" cy="274320"/>
          </a:xfrm>
          <a:prstGeom prst="rect">
            <a:avLst/>
          </a:prstGeom>
          <a:noFill/>
          <a:ln/>
        </p:spPr>
        <p:txBody>
          <a:bodyPr wrap="square" lIns="0" tIns="0" rIns="0" bIns="0" rtlCol="0" anchor="t"/>
          <a:lstStyle/>
          <a:p>
            <a:pP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VIENE DE · VRIO · FCE · CADENA</a:t>
            </a:r>
            <a:endParaRPr lang="es-CL" sz="1100" dirty="0"/>
          </a:p>
        </p:txBody>
      </p:sp>
      <p:sp>
        <p:nvSpPr>
          <p:cNvPr id="41" name="Text 38"/>
          <p:cNvSpPr txBox="1"/>
          <p:nvPr/>
        </p:nvSpPr>
        <p:spPr>
          <a:xfrm>
            <a:off x="548640" y="5843016"/>
            <a:ext cx="11094415" cy="411480"/>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Son hallazgos del diagnóstico: </a:t>
            </a:r>
            <a:pPr indent="0" marL="0">
              <a:buNone/>
            </a:pPr>
            <a:r>
              <a:rPr lang="es-CL" altLang="en-US" sz="1800" dirty="0">
                <a:solidFill>
                  <a:schemeClr val="tx2"/>
                </a:solidFill>
                <a:latin typeface="Figtree" pitchFamily="34" charset="0"/>
                <a:ea typeface="Figtree" pitchFamily="34" charset="-122"/>
                <a:cs typeface="Figtree" pitchFamily="34" charset="-120"/>
              </a:rPr>
              <a:t>la estrategia responde a cada una con un eje.</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08</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7 · FORMULACIÓN DE ESTRATEGIA</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DIFERENCIACIÓN ENFOCADA: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competir con evidencia, no con precio.</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estrategia genérica según Porter (2008). La ventaja sostenible es potencial: la biblioteca de calibraciones hoy está vacía.</a:t>
            </a:r>
            <a:endParaRPr lang="es-CL" sz="1100" dirty="0"/>
          </a:p>
        </p:txBody>
      </p:sp>
      <p:sp>
        <p:nvSpPr>
          <p:cNvPr id="5" name="Shape 3"/>
          <p:cNvSpPr/>
          <p:nvPr/>
        </p:nvSpPr>
        <p:spPr>
          <a:xfrm>
            <a:off x="548640" y="2441448"/>
            <a:ext cx="54864" cy="960120"/>
          </a:xfrm>
          <a:prstGeom prst="line">
            <a:avLst/>
          </a:prstGeom>
          <a:noFill/>
          <a:ln w="38100">
            <a:solidFill>
              <a:schemeClr val="accent1"/>
            </a:solidFill>
            <a:prstDash val="solid"/>
          </a:ln>
        </p:spPr>
      </p:sp>
      <p:sp>
        <p:nvSpPr>
          <p:cNvPr id="6" name="Text 4"/>
          <p:cNvSpPr txBox="1"/>
          <p:nvPr/>
        </p:nvSpPr>
        <p:spPr>
          <a:xfrm>
            <a:off x="822960" y="2395728"/>
            <a:ext cx="10820095" cy="1051560"/>
          </a:xfrm>
          <a:prstGeom prst="rect">
            <a:avLst/>
          </a:prstGeom>
          <a:noFill/>
          <a:ln/>
        </p:spPr>
        <p:txBody>
          <a:bodyPr wrap="square" lIns="0" tIns="0" rIns="0" bIns="0" rtlCol="0" anchor="ctr"/>
          <a:lstStyle/>
          <a:p>
            <a:pPr indent="0" marL="0">
              <a:lnSpc>
                <a:spcPct val="100000"/>
              </a:lnSpc>
              <a:buNone/>
            </a:pPr>
            <a:r>
              <a:rPr lang="es-CL" altLang="en-US" sz="2100" i="1" dirty="0">
                <a:solidFill>
                  <a:schemeClr val="tx1"/>
                </a:solidFill>
                <a:latin typeface="Instrument Serif" pitchFamily="34" charset="0"/>
                <a:ea typeface="Instrument Serif" pitchFamily="34" charset="-122"/>
                <a:cs typeface="Instrument Serif" pitchFamily="34" charset="-120"/>
              </a:rPr>
              <a:t>«Un servicio certificado que reduce el combustible del auto que el cliente ya tiene, para conductores de alto kilometraje, sostenido por un conocimiento de calibración que un competidor no puede comprar.»</a:t>
            </a:r>
            <a:endParaRPr lang="es-CL" sz="2100" dirty="0"/>
          </a:p>
        </p:txBody>
      </p:sp>
      <p:sp>
        <p:nvSpPr>
          <p:cNvPr id="7" name="Text 5"/>
          <p:cNvSpPr txBox="1"/>
          <p:nvPr/>
        </p:nvSpPr>
        <p:spPr>
          <a:xfrm>
            <a:off x="548640" y="3675888"/>
            <a:ext cx="1828800" cy="329184"/>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RENUNCIAS</a:t>
            </a:r>
            <a:endParaRPr lang="es-CL" sz="1300" dirty="0"/>
          </a:p>
        </p:txBody>
      </p:sp>
      <p:sp>
        <p:nvSpPr>
          <p:cNvPr id="8" name="Shape 6"/>
          <p:cNvSpPr/>
          <p:nvPr/>
        </p:nvSpPr>
        <p:spPr>
          <a:xfrm>
            <a:off x="2148840" y="3675888"/>
            <a:ext cx="2601976" cy="329184"/>
          </a:xfrm>
          <a:prstGeom prst="rect">
            <a:avLst/>
          </a:prstGeom>
          <a:solidFill>
            <a:schemeClr val="bg1">
              <a:alpha val="0"/>
            </a:schemeClr>
          </a:solidFill>
          <a:ln w="12700">
            <a:solidFill>
              <a:schemeClr val="tx1"/>
            </a:solidFill>
            <a:prstDash val="dash"/>
          </a:ln>
        </p:spPr>
      </p:sp>
      <p:sp>
        <p:nvSpPr>
          <p:cNvPr id="9" name="Text 7"/>
          <p:cNvSpPr txBox="1"/>
          <p:nvPr/>
        </p:nvSpPr>
        <p:spPr>
          <a:xfrm>
            <a:off x="2258568" y="3675888"/>
            <a:ext cx="2382520" cy="329184"/>
          </a:xfrm>
          <a:prstGeom prst="rect">
            <a:avLst/>
          </a:prstGeom>
          <a:noFill/>
          <a:ln/>
        </p:spPr>
        <p:txBody>
          <a:bodyPr wrap="square" lIns="0" tIns="0" rIns="0" bIns="0" rtlCol="0" anchor="ctr"/>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NO COMPETIR POR PRECIO</a:t>
            </a:r>
            <a:endParaRPr lang="es-CL" sz="1200" dirty="0"/>
          </a:p>
        </p:txBody>
      </p:sp>
      <p:sp>
        <p:nvSpPr>
          <p:cNvPr id="10" name="Shape 8"/>
          <p:cNvSpPr/>
          <p:nvPr/>
        </p:nvSpPr>
        <p:spPr>
          <a:xfrm>
            <a:off x="4933696" y="3675888"/>
            <a:ext cx="2497836" cy="329184"/>
          </a:xfrm>
          <a:prstGeom prst="rect">
            <a:avLst/>
          </a:prstGeom>
          <a:solidFill>
            <a:schemeClr val="bg1">
              <a:alpha val="0"/>
            </a:schemeClr>
          </a:solidFill>
          <a:ln w="12700">
            <a:solidFill>
              <a:schemeClr val="tx1"/>
            </a:solidFill>
            <a:prstDash val="dash"/>
          </a:ln>
        </p:spPr>
      </p:sp>
      <p:sp>
        <p:nvSpPr>
          <p:cNvPr id="11" name="Text 9"/>
          <p:cNvSpPr txBox="1"/>
          <p:nvPr/>
        </p:nvSpPr>
        <p:spPr>
          <a:xfrm>
            <a:off x="5043424" y="3675888"/>
            <a:ext cx="2278380" cy="329184"/>
          </a:xfrm>
          <a:prstGeom prst="rect">
            <a:avLst/>
          </a:prstGeom>
          <a:noFill/>
          <a:ln/>
        </p:spPr>
        <p:txBody>
          <a:bodyPr wrap="square" lIns="0" tIns="0" rIns="0" bIns="0" rtlCol="0" anchor="ctr"/>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NO OFRECER INMEDIATEZ</a:t>
            </a:r>
            <a:endParaRPr lang="es-CL" sz="1200" dirty="0"/>
          </a:p>
        </p:txBody>
      </p:sp>
      <p:sp>
        <p:nvSpPr>
          <p:cNvPr id="12" name="Text 10"/>
          <p:cNvSpPr txBox="1"/>
          <p:nvPr/>
        </p:nvSpPr>
        <p:spPr>
          <a:xfrm>
            <a:off x="7797292" y="3675888"/>
            <a:ext cx="3845763" cy="329184"/>
          </a:xfrm>
          <a:prstGeom prst="rect">
            <a:avLst/>
          </a:prstGeom>
          <a:noFill/>
          <a:ln/>
        </p:spPr>
        <p:txBody>
          <a:bodyPr wrap="square" lIns="0" tIns="0" rIns="0" bIns="0" rtlCol="0" anchor="ctr"/>
          <a:lstStyle/>
          <a:p>
            <a:pPr algn="r" indent="0" marL="0">
              <a:buNone/>
            </a:pPr>
            <a:r>
              <a:rPr lang="es-CL" altLang="en-US" sz="1500" dirty="0">
                <a:solidFill>
                  <a:schemeClr val="tx2"/>
                </a:solidFill>
                <a:latin typeface="Figtree" pitchFamily="34" charset="0"/>
                <a:ea typeface="Figtree" pitchFamily="34" charset="-122"/>
                <a:cs typeface="Figtree" pitchFamily="34" charset="-120"/>
              </a:rPr>
              <a:t>Ventaja buscada: </a:t>
            </a:r>
            <a:pPr algn="r" indent="0" marL="0">
              <a:buNone/>
            </a:pPr>
            <a:r>
              <a:rPr lang="es-CL" altLang="en-US" sz="1500" b="1" dirty="0">
                <a:solidFill>
                  <a:schemeClr val="tx1"/>
                </a:solidFill>
                <a:latin typeface="Figtree" pitchFamily="34" charset="0"/>
                <a:ea typeface="Figtree" pitchFamily="34" charset="-122"/>
                <a:cs typeface="Figtree" pitchFamily="34" charset="-120"/>
              </a:rPr>
              <a:t>la biblioteca de calibraciones (potencial)</a:t>
            </a:r>
            <a:endParaRPr lang="es-CL" sz="1500" dirty="0"/>
          </a:p>
        </p:txBody>
      </p:sp>
      <p:sp>
        <p:nvSpPr>
          <p:cNvPr id="13" name="Shape 11"/>
          <p:cNvSpPr/>
          <p:nvPr/>
        </p:nvSpPr>
        <p:spPr>
          <a:xfrm>
            <a:off x="548640" y="4315968"/>
            <a:ext cx="3545738" cy="1920240"/>
          </a:xfrm>
          <a:prstGeom prst="rect">
            <a:avLst/>
          </a:prstGeom>
          <a:solidFill>
            <a:schemeClr val="bg2"/>
          </a:solidFill>
          <a:ln w="9525">
            <a:solidFill>
              <a:schemeClr val="accent5"/>
            </a:solidFill>
            <a:prstDash val="solid"/>
          </a:ln>
        </p:spPr>
      </p:sp>
      <p:sp>
        <p:nvSpPr>
          <p:cNvPr id="14" name="Shape 12"/>
          <p:cNvSpPr/>
          <p:nvPr/>
        </p:nvSpPr>
        <p:spPr>
          <a:xfrm>
            <a:off x="548640" y="4315968"/>
            <a:ext cx="3545738" cy="91440"/>
          </a:xfrm>
          <a:prstGeom prst="rect">
            <a:avLst/>
          </a:prstGeom>
          <a:solidFill>
            <a:srgbClr val="ECECEC"/>
          </a:solidFill>
          <a:ln/>
        </p:spPr>
      </p:sp>
      <p:sp>
        <p:nvSpPr>
          <p:cNvPr id="15" name="Text 13"/>
          <p:cNvSpPr txBox="1"/>
          <p:nvPr/>
        </p:nvSpPr>
        <p:spPr>
          <a:xfrm>
            <a:off x="777240" y="4544568"/>
            <a:ext cx="3088538"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EJE 1</a:t>
            </a:r>
            <a:endParaRPr lang="es-CL" sz="1300" dirty="0"/>
          </a:p>
        </p:txBody>
      </p:sp>
      <p:sp>
        <p:nvSpPr>
          <p:cNvPr id="16" name="Text 14"/>
          <p:cNvSpPr txBox="1"/>
          <p:nvPr/>
        </p:nvSpPr>
        <p:spPr>
          <a:xfrm>
            <a:off x="777240" y="4846320"/>
            <a:ext cx="3088538" cy="457200"/>
          </a:xfrm>
          <a:prstGeom prst="rect">
            <a:avLst/>
          </a:prstGeom>
          <a:noFill/>
          <a:ln/>
        </p:spPr>
        <p:txBody>
          <a:bodyPr wrap="square" lIns="0" tIns="0" rIns="0" bIns="0" rtlCol="0" anchor="ctr"/>
          <a:lstStyle/>
          <a:p>
            <a:pPr indent="0" marL="0">
              <a:buNone/>
            </a:pPr>
            <a:r>
              <a:rPr lang="es-CL" altLang="en-US" sz="2200" b="1" dirty="0">
                <a:solidFill>
                  <a:schemeClr val="tx1"/>
                </a:solidFill>
                <a:latin typeface="Figtree" pitchFamily="34" charset="0"/>
                <a:ea typeface="Figtree" pitchFamily="34" charset="-122"/>
                <a:cs typeface="Figtree" pitchFamily="34" charset="-120"/>
              </a:rPr>
              <a:t>Habilitación formal</a:t>
            </a:r>
            <a:endParaRPr lang="es-CL" sz="2200" dirty="0"/>
          </a:p>
        </p:txBody>
      </p:sp>
      <p:sp>
        <p:nvSpPr>
          <p:cNvPr id="17" name="Text 15"/>
          <p:cNvSpPr txBox="1"/>
          <p:nvPr/>
        </p:nvSpPr>
        <p:spPr>
          <a:xfrm>
            <a:off x="777240" y="5367528"/>
            <a:ext cx="3088538" cy="731520"/>
          </a:xfrm>
          <a:prstGeom prst="rect">
            <a:avLst/>
          </a:prstGeom>
          <a:noFill/>
          <a:ln/>
        </p:spPr>
        <p:txBody>
          <a:bodyPr wrap="square" lIns="0" tIns="0" rIns="0" bIns="0" rtlCol="0" anchor="t"/>
          <a:lstStyle/>
          <a:p>
            <a:pPr indent="0" marL="0">
              <a:buNone/>
            </a:pPr>
            <a:r>
              <a:rPr lang="es-CL" altLang="en-US" sz="1700" dirty="0">
                <a:solidFill>
                  <a:schemeClr val="tx2"/>
                </a:solidFill>
                <a:latin typeface="Figtree" pitchFamily="34" charset="0"/>
                <a:ea typeface="Figtree" pitchFamily="34" charset="-122"/>
                <a:cs typeface="Figtree" pitchFamily="34" charset="-120"/>
              </a:rPr>
              <a:t>Brecha: </a:t>
            </a:r>
            <a:pPr indent="0" marL="0">
              <a:buNone/>
            </a:pPr>
            <a:r>
              <a:rPr lang="es-CL" altLang="en-US" sz="1700" dirty="0">
                <a:solidFill>
                  <a:schemeClr val="tx1"/>
                </a:solidFill>
                <a:latin typeface="Figtree" pitchFamily="34" charset="0"/>
                <a:ea typeface="Figtree" pitchFamily="34" charset="-122"/>
                <a:cs typeface="Figtree" pitchFamily="34" charset="-120"/>
              </a:rPr>
              <a:t>Vía legal y reconocimiento de terceros</a:t>
            </a:r>
            <a:endParaRPr lang="es-CL" sz="1700" dirty="0"/>
          </a:p>
        </p:txBody>
      </p:sp>
      <p:sp>
        <p:nvSpPr>
          <p:cNvPr id="18" name="Shape 16"/>
          <p:cNvSpPr/>
          <p:nvPr/>
        </p:nvSpPr>
        <p:spPr>
          <a:xfrm>
            <a:off x="4322978" y="4315968"/>
            <a:ext cx="3545738" cy="1920240"/>
          </a:xfrm>
          <a:prstGeom prst="rect">
            <a:avLst/>
          </a:prstGeom>
          <a:solidFill>
            <a:schemeClr val="bg2"/>
          </a:solidFill>
          <a:ln w="9525">
            <a:solidFill>
              <a:schemeClr val="accent5"/>
            </a:solidFill>
            <a:prstDash val="solid"/>
          </a:ln>
        </p:spPr>
      </p:sp>
      <p:sp>
        <p:nvSpPr>
          <p:cNvPr id="19" name="Shape 17"/>
          <p:cNvSpPr/>
          <p:nvPr/>
        </p:nvSpPr>
        <p:spPr>
          <a:xfrm>
            <a:off x="4322978" y="4315968"/>
            <a:ext cx="3545738" cy="91440"/>
          </a:xfrm>
          <a:prstGeom prst="rect">
            <a:avLst/>
          </a:prstGeom>
          <a:solidFill>
            <a:srgbClr val="22B8F0"/>
          </a:solidFill>
          <a:ln/>
        </p:spPr>
      </p:sp>
      <p:sp>
        <p:nvSpPr>
          <p:cNvPr id="20" name="Text 18"/>
          <p:cNvSpPr txBox="1"/>
          <p:nvPr/>
        </p:nvSpPr>
        <p:spPr>
          <a:xfrm>
            <a:off x="4551578" y="4544568"/>
            <a:ext cx="3088538"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EJE 2</a:t>
            </a:r>
            <a:endParaRPr lang="es-CL" sz="1300" dirty="0"/>
          </a:p>
        </p:txBody>
      </p:sp>
      <p:sp>
        <p:nvSpPr>
          <p:cNvPr id="21" name="Text 19"/>
          <p:cNvSpPr txBox="1"/>
          <p:nvPr/>
        </p:nvSpPr>
        <p:spPr>
          <a:xfrm>
            <a:off x="4551578" y="4846320"/>
            <a:ext cx="3088538" cy="457200"/>
          </a:xfrm>
          <a:prstGeom prst="rect">
            <a:avLst/>
          </a:prstGeom>
          <a:noFill/>
          <a:ln/>
        </p:spPr>
        <p:txBody>
          <a:bodyPr wrap="square" lIns="0" tIns="0" rIns="0" bIns="0" rtlCol="0" anchor="ctr"/>
          <a:lstStyle/>
          <a:p>
            <a:pPr indent="0" marL="0">
              <a:buNone/>
            </a:pPr>
            <a:r>
              <a:rPr lang="es-CL" altLang="en-US" sz="2200" b="1" dirty="0">
                <a:solidFill>
                  <a:schemeClr val="tx1"/>
                </a:solidFill>
                <a:latin typeface="Figtree" pitchFamily="34" charset="0"/>
                <a:ea typeface="Figtree" pitchFamily="34" charset="-122"/>
                <a:cs typeface="Figtree" pitchFamily="34" charset="-120"/>
              </a:rPr>
              <a:t>Acceso comercial</a:t>
            </a:r>
            <a:endParaRPr lang="es-CL" sz="2200" dirty="0"/>
          </a:p>
        </p:txBody>
      </p:sp>
      <p:sp>
        <p:nvSpPr>
          <p:cNvPr id="22" name="Text 20"/>
          <p:cNvSpPr txBox="1"/>
          <p:nvPr/>
        </p:nvSpPr>
        <p:spPr>
          <a:xfrm>
            <a:off x="4551578" y="5367528"/>
            <a:ext cx="3088538" cy="731520"/>
          </a:xfrm>
          <a:prstGeom prst="rect">
            <a:avLst/>
          </a:prstGeom>
          <a:noFill/>
          <a:ln/>
        </p:spPr>
        <p:txBody>
          <a:bodyPr wrap="square" lIns="0" tIns="0" rIns="0" bIns="0" rtlCol="0" anchor="t"/>
          <a:lstStyle/>
          <a:p>
            <a:pPr indent="0" marL="0">
              <a:buNone/>
            </a:pPr>
            <a:r>
              <a:rPr lang="es-CL" altLang="en-US" sz="1700" dirty="0">
                <a:solidFill>
                  <a:schemeClr val="tx2"/>
                </a:solidFill>
                <a:latin typeface="Figtree" pitchFamily="34" charset="0"/>
                <a:ea typeface="Figtree" pitchFamily="34" charset="-122"/>
                <a:cs typeface="Figtree" pitchFamily="34" charset="-120"/>
              </a:rPr>
              <a:t>Brecha: </a:t>
            </a:r>
            <a:pPr indent="0" marL="0">
              <a:buNone/>
            </a:pPr>
            <a:r>
              <a:rPr lang="es-CL" altLang="en-US" sz="1700" dirty="0">
                <a:solidFill>
                  <a:schemeClr val="tx1"/>
                </a:solidFill>
                <a:latin typeface="Figtree" pitchFamily="34" charset="0"/>
                <a:ea typeface="Figtree" pitchFamily="34" charset="-122"/>
                <a:cs typeface="Figtree" pitchFamily="34" charset="-120"/>
              </a:rPr>
              <a:t>Valor frente a posponer la compra</a:t>
            </a:r>
            <a:endParaRPr lang="es-CL" sz="1700" dirty="0"/>
          </a:p>
        </p:txBody>
      </p:sp>
      <p:sp>
        <p:nvSpPr>
          <p:cNvPr id="23" name="Shape 21"/>
          <p:cNvSpPr/>
          <p:nvPr/>
        </p:nvSpPr>
        <p:spPr>
          <a:xfrm>
            <a:off x="8097317" y="4315968"/>
            <a:ext cx="3545738" cy="1920240"/>
          </a:xfrm>
          <a:prstGeom prst="rect">
            <a:avLst/>
          </a:prstGeom>
          <a:solidFill>
            <a:schemeClr val="bg2"/>
          </a:solidFill>
          <a:ln w="9525">
            <a:solidFill>
              <a:schemeClr val="accent5"/>
            </a:solidFill>
            <a:prstDash val="solid"/>
          </a:ln>
        </p:spPr>
      </p:sp>
      <p:sp>
        <p:nvSpPr>
          <p:cNvPr id="24" name="Shape 22"/>
          <p:cNvSpPr/>
          <p:nvPr/>
        </p:nvSpPr>
        <p:spPr>
          <a:xfrm>
            <a:off x="8097317" y="4315968"/>
            <a:ext cx="3545738" cy="91440"/>
          </a:xfrm>
          <a:prstGeom prst="rect">
            <a:avLst/>
          </a:prstGeom>
          <a:solidFill>
            <a:srgbClr val="0A6F9E"/>
          </a:solidFill>
          <a:ln/>
        </p:spPr>
      </p:sp>
      <p:sp>
        <p:nvSpPr>
          <p:cNvPr id="25" name="Text 23"/>
          <p:cNvSpPr txBox="1"/>
          <p:nvPr/>
        </p:nvSpPr>
        <p:spPr>
          <a:xfrm>
            <a:off x="8325917" y="4544568"/>
            <a:ext cx="3088538"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EJE 3</a:t>
            </a:r>
            <a:endParaRPr lang="es-CL" sz="1300" dirty="0"/>
          </a:p>
        </p:txBody>
      </p:sp>
      <p:sp>
        <p:nvSpPr>
          <p:cNvPr id="26" name="Text 24"/>
          <p:cNvSpPr txBox="1"/>
          <p:nvPr/>
        </p:nvSpPr>
        <p:spPr>
          <a:xfrm>
            <a:off x="8325917" y="4846320"/>
            <a:ext cx="3088538" cy="457200"/>
          </a:xfrm>
          <a:prstGeom prst="rect">
            <a:avLst/>
          </a:prstGeom>
          <a:noFill/>
          <a:ln/>
        </p:spPr>
        <p:txBody>
          <a:bodyPr wrap="square" lIns="0" tIns="0" rIns="0" bIns="0" rtlCol="0" anchor="ctr"/>
          <a:lstStyle/>
          <a:p>
            <a:pPr indent="0" marL="0">
              <a:buNone/>
            </a:pPr>
            <a:r>
              <a:rPr lang="es-CL" altLang="en-US" sz="2200" b="1" dirty="0">
                <a:solidFill>
                  <a:schemeClr val="tx1"/>
                </a:solidFill>
                <a:latin typeface="Figtree" pitchFamily="34" charset="0"/>
                <a:ea typeface="Figtree" pitchFamily="34" charset="-122"/>
                <a:cs typeface="Figtree" pitchFamily="34" charset="-120"/>
              </a:rPr>
              <a:t>Conocimiento y escala</a:t>
            </a:r>
            <a:endParaRPr lang="es-CL" sz="2200" dirty="0"/>
          </a:p>
        </p:txBody>
      </p:sp>
      <p:sp>
        <p:nvSpPr>
          <p:cNvPr id="27" name="Text 25"/>
          <p:cNvSpPr txBox="1"/>
          <p:nvPr/>
        </p:nvSpPr>
        <p:spPr>
          <a:xfrm>
            <a:off x="8325917" y="5367528"/>
            <a:ext cx="3088538" cy="731520"/>
          </a:xfrm>
          <a:prstGeom prst="rect">
            <a:avLst/>
          </a:prstGeom>
          <a:noFill/>
          <a:ln/>
        </p:spPr>
        <p:txBody>
          <a:bodyPr wrap="square" lIns="0" tIns="0" rIns="0" bIns="0" rtlCol="0" anchor="t"/>
          <a:lstStyle/>
          <a:p>
            <a:pPr indent="0" marL="0">
              <a:buNone/>
            </a:pPr>
            <a:r>
              <a:rPr lang="es-CL" altLang="en-US" sz="1700" dirty="0">
                <a:solidFill>
                  <a:schemeClr val="tx2"/>
                </a:solidFill>
                <a:latin typeface="Figtree" pitchFamily="34" charset="0"/>
                <a:ea typeface="Figtree" pitchFamily="34" charset="-122"/>
                <a:cs typeface="Figtree" pitchFamily="34" charset="-120"/>
              </a:rPr>
              <a:t>Brecha: </a:t>
            </a:r>
            <a:pPr indent="0" marL="0">
              <a:buNone/>
            </a:pPr>
            <a:r>
              <a:rPr lang="es-CL" altLang="en-US" sz="1700" dirty="0">
                <a:solidFill>
                  <a:schemeClr val="tx1"/>
                </a:solidFill>
                <a:latin typeface="Figtree" pitchFamily="34" charset="0"/>
                <a:ea typeface="Figtree" pitchFamily="34" charset="-122"/>
                <a:cs typeface="Figtree" pitchFamily="34" charset="-120"/>
              </a:rPr>
              <a:t>Capacidad de ejecución y ahorro sin medir</a:t>
            </a:r>
            <a:endParaRPr lang="es-CL" sz="17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09</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8 · REDACCIÓN DE OBJETIVOS ESTRATÉGICOS</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LOS OCHO OBJETIVOS DE LA ESTRATEGIA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llegan al CMI.</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perspectivas del Cuadro de Mando Integral según Kaplan y Norton (2008). Objetivos redactados en el informe, Tabla 3.</a:t>
            </a:r>
            <a:endParaRPr lang="es-CL" sz="1100" dirty="0"/>
          </a:p>
        </p:txBody>
      </p:sp>
      <p:sp>
        <p:nvSpPr>
          <p:cNvPr id="5" name="Shape 3"/>
          <p:cNvSpPr/>
          <p:nvPr/>
        </p:nvSpPr>
        <p:spPr>
          <a:xfrm>
            <a:off x="548640" y="2395728"/>
            <a:ext cx="3545738" cy="2788920"/>
          </a:xfrm>
          <a:prstGeom prst="rect">
            <a:avLst/>
          </a:prstGeom>
          <a:solidFill>
            <a:schemeClr val="bg2"/>
          </a:solidFill>
          <a:ln w="9525">
            <a:solidFill>
              <a:schemeClr val="accent5"/>
            </a:solidFill>
            <a:prstDash val="solid"/>
          </a:ln>
        </p:spPr>
      </p:sp>
      <p:sp>
        <p:nvSpPr>
          <p:cNvPr id="6" name="Shape 4"/>
          <p:cNvSpPr/>
          <p:nvPr/>
        </p:nvSpPr>
        <p:spPr>
          <a:xfrm>
            <a:off x="548640" y="2395728"/>
            <a:ext cx="3545738" cy="91440"/>
          </a:xfrm>
          <a:prstGeom prst="rect">
            <a:avLst/>
          </a:prstGeom>
          <a:solidFill>
            <a:srgbClr val="ECECEC"/>
          </a:solidFill>
          <a:ln/>
        </p:spPr>
      </p:sp>
      <p:sp>
        <p:nvSpPr>
          <p:cNvPr id="7" name="Text 5"/>
          <p:cNvSpPr txBox="1"/>
          <p:nvPr/>
        </p:nvSpPr>
        <p:spPr>
          <a:xfrm>
            <a:off x="731520" y="2560320"/>
            <a:ext cx="3179978" cy="384048"/>
          </a:xfrm>
          <a:prstGeom prst="rect">
            <a:avLst/>
          </a:prstGeom>
          <a:noFill/>
          <a:ln/>
        </p:spPr>
        <p:txBody>
          <a:bodyPr wrap="square" lIns="0" tIns="0" rIns="0" bIns="0" rtlCol="0" anchor="ctr"/>
          <a:lstStyle/>
          <a:p>
            <a:pPr indent="0" marL="0">
              <a:buNone/>
            </a:pPr>
            <a:r>
              <a:rPr lang="es-CL" altLang="en-US" sz="1200" dirty="0">
                <a:solidFill>
                  <a:schemeClr val="tx2"/>
                </a:solidFill>
                <a:latin typeface="IBM Plex Mono" pitchFamily="34" charset="0"/>
                <a:ea typeface="IBM Plex Mono" pitchFamily="34" charset="-122"/>
                <a:cs typeface="IBM Plex Mono" pitchFamily="34" charset="-120"/>
              </a:rPr>
              <a:t>EJE 1  </a:t>
            </a:r>
            <a:pPr indent="0" marL="0">
              <a:buNone/>
            </a:pPr>
            <a:r>
              <a:rPr lang="es-CL" altLang="en-US" sz="1800" b="1" dirty="0">
                <a:solidFill>
                  <a:schemeClr val="tx1"/>
                </a:solidFill>
                <a:latin typeface="Figtree" pitchFamily="34" charset="0"/>
                <a:ea typeface="Figtree" pitchFamily="34" charset="-122"/>
                <a:cs typeface="Figtree" pitchFamily="34" charset="-120"/>
              </a:rPr>
              <a:t>Habilitación formal</a:t>
            </a:r>
            <a:endParaRPr lang="es-CL" sz="1800" dirty="0"/>
          </a:p>
        </p:txBody>
      </p:sp>
      <p:sp>
        <p:nvSpPr>
          <p:cNvPr id="8" name="Shape 6"/>
          <p:cNvSpPr/>
          <p:nvPr/>
        </p:nvSpPr>
        <p:spPr>
          <a:xfrm>
            <a:off x="731520" y="3054096"/>
            <a:ext cx="3179978" cy="0"/>
          </a:xfrm>
          <a:prstGeom prst="line">
            <a:avLst/>
          </a:prstGeom>
          <a:noFill/>
          <a:ln w="9525">
            <a:solidFill>
              <a:schemeClr val="accent5"/>
            </a:solidFill>
            <a:prstDash val="solid"/>
          </a:ln>
        </p:spPr>
      </p:sp>
      <p:sp>
        <p:nvSpPr>
          <p:cNvPr id="9" name="Text 7"/>
          <p:cNvSpPr txBox="1"/>
          <p:nvPr/>
        </p:nvSpPr>
        <p:spPr>
          <a:xfrm>
            <a:off x="731520" y="3127248"/>
            <a:ext cx="365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01</a:t>
            </a:r>
            <a:endParaRPr lang="es-CL" sz="1200" dirty="0"/>
          </a:p>
        </p:txBody>
      </p:sp>
      <p:sp>
        <p:nvSpPr>
          <p:cNvPr id="10" name="Text 8"/>
          <p:cNvSpPr txBox="1"/>
          <p:nvPr/>
        </p:nvSpPr>
        <p:spPr>
          <a:xfrm>
            <a:off x="1115568" y="3090672"/>
            <a:ext cx="2777642" cy="347472"/>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Autorización del taller</a:t>
            </a:r>
            <a:endParaRPr lang="es-CL" sz="1500" dirty="0"/>
          </a:p>
        </p:txBody>
      </p:sp>
      <p:sp>
        <p:nvSpPr>
          <p:cNvPr id="11" name="Shape 9"/>
          <p:cNvSpPr/>
          <p:nvPr/>
        </p:nvSpPr>
        <p:spPr>
          <a:xfrm>
            <a:off x="1115568" y="3438144"/>
            <a:ext cx="457200" cy="256032"/>
          </a:xfrm>
          <a:prstGeom prst="rect">
            <a:avLst/>
          </a:prstGeom>
          <a:solidFill>
            <a:schemeClr val="accent5"/>
          </a:solidFill>
          <a:ln/>
        </p:spPr>
      </p:sp>
      <p:sp>
        <p:nvSpPr>
          <p:cNvPr id="12" name="Shape 10"/>
          <p:cNvSpPr/>
          <p:nvPr/>
        </p:nvSpPr>
        <p:spPr>
          <a:xfrm>
            <a:off x="1115568" y="3438144"/>
            <a:ext cx="457200" cy="45720"/>
          </a:xfrm>
          <a:prstGeom prst="rect">
            <a:avLst/>
          </a:prstGeom>
          <a:solidFill>
            <a:srgbClr val="ECECEC"/>
          </a:solidFill>
          <a:ln/>
        </p:spPr>
      </p:sp>
      <p:sp>
        <p:nvSpPr>
          <p:cNvPr id="13" name="Text 11"/>
          <p:cNvSpPr txBox="1"/>
          <p:nvPr/>
        </p:nvSpPr>
        <p:spPr>
          <a:xfrm>
            <a:off x="1115568" y="3438144"/>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P1</a:t>
            </a:r>
            <a:endParaRPr lang="es-CL" sz="1200" dirty="0"/>
          </a:p>
        </p:txBody>
      </p:sp>
      <p:sp>
        <p:nvSpPr>
          <p:cNvPr id="14" name="Shape 12"/>
          <p:cNvSpPr/>
          <p:nvPr/>
        </p:nvSpPr>
        <p:spPr>
          <a:xfrm>
            <a:off x="731520" y="3749040"/>
            <a:ext cx="3179978" cy="0"/>
          </a:xfrm>
          <a:prstGeom prst="line">
            <a:avLst/>
          </a:prstGeom>
          <a:noFill/>
          <a:ln w="9525">
            <a:solidFill>
              <a:schemeClr val="accent5"/>
            </a:solidFill>
            <a:prstDash val="solid"/>
          </a:ln>
        </p:spPr>
      </p:sp>
      <p:sp>
        <p:nvSpPr>
          <p:cNvPr id="15" name="Text 13"/>
          <p:cNvSpPr txBox="1"/>
          <p:nvPr/>
        </p:nvSpPr>
        <p:spPr>
          <a:xfrm>
            <a:off x="731520" y="3822192"/>
            <a:ext cx="365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02</a:t>
            </a:r>
            <a:endParaRPr lang="es-CL" sz="1200" dirty="0"/>
          </a:p>
        </p:txBody>
      </p:sp>
      <p:sp>
        <p:nvSpPr>
          <p:cNvPr id="16" name="Text 14"/>
          <p:cNvSpPr txBox="1"/>
          <p:nvPr/>
        </p:nvSpPr>
        <p:spPr>
          <a:xfrm>
            <a:off x="1115568" y="3785616"/>
            <a:ext cx="2777642" cy="347472"/>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Homologación progresiva</a:t>
            </a:r>
            <a:endParaRPr lang="es-CL" sz="1500" dirty="0"/>
          </a:p>
        </p:txBody>
      </p:sp>
      <p:sp>
        <p:nvSpPr>
          <p:cNvPr id="17" name="Shape 15"/>
          <p:cNvSpPr/>
          <p:nvPr/>
        </p:nvSpPr>
        <p:spPr>
          <a:xfrm>
            <a:off x="1115568" y="4133088"/>
            <a:ext cx="457200" cy="256032"/>
          </a:xfrm>
          <a:prstGeom prst="rect">
            <a:avLst/>
          </a:prstGeom>
          <a:solidFill>
            <a:schemeClr val="accent5"/>
          </a:solidFill>
          <a:ln/>
        </p:spPr>
      </p:sp>
      <p:sp>
        <p:nvSpPr>
          <p:cNvPr id="18" name="Shape 16"/>
          <p:cNvSpPr/>
          <p:nvPr/>
        </p:nvSpPr>
        <p:spPr>
          <a:xfrm>
            <a:off x="1115568" y="4133088"/>
            <a:ext cx="457200" cy="45720"/>
          </a:xfrm>
          <a:prstGeom prst="rect">
            <a:avLst/>
          </a:prstGeom>
          <a:solidFill>
            <a:srgbClr val="ECECEC"/>
          </a:solidFill>
          <a:ln/>
        </p:spPr>
      </p:sp>
      <p:sp>
        <p:nvSpPr>
          <p:cNvPr id="19" name="Text 17"/>
          <p:cNvSpPr txBox="1"/>
          <p:nvPr/>
        </p:nvSpPr>
        <p:spPr>
          <a:xfrm>
            <a:off x="1115568" y="4133088"/>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P2</a:t>
            </a:r>
            <a:endParaRPr lang="es-CL" sz="1200" dirty="0"/>
          </a:p>
        </p:txBody>
      </p:sp>
      <p:sp>
        <p:nvSpPr>
          <p:cNvPr id="20" name="Shape 18"/>
          <p:cNvSpPr/>
          <p:nvPr/>
        </p:nvSpPr>
        <p:spPr>
          <a:xfrm>
            <a:off x="731520" y="4443984"/>
            <a:ext cx="3179978" cy="0"/>
          </a:xfrm>
          <a:prstGeom prst="line">
            <a:avLst/>
          </a:prstGeom>
          <a:noFill/>
          <a:ln w="9525">
            <a:solidFill>
              <a:schemeClr val="accent5"/>
            </a:solidFill>
            <a:prstDash val="solid"/>
          </a:ln>
        </p:spPr>
      </p:sp>
      <p:sp>
        <p:nvSpPr>
          <p:cNvPr id="21" name="Text 19"/>
          <p:cNvSpPr txBox="1"/>
          <p:nvPr/>
        </p:nvSpPr>
        <p:spPr>
          <a:xfrm>
            <a:off x="731520" y="4517136"/>
            <a:ext cx="365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03</a:t>
            </a:r>
            <a:endParaRPr lang="es-CL" sz="1200" dirty="0"/>
          </a:p>
        </p:txBody>
      </p:sp>
      <p:sp>
        <p:nvSpPr>
          <p:cNvPr id="22" name="Text 20"/>
          <p:cNvSpPr txBox="1"/>
          <p:nvPr/>
        </p:nvSpPr>
        <p:spPr>
          <a:xfrm>
            <a:off x="1115568" y="4480560"/>
            <a:ext cx="2777642" cy="347472"/>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Aseguradoras y plantas</a:t>
            </a:r>
            <a:endParaRPr lang="es-CL" sz="1500" dirty="0"/>
          </a:p>
        </p:txBody>
      </p:sp>
      <p:sp>
        <p:nvSpPr>
          <p:cNvPr id="23" name="Shape 21"/>
          <p:cNvSpPr/>
          <p:nvPr/>
        </p:nvSpPr>
        <p:spPr>
          <a:xfrm>
            <a:off x="1115568" y="4828032"/>
            <a:ext cx="457200" cy="256032"/>
          </a:xfrm>
          <a:prstGeom prst="rect">
            <a:avLst/>
          </a:prstGeom>
          <a:solidFill>
            <a:schemeClr val="accent5"/>
          </a:solidFill>
          <a:ln/>
        </p:spPr>
      </p:sp>
      <p:sp>
        <p:nvSpPr>
          <p:cNvPr id="24" name="Shape 22"/>
          <p:cNvSpPr/>
          <p:nvPr/>
        </p:nvSpPr>
        <p:spPr>
          <a:xfrm>
            <a:off x="1115568" y="4828032"/>
            <a:ext cx="228600" cy="45720"/>
          </a:xfrm>
          <a:prstGeom prst="rect">
            <a:avLst/>
          </a:prstGeom>
          <a:solidFill>
            <a:srgbClr val="ECECEC"/>
          </a:solidFill>
          <a:ln/>
        </p:spPr>
      </p:sp>
      <p:sp>
        <p:nvSpPr>
          <p:cNvPr id="25" name="Shape 23"/>
          <p:cNvSpPr/>
          <p:nvPr/>
        </p:nvSpPr>
        <p:spPr>
          <a:xfrm>
            <a:off x="1344168" y="4828032"/>
            <a:ext cx="228600" cy="45720"/>
          </a:xfrm>
          <a:prstGeom prst="rect">
            <a:avLst/>
          </a:prstGeom>
          <a:solidFill>
            <a:srgbClr val="22B8F0"/>
          </a:solidFill>
          <a:ln/>
        </p:spPr>
      </p:sp>
      <p:sp>
        <p:nvSpPr>
          <p:cNvPr id="26" name="Text 24"/>
          <p:cNvSpPr txBox="1"/>
          <p:nvPr/>
        </p:nvSpPr>
        <p:spPr>
          <a:xfrm>
            <a:off x="1115568" y="4828032"/>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P6</a:t>
            </a:r>
            <a:endParaRPr lang="es-CL" sz="1200" dirty="0"/>
          </a:p>
        </p:txBody>
      </p:sp>
      <p:sp>
        <p:nvSpPr>
          <p:cNvPr id="27" name="Shape 25"/>
          <p:cNvSpPr/>
          <p:nvPr/>
        </p:nvSpPr>
        <p:spPr>
          <a:xfrm>
            <a:off x="4322978" y="2395728"/>
            <a:ext cx="3545738" cy="2788920"/>
          </a:xfrm>
          <a:prstGeom prst="rect">
            <a:avLst/>
          </a:prstGeom>
          <a:solidFill>
            <a:schemeClr val="bg2"/>
          </a:solidFill>
          <a:ln w="9525">
            <a:solidFill>
              <a:schemeClr val="accent5"/>
            </a:solidFill>
            <a:prstDash val="solid"/>
          </a:ln>
        </p:spPr>
      </p:sp>
      <p:sp>
        <p:nvSpPr>
          <p:cNvPr id="28" name="Shape 26"/>
          <p:cNvSpPr/>
          <p:nvPr/>
        </p:nvSpPr>
        <p:spPr>
          <a:xfrm>
            <a:off x="4322978" y="2395728"/>
            <a:ext cx="3545738" cy="91440"/>
          </a:xfrm>
          <a:prstGeom prst="rect">
            <a:avLst/>
          </a:prstGeom>
          <a:solidFill>
            <a:srgbClr val="22B8F0"/>
          </a:solidFill>
          <a:ln/>
        </p:spPr>
      </p:sp>
      <p:sp>
        <p:nvSpPr>
          <p:cNvPr id="29" name="Text 27"/>
          <p:cNvSpPr txBox="1"/>
          <p:nvPr/>
        </p:nvSpPr>
        <p:spPr>
          <a:xfrm>
            <a:off x="4505858" y="2560320"/>
            <a:ext cx="3179978" cy="384048"/>
          </a:xfrm>
          <a:prstGeom prst="rect">
            <a:avLst/>
          </a:prstGeom>
          <a:noFill/>
          <a:ln/>
        </p:spPr>
        <p:txBody>
          <a:bodyPr wrap="square" lIns="0" tIns="0" rIns="0" bIns="0" rtlCol="0" anchor="ctr"/>
          <a:lstStyle/>
          <a:p>
            <a:pPr indent="0" marL="0">
              <a:buNone/>
            </a:pPr>
            <a:r>
              <a:rPr lang="es-CL" altLang="en-US" sz="1200" dirty="0">
                <a:solidFill>
                  <a:schemeClr val="tx2"/>
                </a:solidFill>
                <a:latin typeface="IBM Plex Mono" pitchFamily="34" charset="0"/>
                <a:ea typeface="IBM Plex Mono" pitchFamily="34" charset="-122"/>
                <a:cs typeface="IBM Plex Mono" pitchFamily="34" charset="-120"/>
              </a:rPr>
              <a:t>EJE 2  </a:t>
            </a:r>
            <a:pPr indent="0" marL="0">
              <a:buNone/>
            </a:pPr>
            <a:r>
              <a:rPr lang="es-CL" altLang="en-US" sz="1800" b="1" dirty="0">
                <a:solidFill>
                  <a:schemeClr val="tx1"/>
                </a:solidFill>
                <a:latin typeface="Figtree" pitchFamily="34" charset="0"/>
                <a:ea typeface="Figtree" pitchFamily="34" charset="-122"/>
                <a:cs typeface="Figtree" pitchFamily="34" charset="-120"/>
              </a:rPr>
              <a:t>Acceso comercial</a:t>
            </a:r>
            <a:endParaRPr lang="es-CL" sz="1800" dirty="0"/>
          </a:p>
        </p:txBody>
      </p:sp>
      <p:sp>
        <p:nvSpPr>
          <p:cNvPr id="30" name="Shape 28"/>
          <p:cNvSpPr/>
          <p:nvPr/>
        </p:nvSpPr>
        <p:spPr>
          <a:xfrm>
            <a:off x="4505858" y="3054096"/>
            <a:ext cx="3179978" cy="0"/>
          </a:xfrm>
          <a:prstGeom prst="line">
            <a:avLst/>
          </a:prstGeom>
          <a:noFill/>
          <a:ln w="9525">
            <a:solidFill>
              <a:schemeClr val="accent5"/>
            </a:solidFill>
            <a:prstDash val="solid"/>
          </a:ln>
        </p:spPr>
      </p:sp>
      <p:sp>
        <p:nvSpPr>
          <p:cNvPr id="31" name="Text 29"/>
          <p:cNvSpPr txBox="1"/>
          <p:nvPr/>
        </p:nvSpPr>
        <p:spPr>
          <a:xfrm>
            <a:off x="4505858" y="3127248"/>
            <a:ext cx="365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04</a:t>
            </a:r>
            <a:endParaRPr lang="es-CL" sz="1200" dirty="0"/>
          </a:p>
        </p:txBody>
      </p:sp>
      <p:sp>
        <p:nvSpPr>
          <p:cNvPr id="32" name="Text 30"/>
          <p:cNvSpPr txBox="1"/>
          <p:nvPr/>
        </p:nvSpPr>
        <p:spPr>
          <a:xfrm>
            <a:off x="4889906" y="3090672"/>
            <a:ext cx="2777642" cy="347472"/>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Consolidar el segmento</a:t>
            </a:r>
            <a:endParaRPr lang="es-CL" sz="1500" dirty="0"/>
          </a:p>
        </p:txBody>
      </p:sp>
      <p:sp>
        <p:nvSpPr>
          <p:cNvPr id="33" name="Shape 31"/>
          <p:cNvSpPr/>
          <p:nvPr/>
        </p:nvSpPr>
        <p:spPr>
          <a:xfrm>
            <a:off x="4889906" y="3438144"/>
            <a:ext cx="457200" cy="256032"/>
          </a:xfrm>
          <a:prstGeom prst="rect">
            <a:avLst/>
          </a:prstGeom>
          <a:solidFill>
            <a:schemeClr val="accent5"/>
          </a:solidFill>
          <a:ln/>
        </p:spPr>
      </p:sp>
      <p:sp>
        <p:nvSpPr>
          <p:cNvPr id="34" name="Shape 32"/>
          <p:cNvSpPr/>
          <p:nvPr/>
        </p:nvSpPr>
        <p:spPr>
          <a:xfrm>
            <a:off x="4889906" y="3438144"/>
            <a:ext cx="457200" cy="45720"/>
          </a:xfrm>
          <a:prstGeom prst="rect">
            <a:avLst/>
          </a:prstGeom>
          <a:solidFill>
            <a:srgbClr val="22B8F0"/>
          </a:solidFill>
          <a:ln/>
        </p:spPr>
      </p:sp>
      <p:sp>
        <p:nvSpPr>
          <p:cNvPr id="35" name="Text 33"/>
          <p:cNvSpPr txBox="1"/>
          <p:nvPr/>
        </p:nvSpPr>
        <p:spPr>
          <a:xfrm>
            <a:off x="4889906" y="3438144"/>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C4</a:t>
            </a:r>
            <a:endParaRPr lang="es-CL" sz="1200" dirty="0"/>
          </a:p>
        </p:txBody>
      </p:sp>
      <p:sp>
        <p:nvSpPr>
          <p:cNvPr id="36" name="Shape 34"/>
          <p:cNvSpPr/>
          <p:nvPr/>
        </p:nvSpPr>
        <p:spPr>
          <a:xfrm>
            <a:off x="4505858" y="3749040"/>
            <a:ext cx="3179978" cy="0"/>
          </a:xfrm>
          <a:prstGeom prst="line">
            <a:avLst/>
          </a:prstGeom>
          <a:noFill/>
          <a:ln w="9525">
            <a:solidFill>
              <a:schemeClr val="accent5"/>
            </a:solidFill>
            <a:prstDash val="solid"/>
          </a:ln>
        </p:spPr>
      </p:sp>
      <p:sp>
        <p:nvSpPr>
          <p:cNvPr id="37" name="Text 35"/>
          <p:cNvSpPr txBox="1"/>
          <p:nvPr/>
        </p:nvSpPr>
        <p:spPr>
          <a:xfrm>
            <a:off x="4505858" y="3822192"/>
            <a:ext cx="365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05</a:t>
            </a:r>
            <a:endParaRPr lang="es-CL" sz="1200" dirty="0"/>
          </a:p>
        </p:txBody>
      </p:sp>
      <p:sp>
        <p:nvSpPr>
          <p:cNvPr id="38" name="Text 36"/>
          <p:cNvSpPr txBox="1"/>
          <p:nvPr/>
        </p:nvSpPr>
        <p:spPr>
          <a:xfrm>
            <a:off x="4889906" y="3785616"/>
            <a:ext cx="2777642" cy="347472"/>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Financiamiento al cliente</a:t>
            </a:r>
            <a:endParaRPr lang="es-CL" sz="1500" dirty="0"/>
          </a:p>
        </p:txBody>
      </p:sp>
      <p:sp>
        <p:nvSpPr>
          <p:cNvPr id="39" name="Shape 37"/>
          <p:cNvSpPr/>
          <p:nvPr/>
        </p:nvSpPr>
        <p:spPr>
          <a:xfrm>
            <a:off x="4889906" y="4133088"/>
            <a:ext cx="457200" cy="256032"/>
          </a:xfrm>
          <a:prstGeom prst="rect">
            <a:avLst/>
          </a:prstGeom>
          <a:solidFill>
            <a:schemeClr val="accent5"/>
          </a:solidFill>
          <a:ln/>
        </p:spPr>
      </p:sp>
      <p:sp>
        <p:nvSpPr>
          <p:cNvPr id="40" name="Shape 38"/>
          <p:cNvSpPr/>
          <p:nvPr/>
        </p:nvSpPr>
        <p:spPr>
          <a:xfrm>
            <a:off x="4889906" y="4133088"/>
            <a:ext cx="228600" cy="45720"/>
          </a:xfrm>
          <a:prstGeom prst="rect">
            <a:avLst/>
          </a:prstGeom>
          <a:solidFill>
            <a:srgbClr val="ECECEC"/>
          </a:solidFill>
          <a:ln/>
        </p:spPr>
      </p:sp>
      <p:sp>
        <p:nvSpPr>
          <p:cNvPr id="41" name="Shape 39"/>
          <p:cNvSpPr/>
          <p:nvPr/>
        </p:nvSpPr>
        <p:spPr>
          <a:xfrm>
            <a:off x="5118506" y="4133088"/>
            <a:ext cx="228600" cy="45720"/>
          </a:xfrm>
          <a:prstGeom prst="rect">
            <a:avLst/>
          </a:prstGeom>
          <a:solidFill>
            <a:srgbClr val="22B8F0"/>
          </a:solidFill>
          <a:ln/>
        </p:spPr>
      </p:sp>
      <p:sp>
        <p:nvSpPr>
          <p:cNvPr id="42" name="Text 40"/>
          <p:cNvSpPr txBox="1"/>
          <p:nvPr/>
        </p:nvSpPr>
        <p:spPr>
          <a:xfrm>
            <a:off x="4889906" y="4133088"/>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P6</a:t>
            </a:r>
            <a:endParaRPr lang="es-CL" sz="1200" dirty="0"/>
          </a:p>
        </p:txBody>
      </p:sp>
      <p:sp>
        <p:nvSpPr>
          <p:cNvPr id="43" name="Shape 41"/>
          <p:cNvSpPr/>
          <p:nvPr/>
        </p:nvSpPr>
        <p:spPr>
          <a:xfrm>
            <a:off x="8097317" y="2395728"/>
            <a:ext cx="3545738" cy="2788920"/>
          </a:xfrm>
          <a:prstGeom prst="rect">
            <a:avLst/>
          </a:prstGeom>
          <a:solidFill>
            <a:schemeClr val="bg2"/>
          </a:solidFill>
          <a:ln w="9525">
            <a:solidFill>
              <a:schemeClr val="accent5"/>
            </a:solidFill>
            <a:prstDash val="solid"/>
          </a:ln>
        </p:spPr>
      </p:sp>
      <p:sp>
        <p:nvSpPr>
          <p:cNvPr id="44" name="Shape 42"/>
          <p:cNvSpPr/>
          <p:nvPr/>
        </p:nvSpPr>
        <p:spPr>
          <a:xfrm>
            <a:off x="8097317" y="2395728"/>
            <a:ext cx="3545738" cy="91440"/>
          </a:xfrm>
          <a:prstGeom prst="rect">
            <a:avLst/>
          </a:prstGeom>
          <a:solidFill>
            <a:srgbClr val="0A6F9E"/>
          </a:solidFill>
          <a:ln/>
        </p:spPr>
      </p:sp>
      <p:sp>
        <p:nvSpPr>
          <p:cNvPr id="45" name="Text 43"/>
          <p:cNvSpPr txBox="1"/>
          <p:nvPr/>
        </p:nvSpPr>
        <p:spPr>
          <a:xfrm>
            <a:off x="8280197" y="2560320"/>
            <a:ext cx="3179978" cy="384048"/>
          </a:xfrm>
          <a:prstGeom prst="rect">
            <a:avLst/>
          </a:prstGeom>
          <a:noFill/>
          <a:ln/>
        </p:spPr>
        <p:txBody>
          <a:bodyPr wrap="square" lIns="0" tIns="0" rIns="0" bIns="0" rtlCol="0" anchor="ctr"/>
          <a:lstStyle/>
          <a:p>
            <a:pPr indent="0" marL="0">
              <a:buNone/>
            </a:pPr>
            <a:r>
              <a:rPr lang="es-CL" altLang="en-US" sz="1200" dirty="0">
                <a:solidFill>
                  <a:schemeClr val="tx2"/>
                </a:solidFill>
                <a:latin typeface="IBM Plex Mono" pitchFamily="34" charset="0"/>
                <a:ea typeface="IBM Plex Mono" pitchFamily="34" charset="-122"/>
                <a:cs typeface="IBM Plex Mono" pitchFamily="34" charset="-120"/>
              </a:rPr>
              <a:t>EJE 3  </a:t>
            </a:r>
            <a:pPr indent="0" marL="0">
              <a:buNone/>
            </a:pPr>
            <a:r>
              <a:rPr lang="es-CL" altLang="en-US" sz="1800" b="1" dirty="0">
                <a:solidFill>
                  <a:schemeClr val="tx1"/>
                </a:solidFill>
                <a:latin typeface="Figtree" pitchFamily="34" charset="0"/>
                <a:ea typeface="Figtree" pitchFamily="34" charset="-122"/>
                <a:cs typeface="Figtree" pitchFamily="34" charset="-120"/>
              </a:rPr>
              <a:t>Conocimiento y escala</a:t>
            </a:r>
            <a:endParaRPr lang="es-CL" sz="1800" dirty="0"/>
          </a:p>
        </p:txBody>
      </p:sp>
      <p:sp>
        <p:nvSpPr>
          <p:cNvPr id="46" name="Shape 44"/>
          <p:cNvSpPr/>
          <p:nvPr/>
        </p:nvSpPr>
        <p:spPr>
          <a:xfrm>
            <a:off x="8280197" y="3054096"/>
            <a:ext cx="3179978" cy="0"/>
          </a:xfrm>
          <a:prstGeom prst="line">
            <a:avLst/>
          </a:prstGeom>
          <a:noFill/>
          <a:ln w="9525">
            <a:solidFill>
              <a:schemeClr val="accent5"/>
            </a:solidFill>
            <a:prstDash val="solid"/>
          </a:ln>
        </p:spPr>
      </p:sp>
      <p:sp>
        <p:nvSpPr>
          <p:cNvPr id="47" name="Text 45"/>
          <p:cNvSpPr txBox="1"/>
          <p:nvPr/>
        </p:nvSpPr>
        <p:spPr>
          <a:xfrm>
            <a:off x="8280197" y="3127248"/>
            <a:ext cx="365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06</a:t>
            </a:r>
            <a:endParaRPr lang="es-CL" sz="1200" dirty="0"/>
          </a:p>
        </p:txBody>
      </p:sp>
      <p:sp>
        <p:nvSpPr>
          <p:cNvPr id="48" name="Text 46"/>
          <p:cNvSpPr txBox="1"/>
          <p:nvPr/>
        </p:nvSpPr>
        <p:spPr>
          <a:xfrm>
            <a:off x="8664245" y="3090672"/>
            <a:ext cx="2777642" cy="347472"/>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Demostrar el ahorro real</a:t>
            </a:r>
            <a:endParaRPr lang="es-CL" sz="1500" dirty="0"/>
          </a:p>
        </p:txBody>
      </p:sp>
      <p:sp>
        <p:nvSpPr>
          <p:cNvPr id="49" name="Shape 47"/>
          <p:cNvSpPr/>
          <p:nvPr/>
        </p:nvSpPr>
        <p:spPr>
          <a:xfrm>
            <a:off x="8664245" y="3438144"/>
            <a:ext cx="457200" cy="256032"/>
          </a:xfrm>
          <a:prstGeom prst="rect">
            <a:avLst/>
          </a:prstGeom>
          <a:solidFill>
            <a:schemeClr val="accent5"/>
          </a:solidFill>
          <a:ln/>
        </p:spPr>
      </p:sp>
      <p:sp>
        <p:nvSpPr>
          <p:cNvPr id="50" name="Shape 48"/>
          <p:cNvSpPr/>
          <p:nvPr/>
        </p:nvSpPr>
        <p:spPr>
          <a:xfrm>
            <a:off x="8664245" y="3438144"/>
            <a:ext cx="457200" cy="45720"/>
          </a:xfrm>
          <a:prstGeom prst="rect">
            <a:avLst/>
          </a:prstGeom>
          <a:solidFill>
            <a:srgbClr val="0A6F9E"/>
          </a:solidFill>
          <a:ln/>
        </p:spPr>
      </p:sp>
      <p:sp>
        <p:nvSpPr>
          <p:cNvPr id="51" name="Text 49"/>
          <p:cNvSpPr txBox="1"/>
          <p:nvPr/>
        </p:nvSpPr>
        <p:spPr>
          <a:xfrm>
            <a:off x="8664245" y="3438144"/>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A3</a:t>
            </a:r>
            <a:endParaRPr lang="es-CL" sz="1200" dirty="0"/>
          </a:p>
        </p:txBody>
      </p:sp>
      <p:sp>
        <p:nvSpPr>
          <p:cNvPr id="52" name="Shape 50"/>
          <p:cNvSpPr/>
          <p:nvPr/>
        </p:nvSpPr>
        <p:spPr>
          <a:xfrm>
            <a:off x="9194597" y="3438144"/>
            <a:ext cx="457200" cy="256032"/>
          </a:xfrm>
          <a:prstGeom prst="rect">
            <a:avLst/>
          </a:prstGeom>
          <a:solidFill>
            <a:schemeClr val="accent5"/>
          </a:solidFill>
          <a:ln/>
        </p:spPr>
      </p:sp>
      <p:sp>
        <p:nvSpPr>
          <p:cNvPr id="53" name="Shape 51"/>
          <p:cNvSpPr/>
          <p:nvPr/>
        </p:nvSpPr>
        <p:spPr>
          <a:xfrm>
            <a:off x="9194597" y="3438144"/>
            <a:ext cx="457200" cy="45720"/>
          </a:xfrm>
          <a:prstGeom prst="rect">
            <a:avLst/>
          </a:prstGeom>
          <a:solidFill>
            <a:srgbClr val="0A6F9E"/>
          </a:solidFill>
          <a:ln/>
        </p:spPr>
      </p:sp>
      <p:sp>
        <p:nvSpPr>
          <p:cNvPr id="54" name="Text 52"/>
          <p:cNvSpPr txBox="1"/>
          <p:nvPr/>
        </p:nvSpPr>
        <p:spPr>
          <a:xfrm>
            <a:off x="9194597" y="3438144"/>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P4</a:t>
            </a:r>
            <a:endParaRPr lang="es-CL" sz="1200" dirty="0"/>
          </a:p>
        </p:txBody>
      </p:sp>
      <p:sp>
        <p:nvSpPr>
          <p:cNvPr id="55" name="Shape 53"/>
          <p:cNvSpPr/>
          <p:nvPr/>
        </p:nvSpPr>
        <p:spPr>
          <a:xfrm>
            <a:off x="9724949" y="3438144"/>
            <a:ext cx="457200" cy="256032"/>
          </a:xfrm>
          <a:prstGeom prst="rect">
            <a:avLst/>
          </a:prstGeom>
          <a:solidFill>
            <a:schemeClr val="accent5"/>
          </a:solidFill>
          <a:ln/>
        </p:spPr>
      </p:sp>
      <p:sp>
        <p:nvSpPr>
          <p:cNvPr id="56" name="Shape 54"/>
          <p:cNvSpPr/>
          <p:nvPr/>
        </p:nvSpPr>
        <p:spPr>
          <a:xfrm>
            <a:off x="9724949" y="3438144"/>
            <a:ext cx="457200" cy="45720"/>
          </a:xfrm>
          <a:prstGeom prst="rect">
            <a:avLst/>
          </a:prstGeom>
          <a:solidFill>
            <a:srgbClr val="0A6F9E"/>
          </a:solidFill>
          <a:ln/>
        </p:spPr>
      </p:sp>
      <p:sp>
        <p:nvSpPr>
          <p:cNvPr id="57" name="Text 55"/>
          <p:cNvSpPr txBox="1"/>
          <p:nvPr/>
        </p:nvSpPr>
        <p:spPr>
          <a:xfrm>
            <a:off x="9724949" y="3438144"/>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C2</a:t>
            </a:r>
            <a:endParaRPr lang="es-CL" sz="1200" dirty="0"/>
          </a:p>
        </p:txBody>
      </p:sp>
      <p:sp>
        <p:nvSpPr>
          <p:cNvPr id="58" name="Shape 56"/>
          <p:cNvSpPr/>
          <p:nvPr/>
        </p:nvSpPr>
        <p:spPr>
          <a:xfrm>
            <a:off x="8280197" y="3749040"/>
            <a:ext cx="3179978" cy="0"/>
          </a:xfrm>
          <a:prstGeom prst="line">
            <a:avLst/>
          </a:prstGeom>
          <a:noFill/>
          <a:ln w="9525">
            <a:solidFill>
              <a:schemeClr val="accent5"/>
            </a:solidFill>
            <a:prstDash val="solid"/>
          </a:ln>
        </p:spPr>
      </p:sp>
      <p:sp>
        <p:nvSpPr>
          <p:cNvPr id="59" name="Text 57"/>
          <p:cNvSpPr txBox="1"/>
          <p:nvPr/>
        </p:nvSpPr>
        <p:spPr>
          <a:xfrm>
            <a:off x="8280197" y="3822192"/>
            <a:ext cx="365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07</a:t>
            </a:r>
            <a:endParaRPr lang="es-CL" sz="1200" dirty="0"/>
          </a:p>
        </p:txBody>
      </p:sp>
      <p:sp>
        <p:nvSpPr>
          <p:cNvPr id="60" name="Text 58"/>
          <p:cNvSpPr txBox="1"/>
          <p:nvPr/>
        </p:nvSpPr>
        <p:spPr>
          <a:xfrm>
            <a:off x="8664245" y="3785616"/>
            <a:ext cx="2777642" cy="347472"/>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Retener el conocimiento</a:t>
            </a:r>
            <a:endParaRPr lang="es-CL" sz="1500" dirty="0"/>
          </a:p>
        </p:txBody>
      </p:sp>
      <p:sp>
        <p:nvSpPr>
          <p:cNvPr id="61" name="Shape 59"/>
          <p:cNvSpPr/>
          <p:nvPr/>
        </p:nvSpPr>
        <p:spPr>
          <a:xfrm>
            <a:off x="8664245" y="4133088"/>
            <a:ext cx="457200" cy="256032"/>
          </a:xfrm>
          <a:prstGeom prst="rect">
            <a:avLst/>
          </a:prstGeom>
          <a:solidFill>
            <a:schemeClr val="accent5"/>
          </a:solidFill>
          <a:ln/>
        </p:spPr>
      </p:sp>
      <p:sp>
        <p:nvSpPr>
          <p:cNvPr id="62" name="Shape 60"/>
          <p:cNvSpPr/>
          <p:nvPr/>
        </p:nvSpPr>
        <p:spPr>
          <a:xfrm>
            <a:off x="8664245" y="4133088"/>
            <a:ext cx="457200" cy="45720"/>
          </a:xfrm>
          <a:prstGeom prst="rect">
            <a:avLst/>
          </a:prstGeom>
          <a:solidFill>
            <a:srgbClr val="0A6F9E"/>
          </a:solidFill>
          <a:ln/>
        </p:spPr>
      </p:sp>
      <p:sp>
        <p:nvSpPr>
          <p:cNvPr id="63" name="Text 61"/>
          <p:cNvSpPr txBox="1"/>
          <p:nvPr/>
        </p:nvSpPr>
        <p:spPr>
          <a:xfrm>
            <a:off x="8664245" y="4133088"/>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A1</a:t>
            </a:r>
            <a:endParaRPr lang="es-CL" sz="1200" dirty="0"/>
          </a:p>
        </p:txBody>
      </p:sp>
      <p:sp>
        <p:nvSpPr>
          <p:cNvPr id="64" name="Shape 62"/>
          <p:cNvSpPr/>
          <p:nvPr/>
        </p:nvSpPr>
        <p:spPr>
          <a:xfrm>
            <a:off x="9194597" y="4133088"/>
            <a:ext cx="457200" cy="256032"/>
          </a:xfrm>
          <a:prstGeom prst="rect">
            <a:avLst/>
          </a:prstGeom>
          <a:solidFill>
            <a:schemeClr val="accent5"/>
          </a:solidFill>
          <a:ln/>
        </p:spPr>
      </p:sp>
      <p:sp>
        <p:nvSpPr>
          <p:cNvPr id="65" name="Shape 63"/>
          <p:cNvSpPr/>
          <p:nvPr/>
        </p:nvSpPr>
        <p:spPr>
          <a:xfrm>
            <a:off x="9194597" y="4133088"/>
            <a:ext cx="457200" cy="45720"/>
          </a:xfrm>
          <a:prstGeom prst="rect">
            <a:avLst/>
          </a:prstGeom>
          <a:solidFill>
            <a:srgbClr val="0A6F9E"/>
          </a:solidFill>
          <a:ln/>
        </p:spPr>
      </p:sp>
      <p:sp>
        <p:nvSpPr>
          <p:cNvPr id="66" name="Text 64"/>
          <p:cNvSpPr txBox="1"/>
          <p:nvPr/>
        </p:nvSpPr>
        <p:spPr>
          <a:xfrm>
            <a:off x="9194597" y="4133088"/>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A2</a:t>
            </a:r>
            <a:endParaRPr lang="es-CL" sz="1200" dirty="0"/>
          </a:p>
        </p:txBody>
      </p:sp>
      <p:sp>
        <p:nvSpPr>
          <p:cNvPr id="67" name="Shape 65"/>
          <p:cNvSpPr/>
          <p:nvPr/>
        </p:nvSpPr>
        <p:spPr>
          <a:xfrm>
            <a:off x="9724949" y="4133088"/>
            <a:ext cx="457200" cy="256032"/>
          </a:xfrm>
          <a:prstGeom prst="rect">
            <a:avLst/>
          </a:prstGeom>
          <a:solidFill>
            <a:schemeClr val="accent5"/>
          </a:solidFill>
          <a:ln/>
        </p:spPr>
      </p:sp>
      <p:sp>
        <p:nvSpPr>
          <p:cNvPr id="68" name="Shape 66"/>
          <p:cNvSpPr/>
          <p:nvPr/>
        </p:nvSpPr>
        <p:spPr>
          <a:xfrm>
            <a:off x="9724949" y="4133088"/>
            <a:ext cx="457200" cy="45720"/>
          </a:xfrm>
          <a:prstGeom prst="rect">
            <a:avLst/>
          </a:prstGeom>
          <a:solidFill>
            <a:srgbClr val="0A6F9E"/>
          </a:solidFill>
          <a:ln/>
        </p:spPr>
      </p:sp>
      <p:sp>
        <p:nvSpPr>
          <p:cNvPr id="69" name="Text 67"/>
          <p:cNvSpPr txBox="1"/>
          <p:nvPr/>
        </p:nvSpPr>
        <p:spPr>
          <a:xfrm>
            <a:off x="9724949" y="4133088"/>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A4</a:t>
            </a:r>
            <a:endParaRPr lang="es-CL" sz="1200" dirty="0"/>
          </a:p>
        </p:txBody>
      </p:sp>
      <p:sp>
        <p:nvSpPr>
          <p:cNvPr id="70" name="Shape 68"/>
          <p:cNvSpPr/>
          <p:nvPr/>
        </p:nvSpPr>
        <p:spPr>
          <a:xfrm>
            <a:off x="8280197" y="4443984"/>
            <a:ext cx="3179978" cy="0"/>
          </a:xfrm>
          <a:prstGeom prst="line">
            <a:avLst/>
          </a:prstGeom>
          <a:noFill/>
          <a:ln w="9525">
            <a:solidFill>
              <a:schemeClr val="accent5"/>
            </a:solidFill>
            <a:prstDash val="solid"/>
          </a:ln>
        </p:spPr>
      </p:sp>
      <p:sp>
        <p:nvSpPr>
          <p:cNvPr id="71" name="Text 69"/>
          <p:cNvSpPr txBox="1"/>
          <p:nvPr/>
        </p:nvSpPr>
        <p:spPr>
          <a:xfrm>
            <a:off x="8280197" y="4517136"/>
            <a:ext cx="365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08</a:t>
            </a:r>
            <a:endParaRPr lang="es-CL" sz="1200" dirty="0"/>
          </a:p>
        </p:txBody>
      </p:sp>
      <p:sp>
        <p:nvSpPr>
          <p:cNvPr id="72" name="Text 70"/>
          <p:cNvSpPr txBox="1"/>
          <p:nvPr/>
        </p:nvSpPr>
        <p:spPr>
          <a:xfrm>
            <a:off x="8664245" y="4480560"/>
            <a:ext cx="2777642" cy="347472"/>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Ampliar capacidad</a:t>
            </a:r>
            <a:endParaRPr lang="es-CL" sz="1500" dirty="0"/>
          </a:p>
        </p:txBody>
      </p:sp>
      <p:sp>
        <p:nvSpPr>
          <p:cNvPr id="73" name="Shape 71"/>
          <p:cNvSpPr/>
          <p:nvPr/>
        </p:nvSpPr>
        <p:spPr>
          <a:xfrm>
            <a:off x="8664245" y="4828032"/>
            <a:ext cx="457200" cy="256032"/>
          </a:xfrm>
          <a:prstGeom prst="rect">
            <a:avLst/>
          </a:prstGeom>
          <a:solidFill>
            <a:schemeClr val="accent5"/>
          </a:solidFill>
          <a:ln/>
        </p:spPr>
      </p:sp>
      <p:sp>
        <p:nvSpPr>
          <p:cNvPr id="74" name="Shape 72"/>
          <p:cNvSpPr/>
          <p:nvPr/>
        </p:nvSpPr>
        <p:spPr>
          <a:xfrm>
            <a:off x="8664245" y="4828032"/>
            <a:ext cx="457200" cy="45720"/>
          </a:xfrm>
          <a:prstGeom prst="rect">
            <a:avLst/>
          </a:prstGeom>
          <a:solidFill>
            <a:srgbClr val="0A6F9E"/>
          </a:solidFill>
          <a:ln/>
        </p:spPr>
      </p:sp>
      <p:sp>
        <p:nvSpPr>
          <p:cNvPr id="75" name="Text 73"/>
          <p:cNvSpPr txBox="1"/>
          <p:nvPr/>
        </p:nvSpPr>
        <p:spPr>
          <a:xfrm>
            <a:off x="8664245" y="4828032"/>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P5</a:t>
            </a:r>
            <a:endParaRPr lang="es-CL" sz="1200" dirty="0"/>
          </a:p>
        </p:txBody>
      </p:sp>
      <p:sp>
        <p:nvSpPr>
          <p:cNvPr id="76" name="Shape 74"/>
          <p:cNvSpPr/>
          <p:nvPr/>
        </p:nvSpPr>
        <p:spPr>
          <a:xfrm>
            <a:off x="9194597" y="4828032"/>
            <a:ext cx="457200" cy="256032"/>
          </a:xfrm>
          <a:prstGeom prst="rect">
            <a:avLst/>
          </a:prstGeom>
          <a:solidFill>
            <a:schemeClr val="accent5"/>
          </a:solidFill>
          <a:ln/>
        </p:spPr>
      </p:sp>
      <p:sp>
        <p:nvSpPr>
          <p:cNvPr id="77" name="Shape 75"/>
          <p:cNvSpPr/>
          <p:nvPr/>
        </p:nvSpPr>
        <p:spPr>
          <a:xfrm>
            <a:off x="9194597" y="4828032"/>
            <a:ext cx="457200" cy="45720"/>
          </a:xfrm>
          <a:prstGeom prst="rect">
            <a:avLst/>
          </a:prstGeom>
          <a:solidFill>
            <a:srgbClr val="0A6F9E"/>
          </a:solidFill>
          <a:ln/>
        </p:spPr>
      </p:sp>
      <p:sp>
        <p:nvSpPr>
          <p:cNvPr id="78" name="Text 76"/>
          <p:cNvSpPr txBox="1"/>
          <p:nvPr/>
        </p:nvSpPr>
        <p:spPr>
          <a:xfrm>
            <a:off x="9194597" y="4828032"/>
            <a:ext cx="457200" cy="256032"/>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F3</a:t>
            </a:r>
            <a:endParaRPr lang="es-CL" sz="1200" dirty="0"/>
          </a:p>
        </p:txBody>
      </p:sp>
      <p:sp>
        <p:nvSpPr>
          <p:cNvPr id="79" name="Shape 77"/>
          <p:cNvSpPr/>
          <p:nvPr/>
        </p:nvSpPr>
        <p:spPr>
          <a:xfrm>
            <a:off x="548640" y="5413248"/>
            <a:ext cx="11094415" cy="0"/>
          </a:xfrm>
          <a:prstGeom prst="line">
            <a:avLst/>
          </a:prstGeom>
          <a:noFill/>
          <a:ln w="9525">
            <a:solidFill>
              <a:schemeClr val="accent1"/>
            </a:solidFill>
            <a:prstDash val="solid"/>
          </a:ln>
        </p:spPr>
      </p:sp>
      <p:sp>
        <p:nvSpPr>
          <p:cNvPr id="80" name="Text 78"/>
          <p:cNvSpPr txBox="1"/>
          <p:nvPr/>
        </p:nvSpPr>
        <p:spPr>
          <a:xfrm>
            <a:off x="548640" y="5541264"/>
            <a:ext cx="384048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NUEVOS EN EL CMI</a:t>
            </a:r>
            <a:endParaRPr lang="es-CL" sz="1300" dirty="0"/>
          </a:p>
        </p:txBody>
      </p:sp>
      <p:sp>
        <p:nvSpPr>
          <p:cNvPr id="81" name="Shape 79"/>
          <p:cNvSpPr/>
          <p:nvPr/>
        </p:nvSpPr>
        <p:spPr>
          <a:xfrm>
            <a:off x="548640" y="5888736"/>
            <a:ext cx="566928" cy="329184"/>
          </a:xfrm>
          <a:prstGeom prst="rect">
            <a:avLst/>
          </a:prstGeom>
          <a:solidFill>
            <a:schemeClr val="accent5"/>
          </a:solidFill>
          <a:ln/>
        </p:spPr>
      </p:sp>
      <p:sp>
        <p:nvSpPr>
          <p:cNvPr id="82" name="Text 80"/>
          <p:cNvSpPr txBox="1"/>
          <p:nvPr/>
        </p:nvSpPr>
        <p:spPr>
          <a:xfrm>
            <a:off x="548640" y="5888736"/>
            <a:ext cx="566928"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P3</a:t>
            </a:r>
            <a:endParaRPr lang="es-CL" sz="1400" dirty="0"/>
          </a:p>
        </p:txBody>
      </p:sp>
      <p:sp>
        <p:nvSpPr>
          <p:cNvPr id="83" name="Shape 81"/>
          <p:cNvSpPr/>
          <p:nvPr/>
        </p:nvSpPr>
        <p:spPr>
          <a:xfrm>
            <a:off x="1225296" y="5888736"/>
            <a:ext cx="566928" cy="329184"/>
          </a:xfrm>
          <a:prstGeom prst="rect">
            <a:avLst/>
          </a:prstGeom>
          <a:solidFill>
            <a:schemeClr val="accent5"/>
          </a:solidFill>
          <a:ln/>
        </p:spPr>
      </p:sp>
      <p:sp>
        <p:nvSpPr>
          <p:cNvPr id="84" name="Text 82"/>
          <p:cNvSpPr txBox="1"/>
          <p:nvPr/>
        </p:nvSpPr>
        <p:spPr>
          <a:xfrm>
            <a:off x="1225296" y="5888736"/>
            <a:ext cx="566928"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C1</a:t>
            </a:r>
            <a:endParaRPr lang="es-CL" sz="1400" dirty="0"/>
          </a:p>
        </p:txBody>
      </p:sp>
      <p:sp>
        <p:nvSpPr>
          <p:cNvPr id="85" name="Shape 83"/>
          <p:cNvSpPr/>
          <p:nvPr/>
        </p:nvSpPr>
        <p:spPr>
          <a:xfrm>
            <a:off x="1901952" y="5888736"/>
            <a:ext cx="566928" cy="329184"/>
          </a:xfrm>
          <a:prstGeom prst="rect">
            <a:avLst/>
          </a:prstGeom>
          <a:solidFill>
            <a:schemeClr val="accent5"/>
          </a:solidFill>
          <a:ln/>
        </p:spPr>
      </p:sp>
      <p:sp>
        <p:nvSpPr>
          <p:cNvPr id="86" name="Text 84"/>
          <p:cNvSpPr txBox="1"/>
          <p:nvPr/>
        </p:nvSpPr>
        <p:spPr>
          <a:xfrm>
            <a:off x="1901952" y="5888736"/>
            <a:ext cx="566928"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C3</a:t>
            </a:r>
            <a:endParaRPr lang="es-CL" sz="1400" dirty="0"/>
          </a:p>
        </p:txBody>
      </p:sp>
      <p:sp>
        <p:nvSpPr>
          <p:cNvPr id="87" name="Shape 85"/>
          <p:cNvSpPr/>
          <p:nvPr/>
        </p:nvSpPr>
        <p:spPr>
          <a:xfrm>
            <a:off x="2578608" y="5888736"/>
            <a:ext cx="566928" cy="329184"/>
          </a:xfrm>
          <a:prstGeom prst="rect">
            <a:avLst/>
          </a:prstGeom>
          <a:solidFill>
            <a:schemeClr val="accent5"/>
          </a:solidFill>
          <a:ln/>
        </p:spPr>
      </p:sp>
      <p:sp>
        <p:nvSpPr>
          <p:cNvPr id="88" name="Text 86"/>
          <p:cNvSpPr txBox="1"/>
          <p:nvPr/>
        </p:nvSpPr>
        <p:spPr>
          <a:xfrm>
            <a:off x="2578608" y="5888736"/>
            <a:ext cx="566928"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F2</a:t>
            </a:r>
            <a:endParaRPr lang="es-CL" sz="1400" dirty="0"/>
          </a:p>
        </p:txBody>
      </p:sp>
      <p:sp>
        <p:nvSpPr>
          <p:cNvPr id="89" name="Shape 87"/>
          <p:cNvSpPr/>
          <p:nvPr/>
        </p:nvSpPr>
        <p:spPr>
          <a:xfrm>
            <a:off x="3255264" y="5888736"/>
            <a:ext cx="566928" cy="329184"/>
          </a:xfrm>
          <a:prstGeom prst="rect">
            <a:avLst/>
          </a:prstGeom>
          <a:solidFill>
            <a:schemeClr val="accent5"/>
          </a:solidFill>
          <a:ln/>
        </p:spPr>
      </p:sp>
      <p:sp>
        <p:nvSpPr>
          <p:cNvPr id="90" name="Text 88"/>
          <p:cNvSpPr txBox="1"/>
          <p:nvPr/>
        </p:nvSpPr>
        <p:spPr>
          <a:xfrm>
            <a:off x="3255264" y="5888736"/>
            <a:ext cx="566928"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F1</a:t>
            </a:r>
            <a:endParaRPr lang="es-CL" sz="1400" dirty="0"/>
          </a:p>
        </p:txBody>
      </p:sp>
      <p:sp>
        <p:nvSpPr>
          <p:cNvPr id="91" name="Text 89"/>
          <p:cNvSpPr txBox="1"/>
          <p:nvPr/>
        </p:nvSpPr>
        <p:spPr>
          <a:xfrm>
            <a:off x="4023360" y="5870448"/>
            <a:ext cx="7619695" cy="365760"/>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17 objetivos · verbo, resultado, indicador y responsable</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10</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9 · CMI · MAPA ESTRATÉGICO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17 OBJETIVOS, 20 RELACIONES: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tres rutas.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CMI completo en el anexo A2; las 20 relaciones, con mecanismo y prueba, en el anexo A3.</a:t>
            </a:r>
            <a:endParaRPr lang="es-CL" sz="1100" dirty="0"/>
          </a:p>
        </p:txBody>
      </p:sp>
      <p:sp>
        <p:nvSpPr>
          <p:cNvPr id="5" name="Text 3"/>
          <p:cNvSpPr txBox="1"/>
          <p:nvPr/>
        </p:nvSpPr>
        <p:spPr>
          <a:xfrm>
            <a:off x="10671505" y="841248"/>
            <a:ext cx="97155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HIPÓTESIS</a:t>
            </a:r>
            <a:endParaRPr lang="es-CL" sz="1200" dirty="0"/>
          </a:p>
        </p:txBody>
      </p:sp>
      <p:sp>
        <p:nvSpPr>
          <p:cNvPr id="6" name="Shape 4"/>
          <p:cNvSpPr/>
          <p:nvPr/>
        </p:nvSpPr>
        <p:spPr>
          <a:xfrm>
            <a:off x="10168585" y="978408"/>
            <a:ext cx="384048" cy="0"/>
          </a:xfrm>
          <a:prstGeom prst="line">
            <a:avLst/>
          </a:prstGeom>
          <a:noFill/>
          <a:ln w="19050">
            <a:solidFill>
              <a:schemeClr val="accent1"/>
            </a:solidFill>
            <a:prstDash val="dash"/>
          </a:ln>
        </p:spPr>
      </p:sp>
      <p:sp>
        <p:nvSpPr>
          <p:cNvPr id="7" name="Text 5"/>
          <p:cNvSpPr txBox="1"/>
          <p:nvPr/>
        </p:nvSpPr>
        <p:spPr>
          <a:xfrm>
            <a:off x="8140395" y="841248"/>
            <a:ext cx="175387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CONDICIÓN EXTERNA</a:t>
            </a:r>
            <a:endParaRPr lang="es-CL" sz="1200" dirty="0"/>
          </a:p>
        </p:txBody>
      </p:sp>
      <p:sp>
        <p:nvSpPr>
          <p:cNvPr id="8" name="Shape 6"/>
          <p:cNvSpPr/>
          <p:nvPr/>
        </p:nvSpPr>
        <p:spPr>
          <a:xfrm>
            <a:off x="7637475" y="978408"/>
            <a:ext cx="384048" cy="0"/>
          </a:xfrm>
          <a:prstGeom prst="line">
            <a:avLst/>
          </a:prstGeom>
          <a:noFill/>
          <a:ln w="41275">
            <a:solidFill>
              <a:schemeClr val="tx1"/>
            </a:solidFill>
            <a:prstDash val="solid"/>
          </a:ln>
        </p:spPr>
      </p:sp>
      <p:sp>
        <p:nvSpPr>
          <p:cNvPr id="9" name="Text 7"/>
          <p:cNvSpPr txBox="1"/>
          <p:nvPr/>
        </p:nvSpPr>
        <p:spPr>
          <a:xfrm>
            <a:off x="6196025" y="841248"/>
            <a:ext cx="116713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HABILITANTE</a:t>
            </a:r>
            <a:endParaRPr lang="es-CL" sz="1200" dirty="0"/>
          </a:p>
        </p:txBody>
      </p:sp>
      <p:sp>
        <p:nvSpPr>
          <p:cNvPr id="10" name="Shape 8"/>
          <p:cNvSpPr/>
          <p:nvPr/>
        </p:nvSpPr>
        <p:spPr>
          <a:xfrm>
            <a:off x="5693105" y="978408"/>
            <a:ext cx="384048" cy="0"/>
          </a:xfrm>
          <a:prstGeom prst="line">
            <a:avLst/>
          </a:prstGeom>
          <a:noFill/>
          <a:ln w="25400">
            <a:solidFill>
              <a:schemeClr val="accent1"/>
            </a:solidFill>
            <a:prstDash val="solid"/>
          </a:ln>
        </p:spPr>
      </p:sp>
      <p:sp>
        <p:nvSpPr>
          <p:cNvPr id="11" name="Shape 9"/>
          <p:cNvSpPr/>
          <p:nvPr/>
        </p:nvSpPr>
        <p:spPr>
          <a:xfrm>
            <a:off x="548640" y="2331720"/>
            <a:ext cx="0" cy="566928"/>
          </a:xfrm>
          <a:prstGeom prst="line">
            <a:avLst/>
          </a:prstGeom>
          <a:noFill/>
          <a:ln w="25400">
            <a:solidFill>
              <a:schemeClr val="accent1"/>
            </a:solidFill>
            <a:prstDash val="solid"/>
          </a:ln>
        </p:spPr>
      </p:sp>
      <p:sp>
        <p:nvSpPr>
          <p:cNvPr id="12" name="Text 10"/>
          <p:cNvSpPr txBox="1"/>
          <p:nvPr/>
        </p:nvSpPr>
        <p:spPr>
          <a:xfrm>
            <a:off x="658368" y="2331720"/>
            <a:ext cx="1188720" cy="566928"/>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FINANCIERA</a:t>
            </a:r>
            <a:endParaRPr lang="es-CL" sz="1200" dirty="0"/>
          </a:p>
        </p:txBody>
      </p:sp>
      <p:sp>
        <p:nvSpPr>
          <p:cNvPr id="13" name="Shape 11"/>
          <p:cNvSpPr/>
          <p:nvPr/>
        </p:nvSpPr>
        <p:spPr>
          <a:xfrm>
            <a:off x="548640" y="3163824"/>
            <a:ext cx="0" cy="1399032"/>
          </a:xfrm>
          <a:prstGeom prst="line">
            <a:avLst/>
          </a:prstGeom>
          <a:noFill/>
          <a:ln w="25400">
            <a:solidFill>
              <a:schemeClr val="accent1"/>
            </a:solidFill>
            <a:prstDash val="solid"/>
          </a:ln>
        </p:spPr>
      </p:sp>
      <p:sp>
        <p:nvSpPr>
          <p:cNvPr id="14" name="Text 12"/>
          <p:cNvSpPr txBox="1"/>
          <p:nvPr/>
        </p:nvSpPr>
        <p:spPr>
          <a:xfrm>
            <a:off x="658368" y="3163824"/>
            <a:ext cx="1188720" cy="1399032"/>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CLIENTES</a:t>
            </a:r>
            <a:endParaRPr lang="es-CL" sz="1200" dirty="0"/>
          </a:p>
        </p:txBody>
      </p:sp>
      <p:sp>
        <p:nvSpPr>
          <p:cNvPr id="15" name="Shape 13"/>
          <p:cNvSpPr/>
          <p:nvPr/>
        </p:nvSpPr>
        <p:spPr>
          <a:xfrm>
            <a:off x="548640" y="4828032"/>
            <a:ext cx="0" cy="566928"/>
          </a:xfrm>
          <a:prstGeom prst="line">
            <a:avLst/>
          </a:prstGeom>
          <a:noFill/>
          <a:ln w="25400">
            <a:solidFill>
              <a:schemeClr val="accent1"/>
            </a:solidFill>
            <a:prstDash val="solid"/>
          </a:ln>
        </p:spPr>
      </p:sp>
      <p:sp>
        <p:nvSpPr>
          <p:cNvPr id="16" name="Text 14"/>
          <p:cNvSpPr txBox="1"/>
          <p:nvPr/>
        </p:nvSpPr>
        <p:spPr>
          <a:xfrm>
            <a:off x="658368" y="4828032"/>
            <a:ext cx="1188720" cy="566928"/>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PROCESOS</a:t>
            </a:r>
            <a:endParaRPr lang="es-CL" sz="1200" dirty="0"/>
          </a:p>
        </p:txBody>
      </p:sp>
      <p:sp>
        <p:nvSpPr>
          <p:cNvPr id="17" name="Shape 15"/>
          <p:cNvSpPr/>
          <p:nvPr/>
        </p:nvSpPr>
        <p:spPr>
          <a:xfrm>
            <a:off x="548640" y="5660136"/>
            <a:ext cx="0" cy="566928"/>
          </a:xfrm>
          <a:prstGeom prst="line">
            <a:avLst/>
          </a:prstGeom>
          <a:noFill/>
          <a:ln w="25400">
            <a:solidFill>
              <a:schemeClr val="accent1"/>
            </a:solidFill>
            <a:prstDash val="solid"/>
          </a:ln>
        </p:spPr>
      </p:sp>
      <p:sp>
        <p:nvSpPr>
          <p:cNvPr id="18" name="Text 16"/>
          <p:cNvSpPr txBox="1"/>
          <p:nvPr/>
        </p:nvSpPr>
        <p:spPr>
          <a:xfrm>
            <a:off x="658368" y="5660136"/>
            <a:ext cx="1188720" cy="566928"/>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APRENDIZAJE</a:t>
            </a:r>
            <a:endParaRPr lang="es-CL" sz="1200" dirty="0"/>
          </a:p>
        </p:txBody>
      </p:sp>
      <p:sp>
        <p:nvSpPr>
          <p:cNvPr id="19" name="Text 17"/>
          <p:cNvSpPr txBox="1"/>
          <p:nvPr/>
        </p:nvSpPr>
        <p:spPr>
          <a:xfrm>
            <a:off x="658368" y="3493008"/>
            <a:ext cx="1188720" cy="237744"/>
          </a:xfrm>
          <a:prstGeom prst="rect">
            <a:avLst/>
          </a:prstGeom>
          <a:noFill/>
          <a:ln/>
        </p:spPr>
        <p:txBody>
          <a:bodyPr wrap="square" lIns="0" tIns="0" rIns="0" bIns="0" rtlCol="0" anchor="t"/>
          <a:lstStyle/>
          <a:p>
            <a:pPr indent="0" marL="0">
              <a:buNone/>
            </a:pPr>
            <a:r>
              <a:rPr lang="es-CL" altLang="en-US" sz="1300" i="1" dirty="0">
                <a:solidFill>
                  <a:schemeClr val="tx2"/>
                </a:solidFill>
                <a:latin typeface="Instrument Serif" pitchFamily="34" charset="0"/>
                <a:ea typeface="Instrument Serif" pitchFamily="34" charset="-122"/>
                <a:cs typeface="Instrument Serif" pitchFamily="34" charset="-120"/>
              </a:rPr>
              <a:t>resultado</a:t>
            </a:r>
            <a:endParaRPr lang="es-CL" sz="1300" dirty="0"/>
          </a:p>
        </p:txBody>
      </p:sp>
      <p:sp>
        <p:nvSpPr>
          <p:cNvPr id="20" name="Text 18"/>
          <p:cNvSpPr txBox="1"/>
          <p:nvPr/>
        </p:nvSpPr>
        <p:spPr>
          <a:xfrm>
            <a:off x="658368" y="4325112"/>
            <a:ext cx="1188720" cy="237744"/>
          </a:xfrm>
          <a:prstGeom prst="rect">
            <a:avLst/>
          </a:prstGeom>
          <a:noFill/>
          <a:ln/>
        </p:spPr>
        <p:txBody>
          <a:bodyPr wrap="square" lIns="0" tIns="0" rIns="0" bIns="0" rtlCol="0" anchor="t"/>
          <a:lstStyle/>
          <a:p>
            <a:pPr indent="0" marL="0">
              <a:buNone/>
            </a:pPr>
            <a:r>
              <a:rPr lang="es-CL" altLang="en-US" sz="1300" i="1" dirty="0">
                <a:solidFill>
                  <a:schemeClr val="tx2"/>
                </a:solidFill>
                <a:latin typeface="Instrument Serif" pitchFamily="34" charset="0"/>
                <a:ea typeface="Instrument Serif" pitchFamily="34" charset="-122"/>
                <a:cs typeface="Instrument Serif" pitchFamily="34" charset="-120"/>
              </a:rPr>
              <a:t>propuesta de valor</a:t>
            </a:r>
            <a:endParaRPr lang="es-CL" sz="1300" dirty="0"/>
          </a:p>
        </p:txBody>
      </p:sp>
      <p:sp>
        <p:nvSpPr>
          <p:cNvPr id="21" name="Shape 19"/>
          <p:cNvSpPr/>
          <p:nvPr/>
        </p:nvSpPr>
        <p:spPr>
          <a:xfrm>
            <a:off x="5863133" y="5660136"/>
            <a:ext cx="0" cy="-265176"/>
          </a:xfrm>
          <a:prstGeom prst="line">
            <a:avLst/>
          </a:prstGeom>
          <a:noFill/>
          <a:ln w="25400">
            <a:solidFill>
              <a:schemeClr val="accent1"/>
            </a:solidFill>
            <a:prstDash val="solid"/>
            <a:tailEnd type="triangle"/>
          </a:ln>
        </p:spPr>
      </p:sp>
      <p:sp>
        <p:nvSpPr>
          <p:cNvPr id="22" name="Shape 20"/>
          <p:cNvSpPr/>
          <p:nvPr/>
        </p:nvSpPr>
        <p:spPr>
          <a:xfrm>
            <a:off x="4851806" y="5111496"/>
            <a:ext cx="325526" cy="0"/>
          </a:xfrm>
          <a:prstGeom prst="line">
            <a:avLst/>
          </a:prstGeom>
          <a:noFill/>
          <a:ln w="41275">
            <a:solidFill>
              <a:schemeClr val="tx1"/>
            </a:solidFill>
            <a:prstDash val="solid"/>
            <a:tailEnd type="triangle"/>
          </a:ln>
        </p:spPr>
      </p:sp>
      <p:sp>
        <p:nvSpPr>
          <p:cNvPr id="23" name="Shape 21"/>
          <p:cNvSpPr/>
          <p:nvPr/>
        </p:nvSpPr>
        <p:spPr>
          <a:xfrm>
            <a:off x="6548933" y="5111496"/>
            <a:ext cx="325526" cy="0"/>
          </a:xfrm>
          <a:prstGeom prst="line">
            <a:avLst/>
          </a:prstGeom>
          <a:noFill/>
          <a:ln w="25400">
            <a:solidFill>
              <a:schemeClr val="accent1"/>
            </a:solidFill>
            <a:prstDash val="solid"/>
            <a:tailEnd type="triangle"/>
          </a:ln>
        </p:spPr>
      </p:sp>
      <p:sp>
        <p:nvSpPr>
          <p:cNvPr id="24" name="Shape 22"/>
          <p:cNvSpPr/>
          <p:nvPr/>
        </p:nvSpPr>
        <p:spPr>
          <a:xfrm>
            <a:off x="7560259" y="5660136"/>
            <a:ext cx="0" cy="-265176"/>
          </a:xfrm>
          <a:prstGeom prst="line">
            <a:avLst/>
          </a:prstGeom>
          <a:noFill/>
          <a:ln w="25400">
            <a:solidFill>
              <a:schemeClr val="accent1"/>
            </a:solidFill>
            <a:prstDash val="solid"/>
            <a:tailEnd type="triangle"/>
          </a:ln>
        </p:spPr>
      </p:sp>
      <p:sp>
        <p:nvSpPr>
          <p:cNvPr id="25" name="Shape 23"/>
          <p:cNvSpPr/>
          <p:nvPr/>
        </p:nvSpPr>
        <p:spPr>
          <a:xfrm>
            <a:off x="7772400" y="4828032"/>
            <a:ext cx="0" cy="-265176"/>
          </a:xfrm>
          <a:prstGeom prst="line">
            <a:avLst/>
          </a:prstGeom>
          <a:noFill/>
          <a:ln w="25400">
            <a:solidFill>
              <a:schemeClr val="accent1"/>
            </a:solidFill>
            <a:prstDash val="solid"/>
            <a:tailEnd type="triangle"/>
          </a:ln>
        </p:spPr>
      </p:sp>
      <p:sp>
        <p:nvSpPr>
          <p:cNvPr id="26" name="Shape 24"/>
          <p:cNvSpPr/>
          <p:nvPr/>
        </p:nvSpPr>
        <p:spPr>
          <a:xfrm>
            <a:off x="3480206" y="5111496"/>
            <a:ext cx="-325526" cy="0"/>
          </a:xfrm>
          <a:prstGeom prst="line">
            <a:avLst/>
          </a:prstGeom>
          <a:noFill/>
          <a:ln w="41275">
            <a:solidFill>
              <a:schemeClr val="tx1"/>
            </a:solidFill>
            <a:prstDash val="solid"/>
            <a:tailEnd type="triangle"/>
          </a:ln>
        </p:spPr>
      </p:sp>
      <p:sp>
        <p:nvSpPr>
          <p:cNvPr id="27" name="Shape 25"/>
          <p:cNvSpPr/>
          <p:nvPr/>
        </p:nvSpPr>
        <p:spPr>
          <a:xfrm>
            <a:off x="9257386" y="5660136"/>
            <a:ext cx="0" cy="-265176"/>
          </a:xfrm>
          <a:prstGeom prst="line">
            <a:avLst/>
          </a:prstGeom>
          <a:noFill/>
          <a:ln w="25400">
            <a:solidFill>
              <a:schemeClr val="accent1"/>
            </a:solidFill>
            <a:prstDash val="solid"/>
            <a:tailEnd type="triangle"/>
          </a:ln>
        </p:spPr>
      </p:sp>
      <p:sp>
        <p:nvSpPr>
          <p:cNvPr id="28" name="Shape 26"/>
          <p:cNvSpPr/>
          <p:nvPr/>
        </p:nvSpPr>
        <p:spPr>
          <a:xfrm>
            <a:off x="8246059" y="5111496"/>
            <a:ext cx="325526" cy="0"/>
          </a:xfrm>
          <a:prstGeom prst="line">
            <a:avLst/>
          </a:prstGeom>
          <a:noFill/>
          <a:ln w="19050">
            <a:solidFill>
              <a:schemeClr val="accent1"/>
            </a:solidFill>
            <a:prstDash val="dash"/>
            <a:tailEnd type="triangle"/>
          </a:ln>
        </p:spPr>
      </p:sp>
      <p:sp>
        <p:nvSpPr>
          <p:cNvPr id="29" name="Shape 27"/>
          <p:cNvSpPr/>
          <p:nvPr/>
        </p:nvSpPr>
        <p:spPr>
          <a:xfrm>
            <a:off x="9326880" y="4828032"/>
            <a:ext cx="0" cy="-265176"/>
          </a:xfrm>
          <a:prstGeom prst="line">
            <a:avLst/>
          </a:prstGeom>
          <a:noFill/>
          <a:ln w="25400">
            <a:solidFill>
              <a:schemeClr val="accent1"/>
            </a:solidFill>
            <a:prstDash val="solid"/>
            <a:tailEnd type="triangle"/>
          </a:ln>
        </p:spPr>
      </p:sp>
      <p:sp>
        <p:nvSpPr>
          <p:cNvPr id="30" name="Shape 28"/>
          <p:cNvSpPr/>
          <p:nvPr/>
        </p:nvSpPr>
        <p:spPr>
          <a:xfrm>
            <a:off x="8275320" y="3995928"/>
            <a:ext cx="0" cy="-265176"/>
          </a:xfrm>
          <a:prstGeom prst="line">
            <a:avLst/>
          </a:prstGeom>
          <a:noFill/>
          <a:ln w="19050">
            <a:solidFill>
              <a:schemeClr val="accent1"/>
            </a:solidFill>
            <a:prstDash val="dash"/>
            <a:tailEnd type="triangle"/>
          </a:ln>
        </p:spPr>
      </p:sp>
      <p:sp>
        <p:nvSpPr>
          <p:cNvPr id="31" name="Shape 29"/>
          <p:cNvSpPr/>
          <p:nvPr/>
        </p:nvSpPr>
        <p:spPr>
          <a:xfrm>
            <a:off x="9052560" y="3995928"/>
            <a:ext cx="0" cy="-265176"/>
          </a:xfrm>
          <a:prstGeom prst="line">
            <a:avLst/>
          </a:prstGeom>
          <a:noFill/>
          <a:ln w="19050">
            <a:solidFill>
              <a:schemeClr val="accent1"/>
            </a:solidFill>
            <a:prstDash val="dash"/>
            <a:tailEnd type="triangle"/>
          </a:ln>
        </p:spPr>
      </p:sp>
      <p:sp>
        <p:nvSpPr>
          <p:cNvPr id="32" name="Shape 30"/>
          <p:cNvSpPr/>
          <p:nvPr/>
        </p:nvSpPr>
        <p:spPr>
          <a:xfrm>
            <a:off x="10469880" y="4828032"/>
            <a:ext cx="0" cy="-964692"/>
          </a:xfrm>
          <a:prstGeom prst="line">
            <a:avLst/>
          </a:prstGeom>
          <a:noFill/>
          <a:ln w="19050">
            <a:solidFill>
              <a:schemeClr val="accent1"/>
            </a:solidFill>
            <a:prstDash val="dash"/>
          </a:ln>
        </p:spPr>
      </p:sp>
      <p:sp>
        <p:nvSpPr>
          <p:cNvPr id="33" name="Shape 31"/>
          <p:cNvSpPr/>
          <p:nvPr/>
        </p:nvSpPr>
        <p:spPr>
          <a:xfrm>
            <a:off x="10469880" y="3863340"/>
            <a:ext cx="-1234440" cy="0"/>
          </a:xfrm>
          <a:prstGeom prst="line">
            <a:avLst/>
          </a:prstGeom>
          <a:noFill/>
          <a:ln w="19050">
            <a:solidFill>
              <a:schemeClr val="accent1"/>
            </a:solidFill>
            <a:prstDash val="dash"/>
          </a:ln>
        </p:spPr>
      </p:sp>
      <p:sp>
        <p:nvSpPr>
          <p:cNvPr id="34" name="Shape 32"/>
          <p:cNvSpPr/>
          <p:nvPr/>
        </p:nvSpPr>
        <p:spPr>
          <a:xfrm>
            <a:off x="9235440" y="3863340"/>
            <a:ext cx="0" cy="-132588"/>
          </a:xfrm>
          <a:prstGeom prst="line">
            <a:avLst/>
          </a:prstGeom>
          <a:noFill/>
          <a:ln w="19050">
            <a:solidFill>
              <a:schemeClr val="accent1"/>
            </a:solidFill>
            <a:prstDash val="dash"/>
            <a:tailEnd type="triangle"/>
          </a:ln>
        </p:spPr>
      </p:sp>
      <p:sp>
        <p:nvSpPr>
          <p:cNvPr id="35" name="Shape 33"/>
          <p:cNvSpPr/>
          <p:nvPr/>
        </p:nvSpPr>
        <p:spPr>
          <a:xfrm>
            <a:off x="9372600" y="3447288"/>
            <a:ext cx="320040" cy="0"/>
          </a:xfrm>
          <a:prstGeom prst="line">
            <a:avLst/>
          </a:prstGeom>
          <a:noFill/>
          <a:ln w="19050">
            <a:solidFill>
              <a:schemeClr val="accent1"/>
            </a:solidFill>
            <a:prstDash val="dash"/>
            <a:tailEnd type="triangle"/>
          </a:ln>
        </p:spPr>
      </p:sp>
      <p:sp>
        <p:nvSpPr>
          <p:cNvPr id="36" name="Shape 34"/>
          <p:cNvSpPr/>
          <p:nvPr/>
        </p:nvSpPr>
        <p:spPr>
          <a:xfrm>
            <a:off x="10835640" y="4828032"/>
            <a:ext cx="0" cy="-1097280"/>
          </a:xfrm>
          <a:prstGeom prst="line">
            <a:avLst/>
          </a:prstGeom>
          <a:noFill/>
          <a:ln w="19050">
            <a:solidFill>
              <a:schemeClr val="accent1"/>
            </a:solidFill>
            <a:prstDash val="dash"/>
            <a:tailEnd type="triangle"/>
          </a:ln>
        </p:spPr>
      </p:sp>
      <p:sp>
        <p:nvSpPr>
          <p:cNvPr id="37" name="Shape 35"/>
          <p:cNvSpPr/>
          <p:nvPr/>
        </p:nvSpPr>
        <p:spPr>
          <a:xfrm>
            <a:off x="10332720" y="3163824"/>
            <a:ext cx="0" cy="-265176"/>
          </a:xfrm>
          <a:prstGeom prst="line">
            <a:avLst/>
          </a:prstGeom>
          <a:noFill/>
          <a:ln w="19050">
            <a:solidFill>
              <a:schemeClr val="accent1"/>
            </a:solidFill>
            <a:prstDash val="dash"/>
            <a:tailEnd type="triangle"/>
          </a:ln>
        </p:spPr>
      </p:sp>
      <p:sp>
        <p:nvSpPr>
          <p:cNvPr id="38" name="Shape 36"/>
          <p:cNvSpPr/>
          <p:nvPr/>
        </p:nvSpPr>
        <p:spPr>
          <a:xfrm>
            <a:off x="6967728" y="4828032"/>
            <a:ext cx="0" cy="-1796796"/>
          </a:xfrm>
          <a:prstGeom prst="line">
            <a:avLst/>
          </a:prstGeom>
          <a:noFill/>
          <a:ln w="19050">
            <a:solidFill>
              <a:schemeClr val="accent1"/>
            </a:solidFill>
            <a:prstDash val="dash"/>
          </a:ln>
        </p:spPr>
      </p:sp>
      <p:sp>
        <p:nvSpPr>
          <p:cNvPr id="39" name="Shape 37"/>
          <p:cNvSpPr/>
          <p:nvPr/>
        </p:nvSpPr>
        <p:spPr>
          <a:xfrm>
            <a:off x="6967728" y="3031236"/>
            <a:ext cx="2816352" cy="0"/>
          </a:xfrm>
          <a:prstGeom prst="line">
            <a:avLst/>
          </a:prstGeom>
          <a:noFill/>
          <a:ln w="19050">
            <a:solidFill>
              <a:schemeClr val="accent1"/>
            </a:solidFill>
            <a:prstDash val="dash"/>
          </a:ln>
        </p:spPr>
      </p:sp>
      <p:sp>
        <p:nvSpPr>
          <p:cNvPr id="40" name="Shape 38"/>
          <p:cNvSpPr/>
          <p:nvPr/>
        </p:nvSpPr>
        <p:spPr>
          <a:xfrm>
            <a:off x="9784080" y="3031236"/>
            <a:ext cx="0" cy="-132588"/>
          </a:xfrm>
          <a:prstGeom prst="line">
            <a:avLst/>
          </a:prstGeom>
          <a:noFill/>
          <a:ln w="19050">
            <a:solidFill>
              <a:schemeClr val="accent1"/>
            </a:solidFill>
            <a:prstDash val="dash"/>
            <a:tailEnd type="triangle"/>
          </a:ln>
        </p:spPr>
      </p:sp>
      <p:sp>
        <p:nvSpPr>
          <p:cNvPr id="41" name="Shape 39"/>
          <p:cNvSpPr/>
          <p:nvPr/>
        </p:nvSpPr>
        <p:spPr>
          <a:xfrm>
            <a:off x="9509760" y="2615184"/>
            <a:ext cx="-2286000" cy="0"/>
          </a:xfrm>
          <a:prstGeom prst="line">
            <a:avLst/>
          </a:prstGeom>
          <a:noFill/>
          <a:ln w="19050">
            <a:solidFill>
              <a:schemeClr val="accent1"/>
            </a:solidFill>
            <a:prstDash val="dash"/>
            <a:tailEnd type="triangle"/>
          </a:ln>
        </p:spPr>
      </p:sp>
      <p:sp>
        <p:nvSpPr>
          <p:cNvPr id="42" name="Shape 40"/>
          <p:cNvSpPr/>
          <p:nvPr/>
        </p:nvSpPr>
        <p:spPr>
          <a:xfrm>
            <a:off x="2468880" y="5660136"/>
            <a:ext cx="0" cy="-265176"/>
          </a:xfrm>
          <a:prstGeom prst="line">
            <a:avLst/>
          </a:prstGeom>
          <a:noFill/>
          <a:ln w="19050">
            <a:solidFill>
              <a:schemeClr val="accent1"/>
            </a:solidFill>
            <a:prstDash val="dash"/>
            <a:tailEnd type="triangle"/>
          </a:ln>
        </p:spPr>
      </p:sp>
      <p:sp>
        <p:nvSpPr>
          <p:cNvPr id="43" name="Shape 41"/>
          <p:cNvSpPr/>
          <p:nvPr/>
        </p:nvSpPr>
        <p:spPr>
          <a:xfrm>
            <a:off x="2468880" y="4828032"/>
            <a:ext cx="0" cy="-1929384"/>
          </a:xfrm>
          <a:prstGeom prst="line">
            <a:avLst/>
          </a:prstGeom>
          <a:noFill/>
          <a:ln w="19050">
            <a:solidFill>
              <a:schemeClr val="accent1"/>
            </a:solidFill>
            <a:prstDash val="dash"/>
            <a:tailEnd type="triangle"/>
          </a:ln>
        </p:spPr>
      </p:sp>
      <p:sp>
        <p:nvSpPr>
          <p:cNvPr id="44" name="Shape 42"/>
          <p:cNvSpPr/>
          <p:nvPr/>
        </p:nvSpPr>
        <p:spPr>
          <a:xfrm>
            <a:off x="3154680" y="2615184"/>
            <a:ext cx="1874520" cy="0"/>
          </a:xfrm>
          <a:prstGeom prst="line">
            <a:avLst/>
          </a:prstGeom>
          <a:noFill/>
          <a:ln w="19050">
            <a:solidFill>
              <a:schemeClr val="accent1"/>
            </a:solidFill>
            <a:prstDash val="dash"/>
            <a:tailEnd type="triangle"/>
          </a:ln>
        </p:spPr>
      </p:sp>
      <p:sp>
        <p:nvSpPr>
          <p:cNvPr id="45" name="Shape 43"/>
          <p:cNvSpPr/>
          <p:nvPr/>
        </p:nvSpPr>
        <p:spPr>
          <a:xfrm>
            <a:off x="1783080" y="4828032"/>
            <a:ext cx="1371600" cy="566928"/>
          </a:xfrm>
          <a:prstGeom prst="rect">
            <a:avLst/>
          </a:prstGeom>
          <a:solidFill>
            <a:schemeClr val="bg2"/>
          </a:solidFill>
          <a:ln w="9525">
            <a:solidFill>
              <a:schemeClr val="tx2"/>
            </a:solidFill>
            <a:prstDash val="solid"/>
          </a:ln>
        </p:spPr>
      </p:sp>
      <p:sp>
        <p:nvSpPr>
          <p:cNvPr id="46" name="Shape 44"/>
          <p:cNvSpPr/>
          <p:nvPr/>
        </p:nvSpPr>
        <p:spPr>
          <a:xfrm>
            <a:off x="1783080" y="4828032"/>
            <a:ext cx="1371600" cy="64008"/>
          </a:xfrm>
          <a:prstGeom prst="rect">
            <a:avLst/>
          </a:prstGeom>
          <a:solidFill>
            <a:srgbClr val="0A6F9E"/>
          </a:solidFill>
          <a:ln/>
        </p:spPr>
      </p:sp>
      <p:sp>
        <p:nvSpPr>
          <p:cNvPr id="47" name="Text 45"/>
          <p:cNvSpPr txBox="1"/>
          <p:nvPr/>
        </p:nvSpPr>
        <p:spPr>
          <a:xfrm>
            <a:off x="1874520"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P5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Réplica en talleres</a:t>
            </a:r>
            <a:endParaRPr lang="es-CL" sz="1400" dirty="0"/>
          </a:p>
        </p:txBody>
      </p:sp>
      <p:sp>
        <p:nvSpPr>
          <p:cNvPr id="48" name="Shape 46"/>
          <p:cNvSpPr/>
          <p:nvPr/>
        </p:nvSpPr>
        <p:spPr>
          <a:xfrm>
            <a:off x="3480206" y="4828032"/>
            <a:ext cx="1371600" cy="566928"/>
          </a:xfrm>
          <a:prstGeom prst="rect">
            <a:avLst/>
          </a:prstGeom>
          <a:solidFill>
            <a:schemeClr val="bg2"/>
          </a:solidFill>
          <a:ln w="9525">
            <a:solidFill>
              <a:schemeClr val="tx2"/>
            </a:solidFill>
            <a:prstDash val="solid"/>
          </a:ln>
        </p:spPr>
      </p:sp>
      <p:sp>
        <p:nvSpPr>
          <p:cNvPr id="49" name="Shape 47"/>
          <p:cNvSpPr/>
          <p:nvPr/>
        </p:nvSpPr>
        <p:spPr>
          <a:xfrm>
            <a:off x="3480206" y="4828032"/>
            <a:ext cx="1371600" cy="64008"/>
          </a:xfrm>
          <a:prstGeom prst="rect">
            <a:avLst/>
          </a:prstGeom>
          <a:solidFill>
            <a:srgbClr val="ECECEC"/>
          </a:solidFill>
          <a:ln/>
        </p:spPr>
      </p:sp>
      <p:sp>
        <p:nvSpPr>
          <p:cNvPr id="50" name="Text 48"/>
          <p:cNvSpPr txBox="1"/>
          <p:nvPr/>
        </p:nvSpPr>
        <p:spPr>
          <a:xfrm>
            <a:off x="3571646"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P1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Vía legal</a:t>
            </a:r>
            <a:endParaRPr lang="es-CL" sz="1400" dirty="0"/>
          </a:p>
        </p:txBody>
      </p:sp>
      <p:sp>
        <p:nvSpPr>
          <p:cNvPr id="51" name="Shape 49"/>
          <p:cNvSpPr/>
          <p:nvPr/>
        </p:nvSpPr>
        <p:spPr>
          <a:xfrm>
            <a:off x="5177333" y="4828032"/>
            <a:ext cx="1371600" cy="566928"/>
          </a:xfrm>
          <a:prstGeom prst="rect">
            <a:avLst/>
          </a:prstGeom>
          <a:solidFill>
            <a:schemeClr val="bg2"/>
          </a:solidFill>
          <a:ln w="9525">
            <a:solidFill>
              <a:schemeClr val="tx2"/>
            </a:solidFill>
            <a:prstDash val="solid"/>
          </a:ln>
        </p:spPr>
      </p:sp>
      <p:sp>
        <p:nvSpPr>
          <p:cNvPr id="52" name="Shape 50"/>
          <p:cNvSpPr/>
          <p:nvPr/>
        </p:nvSpPr>
        <p:spPr>
          <a:xfrm>
            <a:off x="5177333" y="4828032"/>
            <a:ext cx="1371600" cy="64008"/>
          </a:xfrm>
          <a:prstGeom prst="rect">
            <a:avLst/>
          </a:prstGeom>
          <a:solidFill>
            <a:srgbClr val="ECECEC"/>
          </a:solidFill>
          <a:ln/>
        </p:spPr>
      </p:sp>
      <p:sp>
        <p:nvSpPr>
          <p:cNvPr id="53" name="Text 51"/>
          <p:cNvSpPr txBox="1"/>
          <p:nvPr/>
        </p:nvSpPr>
        <p:spPr>
          <a:xfrm>
            <a:off x="5268773"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P2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Par aprobado</a:t>
            </a:r>
            <a:endParaRPr lang="es-CL" sz="1400" dirty="0"/>
          </a:p>
        </p:txBody>
      </p:sp>
      <p:sp>
        <p:nvSpPr>
          <p:cNvPr id="54" name="Shape 52"/>
          <p:cNvSpPr/>
          <p:nvPr/>
        </p:nvSpPr>
        <p:spPr>
          <a:xfrm>
            <a:off x="6874459" y="4828032"/>
            <a:ext cx="1371600" cy="566928"/>
          </a:xfrm>
          <a:prstGeom prst="rect">
            <a:avLst/>
          </a:prstGeom>
          <a:solidFill>
            <a:schemeClr val="bg2"/>
          </a:solidFill>
          <a:ln w="9525">
            <a:solidFill>
              <a:schemeClr val="tx2"/>
            </a:solidFill>
            <a:prstDash val="solid"/>
          </a:ln>
        </p:spPr>
      </p:sp>
      <p:sp>
        <p:nvSpPr>
          <p:cNvPr id="55" name="Text 53"/>
          <p:cNvSpPr txBox="1"/>
          <p:nvPr/>
        </p:nvSpPr>
        <p:spPr>
          <a:xfrm>
            <a:off x="6965899"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P3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Instalación segura</a:t>
            </a:r>
            <a:endParaRPr lang="es-CL" sz="1400" dirty="0"/>
          </a:p>
        </p:txBody>
      </p:sp>
      <p:sp>
        <p:nvSpPr>
          <p:cNvPr id="56" name="Shape 54"/>
          <p:cNvSpPr/>
          <p:nvPr/>
        </p:nvSpPr>
        <p:spPr>
          <a:xfrm>
            <a:off x="8571586" y="4828032"/>
            <a:ext cx="1371600" cy="566928"/>
          </a:xfrm>
          <a:prstGeom prst="rect">
            <a:avLst/>
          </a:prstGeom>
          <a:solidFill>
            <a:schemeClr val="bg2"/>
          </a:solidFill>
          <a:ln w="9525">
            <a:solidFill>
              <a:schemeClr val="tx2"/>
            </a:solidFill>
            <a:prstDash val="solid"/>
          </a:ln>
        </p:spPr>
      </p:sp>
      <p:sp>
        <p:nvSpPr>
          <p:cNvPr id="57" name="Shape 55"/>
          <p:cNvSpPr/>
          <p:nvPr/>
        </p:nvSpPr>
        <p:spPr>
          <a:xfrm>
            <a:off x="8571586" y="4828032"/>
            <a:ext cx="1371600" cy="64008"/>
          </a:xfrm>
          <a:prstGeom prst="rect">
            <a:avLst/>
          </a:prstGeom>
          <a:solidFill>
            <a:srgbClr val="0A6F9E"/>
          </a:solidFill>
          <a:ln/>
        </p:spPr>
      </p:sp>
      <p:sp>
        <p:nvSpPr>
          <p:cNvPr id="58" name="Text 56"/>
          <p:cNvSpPr txBox="1"/>
          <p:nvPr/>
        </p:nvSpPr>
        <p:spPr>
          <a:xfrm>
            <a:off x="8663026"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P4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Medición y posventa</a:t>
            </a:r>
            <a:endParaRPr lang="es-CL" sz="1400" dirty="0"/>
          </a:p>
        </p:txBody>
      </p:sp>
      <p:sp>
        <p:nvSpPr>
          <p:cNvPr id="59" name="Shape 57"/>
          <p:cNvSpPr/>
          <p:nvPr/>
        </p:nvSpPr>
        <p:spPr>
          <a:xfrm>
            <a:off x="10268712" y="4828032"/>
            <a:ext cx="1371600" cy="566928"/>
          </a:xfrm>
          <a:prstGeom prst="rect">
            <a:avLst/>
          </a:prstGeom>
          <a:solidFill>
            <a:schemeClr val="bg2"/>
          </a:solidFill>
          <a:ln w="9525">
            <a:solidFill>
              <a:schemeClr val="tx2"/>
            </a:solidFill>
            <a:prstDash val="solid"/>
          </a:ln>
        </p:spPr>
      </p:sp>
      <p:sp>
        <p:nvSpPr>
          <p:cNvPr id="60" name="Shape 58"/>
          <p:cNvSpPr/>
          <p:nvPr/>
        </p:nvSpPr>
        <p:spPr>
          <a:xfrm>
            <a:off x="10268712" y="4828032"/>
            <a:ext cx="685800" cy="64008"/>
          </a:xfrm>
          <a:prstGeom prst="rect">
            <a:avLst/>
          </a:prstGeom>
          <a:solidFill>
            <a:srgbClr val="ECECEC"/>
          </a:solidFill>
          <a:ln/>
        </p:spPr>
      </p:sp>
      <p:sp>
        <p:nvSpPr>
          <p:cNvPr id="61" name="Shape 59"/>
          <p:cNvSpPr/>
          <p:nvPr/>
        </p:nvSpPr>
        <p:spPr>
          <a:xfrm>
            <a:off x="10954512" y="4828032"/>
            <a:ext cx="685800" cy="64008"/>
          </a:xfrm>
          <a:prstGeom prst="rect">
            <a:avLst/>
          </a:prstGeom>
          <a:solidFill>
            <a:srgbClr val="22B8F0"/>
          </a:solidFill>
          <a:ln/>
        </p:spPr>
      </p:sp>
      <p:sp>
        <p:nvSpPr>
          <p:cNvPr id="62" name="Text 60"/>
          <p:cNvSpPr txBox="1"/>
          <p:nvPr/>
        </p:nvSpPr>
        <p:spPr>
          <a:xfrm>
            <a:off x="10360152" y="4882896"/>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P6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Alianzas que destraban</a:t>
            </a:r>
            <a:endParaRPr lang="es-CL" sz="1400" dirty="0"/>
          </a:p>
        </p:txBody>
      </p:sp>
      <p:sp>
        <p:nvSpPr>
          <p:cNvPr id="63" name="Shape 61"/>
          <p:cNvSpPr/>
          <p:nvPr/>
        </p:nvSpPr>
        <p:spPr>
          <a:xfrm>
            <a:off x="1783080" y="5660136"/>
            <a:ext cx="1371600" cy="566928"/>
          </a:xfrm>
          <a:prstGeom prst="rect">
            <a:avLst/>
          </a:prstGeom>
          <a:solidFill>
            <a:schemeClr val="bg2"/>
          </a:solidFill>
          <a:ln w="9525">
            <a:solidFill>
              <a:schemeClr val="tx2"/>
            </a:solidFill>
            <a:prstDash val="solid"/>
          </a:ln>
        </p:spPr>
      </p:sp>
      <p:sp>
        <p:nvSpPr>
          <p:cNvPr id="64" name="Shape 62"/>
          <p:cNvSpPr/>
          <p:nvPr/>
        </p:nvSpPr>
        <p:spPr>
          <a:xfrm>
            <a:off x="1783080" y="5660136"/>
            <a:ext cx="1371600" cy="64008"/>
          </a:xfrm>
          <a:prstGeom prst="rect">
            <a:avLst/>
          </a:prstGeom>
          <a:solidFill>
            <a:srgbClr val="0A6F9E"/>
          </a:solidFill>
          <a:ln/>
        </p:spPr>
      </p:sp>
      <p:sp>
        <p:nvSpPr>
          <p:cNvPr id="65" name="Text 63"/>
          <p:cNvSpPr txBox="1"/>
          <p:nvPr/>
        </p:nvSpPr>
        <p:spPr>
          <a:xfrm>
            <a:off x="1874520" y="5715000"/>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A4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Lumine Habilita</a:t>
            </a:r>
            <a:endParaRPr lang="es-CL" sz="1400" dirty="0"/>
          </a:p>
        </p:txBody>
      </p:sp>
      <p:sp>
        <p:nvSpPr>
          <p:cNvPr id="66" name="Shape 64"/>
          <p:cNvSpPr/>
          <p:nvPr/>
        </p:nvSpPr>
        <p:spPr>
          <a:xfrm>
            <a:off x="5177333" y="5660136"/>
            <a:ext cx="1371600" cy="566928"/>
          </a:xfrm>
          <a:prstGeom prst="rect">
            <a:avLst/>
          </a:prstGeom>
          <a:solidFill>
            <a:schemeClr val="bg2"/>
          </a:solidFill>
          <a:ln w="9525">
            <a:solidFill>
              <a:schemeClr val="tx2"/>
            </a:solidFill>
            <a:prstDash val="solid"/>
          </a:ln>
        </p:spPr>
      </p:sp>
      <p:sp>
        <p:nvSpPr>
          <p:cNvPr id="67" name="Shape 65"/>
          <p:cNvSpPr/>
          <p:nvPr/>
        </p:nvSpPr>
        <p:spPr>
          <a:xfrm>
            <a:off x="5177333" y="5660136"/>
            <a:ext cx="1371600" cy="64008"/>
          </a:xfrm>
          <a:prstGeom prst="rect">
            <a:avLst/>
          </a:prstGeom>
          <a:solidFill>
            <a:srgbClr val="0A6F9E"/>
          </a:solidFill>
          <a:ln/>
        </p:spPr>
      </p:sp>
      <p:sp>
        <p:nvSpPr>
          <p:cNvPr id="68" name="Text 66"/>
          <p:cNvSpPr txBox="1"/>
          <p:nvPr/>
        </p:nvSpPr>
        <p:spPr>
          <a:xfrm>
            <a:off x="5268773" y="5715000"/>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A1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Biblioteca</a:t>
            </a:r>
            <a:endParaRPr lang="es-CL" sz="1400" dirty="0"/>
          </a:p>
        </p:txBody>
      </p:sp>
      <p:sp>
        <p:nvSpPr>
          <p:cNvPr id="69" name="Shape 67"/>
          <p:cNvSpPr/>
          <p:nvPr/>
        </p:nvSpPr>
        <p:spPr>
          <a:xfrm>
            <a:off x="6874459" y="5660136"/>
            <a:ext cx="1371600" cy="566928"/>
          </a:xfrm>
          <a:prstGeom prst="rect">
            <a:avLst/>
          </a:prstGeom>
          <a:solidFill>
            <a:schemeClr val="bg2"/>
          </a:solidFill>
          <a:ln w="9525">
            <a:solidFill>
              <a:schemeClr val="tx2"/>
            </a:solidFill>
            <a:prstDash val="solid"/>
          </a:ln>
        </p:spPr>
      </p:sp>
      <p:sp>
        <p:nvSpPr>
          <p:cNvPr id="70" name="Shape 68"/>
          <p:cNvSpPr/>
          <p:nvPr/>
        </p:nvSpPr>
        <p:spPr>
          <a:xfrm>
            <a:off x="6874459" y="5660136"/>
            <a:ext cx="1371600" cy="64008"/>
          </a:xfrm>
          <a:prstGeom prst="rect">
            <a:avLst/>
          </a:prstGeom>
          <a:solidFill>
            <a:srgbClr val="0A6F9E"/>
          </a:solidFill>
          <a:ln/>
        </p:spPr>
      </p:sp>
      <p:sp>
        <p:nvSpPr>
          <p:cNvPr id="71" name="Text 69"/>
          <p:cNvSpPr txBox="1"/>
          <p:nvPr/>
        </p:nvSpPr>
        <p:spPr>
          <a:xfrm>
            <a:off x="6965899" y="5715000"/>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A2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Técnicos habilitados</a:t>
            </a:r>
            <a:endParaRPr lang="es-CL" sz="1400" dirty="0"/>
          </a:p>
        </p:txBody>
      </p:sp>
      <p:sp>
        <p:nvSpPr>
          <p:cNvPr id="72" name="Shape 70"/>
          <p:cNvSpPr/>
          <p:nvPr/>
        </p:nvSpPr>
        <p:spPr>
          <a:xfrm>
            <a:off x="8571586" y="5660136"/>
            <a:ext cx="1371600" cy="566928"/>
          </a:xfrm>
          <a:prstGeom prst="rect">
            <a:avLst/>
          </a:prstGeom>
          <a:solidFill>
            <a:schemeClr val="bg2"/>
          </a:solidFill>
          <a:ln w="9525">
            <a:solidFill>
              <a:schemeClr val="tx2"/>
            </a:solidFill>
            <a:prstDash val="solid"/>
          </a:ln>
        </p:spPr>
      </p:sp>
      <p:sp>
        <p:nvSpPr>
          <p:cNvPr id="73" name="Shape 71"/>
          <p:cNvSpPr/>
          <p:nvPr/>
        </p:nvSpPr>
        <p:spPr>
          <a:xfrm>
            <a:off x="8571586" y="5660136"/>
            <a:ext cx="1371600" cy="64008"/>
          </a:xfrm>
          <a:prstGeom prst="rect">
            <a:avLst/>
          </a:prstGeom>
          <a:solidFill>
            <a:srgbClr val="0A6F9E"/>
          </a:solidFill>
          <a:ln/>
        </p:spPr>
      </p:sp>
      <p:sp>
        <p:nvSpPr>
          <p:cNvPr id="74" name="Text 72"/>
          <p:cNvSpPr txBox="1"/>
          <p:nvPr/>
        </p:nvSpPr>
        <p:spPr>
          <a:xfrm>
            <a:off x="8663026" y="5715000"/>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A3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Protocolo de medición</a:t>
            </a:r>
            <a:endParaRPr lang="es-CL" sz="1400" dirty="0"/>
          </a:p>
        </p:txBody>
      </p:sp>
      <p:sp>
        <p:nvSpPr>
          <p:cNvPr id="75" name="Shape 73"/>
          <p:cNvSpPr/>
          <p:nvPr/>
        </p:nvSpPr>
        <p:spPr>
          <a:xfrm>
            <a:off x="7178040" y="3995928"/>
            <a:ext cx="1371600" cy="566928"/>
          </a:xfrm>
          <a:prstGeom prst="rect">
            <a:avLst/>
          </a:prstGeom>
          <a:solidFill>
            <a:schemeClr val="bg2"/>
          </a:solidFill>
          <a:ln w="9525">
            <a:solidFill>
              <a:schemeClr val="tx2"/>
            </a:solidFill>
            <a:prstDash val="solid"/>
          </a:ln>
        </p:spPr>
      </p:sp>
      <p:sp>
        <p:nvSpPr>
          <p:cNvPr id="76" name="Text 74"/>
          <p:cNvSpPr txBox="1"/>
          <p:nvPr/>
        </p:nvSpPr>
        <p:spPr>
          <a:xfrm>
            <a:off x="7269480" y="4050792"/>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C1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Promesa cumplida</a:t>
            </a:r>
            <a:endParaRPr lang="es-CL" sz="1400" dirty="0"/>
          </a:p>
        </p:txBody>
      </p:sp>
      <p:sp>
        <p:nvSpPr>
          <p:cNvPr id="77" name="Shape 75"/>
          <p:cNvSpPr/>
          <p:nvPr/>
        </p:nvSpPr>
        <p:spPr>
          <a:xfrm>
            <a:off x="8778240" y="3995928"/>
            <a:ext cx="1371600" cy="566928"/>
          </a:xfrm>
          <a:prstGeom prst="rect">
            <a:avLst/>
          </a:prstGeom>
          <a:solidFill>
            <a:schemeClr val="bg2"/>
          </a:solidFill>
          <a:ln w="9525">
            <a:solidFill>
              <a:schemeClr val="tx2"/>
            </a:solidFill>
            <a:prstDash val="solid"/>
          </a:ln>
        </p:spPr>
      </p:sp>
      <p:sp>
        <p:nvSpPr>
          <p:cNvPr id="78" name="Shape 76"/>
          <p:cNvSpPr/>
          <p:nvPr/>
        </p:nvSpPr>
        <p:spPr>
          <a:xfrm>
            <a:off x="8778240" y="3995928"/>
            <a:ext cx="1371600" cy="64008"/>
          </a:xfrm>
          <a:prstGeom prst="rect">
            <a:avLst/>
          </a:prstGeom>
          <a:solidFill>
            <a:srgbClr val="0A6F9E"/>
          </a:solidFill>
          <a:ln/>
        </p:spPr>
      </p:sp>
      <p:sp>
        <p:nvSpPr>
          <p:cNvPr id="79" name="Text 77"/>
          <p:cNvSpPr txBox="1"/>
          <p:nvPr/>
        </p:nvSpPr>
        <p:spPr>
          <a:xfrm>
            <a:off x="8869680" y="4050792"/>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C2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Ahorro acreditado</a:t>
            </a:r>
            <a:endParaRPr lang="es-CL" sz="1400" dirty="0"/>
          </a:p>
        </p:txBody>
      </p:sp>
      <p:sp>
        <p:nvSpPr>
          <p:cNvPr id="80" name="Shape 78"/>
          <p:cNvSpPr/>
          <p:nvPr/>
        </p:nvSpPr>
        <p:spPr>
          <a:xfrm>
            <a:off x="8001000" y="3163824"/>
            <a:ext cx="1371600" cy="566928"/>
          </a:xfrm>
          <a:prstGeom prst="rect">
            <a:avLst/>
          </a:prstGeom>
          <a:solidFill>
            <a:schemeClr val="bg2"/>
          </a:solidFill>
          <a:ln w="9525">
            <a:solidFill>
              <a:schemeClr val="tx2"/>
            </a:solidFill>
            <a:prstDash val="solid"/>
          </a:ln>
        </p:spPr>
      </p:sp>
      <p:sp>
        <p:nvSpPr>
          <p:cNvPr id="81" name="Text 79"/>
          <p:cNvSpPr txBox="1"/>
          <p:nvPr/>
        </p:nvSpPr>
        <p:spPr>
          <a:xfrm>
            <a:off x="8092440" y="3218688"/>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C3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Confianza del cliente</a:t>
            </a:r>
            <a:endParaRPr lang="es-CL" sz="1400" dirty="0"/>
          </a:p>
        </p:txBody>
      </p:sp>
      <p:sp>
        <p:nvSpPr>
          <p:cNvPr id="82" name="Shape 80"/>
          <p:cNvSpPr/>
          <p:nvPr/>
        </p:nvSpPr>
        <p:spPr>
          <a:xfrm>
            <a:off x="9692640" y="3163824"/>
            <a:ext cx="1371600" cy="566928"/>
          </a:xfrm>
          <a:prstGeom prst="rect">
            <a:avLst/>
          </a:prstGeom>
          <a:solidFill>
            <a:schemeClr val="bg2"/>
          </a:solidFill>
          <a:ln w="9525">
            <a:solidFill>
              <a:schemeClr val="tx2"/>
            </a:solidFill>
            <a:prstDash val="solid"/>
          </a:ln>
        </p:spPr>
      </p:sp>
      <p:sp>
        <p:nvSpPr>
          <p:cNvPr id="83" name="Shape 81"/>
          <p:cNvSpPr/>
          <p:nvPr/>
        </p:nvSpPr>
        <p:spPr>
          <a:xfrm>
            <a:off x="9692640" y="3163824"/>
            <a:ext cx="1371600" cy="64008"/>
          </a:xfrm>
          <a:prstGeom prst="rect">
            <a:avLst/>
          </a:prstGeom>
          <a:solidFill>
            <a:srgbClr val="22B8F0"/>
          </a:solidFill>
          <a:ln/>
        </p:spPr>
      </p:sp>
      <p:sp>
        <p:nvSpPr>
          <p:cNvPr id="84" name="Text 82"/>
          <p:cNvSpPr txBox="1"/>
          <p:nvPr/>
        </p:nvSpPr>
        <p:spPr>
          <a:xfrm>
            <a:off x="9784080" y="3218688"/>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C4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Segmento captado</a:t>
            </a:r>
            <a:endParaRPr lang="es-CL" sz="1400" dirty="0"/>
          </a:p>
        </p:txBody>
      </p:sp>
      <p:sp>
        <p:nvSpPr>
          <p:cNvPr id="85" name="Shape 83"/>
          <p:cNvSpPr/>
          <p:nvPr/>
        </p:nvSpPr>
        <p:spPr>
          <a:xfrm>
            <a:off x="1783080" y="2331720"/>
            <a:ext cx="1371600" cy="566928"/>
          </a:xfrm>
          <a:prstGeom prst="rect">
            <a:avLst/>
          </a:prstGeom>
          <a:solidFill>
            <a:schemeClr val="bg2"/>
          </a:solidFill>
          <a:ln w="9525">
            <a:solidFill>
              <a:schemeClr val="tx2"/>
            </a:solidFill>
            <a:prstDash val="solid"/>
          </a:ln>
        </p:spPr>
      </p:sp>
      <p:sp>
        <p:nvSpPr>
          <p:cNvPr id="86" name="Shape 84"/>
          <p:cNvSpPr/>
          <p:nvPr/>
        </p:nvSpPr>
        <p:spPr>
          <a:xfrm>
            <a:off x="1783080" y="2331720"/>
            <a:ext cx="1371600" cy="64008"/>
          </a:xfrm>
          <a:prstGeom prst="rect">
            <a:avLst/>
          </a:prstGeom>
          <a:solidFill>
            <a:srgbClr val="0A6F9E"/>
          </a:solidFill>
          <a:ln/>
        </p:spPr>
      </p:sp>
      <p:sp>
        <p:nvSpPr>
          <p:cNvPr id="87" name="Text 85"/>
          <p:cNvSpPr txBox="1"/>
          <p:nvPr/>
        </p:nvSpPr>
        <p:spPr>
          <a:xfrm>
            <a:off x="1874520" y="2386584"/>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F3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Expansión y licencias</a:t>
            </a:r>
            <a:endParaRPr lang="es-CL" sz="1400" dirty="0"/>
          </a:p>
        </p:txBody>
      </p:sp>
      <p:pic>
        <p:nvPicPr>
          <p:cNvPr id="88" name="Image 0" descr="C:\Users\Usuario\Documents\GitHub\lumine\tig-final\generador\assets\brillo.png">    </p:cNvPr>
          <p:cNvPicPr>
            <a:picLocks noChangeAspect="1"/>
          </p:cNvPicPr>
          <p:nvPr/>
        </p:nvPicPr>
        <p:blipFill>
          <a:blip r:embed="rId1"/>
          <a:stretch>
            <a:fillRect/>
          </a:stretch>
        </p:blipFill>
        <p:spPr>
          <a:xfrm>
            <a:off x="4663440" y="2075688"/>
            <a:ext cx="2926080" cy="1078992"/>
          </a:xfrm>
          <a:prstGeom prst="rect">
            <a:avLst/>
          </a:prstGeom>
        </p:spPr>
      </p:pic>
      <p:sp>
        <p:nvSpPr>
          <p:cNvPr id="89" name="Shape 86"/>
          <p:cNvSpPr/>
          <p:nvPr/>
        </p:nvSpPr>
        <p:spPr>
          <a:xfrm>
            <a:off x="5029200" y="2331720"/>
            <a:ext cx="2194560" cy="566928"/>
          </a:xfrm>
          <a:prstGeom prst="rect">
            <a:avLst/>
          </a:prstGeom>
          <a:solidFill>
            <a:srgbClr val="0B1A22"/>
          </a:solidFill>
          <a:ln w="15875">
            <a:solidFill>
              <a:schemeClr val="accent1"/>
            </a:solidFill>
            <a:prstDash val="solid"/>
          </a:ln>
        </p:spPr>
      </p:sp>
      <p:sp>
        <p:nvSpPr>
          <p:cNvPr id="90" name="Shape 87"/>
          <p:cNvSpPr/>
          <p:nvPr/>
        </p:nvSpPr>
        <p:spPr>
          <a:xfrm>
            <a:off x="4974336" y="2276856"/>
            <a:ext cx="155448" cy="0"/>
          </a:xfrm>
          <a:prstGeom prst="line">
            <a:avLst/>
          </a:prstGeom>
          <a:noFill/>
          <a:ln w="15875">
            <a:solidFill>
              <a:schemeClr val="accent1"/>
            </a:solidFill>
            <a:prstDash val="solid"/>
          </a:ln>
        </p:spPr>
      </p:sp>
      <p:sp>
        <p:nvSpPr>
          <p:cNvPr id="91" name="Shape 88"/>
          <p:cNvSpPr/>
          <p:nvPr/>
        </p:nvSpPr>
        <p:spPr>
          <a:xfrm>
            <a:off x="4974336" y="2276856"/>
            <a:ext cx="0" cy="155448"/>
          </a:xfrm>
          <a:prstGeom prst="line">
            <a:avLst/>
          </a:prstGeom>
          <a:noFill/>
          <a:ln w="15875">
            <a:solidFill>
              <a:schemeClr val="accent1"/>
            </a:solidFill>
            <a:prstDash val="solid"/>
          </a:ln>
        </p:spPr>
      </p:sp>
      <p:sp>
        <p:nvSpPr>
          <p:cNvPr id="92" name="Shape 89"/>
          <p:cNvSpPr/>
          <p:nvPr/>
        </p:nvSpPr>
        <p:spPr>
          <a:xfrm>
            <a:off x="7123176" y="2276856"/>
            <a:ext cx="155448" cy="0"/>
          </a:xfrm>
          <a:prstGeom prst="line">
            <a:avLst/>
          </a:prstGeom>
          <a:noFill/>
          <a:ln w="15875">
            <a:solidFill>
              <a:schemeClr val="accent1"/>
            </a:solidFill>
            <a:prstDash val="solid"/>
          </a:ln>
        </p:spPr>
      </p:sp>
      <p:sp>
        <p:nvSpPr>
          <p:cNvPr id="93" name="Shape 90"/>
          <p:cNvSpPr/>
          <p:nvPr/>
        </p:nvSpPr>
        <p:spPr>
          <a:xfrm>
            <a:off x="7278624" y="2276856"/>
            <a:ext cx="0" cy="155448"/>
          </a:xfrm>
          <a:prstGeom prst="line">
            <a:avLst/>
          </a:prstGeom>
          <a:noFill/>
          <a:ln w="15875">
            <a:solidFill>
              <a:schemeClr val="accent1"/>
            </a:solidFill>
            <a:prstDash val="solid"/>
          </a:ln>
        </p:spPr>
      </p:sp>
      <p:sp>
        <p:nvSpPr>
          <p:cNvPr id="94" name="Shape 91"/>
          <p:cNvSpPr/>
          <p:nvPr/>
        </p:nvSpPr>
        <p:spPr>
          <a:xfrm>
            <a:off x="4974336" y="2953512"/>
            <a:ext cx="155448" cy="0"/>
          </a:xfrm>
          <a:prstGeom prst="line">
            <a:avLst/>
          </a:prstGeom>
          <a:noFill/>
          <a:ln w="15875">
            <a:solidFill>
              <a:schemeClr val="accent1"/>
            </a:solidFill>
            <a:prstDash val="solid"/>
          </a:ln>
        </p:spPr>
      </p:sp>
      <p:sp>
        <p:nvSpPr>
          <p:cNvPr id="95" name="Shape 92"/>
          <p:cNvSpPr/>
          <p:nvPr/>
        </p:nvSpPr>
        <p:spPr>
          <a:xfrm>
            <a:off x="4974336" y="2798064"/>
            <a:ext cx="0" cy="155448"/>
          </a:xfrm>
          <a:prstGeom prst="line">
            <a:avLst/>
          </a:prstGeom>
          <a:noFill/>
          <a:ln w="15875">
            <a:solidFill>
              <a:schemeClr val="accent1"/>
            </a:solidFill>
            <a:prstDash val="solid"/>
          </a:ln>
        </p:spPr>
      </p:sp>
      <p:sp>
        <p:nvSpPr>
          <p:cNvPr id="96" name="Shape 93"/>
          <p:cNvSpPr/>
          <p:nvPr/>
        </p:nvSpPr>
        <p:spPr>
          <a:xfrm>
            <a:off x="7123176" y="2953512"/>
            <a:ext cx="155448" cy="0"/>
          </a:xfrm>
          <a:prstGeom prst="line">
            <a:avLst/>
          </a:prstGeom>
          <a:noFill/>
          <a:ln w="15875">
            <a:solidFill>
              <a:schemeClr val="accent1"/>
            </a:solidFill>
            <a:prstDash val="solid"/>
          </a:ln>
        </p:spPr>
      </p:sp>
      <p:sp>
        <p:nvSpPr>
          <p:cNvPr id="97" name="Shape 94"/>
          <p:cNvSpPr/>
          <p:nvPr/>
        </p:nvSpPr>
        <p:spPr>
          <a:xfrm>
            <a:off x="7278624" y="2798064"/>
            <a:ext cx="0" cy="155448"/>
          </a:xfrm>
          <a:prstGeom prst="line">
            <a:avLst/>
          </a:prstGeom>
          <a:noFill/>
          <a:ln w="15875">
            <a:solidFill>
              <a:schemeClr val="accent1"/>
            </a:solidFill>
            <a:prstDash val="solid"/>
          </a:ln>
        </p:spPr>
      </p:sp>
      <p:sp>
        <p:nvSpPr>
          <p:cNvPr id="98" name="Text 95"/>
          <p:cNvSpPr txBox="1"/>
          <p:nvPr/>
        </p:nvSpPr>
        <p:spPr>
          <a:xfrm>
            <a:off x="5120640" y="2386584"/>
            <a:ext cx="204825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F1  </a:t>
            </a:r>
            <a:pPr indent="0" marL="0">
              <a:lnSpc>
                <a:spcPct val="88000"/>
              </a:lnSpc>
              <a:buNone/>
            </a:pPr>
            <a:r>
              <a:rPr lang="es-CL" altLang="en-US" sz="1400" b="1" dirty="0">
                <a:solidFill>
                  <a:schemeClr val="tx1"/>
                </a:solidFill>
                <a:latin typeface="Figtree" pitchFamily="34" charset="0"/>
                <a:ea typeface="Figtree" pitchFamily="34" charset="-122"/>
                <a:cs typeface="Figtree" pitchFamily="34" charset="-120"/>
              </a:rPr>
              <a:t>Rentabilidad sobre el costo de capital</a:t>
            </a:r>
            <a:endParaRPr lang="es-CL" sz="1400" dirty="0"/>
          </a:p>
        </p:txBody>
      </p:sp>
      <p:sp>
        <p:nvSpPr>
          <p:cNvPr id="99" name="Shape 96"/>
          <p:cNvSpPr/>
          <p:nvPr/>
        </p:nvSpPr>
        <p:spPr>
          <a:xfrm>
            <a:off x="9509760" y="2331720"/>
            <a:ext cx="1371600" cy="566928"/>
          </a:xfrm>
          <a:prstGeom prst="rect">
            <a:avLst/>
          </a:prstGeom>
          <a:solidFill>
            <a:schemeClr val="bg2"/>
          </a:solidFill>
          <a:ln w="9525">
            <a:solidFill>
              <a:schemeClr val="tx2"/>
            </a:solidFill>
            <a:prstDash val="solid"/>
          </a:ln>
        </p:spPr>
      </p:sp>
      <p:sp>
        <p:nvSpPr>
          <p:cNvPr id="100" name="Text 97"/>
          <p:cNvSpPr txBox="1"/>
          <p:nvPr/>
        </p:nvSpPr>
        <p:spPr>
          <a:xfrm>
            <a:off x="9601200" y="2386584"/>
            <a:ext cx="1225296" cy="493776"/>
          </a:xfrm>
          <a:prstGeom prst="rect">
            <a:avLst/>
          </a:prstGeom>
          <a:noFill/>
          <a:ln/>
        </p:spPr>
        <p:txBody>
          <a:bodyPr wrap="square" lIns="0" tIns="0" rIns="0" bIns="0" rtlCol="0" anchor="ctr"/>
          <a:lstStyle/>
          <a:p>
            <a:pPr indent="0" marL="0">
              <a:lnSpc>
                <a:spcPct val="88000"/>
              </a:lnSpc>
              <a:buNone/>
            </a:pPr>
            <a:r>
              <a:rPr lang="es-CL" altLang="en-US" sz="1200" b="1" dirty="0">
                <a:solidFill>
                  <a:schemeClr val="accent1"/>
                </a:solidFill>
                <a:latin typeface="IBM Plex Mono" pitchFamily="34" charset="0"/>
                <a:ea typeface="IBM Plex Mono" pitchFamily="34" charset="-122"/>
                <a:cs typeface="IBM Plex Mono" pitchFamily="34" charset="-120"/>
              </a:rPr>
              <a:t>F2  </a:t>
            </a:r>
            <a:pPr indent="0" marL="0">
              <a:lnSpc>
                <a:spcPct val="88000"/>
              </a:lnSpc>
              <a:buNone/>
            </a:pPr>
            <a:r>
              <a:rPr lang="es-CL" altLang="en-US" sz="1400" dirty="0">
                <a:solidFill>
                  <a:schemeClr val="tx1"/>
                </a:solidFill>
                <a:latin typeface="Figtree" pitchFamily="34" charset="0"/>
                <a:ea typeface="Figtree" pitchFamily="34" charset="-122"/>
                <a:cs typeface="Figtree" pitchFamily="34" charset="-120"/>
              </a:rPr>
              <a:t>Margen por servicio</a:t>
            </a:r>
            <a:endParaRPr lang="es-CL" sz="1400" dirty="0"/>
          </a:p>
        </p:txBody>
      </p:sp>
      <p:sp>
        <p:nvSpPr>
          <p:cNvPr id="101" name="Text 98"/>
          <p:cNvSpPr txBox="1"/>
          <p:nvPr/>
        </p:nvSpPr>
        <p:spPr>
          <a:xfrm>
            <a:off x="3388766" y="5660136"/>
            <a:ext cx="1325880" cy="566928"/>
          </a:xfrm>
          <a:prstGeom prst="rect">
            <a:avLst/>
          </a:prstGeom>
          <a:noFill/>
          <a:ln/>
        </p:spPr>
        <p:txBody>
          <a:bodyPr wrap="square" lIns="0" tIns="0" rIns="0" bIns="0" rtlCol="0" anchor="ctr"/>
          <a:lstStyle/>
          <a:p>
            <a:pPr algn="r" indent="0" marL="0">
              <a:buNone/>
            </a:pPr>
            <a:r>
              <a:rPr lang="es-CL" altLang="en-US" sz="1400" i="1" dirty="0">
                <a:solidFill>
                  <a:schemeClr val="accent1"/>
                </a:solidFill>
                <a:latin typeface="Instrument Serif" pitchFamily="34" charset="0"/>
                <a:ea typeface="Instrument Serif" pitchFamily="34" charset="-122"/>
                <a:cs typeface="Instrument Serif" pitchFamily="34" charset="-120"/>
              </a:rPr>
              <a:t>ventaja sostenible (potencial)</a:t>
            </a:r>
            <a:endParaRPr lang="es-CL" sz="1400" dirty="0"/>
          </a:p>
        </p:txBody>
      </p:sp>
      <p:sp>
        <p:nvSpPr>
          <p:cNvPr id="102" name="Shape 99"/>
          <p:cNvSpPr/>
          <p:nvPr/>
        </p:nvSpPr>
        <p:spPr>
          <a:xfrm>
            <a:off x="4742078" y="5943600"/>
            <a:ext cx="389534" cy="0"/>
          </a:xfrm>
          <a:prstGeom prst="line">
            <a:avLst/>
          </a:prstGeom>
          <a:noFill/>
          <a:ln w="12700">
            <a:solidFill>
              <a:schemeClr val="accent1"/>
            </a:solidFill>
            <a:prstDash val="solid"/>
            <a:tailEnd type="triangle"/>
          </a:ln>
        </p:spPr>
      </p:sp>
      <p:sp>
        <p:nvSpPr>
          <p:cNvPr id="103" name="Shape 100"/>
          <p:cNvSpPr/>
          <p:nvPr/>
        </p:nvSpPr>
        <p:spPr>
          <a:xfrm>
            <a:off x="10268712" y="5724144"/>
            <a:ext cx="201168" cy="64008"/>
          </a:xfrm>
          <a:prstGeom prst="rect">
            <a:avLst/>
          </a:prstGeom>
          <a:solidFill>
            <a:srgbClr val="ECECEC"/>
          </a:solidFill>
          <a:ln/>
        </p:spPr>
      </p:sp>
      <p:sp>
        <p:nvSpPr>
          <p:cNvPr id="104" name="Text 101"/>
          <p:cNvSpPr txBox="1"/>
          <p:nvPr/>
        </p:nvSpPr>
        <p:spPr>
          <a:xfrm>
            <a:off x="10543032" y="5660136"/>
            <a:ext cx="1097280" cy="182880"/>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eje 1</a:t>
            </a:r>
            <a:endParaRPr lang="es-CL" sz="1100" dirty="0"/>
          </a:p>
        </p:txBody>
      </p:sp>
      <p:sp>
        <p:nvSpPr>
          <p:cNvPr id="105" name="Shape 102"/>
          <p:cNvSpPr/>
          <p:nvPr/>
        </p:nvSpPr>
        <p:spPr>
          <a:xfrm>
            <a:off x="10268712" y="5897880"/>
            <a:ext cx="201168" cy="64008"/>
          </a:xfrm>
          <a:prstGeom prst="rect">
            <a:avLst/>
          </a:prstGeom>
          <a:solidFill>
            <a:srgbClr val="22B8F0"/>
          </a:solidFill>
          <a:ln/>
        </p:spPr>
      </p:sp>
      <p:sp>
        <p:nvSpPr>
          <p:cNvPr id="106" name="Text 103"/>
          <p:cNvSpPr txBox="1"/>
          <p:nvPr/>
        </p:nvSpPr>
        <p:spPr>
          <a:xfrm>
            <a:off x="10543032" y="5833872"/>
            <a:ext cx="1097280" cy="182880"/>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eje 2</a:t>
            </a:r>
            <a:endParaRPr lang="es-CL" sz="1100" dirty="0"/>
          </a:p>
        </p:txBody>
      </p:sp>
      <p:sp>
        <p:nvSpPr>
          <p:cNvPr id="107" name="Shape 104"/>
          <p:cNvSpPr/>
          <p:nvPr/>
        </p:nvSpPr>
        <p:spPr>
          <a:xfrm>
            <a:off x="10268712" y="6071616"/>
            <a:ext cx="201168" cy="64008"/>
          </a:xfrm>
          <a:prstGeom prst="rect">
            <a:avLst/>
          </a:prstGeom>
          <a:solidFill>
            <a:srgbClr val="0A6F9E"/>
          </a:solidFill>
          <a:ln/>
        </p:spPr>
      </p:sp>
      <p:sp>
        <p:nvSpPr>
          <p:cNvPr id="108" name="Text 105"/>
          <p:cNvSpPr txBox="1"/>
          <p:nvPr/>
        </p:nvSpPr>
        <p:spPr>
          <a:xfrm>
            <a:off x="10543032" y="6007608"/>
            <a:ext cx="1097280" cy="182880"/>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eje 3</a:t>
            </a:r>
            <a:endParaRPr lang="es-CL" sz="11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11</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10 · ANÁLISIS DE LA INFORMACIÓN</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TABLERO ESTÁ SIN MEDIR</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y 12 de 20 relaciones son hipótesis.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con base en el CMI (17 objetivos) y sus 20 relaciones. Sin datos simulados: Lumine no opera.</a:t>
            </a:r>
            <a:endParaRPr lang="es-CL" sz="1100" dirty="0"/>
          </a:p>
        </p:txBody>
      </p:sp>
      <p:sp>
        <p:nvSpPr>
          <p:cNvPr id="5" name="Text 3"/>
          <p:cNvSpPr txBox="1"/>
          <p:nvPr/>
        </p:nvSpPr>
        <p:spPr>
          <a:xfrm>
            <a:off x="548640" y="2350008"/>
            <a:ext cx="48463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LÍNEA BASE · 17 INDICADORES</a:t>
            </a:r>
            <a:endParaRPr lang="es-CL" sz="1200" dirty="0"/>
          </a:p>
        </p:txBody>
      </p:sp>
      <p:sp>
        <p:nvSpPr>
          <p:cNvPr id="6" name="Shape 4"/>
          <p:cNvSpPr/>
          <p:nvPr/>
        </p:nvSpPr>
        <p:spPr>
          <a:xfrm>
            <a:off x="548640" y="2715768"/>
            <a:ext cx="4846320" cy="0"/>
          </a:xfrm>
          <a:prstGeom prst="line">
            <a:avLst/>
          </a:prstGeom>
          <a:noFill/>
          <a:ln w="9525">
            <a:solidFill>
              <a:schemeClr val="accent1"/>
            </a:solidFill>
            <a:prstDash val="solid"/>
          </a:ln>
        </p:spPr>
      </p:sp>
      <p:sp>
        <p:nvSpPr>
          <p:cNvPr id="7" name="Shape 5"/>
          <p:cNvSpPr/>
          <p:nvPr/>
        </p:nvSpPr>
        <p:spPr>
          <a:xfrm>
            <a:off x="566928" y="2948940"/>
            <a:ext cx="310896" cy="310896"/>
          </a:xfrm>
          <a:prstGeom prst="ellipse">
            <a:avLst/>
          </a:prstGeom>
          <a:solidFill>
            <a:schemeClr val="bg1">
              <a:alpha val="0"/>
            </a:schemeClr>
          </a:solidFill>
          <a:ln w="22225">
            <a:solidFill>
              <a:srgbClr val="8B9598"/>
            </a:solidFill>
            <a:prstDash val="dash"/>
          </a:ln>
        </p:spPr>
      </p:sp>
      <p:sp>
        <p:nvSpPr>
          <p:cNvPr id="8" name="Text 6"/>
          <p:cNvSpPr txBox="1"/>
          <p:nvPr/>
        </p:nvSpPr>
        <p:spPr>
          <a:xfrm>
            <a:off x="1097280" y="2715768"/>
            <a:ext cx="914400" cy="777240"/>
          </a:xfrm>
          <a:prstGeom prst="rect">
            <a:avLst/>
          </a:prstGeom>
          <a:noFill/>
          <a:ln/>
        </p:spPr>
        <p:txBody>
          <a:bodyPr wrap="square" lIns="0" tIns="0" rIns="0" bIns="0" rtlCol="0" anchor="ctr"/>
          <a:lstStyle/>
          <a:p>
            <a:pPr indent="0" marL="0">
              <a:buNone/>
            </a:pPr>
            <a:r>
              <a:rPr lang="es-CL" altLang="en-US" sz="4800" b="1" dirty="0">
                <a:solidFill>
                  <a:schemeClr val="accent1"/>
                </a:solidFill>
                <a:latin typeface="Archivo Condensed" pitchFamily="34" charset="0"/>
                <a:ea typeface="Archivo Condensed" pitchFamily="34" charset="-122"/>
                <a:cs typeface="Archivo Condensed" pitchFamily="34" charset="-120"/>
              </a:rPr>
              <a:t>12</a:t>
            </a:r>
            <a:endParaRPr lang="es-CL" sz="4800" dirty="0"/>
          </a:p>
        </p:txBody>
      </p:sp>
      <p:sp>
        <p:nvSpPr>
          <p:cNvPr id="9" name="Text 7"/>
          <p:cNvSpPr txBox="1"/>
          <p:nvPr/>
        </p:nvSpPr>
        <p:spPr>
          <a:xfrm>
            <a:off x="2057400" y="2715768"/>
            <a:ext cx="3337560" cy="777240"/>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sin medir</a:t>
            </a:r>
            <a:endParaRPr lang="es-CL" sz="1800" dirty="0"/>
          </a:p>
          <a:p>
            <a:pPr indent="0" marL="0">
              <a:buNone/>
            </a:pPr>
            <a:r>
              <a:rPr lang="es-CL" altLang="en-US" sz="1500" dirty="0">
                <a:solidFill>
                  <a:schemeClr val="tx2"/>
                </a:solidFill>
                <a:latin typeface="Figtree" pitchFamily="34" charset="0"/>
                <a:ea typeface="Figtree" pitchFamily="34" charset="-122"/>
                <a:cs typeface="Figtree" pitchFamily="34" charset="-120"/>
              </a:rPr>
              <a:t>falta el dato: no vale cero</a:t>
            </a:r>
            <a:endParaRPr lang="es-CL" sz="1800" dirty="0"/>
          </a:p>
        </p:txBody>
      </p:sp>
      <p:sp>
        <p:nvSpPr>
          <p:cNvPr id="10" name="Shape 8"/>
          <p:cNvSpPr/>
          <p:nvPr/>
        </p:nvSpPr>
        <p:spPr>
          <a:xfrm>
            <a:off x="548640" y="3493008"/>
            <a:ext cx="4846320" cy="0"/>
          </a:xfrm>
          <a:prstGeom prst="line">
            <a:avLst/>
          </a:prstGeom>
          <a:noFill/>
          <a:ln w="9525">
            <a:solidFill>
              <a:schemeClr val="accent5"/>
            </a:solidFill>
            <a:prstDash val="solid"/>
          </a:ln>
        </p:spPr>
      </p:sp>
      <p:sp>
        <p:nvSpPr>
          <p:cNvPr id="11" name="Shape 9"/>
          <p:cNvSpPr/>
          <p:nvPr/>
        </p:nvSpPr>
        <p:spPr>
          <a:xfrm>
            <a:off x="591800" y="3751052"/>
            <a:ext cx="261153" cy="261153"/>
          </a:xfrm>
          <a:prstGeom prst="rect">
            <a:avLst/>
          </a:prstGeom>
          <a:solidFill>
            <a:schemeClr val="bg1">
              <a:alpha val="0"/>
            </a:schemeClr>
          </a:solidFill>
          <a:ln w="19050">
            <a:solidFill>
              <a:srgbClr val="8B9598"/>
            </a:solidFill>
            <a:prstDash val="sysDot"/>
          </a:ln>
        </p:spPr>
      </p:sp>
      <p:sp>
        <p:nvSpPr>
          <p:cNvPr id="12" name="Text 10"/>
          <p:cNvSpPr txBox="1"/>
          <p:nvPr/>
        </p:nvSpPr>
        <p:spPr>
          <a:xfrm>
            <a:off x="1097280" y="3493008"/>
            <a:ext cx="914400" cy="777240"/>
          </a:xfrm>
          <a:prstGeom prst="rect">
            <a:avLst/>
          </a:prstGeom>
          <a:noFill/>
          <a:ln/>
        </p:spPr>
        <p:txBody>
          <a:bodyPr wrap="square" lIns="0" tIns="0" rIns="0" bIns="0" rtlCol="0" anchor="ctr"/>
          <a:lstStyle/>
          <a:p>
            <a:pPr indent="0" marL="0">
              <a:buNone/>
            </a:pPr>
            <a:r>
              <a:rPr lang="es-CL" altLang="en-US" sz="4800" b="1" dirty="0">
                <a:solidFill>
                  <a:schemeClr val="tx1"/>
                </a:solidFill>
                <a:latin typeface="Archivo Condensed" pitchFamily="34" charset="0"/>
                <a:ea typeface="Archivo Condensed" pitchFamily="34" charset="-122"/>
                <a:cs typeface="Archivo Condensed" pitchFamily="34" charset="-120"/>
              </a:rPr>
              <a:t>5</a:t>
            </a:r>
            <a:endParaRPr lang="es-CL" sz="4800" dirty="0"/>
          </a:p>
        </p:txBody>
      </p:sp>
      <p:sp>
        <p:nvSpPr>
          <p:cNvPr id="13" name="Text 11"/>
          <p:cNvSpPr txBox="1"/>
          <p:nvPr/>
        </p:nvSpPr>
        <p:spPr>
          <a:xfrm>
            <a:off x="2057400" y="3493008"/>
            <a:ext cx="3337560" cy="777240"/>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meta pendiente</a:t>
            </a:r>
            <a:endParaRPr lang="es-CL" sz="1800" dirty="0"/>
          </a:p>
          <a:p>
            <a:pPr indent="0" marL="0">
              <a:buNone/>
            </a:pPr>
            <a:r>
              <a:rPr lang="es-CL" altLang="en-US" sz="1500" dirty="0">
                <a:solidFill>
                  <a:schemeClr val="tx2"/>
                </a:solidFill>
                <a:latin typeface="Figtree" pitchFamily="34" charset="0"/>
                <a:ea typeface="Figtree" pitchFamily="34" charset="-122"/>
                <a:cs typeface="Figtree" pitchFamily="34" charset="-120"/>
              </a:rPr>
              <a:t>falta el dato para fijar la meta</a:t>
            </a:r>
            <a:endParaRPr lang="es-CL" sz="1800" dirty="0"/>
          </a:p>
        </p:txBody>
      </p:sp>
      <p:sp>
        <p:nvSpPr>
          <p:cNvPr id="14" name="Shape 12"/>
          <p:cNvSpPr/>
          <p:nvPr/>
        </p:nvSpPr>
        <p:spPr>
          <a:xfrm>
            <a:off x="548640" y="4270248"/>
            <a:ext cx="4846320" cy="0"/>
          </a:xfrm>
          <a:prstGeom prst="line">
            <a:avLst/>
          </a:prstGeom>
          <a:noFill/>
          <a:ln w="9525">
            <a:solidFill>
              <a:schemeClr val="accent5"/>
            </a:solidFill>
            <a:prstDash val="solid"/>
          </a:ln>
        </p:spPr>
      </p:sp>
      <p:sp>
        <p:nvSpPr>
          <p:cNvPr id="15" name="Shape 13"/>
          <p:cNvSpPr/>
          <p:nvPr/>
        </p:nvSpPr>
        <p:spPr>
          <a:xfrm>
            <a:off x="530352" y="4384548"/>
            <a:ext cx="182880" cy="182880"/>
          </a:xfrm>
          <a:prstGeom prst="ellipse">
            <a:avLst/>
          </a:prstGeom>
          <a:solidFill>
            <a:srgbClr val="4ADE80"/>
          </a:solidFill>
          <a:ln/>
        </p:spPr>
      </p:sp>
      <p:sp>
        <p:nvSpPr>
          <p:cNvPr id="16" name="Shape 14"/>
          <p:cNvSpPr/>
          <p:nvPr/>
        </p:nvSpPr>
        <p:spPr>
          <a:xfrm>
            <a:off x="640080" y="4585716"/>
            <a:ext cx="182880" cy="182880"/>
          </a:xfrm>
          <a:prstGeom prst="triangle">
            <a:avLst/>
          </a:prstGeom>
          <a:solidFill>
            <a:srgbClr val="F5B94A"/>
          </a:solidFill>
          <a:ln/>
        </p:spPr>
      </p:sp>
      <p:sp>
        <p:nvSpPr>
          <p:cNvPr id="17" name="Shape 15"/>
          <p:cNvSpPr/>
          <p:nvPr/>
        </p:nvSpPr>
        <p:spPr>
          <a:xfrm>
            <a:off x="782726" y="4399178"/>
            <a:ext cx="153619" cy="153619"/>
          </a:xfrm>
          <a:prstGeom prst="rect">
            <a:avLst/>
          </a:prstGeom>
          <a:solidFill>
            <a:srgbClr val="F87171"/>
          </a:solidFill>
          <a:ln/>
        </p:spPr>
      </p:sp>
      <p:sp>
        <p:nvSpPr>
          <p:cNvPr id="18" name="Text 16"/>
          <p:cNvSpPr txBox="1"/>
          <p:nvPr/>
        </p:nvSpPr>
        <p:spPr>
          <a:xfrm>
            <a:off x="1097280" y="4270248"/>
            <a:ext cx="914400" cy="777240"/>
          </a:xfrm>
          <a:prstGeom prst="rect">
            <a:avLst/>
          </a:prstGeom>
          <a:noFill/>
          <a:ln/>
        </p:spPr>
        <p:txBody>
          <a:bodyPr wrap="square" lIns="0" tIns="0" rIns="0" bIns="0" rtlCol="0" anchor="ctr"/>
          <a:lstStyle/>
          <a:p>
            <a:pPr indent="0" marL="0">
              <a:buNone/>
            </a:pPr>
            <a:r>
              <a:rPr lang="es-CL" altLang="en-US" sz="4800" b="1" dirty="0">
                <a:solidFill>
                  <a:schemeClr val="tx1"/>
                </a:solidFill>
                <a:latin typeface="Archivo Condensed" pitchFamily="34" charset="0"/>
                <a:ea typeface="Archivo Condensed" pitchFamily="34" charset="-122"/>
                <a:cs typeface="Archivo Condensed" pitchFamily="34" charset="-120"/>
              </a:rPr>
              <a:t>0</a:t>
            </a:r>
            <a:endParaRPr lang="es-CL" sz="4800" dirty="0"/>
          </a:p>
        </p:txBody>
      </p:sp>
      <p:sp>
        <p:nvSpPr>
          <p:cNvPr id="19" name="Text 17"/>
          <p:cNvSpPr txBox="1"/>
          <p:nvPr/>
        </p:nvSpPr>
        <p:spPr>
          <a:xfrm>
            <a:off x="2057400" y="4270248"/>
            <a:ext cx="3337560" cy="777240"/>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cumple, alerta o no cumple</a:t>
            </a:r>
            <a:endParaRPr lang="es-CL" sz="1800" dirty="0"/>
          </a:p>
          <a:p>
            <a:pPr indent="0" marL="0">
              <a:buNone/>
            </a:pPr>
            <a:r>
              <a:rPr lang="es-CL" altLang="en-US" sz="1500" dirty="0">
                <a:solidFill>
                  <a:schemeClr val="tx2"/>
                </a:solidFill>
                <a:latin typeface="Figtree" pitchFamily="34" charset="0"/>
                <a:ea typeface="Figtree" pitchFamily="34" charset="-122"/>
                <a:cs typeface="Figtree" pitchFamily="34" charset="-120"/>
              </a:rPr>
              <a:t>la empresa todavía no opera</a:t>
            </a:r>
            <a:endParaRPr lang="es-CL" sz="1800" dirty="0"/>
          </a:p>
        </p:txBody>
      </p:sp>
      <p:sp>
        <p:nvSpPr>
          <p:cNvPr id="20" name="Shape 18"/>
          <p:cNvSpPr/>
          <p:nvPr/>
        </p:nvSpPr>
        <p:spPr>
          <a:xfrm>
            <a:off x="548640" y="5047488"/>
            <a:ext cx="4846320" cy="0"/>
          </a:xfrm>
          <a:prstGeom prst="line">
            <a:avLst/>
          </a:prstGeom>
          <a:noFill/>
          <a:ln w="9525">
            <a:solidFill>
              <a:schemeClr val="accent5"/>
            </a:solidFill>
            <a:prstDash val="solid"/>
          </a:ln>
        </p:spPr>
      </p:sp>
      <p:sp>
        <p:nvSpPr>
          <p:cNvPr id="21" name="Text 19"/>
          <p:cNvSpPr txBox="1"/>
          <p:nvPr/>
        </p:nvSpPr>
        <p:spPr>
          <a:xfrm>
            <a:off x="5943600" y="2350008"/>
            <a:ext cx="56994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SOLIDEZ · 20 RELACIONES POR RUTA</a:t>
            </a:r>
            <a:endParaRPr lang="es-CL" sz="1200" dirty="0"/>
          </a:p>
        </p:txBody>
      </p:sp>
      <p:sp>
        <p:nvSpPr>
          <p:cNvPr id="22" name="Text 20"/>
          <p:cNvSpPr txBox="1"/>
          <p:nvPr/>
        </p:nvSpPr>
        <p:spPr>
          <a:xfrm>
            <a:off x="5943600" y="2807208"/>
            <a:ext cx="2057400" cy="457200"/>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Habilitación</a:t>
            </a:r>
            <a:endParaRPr lang="es-CL" sz="1800" dirty="0"/>
          </a:p>
        </p:txBody>
      </p:sp>
      <p:sp>
        <p:nvSpPr>
          <p:cNvPr id="23" name="Shape 21"/>
          <p:cNvSpPr/>
          <p:nvPr/>
        </p:nvSpPr>
        <p:spPr>
          <a:xfrm>
            <a:off x="8092440" y="2807208"/>
            <a:ext cx="1683868" cy="457200"/>
          </a:xfrm>
          <a:prstGeom prst="rect">
            <a:avLst/>
          </a:prstGeom>
          <a:solidFill>
            <a:schemeClr val="accent1"/>
          </a:solidFill>
          <a:ln/>
        </p:spPr>
      </p:sp>
      <p:sp>
        <p:nvSpPr>
          <p:cNvPr id="24" name="Text 22"/>
          <p:cNvSpPr txBox="1"/>
          <p:nvPr/>
        </p:nvSpPr>
        <p:spPr>
          <a:xfrm>
            <a:off x="8092440" y="2807208"/>
            <a:ext cx="1683868" cy="457200"/>
          </a:xfrm>
          <a:prstGeom prst="rect">
            <a:avLst/>
          </a:prstGeom>
          <a:noFill/>
          <a:ln/>
        </p:spPr>
        <p:txBody>
          <a:bodyPr wrap="square" lIns="0" tIns="0" rIns="0" bIns="0" rtlCol="0" anchor="ctr"/>
          <a:lstStyle/>
          <a:p>
            <a:pPr algn="ctr" indent="0" marL="0">
              <a:buNone/>
            </a:pPr>
            <a:r>
              <a:rPr lang="es-CL" altLang="en-US" sz="2200" b="1" dirty="0">
                <a:solidFill>
                  <a:schemeClr val="bg1"/>
                </a:solidFill>
                <a:latin typeface="Archivo Condensed" pitchFamily="34" charset="0"/>
                <a:ea typeface="Archivo Condensed" pitchFamily="34" charset="-122"/>
                <a:cs typeface="Archivo Condensed" pitchFamily="34" charset="-120"/>
              </a:rPr>
              <a:t>4</a:t>
            </a:r>
            <a:endParaRPr lang="es-CL" sz="2200" dirty="0"/>
          </a:p>
        </p:txBody>
      </p:sp>
      <p:sp>
        <p:nvSpPr>
          <p:cNvPr id="25" name="Shape 23"/>
          <p:cNvSpPr/>
          <p:nvPr/>
        </p:nvSpPr>
        <p:spPr>
          <a:xfrm>
            <a:off x="9822028" y="2807208"/>
            <a:ext cx="819074" cy="457200"/>
          </a:xfrm>
          <a:prstGeom prst="rect">
            <a:avLst/>
          </a:prstGeom>
          <a:solidFill>
            <a:schemeClr val="tx1"/>
          </a:solidFill>
          <a:ln/>
        </p:spPr>
      </p:sp>
      <p:sp>
        <p:nvSpPr>
          <p:cNvPr id="26" name="Text 24"/>
          <p:cNvSpPr txBox="1"/>
          <p:nvPr/>
        </p:nvSpPr>
        <p:spPr>
          <a:xfrm>
            <a:off x="9822028" y="2807208"/>
            <a:ext cx="819074" cy="457200"/>
          </a:xfrm>
          <a:prstGeom prst="rect">
            <a:avLst/>
          </a:prstGeom>
          <a:noFill/>
          <a:ln/>
        </p:spPr>
        <p:txBody>
          <a:bodyPr wrap="square" lIns="0" tIns="0" rIns="0" bIns="0" rtlCol="0" anchor="ctr"/>
          <a:lstStyle/>
          <a:p>
            <a:pPr algn="ctr" indent="0" marL="0">
              <a:buNone/>
            </a:pPr>
            <a:r>
              <a:rPr lang="es-CL" altLang="en-US" sz="2200" b="1" dirty="0">
                <a:solidFill>
                  <a:schemeClr val="bg1"/>
                </a:solidFill>
                <a:latin typeface="Archivo Condensed" pitchFamily="34" charset="0"/>
                <a:ea typeface="Archivo Condensed" pitchFamily="34" charset="-122"/>
                <a:cs typeface="Archivo Condensed" pitchFamily="34" charset="-120"/>
              </a:rPr>
              <a:t>2</a:t>
            </a:r>
            <a:endParaRPr lang="es-CL" sz="2200" dirty="0"/>
          </a:p>
        </p:txBody>
      </p:sp>
      <p:sp>
        <p:nvSpPr>
          <p:cNvPr id="27" name="Text 25"/>
          <p:cNvSpPr txBox="1"/>
          <p:nvPr/>
        </p:nvSpPr>
        <p:spPr>
          <a:xfrm>
            <a:off x="5943600" y="3538728"/>
            <a:ext cx="2057400" cy="457200"/>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Evidencia</a:t>
            </a:r>
            <a:endParaRPr lang="es-CL" sz="1800" dirty="0"/>
          </a:p>
        </p:txBody>
      </p:sp>
      <p:sp>
        <p:nvSpPr>
          <p:cNvPr id="28" name="Shape 26"/>
          <p:cNvSpPr/>
          <p:nvPr/>
        </p:nvSpPr>
        <p:spPr>
          <a:xfrm>
            <a:off x="8092440" y="3538728"/>
            <a:ext cx="819074" cy="457200"/>
          </a:xfrm>
          <a:prstGeom prst="rect">
            <a:avLst/>
          </a:prstGeom>
          <a:solidFill>
            <a:schemeClr val="accent1"/>
          </a:solidFill>
          <a:ln/>
        </p:spPr>
      </p:sp>
      <p:sp>
        <p:nvSpPr>
          <p:cNvPr id="29" name="Text 27"/>
          <p:cNvSpPr txBox="1"/>
          <p:nvPr/>
        </p:nvSpPr>
        <p:spPr>
          <a:xfrm>
            <a:off x="8092440" y="3538728"/>
            <a:ext cx="819074" cy="457200"/>
          </a:xfrm>
          <a:prstGeom prst="rect">
            <a:avLst/>
          </a:prstGeom>
          <a:noFill/>
          <a:ln/>
        </p:spPr>
        <p:txBody>
          <a:bodyPr wrap="square" lIns="0" tIns="0" rIns="0" bIns="0" rtlCol="0" anchor="ctr"/>
          <a:lstStyle/>
          <a:p>
            <a:pPr algn="ctr" indent="0" marL="0">
              <a:buNone/>
            </a:pPr>
            <a:r>
              <a:rPr lang="es-CL" altLang="en-US" sz="2200" b="1" dirty="0">
                <a:solidFill>
                  <a:schemeClr val="bg1"/>
                </a:solidFill>
                <a:latin typeface="Archivo Condensed" pitchFamily="34" charset="0"/>
                <a:ea typeface="Archivo Condensed" pitchFamily="34" charset="-122"/>
                <a:cs typeface="Archivo Condensed" pitchFamily="34" charset="-120"/>
              </a:rPr>
              <a:t>2</a:t>
            </a:r>
            <a:endParaRPr lang="es-CL" sz="2200" dirty="0"/>
          </a:p>
        </p:txBody>
      </p:sp>
      <p:sp>
        <p:nvSpPr>
          <p:cNvPr id="30" name="Shape 28"/>
          <p:cNvSpPr/>
          <p:nvPr/>
        </p:nvSpPr>
        <p:spPr>
          <a:xfrm>
            <a:off x="8957234" y="3538728"/>
            <a:ext cx="2548661" cy="457200"/>
          </a:xfrm>
          <a:prstGeom prst="rect">
            <a:avLst/>
          </a:prstGeom>
          <a:solidFill>
            <a:schemeClr val="accent6"/>
          </a:solidFill>
          <a:ln w="15875">
            <a:solidFill>
              <a:schemeClr val="accent1"/>
            </a:solidFill>
            <a:prstDash val="dash"/>
          </a:ln>
        </p:spPr>
      </p:sp>
      <p:sp>
        <p:nvSpPr>
          <p:cNvPr id="31" name="Text 29"/>
          <p:cNvSpPr txBox="1"/>
          <p:nvPr/>
        </p:nvSpPr>
        <p:spPr>
          <a:xfrm>
            <a:off x="8957234" y="3538728"/>
            <a:ext cx="2548661" cy="457200"/>
          </a:xfrm>
          <a:prstGeom prst="rect">
            <a:avLst/>
          </a:prstGeom>
          <a:noFill/>
          <a:ln/>
        </p:spPr>
        <p:txBody>
          <a:bodyPr wrap="square" lIns="0" tIns="0" rIns="0" bIns="0" rtlCol="0" anchor="ctr"/>
          <a:lstStyle/>
          <a:p>
            <a:pPr algn="ctr" indent="0" marL="0">
              <a:buNone/>
            </a:pPr>
            <a:r>
              <a:rPr lang="es-CL" altLang="en-US" sz="2200" b="1" dirty="0">
                <a:solidFill>
                  <a:schemeClr val="accent1"/>
                </a:solidFill>
                <a:latin typeface="Archivo Condensed" pitchFamily="34" charset="0"/>
                <a:ea typeface="Archivo Condensed" pitchFamily="34" charset="-122"/>
                <a:cs typeface="Archivo Condensed" pitchFamily="34" charset="-120"/>
              </a:rPr>
              <a:t>6</a:t>
            </a:r>
            <a:endParaRPr lang="es-CL" sz="2200" dirty="0"/>
          </a:p>
        </p:txBody>
      </p:sp>
      <p:sp>
        <p:nvSpPr>
          <p:cNvPr id="32" name="Text 30"/>
          <p:cNvSpPr txBox="1"/>
          <p:nvPr/>
        </p:nvSpPr>
        <p:spPr>
          <a:xfrm>
            <a:off x="5943600" y="4270248"/>
            <a:ext cx="2057400" cy="457200"/>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Valor económico</a:t>
            </a:r>
            <a:endParaRPr lang="es-CL" sz="1800" dirty="0"/>
          </a:p>
        </p:txBody>
      </p:sp>
      <p:sp>
        <p:nvSpPr>
          <p:cNvPr id="33" name="Shape 31"/>
          <p:cNvSpPr/>
          <p:nvPr/>
        </p:nvSpPr>
        <p:spPr>
          <a:xfrm>
            <a:off x="8092440" y="4270248"/>
            <a:ext cx="2548661" cy="457200"/>
          </a:xfrm>
          <a:prstGeom prst="rect">
            <a:avLst/>
          </a:prstGeom>
          <a:solidFill>
            <a:schemeClr val="accent6"/>
          </a:solidFill>
          <a:ln w="15875">
            <a:solidFill>
              <a:schemeClr val="accent1"/>
            </a:solidFill>
            <a:prstDash val="dash"/>
          </a:ln>
        </p:spPr>
      </p:sp>
      <p:sp>
        <p:nvSpPr>
          <p:cNvPr id="34" name="Text 32"/>
          <p:cNvSpPr txBox="1"/>
          <p:nvPr/>
        </p:nvSpPr>
        <p:spPr>
          <a:xfrm>
            <a:off x="8092440" y="4270248"/>
            <a:ext cx="2548661" cy="457200"/>
          </a:xfrm>
          <a:prstGeom prst="rect">
            <a:avLst/>
          </a:prstGeom>
          <a:noFill/>
          <a:ln/>
        </p:spPr>
        <p:txBody>
          <a:bodyPr wrap="square" lIns="0" tIns="0" rIns="0" bIns="0" rtlCol="0" anchor="ctr"/>
          <a:lstStyle/>
          <a:p>
            <a:pPr algn="ctr" indent="0" marL="0">
              <a:buNone/>
            </a:pPr>
            <a:r>
              <a:rPr lang="es-CL" altLang="en-US" sz="2200" b="1" dirty="0">
                <a:solidFill>
                  <a:schemeClr val="accent1"/>
                </a:solidFill>
                <a:latin typeface="Archivo Condensed" pitchFamily="34" charset="0"/>
                <a:ea typeface="Archivo Condensed" pitchFamily="34" charset="-122"/>
                <a:cs typeface="Archivo Condensed" pitchFamily="34" charset="-120"/>
              </a:rPr>
              <a:t>6</a:t>
            </a:r>
            <a:endParaRPr lang="es-CL" sz="2200" dirty="0"/>
          </a:p>
        </p:txBody>
      </p:sp>
      <p:sp>
        <p:nvSpPr>
          <p:cNvPr id="35" name="Shape 33"/>
          <p:cNvSpPr/>
          <p:nvPr/>
        </p:nvSpPr>
        <p:spPr>
          <a:xfrm>
            <a:off x="5943600" y="4937760"/>
            <a:ext cx="237744" cy="182880"/>
          </a:xfrm>
          <a:prstGeom prst="rect">
            <a:avLst/>
          </a:prstGeom>
          <a:solidFill>
            <a:schemeClr val="accent1"/>
          </a:solidFill>
          <a:ln/>
        </p:spPr>
      </p:sp>
      <p:sp>
        <p:nvSpPr>
          <p:cNvPr id="36" name="Text 34"/>
          <p:cNvSpPr txBox="1"/>
          <p:nvPr/>
        </p:nvSpPr>
        <p:spPr>
          <a:xfrm>
            <a:off x="6245352" y="4864608"/>
            <a:ext cx="1737360" cy="329184"/>
          </a:xfrm>
          <a:prstGeom prst="rect">
            <a:avLst/>
          </a:prstGeom>
          <a:noFill/>
          <a:ln/>
        </p:spPr>
        <p:txBody>
          <a:bodyPr wrap="square" lIns="0" tIns="0" rIns="0" bIns="0" rtlCol="0" anchor="ctr"/>
          <a:lstStyle/>
          <a:p>
            <a:pPr indent="0" marL="0">
              <a:buNone/>
            </a:pPr>
            <a:r>
              <a:rPr lang="es-CL" altLang="en-US" sz="1300" dirty="0">
                <a:solidFill>
                  <a:schemeClr val="tx2"/>
                </a:solidFill>
                <a:latin typeface="Figtree" pitchFamily="34" charset="0"/>
                <a:ea typeface="Figtree" pitchFamily="34" charset="-122"/>
                <a:cs typeface="Figtree" pitchFamily="34" charset="-120"/>
              </a:rPr>
              <a:t>habilitante · 30%</a:t>
            </a:r>
            <a:endParaRPr lang="es-CL" sz="1300" dirty="0"/>
          </a:p>
        </p:txBody>
      </p:sp>
      <p:sp>
        <p:nvSpPr>
          <p:cNvPr id="37" name="Shape 35"/>
          <p:cNvSpPr/>
          <p:nvPr/>
        </p:nvSpPr>
        <p:spPr>
          <a:xfrm>
            <a:off x="7772400" y="4937760"/>
            <a:ext cx="237744" cy="182880"/>
          </a:xfrm>
          <a:prstGeom prst="rect">
            <a:avLst/>
          </a:prstGeom>
          <a:solidFill>
            <a:schemeClr val="tx1"/>
          </a:solidFill>
          <a:ln/>
        </p:spPr>
      </p:sp>
      <p:sp>
        <p:nvSpPr>
          <p:cNvPr id="38" name="Text 36"/>
          <p:cNvSpPr txBox="1"/>
          <p:nvPr/>
        </p:nvSpPr>
        <p:spPr>
          <a:xfrm>
            <a:off x="8074152" y="4864608"/>
            <a:ext cx="1737360" cy="329184"/>
          </a:xfrm>
          <a:prstGeom prst="rect">
            <a:avLst/>
          </a:prstGeom>
          <a:noFill/>
          <a:ln/>
        </p:spPr>
        <p:txBody>
          <a:bodyPr wrap="square" lIns="0" tIns="0" rIns="0" bIns="0" rtlCol="0" anchor="ctr"/>
          <a:lstStyle/>
          <a:p>
            <a:pPr indent="0" marL="0">
              <a:buNone/>
            </a:pPr>
            <a:r>
              <a:rPr lang="es-CL" altLang="en-US" sz="1300" dirty="0">
                <a:solidFill>
                  <a:schemeClr val="tx2"/>
                </a:solidFill>
                <a:latin typeface="Figtree" pitchFamily="34" charset="0"/>
                <a:ea typeface="Figtree" pitchFamily="34" charset="-122"/>
                <a:cs typeface="Figtree" pitchFamily="34" charset="-120"/>
              </a:rPr>
              <a:t>externa · 10%</a:t>
            </a:r>
            <a:endParaRPr lang="es-CL" sz="1300" dirty="0"/>
          </a:p>
        </p:txBody>
      </p:sp>
      <p:sp>
        <p:nvSpPr>
          <p:cNvPr id="39" name="Shape 37"/>
          <p:cNvSpPr/>
          <p:nvPr/>
        </p:nvSpPr>
        <p:spPr>
          <a:xfrm>
            <a:off x="9601200" y="4937760"/>
            <a:ext cx="237744" cy="182880"/>
          </a:xfrm>
          <a:prstGeom prst="rect">
            <a:avLst/>
          </a:prstGeom>
          <a:solidFill>
            <a:schemeClr val="accent6"/>
          </a:solidFill>
          <a:ln w="12700">
            <a:solidFill>
              <a:schemeClr val="accent1"/>
            </a:solidFill>
            <a:prstDash val="dash"/>
          </a:ln>
        </p:spPr>
      </p:sp>
      <p:sp>
        <p:nvSpPr>
          <p:cNvPr id="40" name="Text 38"/>
          <p:cNvSpPr txBox="1"/>
          <p:nvPr/>
        </p:nvSpPr>
        <p:spPr>
          <a:xfrm>
            <a:off x="9902952" y="4864608"/>
            <a:ext cx="1737360" cy="329184"/>
          </a:xfrm>
          <a:prstGeom prst="rect">
            <a:avLst/>
          </a:prstGeom>
          <a:noFill/>
          <a:ln/>
        </p:spPr>
        <p:txBody>
          <a:bodyPr wrap="square" lIns="0" tIns="0" rIns="0" bIns="0" rtlCol="0" anchor="ctr"/>
          <a:lstStyle/>
          <a:p>
            <a:pPr indent="0" marL="0">
              <a:buNone/>
            </a:pPr>
            <a:r>
              <a:rPr lang="es-CL" altLang="en-US" sz="1300" dirty="0">
                <a:solidFill>
                  <a:schemeClr val="tx2"/>
                </a:solidFill>
                <a:latin typeface="Figtree" pitchFamily="34" charset="0"/>
                <a:ea typeface="Figtree" pitchFamily="34" charset="-122"/>
                <a:cs typeface="Figtree" pitchFamily="34" charset="-120"/>
              </a:rPr>
              <a:t>hipótesis · 60%</a:t>
            </a:r>
            <a:endParaRPr lang="es-CL" sz="1300" dirty="0"/>
          </a:p>
        </p:txBody>
      </p:sp>
      <p:sp>
        <p:nvSpPr>
          <p:cNvPr id="41" name="Shape 39"/>
          <p:cNvSpPr/>
          <p:nvPr/>
        </p:nvSpPr>
        <p:spPr>
          <a:xfrm>
            <a:off x="548640" y="5230368"/>
            <a:ext cx="11094415" cy="987552"/>
          </a:xfrm>
          <a:prstGeom prst="rect">
            <a:avLst/>
          </a:prstGeom>
          <a:solidFill>
            <a:srgbClr val="0B1A22"/>
          </a:solidFill>
          <a:ln w="15875">
            <a:solidFill>
              <a:schemeClr val="accent1"/>
            </a:solidFill>
            <a:prstDash val="solid"/>
          </a:ln>
        </p:spPr>
      </p:sp>
      <p:sp>
        <p:nvSpPr>
          <p:cNvPr id="42" name="Shape 40"/>
          <p:cNvSpPr/>
          <p:nvPr/>
        </p:nvSpPr>
        <p:spPr>
          <a:xfrm>
            <a:off x="493776" y="5175504"/>
            <a:ext cx="155448" cy="0"/>
          </a:xfrm>
          <a:prstGeom prst="line">
            <a:avLst/>
          </a:prstGeom>
          <a:noFill/>
          <a:ln w="15875">
            <a:solidFill>
              <a:schemeClr val="accent1"/>
            </a:solidFill>
            <a:prstDash val="solid"/>
          </a:ln>
        </p:spPr>
      </p:sp>
      <p:sp>
        <p:nvSpPr>
          <p:cNvPr id="43" name="Shape 41"/>
          <p:cNvSpPr/>
          <p:nvPr/>
        </p:nvSpPr>
        <p:spPr>
          <a:xfrm>
            <a:off x="493776" y="5175504"/>
            <a:ext cx="0" cy="155448"/>
          </a:xfrm>
          <a:prstGeom prst="line">
            <a:avLst/>
          </a:prstGeom>
          <a:noFill/>
          <a:ln w="15875">
            <a:solidFill>
              <a:schemeClr val="accent1"/>
            </a:solidFill>
            <a:prstDash val="solid"/>
          </a:ln>
        </p:spPr>
      </p:sp>
      <p:sp>
        <p:nvSpPr>
          <p:cNvPr id="44" name="Shape 42"/>
          <p:cNvSpPr/>
          <p:nvPr/>
        </p:nvSpPr>
        <p:spPr>
          <a:xfrm>
            <a:off x="11542471" y="5175504"/>
            <a:ext cx="155448" cy="0"/>
          </a:xfrm>
          <a:prstGeom prst="line">
            <a:avLst/>
          </a:prstGeom>
          <a:noFill/>
          <a:ln w="15875">
            <a:solidFill>
              <a:schemeClr val="accent1"/>
            </a:solidFill>
            <a:prstDash val="solid"/>
          </a:ln>
        </p:spPr>
      </p:sp>
      <p:sp>
        <p:nvSpPr>
          <p:cNvPr id="45" name="Shape 43"/>
          <p:cNvSpPr/>
          <p:nvPr/>
        </p:nvSpPr>
        <p:spPr>
          <a:xfrm>
            <a:off x="11697919" y="5175504"/>
            <a:ext cx="0" cy="155448"/>
          </a:xfrm>
          <a:prstGeom prst="line">
            <a:avLst/>
          </a:prstGeom>
          <a:noFill/>
          <a:ln w="15875">
            <a:solidFill>
              <a:schemeClr val="accent1"/>
            </a:solidFill>
            <a:prstDash val="solid"/>
          </a:ln>
        </p:spPr>
      </p:sp>
      <p:sp>
        <p:nvSpPr>
          <p:cNvPr id="46" name="Shape 44"/>
          <p:cNvSpPr/>
          <p:nvPr/>
        </p:nvSpPr>
        <p:spPr>
          <a:xfrm>
            <a:off x="493776" y="6272784"/>
            <a:ext cx="155448" cy="0"/>
          </a:xfrm>
          <a:prstGeom prst="line">
            <a:avLst/>
          </a:prstGeom>
          <a:noFill/>
          <a:ln w="15875">
            <a:solidFill>
              <a:schemeClr val="accent1"/>
            </a:solidFill>
            <a:prstDash val="solid"/>
          </a:ln>
        </p:spPr>
      </p:sp>
      <p:sp>
        <p:nvSpPr>
          <p:cNvPr id="47" name="Shape 45"/>
          <p:cNvSpPr/>
          <p:nvPr/>
        </p:nvSpPr>
        <p:spPr>
          <a:xfrm>
            <a:off x="493776" y="6117336"/>
            <a:ext cx="0" cy="155448"/>
          </a:xfrm>
          <a:prstGeom prst="line">
            <a:avLst/>
          </a:prstGeom>
          <a:noFill/>
          <a:ln w="15875">
            <a:solidFill>
              <a:schemeClr val="accent1"/>
            </a:solidFill>
            <a:prstDash val="solid"/>
          </a:ln>
        </p:spPr>
      </p:sp>
      <p:sp>
        <p:nvSpPr>
          <p:cNvPr id="48" name="Shape 46"/>
          <p:cNvSpPr/>
          <p:nvPr/>
        </p:nvSpPr>
        <p:spPr>
          <a:xfrm>
            <a:off x="11542471" y="6272784"/>
            <a:ext cx="155448" cy="0"/>
          </a:xfrm>
          <a:prstGeom prst="line">
            <a:avLst/>
          </a:prstGeom>
          <a:noFill/>
          <a:ln w="15875">
            <a:solidFill>
              <a:schemeClr val="accent1"/>
            </a:solidFill>
            <a:prstDash val="solid"/>
          </a:ln>
        </p:spPr>
      </p:sp>
      <p:sp>
        <p:nvSpPr>
          <p:cNvPr id="49" name="Shape 47"/>
          <p:cNvSpPr/>
          <p:nvPr/>
        </p:nvSpPr>
        <p:spPr>
          <a:xfrm>
            <a:off x="11697919" y="6117336"/>
            <a:ext cx="0" cy="155448"/>
          </a:xfrm>
          <a:prstGeom prst="line">
            <a:avLst/>
          </a:prstGeom>
          <a:noFill/>
          <a:ln w="15875">
            <a:solidFill>
              <a:schemeClr val="accent1"/>
            </a:solidFill>
            <a:prstDash val="solid"/>
          </a:ln>
        </p:spPr>
      </p:sp>
      <p:sp>
        <p:nvSpPr>
          <p:cNvPr id="50" name="Text 48"/>
          <p:cNvSpPr txBox="1"/>
          <p:nvPr/>
        </p:nvSpPr>
        <p:spPr>
          <a:xfrm>
            <a:off x="777240" y="5230368"/>
            <a:ext cx="10637215" cy="987552"/>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Al principio, el CMI no mide resultados: </a:t>
            </a:r>
            <a:pPr indent="0" marL="0">
              <a:buNone/>
            </a:pPr>
            <a:r>
              <a:rPr lang="es-CL" altLang="en-US" sz="1800" dirty="0">
                <a:solidFill>
                  <a:schemeClr val="tx2"/>
                </a:solidFill>
                <a:latin typeface="Figtree" pitchFamily="34" charset="0"/>
                <a:ea typeface="Figtree" pitchFamily="34" charset="-122"/>
                <a:cs typeface="Figtree" pitchFamily="34" charset="-120"/>
              </a:rPr>
              <a:t>comprueba hipótesis. Hoy se gestionan los cuatro hitos previos a la venta: A3, P1, P2 y P6.</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10 · ANÁLISIS DE LA INFORMACIÓN · ESCENARIOS</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LA VÍA LEGAL ES UNA COMPUERTA: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decide qué parte del CMI avanza.</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Ley N° 21.793 (14-01-2026); borrador de reglamento del MTT (diciembre de 2021); escenarios y efectos elaborados por el equipo.</a:t>
            </a:r>
            <a:endParaRPr lang="es-CL" sz="1100" dirty="0"/>
          </a:p>
        </p:txBody>
      </p:sp>
      <p:sp>
        <p:nvSpPr>
          <p:cNvPr id="5" name="Shape 3"/>
          <p:cNvSpPr/>
          <p:nvPr/>
        </p:nvSpPr>
        <p:spPr>
          <a:xfrm>
            <a:off x="457200" y="4087368"/>
            <a:ext cx="11277295" cy="1426464"/>
          </a:xfrm>
          <a:prstGeom prst="rect">
            <a:avLst/>
          </a:prstGeom>
          <a:solidFill>
            <a:srgbClr val="0B1A22"/>
          </a:solidFill>
          <a:ln w="12700">
            <a:solidFill>
              <a:schemeClr val="accent1"/>
            </a:solidFill>
            <a:prstDash val="solid"/>
          </a:ln>
        </p:spPr>
      </p:sp>
      <p:sp>
        <p:nvSpPr>
          <p:cNvPr id="6" name="Text 4"/>
          <p:cNvSpPr txBox="1"/>
          <p:nvPr/>
        </p:nvSpPr>
        <p:spPr>
          <a:xfrm>
            <a:off x="548640" y="2350008"/>
            <a:ext cx="22860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ESCENARIO</a:t>
            </a:r>
            <a:endParaRPr lang="es-CL" sz="1200" dirty="0"/>
          </a:p>
        </p:txBody>
      </p:sp>
      <p:sp>
        <p:nvSpPr>
          <p:cNvPr id="7" name="Text 5"/>
          <p:cNvSpPr txBox="1"/>
          <p:nvPr/>
        </p:nvSpPr>
        <p:spPr>
          <a:xfrm>
            <a:off x="2834640" y="2350008"/>
            <a:ext cx="31089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SITUACIÓN DE P1 · VÍA LEGAL</a:t>
            </a:r>
            <a:endParaRPr lang="es-CL" sz="1200" dirty="0"/>
          </a:p>
        </p:txBody>
      </p:sp>
      <p:sp>
        <p:nvSpPr>
          <p:cNvPr id="8" name="Text 6"/>
          <p:cNvSpPr txBox="1"/>
          <p:nvPr/>
        </p:nvSpPr>
        <p:spPr>
          <a:xfrm>
            <a:off x="5943600" y="2350008"/>
            <a:ext cx="2651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OBJETIVOS AFECTADOS</a:t>
            </a:r>
            <a:endParaRPr lang="es-CL" sz="1200" dirty="0"/>
          </a:p>
        </p:txBody>
      </p:sp>
      <p:sp>
        <p:nvSpPr>
          <p:cNvPr id="9" name="Text 7"/>
          <p:cNvSpPr txBox="1"/>
          <p:nvPr/>
        </p:nvSpPr>
        <p:spPr>
          <a:xfrm>
            <a:off x="8595360" y="2350008"/>
            <a:ext cx="304769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DECISIÓN DEL CMI</a:t>
            </a:r>
            <a:endParaRPr lang="es-CL" sz="1200" dirty="0"/>
          </a:p>
        </p:txBody>
      </p:sp>
      <p:sp>
        <p:nvSpPr>
          <p:cNvPr id="10" name="Shape 8"/>
          <p:cNvSpPr/>
          <p:nvPr/>
        </p:nvSpPr>
        <p:spPr>
          <a:xfrm>
            <a:off x="548640" y="2660904"/>
            <a:ext cx="11094415" cy="0"/>
          </a:xfrm>
          <a:prstGeom prst="line">
            <a:avLst/>
          </a:prstGeom>
          <a:noFill/>
          <a:ln w="9525">
            <a:solidFill>
              <a:schemeClr val="accent1"/>
            </a:solidFill>
            <a:prstDash val="solid"/>
          </a:ln>
        </p:spPr>
      </p:sp>
      <p:sp>
        <p:nvSpPr>
          <p:cNvPr id="11" name="Text 9"/>
          <p:cNvSpPr txBox="1"/>
          <p:nvPr/>
        </p:nvSpPr>
        <p:spPr>
          <a:xfrm>
            <a:off x="548640" y="2660904"/>
            <a:ext cx="2148840" cy="713232"/>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E1 · Vía amplia</a:t>
            </a:r>
            <a:endParaRPr lang="es-CL" sz="1600" dirty="0"/>
          </a:p>
        </p:txBody>
      </p:sp>
      <p:sp>
        <p:nvSpPr>
          <p:cNvPr id="12" name="Text 10"/>
          <p:cNvSpPr txBox="1"/>
          <p:nvPr/>
        </p:nvSpPr>
        <p:spPr>
          <a:xfrm>
            <a:off x="2834640" y="2660904"/>
            <a:ext cx="2971800"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Cumple con el reglamento</a:t>
            </a:r>
            <a:endParaRPr lang="es-CL" sz="1600" dirty="0"/>
          </a:p>
        </p:txBody>
      </p:sp>
      <p:sp>
        <p:nvSpPr>
          <p:cNvPr id="13" name="Text 11"/>
          <p:cNvSpPr txBox="1"/>
          <p:nvPr/>
        </p:nvSpPr>
        <p:spPr>
          <a:xfrm>
            <a:off x="5943600" y="2660904"/>
            <a:ext cx="2514600"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Ninguno bloqueado</a:t>
            </a:r>
            <a:endParaRPr lang="es-CL" sz="1600" dirty="0"/>
          </a:p>
        </p:txBody>
      </p:sp>
      <p:sp>
        <p:nvSpPr>
          <p:cNvPr id="14" name="Text 12"/>
          <p:cNvSpPr txBox="1"/>
          <p:nvPr/>
        </p:nvSpPr>
        <p:spPr>
          <a:xfrm>
            <a:off x="8595360" y="2660904"/>
            <a:ext cx="2910535"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Avanzar a P2, par por par</a:t>
            </a:r>
            <a:endParaRPr lang="es-CL" sz="1600" dirty="0"/>
          </a:p>
        </p:txBody>
      </p:sp>
      <p:sp>
        <p:nvSpPr>
          <p:cNvPr id="15" name="Shape 13"/>
          <p:cNvSpPr/>
          <p:nvPr/>
        </p:nvSpPr>
        <p:spPr>
          <a:xfrm>
            <a:off x="548640" y="3374136"/>
            <a:ext cx="11094415" cy="0"/>
          </a:xfrm>
          <a:prstGeom prst="line">
            <a:avLst/>
          </a:prstGeom>
          <a:noFill/>
          <a:ln w="9525">
            <a:solidFill>
              <a:schemeClr val="accent5"/>
            </a:solidFill>
            <a:prstDash val="solid"/>
          </a:ln>
        </p:spPr>
      </p:sp>
      <p:sp>
        <p:nvSpPr>
          <p:cNvPr id="16" name="Text 14"/>
          <p:cNvSpPr txBox="1"/>
          <p:nvPr/>
        </p:nvSpPr>
        <p:spPr>
          <a:xfrm>
            <a:off x="548640" y="3374136"/>
            <a:ext cx="2148840" cy="713232"/>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E2 · Vía acotada</a:t>
            </a:r>
            <a:endParaRPr lang="es-CL" sz="1600" dirty="0"/>
          </a:p>
        </p:txBody>
      </p:sp>
      <p:sp>
        <p:nvSpPr>
          <p:cNvPr id="17" name="Text 15"/>
          <p:cNvSpPr txBox="1"/>
          <p:nvPr/>
        </p:nvSpPr>
        <p:spPr>
          <a:xfrm>
            <a:off x="2834640" y="3374136"/>
            <a:ext cx="2971800"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Solo autos sin ABS, airbag ni control de estabilidad</a:t>
            </a:r>
            <a:endParaRPr lang="es-CL" sz="1600" dirty="0"/>
          </a:p>
        </p:txBody>
      </p:sp>
      <p:sp>
        <p:nvSpPr>
          <p:cNvPr id="18" name="Text 16"/>
          <p:cNvSpPr txBox="1"/>
          <p:nvPr/>
        </p:nvSpPr>
        <p:spPr>
          <a:xfrm>
            <a:off x="5943600" y="3374136"/>
            <a:ext cx="2514600"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P2 y C4 al parque elegible</a:t>
            </a:r>
            <a:endParaRPr lang="es-CL" sz="1600" dirty="0"/>
          </a:p>
        </p:txBody>
      </p:sp>
      <p:sp>
        <p:nvSpPr>
          <p:cNvPr id="19" name="Text 17"/>
          <p:cNvSpPr txBox="1"/>
          <p:nvPr/>
        </p:nvSpPr>
        <p:spPr>
          <a:xfrm>
            <a:off x="8595360" y="3374136"/>
            <a:ext cx="2910535"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Ajustar la meta de C4 y el orden de los pares</a:t>
            </a:r>
            <a:endParaRPr lang="es-CL" sz="1600" dirty="0"/>
          </a:p>
        </p:txBody>
      </p:sp>
      <p:sp>
        <p:nvSpPr>
          <p:cNvPr id="20" name="Shape 18"/>
          <p:cNvSpPr/>
          <p:nvPr/>
        </p:nvSpPr>
        <p:spPr>
          <a:xfrm>
            <a:off x="548640" y="4087368"/>
            <a:ext cx="11094415" cy="0"/>
          </a:xfrm>
          <a:prstGeom prst="line">
            <a:avLst/>
          </a:prstGeom>
          <a:noFill/>
          <a:ln w="9525">
            <a:solidFill>
              <a:schemeClr val="accent5"/>
            </a:solidFill>
            <a:prstDash val="solid"/>
          </a:ln>
        </p:spPr>
      </p:sp>
      <p:sp>
        <p:nvSpPr>
          <p:cNvPr id="21" name="Text 19"/>
          <p:cNvSpPr txBox="1"/>
          <p:nvPr/>
        </p:nvSpPr>
        <p:spPr>
          <a:xfrm>
            <a:off x="548640" y="4087368"/>
            <a:ext cx="2148840" cy="713232"/>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E3 · Vía alternativa</a:t>
            </a:r>
            <a:endParaRPr lang="es-CL" sz="1600" dirty="0"/>
          </a:p>
        </p:txBody>
      </p:sp>
      <p:sp>
        <p:nvSpPr>
          <p:cNvPr id="22" name="Text 20"/>
          <p:cNvSpPr txBox="1"/>
          <p:nvPr/>
        </p:nvSpPr>
        <p:spPr>
          <a:xfrm>
            <a:off x="2834640" y="4087368"/>
            <a:ext cx="2971800"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Trámite por alteración de características</a:t>
            </a:r>
            <a:endParaRPr lang="es-CL" sz="1600" dirty="0"/>
          </a:p>
        </p:txBody>
      </p:sp>
      <p:sp>
        <p:nvSpPr>
          <p:cNvPr id="23" name="Text 21"/>
          <p:cNvSpPr txBox="1"/>
          <p:nvPr/>
        </p:nvSpPr>
        <p:spPr>
          <a:xfrm>
            <a:off x="5943600" y="4087368"/>
            <a:ext cx="2514600"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P2 y P5 sujetos al trámite</a:t>
            </a:r>
            <a:endParaRPr lang="es-CL" sz="1600" dirty="0"/>
          </a:p>
        </p:txBody>
      </p:sp>
      <p:sp>
        <p:nvSpPr>
          <p:cNvPr id="24" name="Text 22"/>
          <p:cNvSpPr txBox="1"/>
          <p:nvPr/>
        </p:nvSpPr>
        <p:spPr>
          <a:xfrm>
            <a:off x="8595360" y="4087368"/>
            <a:ext cx="2910535"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Cambiar el indicador de P1 y recalendarizar</a:t>
            </a:r>
            <a:endParaRPr lang="es-CL" sz="1600" dirty="0"/>
          </a:p>
        </p:txBody>
      </p:sp>
      <p:sp>
        <p:nvSpPr>
          <p:cNvPr id="25" name="Shape 23"/>
          <p:cNvSpPr/>
          <p:nvPr/>
        </p:nvSpPr>
        <p:spPr>
          <a:xfrm>
            <a:off x="548640" y="4800600"/>
            <a:ext cx="11094415" cy="0"/>
          </a:xfrm>
          <a:prstGeom prst="line">
            <a:avLst/>
          </a:prstGeom>
          <a:noFill/>
          <a:ln w="9525">
            <a:solidFill>
              <a:schemeClr val="accent5"/>
            </a:solidFill>
            <a:prstDash val="solid"/>
          </a:ln>
        </p:spPr>
      </p:sp>
      <p:sp>
        <p:nvSpPr>
          <p:cNvPr id="26" name="Text 24"/>
          <p:cNvSpPr txBox="1"/>
          <p:nvPr/>
        </p:nvSpPr>
        <p:spPr>
          <a:xfrm>
            <a:off x="548640" y="4800600"/>
            <a:ext cx="2148840" cy="713232"/>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E4 · Sin vía</a:t>
            </a:r>
            <a:endParaRPr lang="es-CL" sz="1600" dirty="0"/>
          </a:p>
        </p:txBody>
      </p:sp>
      <p:sp>
        <p:nvSpPr>
          <p:cNvPr id="27" name="Text 25"/>
          <p:cNvSpPr txBox="1"/>
          <p:nvPr/>
        </p:nvSpPr>
        <p:spPr>
          <a:xfrm>
            <a:off x="2834640" y="4800600"/>
            <a:ext cx="2971800"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No cumple</a:t>
            </a:r>
            <a:endParaRPr lang="es-CL" sz="1600" dirty="0"/>
          </a:p>
        </p:txBody>
      </p:sp>
      <p:sp>
        <p:nvSpPr>
          <p:cNvPr id="28" name="Text 26"/>
          <p:cNvSpPr txBox="1"/>
          <p:nvPr/>
        </p:nvSpPr>
        <p:spPr>
          <a:xfrm>
            <a:off x="5943600" y="4800600"/>
            <a:ext cx="2514600"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P2, P3, P5 y lo que depende de ellos</a:t>
            </a:r>
            <a:endParaRPr lang="es-CL" sz="1600" dirty="0"/>
          </a:p>
        </p:txBody>
      </p:sp>
      <p:sp>
        <p:nvSpPr>
          <p:cNvPr id="29" name="Text 27"/>
          <p:cNvSpPr txBox="1"/>
          <p:nvPr/>
        </p:nvSpPr>
        <p:spPr>
          <a:xfrm>
            <a:off x="8595360" y="4800600"/>
            <a:ext cx="2910535" cy="713232"/>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Detener; no subir metas comerciales</a:t>
            </a:r>
            <a:endParaRPr lang="es-CL" sz="1600" dirty="0"/>
          </a:p>
        </p:txBody>
      </p:sp>
      <p:sp>
        <p:nvSpPr>
          <p:cNvPr id="30" name="Shape 28"/>
          <p:cNvSpPr/>
          <p:nvPr/>
        </p:nvSpPr>
        <p:spPr>
          <a:xfrm>
            <a:off x="548640" y="5513832"/>
            <a:ext cx="11094415" cy="0"/>
          </a:xfrm>
          <a:prstGeom prst="line">
            <a:avLst/>
          </a:prstGeom>
          <a:noFill/>
          <a:ln w="9525">
            <a:solidFill>
              <a:schemeClr val="accent5"/>
            </a:solidFill>
            <a:prstDash val="solid"/>
          </a:ln>
        </p:spPr>
      </p:sp>
      <p:sp>
        <p:nvSpPr>
          <p:cNvPr id="31" name="Text 29"/>
          <p:cNvSpPr txBox="1"/>
          <p:nvPr/>
        </p:nvSpPr>
        <p:spPr>
          <a:xfrm>
            <a:off x="548640" y="5696712"/>
            <a:ext cx="2926080" cy="365760"/>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HOY · BORRADOR DE 2021</a:t>
            </a:r>
            <a:endParaRPr lang="es-CL" sz="1300" dirty="0"/>
          </a:p>
        </p:txBody>
      </p:sp>
      <p:sp>
        <p:nvSpPr>
          <p:cNvPr id="32" name="Text 30"/>
          <p:cNvSpPr txBox="1"/>
          <p:nvPr/>
        </p:nvSpPr>
        <p:spPr>
          <a:xfrm>
            <a:off x="3474720" y="5696712"/>
            <a:ext cx="8168335" cy="365760"/>
          </a:xfrm>
          <a:prstGeom prst="rect">
            <a:avLst/>
          </a:prstGeom>
          <a:noFill/>
          <a:ln/>
        </p:spPr>
        <p:txBody>
          <a:bodyPr wrap="square" lIns="0" tIns="0" rIns="0" bIns="0" rtlCol="0" anchor="ctr"/>
          <a:lstStyle/>
          <a:p>
            <a:pPr indent="0" marL="0">
              <a:buNone/>
            </a:pPr>
            <a:r>
              <a:rPr lang="es-CL" altLang="en-US" sz="1700" b="1" dirty="0">
                <a:solidFill>
                  <a:schemeClr val="tx1"/>
                </a:solidFill>
                <a:latin typeface="Figtree" pitchFamily="34" charset="0"/>
                <a:ea typeface="Figtree" pitchFamily="34" charset="-122"/>
                <a:cs typeface="Figtree" pitchFamily="34" charset="-120"/>
              </a:rPr>
              <a:t>Rama E3 o E4. </a:t>
            </a:r>
            <a:pPr indent="0" marL="0">
              <a:buNone/>
            </a:pPr>
            <a:r>
              <a:rPr lang="es-CL" altLang="en-US" sz="1700" dirty="0">
                <a:solidFill>
                  <a:schemeClr val="tx2"/>
                </a:solidFill>
                <a:latin typeface="Figtree" pitchFamily="34" charset="0"/>
                <a:ea typeface="Figtree" pitchFamily="34" charset="-122"/>
                <a:cs typeface="Figtree" pitchFamily="34" charset="-120"/>
              </a:rPr>
              <a:t>Actúa por dos relaciones externas: R02 (aprobar cada par) y R06 (réplica en talleres).</a:t>
            </a:r>
            <a:endParaRPr lang="es-CL" sz="17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13</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10 · ANÁLISIS DE LA INFORMACIÓN · UMBRAL</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MÁS DE 16.000 LITROS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para que el ahorro pague el kit.</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precios de referencia con IVA del informe de la Fase 3 del equipo (por validar); Emol (2026), datos de la CNE. Ahorro: estimación de ingeniería no medida en autos chilenos.</a:t>
            </a:r>
            <a:endParaRPr lang="es-CL" sz="1100" dirty="0"/>
          </a:p>
        </p:txBody>
      </p:sp>
      <p:pic>
        <p:nvPicPr>
          <p:cNvPr id="5" name="Image 0" descr="C:\Users\Usuario\Documents\GitHub\lumine\tig-final\generador\assets\brillo.png">    </p:cNvPr>
          <p:cNvPicPr>
            <a:picLocks noChangeAspect="1"/>
          </p:cNvPicPr>
          <p:nvPr/>
        </p:nvPicPr>
        <p:blipFill>
          <a:blip r:embed="rId1"/>
          <a:stretch>
            <a:fillRect/>
          </a:stretch>
        </p:blipFill>
        <p:spPr>
          <a:xfrm>
            <a:off x="91440" y="2075688"/>
            <a:ext cx="5120640" cy="2286000"/>
          </a:xfrm>
          <a:prstGeom prst="rect">
            <a:avLst/>
          </a:prstGeom>
        </p:spPr>
      </p:pic>
      <p:sp>
        <p:nvSpPr>
          <p:cNvPr id="6" name="Text 3"/>
          <p:cNvSpPr txBox="1"/>
          <p:nvPr/>
        </p:nvSpPr>
        <p:spPr>
          <a:xfrm>
            <a:off x="548640" y="2350008"/>
            <a:ext cx="42062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KIT PLUS · BENCINA A $1.538,9</a:t>
            </a:r>
            <a:endParaRPr lang="es-CL" sz="1200" dirty="0"/>
          </a:p>
        </p:txBody>
      </p:sp>
      <p:sp>
        <p:nvSpPr>
          <p:cNvPr id="7" name="Text 4"/>
          <p:cNvSpPr txBox="1"/>
          <p:nvPr/>
        </p:nvSpPr>
        <p:spPr>
          <a:xfrm>
            <a:off x="548640" y="2670048"/>
            <a:ext cx="4206240" cy="1097280"/>
          </a:xfrm>
          <a:prstGeom prst="rect">
            <a:avLst/>
          </a:prstGeom>
          <a:noFill/>
          <a:ln/>
        </p:spPr>
        <p:txBody>
          <a:bodyPr wrap="square" lIns="0" tIns="0" rIns="0" bIns="0" rtlCol="0" anchor="ctr"/>
          <a:lstStyle/>
          <a:p>
            <a:pPr indent="0" marL="0">
              <a:buNone/>
            </a:pPr>
            <a:r>
              <a:rPr lang="es-CL" altLang="en-US" sz="8000" b="1" dirty="0">
                <a:solidFill>
                  <a:schemeClr val="accent1"/>
                </a:solidFill>
                <a:latin typeface="Archivo Condensed" pitchFamily="34" charset="0"/>
                <a:ea typeface="Archivo Condensed" pitchFamily="34" charset="-122"/>
                <a:cs typeface="Archivo Condensed" pitchFamily="34" charset="-120"/>
              </a:rPr>
              <a:t>16.213</a:t>
            </a:r>
            <a:endParaRPr lang="es-CL" sz="8000" dirty="0"/>
          </a:p>
        </p:txBody>
      </p:sp>
      <p:sp>
        <p:nvSpPr>
          <p:cNvPr id="8" name="Text 5"/>
          <p:cNvSpPr txBox="1"/>
          <p:nvPr/>
        </p:nvSpPr>
        <p:spPr>
          <a:xfrm>
            <a:off x="548640" y="3813048"/>
            <a:ext cx="4206240" cy="73152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litros que el auto debe consumir para que el 20% ahorrado iguale el precio del kit</a:t>
            </a:r>
            <a:endParaRPr lang="es-CL" sz="1600" dirty="0"/>
          </a:p>
        </p:txBody>
      </p:sp>
      <p:sp>
        <p:nvSpPr>
          <p:cNvPr id="9" name="Shape 6"/>
          <p:cNvSpPr/>
          <p:nvPr/>
        </p:nvSpPr>
        <p:spPr>
          <a:xfrm>
            <a:off x="548640" y="4681728"/>
            <a:ext cx="4206240" cy="0"/>
          </a:xfrm>
          <a:prstGeom prst="line">
            <a:avLst/>
          </a:prstGeom>
          <a:noFill/>
          <a:ln w="9525">
            <a:solidFill>
              <a:schemeClr val="accent1"/>
            </a:solidFill>
            <a:prstDash val="solid"/>
          </a:ln>
        </p:spPr>
      </p:sp>
      <p:sp>
        <p:nvSpPr>
          <p:cNvPr id="10" name="Text 7"/>
          <p:cNvSpPr txBox="1"/>
          <p:nvPr/>
        </p:nvSpPr>
        <p:spPr>
          <a:xfrm>
            <a:off x="548640" y="4773168"/>
            <a:ext cx="4206240" cy="292608"/>
          </a:xfrm>
          <a:prstGeom prst="rect">
            <a:avLst/>
          </a:prstGeom>
          <a:noFill/>
          <a:ln/>
        </p:spPr>
        <p:txBody>
          <a:bodyPr wrap="square" lIns="0" tIns="0" rIns="0" bIns="0" rtlCol="0" anchor="t"/>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LITROS = PRECIO ÷ (AHORRO × $/LITRO)</a:t>
            </a:r>
            <a:endParaRPr lang="es-CL" sz="1200" dirty="0"/>
          </a:p>
        </p:txBody>
      </p:sp>
      <p:sp>
        <p:nvSpPr>
          <p:cNvPr id="11" name="Shape 8"/>
          <p:cNvSpPr/>
          <p:nvPr/>
        </p:nvSpPr>
        <p:spPr>
          <a:xfrm>
            <a:off x="548640" y="5184648"/>
            <a:ext cx="3496056" cy="292608"/>
          </a:xfrm>
          <a:prstGeom prst="rect">
            <a:avLst/>
          </a:prstGeom>
          <a:solidFill>
            <a:schemeClr val="bg1">
              <a:alpha val="0"/>
            </a:schemeClr>
          </a:solidFill>
          <a:ln w="12700">
            <a:solidFill>
              <a:schemeClr val="tx2"/>
            </a:solidFill>
            <a:prstDash val="dash"/>
          </a:ln>
        </p:spPr>
      </p:sp>
      <p:sp>
        <p:nvSpPr>
          <p:cNvPr id="12" name="Text 9"/>
          <p:cNvSpPr txBox="1"/>
          <p:nvPr/>
        </p:nvSpPr>
        <p:spPr>
          <a:xfrm>
            <a:off x="658368" y="5184648"/>
            <a:ext cx="3276600" cy="292608"/>
          </a:xfrm>
          <a:prstGeom prst="rect">
            <a:avLst/>
          </a:prstGeom>
          <a:noFill/>
          <a:ln/>
        </p:spPr>
        <p:txBody>
          <a:bodyPr wrap="square" lIns="0" tIns="0" rIns="0" bIns="0" rtlCol="0" anchor="ctr"/>
          <a:lstStyle/>
          <a:p>
            <a:pPr algn="ct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ESTIMACIÓN · PRECIO DE REFERENCIA</a:t>
            </a:r>
            <a:endParaRPr lang="es-CL" sz="1100" dirty="0"/>
          </a:p>
        </p:txBody>
      </p:sp>
      <p:sp>
        <p:nvSpPr>
          <p:cNvPr id="13" name="Text 10"/>
          <p:cNvSpPr txBox="1"/>
          <p:nvPr/>
        </p:nvSpPr>
        <p:spPr>
          <a:xfrm>
            <a:off x="548640" y="5550408"/>
            <a:ext cx="4206240" cy="36576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Sin costo financiero, mantención ni cambios de precio.</a:t>
            </a:r>
            <a:endParaRPr lang="es-CL" sz="1300" dirty="0"/>
          </a:p>
        </p:txBody>
      </p:sp>
      <p:sp>
        <p:nvSpPr>
          <p:cNvPr id="14" name="Text 11"/>
          <p:cNvSpPr txBox="1"/>
          <p:nvPr/>
        </p:nvSpPr>
        <p:spPr>
          <a:xfrm>
            <a:off x="5303520" y="2350008"/>
            <a:ext cx="633953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LITROS DE UMBRAL</a:t>
            </a:r>
            <a:endParaRPr lang="es-CL" sz="1200" dirty="0"/>
          </a:p>
        </p:txBody>
      </p:sp>
      <p:sp>
        <p:nvSpPr>
          <p:cNvPr id="15" name="Text 12"/>
          <p:cNvSpPr txBox="1"/>
          <p:nvPr/>
        </p:nvSpPr>
        <p:spPr>
          <a:xfrm>
            <a:off x="5303520" y="2715768"/>
            <a:ext cx="2926080" cy="38404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Plus · bencina antes del alza</a:t>
            </a:r>
            <a:endParaRPr lang="es-CL" sz="1600" dirty="0"/>
          </a:p>
        </p:txBody>
      </p:sp>
      <p:sp>
        <p:nvSpPr>
          <p:cNvPr id="16" name="Shape 13"/>
          <p:cNvSpPr/>
          <p:nvPr/>
        </p:nvSpPr>
        <p:spPr>
          <a:xfrm>
            <a:off x="8321040" y="2715768"/>
            <a:ext cx="1409417" cy="384048"/>
          </a:xfrm>
          <a:prstGeom prst="rect">
            <a:avLst/>
          </a:prstGeom>
          <a:solidFill>
            <a:schemeClr val="tx2"/>
          </a:solidFill>
          <a:ln/>
        </p:spPr>
      </p:sp>
      <p:sp>
        <p:nvSpPr>
          <p:cNvPr id="17" name="Text 14"/>
          <p:cNvSpPr txBox="1"/>
          <p:nvPr/>
        </p:nvSpPr>
        <p:spPr>
          <a:xfrm>
            <a:off x="9821897" y="2715768"/>
            <a:ext cx="1097280" cy="384048"/>
          </a:xfrm>
          <a:prstGeom prst="rect">
            <a:avLst/>
          </a:prstGeom>
          <a:noFill/>
          <a:ln/>
        </p:spPr>
        <p:txBody>
          <a:bodyPr wrap="square" lIns="0" tIns="0" rIns="0" bIns="0" rtlCol="0" anchor="ctr"/>
          <a:lstStyle/>
          <a:p>
            <a:pP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21.345</a:t>
            </a:r>
            <a:endParaRPr lang="es-CL" sz="2000" dirty="0"/>
          </a:p>
        </p:txBody>
      </p:sp>
      <p:sp>
        <p:nvSpPr>
          <p:cNvPr id="18" name="Text 15"/>
          <p:cNvSpPr txBox="1"/>
          <p:nvPr/>
        </p:nvSpPr>
        <p:spPr>
          <a:xfrm>
            <a:off x="5303520" y="3374136"/>
            <a:ext cx="2926080" cy="384048"/>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Plus · bencina actual</a:t>
            </a:r>
            <a:endParaRPr lang="es-CL" sz="1600" dirty="0"/>
          </a:p>
        </p:txBody>
      </p:sp>
      <p:sp>
        <p:nvSpPr>
          <p:cNvPr id="19" name="Shape 16"/>
          <p:cNvSpPr/>
          <p:nvPr/>
        </p:nvSpPr>
        <p:spPr>
          <a:xfrm>
            <a:off x="8321040" y="3374136"/>
            <a:ext cx="1070549" cy="384048"/>
          </a:xfrm>
          <a:prstGeom prst="rect">
            <a:avLst/>
          </a:prstGeom>
          <a:solidFill>
            <a:schemeClr val="accent1"/>
          </a:solidFill>
          <a:ln/>
        </p:spPr>
      </p:sp>
      <p:sp>
        <p:nvSpPr>
          <p:cNvPr id="20" name="Text 17"/>
          <p:cNvSpPr txBox="1"/>
          <p:nvPr/>
        </p:nvSpPr>
        <p:spPr>
          <a:xfrm>
            <a:off x="9483029" y="3374136"/>
            <a:ext cx="1097280" cy="384048"/>
          </a:xfrm>
          <a:prstGeom prst="rect">
            <a:avLst/>
          </a:prstGeom>
          <a:noFill/>
          <a:ln/>
        </p:spPr>
        <p:txBody>
          <a:bodyPr wrap="square" lIns="0" tIns="0" rIns="0" bIns="0" rtlCol="0" anchor="ctr"/>
          <a:lstStyle/>
          <a:p>
            <a:pPr indent="0" marL="0">
              <a:buNone/>
            </a:pPr>
            <a:r>
              <a:rPr lang="es-CL" altLang="en-US" sz="2000" b="1" dirty="0">
                <a:solidFill>
                  <a:schemeClr val="accent1"/>
                </a:solidFill>
                <a:latin typeface="Archivo Condensed" pitchFamily="34" charset="0"/>
                <a:ea typeface="Archivo Condensed" pitchFamily="34" charset="-122"/>
                <a:cs typeface="Archivo Condensed" pitchFamily="34" charset="-120"/>
              </a:rPr>
              <a:t>16.213</a:t>
            </a:r>
            <a:endParaRPr lang="es-CL" sz="2000" dirty="0"/>
          </a:p>
        </p:txBody>
      </p:sp>
      <p:sp>
        <p:nvSpPr>
          <p:cNvPr id="21" name="Text 18"/>
          <p:cNvSpPr txBox="1"/>
          <p:nvPr/>
        </p:nvSpPr>
        <p:spPr>
          <a:xfrm>
            <a:off x="5303520" y="4032504"/>
            <a:ext cx="2926080" cy="38404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Esencial (15%) · actual</a:t>
            </a:r>
            <a:endParaRPr lang="es-CL" sz="1600" dirty="0"/>
          </a:p>
        </p:txBody>
      </p:sp>
      <p:sp>
        <p:nvSpPr>
          <p:cNvPr id="22" name="Shape 19"/>
          <p:cNvSpPr/>
          <p:nvPr/>
        </p:nvSpPr>
        <p:spPr>
          <a:xfrm>
            <a:off x="8321040" y="4032504"/>
            <a:ext cx="1227162" cy="384048"/>
          </a:xfrm>
          <a:prstGeom prst="rect">
            <a:avLst/>
          </a:prstGeom>
          <a:solidFill>
            <a:schemeClr val="tx2"/>
          </a:solidFill>
          <a:ln/>
        </p:spPr>
      </p:sp>
      <p:sp>
        <p:nvSpPr>
          <p:cNvPr id="23" name="Text 20"/>
          <p:cNvSpPr txBox="1"/>
          <p:nvPr/>
        </p:nvSpPr>
        <p:spPr>
          <a:xfrm>
            <a:off x="9639642" y="4032504"/>
            <a:ext cx="1097280" cy="384048"/>
          </a:xfrm>
          <a:prstGeom prst="rect">
            <a:avLst/>
          </a:prstGeom>
          <a:noFill/>
          <a:ln/>
        </p:spPr>
        <p:txBody>
          <a:bodyPr wrap="square" lIns="0" tIns="0" rIns="0" bIns="0" rtlCol="0" anchor="ctr"/>
          <a:lstStyle/>
          <a:p>
            <a:pP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18.585</a:t>
            </a:r>
            <a:endParaRPr lang="es-CL" sz="2000" dirty="0"/>
          </a:p>
        </p:txBody>
      </p:sp>
      <p:sp>
        <p:nvSpPr>
          <p:cNvPr id="24" name="Text 21"/>
          <p:cNvSpPr txBox="1"/>
          <p:nvPr/>
        </p:nvSpPr>
        <p:spPr>
          <a:xfrm>
            <a:off x="5303520" y="4690872"/>
            <a:ext cx="2926080" cy="38404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Plus si ahorrara 10%</a:t>
            </a:r>
            <a:endParaRPr lang="es-CL" sz="1600" dirty="0"/>
          </a:p>
        </p:txBody>
      </p:sp>
      <p:sp>
        <p:nvSpPr>
          <p:cNvPr id="25" name="Shape 22"/>
          <p:cNvSpPr/>
          <p:nvPr/>
        </p:nvSpPr>
        <p:spPr>
          <a:xfrm>
            <a:off x="8321040" y="4690872"/>
            <a:ext cx="2141098" cy="384048"/>
          </a:xfrm>
          <a:prstGeom prst="rect">
            <a:avLst/>
          </a:prstGeom>
          <a:solidFill>
            <a:schemeClr val="accent6"/>
          </a:solidFill>
          <a:ln w="15875">
            <a:solidFill>
              <a:schemeClr val="accent1"/>
            </a:solidFill>
            <a:prstDash val="dash"/>
          </a:ln>
        </p:spPr>
      </p:sp>
      <p:sp>
        <p:nvSpPr>
          <p:cNvPr id="26" name="Text 23"/>
          <p:cNvSpPr txBox="1"/>
          <p:nvPr/>
        </p:nvSpPr>
        <p:spPr>
          <a:xfrm>
            <a:off x="10553578" y="4690872"/>
            <a:ext cx="1097280" cy="384048"/>
          </a:xfrm>
          <a:prstGeom prst="rect">
            <a:avLst/>
          </a:prstGeom>
          <a:noFill/>
          <a:ln/>
        </p:spPr>
        <p:txBody>
          <a:bodyPr wrap="square" lIns="0" tIns="0" rIns="0" bIns="0" rtlCol="0" anchor="ctr"/>
          <a:lstStyle/>
          <a:p>
            <a:pPr indent="0" marL="0">
              <a:buNone/>
            </a:pPr>
            <a:r>
              <a:rPr lang="es-CL" altLang="en-US" sz="2000" b="1" dirty="0">
                <a:solidFill>
                  <a:schemeClr val="tx1"/>
                </a:solidFill>
                <a:latin typeface="Archivo Condensed" pitchFamily="34" charset="0"/>
                <a:ea typeface="Archivo Condensed" pitchFamily="34" charset="-122"/>
                <a:cs typeface="Archivo Condensed" pitchFamily="34" charset="-120"/>
              </a:rPr>
              <a:t>32.426</a:t>
            </a:r>
            <a:endParaRPr lang="es-CL" sz="2000" dirty="0"/>
          </a:p>
        </p:txBody>
      </p:sp>
      <p:sp>
        <p:nvSpPr>
          <p:cNvPr id="27" name="Shape 24"/>
          <p:cNvSpPr/>
          <p:nvPr/>
        </p:nvSpPr>
        <p:spPr>
          <a:xfrm>
            <a:off x="5303520" y="5394960"/>
            <a:ext cx="6339535" cy="0"/>
          </a:xfrm>
          <a:prstGeom prst="line">
            <a:avLst/>
          </a:prstGeom>
          <a:noFill/>
          <a:ln w="9525">
            <a:solidFill>
              <a:schemeClr val="accent1"/>
            </a:solidFill>
            <a:prstDash val="solid"/>
          </a:ln>
        </p:spPr>
      </p:sp>
      <p:sp>
        <p:nvSpPr>
          <p:cNvPr id="28" name="Text 25"/>
          <p:cNvSpPr txBox="1"/>
          <p:nvPr/>
        </p:nvSpPr>
        <p:spPr>
          <a:xfrm>
            <a:off x="5303520" y="5486400"/>
            <a:ext cx="1143000" cy="548640"/>
          </a:xfrm>
          <a:prstGeom prst="rect">
            <a:avLst/>
          </a:prstGeom>
          <a:noFill/>
          <a:ln/>
        </p:spPr>
        <p:txBody>
          <a:bodyPr wrap="square" lIns="0" tIns="0" rIns="0" bIns="0" rtlCol="0" anchor="ctr"/>
          <a:lstStyle/>
          <a:p>
            <a:pPr indent="0" marL="0">
              <a:buNone/>
            </a:pPr>
            <a:r>
              <a:rPr lang="es-CL" altLang="en-US" sz="3200" b="1" dirty="0">
                <a:solidFill>
                  <a:schemeClr val="tx1"/>
                </a:solidFill>
                <a:latin typeface="Archivo Condensed" pitchFamily="34" charset="0"/>
                <a:ea typeface="Archivo Condensed" pitchFamily="34" charset="-122"/>
                <a:cs typeface="Archivo Condensed" pitchFamily="34" charset="-120"/>
              </a:rPr>
              <a:t>−24%</a:t>
            </a:r>
            <a:endParaRPr lang="es-CL" sz="3200" dirty="0"/>
          </a:p>
        </p:txBody>
      </p:sp>
      <p:sp>
        <p:nvSpPr>
          <p:cNvPr id="29" name="Text 26"/>
          <p:cNvSpPr txBox="1"/>
          <p:nvPr/>
        </p:nvSpPr>
        <p:spPr>
          <a:xfrm>
            <a:off x="6492240" y="5486400"/>
            <a:ext cx="1889608" cy="548640"/>
          </a:xfrm>
          <a:prstGeom prst="rect">
            <a:avLst/>
          </a:prstGeom>
          <a:noFill/>
          <a:ln/>
        </p:spPr>
        <p:txBody>
          <a:bodyPr wrap="square" lIns="0" tIns="0" rIns="0" bIns="0" rtlCol="0" anchor="ctr"/>
          <a:lstStyle/>
          <a:p>
            <a:pPr indent="0" marL="0">
              <a:buNone/>
            </a:pPr>
            <a:r>
              <a:rPr lang="es-CL" altLang="en-US" sz="1500" dirty="0">
                <a:solidFill>
                  <a:schemeClr val="tx2"/>
                </a:solidFill>
                <a:latin typeface="Figtree" pitchFamily="34" charset="0"/>
                <a:ea typeface="Figtree" pitchFamily="34" charset="-122"/>
                <a:cs typeface="Figtree" pitchFamily="34" charset="-120"/>
              </a:rPr>
              <a:t>de umbral por el alza de marzo</a:t>
            </a:r>
            <a:endParaRPr lang="es-CL" sz="1500" dirty="0"/>
          </a:p>
        </p:txBody>
      </p:sp>
      <p:sp>
        <p:nvSpPr>
          <p:cNvPr id="30" name="Text 27"/>
          <p:cNvSpPr txBox="1"/>
          <p:nvPr/>
        </p:nvSpPr>
        <p:spPr>
          <a:xfrm>
            <a:off x="8473288" y="5486400"/>
            <a:ext cx="1143000" cy="548640"/>
          </a:xfrm>
          <a:prstGeom prst="rect">
            <a:avLst/>
          </a:prstGeom>
          <a:noFill/>
          <a:ln/>
        </p:spPr>
        <p:txBody>
          <a:bodyPr wrap="square" lIns="0" tIns="0" rIns="0" bIns="0" rtlCol="0" anchor="ctr"/>
          <a:lstStyle/>
          <a:p>
            <a:pPr indent="0" marL="0">
              <a:buNone/>
            </a:pPr>
            <a:r>
              <a:rPr lang="es-CL" altLang="en-US" sz="3200" b="1" dirty="0">
                <a:solidFill>
                  <a:schemeClr val="tx1"/>
                </a:solidFill>
                <a:latin typeface="Archivo Condensed" pitchFamily="34" charset="0"/>
                <a:ea typeface="Archivo Condensed" pitchFamily="34" charset="-122"/>
                <a:cs typeface="Archivo Condensed" pitchFamily="34" charset="-120"/>
              </a:rPr>
              <a:t>×2</a:t>
            </a:r>
            <a:endParaRPr lang="es-CL" sz="3200" dirty="0"/>
          </a:p>
        </p:txBody>
      </p:sp>
      <p:sp>
        <p:nvSpPr>
          <p:cNvPr id="31" name="Text 28"/>
          <p:cNvSpPr txBox="1"/>
          <p:nvPr/>
        </p:nvSpPr>
        <p:spPr>
          <a:xfrm>
            <a:off x="9662008" y="5486400"/>
            <a:ext cx="1889608" cy="548640"/>
          </a:xfrm>
          <a:prstGeom prst="rect">
            <a:avLst/>
          </a:prstGeom>
          <a:noFill/>
          <a:ln/>
        </p:spPr>
        <p:txBody>
          <a:bodyPr wrap="square" lIns="0" tIns="0" rIns="0" bIns="0" rtlCol="0" anchor="ctr"/>
          <a:lstStyle/>
          <a:p>
            <a:pPr indent="0" marL="0">
              <a:buNone/>
            </a:pPr>
            <a:r>
              <a:rPr lang="es-CL" altLang="en-US" sz="1500" dirty="0">
                <a:solidFill>
                  <a:schemeClr val="tx2"/>
                </a:solidFill>
                <a:latin typeface="Figtree" pitchFamily="34" charset="0"/>
                <a:ea typeface="Figtree" pitchFamily="34" charset="-122"/>
                <a:cs typeface="Figtree" pitchFamily="34" charset="-120"/>
              </a:rPr>
              <a:t>umbral si el ahorro fuera la mitad</a:t>
            </a:r>
            <a:endParaRPr lang="es-CL" sz="15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14</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12 · RECOMENDACIONES</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CINCO DECISIONES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antes de vender el primer kit.</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con base en el análisis de la información (láminas 11 a 13).</a:t>
            </a:r>
            <a:endParaRPr lang="es-CL" sz="1100" dirty="0"/>
          </a:p>
        </p:txBody>
      </p:sp>
      <p:sp>
        <p:nvSpPr>
          <p:cNvPr id="5" name="Text 3"/>
          <p:cNvSpPr txBox="1"/>
          <p:nvPr/>
        </p:nvSpPr>
        <p:spPr>
          <a:xfrm>
            <a:off x="548640" y="2350008"/>
            <a:ext cx="5486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N°</a:t>
            </a:r>
            <a:endParaRPr lang="es-CL" sz="1200" dirty="0"/>
          </a:p>
        </p:txBody>
      </p:sp>
      <p:sp>
        <p:nvSpPr>
          <p:cNvPr id="6" name="Text 4"/>
          <p:cNvSpPr txBox="1"/>
          <p:nvPr/>
        </p:nvSpPr>
        <p:spPr>
          <a:xfrm>
            <a:off x="1097280" y="2350008"/>
            <a:ext cx="56235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RECOMENDACIÓN</a:t>
            </a:r>
            <a:endParaRPr lang="es-CL" sz="1200" dirty="0"/>
          </a:p>
        </p:txBody>
      </p:sp>
      <p:sp>
        <p:nvSpPr>
          <p:cNvPr id="7" name="Text 5"/>
          <p:cNvSpPr txBox="1"/>
          <p:nvPr/>
        </p:nvSpPr>
        <p:spPr>
          <a:xfrm>
            <a:off x="6720840" y="2350008"/>
            <a:ext cx="13258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OBJETIVO</a:t>
            </a:r>
            <a:endParaRPr lang="es-CL" sz="1200" dirty="0"/>
          </a:p>
        </p:txBody>
      </p:sp>
      <p:sp>
        <p:nvSpPr>
          <p:cNvPr id="8" name="Text 6"/>
          <p:cNvSpPr txBox="1"/>
          <p:nvPr/>
        </p:nvSpPr>
        <p:spPr>
          <a:xfrm>
            <a:off x="8046720" y="2350008"/>
            <a:ext cx="20116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RESPONSABLE</a:t>
            </a:r>
            <a:endParaRPr lang="es-CL" sz="1200" dirty="0"/>
          </a:p>
        </p:txBody>
      </p:sp>
      <p:sp>
        <p:nvSpPr>
          <p:cNvPr id="9" name="Text 7"/>
          <p:cNvSpPr txBox="1"/>
          <p:nvPr/>
        </p:nvSpPr>
        <p:spPr>
          <a:xfrm>
            <a:off x="10058400" y="2350008"/>
            <a:ext cx="15846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CUÁNDO</a:t>
            </a:r>
            <a:endParaRPr lang="es-CL" sz="1200" dirty="0"/>
          </a:p>
        </p:txBody>
      </p:sp>
      <p:sp>
        <p:nvSpPr>
          <p:cNvPr id="10" name="Shape 8"/>
          <p:cNvSpPr/>
          <p:nvPr/>
        </p:nvSpPr>
        <p:spPr>
          <a:xfrm>
            <a:off x="548640" y="2660904"/>
            <a:ext cx="11094415" cy="0"/>
          </a:xfrm>
          <a:prstGeom prst="line">
            <a:avLst/>
          </a:prstGeom>
          <a:noFill/>
          <a:ln w="9525">
            <a:solidFill>
              <a:schemeClr val="accent1"/>
            </a:solidFill>
            <a:prstDash val="solid"/>
          </a:ln>
        </p:spPr>
      </p:sp>
      <p:sp>
        <p:nvSpPr>
          <p:cNvPr id="11" name="Shape 9"/>
          <p:cNvSpPr/>
          <p:nvPr/>
        </p:nvSpPr>
        <p:spPr>
          <a:xfrm>
            <a:off x="548640" y="2798064"/>
            <a:ext cx="384048" cy="329184"/>
          </a:xfrm>
          <a:prstGeom prst="rect">
            <a:avLst/>
          </a:prstGeom>
          <a:solidFill>
            <a:schemeClr val="accent1"/>
          </a:solidFill>
          <a:ln/>
        </p:spPr>
      </p:sp>
      <p:sp>
        <p:nvSpPr>
          <p:cNvPr id="12" name="Text 10"/>
          <p:cNvSpPr txBox="1"/>
          <p:nvPr/>
        </p:nvSpPr>
        <p:spPr>
          <a:xfrm>
            <a:off x="548640" y="2798064"/>
            <a:ext cx="384048" cy="329184"/>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1</a:t>
            </a:r>
            <a:endParaRPr lang="es-CL" sz="1400" dirty="0"/>
          </a:p>
        </p:txBody>
      </p:sp>
      <p:sp>
        <p:nvSpPr>
          <p:cNvPr id="13" name="Text 11"/>
          <p:cNvSpPr txBox="1"/>
          <p:nvPr/>
        </p:nvSpPr>
        <p:spPr>
          <a:xfrm>
            <a:off x="1097280" y="2660904"/>
            <a:ext cx="548640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No comprometer inversión comercial antes de documentar una vía legal</a:t>
            </a:r>
            <a:endParaRPr lang="es-CL" sz="1700" dirty="0"/>
          </a:p>
        </p:txBody>
      </p:sp>
      <p:sp>
        <p:nvSpPr>
          <p:cNvPr id="14" name="Shape 12"/>
          <p:cNvSpPr/>
          <p:nvPr/>
        </p:nvSpPr>
        <p:spPr>
          <a:xfrm>
            <a:off x="6720840" y="2816352"/>
            <a:ext cx="502920" cy="292608"/>
          </a:xfrm>
          <a:prstGeom prst="rect">
            <a:avLst/>
          </a:prstGeom>
          <a:solidFill>
            <a:schemeClr val="accent5"/>
          </a:solidFill>
          <a:ln/>
        </p:spPr>
      </p:sp>
      <p:sp>
        <p:nvSpPr>
          <p:cNvPr id="15" name="Shape 13"/>
          <p:cNvSpPr/>
          <p:nvPr/>
        </p:nvSpPr>
        <p:spPr>
          <a:xfrm>
            <a:off x="6720840" y="2816352"/>
            <a:ext cx="502920" cy="45720"/>
          </a:xfrm>
          <a:prstGeom prst="rect">
            <a:avLst/>
          </a:prstGeom>
          <a:solidFill>
            <a:srgbClr val="ECECEC"/>
          </a:solidFill>
          <a:ln/>
        </p:spPr>
      </p:sp>
      <p:sp>
        <p:nvSpPr>
          <p:cNvPr id="16" name="Text 14"/>
          <p:cNvSpPr txBox="1"/>
          <p:nvPr/>
        </p:nvSpPr>
        <p:spPr>
          <a:xfrm>
            <a:off x="6720840" y="2816352"/>
            <a:ext cx="50292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P1</a:t>
            </a:r>
            <a:endParaRPr lang="es-CL" sz="1200" dirty="0"/>
          </a:p>
        </p:txBody>
      </p:sp>
      <p:sp>
        <p:nvSpPr>
          <p:cNvPr id="17" name="Text 15"/>
          <p:cNvSpPr txBox="1"/>
          <p:nvPr/>
        </p:nvSpPr>
        <p:spPr>
          <a:xfrm>
            <a:off x="8046720" y="2660904"/>
            <a:ext cx="187452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Gerente General</a:t>
            </a:r>
            <a:endParaRPr lang="es-CL" sz="1700" dirty="0"/>
          </a:p>
        </p:txBody>
      </p:sp>
      <p:sp>
        <p:nvSpPr>
          <p:cNvPr id="18" name="Text 16"/>
          <p:cNvSpPr txBox="1"/>
          <p:nvPr/>
        </p:nvSpPr>
        <p:spPr>
          <a:xfrm>
            <a:off x="10058400" y="2660904"/>
            <a:ext cx="1447495"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Desde hoy</a:t>
            </a:r>
            <a:endParaRPr lang="es-CL" sz="1700" dirty="0"/>
          </a:p>
        </p:txBody>
      </p:sp>
      <p:sp>
        <p:nvSpPr>
          <p:cNvPr id="19" name="Shape 17"/>
          <p:cNvSpPr/>
          <p:nvPr/>
        </p:nvSpPr>
        <p:spPr>
          <a:xfrm>
            <a:off x="548640" y="3264408"/>
            <a:ext cx="11094415" cy="0"/>
          </a:xfrm>
          <a:prstGeom prst="line">
            <a:avLst/>
          </a:prstGeom>
          <a:noFill/>
          <a:ln w="9525">
            <a:solidFill>
              <a:schemeClr val="accent5"/>
            </a:solidFill>
            <a:prstDash val="solid"/>
          </a:ln>
        </p:spPr>
      </p:sp>
      <p:sp>
        <p:nvSpPr>
          <p:cNvPr id="20" name="Shape 18"/>
          <p:cNvSpPr/>
          <p:nvPr/>
        </p:nvSpPr>
        <p:spPr>
          <a:xfrm>
            <a:off x="548640" y="3401568"/>
            <a:ext cx="384048" cy="329184"/>
          </a:xfrm>
          <a:prstGeom prst="rect">
            <a:avLst/>
          </a:prstGeom>
          <a:solidFill>
            <a:schemeClr val="accent1"/>
          </a:solidFill>
          <a:ln/>
        </p:spPr>
      </p:sp>
      <p:sp>
        <p:nvSpPr>
          <p:cNvPr id="21" name="Text 19"/>
          <p:cNvSpPr txBox="1"/>
          <p:nvPr/>
        </p:nvSpPr>
        <p:spPr>
          <a:xfrm>
            <a:off x="548640" y="3401568"/>
            <a:ext cx="384048" cy="329184"/>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2</a:t>
            </a:r>
            <a:endParaRPr lang="es-CL" sz="1400" dirty="0"/>
          </a:p>
        </p:txBody>
      </p:sp>
      <p:sp>
        <p:nvSpPr>
          <p:cNvPr id="22" name="Text 20"/>
          <p:cNvSpPr txBox="1"/>
          <p:nvPr/>
        </p:nvSpPr>
        <p:spPr>
          <a:xfrm>
            <a:off x="1097280" y="3264408"/>
            <a:ext cx="548640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Aprobar el protocolo y medir el primer auto antes de comunicar ahorros</a:t>
            </a:r>
            <a:endParaRPr lang="es-CL" sz="1700" dirty="0"/>
          </a:p>
        </p:txBody>
      </p:sp>
      <p:sp>
        <p:nvSpPr>
          <p:cNvPr id="23" name="Shape 21"/>
          <p:cNvSpPr/>
          <p:nvPr/>
        </p:nvSpPr>
        <p:spPr>
          <a:xfrm>
            <a:off x="6720840" y="3419856"/>
            <a:ext cx="502920" cy="292608"/>
          </a:xfrm>
          <a:prstGeom prst="rect">
            <a:avLst/>
          </a:prstGeom>
          <a:solidFill>
            <a:schemeClr val="accent5"/>
          </a:solidFill>
          <a:ln/>
        </p:spPr>
      </p:sp>
      <p:sp>
        <p:nvSpPr>
          <p:cNvPr id="24" name="Shape 22"/>
          <p:cNvSpPr/>
          <p:nvPr/>
        </p:nvSpPr>
        <p:spPr>
          <a:xfrm>
            <a:off x="6720840" y="3419856"/>
            <a:ext cx="502920" cy="45720"/>
          </a:xfrm>
          <a:prstGeom prst="rect">
            <a:avLst/>
          </a:prstGeom>
          <a:solidFill>
            <a:srgbClr val="0A6F9E"/>
          </a:solidFill>
          <a:ln/>
        </p:spPr>
      </p:sp>
      <p:sp>
        <p:nvSpPr>
          <p:cNvPr id="25" name="Text 23"/>
          <p:cNvSpPr txBox="1"/>
          <p:nvPr/>
        </p:nvSpPr>
        <p:spPr>
          <a:xfrm>
            <a:off x="6720840" y="3419856"/>
            <a:ext cx="50292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A3</a:t>
            </a:r>
            <a:endParaRPr lang="es-CL" sz="1200" dirty="0"/>
          </a:p>
        </p:txBody>
      </p:sp>
      <p:sp>
        <p:nvSpPr>
          <p:cNvPr id="26" name="Shape 24"/>
          <p:cNvSpPr/>
          <p:nvPr/>
        </p:nvSpPr>
        <p:spPr>
          <a:xfrm>
            <a:off x="7296912" y="3419856"/>
            <a:ext cx="502920" cy="292608"/>
          </a:xfrm>
          <a:prstGeom prst="rect">
            <a:avLst/>
          </a:prstGeom>
          <a:solidFill>
            <a:schemeClr val="accent5"/>
          </a:solidFill>
          <a:ln/>
        </p:spPr>
      </p:sp>
      <p:sp>
        <p:nvSpPr>
          <p:cNvPr id="27" name="Shape 25"/>
          <p:cNvSpPr/>
          <p:nvPr/>
        </p:nvSpPr>
        <p:spPr>
          <a:xfrm>
            <a:off x="7296912" y="3419856"/>
            <a:ext cx="502920" cy="45720"/>
          </a:xfrm>
          <a:prstGeom prst="rect">
            <a:avLst/>
          </a:prstGeom>
          <a:solidFill>
            <a:srgbClr val="0A6F9E"/>
          </a:solidFill>
          <a:ln/>
        </p:spPr>
      </p:sp>
      <p:sp>
        <p:nvSpPr>
          <p:cNvPr id="28" name="Text 26"/>
          <p:cNvSpPr txBox="1"/>
          <p:nvPr/>
        </p:nvSpPr>
        <p:spPr>
          <a:xfrm>
            <a:off x="7296912" y="3419856"/>
            <a:ext cx="50292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C2</a:t>
            </a:r>
            <a:endParaRPr lang="es-CL" sz="1200" dirty="0"/>
          </a:p>
        </p:txBody>
      </p:sp>
      <p:sp>
        <p:nvSpPr>
          <p:cNvPr id="29" name="Text 27"/>
          <p:cNvSpPr txBox="1"/>
          <p:nvPr/>
        </p:nvSpPr>
        <p:spPr>
          <a:xfrm>
            <a:off x="8046720" y="3264408"/>
            <a:ext cx="187452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Ing. de Calibración</a:t>
            </a:r>
            <a:endParaRPr lang="es-CL" sz="1700" dirty="0"/>
          </a:p>
        </p:txBody>
      </p:sp>
      <p:sp>
        <p:nvSpPr>
          <p:cNvPr id="30" name="Text 28"/>
          <p:cNvSpPr txBox="1"/>
          <p:nvPr/>
        </p:nvSpPr>
        <p:spPr>
          <a:xfrm>
            <a:off x="10058400" y="3264408"/>
            <a:ext cx="1447495"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Antes del piloto</a:t>
            </a:r>
            <a:endParaRPr lang="es-CL" sz="1700" dirty="0"/>
          </a:p>
        </p:txBody>
      </p:sp>
      <p:sp>
        <p:nvSpPr>
          <p:cNvPr id="31" name="Shape 29"/>
          <p:cNvSpPr/>
          <p:nvPr/>
        </p:nvSpPr>
        <p:spPr>
          <a:xfrm>
            <a:off x="548640" y="3867912"/>
            <a:ext cx="11094415" cy="0"/>
          </a:xfrm>
          <a:prstGeom prst="line">
            <a:avLst/>
          </a:prstGeom>
          <a:noFill/>
          <a:ln w="9525">
            <a:solidFill>
              <a:schemeClr val="accent5"/>
            </a:solidFill>
            <a:prstDash val="solid"/>
          </a:ln>
        </p:spPr>
      </p:sp>
      <p:sp>
        <p:nvSpPr>
          <p:cNvPr id="32" name="Shape 30"/>
          <p:cNvSpPr/>
          <p:nvPr/>
        </p:nvSpPr>
        <p:spPr>
          <a:xfrm>
            <a:off x="548640" y="4005072"/>
            <a:ext cx="384048" cy="329184"/>
          </a:xfrm>
          <a:prstGeom prst="rect">
            <a:avLst/>
          </a:prstGeom>
          <a:solidFill>
            <a:schemeClr val="accent1"/>
          </a:solidFill>
          <a:ln/>
        </p:spPr>
      </p:sp>
      <p:sp>
        <p:nvSpPr>
          <p:cNvPr id="33" name="Text 31"/>
          <p:cNvSpPr txBox="1"/>
          <p:nvPr/>
        </p:nvSpPr>
        <p:spPr>
          <a:xfrm>
            <a:off x="548640" y="4005072"/>
            <a:ext cx="384048" cy="329184"/>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3</a:t>
            </a:r>
            <a:endParaRPr lang="es-CL" sz="1400" dirty="0"/>
          </a:p>
        </p:txBody>
      </p:sp>
      <p:sp>
        <p:nvSpPr>
          <p:cNvPr id="34" name="Text 32"/>
          <p:cNvSpPr txBox="1"/>
          <p:nvPr/>
        </p:nvSpPr>
        <p:spPr>
          <a:xfrm>
            <a:off x="1097280" y="3867912"/>
            <a:ext cx="548640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Plan Financiero con tasa sustentada para medir la rentabilidad</a:t>
            </a:r>
            <a:endParaRPr lang="es-CL" sz="1700" dirty="0"/>
          </a:p>
        </p:txBody>
      </p:sp>
      <p:sp>
        <p:nvSpPr>
          <p:cNvPr id="35" name="Shape 33"/>
          <p:cNvSpPr/>
          <p:nvPr/>
        </p:nvSpPr>
        <p:spPr>
          <a:xfrm>
            <a:off x="6720840" y="4023360"/>
            <a:ext cx="502920" cy="292608"/>
          </a:xfrm>
          <a:prstGeom prst="rect">
            <a:avLst/>
          </a:prstGeom>
          <a:solidFill>
            <a:schemeClr val="accent5"/>
          </a:solidFill>
          <a:ln/>
        </p:spPr>
      </p:sp>
      <p:sp>
        <p:nvSpPr>
          <p:cNvPr id="36" name="Text 34"/>
          <p:cNvSpPr txBox="1"/>
          <p:nvPr/>
        </p:nvSpPr>
        <p:spPr>
          <a:xfrm>
            <a:off x="6720840" y="4023360"/>
            <a:ext cx="50292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F1</a:t>
            </a:r>
            <a:endParaRPr lang="es-CL" sz="1200" dirty="0"/>
          </a:p>
        </p:txBody>
      </p:sp>
      <p:sp>
        <p:nvSpPr>
          <p:cNvPr id="37" name="Text 35"/>
          <p:cNvSpPr txBox="1"/>
          <p:nvPr/>
        </p:nvSpPr>
        <p:spPr>
          <a:xfrm>
            <a:off x="8046720" y="3867912"/>
            <a:ext cx="187452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Gerente General</a:t>
            </a:r>
            <a:endParaRPr lang="es-CL" sz="1700" dirty="0"/>
          </a:p>
        </p:txBody>
      </p:sp>
      <p:sp>
        <p:nvSpPr>
          <p:cNvPr id="38" name="Text 36"/>
          <p:cNvSpPr txBox="1"/>
          <p:nvPr/>
        </p:nvSpPr>
        <p:spPr>
          <a:xfrm>
            <a:off x="10058400" y="3867912"/>
            <a:ext cx="1447495"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Antes de invertir</a:t>
            </a:r>
            <a:endParaRPr lang="es-CL" sz="1700" dirty="0"/>
          </a:p>
        </p:txBody>
      </p:sp>
      <p:sp>
        <p:nvSpPr>
          <p:cNvPr id="39" name="Shape 37"/>
          <p:cNvSpPr/>
          <p:nvPr/>
        </p:nvSpPr>
        <p:spPr>
          <a:xfrm>
            <a:off x="548640" y="4471416"/>
            <a:ext cx="11094415" cy="0"/>
          </a:xfrm>
          <a:prstGeom prst="line">
            <a:avLst/>
          </a:prstGeom>
          <a:noFill/>
          <a:ln w="9525">
            <a:solidFill>
              <a:schemeClr val="accent5"/>
            </a:solidFill>
            <a:prstDash val="solid"/>
          </a:ln>
        </p:spPr>
      </p:sp>
      <p:sp>
        <p:nvSpPr>
          <p:cNvPr id="40" name="Shape 38"/>
          <p:cNvSpPr/>
          <p:nvPr/>
        </p:nvSpPr>
        <p:spPr>
          <a:xfrm>
            <a:off x="548640" y="4608576"/>
            <a:ext cx="384048" cy="329184"/>
          </a:xfrm>
          <a:prstGeom prst="rect">
            <a:avLst/>
          </a:prstGeom>
          <a:solidFill>
            <a:schemeClr val="accent1"/>
          </a:solidFill>
          <a:ln/>
        </p:spPr>
      </p:sp>
      <p:sp>
        <p:nvSpPr>
          <p:cNvPr id="41" name="Text 39"/>
          <p:cNvSpPr txBox="1"/>
          <p:nvPr/>
        </p:nvSpPr>
        <p:spPr>
          <a:xfrm>
            <a:off x="548640" y="4608576"/>
            <a:ext cx="384048" cy="329184"/>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4</a:t>
            </a:r>
            <a:endParaRPr lang="es-CL" sz="1400" dirty="0"/>
          </a:p>
        </p:txBody>
      </p:sp>
      <p:sp>
        <p:nvSpPr>
          <p:cNvPr id="42" name="Text 40"/>
          <p:cNvSpPr txBox="1"/>
          <p:nvPr/>
        </p:nvSpPr>
        <p:spPr>
          <a:xfrm>
            <a:off x="1097280" y="4471416"/>
            <a:ext cx="548640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Convenios con aseguradora, planta de revisión y financiera</a:t>
            </a:r>
            <a:endParaRPr lang="es-CL" sz="1700" dirty="0"/>
          </a:p>
        </p:txBody>
      </p:sp>
      <p:sp>
        <p:nvSpPr>
          <p:cNvPr id="43" name="Shape 41"/>
          <p:cNvSpPr/>
          <p:nvPr/>
        </p:nvSpPr>
        <p:spPr>
          <a:xfrm>
            <a:off x="6720840" y="4626864"/>
            <a:ext cx="502920" cy="292608"/>
          </a:xfrm>
          <a:prstGeom prst="rect">
            <a:avLst/>
          </a:prstGeom>
          <a:solidFill>
            <a:schemeClr val="accent5"/>
          </a:solidFill>
          <a:ln/>
        </p:spPr>
      </p:sp>
      <p:sp>
        <p:nvSpPr>
          <p:cNvPr id="44" name="Shape 42"/>
          <p:cNvSpPr/>
          <p:nvPr/>
        </p:nvSpPr>
        <p:spPr>
          <a:xfrm>
            <a:off x="6720840" y="4626864"/>
            <a:ext cx="251460" cy="45720"/>
          </a:xfrm>
          <a:prstGeom prst="rect">
            <a:avLst/>
          </a:prstGeom>
          <a:solidFill>
            <a:srgbClr val="ECECEC"/>
          </a:solidFill>
          <a:ln/>
        </p:spPr>
      </p:sp>
      <p:sp>
        <p:nvSpPr>
          <p:cNvPr id="45" name="Shape 43"/>
          <p:cNvSpPr/>
          <p:nvPr/>
        </p:nvSpPr>
        <p:spPr>
          <a:xfrm>
            <a:off x="6972300" y="4626864"/>
            <a:ext cx="251460" cy="45720"/>
          </a:xfrm>
          <a:prstGeom prst="rect">
            <a:avLst/>
          </a:prstGeom>
          <a:solidFill>
            <a:srgbClr val="22B8F0"/>
          </a:solidFill>
          <a:ln/>
        </p:spPr>
      </p:sp>
      <p:sp>
        <p:nvSpPr>
          <p:cNvPr id="46" name="Text 44"/>
          <p:cNvSpPr txBox="1"/>
          <p:nvPr/>
        </p:nvSpPr>
        <p:spPr>
          <a:xfrm>
            <a:off x="6720840" y="4626864"/>
            <a:ext cx="50292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P6</a:t>
            </a:r>
            <a:endParaRPr lang="es-CL" sz="1200" dirty="0"/>
          </a:p>
        </p:txBody>
      </p:sp>
      <p:sp>
        <p:nvSpPr>
          <p:cNvPr id="47" name="Text 45"/>
          <p:cNvSpPr txBox="1"/>
          <p:nvPr/>
        </p:nvSpPr>
        <p:spPr>
          <a:xfrm>
            <a:off x="8046720" y="4471416"/>
            <a:ext cx="187452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Gerente General</a:t>
            </a:r>
            <a:endParaRPr lang="es-CL" sz="1700" dirty="0"/>
          </a:p>
        </p:txBody>
      </p:sp>
      <p:sp>
        <p:nvSpPr>
          <p:cNvPr id="48" name="Text 46"/>
          <p:cNvSpPr txBox="1"/>
          <p:nvPr/>
        </p:nvSpPr>
        <p:spPr>
          <a:xfrm>
            <a:off x="10058400" y="4471416"/>
            <a:ext cx="1447495"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Antes del 1.er kit</a:t>
            </a:r>
            <a:endParaRPr lang="es-CL" sz="1700" dirty="0"/>
          </a:p>
        </p:txBody>
      </p:sp>
      <p:sp>
        <p:nvSpPr>
          <p:cNvPr id="49" name="Shape 47"/>
          <p:cNvSpPr/>
          <p:nvPr/>
        </p:nvSpPr>
        <p:spPr>
          <a:xfrm>
            <a:off x="548640" y="5074920"/>
            <a:ext cx="11094415" cy="0"/>
          </a:xfrm>
          <a:prstGeom prst="line">
            <a:avLst/>
          </a:prstGeom>
          <a:noFill/>
          <a:ln w="9525">
            <a:solidFill>
              <a:schemeClr val="accent5"/>
            </a:solidFill>
            <a:prstDash val="solid"/>
          </a:ln>
        </p:spPr>
      </p:sp>
      <p:sp>
        <p:nvSpPr>
          <p:cNvPr id="50" name="Shape 48"/>
          <p:cNvSpPr/>
          <p:nvPr/>
        </p:nvSpPr>
        <p:spPr>
          <a:xfrm>
            <a:off x="548640" y="5212080"/>
            <a:ext cx="384048" cy="329184"/>
          </a:xfrm>
          <a:prstGeom prst="rect">
            <a:avLst/>
          </a:prstGeom>
          <a:solidFill>
            <a:schemeClr val="accent1"/>
          </a:solidFill>
          <a:ln/>
        </p:spPr>
      </p:sp>
      <p:sp>
        <p:nvSpPr>
          <p:cNvPr id="51" name="Text 49"/>
          <p:cNvSpPr txBox="1"/>
          <p:nvPr/>
        </p:nvSpPr>
        <p:spPr>
          <a:xfrm>
            <a:off x="548640" y="5212080"/>
            <a:ext cx="384048" cy="329184"/>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5</a:t>
            </a:r>
            <a:endParaRPr lang="es-CL" sz="1400" dirty="0"/>
          </a:p>
        </p:txBody>
      </p:sp>
      <p:sp>
        <p:nvSpPr>
          <p:cNvPr id="52" name="Text 50"/>
          <p:cNvSpPr txBox="1"/>
          <p:nvPr/>
        </p:nvSpPr>
        <p:spPr>
          <a:xfrm>
            <a:off x="1097280" y="5074920"/>
            <a:ext cx="548640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Proteger cada calibración como secreto empresarial</a:t>
            </a:r>
            <a:endParaRPr lang="es-CL" sz="1700" dirty="0"/>
          </a:p>
        </p:txBody>
      </p:sp>
      <p:sp>
        <p:nvSpPr>
          <p:cNvPr id="53" name="Shape 51"/>
          <p:cNvSpPr/>
          <p:nvPr/>
        </p:nvSpPr>
        <p:spPr>
          <a:xfrm>
            <a:off x="6720840" y="5230368"/>
            <a:ext cx="502920" cy="292608"/>
          </a:xfrm>
          <a:prstGeom prst="rect">
            <a:avLst/>
          </a:prstGeom>
          <a:solidFill>
            <a:schemeClr val="accent5"/>
          </a:solidFill>
          <a:ln/>
        </p:spPr>
      </p:sp>
      <p:sp>
        <p:nvSpPr>
          <p:cNvPr id="54" name="Shape 52"/>
          <p:cNvSpPr/>
          <p:nvPr/>
        </p:nvSpPr>
        <p:spPr>
          <a:xfrm>
            <a:off x="6720840" y="5230368"/>
            <a:ext cx="502920" cy="45720"/>
          </a:xfrm>
          <a:prstGeom prst="rect">
            <a:avLst/>
          </a:prstGeom>
          <a:solidFill>
            <a:srgbClr val="0A6F9E"/>
          </a:solidFill>
          <a:ln/>
        </p:spPr>
      </p:sp>
      <p:sp>
        <p:nvSpPr>
          <p:cNvPr id="55" name="Text 53"/>
          <p:cNvSpPr txBox="1"/>
          <p:nvPr/>
        </p:nvSpPr>
        <p:spPr>
          <a:xfrm>
            <a:off x="6720840" y="5230368"/>
            <a:ext cx="50292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A1</a:t>
            </a:r>
            <a:endParaRPr lang="es-CL" sz="1200" dirty="0"/>
          </a:p>
        </p:txBody>
      </p:sp>
      <p:sp>
        <p:nvSpPr>
          <p:cNvPr id="56" name="Text 54"/>
          <p:cNvSpPr txBox="1"/>
          <p:nvPr/>
        </p:nvSpPr>
        <p:spPr>
          <a:xfrm>
            <a:off x="8046720" y="5074920"/>
            <a:ext cx="1874520"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Ing. de Calibración</a:t>
            </a:r>
            <a:endParaRPr lang="es-CL" sz="1700" dirty="0"/>
          </a:p>
        </p:txBody>
      </p:sp>
      <p:sp>
        <p:nvSpPr>
          <p:cNvPr id="57" name="Text 55"/>
          <p:cNvSpPr txBox="1"/>
          <p:nvPr/>
        </p:nvSpPr>
        <p:spPr>
          <a:xfrm>
            <a:off x="10058400" y="5074920"/>
            <a:ext cx="1447495" cy="603504"/>
          </a:xfrm>
          <a:prstGeom prst="rect">
            <a:avLst/>
          </a:prstGeom>
          <a:noFill/>
          <a:ln/>
        </p:spPr>
        <p:txBody>
          <a:bodyPr wrap="square" lIns="0" tIns="0" rIns="0" bIns="0" rtlCol="0" anchor="ctr"/>
          <a:lstStyle/>
          <a:p>
            <a:pPr algn="l" indent="0" marL="0">
              <a:lnSpc>
                <a:spcPct val="92000"/>
              </a:lnSpc>
              <a:buNone/>
            </a:pPr>
            <a:r>
              <a:rPr lang="es-CL" altLang="en-US" sz="1700" dirty="0">
                <a:solidFill>
                  <a:schemeClr val="tx2"/>
                </a:solidFill>
                <a:latin typeface="Figtree" pitchFamily="34" charset="0"/>
                <a:ea typeface="Figtree" pitchFamily="34" charset="-122"/>
                <a:cs typeface="Figtree" pitchFamily="34" charset="-120"/>
              </a:rPr>
              <a:t>1.ª calibración</a:t>
            </a:r>
            <a:endParaRPr lang="es-CL" sz="1700" dirty="0"/>
          </a:p>
        </p:txBody>
      </p:sp>
      <p:sp>
        <p:nvSpPr>
          <p:cNvPr id="58" name="Shape 56"/>
          <p:cNvSpPr/>
          <p:nvPr/>
        </p:nvSpPr>
        <p:spPr>
          <a:xfrm>
            <a:off x="548640" y="5678424"/>
            <a:ext cx="11094415" cy="0"/>
          </a:xfrm>
          <a:prstGeom prst="line">
            <a:avLst/>
          </a:prstGeom>
          <a:noFill/>
          <a:ln w="9525">
            <a:solidFill>
              <a:schemeClr val="accent5"/>
            </a:solidFill>
            <a:prstDash val="solid"/>
          </a:ln>
        </p:spPr>
      </p:sp>
      <p:sp>
        <p:nvSpPr>
          <p:cNvPr id="59" name="Text 57"/>
          <p:cNvSpPr txBox="1"/>
          <p:nvPr/>
        </p:nvSpPr>
        <p:spPr>
          <a:xfrm>
            <a:off x="548640" y="5879592"/>
            <a:ext cx="11094415" cy="411480"/>
          </a:xfrm>
          <a:prstGeom prst="rect">
            <a:avLst/>
          </a:prstGeom>
          <a:noFill/>
          <a:ln/>
        </p:spPr>
        <p:txBody>
          <a:bodyPr wrap="square" lIns="0" tIns="0" rIns="0" bIns="0" rtlCol="0" anchor="ctr"/>
          <a:lstStyle/>
          <a:p>
            <a:pPr indent="0" marL="0">
              <a:buNone/>
            </a:pPr>
            <a:r>
              <a:rPr lang="es-CL" altLang="en-US" sz="1900" dirty="0">
                <a:solidFill>
                  <a:schemeClr val="tx2"/>
                </a:solidFill>
                <a:latin typeface="Figtree" pitchFamily="34" charset="0"/>
                <a:ea typeface="Figtree" pitchFamily="34" charset="-122"/>
                <a:cs typeface="Figtree" pitchFamily="34" charset="-120"/>
              </a:rPr>
              <a:t>Mientras no opere: </a:t>
            </a:r>
            <a:pPr indent="0" marL="0">
              <a:buNone/>
            </a:pPr>
            <a:r>
              <a:rPr lang="es-CL" altLang="en-US" sz="1900" b="1" dirty="0">
                <a:solidFill>
                  <a:schemeClr val="tx1"/>
                </a:solidFill>
                <a:latin typeface="Figtree" pitchFamily="34" charset="0"/>
                <a:ea typeface="Figtree" pitchFamily="34" charset="-122"/>
                <a:cs typeface="Figtree" pitchFamily="34" charset="-120"/>
              </a:rPr>
              <a:t>revisión mensual de los cuatro hitos previos a la venta.</a:t>
            </a:r>
            <a:endParaRPr lang="es-CL" sz="19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15</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11 · CONCLUSIONES</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CMI DECIDE CUÁNDO AVANZAR,</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corregir o detenerse.</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conclusiones del informe final (capítulo 11).</a:t>
            </a:r>
            <a:endParaRPr lang="es-CL" sz="1100" dirty="0"/>
          </a:p>
        </p:txBody>
      </p:sp>
      <p:sp>
        <p:nvSpPr>
          <p:cNvPr id="5" name="Shape 3"/>
          <p:cNvSpPr/>
          <p:nvPr/>
        </p:nvSpPr>
        <p:spPr>
          <a:xfrm>
            <a:off x="548640" y="2395728"/>
            <a:ext cx="5364328" cy="2743200"/>
          </a:xfrm>
          <a:prstGeom prst="rect">
            <a:avLst/>
          </a:prstGeom>
          <a:solidFill>
            <a:schemeClr val="bg2"/>
          </a:solidFill>
          <a:ln w="9525">
            <a:solidFill>
              <a:schemeClr val="tx2"/>
            </a:solidFill>
            <a:prstDash val="solid"/>
          </a:ln>
        </p:spPr>
      </p:sp>
      <p:sp>
        <p:nvSpPr>
          <p:cNvPr id="6" name="Text 4"/>
          <p:cNvSpPr txBox="1"/>
          <p:nvPr/>
        </p:nvSpPr>
        <p:spPr>
          <a:xfrm>
            <a:off x="804672" y="2596896"/>
            <a:ext cx="4907128" cy="274320"/>
          </a:xfrm>
          <a:prstGeom prst="rect">
            <a:avLst/>
          </a:prstGeom>
          <a:noFill/>
          <a:ln/>
        </p:spPr>
        <p:txBody>
          <a:bodyPr wrap="square" lIns="0" tIns="0" rIns="0" bIns="0" rtlCol="0" anchor="t"/>
          <a:lstStyle/>
          <a:p>
            <a:pPr indent="0" marL="0">
              <a:buNone/>
            </a:pPr>
            <a:r>
              <a:rPr lang="es-CL" altLang="en-US" sz="1400" b="1" spc="100" kern="0" dirty="0">
                <a:solidFill>
                  <a:schemeClr val="accent1"/>
                </a:solidFill>
                <a:latin typeface="IBM Plex Mono" pitchFamily="34" charset="0"/>
                <a:ea typeface="IBM Plex Mono" pitchFamily="34" charset="-122"/>
                <a:cs typeface="IBM Plex Mono" pitchFamily="34" charset="-120"/>
              </a:rPr>
              <a:t>FUNDAMENTADO</a:t>
            </a:r>
            <a:endParaRPr lang="es-CL" sz="1400" dirty="0"/>
          </a:p>
        </p:txBody>
      </p:sp>
      <p:sp>
        <p:nvSpPr>
          <p:cNvPr id="7" name="Shape 5"/>
          <p:cNvSpPr/>
          <p:nvPr/>
        </p:nvSpPr>
        <p:spPr>
          <a:xfrm>
            <a:off x="804672" y="3035808"/>
            <a:ext cx="4852264" cy="0"/>
          </a:xfrm>
          <a:prstGeom prst="line">
            <a:avLst/>
          </a:prstGeom>
          <a:noFill/>
          <a:ln w="9525">
            <a:solidFill>
              <a:schemeClr val="accent5"/>
            </a:solidFill>
            <a:prstDash val="solid"/>
          </a:ln>
        </p:spPr>
      </p:sp>
      <p:sp>
        <p:nvSpPr>
          <p:cNvPr id="8" name="Text 6"/>
          <p:cNvSpPr txBox="1"/>
          <p:nvPr/>
        </p:nvSpPr>
        <p:spPr>
          <a:xfrm>
            <a:off x="804672" y="3081528"/>
            <a:ext cx="4852264" cy="59436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Necesidad real y documentada</a:t>
            </a:r>
            <a:endParaRPr lang="es-CL" sz="2000" dirty="0"/>
          </a:p>
        </p:txBody>
      </p:sp>
      <p:sp>
        <p:nvSpPr>
          <p:cNvPr id="9" name="Shape 7"/>
          <p:cNvSpPr/>
          <p:nvPr/>
        </p:nvSpPr>
        <p:spPr>
          <a:xfrm>
            <a:off x="804672" y="3694176"/>
            <a:ext cx="4852264" cy="0"/>
          </a:xfrm>
          <a:prstGeom prst="line">
            <a:avLst/>
          </a:prstGeom>
          <a:noFill/>
          <a:ln w="9525">
            <a:solidFill>
              <a:schemeClr val="accent5"/>
            </a:solidFill>
            <a:prstDash val="solid"/>
          </a:ln>
        </p:spPr>
      </p:sp>
      <p:sp>
        <p:nvSpPr>
          <p:cNvPr id="10" name="Text 8"/>
          <p:cNvSpPr txBox="1"/>
          <p:nvPr/>
        </p:nvSpPr>
        <p:spPr>
          <a:xfrm>
            <a:off x="804672" y="3739896"/>
            <a:ext cx="4852264" cy="59436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Estrategia coherente con el diagnóstico</a:t>
            </a:r>
            <a:endParaRPr lang="es-CL" sz="2000" dirty="0"/>
          </a:p>
        </p:txBody>
      </p:sp>
      <p:sp>
        <p:nvSpPr>
          <p:cNvPr id="11" name="Shape 9"/>
          <p:cNvSpPr/>
          <p:nvPr/>
        </p:nvSpPr>
        <p:spPr>
          <a:xfrm>
            <a:off x="804672" y="4352544"/>
            <a:ext cx="4852264" cy="0"/>
          </a:xfrm>
          <a:prstGeom prst="line">
            <a:avLst/>
          </a:prstGeom>
          <a:noFill/>
          <a:ln w="9525">
            <a:solidFill>
              <a:schemeClr val="accent5"/>
            </a:solidFill>
            <a:prstDash val="solid"/>
          </a:ln>
        </p:spPr>
      </p:sp>
      <p:sp>
        <p:nvSpPr>
          <p:cNvPr id="12" name="Text 10"/>
          <p:cNvSpPr txBox="1"/>
          <p:nvPr/>
        </p:nvSpPr>
        <p:spPr>
          <a:xfrm>
            <a:off x="804672" y="4398264"/>
            <a:ext cx="4852264" cy="59436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CMI que ordena decisiones hoy</a:t>
            </a:r>
            <a:endParaRPr lang="es-CL" sz="2000" dirty="0"/>
          </a:p>
        </p:txBody>
      </p:sp>
      <p:pic>
        <p:nvPicPr>
          <p:cNvPr id="13" name="Image 0" descr="C:\Users\Usuario\Documents\GitHub\lumine\tig-final\generador\assets\brillo.png">    </p:cNvPr>
          <p:cNvPicPr>
            <a:picLocks noChangeAspect="1"/>
          </p:cNvPicPr>
          <p:nvPr/>
        </p:nvPicPr>
        <p:blipFill>
          <a:blip r:embed="rId1"/>
          <a:stretch>
            <a:fillRect/>
          </a:stretch>
        </p:blipFill>
        <p:spPr>
          <a:xfrm>
            <a:off x="5912968" y="2139696"/>
            <a:ext cx="6095848" cy="3255264"/>
          </a:xfrm>
          <a:prstGeom prst="rect">
            <a:avLst/>
          </a:prstGeom>
        </p:spPr>
      </p:pic>
      <p:sp>
        <p:nvSpPr>
          <p:cNvPr id="14" name="Shape 11"/>
          <p:cNvSpPr/>
          <p:nvPr/>
        </p:nvSpPr>
        <p:spPr>
          <a:xfrm>
            <a:off x="6278728" y="2395728"/>
            <a:ext cx="5364328" cy="2743200"/>
          </a:xfrm>
          <a:prstGeom prst="rect">
            <a:avLst/>
          </a:prstGeom>
          <a:solidFill>
            <a:srgbClr val="0B1A22"/>
          </a:solidFill>
          <a:ln w="15875">
            <a:solidFill>
              <a:schemeClr val="accent1"/>
            </a:solidFill>
            <a:prstDash val="solid"/>
          </a:ln>
        </p:spPr>
      </p:sp>
      <p:sp>
        <p:nvSpPr>
          <p:cNvPr id="15" name="Shape 12"/>
          <p:cNvSpPr/>
          <p:nvPr/>
        </p:nvSpPr>
        <p:spPr>
          <a:xfrm>
            <a:off x="6223864" y="2340864"/>
            <a:ext cx="155448" cy="0"/>
          </a:xfrm>
          <a:prstGeom prst="line">
            <a:avLst/>
          </a:prstGeom>
          <a:noFill/>
          <a:ln w="15875">
            <a:solidFill>
              <a:schemeClr val="accent1"/>
            </a:solidFill>
            <a:prstDash val="solid"/>
          </a:ln>
        </p:spPr>
      </p:sp>
      <p:sp>
        <p:nvSpPr>
          <p:cNvPr id="16" name="Shape 13"/>
          <p:cNvSpPr/>
          <p:nvPr/>
        </p:nvSpPr>
        <p:spPr>
          <a:xfrm>
            <a:off x="6223864" y="2340864"/>
            <a:ext cx="0" cy="155448"/>
          </a:xfrm>
          <a:prstGeom prst="line">
            <a:avLst/>
          </a:prstGeom>
          <a:noFill/>
          <a:ln w="15875">
            <a:solidFill>
              <a:schemeClr val="accent1"/>
            </a:solidFill>
            <a:prstDash val="solid"/>
          </a:ln>
        </p:spPr>
      </p:sp>
      <p:sp>
        <p:nvSpPr>
          <p:cNvPr id="17" name="Shape 14"/>
          <p:cNvSpPr/>
          <p:nvPr/>
        </p:nvSpPr>
        <p:spPr>
          <a:xfrm>
            <a:off x="11542471" y="2340864"/>
            <a:ext cx="155448" cy="0"/>
          </a:xfrm>
          <a:prstGeom prst="line">
            <a:avLst/>
          </a:prstGeom>
          <a:noFill/>
          <a:ln w="15875">
            <a:solidFill>
              <a:schemeClr val="accent1"/>
            </a:solidFill>
            <a:prstDash val="solid"/>
          </a:ln>
        </p:spPr>
      </p:sp>
      <p:sp>
        <p:nvSpPr>
          <p:cNvPr id="18" name="Shape 15"/>
          <p:cNvSpPr/>
          <p:nvPr/>
        </p:nvSpPr>
        <p:spPr>
          <a:xfrm>
            <a:off x="11697919" y="2340864"/>
            <a:ext cx="0" cy="155448"/>
          </a:xfrm>
          <a:prstGeom prst="line">
            <a:avLst/>
          </a:prstGeom>
          <a:noFill/>
          <a:ln w="15875">
            <a:solidFill>
              <a:schemeClr val="accent1"/>
            </a:solidFill>
            <a:prstDash val="solid"/>
          </a:ln>
        </p:spPr>
      </p:sp>
      <p:sp>
        <p:nvSpPr>
          <p:cNvPr id="19" name="Shape 16"/>
          <p:cNvSpPr/>
          <p:nvPr/>
        </p:nvSpPr>
        <p:spPr>
          <a:xfrm>
            <a:off x="6223864" y="5193792"/>
            <a:ext cx="155448" cy="0"/>
          </a:xfrm>
          <a:prstGeom prst="line">
            <a:avLst/>
          </a:prstGeom>
          <a:noFill/>
          <a:ln w="15875">
            <a:solidFill>
              <a:schemeClr val="accent1"/>
            </a:solidFill>
            <a:prstDash val="solid"/>
          </a:ln>
        </p:spPr>
      </p:sp>
      <p:sp>
        <p:nvSpPr>
          <p:cNvPr id="20" name="Shape 17"/>
          <p:cNvSpPr/>
          <p:nvPr/>
        </p:nvSpPr>
        <p:spPr>
          <a:xfrm>
            <a:off x="6223864" y="5038344"/>
            <a:ext cx="0" cy="155448"/>
          </a:xfrm>
          <a:prstGeom prst="line">
            <a:avLst/>
          </a:prstGeom>
          <a:noFill/>
          <a:ln w="15875">
            <a:solidFill>
              <a:schemeClr val="accent1"/>
            </a:solidFill>
            <a:prstDash val="solid"/>
          </a:ln>
        </p:spPr>
      </p:sp>
      <p:sp>
        <p:nvSpPr>
          <p:cNvPr id="21" name="Shape 18"/>
          <p:cNvSpPr/>
          <p:nvPr/>
        </p:nvSpPr>
        <p:spPr>
          <a:xfrm>
            <a:off x="11542471" y="5193792"/>
            <a:ext cx="155448" cy="0"/>
          </a:xfrm>
          <a:prstGeom prst="line">
            <a:avLst/>
          </a:prstGeom>
          <a:noFill/>
          <a:ln w="15875">
            <a:solidFill>
              <a:schemeClr val="accent1"/>
            </a:solidFill>
            <a:prstDash val="solid"/>
          </a:ln>
        </p:spPr>
      </p:sp>
      <p:sp>
        <p:nvSpPr>
          <p:cNvPr id="22" name="Shape 19"/>
          <p:cNvSpPr/>
          <p:nvPr/>
        </p:nvSpPr>
        <p:spPr>
          <a:xfrm>
            <a:off x="11697919" y="5038344"/>
            <a:ext cx="0" cy="155448"/>
          </a:xfrm>
          <a:prstGeom prst="line">
            <a:avLst/>
          </a:prstGeom>
          <a:noFill/>
          <a:ln w="15875">
            <a:solidFill>
              <a:schemeClr val="accent1"/>
            </a:solidFill>
            <a:prstDash val="solid"/>
          </a:ln>
        </p:spPr>
      </p:sp>
      <p:sp>
        <p:nvSpPr>
          <p:cNvPr id="23" name="Text 20"/>
          <p:cNvSpPr txBox="1"/>
          <p:nvPr/>
        </p:nvSpPr>
        <p:spPr>
          <a:xfrm>
            <a:off x="6534760" y="2596896"/>
            <a:ext cx="4907128" cy="274320"/>
          </a:xfrm>
          <a:prstGeom prst="rect">
            <a:avLst/>
          </a:prstGeom>
          <a:noFill/>
          <a:ln/>
        </p:spPr>
        <p:txBody>
          <a:bodyPr wrap="square" lIns="0" tIns="0" rIns="0" bIns="0" rtlCol="0" anchor="t"/>
          <a:lstStyle/>
          <a:p>
            <a:pPr indent="0" marL="0">
              <a:buNone/>
            </a:pPr>
            <a:r>
              <a:rPr lang="es-CL" altLang="en-US" sz="1400" b="1" spc="100" kern="0" dirty="0">
                <a:solidFill>
                  <a:schemeClr val="accent1"/>
                </a:solidFill>
                <a:latin typeface="IBM Plex Mono" pitchFamily="34" charset="0"/>
                <a:ea typeface="IBM Plex Mono" pitchFamily="34" charset="-122"/>
                <a:cs typeface="IBM Plex Mono" pitchFamily="34" charset="-120"/>
              </a:rPr>
              <a:t>POR DEMOSTRAR</a:t>
            </a:r>
            <a:endParaRPr lang="es-CL" sz="1400" dirty="0"/>
          </a:p>
        </p:txBody>
      </p:sp>
      <p:sp>
        <p:nvSpPr>
          <p:cNvPr id="24" name="Shape 21"/>
          <p:cNvSpPr/>
          <p:nvPr/>
        </p:nvSpPr>
        <p:spPr>
          <a:xfrm>
            <a:off x="6534760" y="3035808"/>
            <a:ext cx="4852264" cy="0"/>
          </a:xfrm>
          <a:prstGeom prst="line">
            <a:avLst/>
          </a:prstGeom>
          <a:noFill/>
          <a:ln w="9525">
            <a:solidFill>
              <a:schemeClr val="accent5"/>
            </a:solidFill>
            <a:prstDash val="solid"/>
          </a:ln>
        </p:spPr>
      </p:sp>
      <p:sp>
        <p:nvSpPr>
          <p:cNvPr id="25" name="Text 22"/>
          <p:cNvSpPr txBox="1"/>
          <p:nvPr/>
        </p:nvSpPr>
        <p:spPr>
          <a:xfrm>
            <a:off x="6534760" y="3081528"/>
            <a:ext cx="4852264" cy="59436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La vía legal</a:t>
            </a:r>
            <a:endParaRPr lang="es-CL" sz="2000" dirty="0"/>
          </a:p>
        </p:txBody>
      </p:sp>
      <p:sp>
        <p:nvSpPr>
          <p:cNvPr id="26" name="Shape 23"/>
          <p:cNvSpPr/>
          <p:nvPr/>
        </p:nvSpPr>
        <p:spPr>
          <a:xfrm>
            <a:off x="6534760" y="3694176"/>
            <a:ext cx="4852264" cy="0"/>
          </a:xfrm>
          <a:prstGeom prst="line">
            <a:avLst/>
          </a:prstGeom>
          <a:noFill/>
          <a:ln w="9525">
            <a:solidFill>
              <a:schemeClr val="accent5"/>
            </a:solidFill>
            <a:prstDash val="solid"/>
          </a:ln>
        </p:spPr>
      </p:sp>
      <p:sp>
        <p:nvSpPr>
          <p:cNvPr id="27" name="Text 24"/>
          <p:cNvSpPr txBox="1"/>
          <p:nvPr/>
        </p:nvSpPr>
        <p:spPr>
          <a:xfrm>
            <a:off x="6534760" y="3739896"/>
            <a:ext cx="4852264" cy="59436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El ahorro, medido en autos chilenos</a:t>
            </a:r>
            <a:endParaRPr lang="es-CL" sz="2000" dirty="0"/>
          </a:p>
        </p:txBody>
      </p:sp>
      <p:sp>
        <p:nvSpPr>
          <p:cNvPr id="28" name="Shape 25"/>
          <p:cNvSpPr/>
          <p:nvPr/>
        </p:nvSpPr>
        <p:spPr>
          <a:xfrm>
            <a:off x="6534760" y="4352544"/>
            <a:ext cx="4852264" cy="0"/>
          </a:xfrm>
          <a:prstGeom prst="line">
            <a:avLst/>
          </a:prstGeom>
          <a:noFill/>
          <a:ln w="9525">
            <a:solidFill>
              <a:schemeClr val="accent5"/>
            </a:solidFill>
            <a:prstDash val="solid"/>
          </a:ln>
        </p:spPr>
      </p:sp>
      <p:sp>
        <p:nvSpPr>
          <p:cNvPr id="29" name="Text 26"/>
          <p:cNvSpPr txBox="1"/>
          <p:nvPr/>
        </p:nvSpPr>
        <p:spPr>
          <a:xfrm>
            <a:off x="6534760" y="4398264"/>
            <a:ext cx="4852264" cy="59436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La rentabilidad sobre el costo de capital</a:t>
            </a:r>
            <a:endParaRPr lang="es-CL" sz="2000" dirty="0"/>
          </a:p>
        </p:txBody>
      </p:sp>
      <p:sp>
        <p:nvSpPr>
          <p:cNvPr id="30" name="Shape 27"/>
          <p:cNvSpPr/>
          <p:nvPr/>
        </p:nvSpPr>
        <p:spPr>
          <a:xfrm>
            <a:off x="548640" y="5413248"/>
            <a:ext cx="11094415" cy="0"/>
          </a:xfrm>
          <a:prstGeom prst="line">
            <a:avLst/>
          </a:prstGeom>
          <a:noFill/>
          <a:ln w="9525">
            <a:solidFill>
              <a:schemeClr val="accent1"/>
            </a:solidFill>
            <a:prstDash val="solid"/>
          </a:ln>
        </p:spPr>
      </p:sp>
      <p:sp>
        <p:nvSpPr>
          <p:cNvPr id="31" name="Text 28"/>
          <p:cNvSpPr txBox="1"/>
          <p:nvPr/>
        </p:nvSpPr>
        <p:spPr>
          <a:xfrm>
            <a:off x="548640" y="5522976"/>
            <a:ext cx="7863840" cy="411480"/>
          </a:xfrm>
          <a:prstGeom prst="rect">
            <a:avLst/>
          </a:prstGeom>
          <a:noFill/>
          <a:ln/>
        </p:spPr>
        <p:txBody>
          <a:bodyPr wrap="square" lIns="0" tIns="0" rIns="0" bIns="0" rtlCol="0" anchor="ctr"/>
          <a:lstStyle/>
          <a:p>
            <a:pPr indent="0" marL="0">
              <a:buNone/>
            </a:pPr>
            <a:r>
              <a:rPr lang="es-CL" altLang="en-US" sz="2000" i="1" dirty="0">
                <a:solidFill>
                  <a:schemeClr val="accent1"/>
                </a:solidFill>
                <a:latin typeface="Instrument Serif" pitchFamily="34" charset="0"/>
                <a:ea typeface="Instrument Serif" pitchFamily="34" charset="-122"/>
                <a:cs typeface="Instrument Serif" pitchFamily="34" charset="-120"/>
              </a:rPr>
              <a:t>hacia la visión 2031 · sin inventar lo que todavía no se mide</a:t>
            </a:r>
            <a:endParaRPr lang="es-CL" sz="2000" dirty="0"/>
          </a:p>
        </p:txBody>
      </p:sp>
      <p:sp>
        <p:nvSpPr>
          <p:cNvPr id="32" name="Text 29"/>
          <p:cNvSpPr txBox="1"/>
          <p:nvPr/>
        </p:nvSpPr>
        <p:spPr>
          <a:xfrm>
            <a:off x="7985455" y="5522976"/>
            <a:ext cx="3657600" cy="411480"/>
          </a:xfrm>
          <a:prstGeom prst="rect">
            <a:avLst/>
          </a:prstGeom>
          <a:noFill/>
          <a:ln/>
        </p:spPr>
        <p:txBody>
          <a:bodyPr wrap="square" lIns="0" tIns="0" rIns="0" bIns="0" rtlCol="0" anchor="ctr"/>
          <a:lstStyle/>
          <a:p>
            <a:pPr algn="r" indent="0" marL="0">
              <a:buNone/>
            </a:pPr>
            <a:r>
              <a:rPr lang="es-CL" altLang="en-US" sz="1800" spc="100" kern="0" dirty="0">
                <a:solidFill>
                  <a:schemeClr val="tx1"/>
                </a:solidFill>
                <a:latin typeface="IBM Plex Mono" pitchFamily="34" charset="0"/>
                <a:ea typeface="IBM Plex Mono" pitchFamily="34" charset="-122"/>
                <a:cs typeface="IBM Plex Mono" pitchFamily="34" charset="-120"/>
              </a:rPr>
              <a:t>GRACIAS · ¿PREGUNTAS?</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MATERIAL DE APOYO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ANEXO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para preguntas.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Las fuentes de cada tema están al pie de su diapositiva.</a:t>
            </a:r>
            <a:endParaRPr lang="es-CL" sz="1100" dirty="0"/>
          </a:p>
        </p:txBody>
      </p:sp>
      <p:sp>
        <p:nvSpPr>
          <p:cNvPr id="5" name="Shape 3"/>
          <p:cNvSpPr/>
          <p:nvPr/>
        </p:nvSpPr>
        <p:spPr>
          <a:xfrm>
            <a:off x="548640" y="2340864"/>
            <a:ext cx="11094415" cy="0"/>
          </a:xfrm>
          <a:prstGeom prst="line">
            <a:avLst/>
          </a:prstGeom>
          <a:noFill/>
          <a:ln w="9525">
            <a:solidFill>
              <a:schemeClr val="accent5"/>
            </a:solidFill>
            <a:prstDash val="solid"/>
          </a:ln>
        </p:spPr>
      </p:sp>
      <p:sp>
        <p:nvSpPr>
          <p:cNvPr id="6" name="Shape 4"/>
          <p:cNvSpPr/>
          <p:nvPr/>
        </p:nvSpPr>
        <p:spPr>
          <a:xfrm>
            <a:off x="548640" y="2372868"/>
            <a:ext cx="566928" cy="251460"/>
          </a:xfrm>
          <a:prstGeom prst="rect">
            <a:avLst/>
          </a:prstGeom>
          <a:solidFill>
            <a:schemeClr val="accent1"/>
          </a:solidFill>
          <a:ln/>
        </p:spPr>
      </p:sp>
      <p:sp>
        <p:nvSpPr>
          <p:cNvPr id="7" name="Text 5"/>
          <p:cNvSpPr txBox="1"/>
          <p:nvPr/>
        </p:nvSpPr>
        <p:spPr>
          <a:xfrm>
            <a:off x="548640" y="2372868"/>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a:t>
            </a:r>
            <a:endParaRPr lang="es-CL" sz="1200" dirty="0"/>
          </a:p>
        </p:txBody>
      </p:sp>
      <p:sp>
        <p:nvSpPr>
          <p:cNvPr id="8" name="Text 6">
            <a:hlinkClick r:id="rId1" tooltip="Ir a ¿Cómo es la ficha de un indicador y qué estados usa?" action="ppaction://hlinksldjump"/>
          </p:cNvPr>
          <p:cNvSpPr txBox="1"/>
          <p:nvPr/>
        </p:nvSpPr>
        <p:spPr>
          <a:xfrm>
            <a:off x="1280160" y="2340864"/>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1" action="ppaction://hlinksldjump" tooltip="Ir a ¿Cómo es la ficha de un indicador y qué estados usa?">
                  <a:extLst>
                    <a:ext uri="{A12FA001-AC4F-418D-AE19-62706E023703}">
                      <ahyp:hlinkClr xmlns:ahyp="http://schemas.microsoft.com/office/drawing/2018/hyperlinkcolor" val="tx"/>
                    </a:ext>
                  </a:extLst>
                </a:hlinkClick>
              </a:rPr>
              <a:t>¿Cómo es la ficha de un indicador y qué estados usa?</a:t>
            </a:r>
            <a:endParaRPr lang="en-US" sz="1600" dirty="0"/>
          </a:p>
        </p:txBody>
      </p:sp>
      <p:sp>
        <p:nvSpPr>
          <p:cNvPr id="9" name="Text 7">
            <a:hlinkClick r:id="rId2" tooltip="Ir a ¿Cómo es la ficha de un indicador y qué estados usa?" action="ppaction://hlinksldjump"/>
          </p:cNvPr>
          <p:cNvSpPr txBox="1"/>
          <p:nvPr/>
        </p:nvSpPr>
        <p:spPr>
          <a:xfrm>
            <a:off x="10637215" y="2340864"/>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2" action="ppaction://hlinksldjump" tooltip="Ir a ¿Cómo es la ficha de un indicador y qué estados usa?">
                  <a:extLst>
                    <a:ext uri="{A12FA001-AC4F-418D-AE19-62706E023703}">
                      <ahyp:hlinkClr xmlns:ahyp="http://schemas.microsoft.com/office/drawing/2018/hyperlinkcolor" val="tx"/>
                    </a:ext>
                  </a:extLst>
                </a:hlinkClick>
              </a:rPr>
              <a:t>LÁM. 17</a:t>
            </a:r>
            <a:endParaRPr lang="en-US" sz="1300" dirty="0"/>
          </a:p>
        </p:txBody>
      </p:sp>
      <p:sp>
        <p:nvSpPr>
          <p:cNvPr id="10" name="Shape 8"/>
          <p:cNvSpPr/>
          <p:nvPr/>
        </p:nvSpPr>
        <p:spPr>
          <a:xfrm>
            <a:off x="548640" y="2656332"/>
            <a:ext cx="11094415" cy="0"/>
          </a:xfrm>
          <a:prstGeom prst="line">
            <a:avLst/>
          </a:prstGeom>
          <a:noFill/>
          <a:ln w="9525">
            <a:solidFill>
              <a:schemeClr val="accent5"/>
            </a:solidFill>
            <a:prstDash val="solid"/>
          </a:ln>
        </p:spPr>
      </p:sp>
      <p:sp>
        <p:nvSpPr>
          <p:cNvPr id="11" name="Shape 9"/>
          <p:cNvSpPr/>
          <p:nvPr/>
        </p:nvSpPr>
        <p:spPr>
          <a:xfrm>
            <a:off x="548640" y="2688336"/>
            <a:ext cx="566928" cy="251460"/>
          </a:xfrm>
          <a:prstGeom prst="rect">
            <a:avLst/>
          </a:prstGeom>
          <a:solidFill>
            <a:schemeClr val="accent1"/>
          </a:solidFill>
          <a:ln/>
        </p:spPr>
      </p:sp>
      <p:sp>
        <p:nvSpPr>
          <p:cNvPr id="12" name="Text 10"/>
          <p:cNvSpPr txBox="1"/>
          <p:nvPr/>
        </p:nvSpPr>
        <p:spPr>
          <a:xfrm>
            <a:off x="548640" y="2688336"/>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A2</a:t>
            </a:r>
            <a:endParaRPr lang="es-CL" sz="1200" dirty="0"/>
          </a:p>
        </p:txBody>
      </p:sp>
      <p:sp>
        <p:nvSpPr>
          <p:cNvPr id="13" name="Text 11">
            <a:hlinkClick r:id="rId3" tooltip="Ir a El CMI completo: indicador, meta, responsable e iniciativa" action="ppaction://hlinksldjump"/>
          </p:cNvPr>
          <p:cNvSpPr txBox="1"/>
          <p:nvPr/>
        </p:nvSpPr>
        <p:spPr>
          <a:xfrm>
            <a:off x="1280160" y="2656332"/>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3" action="ppaction://hlinksldjump" tooltip="Ir a El CMI completo: indicador, meta, responsable e iniciativa">
                  <a:extLst>
                    <a:ext uri="{A12FA001-AC4F-418D-AE19-62706E023703}">
                      <ahyp:hlinkClr xmlns:ahyp="http://schemas.microsoft.com/office/drawing/2018/hyperlinkcolor" val="tx"/>
                    </a:ext>
                  </a:extLst>
                </a:hlinkClick>
              </a:rPr>
              <a:t>El CMI completo: indicador, meta, responsable e iniciativa  (4 láminas)</a:t>
            </a:r>
            <a:endParaRPr lang="en-US" sz="1600" dirty="0"/>
          </a:p>
        </p:txBody>
      </p:sp>
      <p:sp>
        <p:nvSpPr>
          <p:cNvPr id="14" name="Text 12">
            <a:hlinkClick r:id="rId4" tooltip="Ir a El CMI completo: indicador, meta, responsable e iniciativa" action="ppaction://hlinksldjump"/>
          </p:cNvPr>
          <p:cNvSpPr txBox="1"/>
          <p:nvPr/>
        </p:nvSpPr>
        <p:spPr>
          <a:xfrm>
            <a:off x="10637215" y="2656332"/>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4" action="ppaction://hlinksldjump" tooltip="Ir a El CMI completo: indicador, meta, responsable e iniciativa">
                  <a:extLst>
                    <a:ext uri="{A12FA001-AC4F-418D-AE19-62706E023703}">
                      <ahyp:hlinkClr xmlns:ahyp="http://schemas.microsoft.com/office/drawing/2018/hyperlinkcolor" val="tx"/>
                    </a:ext>
                  </a:extLst>
                </a:hlinkClick>
              </a:rPr>
              <a:t>LÁM. 18</a:t>
            </a:r>
            <a:endParaRPr lang="en-US" sz="1300" dirty="0"/>
          </a:p>
        </p:txBody>
      </p:sp>
      <p:sp>
        <p:nvSpPr>
          <p:cNvPr id="15" name="Shape 13"/>
          <p:cNvSpPr/>
          <p:nvPr/>
        </p:nvSpPr>
        <p:spPr>
          <a:xfrm>
            <a:off x="548640" y="2971800"/>
            <a:ext cx="11094415" cy="0"/>
          </a:xfrm>
          <a:prstGeom prst="line">
            <a:avLst/>
          </a:prstGeom>
          <a:noFill/>
          <a:ln w="9525">
            <a:solidFill>
              <a:schemeClr val="accent5"/>
            </a:solidFill>
            <a:prstDash val="solid"/>
          </a:ln>
        </p:spPr>
      </p:sp>
      <p:sp>
        <p:nvSpPr>
          <p:cNvPr id="16" name="Shape 14"/>
          <p:cNvSpPr/>
          <p:nvPr/>
        </p:nvSpPr>
        <p:spPr>
          <a:xfrm>
            <a:off x="548640" y="3003804"/>
            <a:ext cx="566928" cy="251460"/>
          </a:xfrm>
          <a:prstGeom prst="rect">
            <a:avLst/>
          </a:prstGeom>
          <a:solidFill>
            <a:schemeClr val="accent1"/>
          </a:solidFill>
          <a:ln/>
        </p:spPr>
      </p:sp>
      <p:sp>
        <p:nvSpPr>
          <p:cNvPr id="17" name="Text 15"/>
          <p:cNvSpPr txBox="1"/>
          <p:nvPr/>
        </p:nvSpPr>
        <p:spPr>
          <a:xfrm>
            <a:off x="548640" y="3003804"/>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A3</a:t>
            </a:r>
            <a:endParaRPr lang="es-CL" sz="1200" dirty="0"/>
          </a:p>
        </p:txBody>
      </p:sp>
      <p:sp>
        <p:nvSpPr>
          <p:cNvPr id="18" name="Text 16">
            <a:hlinkClick r:id="rId5" tooltip="Ir a Las 20 relaciones, con mecanismo y prueba" action="ppaction://hlinksldjump"/>
          </p:cNvPr>
          <p:cNvSpPr txBox="1"/>
          <p:nvPr/>
        </p:nvSpPr>
        <p:spPr>
          <a:xfrm>
            <a:off x="1280160" y="2971800"/>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5" action="ppaction://hlinksldjump" tooltip="Ir a Las 20 relaciones, con mecanismo y prueba">
                  <a:extLst>
                    <a:ext uri="{A12FA001-AC4F-418D-AE19-62706E023703}">
                      <ahyp:hlinkClr xmlns:ahyp="http://schemas.microsoft.com/office/drawing/2018/hyperlinkcolor" val="tx"/>
                    </a:ext>
                  </a:extLst>
                </a:hlinkClick>
              </a:rPr>
              <a:t>Las 20 relaciones, con mecanismo y prueba  (2 láminas)</a:t>
            </a:r>
            <a:endParaRPr lang="en-US" sz="1600" dirty="0"/>
          </a:p>
        </p:txBody>
      </p:sp>
      <p:sp>
        <p:nvSpPr>
          <p:cNvPr id="19" name="Text 17">
            <a:hlinkClick r:id="rId6" tooltip="Ir a Las 20 relaciones, con mecanismo y prueba" action="ppaction://hlinksldjump"/>
          </p:cNvPr>
          <p:cNvSpPr txBox="1"/>
          <p:nvPr/>
        </p:nvSpPr>
        <p:spPr>
          <a:xfrm>
            <a:off x="10637215" y="2971800"/>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6" action="ppaction://hlinksldjump" tooltip="Ir a Las 20 relaciones, con mecanismo y prueba">
                  <a:extLst>
                    <a:ext uri="{A12FA001-AC4F-418D-AE19-62706E023703}">
                      <ahyp:hlinkClr xmlns:ahyp="http://schemas.microsoft.com/office/drawing/2018/hyperlinkcolor" val="tx"/>
                    </a:ext>
                  </a:extLst>
                </a:hlinkClick>
              </a:rPr>
              <a:t>LÁM. 22</a:t>
            </a:r>
            <a:endParaRPr lang="en-US" sz="1300" dirty="0"/>
          </a:p>
        </p:txBody>
      </p:sp>
      <p:sp>
        <p:nvSpPr>
          <p:cNvPr id="20" name="Shape 18"/>
          <p:cNvSpPr/>
          <p:nvPr/>
        </p:nvSpPr>
        <p:spPr>
          <a:xfrm>
            <a:off x="548640" y="3287268"/>
            <a:ext cx="11094415" cy="0"/>
          </a:xfrm>
          <a:prstGeom prst="line">
            <a:avLst/>
          </a:prstGeom>
          <a:noFill/>
          <a:ln w="9525">
            <a:solidFill>
              <a:schemeClr val="accent5"/>
            </a:solidFill>
            <a:prstDash val="solid"/>
          </a:ln>
        </p:spPr>
      </p:sp>
      <p:sp>
        <p:nvSpPr>
          <p:cNvPr id="21" name="Shape 19"/>
          <p:cNvSpPr/>
          <p:nvPr/>
        </p:nvSpPr>
        <p:spPr>
          <a:xfrm>
            <a:off x="548640" y="3319272"/>
            <a:ext cx="566928" cy="251460"/>
          </a:xfrm>
          <a:prstGeom prst="rect">
            <a:avLst/>
          </a:prstGeom>
          <a:solidFill>
            <a:schemeClr val="accent1"/>
          </a:solidFill>
          <a:ln/>
        </p:spPr>
      </p:sp>
      <p:sp>
        <p:nvSpPr>
          <p:cNvPr id="22" name="Text 20"/>
          <p:cNvSpPr txBox="1"/>
          <p:nvPr/>
        </p:nvSpPr>
        <p:spPr>
          <a:xfrm>
            <a:off x="548640" y="3319272"/>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A4</a:t>
            </a:r>
            <a:endParaRPr lang="es-CL" sz="1200" dirty="0"/>
          </a:p>
        </p:txBody>
      </p:sp>
      <p:sp>
        <p:nvSpPr>
          <p:cNvPr id="23" name="Text 21">
            <a:hlinkClick r:id="rId7" tooltip="Ir a ¿Por qué la rentabilidad se mide en dos etapas?" action="ppaction://hlinksldjump"/>
          </p:cNvPr>
          <p:cNvSpPr txBox="1"/>
          <p:nvPr/>
        </p:nvSpPr>
        <p:spPr>
          <a:xfrm>
            <a:off x="1280160" y="3287268"/>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7" action="ppaction://hlinksldjump" tooltip="Ir a ¿Por qué la rentabilidad se mide en dos etapas?">
                  <a:extLst>
                    <a:ext uri="{A12FA001-AC4F-418D-AE19-62706E023703}">
                      <ahyp:hlinkClr xmlns:ahyp="http://schemas.microsoft.com/office/drawing/2018/hyperlinkcolor" val="tx"/>
                    </a:ext>
                  </a:extLst>
                </a:hlinkClick>
              </a:rPr>
              <a:t>¿Por qué la rentabilidad se mide en dos etapas?</a:t>
            </a:r>
            <a:endParaRPr lang="en-US" sz="1600" dirty="0"/>
          </a:p>
        </p:txBody>
      </p:sp>
      <p:sp>
        <p:nvSpPr>
          <p:cNvPr id="24" name="Text 22">
            <a:hlinkClick r:id="rId8" tooltip="Ir a ¿Por qué la rentabilidad se mide en dos etapas?" action="ppaction://hlinksldjump"/>
          </p:cNvPr>
          <p:cNvSpPr txBox="1"/>
          <p:nvPr/>
        </p:nvSpPr>
        <p:spPr>
          <a:xfrm>
            <a:off x="10637215" y="3287268"/>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8" action="ppaction://hlinksldjump" tooltip="Ir a ¿Por qué la rentabilidad se mide en dos etapas?">
                  <a:extLst>
                    <a:ext uri="{A12FA001-AC4F-418D-AE19-62706E023703}">
                      <ahyp:hlinkClr xmlns:ahyp="http://schemas.microsoft.com/office/drawing/2018/hyperlinkcolor" val="tx"/>
                    </a:ext>
                  </a:extLst>
                </a:hlinkClick>
              </a:rPr>
              <a:t>LÁM. 24</a:t>
            </a:r>
            <a:endParaRPr lang="en-US" sz="1300" dirty="0"/>
          </a:p>
        </p:txBody>
      </p:sp>
      <p:sp>
        <p:nvSpPr>
          <p:cNvPr id="25" name="Shape 23"/>
          <p:cNvSpPr/>
          <p:nvPr/>
        </p:nvSpPr>
        <p:spPr>
          <a:xfrm>
            <a:off x="548640" y="3602736"/>
            <a:ext cx="11094415" cy="0"/>
          </a:xfrm>
          <a:prstGeom prst="line">
            <a:avLst/>
          </a:prstGeom>
          <a:noFill/>
          <a:ln w="9525">
            <a:solidFill>
              <a:schemeClr val="accent5"/>
            </a:solidFill>
            <a:prstDash val="solid"/>
          </a:ln>
        </p:spPr>
      </p:sp>
      <p:sp>
        <p:nvSpPr>
          <p:cNvPr id="26" name="Shape 24"/>
          <p:cNvSpPr/>
          <p:nvPr/>
        </p:nvSpPr>
        <p:spPr>
          <a:xfrm>
            <a:off x="548640" y="3634740"/>
            <a:ext cx="566928" cy="251460"/>
          </a:xfrm>
          <a:prstGeom prst="rect">
            <a:avLst/>
          </a:prstGeom>
          <a:solidFill>
            <a:schemeClr val="accent1"/>
          </a:solidFill>
          <a:ln/>
        </p:spPr>
      </p:sp>
      <p:sp>
        <p:nvSpPr>
          <p:cNvPr id="27" name="Text 25"/>
          <p:cNvSpPr txBox="1"/>
          <p:nvPr/>
        </p:nvSpPr>
        <p:spPr>
          <a:xfrm>
            <a:off x="548640" y="3634740"/>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A5</a:t>
            </a:r>
            <a:endParaRPr lang="es-CL" sz="1200" dirty="0"/>
          </a:p>
        </p:txBody>
      </p:sp>
      <p:sp>
        <p:nvSpPr>
          <p:cNvPr id="28" name="Text 26">
            <a:hlinkClick r:id="rId9" tooltip="Ir a ¿Qué tan sensible es el umbral al ahorro real?" action="ppaction://hlinksldjump"/>
          </p:cNvPr>
          <p:cNvSpPr txBox="1"/>
          <p:nvPr/>
        </p:nvSpPr>
        <p:spPr>
          <a:xfrm>
            <a:off x="1280160" y="3602736"/>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9" action="ppaction://hlinksldjump" tooltip="Ir a ¿Qué tan sensible es el umbral al ahorro real?">
                  <a:extLst>
                    <a:ext uri="{A12FA001-AC4F-418D-AE19-62706E023703}">
                      <ahyp:hlinkClr xmlns:ahyp="http://schemas.microsoft.com/office/drawing/2018/hyperlinkcolor" val="tx"/>
                    </a:ext>
                  </a:extLst>
                </a:hlinkClick>
              </a:rPr>
              <a:t>¿Qué tan sensible es el umbral al ahorro real?</a:t>
            </a:r>
            <a:endParaRPr lang="en-US" sz="1600" dirty="0"/>
          </a:p>
        </p:txBody>
      </p:sp>
      <p:sp>
        <p:nvSpPr>
          <p:cNvPr id="29" name="Text 27">
            <a:hlinkClick r:id="rId10" tooltip="Ir a ¿Qué tan sensible es el umbral al ahorro real?" action="ppaction://hlinksldjump"/>
          </p:cNvPr>
          <p:cNvSpPr txBox="1"/>
          <p:nvPr/>
        </p:nvSpPr>
        <p:spPr>
          <a:xfrm>
            <a:off x="10637215" y="3602736"/>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0" action="ppaction://hlinksldjump" tooltip="Ir a ¿Qué tan sensible es el umbral al ahorro real?">
                  <a:extLst>
                    <a:ext uri="{A12FA001-AC4F-418D-AE19-62706E023703}">
                      <ahyp:hlinkClr xmlns:ahyp="http://schemas.microsoft.com/office/drawing/2018/hyperlinkcolor" val="tx"/>
                    </a:ext>
                  </a:extLst>
                </a:hlinkClick>
              </a:rPr>
              <a:t>LÁM. 25</a:t>
            </a:r>
            <a:endParaRPr lang="en-US" sz="1300" dirty="0"/>
          </a:p>
        </p:txBody>
      </p:sp>
      <p:sp>
        <p:nvSpPr>
          <p:cNvPr id="30" name="Shape 28"/>
          <p:cNvSpPr/>
          <p:nvPr/>
        </p:nvSpPr>
        <p:spPr>
          <a:xfrm>
            <a:off x="548640" y="3918204"/>
            <a:ext cx="11094415" cy="0"/>
          </a:xfrm>
          <a:prstGeom prst="line">
            <a:avLst/>
          </a:prstGeom>
          <a:noFill/>
          <a:ln w="9525">
            <a:solidFill>
              <a:schemeClr val="accent5"/>
            </a:solidFill>
            <a:prstDash val="solid"/>
          </a:ln>
        </p:spPr>
      </p:sp>
      <p:sp>
        <p:nvSpPr>
          <p:cNvPr id="31" name="Shape 29"/>
          <p:cNvSpPr/>
          <p:nvPr/>
        </p:nvSpPr>
        <p:spPr>
          <a:xfrm>
            <a:off x="548640" y="3950208"/>
            <a:ext cx="566928" cy="251460"/>
          </a:xfrm>
          <a:prstGeom prst="rect">
            <a:avLst/>
          </a:prstGeom>
          <a:solidFill>
            <a:schemeClr val="accent1"/>
          </a:solidFill>
          <a:ln/>
        </p:spPr>
      </p:sp>
      <p:sp>
        <p:nvSpPr>
          <p:cNvPr id="32" name="Text 30"/>
          <p:cNvSpPr txBox="1"/>
          <p:nvPr/>
        </p:nvSpPr>
        <p:spPr>
          <a:xfrm>
            <a:off x="548640" y="3950208"/>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A6</a:t>
            </a:r>
            <a:endParaRPr lang="es-CL" sz="1200" dirty="0"/>
          </a:p>
        </p:txBody>
      </p:sp>
      <p:sp>
        <p:nvSpPr>
          <p:cNvPr id="33" name="Text 31">
            <a:hlinkClick r:id="rId11" tooltip="Ir a PEST y cinco fuerzas, con su cálculo" action="ppaction://hlinksldjump"/>
          </p:cNvPr>
          <p:cNvSpPr txBox="1"/>
          <p:nvPr/>
        </p:nvSpPr>
        <p:spPr>
          <a:xfrm>
            <a:off x="1280160" y="3918204"/>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11" action="ppaction://hlinksldjump" tooltip="Ir a PEST y cinco fuerzas, con su cálculo">
                  <a:extLst>
                    <a:ext uri="{A12FA001-AC4F-418D-AE19-62706E023703}">
                      <ahyp:hlinkClr xmlns:ahyp="http://schemas.microsoft.com/office/drawing/2018/hyperlinkcolor" val="tx"/>
                    </a:ext>
                  </a:extLst>
                </a:hlinkClick>
              </a:rPr>
              <a:t>PEST y cinco fuerzas, con su cálculo  (2 láminas)</a:t>
            </a:r>
            <a:endParaRPr lang="en-US" sz="1600" dirty="0"/>
          </a:p>
        </p:txBody>
      </p:sp>
      <p:sp>
        <p:nvSpPr>
          <p:cNvPr id="34" name="Text 32">
            <a:hlinkClick r:id="rId12" tooltip="Ir a PEST y cinco fuerzas, con su cálculo" action="ppaction://hlinksldjump"/>
          </p:cNvPr>
          <p:cNvSpPr txBox="1"/>
          <p:nvPr/>
        </p:nvSpPr>
        <p:spPr>
          <a:xfrm>
            <a:off x="10637215" y="3918204"/>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2" action="ppaction://hlinksldjump" tooltip="Ir a PEST y cinco fuerzas, con su cálculo">
                  <a:extLst>
                    <a:ext uri="{A12FA001-AC4F-418D-AE19-62706E023703}">
                      <ahyp:hlinkClr xmlns:ahyp="http://schemas.microsoft.com/office/drawing/2018/hyperlinkcolor" val="tx"/>
                    </a:ext>
                  </a:extLst>
                </a:hlinkClick>
              </a:rPr>
              <a:t>LÁM. 26</a:t>
            </a:r>
            <a:endParaRPr lang="en-US" sz="1300" dirty="0"/>
          </a:p>
        </p:txBody>
      </p:sp>
      <p:sp>
        <p:nvSpPr>
          <p:cNvPr id="35" name="Shape 33"/>
          <p:cNvSpPr/>
          <p:nvPr/>
        </p:nvSpPr>
        <p:spPr>
          <a:xfrm>
            <a:off x="548640" y="4233672"/>
            <a:ext cx="11094415" cy="0"/>
          </a:xfrm>
          <a:prstGeom prst="line">
            <a:avLst/>
          </a:prstGeom>
          <a:noFill/>
          <a:ln w="9525">
            <a:solidFill>
              <a:schemeClr val="accent5"/>
            </a:solidFill>
            <a:prstDash val="solid"/>
          </a:ln>
        </p:spPr>
      </p:sp>
      <p:sp>
        <p:nvSpPr>
          <p:cNvPr id="36" name="Shape 34"/>
          <p:cNvSpPr/>
          <p:nvPr/>
        </p:nvSpPr>
        <p:spPr>
          <a:xfrm>
            <a:off x="548640" y="4265676"/>
            <a:ext cx="566928" cy="251460"/>
          </a:xfrm>
          <a:prstGeom prst="rect">
            <a:avLst/>
          </a:prstGeom>
          <a:solidFill>
            <a:schemeClr val="accent1"/>
          </a:solidFill>
          <a:ln/>
        </p:spPr>
      </p:sp>
      <p:sp>
        <p:nvSpPr>
          <p:cNvPr id="37" name="Text 35"/>
          <p:cNvSpPr txBox="1"/>
          <p:nvPr/>
        </p:nvSpPr>
        <p:spPr>
          <a:xfrm>
            <a:off x="548640" y="4265676"/>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A7</a:t>
            </a:r>
            <a:endParaRPr lang="es-CL" sz="1200" dirty="0"/>
          </a:p>
        </p:txBody>
      </p:sp>
      <p:sp>
        <p:nvSpPr>
          <p:cNvPr id="38" name="Text 36">
            <a:hlinkClick r:id="rId13" tooltip="Ir a Recursos, capacidades y factores críticos" action="ppaction://hlinksldjump"/>
          </p:cNvPr>
          <p:cNvSpPr txBox="1"/>
          <p:nvPr/>
        </p:nvSpPr>
        <p:spPr>
          <a:xfrm>
            <a:off x="1280160" y="4233672"/>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13" action="ppaction://hlinksldjump" tooltip="Ir a Recursos, capacidades y factores críticos">
                  <a:extLst>
                    <a:ext uri="{A12FA001-AC4F-418D-AE19-62706E023703}">
                      <ahyp:hlinkClr xmlns:ahyp="http://schemas.microsoft.com/office/drawing/2018/hyperlinkcolor" val="tx"/>
                    </a:ext>
                  </a:extLst>
                </a:hlinkClick>
              </a:rPr>
              <a:t>Recursos, capacidades y factores críticos  (2 láminas)</a:t>
            </a:r>
            <a:endParaRPr lang="en-US" sz="1600" dirty="0"/>
          </a:p>
        </p:txBody>
      </p:sp>
      <p:sp>
        <p:nvSpPr>
          <p:cNvPr id="39" name="Text 37">
            <a:hlinkClick r:id="rId14" tooltip="Ir a Recursos, capacidades y factores críticos" action="ppaction://hlinksldjump"/>
          </p:cNvPr>
          <p:cNvSpPr txBox="1"/>
          <p:nvPr/>
        </p:nvSpPr>
        <p:spPr>
          <a:xfrm>
            <a:off x="10637215" y="4233672"/>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4" action="ppaction://hlinksldjump" tooltip="Ir a Recursos, capacidades y factores críticos">
                  <a:extLst>
                    <a:ext uri="{A12FA001-AC4F-418D-AE19-62706E023703}">
                      <ahyp:hlinkClr xmlns:ahyp="http://schemas.microsoft.com/office/drawing/2018/hyperlinkcolor" val="tx"/>
                    </a:ext>
                  </a:extLst>
                </a:hlinkClick>
              </a:rPr>
              <a:t>LÁM. 28</a:t>
            </a:r>
            <a:endParaRPr lang="en-US" sz="1300" dirty="0"/>
          </a:p>
        </p:txBody>
      </p:sp>
      <p:sp>
        <p:nvSpPr>
          <p:cNvPr id="40" name="Shape 38"/>
          <p:cNvSpPr/>
          <p:nvPr/>
        </p:nvSpPr>
        <p:spPr>
          <a:xfrm>
            <a:off x="548640" y="4549140"/>
            <a:ext cx="11094415" cy="0"/>
          </a:xfrm>
          <a:prstGeom prst="line">
            <a:avLst/>
          </a:prstGeom>
          <a:noFill/>
          <a:ln w="9525">
            <a:solidFill>
              <a:schemeClr val="accent5"/>
            </a:solidFill>
            <a:prstDash val="solid"/>
          </a:ln>
        </p:spPr>
      </p:sp>
      <p:sp>
        <p:nvSpPr>
          <p:cNvPr id="41" name="Shape 39"/>
          <p:cNvSpPr/>
          <p:nvPr/>
        </p:nvSpPr>
        <p:spPr>
          <a:xfrm>
            <a:off x="548640" y="4581144"/>
            <a:ext cx="566928" cy="251460"/>
          </a:xfrm>
          <a:prstGeom prst="rect">
            <a:avLst/>
          </a:prstGeom>
          <a:solidFill>
            <a:schemeClr val="accent1"/>
          </a:solidFill>
          <a:ln/>
        </p:spPr>
      </p:sp>
      <p:sp>
        <p:nvSpPr>
          <p:cNvPr id="42" name="Text 40"/>
          <p:cNvSpPr txBox="1"/>
          <p:nvPr/>
        </p:nvSpPr>
        <p:spPr>
          <a:xfrm>
            <a:off x="548640" y="4581144"/>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A8</a:t>
            </a:r>
            <a:endParaRPr lang="es-CL" sz="1200" dirty="0"/>
          </a:p>
        </p:txBody>
      </p:sp>
      <p:sp>
        <p:nvSpPr>
          <p:cNvPr id="43" name="Text 41">
            <a:hlinkClick r:id="rId15" tooltip="Ir a ¿Cómo se compara Lumine con sus competidores?" action="ppaction://hlinksldjump"/>
          </p:cNvPr>
          <p:cNvSpPr txBox="1"/>
          <p:nvPr/>
        </p:nvSpPr>
        <p:spPr>
          <a:xfrm>
            <a:off x="1280160" y="4549140"/>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15" action="ppaction://hlinksldjump" tooltip="Ir a ¿Cómo se compara Lumine con sus competidores?">
                  <a:extLst>
                    <a:ext uri="{A12FA001-AC4F-418D-AE19-62706E023703}">
                      <ahyp:hlinkClr xmlns:ahyp="http://schemas.microsoft.com/office/drawing/2018/hyperlinkcolor" val="tx"/>
                    </a:ext>
                  </a:extLst>
                </a:hlinkClick>
              </a:rPr>
              <a:t>¿Cómo se compara Lumine con sus competidores?</a:t>
            </a:r>
            <a:endParaRPr lang="en-US" sz="1600" dirty="0"/>
          </a:p>
        </p:txBody>
      </p:sp>
      <p:sp>
        <p:nvSpPr>
          <p:cNvPr id="44" name="Text 42">
            <a:hlinkClick r:id="rId16" tooltip="Ir a ¿Cómo se compara Lumine con sus competidores?" action="ppaction://hlinksldjump"/>
          </p:cNvPr>
          <p:cNvSpPr txBox="1"/>
          <p:nvPr/>
        </p:nvSpPr>
        <p:spPr>
          <a:xfrm>
            <a:off x="10637215" y="4549140"/>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6" action="ppaction://hlinksldjump" tooltip="Ir a ¿Cómo se compara Lumine con sus competidores?">
                  <a:extLst>
                    <a:ext uri="{A12FA001-AC4F-418D-AE19-62706E023703}">
                      <ahyp:hlinkClr xmlns:ahyp="http://schemas.microsoft.com/office/drawing/2018/hyperlinkcolor" val="tx"/>
                    </a:ext>
                  </a:extLst>
                </a:hlinkClick>
              </a:rPr>
              <a:t>LÁM. 30</a:t>
            </a:r>
            <a:endParaRPr lang="en-US" sz="1300" dirty="0"/>
          </a:p>
        </p:txBody>
      </p:sp>
      <p:sp>
        <p:nvSpPr>
          <p:cNvPr id="45" name="Shape 43"/>
          <p:cNvSpPr/>
          <p:nvPr/>
        </p:nvSpPr>
        <p:spPr>
          <a:xfrm>
            <a:off x="548640" y="4864608"/>
            <a:ext cx="11094415" cy="0"/>
          </a:xfrm>
          <a:prstGeom prst="line">
            <a:avLst/>
          </a:prstGeom>
          <a:noFill/>
          <a:ln w="9525">
            <a:solidFill>
              <a:schemeClr val="accent5"/>
            </a:solidFill>
            <a:prstDash val="solid"/>
          </a:ln>
        </p:spPr>
      </p:sp>
      <p:sp>
        <p:nvSpPr>
          <p:cNvPr id="46" name="Shape 44"/>
          <p:cNvSpPr/>
          <p:nvPr/>
        </p:nvSpPr>
        <p:spPr>
          <a:xfrm>
            <a:off x="548640" y="4896612"/>
            <a:ext cx="566928" cy="251460"/>
          </a:xfrm>
          <a:prstGeom prst="rect">
            <a:avLst/>
          </a:prstGeom>
          <a:solidFill>
            <a:schemeClr val="accent1"/>
          </a:solidFill>
          <a:ln/>
        </p:spPr>
      </p:sp>
      <p:sp>
        <p:nvSpPr>
          <p:cNvPr id="47" name="Text 45"/>
          <p:cNvSpPr txBox="1"/>
          <p:nvPr/>
        </p:nvSpPr>
        <p:spPr>
          <a:xfrm>
            <a:off x="548640" y="4896612"/>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A9</a:t>
            </a:r>
            <a:endParaRPr lang="es-CL" sz="1200" dirty="0"/>
          </a:p>
        </p:txBody>
      </p:sp>
      <p:sp>
        <p:nvSpPr>
          <p:cNvPr id="48" name="Text 46">
            <a:hlinkClick r:id="rId17" tooltip="Ir a FODA completo, con su evidencia" action="ppaction://hlinksldjump"/>
          </p:cNvPr>
          <p:cNvSpPr txBox="1"/>
          <p:nvPr/>
        </p:nvSpPr>
        <p:spPr>
          <a:xfrm>
            <a:off x="1280160" y="4864608"/>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17" action="ppaction://hlinksldjump" tooltip="Ir a FODA completo, con su evidencia">
                  <a:extLst>
                    <a:ext uri="{A12FA001-AC4F-418D-AE19-62706E023703}">
                      <ahyp:hlinkClr xmlns:ahyp="http://schemas.microsoft.com/office/drawing/2018/hyperlinkcolor" val="tx"/>
                    </a:ext>
                  </a:extLst>
                </a:hlinkClick>
              </a:rPr>
              <a:t>FODA completo, con su evidencia</a:t>
            </a:r>
            <a:endParaRPr lang="en-US" sz="1600" dirty="0"/>
          </a:p>
        </p:txBody>
      </p:sp>
      <p:sp>
        <p:nvSpPr>
          <p:cNvPr id="49" name="Text 47">
            <a:hlinkClick r:id="rId18" tooltip="Ir a FODA completo, con su evidencia" action="ppaction://hlinksldjump"/>
          </p:cNvPr>
          <p:cNvSpPr txBox="1"/>
          <p:nvPr/>
        </p:nvSpPr>
        <p:spPr>
          <a:xfrm>
            <a:off x="10637215" y="4864608"/>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18" action="ppaction://hlinksldjump" tooltip="Ir a FODA completo, con su evidencia">
                  <a:extLst>
                    <a:ext uri="{A12FA001-AC4F-418D-AE19-62706E023703}">
                      <ahyp:hlinkClr xmlns:ahyp="http://schemas.microsoft.com/office/drawing/2018/hyperlinkcolor" val="tx"/>
                    </a:ext>
                  </a:extLst>
                </a:hlinkClick>
              </a:rPr>
              <a:t>LÁM. 31</a:t>
            </a:r>
            <a:endParaRPr lang="en-US" sz="1300" dirty="0"/>
          </a:p>
        </p:txBody>
      </p:sp>
      <p:sp>
        <p:nvSpPr>
          <p:cNvPr id="50" name="Shape 48"/>
          <p:cNvSpPr/>
          <p:nvPr/>
        </p:nvSpPr>
        <p:spPr>
          <a:xfrm>
            <a:off x="548640" y="5180076"/>
            <a:ext cx="11094415" cy="0"/>
          </a:xfrm>
          <a:prstGeom prst="line">
            <a:avLst/>
          </a:prstGeom>
          <a:noFill/>
          <a:ln w="9525">
            <a:solidFill>
              <a:schemeClr val="accent5"/>
            </a:solidFill>
            <a:prstDash val="solid"/>
          </a:ln>
        </p:spPr>
      </p:sp>
      <p:sp>
        <p:nvSpPr>
          <p:cNvPr id="51" name="Shape 49"/>
          <p:cNvSpPr/>
          <p:nvPr/>
        </p:nvSpPr>
        <p:spPr>
          <a:xfrm>
            <a:off x="548640" y="5212080"/>
            <a:ext cx="566928" cy="251460"/>
          </a:xfrm>
          <a:prstGeom prst="rect">
            <a:avLst/>
          </a:prstGeom>
          <a:solidFill>
            <a:schemeClr val="accent1"/>
          </a:solidFill>
          <a:ln/>
        </p:spPr>
      </p:sp>
      <p:sp>
        <p:nvSpPr>
          <p:cNvPr id="52" name="Text 50"/>
          <p:cNvSpPr txBox="1"/>
          <p:nvPr/>
        </p:nvSpPr>
        <p:spPr>
          <a:xfrm>
            <a:off x="548640" y="5212080"/>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A10</a:t>
            </a:r>
            <a:endParaRPr lang="es-CL" sz="1200" dirty="0"/>
          </a:p>
        </p:txBody>
      </p:sp>
      <p:sp>
        <p:nvSpPr>
          <p:cNvPr id="53" name="Text 51">
            <a:hlinkClick r:id="rId19" tooltip="Ir a Misión, visión y valores literales" action="ppaction://hlinksldjump"/>
          </p:cNvPr>
          <p:cNvSpPr txBox="1"/>
          <p:nvPr/>
        </p:nvSpPr>
        <p:spPr>
          <a:xfrm>
            <a:off x="1280160" y="5180076"/>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19" action="ppaction://hlinksldjump" tooltip="Ir a Misión, visión y valores literales">
                  <a:extLst>
                    <a:ext uri="{A12FA001-AC4F-418D-AE19-62706E023703}">
                      <ahyp:hlinkClr xmlns:ahyp="http://schemas.microsoft.com/office/drawing/2018/hyperlinkcolor" val="tx"/>
                    </a:ext>
                  </a:extLst>
                </a:hlinkClick>
              </a:rPr>
              <a:t>Misión, visión y valores literales</a:t>
            </a:r>
            <a:endParaRPr lang="en-US" sz="1600" dirty="0"/>
          </a:p>
        </p:txBody>
      </p:sp>
      <p:sp>
        <p:nvSpPr>
          <p:cNvPr id="54" name="Text 52">
            <a:hlinkClick r:id="rId20" tooltip="Ir a Misión, visión y valores literales" action="ppaction://hlinksldjump"/>
          </p:cNvPr>
          <p:cNvSpPr txBox="1"/>
          <p:nvPr/>
        </p:nvSpPr>
        <p:spPr>
          <a:xfrm>
            <a:off x="10637215" y="5180076"/>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20" action="ppaction://hlinksldjump" tooltip="Ir a Misión, visión y valores literales">
                  <a:extLst>
                    <a:ext uri="{A12FA001-AC4F-418D-AE19-62706E023703}">
                      <ahyp:hlinkClr xmlns:ahyp="http://schemas.microsoft.com/office/drawing/2018/hyperlinkcolor" val="tx"/>
                    </a:ext>
                  </a:extLst>
                </a:hlinkClick>
              </a:rPr>
              <a:t>LÁM. 32</a:t>
            </a:r>
            <a:endParaRPr lang="en-US" sz="1300" dirty="0"/>
          </a:p>
        </p:txBody>
      </p:sp>
      <p:sp>
        <p:nvSpPr>
          <p:cNvPr id="55" name="Shape 53"/>
          <p:cNvSpPr/>
          <p:nvPr/>
        </p:nvSpPr>
        <p:spPr>
          <a:xfrm>
            <a:off x="548640" y="5495544"/>
            <a:ext cx="11094415" cy="0"/>
          </a:xfrm>
          <a:prstGeom prst="line">
            <a:avLst/>
          </a:prstGeom>
          <a:noFill/>
          <a:ln w="9525">
            <a:solidFill>
              <a:schemeClr val="accent5"/>
            </a:solidFill>
            <a:prstDash val="solid"/>
          </a:ln>
        </p:spPr>
      </p:sp>
      <p:sp>
        <p:nvSpPr>
          <p:cNvPr id="56" name="Shape 54"/>
          <p:cNvSpPr/>
          <p:nvPr/>
        </p:nvSpPr>
        <p:spPr>
          <a:xfrm>
            <a:off x="548640" y="5527548"/>
            <a:ext cx="566928" cy="251460"/>
          </a:xfrm>
          <a:prstGeom prst="rect">
            <a:avLst/>
          </a:prstGeom>
          <a:solidFill>
            <a:schemeClr val="accent1"/>
          </a:solidFill>
          <a:ln/>
        </p:spPr>
      </p:sp>
      <p:sp>
        <p:nvSpPr>
          <p:cNvPr id="57" name="Text 55"/>
          <p:cNvSpPr txBox="1"/>
          <p:nvPr/>
        </p:nvSpPr>
        <p:spPr>
          <a:xfrm>
            <a:off x="548640" y="5527548"/>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A11</a:t>
            </a:r>
            <a:endParaRPr lang="es-CL" sz="1200" dirty="0"/>
          </a:p>
        </p:txBody>
      </p:sp>
      <p:sp>
        <p:nvSpPr>
          <p:cNvPr id="58" name="Text 56">
            <a:hlinkClick r:id="rId21" tooltip="Ir a ¿De dónde sale cada cifra?" action="ppaction://hlinksldjump"/>
          </p:cNvPr>
          <p:cNvSpPr txBox="1"/>
          <p:nvPr/>
        </p:nvSpPr>
        <p:spPr>
          <a:xfrm>
            <a:off x="1280160" y="5495544"/>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21" action="ppaction://hlinksldjump" tooltip="Ir a ¿De dónde sale cada cifra?">
                  <a:extLst>
                    <a:ext uri="{A12FA001-AC4F-418D-AE19-62706E023703}">
                      <ahyp:hlinkClr xmlns:ahyp="http://schemas.microsoft.com/office/drawing/2018/hyperlinkcolor" val="tx"/>
                    </a:ext>
                  </a:extLst>
                </a:hlinkClick>
              </a:rPr>
              <a:t>¿De dónde sale cada cifra?</a:t>
            </a:r>
            <a:endParaRPr lang="en-US" sz="1600" dirty="0"/>
          </a:p>
        </p:txBody>
      </p:sp>
      <p:sp>
        <p:nvSpPr>
          <p:cNvPr id="59" name="Text 57">
            <a:hlinkClick r:id="rId22" tooltip="Ir a ¿De dónde sale cada cifra?" action="ppaction://hlinksldjump"/>
          </p:cNvPr>
          <p:cNvSpPr txBox="1"/>
          <p:nvPr/>
        </p:nvSpPr>
        <p:spPr>
          <a:xfrm>
            <a:off x="10637215" y="5495544"/>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22" action="ppaction://hlinksldjump" tooltip="Ir a ¿De dónde sale cada cifra?">
                  <a:extLst>
                    <a:ext uri="{A12FA001-AC4F-418D-AE19-62706E023703}">
                      <ahyp:hlinkClr xmlns:ahyp="http://schemas.microsoft.com/office/drawing/2018/hyperlinkcolor" val="tx"/>
                    </a:ext>
                  </a:extLst>
                </a:hlinkClick>
              </a:rPr>
              <a:t>LÁM. 33</a:t>
            </a:r>
            <a:endParaRPr lang="en-US" sz="1300" dirty="0"/>
          </a:p>
        </p:txBody>
      </p:sp>
      <p:sp>
        <p:nvSpPr>
          <p:cNvPr id="60" name="Shape 58"/>
          <p:cNvSpPr/>
          <p:nvPr/>
        </p:nvSpPr>
        <p:spPr>
          <a:xfrm>
            <a:off x="548640" y="5811012"/>
            <a:ext cx="11094415" cy="0"/>
          </a:xfrm>
          <a:prstGeom prst="line">
            <a:avLst/>
          </a:prstGeom>
          <a:noFill/>
          <a:ln w="9525">
            <a:solidFill>
              <a:schemeClr val="accent5"/>
            </a:solidFill>
            <a:prstDash val="solid"/>
          </a:ln>
        </p:spPr>
      </p:sp>
      <p:sp>
        <p:nvSpPr>
          <p:cNvPr id="61" name="Shape 59"/>
          <p:cNvSpPr/>
          <p:nvPr/>
        </p:nvSpPr>
        <p:spPr>
          <a:xfrm>
            <a:off x="548640" y="5843016"/>
            <a:ext cx="566928" cy="251460"/>
          </a:xfrm>
          <a:prstGeom prst="rect">
            <a:avLst/>
          </a:prstGeom>
          <a:solidFill>
            <a:schemeClr val="accent1"/>
          </a:solidFill>
          <a:ln/>
        </p:spPr>
      </p:sp>
      <p:sp>
        <p:nvSpPr>
          <p:cNvPr id="62" name="Text 60"/>
          <p:cNvSpPr txBox="1"/>
          <p:nvPr/>
        </p:nvSpPr>
        <p:spPr>
          <a:xfrm>
            <a:off x="548640" y="5843016"/>
            <a:ext cx="566928" cy="251460"/>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A12</a:t>
            </a:r>
            <a:endParaRPr lang="es-CL" sz="1200" dirty="0"/>
          </a:p>
        </p:txBody>
      </p:sp>
      <p:sp>
        <p:nvSpPr>
          <p:cNvPr id="63" name="Text 61">
            <a:hlinkClick r:id="rId23" tooltip="Ir a ¿Qué es dato, estimación o supuesto?" action="ppaction://hlinksldjump"/>
          </p:cNvPr>
          <p:cNvSpPr txBox="1"/>
          <p:nvPr/>
        </p:nvSpPr>
        <p:spPr>
          <a:xfrm>
            <a:off x="1280160" y="5811012"/>
            <a:ext cx="9265615" cy="315468"/>
          </a:xfrm>
          <a:prstGeom prst="rect">
            <a:avLst/>
          </a:prstGeom>
          <a:noFill/>
          <a:ln/>
        </p:spPr>
        <p:txBody>
          <a:bodyPr wrap="square" lIns="0" tIns="0" rIns="0" bIns="0" rtlCol="0" anchor="ctr"/>
          <a:lstStyle/>
          <a:p>
            <a:pPr indent="0" marL="0">
              <a:buNone/>
            </a:pPr>
            <a:r>
              <a:rPr lang="en-US" sz="1600" u="sng" dirty="0">
                <a:solidFill>
                  <a:schemeClr val="tx1"/>
                </a:solidFill>
                <a:latin typeface="Figtree" pitchFamily="34" charset="0"/>
                <a:ea typeface="Figtree" pitchFamily="34" charset="-122"/>
                <a:cs typeface="Figtree" pitchFamily="34" charset="-120"/>
                <a:hlinkClick r:id="rId23" action="ppaction://hlinksldjump" tooltip="Ir a ¿Qué es dato, estimación o supuesto?">
                  <a:extLst>
                    <a:ext uri="{A12FA001-AC4F-418D-AE19-62706E023703}">
                      <ahyp:hlinkClr xmlns:ahyp="http://schemas.microsoft.com/office/drawing/2018/hyperlinkcolor" val="tx"/>
                    </a:ext>
                  </a:extLst>
                </a:hlinkClick>
              </a:rPr>
              <a:t>¿Qué es dato, estimación o supuesto?</a:t>
            </a:r>
            <a:endParaRPr lang="en-US" sz="1600" dirty="0"/>
          </a:p>
        </p:txBody>
      </p:sp>
      <p:sp>
        <p:nvSpPr>
          <p:cNvPr id="64" name="Text 62">
            <a:hlinkClick r:id="rId24" tooltip="Ir a ¿Qué es dato, estimación o supuesto?" action="ppaction://hlinksldjump"/>
          </p:cNvPr>
          <p:cNvSpPr txBox="1"/>
          <p:nvPr/>
        </p:nvSpPr>
        <p:spPr>
          <a:xfrm>
            <a:off x="10637215" y="5811012"/>
            <a:ext cx="1005840" cy="315468"/>
          </a:xfrm>
          <a:prstGeom prst="rect">
            <a:avLst/>
          </a:prstGeom>
          <a:noFill/>
          <a:ln/>
        </p:spPr>
        <p:txBody>
          <a:bodyPr wrap="square" lIns="0" tIns="0" rIns="0" bIns="0" rtlCol="0" anchor="ctr"/>
          <a:lstStyle/>
          <a:p>
            <a:pPr algn="r" indent="0" marL="0">
              <a:buNone/>
            </a:pPr>
            <a:r>
              <a:rPr lang="en-US" sz="1300" u="sng" spc="100" kern="0" dirty="0">
                <a:solidFill>
                  <a:schemeClr val="accent1"/>
                </a:solidFill>
                <a:latin typeface="IBM Plex Mono" pitchFamily="34" charset="0"/>
                <a:ea typeface="IBM Plex Mono" pitchFamily="34" charset="-122"/>
                <a:cs typeface="IBM Plex Mono" pitchFamily="34" charset="-120"/>
                <a:hlinkClick r:id="rId24" action="ppaction://hlinksldjump" tooltip="Ir a ¿Qué es dato, estimación o supuesto?">
                  <a:extLst>
                    <a:ext uri="{A12FA001-AC4F-418D-AE19-62706E023703}">
                      <ahyp:hlinkClr xmlns:ahyp="http://schemas.microsoft.com/office/drawing/2018/hyperlinkcolor" val="tx"/>
                    </a:ext>
                  </a:extLst>
                </a:hlinkClick>
              </a:rPr>
              <a:t>LÁM. 34</a:t>
            </a:r>
            <a:endParaRPr lang="en-US" sz="1300" dirty="0"/>
          </a:p>
        </p:txBody>
      </p:sp>
      <p:sp>
        <p:nvSpPr>
          <p:cNvPr id="65" name="Shape 63"/>
          <p:cNvSpPr/>
          <p:nvPr/>
        </p:nvSpPr>
        <p:spPr>
          <a:xfrm>
            <a:off x="548640" y="6126480"/>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A1</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CMI · FICHA DEL INDICADOR Y ESTADOS</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UN INDICADOR VALE POR SU FICHA;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sin medir no es no cumplir.</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ficha y estados del tablero según el informe final (sección 9.4).</a:t>
            </a:r>
            <a:endParaRPr lang="es-CL" sz="1100" dirty="0"/>
          </a:p>
        </p:txBody>
      </p:sp>
      <p:sp>
        <p:nvSpPr>
          <p:cNvPr id="6" name="Text 4"/>
          <p:cNvSpPr txBox="1"/>
          <p:nvPr/>
        </p:nvSpPr>
        <p:spPr>
          <a:xfrm>
            <a:off x="548640" y="2395728"/>
            <a:ext cx="6675120" cy="274320"/>
          </a:xfrm>
          <a:prstGeom prst="rect">
            <a:avLst/>
          </a:prstGeom>
          <a:noFill/>
          <a:ln/>
        </p:spPr>
        <p:txBody>
          <a:bodyPr wrap="square" lIns="0" tIns="0" rIns="0" bIns="0" rtlCol="0" anchor="t"/>
          <a:lstStyle/>
          <a:p>
            <a:pPr indent="0" marL="0">
              <a:buNone/>
            </a:pPr>
            <a:r>
              <a:rPr lang="es-CL" altLang="en-US" sz="1300" dirty="0">
                <a:solidFill>
                  <a:schemeClr val="tx2"/>
                </a:solidFill>
                <a:latin typeface="IBM Plex Mono" pitchFamily="34" charset="0"/>
                <a:ea typeface="IBM Plex Mono" pitchFamily="34" charset="-122"/>
                <a:cs typeface="IBM Plex Mono" pitchFamily="34" charset="-120"/>
              </a:rPr>
              <a:t>FICHA · </a:t>
            </a:r>
            <a:pPr indent="0" marL="0">
              <a:buNone/>
            </a:pPr>
            <a:r>
              <a:rPr lang="es-CL" altLang="en-US" sz="1300" dirty="0">
                <a:solidFill>
                  <a:schemeClr val="accent1"/>
                </a:solidFill>
                <a:latin typeface="IBM Plex Mono" pitchFamily="34" charset="0"/>
                <a:ea typeface="IBM Plex Mono" pitchFamily="34" charset="-122"/>
                <a:cs typeface="IBM Plex Mono" pitchFamily="34" charset="-120"/>
              </a:rPr>
              <a:t>C2 AHORRO ACREDITADO</a:t>
            </a:r>
            <a:endParaRPr lang="es-CL" sz="1300" dirty="0"/>
          </a:p>
        </p:txBody>
      </p:sp>
      <p:sp>
        <p:nvSpPr>
          <p:cNvPr id="7" name="Shape 5"/>
          <p:cNvSpPr/>
          <p:nvPr/>
        </p:nvSpPr>
        <p:spPr>
          <a:xfrm>
            <a:off x="548640" y="2761488"/>
            <a:ext cx="6675120" cy="0"/>
          </a:xfrm>
          <a:prstGeom prst="line">
            <a:avLst/>
          </a:prstGeom>
          <a:noFill/>
          <a:ln w="9525">
            <a:solidFill>
              <a:schemeClr val="accent1"/>
            </a:solidFill>
            <a:prstDash val="solid"/>
          </a:ln>
        </p:spPr>
      </p:sp>
      <p:sp>
        <p:nvSpPr>
          <p:cNvPr id="8" name="Text 6"/>
          <p:cNvSpPr txBox="1"/>
          <p:nvPr/>
        </p:nvSpPr>
        <p:spPr>
          <a:xfrm>
            <a:off x="548640" y="2761488"/>
            <a:ext cx="1920240" cy="676656"/>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FÓRMULA</a:t>
            </a:r>
            <a:endParaRPr lang="es-CL" sz="1300" dirty="0"/>
          </a:p>
        </p:txBody>
      </p:sp>
      <p:sp>
        <p:nvSpPr>
          <p:cNvPr id="9" name="Text 7"/>
          <p:cNvSpPr txBox="1"/>
          <p:nvPr/>
        </p:nvSpPr>
        <p:spPr>
          <a:xfrm>
            <a:off x="2514600" y="2761488"/>
            <a:ext cx="4709160" cy="676656"/>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Reportes completos ÷ reportes exigibles</a:t>
            </a:r>
            <a:endParaRPr lang="es-CL" sz="1800" dirty="0"/>
          </a:p>
        </p:txBody>
      </p:sp>
      <p:sp>
        <p:nvSpPr>
          <p:cNvPr id="10" name="Shape 8"/>
          <p:cNvSpPr/>
          <p:nvPr/>
        </p:nvSpPr>
        <p:spPr>
          <a:xfrm>
            <a:off x="548640" y="3438144"/>
            <a:ext cx="6675120" cy="0"/>
          </a:xfrm>
          <a:prstGeom prst="line">
            <a:avLst/>
          </a:prstGeom>
          <a:noFill/>
          <a:ln w="9525">
            <a:solidFill>
              <a:schemeClr val="accent5"/>
            </a:solidFill>
            <a:prstDash val="solid"/>
          </a:ln>
        </p:spPr>
      </p:sp>
      <p:sp>
        <p:nvSpPr>
          <p:cNvPr id="11" name="Text 9"/>
          <p:cNvSpPr txBox="1"/>
          <p:nvPr/>
        </p:nvSpPr>
        <p:spPr>
          <a:xfrm>
            <a:off x="548640" y="3438144"/>
            <a:ext cx="1920240" cy="676656"/>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FUENTE</a:t>
            </a:r>
            <a:endParaRPr lang="es-CL" sz="1300" dirty="0"/>
          </a:p>
        </p:txBody>
      </p:sp>
      <p:sp>
        <p:nvSpPr>
          <p:cNvPr id="12" name="Text 10"/>
          <p:cNvSpPr txBox="1"/>
          <p:nvPr/>
        </p:nvSpPr>
        <p:spPr>
          <a:xfrm>
            <a:off x="2514600" y="3438144"/>
            <a:ext cx="4709160" cy="676656"/>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Expediente de medición y acta de entrega</a:t>
            </a:r>
            <a:endParaRPr lang="es-CL" sz="1800" dirty="0"/>
          </a:p>
        </p:txBody>
      </p:sp>
      <p:sp>
        <p:nvSpPr>
          <p:cNvPr id="13" name="Shape 11"/>
          <p:cNvSpPr/>
          <p:nvPr/>
        </p:nvSpPr>
        <p:spPr>
          <a:xfrm>
            <a:off x="548640" y="4114800"/>
            <a:ext cx="6675120" cy="0"/>
          </a:xfrm>
          <a:prstGeom prst="line">
            <a:avLst/>
          </a:prstGeom>
          <a:noFill/>
          <a:ln w="9525">
            <a:solidFill>
              <a:schemeClr val="accent5"/>
            </a:solidFill>
            <a:prstDash val="solid"/>
          </a:ln>
        </p:spPr>
      </p:sp>
      <p:sp>
        <p:nvSpPr>
          <p:cNvPr id="14" name="Text 12"/>
          <p:cNvSpPr txBox="1"/>
          <p:nvPr/>
        </p:nvSpPr>
        <p:spPr>
          <a:xfrm>
            <a:off x="548640" y="4114800"/>
            <a:ext cx="1920240" cy="676656"/>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META</a:t>
            </a:r>
            <a:endParaRPr lang="es-CL" sz="1300" dirty="0"/>
          </a:p>
        </p:txBody>
      </p:sp>
      <p:sp>
        <p:nvSpPr>
          <p:cNvPr id="15" name="Text 13"/>
          <p:cNvSpPr txBox="1"/>
          <p:nvPr/>
        </p:nvSpPr>
        <p:spPr>
          <a:xfrm>
            <a:off x="2514600" y="4114800"/>
            <a:ext cx="4709160" cy="676656"/>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100% de los exigibles</a:t>
            </a:r>
            <a:endParaRPr lang="es-CL" sz="1800" dirty="0"/>
          </a:p>
        </p:txBody>
      </p:sp>
      <p:sp>
        <p:nvSpPr>
          <p:cNvPr id="16" name="Shape 14"/>
          <p:cNvSpPr/>
          <p:nvPr/>
        </p:nvSpPr>
        <p:spPr>
          <a:xfrm>
            <a:off x="548640" y="4791456"/>
            <a:ext cx="6675120" cy="0"/>
          </a:xfrm>
          <a:prstGeom prst="line">
            <a:avLst/>
          </a:prstGeom>
          <a:noFill/>
          <a:ln w="9525">
            <a:solidFill>
              <a:schemeClr val="accent5"/>
            </a:solidFill>
            <a:prstDash val="solid"/>
          </a:ln>
        </p:spPr>
      </p:sp>
      <p:sp>
        <p:nvSpPr>
          <p:cNvPr id="17" name="Text 15"/>
          <p:cNvSpPr txBox="1"/>
          <p:nvPr/>
        </p:nvSpPr>
        <p:spPr>
          <a:xfrm>
            <a:off x="548640" y="4791456"/>
            <a:ext cx="1920240" cy="676656"/>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RESPONSABLE</a:t>
            </a:r>
            <a:endParaRPr lang="es-CL" sz="1300" dirty="0"/>
          </a:p>
        </p:txBody>
      </p:sp>
      <p:sp>
        <p:nvSpPr>
          <p:cNvPr id="18" name="Text 16"/>
          <p:cNvSpPr txBox="1"/>
          <p:nvPr/>
        </p:nvSpPr>
        <p:spPr>
          <a:xfrm>
            <a:off x="2514600" y="4791456"/>
            <a:ext cx="4709160" cy="676656"/>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Comercial y Postventa</a:t>
            </a:r>
            <a:endParaRPr lang="es-CL" sz="1800" dirty="0"/>
          </a:p>
        </p:txBody>
      </p:sp>
      <p:sp>
        <p:nvSpPr>
          <p:cNvPr id="19" name="Shape 17"/>
          <p:cNvSpPr/>
          <p:nvPr/>
        </p:nvSpPr>
        <p:spPr>
          <a:xfrm>
            <a:off x="548640" y="5468112"/>
            <a:ext cx="6675120" cy="0"/>
          </a:xfrm>
          <a:prstGeom prst="line">
            <a:avLst/>
          </a:prstGeom>
          <a:noFill/>
          <a:ln w="9525">
            <a:solidFill>
              <a:schemeClr val="accent5"/>
            </a:solidFill>
            <a:prstDash val="solid"/>
          </a:ln>
        </p:spPr>
      </p:sp>
      <p:sp>
        <p:nvSpPr>
          <p:cNvPr id="20" name="Text 18"/>
          <p:cNvSpPr txBox="1"/>
          <p:nvPr/>
        </p:nvSpPr>
        <p:spPr>
          <a:xfrm>
            <a:off x="548640" y="5468112"/>
            <a:ext cx="1920240" cy="676656"/>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SI HAY BRECHA</a:t>
            </a:r>
            <a:endParaRPr lang="es-CL" sz="1300" dirty="0"/>
          </a:p>
        </p:txBody>
      </p:sp>
      <p:sp>
        <p:nvSpPr>
          <p:cNvPr id="21" name="Text 19"/>
          <p:cNvSpPr txBox="1"/>
          <p:nvPr/>
        </p:nvSpPr>
        <p:spPr>
          <a:xfrm>
            <a:off x="2514600" y="5468112"/>
            <a:ext cx="4709160" cy="676656"/>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Completar la prueba o explicar por qué no se pudo</a:t>
            </a:r>
            <a:endParaRPr lang="es-CL" sz="1800" dirty="0"/>
          </a:p>
        </p:txBody>
      </p:sp>
      <p:sp>
        <p:nvSpPr>
          <p:cNvPr id="22" name="Shape 20"/>
          <p:cNvSpPr/>
          <p:nvPr/>
        </p:nvSpPr>
        <p:spPr>
          <a:xfrm>
            <a:off x="548640" y="6144768"/>
            <a:ext cx="6675120" cy="0"/>
          </a:xfrm>
          <a:prstGeom prst="line">
            <a:avLst/>
          </a:prstGeom>
          <a:noFill/>
          <a:ln w="9525">
            <a:solidFill>
              <a:schemeClr val="accent5"/>
            </a:solidFill>
            <a:prstDash val="solid"/>
          </a:ln>
        </p:spPr>
      </p:sp>
      <p:sp>
        <p:nvSpPr>
          <p:cNvPr id="23" name="Text 21"/>
          <p:cNvSpPr txBox="1"/>
          <p:nvPr/>
        </p:nvSpPr>
        <p:spPr>
          <a:xfrm>
            <a:off x="7726680" y="2395728"/>
            <a:ext cx="391637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ESTADOS</a:t>
            </a:r>
            <a:endParaRPr lang="es-CL" sz="1300" dirty="0"/>
          </a:p>
        </p:txBody>
      </p:sp>
      <p:sp>
        <p:nvSpPr>
          <p:cNvPr id="24" name="Shape 22"/>
          <p:cNvSpPr/>
          <p:nvPr/>
        </p:nvSpPr>
        <p:spPr>
          <a:xfrm>
            <a:off x="7726680" y="2880360"/>
            <a:ext cx="310896" cy="310896"/>
          </a:xfrm>
          <a:prstGeom prst="ellipse">
            <a:avLst/>
          </a:prstGeom>
          <a:solidFill>
            <a:srgbClr val="4ADE80"/>
          </a:solidFill>
          <a:ln/>
        </p:spPr>
      </p:sp>
      <p:sp>
        <p:nvSpPr>
          <p:cNvPr id="25" name="Text 23"/>
          <p:cNvSpPr txBox="1"/>
          <p:nvPr/>
        </p:nvSpPr>
        <p:spPr>
          <a:xfrm>
            <a:off x="8229600" y="2761488"/>
            <a:ext cx="3413455" cy="548640"/>
          </a:xfrm>
          <a:prstGeom prst="rect">
            <a:avLst/>
          </a:prstGeom>
          <a:noFill/>
          <a:ln/>
        </p:spPr>
        <p:txBody>
          <a:bodyPr wrap="square" lIns="0" tIns="0" rIns="0" bIns="0" rtlCol="0" anchor="ctr"/>
          <a:lstStyle/>
          <a:p>
            <a:pPr indent="0" marL="0">
              <a:buNone/>
            </a:pPr>
            <a:r>
              <a:rPr lang="es-CL" altLang="en-US" sz="1600" b="1" spc="100" kern="0" dirty="0">
                <a:solidFill>
                  <a:srgbClr val="4ADE80"/>
                </a:solidFill>
                <a:latin typeface="IBM Plex Mono" pitchFamily="34" charset="0"/>
                <a:ea typeface="IBM Plex Mono" pitchFamily="34" charset="-122"/>
                <a:cs typeface="IBM Plex Mono" pitchFamily="34" charset="-120"/>
              </a:rPr>
              <a:t>CUMPLE</a:t>
            </a:r>
            <a:endParaRPr lang="es-CL" sz="1600" dirty="0"/>
          </a:p>
        </p:txBody>
      </p:sp>
      <p:sp>
        <p:nvSpPr>
          <p:cNvPr id="26" name="Shape 24"/>
          <p:cNvSpPr/>
          <p:nvPr/>
        </p:nvSpPr>
        <p:spPr>
          <a:xfrm>
            <a:off x="7726680" y="3429000"/>
            <a:ext cx="310896" cy="310896"/>
          </a:xfrm>
          <a:prstGeom prst="triangle">
            <a:avLst/>
          </a:prstGeom>
          <a:solidFill>
            <a:srgbClr val="F5B94A"/>
          </a:solidFill>
          <a:ln/>
        </p:spPr>
      </p:sp>
      <p:sp>
        <p:nvSpPr>
          <p:cNvPr id="27" name="Text 25"/>
          <p:cNvSpPr txBox="1"/>
          <p:nvPr/>
        </p:nvSpPr>
        <p:spPr>
          <a:xfrm>
            <a:off x="8229600" y="3310128"/>
            <a:ext cx="3413455" cy="548640"/>
          </a:xfrm>
          <a:prstGeom prst="rect">
            <a:avLst/>
          </a:prstGeom>
          <a:noFill/>
          <a:ln/>
        </p:spPr>
        <p:txBody>
          <a:bodyPr wrap="square" lIns="0" tIns="0" rIns="0" bIns="0" rtlCol="0" anchor="ctr"/>
          <a:lstStyle/>
          <a:p>
            <a:pPr indent="0" marL="0">
              <a:buNone/>
            </a:pPr>
            <a:r>
              <a:rPr lang="es-CL" altLang="en-US" sz="1600" b="1" spc="100" kern="0" dirty="0">
                <a:solidFill>
                  <a:srgbClr val="F5B94A"/>
                </a:solidFill>
                <a:latin typeface="IBM Plex Mono" pitchFamily="34" charset="0"/>
                <a:ea typeface="IBM Plex Mono" pitchFamily="34" charset="-122"/>
                <a:cs typeface="IBM Plex Mono" pitchFamily="34" charset="-120"/>
              </a:rPr>
              <a:t>ALERTA</a:t>
            </a:r>
            <a:endParaRPr lang="es-CL" sz="1600" dirty="0"/>
          </a:p>
        </p:txBody>
      </p:sp>
      <p:sp>
        <p:nvSpPr>
          <p:cNvPr id="28" name="Shape 26"/>
          <p:cNvSpPr/>
          <p:nvPr/>
        </p:nvSpPr>
        <p:spPr>
          <a:xfrm>
            <a:off x="7751552" y="4002512"/>
            <a:ext cx="261153" cy="261153"/>
          </a:xfrm>
          <a:prstGeom prst="rect">
            <a:avLst/>
          </a:prstGeom>
          <a:solidFill>
            <a:srgbClr val="F87171"/>
          </a:solidFill>
          <a:ln/>
        </p:spPr>
      </p:sp>
      <p:sp>
        <p:nvSpPr>
          <p:cNvPr id="29" name="Text 27"/>
          <p:cNvSpPr txBox="1"/>
          <p:nvPr/>
        </p:nvSpPr>
        <p:spPr>
          <a:xfrm>
            <a:off x="8229600" y="3858768"/>
            <a:ext cx="3413455" cy="548640"/>
          </a:xfrm>
          <a:prstGeom prst="rect">
            <a:avLst/>
          </a:prstGeom>
          <a:noFill/>
          <a:ln/>
        </p:spPr>
        <p:txBody>
          <a:bodyPr wrap="square" lIns="0" tIns="0" rIns="0" bIns="0" rtlCol="0" anchor="ctr"/>
          <a:lstStyle/>
          <a:p>
            <a:pPr indent="0" marL="0">
              <a:buNone/>
            </a:pPr>
            <a:r>
              <a:rPr lang="es-CL" altLang="en-US" sz="1600" b="1" spc="100" kern="0" dirty="0">
                <a:solidFill>
                  <a:srgbClr val="F87171"/>
                </a:solidFill>
                <a:latin typeface="IBM Plex Mono" pitchFamily="34" charset="0"/>
                <a:ea typeface="IBM Plex Mono" pitchFamily="34" charset="-122"/>
                <a:cs typeface="IBM Plex Mono" pitchFamily="34" charset="-120"/>
              </a:rPr>
              <a:t>NO CUMPLE</a:t>
            </a:r>
            <a:endParaRPr lang="es-CL" sz="1600" dirty="0"/>
          </a:p>
        </p:txBody>
      </p:sp>
      <p:sp>
        <p:nvSpPr>
          <p:cNvPr id="30" name="Shape 28"/>
          <p:cNvSpPr/>
          <p:nvPr/>
        </p:nvSpPr>
        <p:spPr>
          <a:xfrm>
            <a:off x="7751552" y="4551152"/>
            <a:ext cx="261153" cy="261153"/>
          </a:xfrm>
          <a:prstGeom prst="rect">
            <a:avLst/>
          </a:prstGeom>
          <a:solidFill>
            <a:schemeClr val="bg1">
              <a:alpha val="0"/>
            </a:schemeClr>
          </a:solidFill>
          <a:ln w="19050">
            <a:solidFill>
              <a:srgbClr val="8B9598"/>
            </a:solidFill>
            <a:prstDash val="sysDot"/>
          </a:ln>
        </p:spPr>
      </p:sp>
      <p:sp>
        <p:nvSpPr>
          <p:cNvPr id="31" name="Text 29"/>
          <p:cNvSpPr txBox="1"/>
          <p:nvPr/>
        </p:nvSpPr>
        <p:spPr>
          <a:xfrm>
            <a:off x="8229600" y="4407408"/>
            <a:ext cx="3413455" cy="548640"/>
          </a:xfrm>
          <a:prstGeom prst="rect">
            <a:avLst/>
          </a:prstGeom>
          <a:noFill/>
          <a:ln/>
        </p:spPr>
        <p:txBody>
          <a:bodyPr wrap="square" lIns="0" tIns="0" rIns="0" bIns="0" rtlCol="0" anchor="ctr"/>
          <a:lstStyle/>
          <a:p>
            <a:pPr indent="0" marL="0">
              <a:buNone/>
            </a:pPr>
            <a:r>
              <a:rPr lang="es-CL" altLang="en-US" sz="1600" b="1" spc="100" kern="0" dirty="0">
                <a:solidFill>
                  <a:srgbClr val="8B9598"/>
                </a:solidFill>
                <a:latin typeface="IBM Plex Mono" pitchFamily="34" charset="0"/>
                <a:ea typeface="IBM Plex Mono" pitchFamily="34" charset="-122"/>
                <a:cs typeface="IBM Plex Mono" pitchFamily="34" charset="-120"/>
              </a:rPr>
              <a:t>META PENDIENTE</a:t>
            </a:r>
            <a:endParaRPr lang="es-CL" sz="1600" dirty="0"/>
          </a:p>
        </p:txBody>
      </p:sp>
      <p:sp>
        <p:nvSpPr>
          <p:cNvPr id="32" name="Shape 30"/>
          <p:cNvSpPr/>
          <p:nvPr/>
        </p:nvSpPr>
        <p:spPr>
          <a:xfrm>
            <a:off x="7726680" y="5074920"/>
            <a:ext cx="310896" cy="310896"/>
          </a:xfrm>
          <a:prstGeom prst="ellipse">
            <a:avLst/>
          </a:prstGeom>
          <a:solidFill>
            <a:schemeClr val="bg1">
              <a:alpha val="0"/>
            </a:schemeClr>
          </a:solidFill>
          <a:ln w="22225">
            <a:solidFill>
              <a:srgbClr val="8B9598"/>
            </a:solidFill>
            <a:prstDash val="dash"/>
          </a:ln>
        </p:spPr>
      </p:sp>
      <p:sp>
        <p:nvSpPr>
          <p:cNvPr id="33" name="Text 31"/>
          <p:cNvSpPr txBox="1"/>
          <p:nvPr/>
        </p:nvSpPr>
        <p:spPr>
          <a:xfrm>
            <a:off x="8229600" y="4956048"/>
            <a:ext cx="3413455" cy="548640"/>
          </a:xfrm>
          <a:prstGeom prst="rect">
            <a:avLst/>
          </a:prstGeom>
          <a:noFill/>
          <a:ln/>
        </p:spPr>
        <p:txBody>
          <a:bodyPr wrap="square" lIns="0" tIns="0" rIns="0" bIns="0" rtlCol="0" anchor="ctr"/>
          <a:lstStyle/>
          <a:p>
            <a:pPr indent="0" marL="0">
              <a:buNone/>
            </a:pPr>
            <a:r>
              <a:rPr lang="es-CL" altLang="en-US" sz="1600" b="1" spc="100" kern="0" dirty="0">
                <a:solidFill>
                  <a:schemeClr val="tx1"/>
                </a:solidFill>
                <a:latin typeface="IBM Plex Mono" pitchFamily="34" charset="0"/>
                <a:ea typeface="IBM Plex Mono" pitchFamily="34" charset="-122"/>
                <a:cs typeface="IBM Plex Mono" pitchFamily="34" charset="-120"/>
              </a:rPr>
              <a:t>SIN MEDIR</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CMI COMPLETO</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CMI COMPLETO: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aprendizaje y crecimiento.</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Metas propuestas por el equipo; responsables según la estructura propuesta en la Fase 3.</a:t>
            </a:r>
            <a:endParaRPr lang="es-CL" sz="1100" dirty="0"/>
          </a:p>
        </p:txBody>
      </p:sp>
      <p:sp>
        <p:nvSpPr>
          <p:cNvPr id="6" name="Text 4"/>
          <p:cNvSpPr txBox="1"/>
          <p:nvPr/>
        </p:nvSpPr>
        <p:spPr>
          <a:xfrm>
            <a:off x="548640" y="2395728"/>
            <a:ext cx="731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ID</a:t>
            </a:r>
            <a:endParaRPr lang="es-CL" sz="1200" dirty="0"/>
          </a:p>
        </p:txBody>
      </p:sp>
      <p:sp>
        <p:nvSpPr>
          <p:cNvPr id="7" name="Text 5"/>
          <p:cNvSpPr txBox="1"/>
          <p:nvPr/>
        </p:nvSpPr>
        <p:spPr>
          <a:xfrm>
            <a:off x="1280160" y="2395728"/>
            <a:ext cx="42062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OBJETIVO · INDICADOR</a:t>
            </a:r>
            <a:endParaRPr lang="es-CL" sz="1200" dirty="0"/>
          </a:p>
        </p:txBody>
      </p:sp>
      <p:sp>
        <p:nvSpPr>
          <p:cNvPr id="8" name="Text 6"/>
          <p:cNvSpPr txBox="1"/>
          <p:nvPr/>
        </p:nvSpPr>
        <p:spPr>
          <a:xfrm>
            <a:off x="5486400" y="2395728"/>
            <a:ext cx="23317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META · REGLA</a:t>
            </a:r>
            <a:endParaRPr lang="es-CL" sz="1200" dirty="0"/>
          </a:p>
        </p:txBody>
      </p:sp>
      <p:sp>
        <p:nvSpPr>
          <p:cNvPr id="9" name="Text 7"/>
          <p:cNvSpPr txBox="1"/>
          <p:nvPr/>
        </p:nvSpPr>
        <p:spPr>
          <a:xfrm>
            <a:off x="7818120" y="2395728"/>
            <a:ext cx="17830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RESPONSABLE</a:t>
            </a:r>
            <a:endParaRPr lang="es-CL" sz="1200" dirty="0"/>
          </a:p>
        </p:txBody>
      </p:sp>
      <p:sp>
        <p:nvSpPr>
          <p:cNvPr id="10" name="Text 8"/>
          <p:cNvSpPr txBox="1"/>
          <p:nvPr/>
        </p:nvSpPr>
        <p:spPr>
          <a:xfrm>
            <a:off x="9601200" y="2395728"/>
            <a:ext cx="20418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INICIATIVA</a:t>
            </a:r>
            <a:endParaRPr lang="es-CL" sz="1200" dirty="0"/>
          </a:p>
        </p:txBody>
      </p:sp>
      <p:sp>
        <p:nvSpPr>
          <p:cNvPr id="11" name="Shape 9"/>
          <p:cNvSpPr/>
          <p:nvPr/>
        </p:nvSpPr>
        <p:spPr>
          <a:xfrm>
            <a:off x="548640" y="2706624"/>
            <a:ext cx="11094415" cy="0"/>
          </a:xfrm>
          <a:prstGeom prst="line">
            <a:avLst/>
          </a:prstGeom>
          <a:noFill/>
          <a:ln w="9525">
            <a:solidFill>
              <a:schemeClr val="accent1"/>
            </a:solidFill>
            <a:prstDash val="solid"/>
          </a:ln>
        </p:spPr>
      </p:sp>
      <p:sp>
        <p:nvSpPr>
          <p:cNvPr id="12" name="Shape 10"/>
          <p:cNvSpPr/>
          <p:nvPr/>
        </p:nvSpPr>
        <p:spPr>
          <a:xfrm>
            <a:off x="548640" y="2935224"/>
            <a:ext cx="548640" cy="292608"/>
          </a:xfrm>
          <a:prstGeom prst="rect">
            <a:avLst/>
          </a:prstGeom>
          <a:solidFill>
            <a:schemeClr val="accent5"/>
          </a:solidFill>
          <a:ln/>
        </p:spPr>
      </p:sp>
      <p:sp>
        <p:nvSpPr>
          <p:cNvPr id="13" name="Shape 11"/>
          <p:cNvSpPr/>
          <p:nvPr/>
        </p:nvSpPr>
        <p:spPr>
          <a:xfrm>
            <a:off x="548640" y="2935224"/>
            <a:ext cx="548640" cy="45720"/>
          </a:xfrm>
          <a:prstGeom prst="rect">
            <a:avLst/>
          </a:prstGeom>
          <a:solidFill>
            <a:srgbClr val="0A6F9E"/>
          </a:solidFill>
          <a:ln/>
        </p:spPr>
      </p:sp>
      <p:sp>
        <p:nvSpPr>
          <p:cNvPr id="14" name="Text 12"/>
          <p:cNvSpPr txBox="1"/>
          <p:nvPr/>
        </p:nvSpPr>
        <p:spPr>
          <a:xfrm>
            <a:off x="548640" y="2935224"/>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A1</a:t>
            </a:r>
            <a:endParaRPr lang="es-CL" sz="1200" dirty="0"/>
          </a:p>
        </p:txBody>
      </p:sp>
      <p:sp>
        <p:nvSpPr>
          <p:cNvPr id="15" name="Text 13"/>
          <p:cNvSpPr txBox="1"/>
          <p:nvPr/>
        </p:nvSpPr>
        <p:spPr>
          <a:xfrm>
            <a:off x="1280160" y="2706624"/>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Biblioteca de calibraciones</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Calibraciones registradas y controladas ÷ generadas</a:t>
            </a:r>
            <a:endParaRPr lang="es-CL" sz="1300" dirty="0"/>
          </a:p>
        </p:txBody>
      </p:sp>
      <p:sp>
        <p:nvSpPr>
          <p:cNvPr id="16" name="Text 14"/>
          <p:cNvSpPr txBox="1"/>
          <p:nvPr/>
        </p:nvSpPr>
        <p:spPr>
          <a:xfrm>
            <a:off x="5486400" y="2706624"/>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100% antes de reutilizar</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CRÍTICO</a:t>
            </a:r>
            <a:endParaRPr lang="es-CL" sz="1300" dirty="0"/>
          </a:p>
        </p:txBody>
      </p:sp>
      <p:sp>
        <p:nvSpPr>
          <p:cNvPr id="17" name="Text 15"/>
          <p:cNvSpPr txBox="1"/>
          <p:nvPr/>
        </p:nvSpPr>
        <p:spPr>
          <a:xfrm>
            <a:off x="7818120" y="2706624"/>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Ingeniería de Calibración</a:t>
            </a:r>
            <a:endParaRPr lang="es-CL" sz="1300" dirty="0"/>
          </a:p>
        </p:txBody>
      </p:sp>
      <p:sp>
        <p:nvSpPr>
          <p:cNvPr id="18" name="Text 16"/>
          <p:cNvSpPr txBox="1"/>
          <p:nvPr/>
        </p:nvSpPr>
        <p:spPr>
          <a:xfrm>
            <a:off x="9601200" y="2706624"/>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Repositorio versionado con control de acceso</a:t>
            </a:r>
            <a:endParaRPr lang="es-CL" sz="1300" dirty="0"/>
          </a:p>
        </p:txBody>
      </p:sp>
      <p:sp>
        <p:nvSpPr>
          <p:cNvPr id="19" name="Shape 17"/>
          <p:cNvSpPr/>
          <p:nvPr/>
        </p:nvSpPr>
        <p:spPr>
          <a:xfrm>
            <a:off x="548640" y="3456432"/>
            <a:ext cx="11094415" cy="0"/>
          </a:xfrm>
          <a:prstGeom prst="line">
            <a:avLst/>
          </a:prstGeom>
          <a:noFill/>
          <a:ln w="9525">
            <a:solidFill>
              <a:schemeClr val="accent5"/>
            </a:solidFill>
            <a:prstDash val="solid"/>
          </a:ln>
        </p:spPr>
      </p:sp>
      <p:sp>
        <p:nvSpPr>
          <p:cNvPr id="20" name="Shape 18"/>
          <p:cNvSpPr/>
          <p:nvPr/>
        </p:nvSpPr>
        <p:spPr>
          <a:xfrm>
            <a:off x="548640" y="3685032"/>
            <a:ext cx="548640" cy="292608"/>
          </a:xfrm>
          <a:prstGeom prst="rect">
            <a:avLst/>
          </a:prstGeom>
          <a:solidFill>
            <a:schemeClr val="accent5"/>
          </a:solidFill>
          <a:ln/>
        </p:spPr>
      </p:sp>
      <p:sp>
        <p:nvSpPr>
          <p:cNvPr id="21" name="Shape 19"/>
          <p:cNvSpPr/>
          <p:nvPr/>
        </p:nvSpPr>
        <p:spPr>
          <a:xfrm>
            <a:off x="548640" y="3685032"/>
            <a:ext cx="548640" cy="45720"/>
          </a:xfrm>
          <a:prstGeom prst="rect">
            <a:avLst/>
          </a:prstGeom>
          <a:solidFill>
            <a:srgbClr val="0A6F9E"/>
          </a:solidFill>
          <a:ln/>
        </p:spPr>
      </p:sp>
      <p:sp>
        <p:nvSpPr>
          <p:cNvPr id="22" name="Text 20"/>
          <p:cNvSpPr txBox="1"/>
          <p:nvPr/>
        </p:nvSpPr>
        <p:spPr>
          <a:xfrm>
            <a:off x="548640" y="3685032"/>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A2</a:t>
            </a:r>
            <a:endParaRPr lang="es-CL" sz="1200" dirty="0"/>
          </a:p>
        </p:txBody>
      </p:sp>
      <p:sp>
        <p:nvSpPr>
          <p:cNvPr id="23" name="Text 21"/>
          <p:cNvSpPr txBox="1"/>
          <p:nvPr/>
        </p:nvSpPr>
        <p:spPr>
          <a:xfrm>
            <a:off x="1280160" y="3456432"/>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Técnicos habilitados</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Técnicos con validación vigente ÷ asignados</a:t>
            </a:r>
            <a:endParaRPr lang="es-CL" sz="1300" dirty="0"/>
          </a:p>
        </p:txBody>
      </p:sp>
      <p:sp>
        <p:nvSpPr>
          <p:cNvPr id="24" name="Text 22"/>
          <p:cNvSpPr txBox="1"/>
          <p:nvPr/>
        </p:nvSpPr>
        <p:spPr>
          <a:xfrm>
            <a:off x="5486400" y="3456432"/>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100% antes de tareas críticas</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CRÍTICO</a:t>
            </a:r>
            <a:endParaRPr lang="es-CL" sz="1300" dirty="0"/>
          </a:p>
        </p:txBody>
      </p:sp>
      <p:sp>
        <p:nvSpPr>
          <p:cNvPr id="25" name="Text 23"/>
          <p:cNvSpPr txBox="1"/>
          <p:nvPr/>
        </p:nvSpPr>
        <p:spPr>
          <a:xfrm>
            <a:off x="7818120" y="3456432"/>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Responsable Técnico</a:t>
            </a:r>
            <a:endParaRPr lang="es-CL" sz="1300" dirty="0"/>
          </a:p>
        </p:txBody>
      </p:sp>
      <p:sp>
        <p:nvSpPr>
          <p:cNvPr id="26" name="Text 24"/>
          <p:cNvSpPr txBox="1"/>
          <p:nvPr/>
        </p:nvSpPr>
        <p:spPr>
          <a:xfrm>
            <a:off x="9601200" y="3456432"/>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Ruta de habilitación en Lumine Habilita</a:t>
            </a:r>
            <a:endParaRPr lang="es-CL" sz="1300" dirty="0"/>
          </a:p>
        </p:txBody>
      </p:sp>
      <p:sp>
        <p:nvSpPr>
          <p:cNvPr id="27" name="Shape 25"/>
          <p:cNvSpPr/>
          <p:nvPr/>
        </p:nvSpPr>
        <p:spPr>
          <a:xfrm>
            <a:off x="548640" y="4206240"/>
            <a:ext cx="11094415" cy="0"/>
          </a:xfrm>
          <a:prstGeom prst="line">
            <a:avLst/>
          </a:prstGeom>
          <a:noFill/>
          <a:ln w="9525">
            <a:solidFill>
              <a:schemeClr val="accent5"/>
            </a:solidFill>
            <a:prstDash val="solid"/>
          </a:ln>
        </p:spPr>
      </p:sp>
      <p:sp>
        <p:nvSpPr>
          <p:cNvPr id="28" name="Shape 26"/>
          <p:cNvSpPr/>
          <p:nvPr/>
        </p:nvSpPr>
        <p:spPr>
          <a:xfrm>
            <a:off x="548640" y="4434840"/>
            <a:ext cx="548640" cy="292608"/>
          </a:xfrm>
          <a:prstGeom prst="rect">
            <a:avLst/>
          </a:prstGeom>
          <a:solidFill>
            <a:schemeClr val="accent5"/>
          </a:solidFill>
          <a:ln/>
        </p:spPr>
      </p:sp>
      <p:sp>
        <p:nvSpPr>
          <p:cNvPr id="29" name="Shape 27"/>
          <p:cNvSpPr/>
          <p:nvPr/>
        </p:nvSpPr>
        <p:spPr>
          <a:xfrm>
            <a:off x="548640" y="4434840"/>
            <a:ext cx="548640" cy="45720"/>
          </a:xfrm>
          <a:prstGeom prst="rect">
            <a:avLst/>
          </a:prstGeom>
          <a:solidFill>
            <a:srgbClr val="0A6F9E"/>
          </a:solidFill>
          <a:ln/>
        </p:spPr>
      </p:sp>
      <p:sp>
        <p:nvSpPr>
          <p:cNvPr id="30" name="Text 28"/>
          <p:cNvSpPr txBox="1"/>
          <p:nvPr/>
        </p:nvSpPr>
        <p:spPr>
          <a:xfrm>
            <a:off x="548640" y="4434840"/>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A3</a:t>
            </a:r>
            <a:endParaRPr lang="es-CL" sz="1200" dirty="0"/>
          </a:p>
        </p:txBody>
      </p:sp>
      <p:sp>
        <p:nvSpPr>
          <p:cNvPr id="31" name="Text 29"/>
          <p:cNvSpPr txBox="1"/>
          <p:nvPr/>
        </p:nvSpPr>
        <p:spPr>
          <a:xfrm>
            <a:off x="1280160" y="4206240"/>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Protocolo de medición</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Protocolos de prueba aprobados</a:t>
            </a:r>
            <a:endParaRPr lang="es-CL" sz="1300" dirty="0"/>
          </a:p>
        </p:txBody>
      </p:sp>
      <p:sp>
        <p:nvSpPr>
          <p:cNvPr id="32" name="Text 30"/>
          <p:cNvSpPr txBox="1"/>
          <p:nvPr/>
        </p:nvSpPr>
        <p:spPr>
          <a:xfrm>
            <a:off x="5486400" y="4206240"/>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 antes del primer piloto</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HITO</a:t>
            </a:r>
            <a:endParaRPr lang="es-CL" sz="1300" dirty="0"/>
          </a:p>
        </p:txBody>
      </p:sp>
      <p:sp>
        <p:nvSpPr>
          <p:cNvPr id="33" name="Text 31"/>
          <p:cNvSpPr txBox="1"/>
          <p:nvPr/>
        </p:nvSpPr>
        <p:spPr>
          <a:xfrm>
            <a:off x="7818120" y="4206240"/>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Ingeniería de Calibración</a:t>
            </a:r>
            <a:endParaRPr lang="es-CL" sz="1300" dirty="0"/>
          </a:p>
        </p:txBody>
      </p:sp>
      <p:sp>
        <p:nvSpPr>
          <p:cNvPr id="34" name="Text 32"/>
          <p:cNvSpPr txBox="1"/>
          <p:nvPr/>
        </p:nvSpPr>
        <p:spPr>
          <a:xfrm>
            <a:off x="9601200" y="4206240"/>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Protocolo antes y después con línea base del mismo auto</a:t>
            </a:r>
            <a:endParaRPr lang="es-CL" sz="1300" dirty="0"/>
          </a:p>
        </p:txBody>
      </p:sp>
      <p:sp>
        <p:nvSpPr>
          <p:cNvPr id="35" name="Shape 33"/>
          <p:cNvSpPr/>
          <p:nvPr/>
        </p:nvSpPr>
        <p:spPr>
          <a:xfrm>
            <a:off x="548640" y="4956048"/>
            <a:ext cx="11094415" cy="0"/>
          </a:xfrm>
          <a:prstGeom prst="line">
            <a:avLst/>
          </a:prstGeom>
          <a:noFill/>
          <a:ln w="9525">
            <a:solidFill>
              <a:schemeClr val="accent5"/>
            </a:solidFill>
            <a:prstDash val="solid"/>
          </a:ln>
        </p:spPr>
      </p:sp>
      <p:sp>
        <p:nvSpPr>
          <p:cNvPr id="36" name="Shape 34"/>
          <p:cNvSpPr/>
          <p:nvPr/>
        </p:nvSpPr>
        <p:spPr>
          <a:xfrm>
            <a:off x="548640" y="5184648"/>
            <a:ext cx="548640" cy="292608"/>
          </a:xfrm>
          <a:prstGeom prst="rect">
            <a:avLst/>
          </a:prstGeom>
          <a:solidFill>
            <a:schemeClr val="accent5"/>
          </a:solidFill>
          <a:ln/>
        </p:spPr>
      </p:sp>
      <p:sp>
        <p:nvSpPr>
          <p:cNvPr id="37" name="Shape 35"/>
          <p:cNvSpPr/>
          <p:nvPr/>
        </p:nvSpPr>
        <p:spPr>
          <a:xfrm>
            <a:off x="548640" y="5184648"/>
            <a:ext cx="548640" cy="45720"/>
          </a:xfrm>
          <a:prstGeom prst="rect">
            <a:avLst/>
          </a:prstGeom>
          <a:solidFill>
            <a:srgbClr val="0A6F9E"/>
          </a:solidFill>
          <a:ln/>
        </p:spPr>
      </p:sp>
      <p:sp>
        <p:nvSpPr>
          <p:cNvPr id="38" name="Text 36"/>
          <p:cNvSpPr txBox="1"/>
          <p:nvPr/>
        </p:nvSpPr>
        <p:spPr>
          <a:xfrm>
            <a:off x="548640" y="5184648"/>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A4</a:t>
            </a:r>
            <a:endParaRPr lang="es-CL" sz="1200" dirty="0"/>
          </a:p>
        </p:txBody>
      </p:sp>
      <p:sp>
        <p:nvSpPr>
          <p:cNvPr id="39" name="Text 37"/>
          <p:cNvSpPr txBox="1"/>
          <p:nvPr/>
        </p:nvSpPr>
        <p:spPr>
          <a:xfrm>
            <a:off x="1280160" y="4956048"/>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Lumine Habilita</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Componentes de habilitación documentados ÷ definidos</a:t>
            </a:r>
            <a:endParaRPr lang="es-CL" sz="1300" dirty="0"/>
          </a:p>
        </p:txBody>
      </p:sp>
      <p:sp>
        <p:nvSpPr>
          <p:cNvPr id="40" name="Text 38"/>
          <p:cNvSpPr txBox="1"/>
          <p:nvPr/>
        </p:nvSpPr>
        <p:spPr>
          <a:xfrm>
            <a:off x="5486400" y="4956048"/>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100% del paquete mínimo antes de licenciar</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CRÍTICO</a:t>
            </a:r>
            <a:endParaRPr lang="es-CL" sz="1300" dirty="0"/>
          </a:p>
        </p:txBody>
      </p:sp>
      <p:sp>
        <p:nvSpPr>
          <p:cNvPr id="41" name="Text 39"/>
          <p:cNvSpPr txBox="1"/>
          <p:nvPr/>
        </p:nvSpPr>
        <p:spPr>
          <a:xfrm>
            <a:off x="7818120" y="4956048"/>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Responsable Técnico</a:t>
            </a:r>
            <a:endParaRPr lang="es-CL" sz="1300" dirty="0"/>
          </a:p>
        </p:txBody>
      </p:sp>
      <p:sp>
        <p:nvSpPr>
          <p:cNvPr id="42" name="Text 40"/>
          <p:cNvSpPr txBox="1"/>
          <p:nvPr/>
        </p:nvSpPr>
        <p:spPr>
          <a:xfrm>
            <a:off x="9601200" y="4956048"/>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Paquete mínimo de formación y evaluación</a:t>
            </a:r>
            <a:endParaRPr lang="es-CL" sz="1300" dirty="0"/>
          </a:p>
        </p:txBody>
      </p:sp>
      <p:sp>
        <p:nvSpPr>
          <p:cNvPr id="43" name="Shape 41"/>
          <p:cNvSpPr/>
          <p:nvPr/>
        </p:nvSpPr>
        <p:spPr>
          <a:xfrm>
            <a:off x="548640" y="5705856"/>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CMI COMPLETO</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CMI COMPLETO: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procesos internos.</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Metas propuestas por el equipo; responsables según la estructura propuesta en la Fase 3.</a:t>
            </a:r>
            <a:endParaRPr lang="es-CL" sz="1100" dirty="0"/>
          </a:p>
        </p:txBody>
      </p:sp>
      <p:sp>
        <p:nvSpPr>
          <p:cNvPr id="6" name="Text 4"/>
          <p:cNvSpPr txBox="1"/>
          <p:nvPr/>
        </p:nvSpPr>
        <p:spPr>
          <a:xfrm>
            <a:off x="548640" y="2286000"/>
            <a:ext cx="731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ID</a:t>
            </a:r>
            <a:endParaRPr lang="es-CL" sz="1200" dirty="0"/>
          </a:p>
        </p:txBody>
      </p:sp>
      <p:sp>
        <p:nvSpPr>
          <p:cNvPr id="7" name="Text 5"/>
          <p:cNvSpPr txBox="1"/>
          <p:nvPr/>
        </p:nvSpPr>
        <p:spPr>
          <a:xfrm>
            <a:off x="1280160" y="2286000"/>
            <a:ext cx="42062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OBJETIVO · INDICADOR</a:t>
            </a:r>
            <a:endParaRPr lang="es-CL" sz="1200" dirty="0"/>
          </a:p>
        </p:txBody>
      </p:sp>
      <p:sp>
        <p:nvSpPr>
          <p:cNvPr id="8" name="Text 6"/>
          <p:cNvSpPr txBox="1"/>
          <p:nvPr/>
        </p:nvSpPr>
        <p:spPr>
          <a:xfrm>
            <a:off x="5486400" y="2286000"/>
            <a:ext cx="23317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META · REGLA</a:t>
            </a:r>
            <a:endParaRPr lang="es-CL" sz="1200" dirty="0"/>
          </a:p>
        </p:txBody>
      </p:sp>
      <p:sp>
        <p:nvSpPr>
          <p:cNvPr id="9" name="Text 7"/>
          <p:cNvSpPr txBox="1"/>
          <p:nvPr/>
        </p:nvSpPr>
        <p:spPr>
          <a:xfrm>
            <a:off x="7818120" y="2286000"/>
            <a:ext cx="17830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RESPONSABLE</a:t>
            </a:r>
            <a:endParaRPr lang="es-CL" sz="1200" dirty="0"/>
          </a:p>
        </p:txBody>
      </p:sp>
      <p:sp>
        <p:nvSpPr>
          <p:cNvPr id="10" name="Text 8"/>
          <p:cNvSpPr txBox="1"/>
          <p:nvPr/>
        </p:nvSpPr>
        <p:spPr>
          <a:xfrm>
            <a:off x="9601200" y="2286000"/>
            <a:ext cx="20418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INICIATIVA</a:t>
            </a:r>
            <a:endParaRPr lang="es-CL" sz="1200" dirty="0"/>
          </a:p>
        </p:txBody>
      </p:sp>
      <p:sp>
        <p:nvSpPr>
          <p:cNvPr id="11" name="Shape 9"/>
          <p:cNvSpPr/>
          <p:nvPr/>
        </p:nvSpPr>
        <p:spPr>
          <a:xfrm>
            <a:off x="548640" y="2596896"/>
            <a:ext cx="11094415" cy="0"/>
          </a:xfrm>
          <a:prstGeom prst="line">
            <a:avLst/>
          </a:prstGeom>
          <a:noFill/>
          <a:ln w="9525">
            <a:solidFill>
              <a:schemeClr val="accent1"/>
            </a:solidFill>
            <a:prstDash val="solid"/>
          </a:ln>
        </p:spPr>
      </p:sp>
      <p:sp>
        <p:nvSpPr>
          <p:cNvPr id="12" name="Shape 10"/>
          <p:cNvSpPr/>
          <p:nvPr/>
        </p:nvSpPr>
        <p:spPr>
          <a:xfrm>
            <a:off x="548640" y="2734056"/>
            <a:ext cx="548640" cy="292608"/>
          </a:xfrm>
          <a:prstGeom prst="rect">
            <a:avLst/>
          </a:prstGeom>
          <a:solidFill>
            <a:schemeClr val="accent5"/>
          </a:solidFill>
          <a:ln/>
        </p:spPr>
      </p:sp>
      <p:sp>
        <p:nvSpPr>
          <p:cNvPr id="13" name="Shape 11"/>
          <p:cNvSpPr/>
          <p:nvPr/>
        </p:nvSpPr>
        <p:spPr>
          <a:xfrm>
            <a:off x="548640" y="2734056"/>
            <a:ext cx="548640" cy="45720"/>
          </a:xfrm>
          <a:prstGeom prst="rect">
            <a:avLst/>
          </a:prstGeom>
          <a:solidFill>
            <a:srgbClr val="ECECEC"/>
          </a:solidFill>
          <a:ln/>
        </p:spPr>
      </p:sp>
      <p:sp>
        <p:nvSpPr>
          <p:cNvPr id="14" name="Text 12"/>
          <p:cNvSpPr txBox="1"/>
          <p:nvPr/>
        </p:nvSpPr>
        <p:spPr>
          <a:xfrm>
            <a:off x="548640" y="2734056"/>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P1</a:t>
            </a:r>
            <a:endParaRPr lang="es-CL" sz="1200" dirty="0"/>
          </a:p>
        </p:txBody>
      </p:sp>
      <p:sp>
        <p:nvSpPr>
          <p:cNvPr id="15" name="Text 13"/>
          <p:cNvSpPr txBox="1"/>
          <p:nvPr/>
        </p:nvSpPr>
        <p:spPr>
          <a:xfrm>
            <a:off x="1280160" y="2596896"/>
            <a:ext cx="4069080" cy="56692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Vía legal</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Vía sectorial aplicable documentada</a:t>
            </a:r>
            <a:endParaRPr lang="es-CL" sz="1300" dirty="0"/>
          </a:p>
        </p:txBody>
      </p:sp>
      <p:sp>
        <p:nvSpPr>
          <p:cNvPr id="16" name="Text 14"/>
          <p:cNvSpPr txBox="1"/>
          <p:nvPr/>
        </p:nvSpPr>
        <p:spPr>
          <a:xfrm>
            <a:off x="5486400" y="2596896"/>
            <a:ext cx="2194560" cy="56692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 antes de la actividad comercial</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HITO</a:t>
            </a:r>
            <a:endParaRPr lang="es-CL" sz="1300" dirty="0"/>
          </a:p>
        </p:txBody>
      </p:sp>
      <p:sp>
        <p:nvSpPr>
          <p:cNvPr id="17" name="Text 15"/>
          <p:cNvSpPr txBox="1"/>
          <p:nvPr/>
        </p:nvSpPr>
        <p:spPr>
          <a:xfrm>
            <a:off x="7818120" y="2596896"/>
            <a:ext cx="1645920"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Gerente General</a:t>
            </a:r>
            <a:endParaRPr lang="es-CL" sz="1300" dirty="0"/>
          </a:p>
        </p:txBody>
      </p:sp>
      <p:sp>
        <p:nvSpPr>
          <p:cNvPr id="18" name="Text 16"/>
          <p:cNvSpPr txBox="1"/>
          <p:nvPr/>
        </p:nvSpPr>
        <p:spPr>
          <a:xfrm>
            <a:off x="9601200" y="2596896"/>
            <a:ext cx="1904695"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Plantear al MTT los precedentes de conversiones ya reguladas</a:t>
            </a:r>
            <a:endParaRPr lang="es-CL" sz="1300" dirty="0"/>
          </a:p>
        </p:txBody>
      </p:sp>
      <p:sp>
        <p:nvSpPr>
          <p:cNvPr id="19" name="Shape 17"/>
          <p:cNvSpPr/>
          <p:nvPr/>
        </p:nvSpPr>
        <p:spPr>
          <a:xfrm>
            <a:off x="548640" y="3163824"/>
            <a:ext cx="11094415" cy="0"/>
          </a:xfrm>
          <a:prstGeom prst="line">
            <a:avLst/>
          </a:prstGeom>
          <a:noFill/>
          <a:ln w="9525">
            <a:solidFill>
              <a:schemeClr val="accent5"/>
            </a:solidFill>
            <a:prstDash val="solid"/>
          </a:ln>
        </p:spPr>
      </p:sp>
      <p:sp>
        <p:nvSpPr>
          <p:cNvPr id="20" name="Shape 18"/>
          <p:cNvSpPr/>
          <p:nvPr/>
        </p:nvSpPr>
        <p:spPr>
          <a:xfrm>
            <a:off x="548640" y="3300984"/>
            <a:ext cx="548640" cy="292608"/>
          </a:xfrm>
          <a:prstGeom prst="rect">
            <a:avLst/>
          </a:prstGeom>
          <a:solidFill>
            <a:schemeClr val="accent5"/>
          </a:solidFill>
          <a:ln/>
        </p:spPr>
      </p:sp>
      <p:sp>
        <p:nvSpPr>
          <p:cNvPr id="21" name="Shape 19"/>
          <p:cNvSpPr/>
          <p:nvPr/>
        </p:nvSpPr>
        <p:spPr>
          <a:xfrm>
            <a:off x="548640" y="3300984"/>
            <a:ext cx="548640" cy="45720"/>
          </a:xfrm>
          <a:prstGeom prst="rect">
            <a:avLst/>
          </a:prstGeom>
          <a:solidFill>
            <a:srgbClr val="ECECEC"/>
          </a:solidFill>
          <a:ln/>
        </p:spPr>
      </p:sp>
      <p:sp>
        <p:nvSpPr>
          <p:cNvPr id="22" name="Text 20"/>
          <p:cNvSpPr txBox="1"/>
          <p:nvPr/>
        </p:nvSpPr>
        <p:spPr>
          <a:xfrm>
            <a:off x="548640" y="3300984"/>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P2</a:t>
            </a:r>
            <a:endParaRPr lang="es-CL" sz="1200" dirty="0"/>
          </a:p>
        </p:txBody>
      </p:sp>
      <p:sp>
        <p:nvSpPr>
          <p:cNvPr id="23" name="Text 21"/>
          <p:cNvSpPr txBox="1"/>
          <p:nvPr/>
        </p:nvSpPr>
        <p:spPr>
          <a:xfrm>
            <a:off x="1280160" y="3163824"/>
            <a:ext cx="4069080" cy="56692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Par modelo-kit aprobado</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Pares modelo-kit formalmente aprobados</a:t>
            </a:r>
            <a:endParaRPr lang="es-CL" sz="1300" dirty="0"/>
          </a:p>
        </p:txBody>
      </p:sp>
      <p:sp>
        <p:nvSpPr>
          <p:cNvPr id="24" name="Text 22"/>
          <p:cNvSpPr txBox="1"/>
          <p:nvPr/>
        </p:nvSpPr>
        <p:spPr>
          <a:xfrm>
            <a:off x="5486400" y="3163824"/>
            <a:ext cx="2194560" cy="56692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 o más antes de instalar ese par</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HITO</a:t>
            </a:r>
            <a:endParaRPr lang="es-CL" sz="1300" dirty="0"/>
          </a:p>
        </p:txBody>
      </p:sp>
      <p:sp>
        <p:nvSpPr>
          <p:cNvPr id="25" name="Text 23"/>
          <p:cNvSpPr txBox="1"/>
          <p:nvPr/>
        </p:nvSpPr>
        <p:spPr>
          <a:xfrm>
            <a:off x="7818120" y="3163824"/>
            <a:ext cx="1645920"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Ingeniería de Calibración</a:t>
            </a:r>
            <a:endParaRPr lang="es-CL" sz="1300" dirty="0"/>
          </a:p>
        </p:txBody>
      </p:sp>
      <p:sp>
        <p:nvSpPr>
          <p:cNvPr id="26" name="Text 24"/>
          <p:cNvSpPr txBox="1"/>
          <p:nvPr/>
        </p:nvSpPr>
        <p:spPr>
          <a:xfrm>
            <a:off x="9601200" y="3163824"/>
            <a:ext cx="1904695"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Homologar primero los modelos más densos</a:t>
            </a:r>
            <a:endParaRPr lang="es-CL" sz="1300" dirty="0"/>
          </a:p>
        </p:txBody>
      </p:sp>
      <p:sp>
        <p:nvSpPr>
          <p:cNvPr id="27" name="Shape 25"/>
          <p:cNvSpPr/>
          <p:nvPr/>
        </p:nvSpPr>
        <p:spPr>
          <a:xfrm>
            <a:off x="548640" y="3730752"/>
            <a:ext cx="11094415" cy="0"/>
          </a:xfrm>
          <a:prstGeom prst="line">
            <a:avLst/>
          </a:prstGeom>
          <a:noFill/>
          <a:ln w="9525">
            <a:solidFill>
              <a:schemeClr val="accent5"/>
            </a:solidFill>
            <a:prstDash val="solid"/>
          </a:ln>
        </p:spPr>
      </p:sp>
      <p:sp>
        <p:nvSpPr>
          <p:cNvPr id="28" name="Shape 26"/>
          <p:cNvSpPr/>
          <p:nvPr/>
        </p:nvSpPr>
        <p:spPr>
          <a:xfrm>
            <a:off x="548640" y="3867912"/>
            <a:ext cx="548640" cy="292608"/>
          </a:xfrm>
          <a:prstGeom prst="rect">
            <a:avLst/>
          </a:prstGeom>
          <a:solidFill>
            <a:schemeClr val="accent5"/>
          </a:solidFill>
          <a:ln/>
        </p:spPr>
      </p:sp>
      <p:sp>
        <p:nvSpPr>
          <p:cNvPr id="29" name="Text 27"/>
          <p:cNvSpPr txBox="1"/>
          <p:nvPr/>
        </p:nvSpPr>
        <p:spPr>
          <a:xfrm>
            <a:off x="548640" y="3867912"/>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P3</a:t>
            </a:r>
            <a:endParaRPr lang="es-CL" sz="1200" dirty="0"/>
          </a:p>
        </p:txBody>
      </p:sp>
      <p:sp>
        <p:nvSpPr>
          <p:cNvPr id="30" name="Text 28"/>
          <p:cNvSpPr txBox="1"/>
          <p:nvPr/>
        </p:nvSpPr>
        <p:spPr>
          <a:xfrm>
            <a:off x="1280160" y="3730752"/>
            <a:ext cx="4069080" cy="56692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Instalación segura</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Órdenes con control técnico completo ÷ cerradas</a:t>
            </a:r>
            <a:endParaRPr lang="es-CL" sz="1300" dirty="0"/>
          </a:p>
        </p:txBody>
      </p:sp>
      <p:sp>
        <p:nvSpPr>
          <p:cNvPr id="31" name="Text 29"/>
          <p:cNvSpPr txBox="1"/>
          <p:nvPr/>
        </p:nvSpPr>
        <p:spPr>
          <a:xfrm>
            <a:off x="5486400" y="3730752"/>
            <a:ext cx="2194560" cy="56692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100% de las órdenes</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CRÍTICO</a:t>
            </a:r>
            <a:endParaRPr lang="es-CL" sz="1300" dirty="0"/>
          </a:p>
        </p:txBody>
      </p:sp>
      <p:sp>
        <p:nvSpPr>
          <p:cNvPr id="32" name="Text 30"/>
          <p:cNvSpPr txBox="1"/>
          <p:nvPr/>
        </p:nvSpPr>
        <p:spPr>
          <a:xfrm>
            <a:off x="7818120" y="3730752"/>
            <a:ext cx="1645920"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Responsable Técnico</a:t>
            </a:r>
            <a:endParaRPr lang="es-CL" sz="1300" dirty="0"/>
          </a:p>
        </p:txBody>
      </p:sp>
      <p:sp>
        <p:nvSpPr>
          <p:cNvPr id="33" name="Text 31"/>
          <p:cNvSpPr txBox="1"/>
          <p:nvPr/>
        </p:nvSpPr>
        <p:spPr>
          <a:xfrm>
            <a:off x="9601200" y="3730752"/>
            <a:ext cx="1904695"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Checklist técnico y acta de liberación</a:t>
            </a:r>
            <a:endParaRPr lang="es-CL" sz="1300" dirty="0"/>
          </a:p>
        </p:txBody>
      </p:sp>
      <p:sp>
        <p:nvSpPr>
          <p:cNvPr id="34" name="Shape 32"/>
          <p:cNvSpPr/>
          <p:nvPr/>
        </p:nvSpPr>
        <p:spPr>
          <a:xfrm>
            <a:off x="548640" y="4297680"/>
            <a:ext cx="11094415" cy="0"/>
          </a:xfrm>
          <a:prstGeom prst="line">
            <a:avLst/>
          </a:prstGeom>
          <a:noFill/>
          <a:ln w="9525">
            <a:solidFill>
              <a:schemeClr val="accent5"/>
            </a:solidFill>
            <a:prstDash val="solid"/>
          </a:ln>
        </p:spPr>
      </p:sp>
      <p:sp>
        <p:nvSpPr>
          <p:cNvPr id="35" name="Shape 33"/>
          <p:cNvSpPr/>
          <p:nvPr/>
        </p:nvSpPr>
        <p:spPr>
          <a:xfrm>
            <a:off x="548640" y="4434840"/>
            <a:ext cx="548640" cy="292608"/>
          </a:xfrm>
          <a:prstGeom prst="rect">
            <a:avLst/>
          </a:prstGeom>
          <a:solidFill>
            <a:schemeClr val="accent5"/>
          </a:solidFill>
          <a:ln/>
        </p:spPr>
      </p:sp>
      <p:sp>
        <p:nvSpPr>
          <p:cNvPr id="36" name="Shape 34"/>
          <p:cNvSpPr/>
          <p:nvPr/>
        </p:nvSpPr>
        <p:spPr>
          <a:xfrm>
            <a:off x="548640" y="4434840"/>
            <a:ext cx="548640" cy="45720"/>
          </a:xfrm>
          <a:prstGeom prst="rect">
            <a:avLst/>
          </a:prstGeom>
          <a:solidFill>
            <a:srgbClr val="0A6F9E"/>
          </a:solidFill>
          <a:ln/>
        </p:spPr>
      </p:sp>
      <p:sp>
        <p:nvSpPr>
          <p:cNvPr id="37" name="Text 35"/>
          <p:cNvSpPr txBox="1"/>
          <p:nvPr/>
        </p:nvSpPr>
        <p:spPr>
          <a:xfrm>
            <a:off x="548640" y="4434840"/>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P4</a:t>
            </a:r>
            <a:endParaRPr lang="es-CL" sz="1200" dirty="0"/>
          </a:p>
        </p:txBody>
      </p:sp>
      <p:sp>
        <p:nvSpPr>
          <p:cNvPr id="38" name="Text 36"/>
          <p:cNvSpPr txBox="1"/>
          <p:nvPr/>
        </p:nvSpPr>
        <p:spPr>
          <a:xfrm>
            <a:off x="1280160" y="4297680"/>
            <a:ext cx="4069080" cy="56692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Medición y posventa</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Expedientes de medición y entrega completos ÷ exigibles</a:t>
            </a:r>
            <a:endParaRPr lang="es-CL" sz="1300" dirty="0"/>
          </a:p>
        </p:txBody>
      </p:sp>
      <p:sp>
        <p:nvSpPr>
          <p:cNvPr id="39" name="Text 37"/>
          <p:cNvSpPr txBox="1"/>
          <p:nvPr/>
        </p:nvSpPr>
        <p:spPr>
          <a:xfrm>
            <a:off x="5486400" y="4297680"/>
            <a:ext cx="2194560" cy="56692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100% de los exigibles</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CRÍTICO</a:t>
            </a:r>
            <a:endParaRPr lang="es-CL" sz="1300" dirty="0"/>
          </a:p>
        </p:txBody>
      </p:sp>
      <p:sp>
        <p:nvSpPr>
          <p:cNvPr id="40" name="Text 38"/>
          <p:cNvSpPr txBox="1"/>
          <p:nvPr/>
        </p:nvSpPr>
        <p:spPr>
          <a:xfrm>
            <a:off x="7818120" y="4297680"/>
            <a:ext cx="1645920"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Ingeniería de Calibración</a:t>
            </a:r>
            <a:endParaRPr lang="es-CL" sz="1300" dirty="0"/>
          </a:p>
        </p:txBody>
      </p:sp>
      <p:sp>
        <p:nvSpPr>
          <p:cNvPr id="41" name="Text 39"/>
          <p:cNvSpPr txBox="1"/>
          <p:nvPr/>
        </p:nvSpPr>
        <p:spPr>
          <a:xfrm>
            <a:off x="9601200" y="4297680"/>
            <a:ext cx="1904695"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Expediente único por vehículo</a:t>
            </a:r>
            <a:endParaRPr lang="es-CL" sz="1300" dirty="0"/>
          </a:p>
        </p:txBody>
      </p:sp>
      <p:sp>
        <p:nvSpPr>
          <p:cNvPr id="42" name="Shape 40"/>
          <p:cNvSpPr/>
          <p:nvPr/>
        </p:nvSpPr>
        <p:spPr>
          <a:xfrm>
            <a:off x="548640" y="4864608"/>
            <a:ext cx="11094415" cy="0"/>
          </a:xfrm>
          <a:prstGeom prst="line">
            <a:avLst/>
          </a:prstGeom>
          <a:noFill/>
          <a:ln w="9525">
            <a:solidFill>
              <a:schemeClr val="accent5"/>
            </a:solidFill>
            <a:prstDash val="solid"/>
          </a:ln>
        </p:spPr>
      </p:sp>
      <p:sp>
        <p:nvSpPr>
          <p:cNvPr id="43" name="Shape 41"/>
          <p:cNvSpPr/>
          <p:nvPr/>
        </p:nvSpPr>
        <p:spPr>
          <a:xfrm>
            <a:off x="548640" y="5001768"/>
            <a:ext cx="548640" cy="292608"/>
          </a:xfrm>
          <a:prstGeom prst="rect">
            <a:avLst/>
          </a:prstGeom>
          <a:solidFill>
            <a:schemeClr val="accent5"/>
          </a:solidFill>
          <a:ln/>
        </p:spPr>
      </p:sp>
      <p:sp>
        <p:nvSpPr>
          <p:cNvPr id="44" name="Shape 42"/>
          <p:cNvSpPr/>
          <p:nvPr/>
        </p:nvSpPr>
        <p:spPr>
          <a:xfrm>
            <a:off x="548640" y="5001768"/>
            <a:ext cx="548640" cy="45720"/>
          </a:xfrm>
          <a:prstGeom prst="rect">
            <a:avLst/>
          </a:prstGeom>
          <a:solidFill>
            <a:srgbClr val="0A6F9E"/>
          </a:solidFill>
          <a:ln/>
        </p:spPr>
      </p:sp>
      <p:sp>
        <p:nvSpPr>
          <p:cNvPr id="45" name="Text 43"/>
          <p:cNvSpPr txBox="1"/>
          <p:nvPr/>
        </p:nvSpPr>
        <p:spPr>
          <a:xfrm>
            <a:off x="548640" y="5001768"/>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P5</a:t>
            </a:r>
            <a:endParaRPr lang="es-CL" sz="1200" dirty="0"/>
          </a:p>
        </p:txBody>
      </p:sp>
      <p:sp>
        <p:nvSpPr>
          <p:cNvPr id="46" name="Text 44"/>
          <p:cNvSpPr txBox="1"/>
          <p:nvPr/>
        </p:nvSpPr>
        <p:spPr>
          <a:xfrm>
            <a:off x="1280160" y="4864608"/>
            <a:ext cx="4069080" cy="56692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Réplica en talleres</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Paquete de licencia validado</a:t>
            </a:r>
            <a:endParaRPr lang="es-CL" sz="1300" dirty="0"/>
          </a:p>
        </p:txBody>
      </p:sp>
      <p:sp>
        <p:nvSpPr>
          <p:cNvPr id="47" name="Text 45"/>
          <p:cNvSpPr txBox="1"/>
          <p:nvPr/>
        </p:nvSpPr>
        <p:spPr>
          <a:xfrm>
            <a:off x="5486400" y="4864608"/>
            <a:ext cx="2194560" cy="56692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Hito; fecha por definir</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META PENDIENTE</a:t>
            </a:r>
            <a:endParaRPr lang="es-CL" sz="1300" dirty="0"/>
          </a:p>
        </p:txBody>
      </p:sp>
      <p:sp>
        <p:nvSpPr>
          <p:cNvPr id="48" name="Text 46"/>
          <p:cNvSpPr txBox="1"/>
          <p:nvPr/>
        </p:nvSpPr>
        <p:spPr>
          <a:xfrm>
            <a:off x="7818120" y="4864608"/>
            <a:ext cx="1645920"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Gerente General</a:t>
            </a:r>
            <a:endParaRPr lang="es-CL" sz="1300" dirty="0"/>
          </a:p>
        </p:txBody>
      </p:sp>
      <p:sp>
        <p:nvSpPr>
          <p:cNvPr id="49" name="Text 47"/>
          <p:cNvSpPr txBox="1"/>
          <p:nvPr/>
        </p:nvSpPr>
        <p:spPr>
          <a:xfrm>
            <a:off x="9601200" y="4864608"/>
            <a:ext cx="1904695"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Manual técnico y selección de talleres</a:t>
            </a:r>
            <a:endParaRPr lang="es-CL" sz="1300" dirty="0"/>
          </a:p>
        </p:txBody>
      </p:sp>
      <p:sp>
        <p:nvSpPr>
          <p:cNvPr id="50" name="Shape 48"/>
          <p:cNvSpPr/>
          <p:nvPr/>
        </p:nvSpPr>
        <p:spPr>
          <a:xfrm>
            <a:off x="548640" y="5431536"/>
            <a:ext cx="11094415" cy="0"/>
          </a:xfrm>
          <a:prstGeom prst="line">
            <a:avLst/>
          </a:prstGeom>
          <a:noFill/>
          <a:ln w="9525">
            <a:solidFill>
              <a:schemeClr val="accent5"/>
            </a:solidFill>
            <a:prstDash val="solid"/>
          </a:ln>
        </p:spPr>
      </p:sp>
      <p:sp>
        <p:nvSpPr>
          <p:cNvPr id="51" name="Shape 49"/>
          <p:cNvSpPr/>
          <p:nvPr/>
        </p:nvSpPr>
        <p:spPr>
          <a:xfrm>
            <a:off x="548640" y="5568696"/>
            <a:ext cx="548640" cy="292608"/>
          </a:xfrm>
          <a:prstGeom prst="rect">
            <a:avLst/>
          </a:prstGeom>
          <a:solidFill>
            <a:schemeClr val="accent5"/>
          </a:solidFill>
          <a:ln/>
        </p:spPr>
      </p:sp>
      <p:sp>
        <p:nvSpPr>
          <p:cNvPr id="52" name="Shape 50"/>
          <p:cNvSpPr/>
          <p:nvPr/>
        </p:nvSpPr>
        <p:spPr>
          <a:xfrm>
            <a:off x="548640" y="5568696"/>
            <a:ext cx="274320" cy="45720"/>
          </a:xfrm>
          <a:prstGeom prst="rect">
            <a:avLst/>
          </a:prstGeom>
          <a:solidFill>
            <a:srgbClr val="ECECEC"/>
          </a:solidFill>
          <a:ln/>
        </p:spPr>
      </p:sp>
      <p:sp>
        <p:nvSpPr>
          <p:cNvPr id="53" name="Shape 51"/>
          <p:cNvSpPr/>
          <p:nvPr/>
        </p:nvSpPr>
        <p:spPr>
          <a:xfrm>
            <a:off x="822960" y="5568696"/>
            <a:ext cx="274320" cy="45720"/>
          </a:xfrm>
          <a:prstGeom prst="rect">
            <a:avLst/>
          </a:prstGeom>
          <a:solidFill>
            <a:srgbClr val="22B8F0"/>
          </a:solidFill>
          <a:ln/>
        </p:spPr>
      </p:sp>
      <p:sp>
        <p:nvSpPr>
          <p:cNvPr id="54" name="Text 52"/>
          <p:cNvSpPr txBox="1"/>
          <p:nvPr/>
        </p:nvSpPr>
        <p:spPr>
          <a:xfrm>
            <a:off x="548640" y="5568696"/>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P6</a:t>
            </a:r>
            <a:endParaRPr lang="es-CL" sz="1200" dirty="0"/>
          </a:p>
        </p:txBody>
      </p:sp>
      <p:sp>
        <p:nvSpPr>
          <p:cNvPr id="55" name="Text 53"/>
          <p:cNvSpPr txBox="1"/>
          <p:nvPr/>
        </p:nvSpPr>
        <p:spPr>
          <a:xfrm>
            <a:off x="1280160" y="5431536"/>
            <a:ext cx="4069080" cy="56692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Alianzas que destraban</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Convenios vigentes: aseguradora, planta de revisión y financiera</a:t>
            </a:r>
            <a:endParaRPr lang="es-CL" sz="1300" dirty="0"/>
          </a:p>
        </p:txBody>
      </p:sp>
      <p:sp>
        <p:nvSpPr>
          <p:cNvPr id="56" name="Text 54"/>
          <p:cNvSpPr txBox="1"/>
          <p:nvPr/>
        </p:nvSpPr>
        <p:spPr>
          <a:xfrm>
            <a:off x="5486400" y="5431536"/>
            <a:ext cx="2194560" cy="56692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 de cada una antes del primer kit</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HITO</a:t>
            </a:r>
            <a:endParaRPr lang="es-CL" sz="1300" dirty="0"/>
          </a:p>
        </p:txBody>
      </p:sp>
      <p:sp>
        <p:nvSpPr>
          <p:cNvPr id="57" name="Text 55"/>
          <p:cNvSpPr txBox="1"/>
          <p:nvPr/>
        </p:nvSpPr>
        <p:spPr>
          <a:xfrm>
            <a:off x="7818120" y="5431536"/>
            <a:ext cx="1645920"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Gerente General</a:t>
            </a:r>
            <a:endParaRPr lang="es-CL" sz="1300" dirty="0"/>
          </a:p>
        </p:txBody>
      </p:sp>
      <p:sp>
        <p:nvSpPr>
          <p:cNvPr id="58" name="Text 56"/>
          <p:cNvSpPr txBox="1"/>
          <p:nvPr/>
        </p:nvSpPr>
        <p:spPr>
          <a:xfrm>
            <a:off x="9601200" y="5431536"/>
            <a:ext cx="1904695" cy="56692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Convenios del cruce DA del FODA</a:t>
            </a:r>
            <a:endParaRPr lang="es-CL" sz="1300" dirty="0"/>
          </a:p>
        </p:txBody>
      </p:sp>
      <p:sp>
        <p:nvSpPr>
          <p:cNvPr id="59" name="Shape 57"/>
          <p:cNvSpPr/>
          <p:nvPr/>
        </p:nvSpPr>
        <p:spPr>
          <a:xfrm>
            <a:off x="548640" y="5998464"/>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CMI COMPLETO</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CMI COMPLETO: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clientes.</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C3 y C4 sin meta numérica hasta la primera muestra de clientes.</a:t>
            </a:r>
            <a:endParaRPr lang="es-CL" sz="1100" dirty="0"/>
          </a:p>
        </p:txBody>
      </p:sp>
      <p:sp>
        <p:nvSpPr>
          <p:cNvPr id="6" name="Text 4"/>
          <p:cNvSpPr txBox="1"/>
          <p:nvPr/>
        </p:nvSpPr>
        <p:spPr>
          <a:xfrm>
            <a:off x="548640" y="2395728"/>
            <a:ext cx="731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ID</a:t>
            </a:r>
            <a:endParaRPr lang="es-CL" sz="1200" dirty="0"/>
          </a:p>
        </p:txBody>
      </p:sp>
      <p:sp>
        <p:nvSpPr>
          <p:cNvPr id="7" name="Text 5"/>
          <p:cNvSpPr txBox="1"/>
          <p:nvPr/>
        </p:nvSpPr>
        <p:spPr>
          <a:xfrm>
            <a:off x="1280160" y="2395728"/>
            <a:ext cx="42062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OBJETIVO · INDICADOR</a:t>
            </a:r>
            <a:endParaRPr lang="es-CL" sz="1200" dirty="0"/>
          </a:p>
        </p:txBody>
      </p:sp>
      <p:sp>
        <p:nvSpPr>
          <p:cNvPr id="8" name="Text 6"/>
          <p:cNvSpPr txBox="1"/>
          <p:nvPr/>
        </p:nvSpPr>
        <p:spPr>
          <a:xfrm>
            <a:off x="5486400" y="2395728"/>
            <a:ext cx="23317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META · REGLA</a:t>
            </a:r>
            <a:endParaRPr lang="es-CL" sz="1200" dirty="0"/>
          </a:p>
        </p:txBody>
      </p:sp>
      <p:sp>
        <p:nvSpPr>
          <p:cNvPr id="9" name="Text 7"/>
          <p:cNvSpPr txBox="1"/>
          <p:nvPr/>
        </p:nvSpPr>
        <p:spPr>
          <a:xfrm>
            <a:off x="7818120" y="2395728"/>
            <a:ext cx="17830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RESPONSABLE</a:t>
            </a:r>
            <a:endParaRPr lang="es-CL" sz="1200" dirty="0"/>
          </a:p>
        </p:txBody>
      </p:sp>
      <p:sp>
        <p:nvSpPr>
          <p:cNvPr id="10" name="Text 8"/>
          <p:cNvSpPr txBox="1"/>
          <p:nvPr/>
        </p:nvSpPr>
        <p:spPr>
          <a:xfrm>
            <a:off x="9601200" y="2395728"/>
            <a:ext cx="20418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INICIATIVA</a:t>
            </a:r>
            <a:endParaRPr lang="es-CL" sz="1200" dirty="0"/>
          </a:p>
        </p:txBody>
      </p:sp>
      <p:sp>
        <p:nvSpPr>
          <p:cNvPr id="11" name="Shape 9"/>
          <p:cNvSpPr/>
          <p:nvPr/>
        </p:nvSpPr>
        <p:spPr>
          <a:xfrm>
            <a:off x="548640" y="2706624"/>
            <a:ext cx="11094415" cy="0"/>
          </a:xfrm>
          <a:prstGeom prst="line">
            <a:avLst/>
          </a:prstGeom>
          <a:noFill/>
          <a:ln w="9525">
            <a:solidFill>
              <a:schemeClr val="accent1"/>
            </a:solidFill>
            <a:prstDash val="solid"/>
          </a:ln>
        </p:spPr>
      </p:sp>
      <p:sp>
        <p:nvSpPr>
          <p:cNvPr id="12" name="Shape 10"/>
          <p:cNvSpPr/>
          <p:nvPr/>
        </p:nvSpPr>
        <p:spPr>
          <a:xfrm>
            <a:off x="548640" y="2935224"/>
            <a:ext cx="548640" cy="292608"/>
          </a:xfrm>
          <a:prstGeom prst="rect">
            <a:avLst/>
          </a:prstGeom>
          <a:solidFill>
            <a:schemeClr val="accent5"/>
          </a:solidFill>
          <a:ln/>
        </p:spPr>
      </p:sp>
      <p:sp>
        <p:nvSpPr>
          <p:cNvPr id="13" name="Text 11"/>
          <p:cNvSpPr txBox="1"/>
          <p:nvPr/>
        </p:nvSpPr>
        <p:spPr>
          <a:xfrm>
            <a:off x="548640" y="2935224"/>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C1</a:t>
            </a:r>
            <a:endParaRPr lang="es-CL" sz="1200" dirty="0"/>
          </a:p>
        </p:txBody>
      </p:sp>
      <p:sp>
        <p:nvSpPr>
          <p:cNvPr id="14" name="Text 12"/>
          <p:cNvSpPr txBox="1"/>
          <p:nvPr/>
        </p:nvSpPr>
        <p:spPr>
          <a:xfrm>
            <a:off x="1280160" y="2706624"/>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Promesa técnica cumplida</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Servicios conformes ÷ entregas verificadas</a:t>
            </a:r>
            <a:endParaRPr lang="es-CL" sz="1300" dirty="0"/>
          </a:p>
        </p:txBody>
      </p:sp>
      <p:sp>
        <p:nvSpPr>
          <p:cNvPr id="15" name="Text 13"/>
          <p:cNvSpPr txBox="1"/>
          <p:nvPr/>
        </p:nvSpPr>
        <p:spPr>
          <a:xfrm>
            <a:off x="5486400" y="2706624"/>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100% de las entregas</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CRÍTICO</a:t>
            </a:r>
            <a:endParaRPr lang="es-CL" sz="1300" dirty="0"/>
          </a:p>
        </p:txBody>
      </p:sp>
      <p:sp>
        <p:nvSpPr>
          <p:cNvPr id="16" name="Text 14"/>
          <p:cNvSpPr txBox="1"/>
          <p:nvPr/>
        </p:nvSpPr>
        <p:spPr>
          <a:xfrm>
            <a:off x="7818120" y="2706624"/>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Responsable Técnico</a:t>
            </a:r>
            <a:endParaRPr lang="es-CL" sz="1300" dirty="0"/>
          </a:p>
        </p:txBody>
      </p:sp>
      <p:sp>
        <p:nvSpPr>
          <p:cNvPr id="17" name="Text 15"/>
          <p:cNvSpPr txBox="1"/>
          <p:nvPr/>
        </p:nvSpPr>
        <p:spPr>
          <a:xfrm>
            <a:off x="9601200" y="2706624"/>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Acta de conformidad firmada</a:t>
            </a:r>
            <a:endParaRPr lang="es-CL" sz="1300" dirty="0"/>
          </a:p>
        </p:txBody>
      </p:sp>
      <p:sp>
        <p:nvSpPr>
          <p:cNvPr id="18" name="Shape 16"/>
          <p:cNvSpPr/>
          <p:nvPr/>
        </p:nvSpPr>
        <p:spPr>
          <a:xfrm>
            <a:off x="548640" y="3456432"/>
            <a:ext cx="11094415" cy="0"/>
          </a:xfrm>
          <a:prstGeom prst="line">
            <a:avLst/>
          </a:prstGeom>
          <a:noFill/>
          <a:ln w="9525">
            <a:solidFill>
              <a:schemeClr val="accent5"/>
            </a:solidFill>
            <a:prstDash val="solid"/>
          </a:ln>
        </p:spPr>
      </p:sp>
      <p:sp>
        <p:nvSpPr>
          <p:cNvPr id="19" name="Shape 17"/>
          <p:cNvSpPr/>
          <p:nvPr/>
        </p:nvSpPr>
        <p:spPr>
          <a:xfrm>
            <a:off x="548640" y="3685032"/>
            <a:ext cx="548640" cy="292608"/>
          </a:xfrm>
          <a:prstGeom prst="rect">
            <a:avLst/>
          </a:prstGeom>
          <a:solidFill>
            <a:schemeClr val="accent5"/>
          </a:solidFill>
          <a:ln/>
        </p:spPr>
      </p:sp>
      <p:sp>
        <p:nvSpPr>
          <p:cNvPr id="20" name="Shape 18"/>
          <p:cNvSpPr/>
          <p:nvPr/>
        </p:nvSpPr>
        <p:spPr>
          <a:xfrm>
            <a:off x="548640" y="3685032"/>
            <a:ext cx="548640" cy="45720"/>
          </a:xfrm>
          <a:prstGeom prst="rect">
            <a:avLst/>
          </a:prstGeom>
          <a:solidFill>
            <a:srgbClr val="0A6F9E"/>
          </a:solidFill>
          <a:ln/>
        </p:spPr>
      </p:sp>
      <p:sp>
        <p:nvSpPr>
          <p:cNvPr id="21" name="Text 19"/>
          <p:cNvSpPr txBox="1"/>
          <p:nvPr/>
        </p:nvSpPr>
        <p:spPr>
          <a:xfrm>
            <a:off x="548640" y="3685032"/>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C2</a:t>
            </a:r>
            <a:endParaRPr lang="es-CL" sz="1200" dirty="0"/>
          </a:p>
        </p:txBody>
      </p:sp>
      <p:sp>
        <p:nvSpPr>
          <p:cNvPr id="22" name="Text 20"/>
          <p:cNvSpPr txBox="1"/>
          <p:nvPr/>
        </p:nvSpPr>
        <p:spPr>
          <a:xfrm>
            <a:off x="1280160" y="3456432"/>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Ahorro acreditado</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Reportes comparativos completos ÷ exigibles</a:t>
            </a:r>
            <a:endParaRPr lang="es-CL" sz="1300" dirty="0"/>
          </a:p>
        </p:txBody>
      </p:sp>
      <p:sp>
        <p:nvSpPr>
          <p:cNvPr id="23" name="Text 21"/>
          <p:cNvSpPr txBox="1"/>
          <p:nvPr/>
        </p:nvSpPr>
        <p:spPr>
          <a:xfrm>
            <a:off x="5486400" y="3456432"/>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100% de los exigibles</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CRÍTICO</a:t>
            </a:r>
            <a:endParaRPr lang="es-CL" sz="1300" dirty="0"/>
          </a:p>
        </p:txBody>
      </p:sp>
      <p:sp>
        <p:nvSpPr>
          <p:cNvPr id="24" name="Text 22"/>
          <p:cNvSpPr txBox="1"/>
          <p:nvPr/>
        </p:nvSpPr>
        <p:spPr>
          <a:xfrm>
            <a:off x="7818120" y="3456432"/>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Comercial y Postventa</a:t>
            </a:r>
            <a:endParaRPr lang="es-CL" sz="1300" dirty="0"/>
          </a:p>
        </p:txBody>
      </p:sp>
      <p:sp>
        <p:nvSpPr>
          <p:cNvPr id="25" name="Text 23"/>
          <p:cNvSpPr txBox="1"/>
          <p:nvPr/>
        </p:nvSpPr>
        <p:spPr>
          <a:xfrm>
            <a:off x="9601200" y="3456432"/>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Reporte con método, límites y acuse</a:t>
            </a:r>
            <a:endParaRPr lang="es-CL" sz="1300" dirty="0"/>
          </a:p>
        </p:txBody>
      </p:sp>
      <p:sp>
        <p:nvSpPr>
          <p:cNvPr id="26" name="Shape 24"/>
          <p:cNvSpPr/>
          <p:nvPr/>
        </p:nvSpPr>
        <p:spPr>
          <a:xfrm>
            <a:off x="548640" y="4206240"/>
            <a:ext cx="11094415" cy="0"/>
          </a:xfrm>
          <a:prstGeom prst="line">
            <a:avLst/>
          </a:prstGeom>
          <a:noFill/>
          <a:ln w="9525">
            <a:solidFill>
              <a:schemeClr val="accent5"/>
            </a:solidFill>
            <a:prstDash val="solid"/>
          </a:ln>
        </p:spPr>
      </p:sp>
      <p:sp>
        <p:nvSpPr>
          <p:cNvPr id="27" name="Shape 25"/>
          <p:cNvSpPr/>
          <p:nvPr/>
        </p:nvSpPr>
        <p:spPr>
          <a:xfrm>
            <a:off x="548640" y="4434840"/>
            <a:ext cx="548640" cy="292608"/>
          </a:xfrm>
          <a:prstGeom prst="rect">
            <a:avLst/>
          </a:prstGeom>
          <a:solidFill>
            <a:schemeClr val="accent5"/>
          </a:solidFill>
          <a:ln/>
        </p:spPr>
      </p:sp>
      <p:sp>
        <p:nvSpPr>
          <p:cNvPr id="28" name="Text 26"/>
          <p:cNvSpPr txBox="1"/>
          <p:nvPr/>
        </p:nvSpPr>
        <p:spPr>
          <a:xfrm>
            <a:off x="548640" y="4434840"/>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C3</a:t>
            </a:r>
            <a:endParaRPr lang="es-CL" sz="1200" dirty="0"/>
          </a:p>
        </p:txBody>
      </p:sp>
      <p:sp>
        <p:nvSpPr>
          <p:cNvPr id="29" name="Text 27"/>
          <p:cNvSpPr txBox="1"/>
          <p:nvPr/>
        </p:nvSpPr>
        <p:spPr>
          <a:xfrm>
            <a:off x="1280160" y="4206240"/>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Confianza del cliente</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Confianza declarada después del servicio; reclamos por servicio</a:t>
            </a:r>
            <a:endParaRPr lang="es-CL" sz="1300" dirty="0"/>
          </a:p>
        </p:txBody>
      </p:sp>
      <p:sp>
        <p:nvSpPr>
          <p:cNvPr id="30" name="Text 28"/>
          <p:cNvSpPr txBox="1"/>
          <p:nvPr/>
        </p:nvSpPr>
        <p:spPr>
          <a:xfrm>
            <a:off x="5486400" y="4206240"/>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Por definir con la primera muestra</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META PENDIENTE</a:t>
            </a:r>
            <a:endParaRPr lang="es-CL" sz="1300" dirty="0"/>
          </a:p>
        </p:txBody>
      </p:sp>
      <p:sp>
        <p:nvSpPr>
          <p:cNvPr id="31" name="Text 29"/>
          <p:cNvSpPr txBox="1"/>
          <p:nvPr/>
        </p:nvSpPr>
        <p:spPr>
          <a:xfrm>
            <a:off x="7818120" y="4206240"/>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Comercial y Postventa</a:t>
            </a:r>
            <a:endParaRPr lang="es-CL" sz="1300" dirty="0"/>
          </a:p>
        </p:txBody>
      </p:sp>
      <p:sp>
        <p:nvSpPr>
          <p:cNvPr id="32" name="Text 30"/>
          <p:cNvSpPr txBox="1"/>
          <p:nvPr/>
        </p:nvSpPr>
        <p:spPr>
          <a:xfrm>
            <a:off x="9601200" y="4206240"/>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Encuesta posservicio y registro de reclamos</a:t>
            </a:r>
            <a:endParaRPr lang="es-CL" sz="1300" dirty="0"/>
          </a:p>
        </p:txBody>
      </p:sp>
      <p:sp>
        <p:nvSpPr>
          <p:cNvPr id="33" name="Shape 31"/>
          <p:cNvSpPr/>
          <p:nvPr/>
        </p:nvSpPr>
        <p:spPr>
          <a:xfrm>
            <a:off x="548640" y="4956048"/>
            <a:ext cx="11094415" cy="0"/>
          </a:xfrm>
          <a:prstGeom prst="line">
            <a:avLst/>
          </a:prstGeom>
          <a:noFill/>
          <a:ln w="9525">
            <a:solidFill>
              <a:schemeClr val="accent5"/>
            </a:solidFill>
            <a:prstDash val="solid"/>
          </a:ln>
        </p:spPr>
      </p:sp>
      <p:sp>
        <p:nvSpPr>
          <p:cNvPr id="34" name="Shape 32"/>
          <p:cNvSpPr/>
          <p:nvPr/>
        </p:nvSpPr>
        <p:spPr>
          <a:xfrm>
            <a:off x="548640" y="5184648"/>
            <a:ext cx="548640" cy="292608"/>
          </a:xfrm>
          <a:prstGeom prst="rect">
            <a:avLst/>
          </a:prstGeom>
          <a:solidFill>
            <a:schemeClr val="accent5"/>
          </a:solidFill>
          <a:ln/>
        </p:spPr>
      </p:sp>
      <p:sp>
        <p:nvSpPr>
          <p:cNvPr id="35" name="Shape 33"/>
          <p:cNvSpPr/>
          <p:nvPr/>
        </p:nvSpPr>
        <p:spPr>
          <a:xfrm>
            <a:off x="548640" y="5184648"/>
            <a:ext cx="548640" cy="45720"/>
          </a:xfrm>
          <a:prstGeom prst="rect">
            <a:avLst/>
          </a:prstGeom>
          <a:solidFill>
            <a:srgbClr val="22B8F0"/>
          </a:solidFill>
          <a:ln/>
        </p:spPr>
      </p:sp>
      <p:sp>
        <p:nvSpPr>
          <p:cNvPr id="36" name="Text 34"/>
          <p:cNvSpPr txBox="1"/>
          <p:nvPr/>
        </p:nvSpPr>
        <p:spPr>
          <a:xfrm>
            <a:off x="548640" y="5184648"/>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C4</a:t>
            </a:r>
            <a:endParaRPr lang="es-CL" sz="1200" dirty="0"/>
          </a:p>
        </p:txBody>
      </p:sp>
      <p:sp>
        <p:nvSpPr>
          <p:cNvPr id="37" name="Text 35"/>
          <p:cNvSpPr txBox="1"/>
          <p:nvPr/>
        </p:nvSpPr>
        <p:spPr>
          <a:xfrm>
            <a:off x="1280160" y="4956048"/>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Segmento captado</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Consultas del segmento convertidas en instalaciones</a:t>
            </a:r>
            <a:endParaRPr lang="es-CL" sz="1300" dirty="0"/>
          </a:p>
        </p:txBody>
      </p:sp>
      <p:sp>
        <p:nvSpPr>
          <p:cNvPr id="38" name="Text 36"/>
          <p:cNvSpPr txBox="1"/>
          <p:nvPr/>
        </p:nvSpPr>
        <p:spPr>
          <a:xfrm>
            <a:off x="5486400" y="4956048"/>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Por definir con la primera muestra</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META PENDIENTE</a:t>
            </a:r>
            <a:endParaRPr lang="es-CL" sz="1300" dirty="0"/>
          </a:p>
        </p:txBody>
      </p:sp>
      <p:sp>
        <p:nvSpPr>
          <p:cNvPr id="39" name="Text 37"/>
          <p:cNvSpPr txBox="1"/>
          <p:nvPr/>
        </p:nvSpPr>
        <p:spPr>
          <a:xfrm>
            <a:off x="7818120" y="4956048"/>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Comercial y Postventa</a:t>
            </a:r>
            <a:endParaRPr lang="es-CL" sz="1300" dirty="0"/>
          </a:p>
        </p:txBody>
      </p:sp>
      <p:sp>
        <p:nvSpPr>
          <p:cNvPr id="40" name="Text 38"/>
          <p:cNvSpPr txBox="1"/>
          <p:nvPr/>
        </p:nvSpPr>
        <p:spPr>
          <a:xfrm>
            <a:off x="9601200" y="4956048"/>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Clasificar consultas por uso y seguir su conversión</a:t>
            </a:r>
            <a:endParaRPr lang="es-CL" sz="1300" dirty="0"/>
          </a:p>
        </p:txBody>
      </p:sp>
      <p:sp>
        <p:nvSpPr>
          <p:cNvPr id="41" name="Shape 39"/>
          <p:cNvSpPr/>
          <p:nvPr/>
        </p:nvSpPr>
        <p:spPr>
          <a:xfrm>
            <a:off x="548640" y="5705856"/>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CMI COMPLETO</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CMI COMPLETO: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financiera.</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F2 y F3 sin meta numérica hasta el Plan Financiero.</a:t>
            </a:r>
            <a:endParaRPr lang="es-CL" sz="1100" dirty="0"/>
          </a:p>
        </p:txBody>
      </p:sp>
      <p:sp>
        <p:nvSpPr>
          <p:cNvPr id="6" name="Text 4"/>
          <p:cNvSpPr txBox="1"/>
          <p:nvPr/>
        </p:nvSpPr>
        <p:spPr>
          <a:xfrm>
            <a:off x="548640" y="2395728"/>
            <a:ext cx="731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ID</a:t>
            </a:r>
            <a:endParaRPr lang="es-CL" sz="1200" dirty="0"/>
          </a:p>
        </p:txBody>
      </p:sp>
      <p:sp>
        <p:nvSpPr>
          <p:cNvPr id="7" name="Text 5"/>
          <p:cNvSpPr txBox="1"/>
          <p:nvPr/>
        </p:nvSpPr>
        <p:spPr>
          <a:xfrm>
            <a:off x="1280160" y="2395728"/>
            <a:ext cx="42062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OBJETIVO · INDICADOR</a:t>
            </a:r>
            <a:endParaRPr lang="es-CL" sz="1200" dirty="0"/>
          </a:p>
        </p:txBody>
      </p:sp>
      <p:sp>
        <p:nvSpPr>
          <p:cNvPr id="8" name="Text 6"/>
          <p:cNvSpPr txBox="1"/>
          <p:nvPr/>
        </p:nvSpPr>
        <p:spPr>
          <a:xfrm>
            <a:off x="5486400" y="2395728"/>
            <a:ext cx="23317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META · REGLA</a:t>
            </a:r>
            <a:endParaRPr lang="es-CL" sz="1200" dirty="0"/>
          </a:p>
        </p:txBody>
      </p:sp>
      <p:sp>
        <p:nvSpPr>
          <p:cNvPr id="9" name="Text 7"/>
          <p:cNvSpPr txBox="1"/>
          <p:nvPr/>
        </p:nvSpPr>
        <p:spPr>
          <a:xfrm>
            <a:off x="7818120" y="2395728"/>
            <a:ext cx="17830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RESPONSABLE</a:t>
            </a:r>
            <a:endParaRPr lang="es-CL" sz="1200" dirty="0"/>
          </a:p>
        </p:txBody>
      </p:sp>
      <p:sp>
        <p:nvSpPr>
          <p:cNvPr id="10" name="Text 8"/>
          <p:cNvSpPr txBox="1"/>
          <p:nvPr/>
        </p:nvSpPr>
        <p:spPr>
          <a:xfrm>
            <a:off x="9601200" y="2395728"/>
            <a:ext cx="20418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INICIATIVA</a:t>
            </a:r>
            <a:endParaRPr lang="es-CL" sz="1200" dirty="0"/>
          </a:p>
        </p:txBody>
      </p:sp>
      <p:sp>
        <p:nvSpPr>
          <p:cNvPr id="11" name="Shape 9"/>
          <p:cNvSpPr/>
          <p:nvPr/>
        </p:nvSpPr>
        <p:spPr>
          <a:xfrm>
            <a:off x="548640" y="2706624"/>
            <a:ext cx="11094415" cy="0"/>
          </a:xfrm>
          <a:prstGeom prst="line">
            <a:avLst/>
          </a:prstGeom>
          <a:noFill/>
          <a:ln w="9525">
            <a:solidFill>
              <a:schemeClr val="accent1"/>
            </a:solidFill>
            <a:prstDash val="solid"/>
          </a:ln>
        </p:spPr>
      </p:sp>
      <p:sp>
        <p:nvSpPr>
          <p:cNvPr id="12" name="Shape 10"/>
          <p:cNvSpPr/>
          <p:nvPr/>
        </p:nvSpPr>
        <p:spPr>
          <a:xfrm>
            <a:off x="548640" y="2935224"/>
            <a:ext cx="548640" cy="292608"/>
          </a:xfrm>
          <a:prstGeom prst="rect">
            <a:avLst/>
          </a:prstGeom>
          <a:solidFill>
            <a:schemeClr val="accent5"/>
          </a:solidFill>
          <a:ln/>
        </p:spPr>
      </p:sp>
      <p:sp>
        <p:nvSpPr>
          <p:cNvPr id="13" name="Text 11"/>
          <p:cNvSpPr txBox="1"/>
          <p:nvPr/>
        </p:nvSpPr>
        <p:spPr>
          <a:xfrm>
            <a:off x="548640" y="2935224"/>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F1</a:t>
            </a:r>
            <a:endParaRPr lang="es-CL" sz="1200" dirty="0"/>
          </a:p>
        </p:txBody>
      </p:sp>
      <p:sp>
        <p:nvSpPr>
          <p:cNvPr id="14" name="Text 12"/>
          <p:cNvSpPr txBox="1"/>
          <p:nvPr/>
        </p:nvSpPr>
        <p:spPr>
          <a:xfrm>
            <a:off x="1280160" y="2706624"/>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Rentabilidad sobre el costo de capital</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Antes de invertir: VAN &gt; 0 y TIR &gt; tasa exigida. Operando: retorno sobre el capital empleado frente a su costo</a:t>
            </a:r>
            <a:endParaRPr lang="es-CL" sz="1300" dirty="0"/>
          </a:p>
        </p:txBody>
      </p:sp>
      <p:sp>
        <p:nvSpPr>
          <p:cNvPr id="15" name="Text 13"/>
          <p:cNvSpPr txBox="1"/>
          <p:nvPr/>
        </p:nvSpPr>
        <p:spPr>
          <a:xfrm>
            <a:off x="5486400" y="2706624"/>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Superar el costo de capital</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RETORNO</a:t>
            </a:r>
            <a:endParaRPr lang="es-CL" sz="1300" dirty="0"/>
          </a:p>
        </p:txBody>
      </p:sp>
      <p:sp>
        <p:nvSpPr>
          <p:cNvPr id="16" name="Text 14"/>
          <p:cNvSpPr txBox="1"/>
          <p:nvPr/>
        </p:nvSpPr>
        <p:spPr>
          <a:xfrm>
            <a:off x="7818120" y="2706624"/>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Gerente General</a:t>
            </a:r>
            <a:endParaRPr lang="es-CL" sz="1300" dirty="0"/>
          </a:p>
        </p:txBody>
      </p:sp>
      <p:sp>
        <p:nvSpPr>
          <p:cNvPr id="17" name="Text 15"/>
          <p:cNvSpPr txBox="1"/>
          <p:nvPr/>
        </p:nvSpPr>
        <p:spPr>
          <a:xfrm>
            <a:off x="9601200" y="2706624"/>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Plan Financiero con tasa sustentada</a:t>
            </a:r>
            <a:endParaRPr lang="es-CL" sz="1300" dirty="0"/>
          </a:p>
        </p:txBody>
      </p:sp>
      <p:sp>
        <p:nvSpPr>
          <p:cNvPr id="18" name="Shape 16"/>
          <p:cNvSpPr/>
          <p:nvPr/>
        </p:nvSpPr>
        <p:spPr>
          <a:xfrm>
            <a:off x="548640" y="3456432"/>
            <a:ext cx="11094415" cy="0"/>
          </a:xfrm>
          <a:prstGeom prst="line">
            <a:avLst/>
          </a:prstGeom>
          <a:noFill/>
          <a:ln w="9525">
            <a:solidFill>
              <a:schemeClr val="accent5"/>
            </a:solidFill>
            <a:prstDash val="solid"/>
          </a:ln>
        </p:spPr>
      </p:sp>
      <p:sp>
        <p:nvSpPr>
          <p:cNvPr id="19" name="Shape 17"/>
          <p:cNvSpPr/>
          <p:nvPr/>
        </p:nvSpPr>
        <p:spPr>
          <a:xfrm>
            <a:off x="548640" y="3685032"/>
            <a:ext cx="548640" cy="292608"/>
          </a:xfrm>
          <a:prstGeom prst="rect">
            <a:avLst/>
          </a:prstGeom>
          <a:solidFill>
            <a:schemeClr val="accent5"/>
          </a:solidFill>
          <a:ln/>
        </p:spPr>
      </p:sp>
      <p:sp>
        <p:nvSpPr>
          <p:cNvPr id="20" name="Text 18"/>
          <p:cNvSpPr txBox="1"/>
          <p:nvPr/>
        </p:nvSpPr>
        <p:spPr>
          <a:xfrm>
            <a:off x="548640" y="3685032"/>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F2</a:t>
            </a:r>
            <a:endParaRPr lang="es-CL" sz="1200" dirty="0"/>
          </a:p>
        </p:txBody>
      </p:sp>
      <p:sp>
        <p:nvSpPr>
          <p:cNvPr id="21" name="Text 19"/>
          <p:cNvSpPr txBox="1"/>
          <p:nvPr/>
        </p:nvSpPr>
        <p:spPr>
          <a:xfrm>
            <a:off x="1280160" y="3456432"/>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Margen por servicio</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Margen de contribución unitario</a:t>
            </a:r>
            <a:endParaRPr lang="es-CL" sz="1300" dirty="0"/>
          </a:p>
        </p:txBody>
      </p:sp>
      <p:sp>
        <p:nvSpPr>
          <p:cNvPr id="22" name="Text 20"/>
          <p:cNvSpPr txBox="1"/>
          <p:nvPr/>
        </p:nvSpPr>
        <p:spPr>
          <a:xfrm>
            <a:off x="5486400" y="3456432"/>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Por definir en el Plan Financiero</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META PENDIENTE</a:t>
            </a:r>
            <a:endParaRPr lang="es-CL" sz="1300" dirty="0"/>
          </a:p>
        </p:txBody>
      </p:sp>
      <p:sp>
        <p:nvSpPr>
          <p:cNvPr id="23" name="Text 21"/>
          <p:cNvSpPr txBox="1"/>
          <p:nvPr/>
        </p:nvSpPr>
        <p:spPr>
          <a:xfrm>
            <a:off x="7818120" y="3456432"/>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Gerente General</a:t>
            </a:r>
            <a:endParaRPr lang="es-CL" sz="1300" dirty="0"/>
          </a:p>
        </p:txBody>
      </p:sp>
      <p:sp>
        <p:nvSpPr>
          <p:cNvPr id="24" name="Text 22"/>
          <p:cNvSpPr txBox="1"/>
          <p:nvPr/>
        </p:nvSpPr>
        <p:spPr>
          <a:xfrm>
            <a:off x="9601200" y="3456432"/>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Cobertura cambiaria y abastecimiento de largo plazo</a:t>
            </a:r>
            <a:endParaRPr lang="es-CL" sz="1300" dirty="0"/>
          </a:p>
        </p:txBody>
      </p:sp>
      <p:sp>
        <p:nvSpPr>
          <p:cNvPr id="25" name="Shape 23"/>
          <p:cNvSpPr/>
          <p:nvPr/>
        </p:nvSpPr>
        <p:spPr>
          <a:xfrm>
            <a:off x="548640" y="4206240"/>
            <a:ext cx="11094415" cy="0"/>
          </a:xfrm>
          <a:prstGeom prst="line">
            <a:avLst/>
          </a:prstGeom>
          <a:noFill/>
          <a:ln w="9525">
            <a:solidFill>
              <a:schemeClr val="accent5"/>
            </a:solidFill>
            <a:prstDash val="solid"/>
          </a:ln>
        </p:spPr>
      </p:sp>
      <p:sp>
        <p:nvSpPr>
          <p:cNvPr id="26" name="Shape 24"/>
          <p:cNvSpPr/>
          <p:nvPr/>
        </p:nvSpPr>
        <p:spPr>
          <a:xfrm>
            <a:off x="548640" y="4434840"/>
            <a:ext cx="548640" cy="292608"/>
          </a:xfrm>
          <a:prstGeom prst="rect">
            <a:avLst/>
          </a:prstGeom>
          <a:solidFill>
            <a:schemeClr val="accent5"/>
          </a:solidFill>
          <a:ln/>
        </p:spPr>
      </p:sp>
      <p:sp>
        <p:nvSpPr>
          <p:cNvPr id="27" name="Shape 25"/>
          <p:cNvSpPr/>
          <p:nvPr/>
        </p:nvSpPr>
        <p:spPr>
          <a:xfrm>
            <a:off x="548640" y="4434840"/>
            <a:ext cx="548640" cy="45720"/>
          </a:xfrm>
          <a:prstGeom prst="rect">
            <a:avLst/>
          </a:prstGeom>
          <a:solidFill>
            <a:srgbClr val="0A6F9E"/>
          </a:solidFill>
          <a:ln/>
        </p:spPr>
      </p:sp>
      <p:sp>
        <p:nvSpPr>
          <p:cNvPr id="28" name="Text 26"/>
          <p:cNvSpPr txBox="1"/>
          <p:nvPr/>
        </p:nvSpPr>
        <p:spPr>
          <a:xfrm>
            <a:off x="548640" y="4434840"/>
            <a:ext cx="548640" cy="292608"/>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F3</a:t>
            </a:r>
            <a:endParaRPr lang="es-CL" sz="1200" dirty="0"/>
          </a:p>
        </p:txBody>
      </p:sp>
      <p:sp>
        <p:nvSpPr>
          <p:cNvPr id="29" name="Text 27"/>
          <p:cNvSpPr txBox="1"/>
          <p:nvPr/>
        </p:nvSpPr>
        <p:spPr>
          <a:xfrm>
            <a:off x="1280160" y="4206240"/>
            <a:ext cx="4069080" cy="749808"/>
          </a:xfrm>
          <a:prstGeom prst="rect">
            <a:avLst/>
          </a:prstGeom>
          <a:noFill/>
          <a:ln/>
        </p:spPr>
        <p:txBody>
          <a:bodyPr wrap="square" lIns="0" tIns="0" rIns="0" bIns="0" rtlCol="0" anchor="ctr"/>
          <a:lstStyle/>
          <a:p>
            <a:pPr indent="0" marL="0">
              <a:lnSpc>
                <a:spcPct val="92000"/>
              </a:lnSpc>
              <a:buNone/>
            </a:pPr>
            <a:r>
              <a:rPr lang="es-CL" altLang="en-US" sz="1300" b="1" dirty="0">
                <a:solidFill>
                  <a:schemeClr val="tx1"/>
                </a:solidFill>
                <a:latin typeface="Figtree" pitchFamily="34" charset="0"/>
                <a:ea typeface="Figtree" pitchFamily="34" charset="-122"/>
                <a:cs typeface="Figtree" pitchFamily="34" charset="-120"/>
              </a:rPr>
              <a:t>Expansión y licencias</a:t>
            </a:r>
            <a:endParaRPr lang="es-CL" sz="1300" dirty="0"/>
          </a:p>
          <a:p>
            <a:pPr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Evaluación incremental por alternativa (taller o licencias)</a:t>
            </a:r>
            <a:endParaRPr lang="es-CL" sz="1300" dirty="0"/>
          </a:p>
        </p:txBody>
      </p:sp>
      <p:sp>
        <p:nvSpPr>
          <p:cNvPr id="30" name="Text 28"/>
          <p:cNvSpPr txBox="1"/>
          <p:nvPr/>
        </p:nvSpPr>
        <p:spPr>
          <a:xfrm>
            <a:off x="5486400" y="4206240"/>
            <a:ext cx="2194560" cy="749808"/>
          </a:xfrm>
          <a:prstGeom prst="rect">
            <a:avLst/>
          </a:prstGeom>
          <a:noFill/>
          <a:ln/>
        </p:spPr>
        <p:txBody>
          <a:bodyPr wrap="square" lIns="0" tIns="0" rIns="0" bIns="0" rtlCol="0" anchor="ctr"/>
          <a:lstStyle/>
          <a:p>
            <a:pPr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Umbral por definir en el Plan Financiero</a:t>
            </a:r>
            <a:endParaRPr lang="es-CL" sz="1300" dirty="0"/>
          </a:p>
          <a:p>
            <a:pPr indent="0" marL="0">
              <a:lnSpc>
                <a:spcPct val="92000"/>
              </a:lnSpc>
              <a:buNone/>
            </a:pPr>
            <a:r>
              <a:rPr lang="es-CL" altLang="en-US" sz="1100" dirty="0">
                <a:solidFill>
                  <a:schemeClr val="accent1"/>
                </a:solidFill>
                <a:latin typeface="IBM Plex Mono" pitchFamily="34" charset="0"/>
                <a:ea typeface="IBM Plex Mono" pitchFamily="34" charset="-122"/>
                <a:cs typeface="IBM Plex Mono" pitchFamily="34" charset="-120"/>
              </a:rPr>
              <a:t>META PENDIENTE</a:t>
            </a:r>
            <a:endParaRPr lang="es-CL" sz="1300" dirty="0"/>
          </a:p>
        </p:txBody>
      </p:sp>
      <p:sp>
        <p:nvSpPr>
          <p:cNvPr id="31" name="Text 29"/>
          <p:cNvSpPr txBox="1"/>
          <p:nvPr/>
        </p:nvSpPr>
        <p:spPr>
          <a:xfrm>
            <a:off x="7818120" y="4206240"/>
            <a:ext cx="1645920"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Gerente General</a:t>
            </a:r>
            <a:endParaRPr lang="es-CL" sz="1300" dirty="0"/>
          </a:p>
        </p:txBody>
      </p:sp>
      <p:sp>
        <p:nvSpPr>
          <p:cNvPr id="32" name="Text 30"/>
          <p:cNvSpPr txBox="1"/>
          <p:nvPr/>
        </p:nvSpPr>
        <p:spPr>
          <a:xfrm>
            <a:off x="9601200" y="4206240"/>
            <a:ext cx="1904695" cy="749808"/>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Evaluar cada alternativa antes de abrir</a:t>
            </a:r>
            <a:endParaRPr lang="es-CL" sz="1300" dirty="0"/>
          </a:p>
        </p:txBody>
      </p:sp>
      <p:sp>
        <p:nvSpPr>
          <p:cNvPr id="33" name="Shape 31"/>
          <p:cNvSpPr/>
          <p:nvPr/>
        </p:nvSpPr>
        <p:spPr>
          <a:xfrm>
            <a:off x="548640" y="4956048"/>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A3</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MAPA</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LAS 20 RELACIONES: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R01 a R10.</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Continua: habilitante; blanca gruesa: condición externa; punteada: hipótesis.</a:t>
            </a:r>
            <a:endParaRPr lang="es-CL" sz="1100" dirty="0"/>
          </a:p>
        </p:txBody>
      </p:sp>
      <p:sp>
        <p:nvSpPr>
          <p:cNvPr id="6" name="Text 4"/>
          <p:cNvSpPr txBox="1"/>
          <p:nvPr/>
        </p:nvSpPr>
        <p:spPr>
          <a:xfrm>
            <a:off x="10671505" y="841248"/>
            <a:ext cx="97155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HIPÓTESIS</a:t>
            </a:r>
            <a:endParaRPr lang="es-CL" sz="1200" dirty="0"/>
          </a:p>
        </p:txBody>
      </p:sp>
      <p:sp>
        <p:nvSpPr>
          <p:cNvPr id="7" name="Shape 5"/>
          <p:cNvSpPr/>
          <p:nvPr/>
        </p:nvSpPr>
        <p:spPr>
          <a:xfrm>
            <a:off x="10168585" y="978408"/>
            <a:ext cx="384048" cy="0"/>
          </a:xfrm>
          <a:prstGeom prst="line">
            <a:avLst/>
          </a:prstGeom>
          <a:noFill/>
          <a:ln w="19050">
            <a:solidFill>
              <a:schemeClr val="accent1"/>
            </a:solidFill>
            <a:prstDash val="dash"/>
          </a:ln>
        </p:spPr>
      </p:sp>
      <p:sp>
        <p:nvSpPr>
          <p:cNvPr id="8" name="Text 6"/>
          <p:cNvSpPr txBox="1"/>
          <p:nvPr/>
        </p:nvSpPr>
        <p:spPr>
          <a:xfrm>
            <a:off x="8140395" y="841248"/>
            <a:ext cx="175387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CONDICIÓN EXTERNA</a:t>
            </a:r>
            <a:endParaRPr lang="es-CL" sz="1200" dirty="0"/>
          </a:p>
        </p:txBody>
      </p:sp>
      <p:sp>
        <p:nvSpPr>
          <p:cNvPr id="9" name="Shape 7"/>
          <p:cNvSpPr/>
          <p:nvPr/>
        </p:nvSpPr>
        <p:spPr>
          <a:xfrm>
            <a:off x="7637475" y="978408"/>
            <a:ext cx="384048" cy="0"/>
          </a:xfrm>
          <a:prstGeom prst="line">
            <a:avLst/>
          </a:prstGeom>
          <a:noFill/>
          <a:ln w="41275">
            <a:solidFill>
              <a:schemeClr val="tx1"/>
            </a:solidFill>
            <a:prstDash val="solid"/>
          </a:ln>
        </p:spPr>
      </p:sp>
      <p:sp>
        <p:nvSpPr>
          <p:cNvPr id="10" name="Text 8"/>
          <p:cNvSpPr txBox="1"/>
          <p:nvPr/>
        </p:nvSpPr>
        <p:spPr>
          <a:xfrm>
            <a:off x="6196025" y="841248"/>
            <a:ext cx="116713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HABILITANTE</a:t>
            </a:r>
            <a:endParaRPr lang="es-CL" sz="1200" dirty="0"/>
          </a:p>
        </p:txBody>
      </p:sp>
      <p:sp>
        <p:nvSpPr>
          <p:cNvPr id="11" name="Shape 9"/>
          <p:cNvSpPr/>
          <p:nvPr/>
        </p:nvSpPr>
        <p:spPr>
          <a:xfrm>
            <a:off x="5693105" y="978408"/>
            <a:ext cx="384048" cy="0"/>
          </a:xfrm>
          <a:prstGeom prst="line">
            <a:avLst/>
          </a:prstGeom>
          <a:noFill/>
          <a:ln w="25400">
            <a:solidFill>
              <a:schemeClr val="accent1"/>
            </a:solidFill>
            <a:prstDash val="solid"/>
          </a:ln>
        </p:spPr>
      </p:sp>
      <p:sp>
        <p:nvSpPr>
          <p:cNvPr id="12" name="Text 10"/>
          <p:cNvSpPr txBox="1"/>
          <p:nvPr/>
        </p:nvSpPr>
        <p:spPr>
          <a:xfrm>
            <a:off x="548640" y="2322576"/>
            <a:ext cx="11430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a:t>
            </a:r>
            <a:endParaRPr lang="es-CL" sz="1200" dirty="0"/>
          </a:p>
        </p:txBody>
      </p:sp>
      <p:sp>
        <p:nvSpPr>
          <p:cNvPr id="13" name="Text 11"/>
          <p:cNvSpPr txBox="1"/>
          <p:nvPr/>
        </p:nvSpPr>
        <p:spPr>
          <a:xfrm>
            <a:off x="1691640" y="2322576"/>
            <a:ext cx="12801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DE · A</a:t>
            </a:r>
            <a:endParaRPr lang="es-CL" sz="1200" dirty="0"/>
          </a:p>
        </p:txBody>
      </p:sp>
      <p:sp>
        <p:nvSpPr>
          <p:cNvPr id="14" name="Text 12"/>
          <p:cNvSpPr txBox="1"/>
          <p:nvPr/>
        </p:nvSpPr>
        <p:spPr>
          <a:xfrm>
            <a:off x="2971800" y="2322576"/>
            <a:ext cx="4937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MECANISMO</a:t>
            </a:r>
            <a:endParaRPr lang="es-CL" sz="1200" dirty="0"/>
          </a:p>
        </p:txBody>
      </p:sp>
      <p:sp>
        <p:nvSpPr>
          <p:cNvPr id="15" name="Text 13"/>
          <p:cNvSpPr txBox="1"/>
          <p:nvPr/>
        </p:nvSpPr>
        <p:spPr>
          <a:xfrm>
            <a:off x="7909560" y="2322576"/>
            <a:ext cx="373349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CÓMO SE COMPRUEBA</a:t>
            </a:r>
            <a:endParaRPr lang="es-CL" sz="1200" dirty="0"/>
          </a:p>
        </p:txBody>
      </p:sp>
      <p:sp>
        <p:nvSpPr>
          <p:cNvPr id="16" name="Shape 14"/>
          <p:cNvSpPr/>
          <p:nvPr/>
        </p:nvSpPr>
        <p:spPr>
          <a:xfrm>
            <a:off x="548640" y="2633472"/>
            <a:ext cx="11094415" cy="0"/>
          </a:xfrm>
          <a:prstGeom prst="line">
            <a:avLst/>
          </a:prstGeom>
          <a:noFill/>
          <a:ln w="9525">
            <a:solidFill>
              <a:schemeClr val="accent1"/>
            </a:solidFill>
            <a:prstDash val="solid"/>
          </a:ln>
        </p:spPr>
      </p:sp>
      <p:sp>
        <p:nvSpPr>
          <p:cNvPr id="17" name="Text 15"/>
          <p:cNvSpPr txBox="1"/>
          <p:nvPr/>
        </p:nvSpPr>
        <p:spPr>
          <a:xfrm>
            <a:off x="548640" y="2633472"/>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R01</a:t>
            </a:r>
            <a:endParaRPr lang="es-CL" sz="1200" dirty="0"/>
          </a:p>
        </p:txBody>
      </p:sp>
      <p:sp>
        <p:nvSpPr>
          <p:cNvPr id="18" name="Shape 16"/>
          <p:cNvSpPr/>
          <p:nvPr/>
        </p:nvSpPr>
        <p:spPr>
          <a:xfrm>
            <a:off x="1051560" y="2809494"/>
            <a:ext cx="457200" cy="0"/>
          </a:xfrm>
          <a:prstGeom prst="line">
            <a:avLst/>
          </a:prstGeom>
          <a:noFill/>
          <a:ln w="25400">
            <a:solidFill>
              <a:schemeClr val="accent1"/>
            </a:solidFill>
            <a:prstDash val="solid"/>
          </a:ln>
        </p:spPr>
      </p:sp>
      <p:sp>
        <p:nvSpPr>
          <p:cNvPr id="19" name="Text 17"/>
          <p:cNvSpPr txBox="1"/>
          <p:nvPr/>
        </p:nvSpPr>
        <p:spPr>
          <a:xfrm>
            <a:off x="1691640" y="2633472"/>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A1 a P2</a:t>
            </a:r>
            <a:endParaRPr lang="es-CL" sz="1300" dirty="0"/>
          </a:p>
        </p:txBody>
      </p:sp>
      <p:sp>
        <p:nvSpPr>
          <p:cNvPr id="20" name="Text 18"/>
          <p:cNvSpPr txBox="1"/>
          <p:nvPr/>
        </p:nvSpPr>
        <p:spPr>
          <a:xfrm>
            <a:off x="2971800" y="2633472"/>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Calibraciones versionadas respaldan el expediente del par</a:t>
            </a:r>
            <a:endParaRPr lang="es-CL" sz="1300" dirty="0"/>
          </a:p>
        </p:txBody>
      </p:sp>
      <p:sp>
        <p:nvSpPr>
          <p:cNvPr id="21" name="Text 19"/>
          <p:cNvSpPr txBox="1"/>
          <p:nvPr/>
        </p:nvSpPr>
        <p:spPr>
          <a:xfrm>
            <a:off x="7909560" y="2633472"/>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El expediente usa una calibración aprobada</a:t>
            </a:r>
            <a:endParaRPr lang="es-CL" sz="1300" dirty="0"/>
          </a:p>
        </p:txBody>
      </p:sp>
      <p:sp>
        <p:nvSpPr>
          <p:cNvPr id="22" name="Shape 20"/>
          <p:cNvSpPr/>
          <p:nvPr/>
        </p:nvSpPr>
        <p:spPr>
          <a:xfrm>
            <a:off x="548640" y="2985516"/>
            <a:ext cx="11094415" cy="0"/>
          </a:xfrm>
          <a:prstGeom prst="line">
            <a:avLst/>
          </a:prstGeom>
          <a:noFill/>
          <a:ln w="9525">
            <a:solidFill>
              <a:schemeClr val="accent5"/>
            </a:solidFill>
            <a:prstDash val="solid"/>
          </a:ln>
        </p:spPr>
      </p:sp>
      <p:sp>
        <p:nvSpPr>
          <p:cNvPr id="23" name="Text 21"/>
          <p:cNvSpPr txBox="1"/>
          <p:nvPr/>
        </p:nvSpPr>
        <p:spPr>
          <a:xfrm>
            <a:off x="548640" y="2985516"/>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R02</a:t>
            </a:r>
            <a:endParaRPr lang="es-CL" sz="1200" dirty="0"/>
          </a:p>
        </p:txBody>
      </p:sp>
      <p:sp>
        <p:nvSpPr>
          <p:cNvPr id="24" name="Shape 22"/>
          <p:cNvSpPr/>
          <p:nvPr/>
        </p:nvSpPr>
        <p:spPr>
          <a:xfrm>
            <a:off x="1051560" y="3161538"/>
            <a:ext cx="457200" cy="0"/>
          </a:xfrm>
          <a:prstGeom prst="line">
            <a:avLst/>
          </a:prstGeom>
          <a:noFill/>
          <a:ln w="41275">
            <a:solidFill>
              <a:schemeClr val="tx1"/>
            </a:solidFill>
            <a:prstDash val="solid"/>
          </a:ln>
        </p:spPr>
      </p:sp>
      <p:sp>
        <p:nvSpPr>
          <p:cNvPr id="25" name="Text 23"/>
          <p:cNvSpPr txBox="1"/>
          <p:nvPr/>
        </p:nvSpPr>
        <p:spPr>
          <a:xfrm>
            <a:off x="1691640" y="2985516"/>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P1 a P2</a:t>
            </a:r>
            <a:endParaRPr lang="es-CL" sz="1300" dirty="0"/>
          </a:p>
        </p:txBody>
      </p:sp>
      <p:sp>
        <p:nvSpPr>
          <p:cNvPr id="26" name="Text 24"/>
          <p:cNvSpPr txBox="1"/>
          <p:nvPr/>
        </p:nvSpPr>
        <p:spPr>
          <a:xfrm>
            <a:off x="2971800" y="2985516"/>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La vía formal define los requisitos de aprobación del kit</a:t>
            </a:r>
            <a:endParaRPr lang="es-CL" sz="1300" dirty="0"/>
          </a:p>
        </p:txBody>
      </p:sp>
      <p:sp>
        <p:nvSpPr>
          <p:cNvPr id="27" name="Text 25"/>
          <p:cNvSpPr txBox="1"/>
          <p:nvPr/>
        </p:nvSpPr>
        <p:spPr>
          <a:xfrm>
            <a:off x="7909560" y="2985516"/>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Norma o criterio habilitante confirmado</a:t>
            </a:r>
            <a:endParaRPr lang="es-CL" sz="1300" dirty="0"/>
          </a:p>
        </p:txBody>
      </p:sp>
      <p:sp>
        <p:nvSpPr>
          <p:cNvPr id="28" name="Shape 26"/>
          <p:cNvSpPr/>
          <p:nvPr/>
        </p:nvSpPr>
        <p:spPr>
          <a:xfrm>
            <a:off x="548640" y="3337560"/>
            <a:ext cx="11094415" cy="0"/>
          </a:xfrm>
          <a:prstGeom prst="line">
            <a:avLst/>
          </a:prstGeom>
          <a:noFill/>
          <a:ln w="9525">
            <a:solidFill>
              <a:schemeClr val="accent5"/>
            </a:solidFill>
            <a:prstDash val="solid"/>
          </a:ln>
        </p:spPr>
      </p:sp>
      <p:sp>
        <p:nvSpPr>
          <p:cNvPr id="29" name="Text 27"/>
          <p:cNvSpPr txBox="1"/>
          <p:nvPr/>
        </p:nvSpPr>
        <p:spPr>
          <a:xfrm>
            <a:off x="548640" y="3337560"/>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R03</a:t>
            </a:r>
            <a:endParaRPr lang="es-CL" sz="1200" dirty="0"/>
          </a:p>
        </p:txBody>
      </p:sp>
      <p:sp>
        <p:nvSpPr>
          <p:cNvPr id="30" name="Shape 28"/>
          <p:cNvSpPr/>
          <p:nvPr/>
        </p:nvSpPr>
        <p:spPr>
          <a:xfrm>
            <a:off x="1051560" y="3513582"/>
            <a:ext cx="457200" cy="0"/>
          </a:xfrm>
          <a:prstGeom prst="line">
            <a:avLst/>
          </a:prstGeom>
          <a:noFill/>
          <a:ln w="25400">
            <a:solidFill>
              <a:schemeClr val="accent1"/>
            </a:solidFill>
            <a:prstDash val="solid"/>
          </a:ln>
        </p:spPr>
      </p:sp>
      <p:sp>
        <p:nvSpPr>
          <p:cNvPr id="31" name="Text 29"/>
          <p:cNvSpPr txBox="1"/>
          <p:nvPr/>
        </p:nvSpPr>
        <p:spPr>
          <a:xfrm>
            <a:off x="1691640" y="3337560"/>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P2 a P3</a:t>
            </a:r>
            <a:endParaRPr lang="es-CL" sz="1300" dirty="0"/>
          </a:p>
        </p:txBody>
      </p:sp>
      <p:sp>
        <p:nvSpPr>
          <p:cNvPr id="32" name="Text 30"/>
          <p:cNvSpPr txBox="1"/>
          <p:nvPr/>
        </p:nvSpPr>
        <p:spPr>
          <a:xfrm>
            <a:off x="2971800" y="3337560"/>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Solo pares aprobados se instalan comercialmente</a:t>
            </a:r>
            <a:endParaRPr lang="es-CL" sz="1300" dirty="0"/>
          </a:p>
        </p:txBody>
      </p:sp>
      <p:sp>
        <p:nvSpPr>
          <p:cNvPr id="33" name="Text 31"/>
          <p:cNvSpPr txBox="1"/>
          <p:nvPr/>
        </p:nvSpPr>
        <p:spPr>
          <a:xfrm>
            <a:off x="7909560" y="3337560"/>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La orden identifica un par aprobado</a:t>
            </a:r>
            <a:endParaRPr lang="es-CL" sz="1300" dirty="0"/>
          </a:p>
        </p:txBody>
      </p:sp>
      <p:sp>
        <p:nvSpPr>
          <p:cNvPr id="34" name="Shape 32"/>
          <p:cNvSpPr/>
          <p:nvPr/>
        </p:nvSpPr>
        <p:spPr>
          <a:xfrm>
            <a:off x="548640" y="3689604"/>
            <a:ext cx="11094415" cy="0"/>
          </a:xfrm>
          <a:prstGeom prst="line">
            <a:avLst/>
          </a:prstGeom>
          <a:noFill/>
          <a:ln w="9525">
            <a:solidFill>
              <a:schemeClr val="accent5"/>
            </a:solidFill>
            <a:prstDash val="solid"/>
          </a:ln>
        </p:spPr>
      </p:sp>
      <p:sp>
        <p:nvSpPr>
          <p:cNvPr id="35" name="Text 33"/>
          <p:cNvSpPr txBox="1"/>
          <p:nvPr/>
        </p:nvSpPr>
        <p:spPr>
          <a:xfrm>
            <a:off x="548640" y="3689604"/>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R04</a:t>
            </a:r>
            <a:endParaRPr lang="es-CL" sz="1200" dirty="0"/>
          </a:p>
        </p:txBody>
      </p:sp>
      <p:sp>
        <p:nvSpPr>
          <p:cNvPr id="36" name="Shape 34"/>
          <p:cNvSpPr/>
          <p:nvPr/>
        </p:nvSpPr>
        <p:spPr>
          <a:xfrm>
            <a:off x="1051560" y="3865626"/>
            <a:ext cx="457200" cy="0"/>
          </a:xfrm>
          <a:prstGeom prst="line">
            <a:avLst/>
          </a:prstGeom>
          <a:noFill/>
          <a:ln w="25400">
            <a:solidFill>
              <a:schemeClr val="accent1"/>
            </a:solidFill>
            <a:prstDash val="solid"/>
          </a:ln>
        </p:spPr>
      </p:sp>
      <p:sp>
        <p:nvSpPr>
          <p:cNvPr id="37" name="Text 35"/>
          <p:cNvSpPr txBox="1"/>
          <p:nvPr/>
        </p:nvSpPr>
        <p:spPr>
          <a:xfrm>
            <a:off x="1691640" y="3689604"/>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A2 a P3</a:t>
            </a:r>
            <a:endParaRPr lang="es-CL" sz="1300" dirty="0"/>
          </a:p>
        </p:txBody>
      </p:sp>
      <p:sp>
        <p:nvSpPr>
          <p:cNvPr id="38" name="Text 36"/>
          <p:cNvSpPr txBox="1"/>
          <p:nvPr/>
        </p:nvSpPr>
        <p:spPr>
          <a:xfrm>
            <a:off x="2971800" y="3689604"/>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Personal habilitado sostiene la ejecución segura</a:t>
            </a:r>
            <a:endParaRPr lang="es-CL" sz="1300" dirty="0"/>
          </a:p>
        </p:txBody>
      </p:sp>
      <p:sp>
        <p:nvSpPr>
          <p:cNvPr id="39" name="Text 37"/>
          <p:cNvSpPr txBox="1"/>
          <p:nvPr/>
        </p:nvSpPr>
        <p:spPr>
          <a:xfrm>
            <a:off x="7909560" y="3689604"/>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Asignaciones y checklists validados</a:t>
            </a:r>
            <a:endParaRPr lang="es-CL" sz="1300" dirty="0"/>
          </a:p>
        </p:txBody>
      </p:sp>
      <p:sp>
        <p:nvSpPr>
          <p:cNvPr id="40" name="Shape 38"/>
          <p:cNvSpPr/>
          <p:nvPr/>
        </p:nvSpPr>
        <p:spPr>
          <a:xfrm>
            <a:off x="548640" y="4041648"/>
            <a:ext cx="11094415" cy="0"/>
          </a:xfrm>
          <a:prstGeom prst="line">
            <a:avLst/>
          </a:prstGeom>
          <a:noFill/>
          <a:ln w="9525">
            <a:solidFill>
              <a:schemeClr val="accent5"/>
            </a:solidFill>
            <a:prstDash val="solid"/>
          </a:ln>
        </p:spPr>
      </p:sp>
      <p:sp>
        <p:nvSpPr>
          <p:cNvPr id="41" name="Text 39"/>
          <p:cNvSpPr txBox="1"/>
          <p:nvPr/>
        </p:nvSpPr>
        <p:spPr>
          <a:xfrm>
            <a:off x="548640" y="4041648"/>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R05</a:t>
            </a:r>
            <a:endParaRPr lang="es-CL" sz="1200" dirty="0"/>
          </a:p>
        </p:txBody>
      </p:sp>
      <p:sp>
        <p:nvSpPr>
          <p:cNvPr id="42" name="Shape 40"/>
          <p:cNvSpPr/>
          <p:nvPr/>
        </p:nvSpPr>
        <p:spPr>
          <a:xfrm>
            <a:off x="1051560" y="4217670"/>
            <a:ext cx="457200" cy="0"/>
          </a:xfrm>
          <a:prstGeom prst="line">
            <a:avLst/>
          </a:prstGeom>
          <a:noFill/>
          <a:ln w="25400">
            <a:solidFill>
              <a:schemeClr val="accent1"/>
            </a:solidFill>
            <a:prstDash val="solid"/>
          </a:ln>
        </p:spPr>
      </p:sp>
      <p:sp>
        <p:nvSpPr>
          <p:cNvPr id="43" name="Text 41"/>
          <p:cNvSpPr txBox="1"/>
          <p:nvPr/>
        </p:nvSpPr>
        <p:spPr>
          <a:xfrm>
            <a:off x="1691640" y="4041648"/>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P3 a C1</a:t>
            </a:r>
            <a:endParaRPr lang="es-CL" sz="1300" dirty="0"/>
          </a:p>
        </p:txBody>
      </p:sp>
      <p:sp>
        <p:nvSpPr>
          <p:cNvPr id="44" name="Text 42"/>
          <p:cNvSpPr txBox="1"/>
          <p:nvPr/>
        </p:nvSpPr>
        <p:spPr>
          <a:xfrm>
            <a:off x="2971800" y="4041648"/>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El control final verifica la promesa técnica</a:t>
            </a:r>
            <a:endParaRPr lang="es-CL" sz="1300" dirty="0"/>
          </a:p>
        </p:txBody>
      </p:sp>
      <p:sp>
        <p:nvSpPr>
          <p:cNvPr id="45" name="Text 43"/>
          <p:cNvSpPr txBox="1"/>
          <p:nvPr/>
        </p:nvSpPr>
        <p:spPr>
          <a:xfrm>
            <a:off x="7909560" y="4041648"/>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Acta de conformidad</a:t>
            </a:r>
            <a:endParaRPr lang="es-CL" sz="1300" dirty="0"/>
          </a:p>
        </p:txBody>
      </p:sp>
      <p:sp>
        <p:nvSpPr>
          <p:cNvPr id="46" name="Shape 44"/>
          <p:cNvSpPr/>
          <p:nvPr/>
        </p:nvSpPr>
        <p:spPr>
          <a:xfrm>
            <a:off x="548640" y="4393692"/>
            <a:ext cx="11094415" cy="0"/>
          </a:xfrm>
          <a:prstGeom prst="line">
            <a:avLst/>
          </a:prstGeom>
          <a:noFill/>
          <a:ln w="9525">
            <a:solidFill>
              <a:schemeClr val="accent5"/>
            </a:solidFill>
            <a:prstDash val="solid"/>
          </a:ln>
        </p:spPr>
      </p:sp>
      <p:sp>
        <p:nvSpPr>
          <p:cNvPr id="47" name="Text 45"/>
          <p:cNvSpPr txBox="1"/>
          <p:nvPr/>
        </p:nvSpPr>
        <p:spPr>
          <a:xfrm>
            <a:off x="548640" y="4393692"/>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R06</a:t>
            </a:r>
            <a:endParaRPr lang="es-CL" sz="1200" dirty="0"/>
          </a:p>
        </p:txBody>
      </p:sp>
      <p:sp>
        <p:nvSpPr>
          <p:cNvPr id="48" name="Shape 46"/>
          <p:cNvSpPr/>
          <p:nvPr/>
        </p:nvSpPr>
        <p:spPr>
          <a:xfrm>
            <a:off x="1051560" y="4569714"/>
            <a:ext cx="457200" cy="0"/>
          </a:xfrm>
          <a:prstGeom prst="line">
            <a:avLst/>
          </a:prstGeom>
          <a:noFill/>
          <a:ln w="41275">
            <a:solidFill>
              <a:schemeClr val="tx1"/>
            </a:solidFill>
            <a:prstDash val="solid"/>
          </a:ln>
        </p:spPr>
      </p:sp>
      <p:sp>
        <p:nvSpPr>
          <p:cNvPr id="49" name="Text 47"/>
          <p:cNvSpPr txBox="1"/>
          <p:nvPr/>
        </p:nvSpPr>
        <p:spPr>
          <a:xfrm>
            <a:off x="1691640" y="4393692"/>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P1 a P5</a:t>
            </a:r>
            <a:endParaRPr lang="es-CL" sz="1300" dirty="0"/>
          </a:p>
        </p:txBody>
      </p:sp>
      <p:sp>
        <p:nvSpPr>
          <p:cNvPr id="50" name="Text 48"/>
          <p:cNvSpPr txBox="1"/>
          <p:nvPr/>
        </p:nvSpPr>
        <p:spPr>
          <a:xfrm>
            <a:off x="2971800" y="4393692"/>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La réplica también exige viabilidad regulatoria</a:t>
            </a:r>
            <a:endParaRPr lang="es-CL" sz="1300" dirty="0"/>
          </a:p>
        </p:txBody>
      </p:sp>
      <p:sp>
        <p:nvSpPr>
          <p:cNvPr id="51" name="Text 49"/>
          <p:cNvSpPr txBox="1"/>
          <p:nvPr/>
        </p:nvSpPr>
        <p:spPr>
          <a:xfrm>
            <a:off x="7909560" y="4393692"/>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Aplicabilidad a terceros verificada</a:t>
            </a:r>
            <a:endParaRPr lang="es-CL" sz="1300" dirty="0"/>
          </a:p>
        </p:txBody>
      </p:sp>
      <p:sp>
        <p:nvSpPr>
          <p:cNvPr id="52" name="Shape 50"/>
          <p:cNvSpPr/>
          <p:nvPr/>
        </p:nvSpPr>
        <p:spPr>
          <a:xfrm>
            <a:off x="548640" y="4745736"/>
            <a:ext cx="11094415" cy="0"/>
          </a:xfrm>
          <a:prstGeom prst="line">
            <a:avLst/>
          </a:prstGeom>
          <a:noFill/>
          <a:ln w="9525">
            <a:solidFill>
              <a:schemeClr val="accent5"/>
            </a:solidFill>
            <a:prstDash val="solid"/>
          </a:ln>
        </p:spPr>
      </p:sp>
      <p:sp>
        <p:nvSpPr>
          <p:cNvPr id="53" name="Text 51"/>
          <p:cNvSpPr txBox="1"/>
          <p:nvPr/>
        </p:nvSpPr>
        <p:spPr>
          <a:xfrm>
            <a:off x="548640" y="4745736"/>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R07</a:t>
            </a:r>
            <a:endParaRPr lang="es-CL" sz="1200" dirty="0"/>
          </a:p>
        </p:txBody>
      </p:sp>
      <p:sp>
        <p:nvSpPr>
          <p:cNvPr id="54" name="Shape 52"/>
          <p:cNvSpPr/>
          <p:nvPr/>
        </p:nvSpPr>
        <p:spPr>
          <a:xfrm>
            <a:off x="1051560" y="4921758"/>
            <a:ext cx="457200" cy="0"/>
          </a:xfrm>
          <a:prstGeom prst="line">
            <a:avLst/>
          </a:prstGeom>
          <a:noFill/>
          <a:ln w="25400">
            <a:solidFill>
              <a:schemeClr val="accent1"/>
            </a:solidFill>
            <a:prstDash val="solid"/>
          </a:ln>
        </p:spPr>
      </p:sp>
      <p:sp>
        <p:nvSpPr>
          <p:cNvPr id="55" name="Text 53"/>
          <p:cNvSpPr txBox="1"/>
          <p:nvPr/>
        </p:nvSpPr>
        <p:spPr>
          <a:xfrm>
            <a:off x="1691640" y="4745736"/>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A3 a P4</a:t>
            </a:r>
            <a:endParaRPr lang="es-CL" sz="1300" dirty="0"/>
          </a:p>
        </p:txBody>
      </p:sp>
      <p:sp>
        <p:nvSpPr>
          <p:cNvPr id="56" name="Text 54"/>
          <p:cNvSpPr txBox="1"/>
          <p:nvPr/>
        </p:nvSpPr>
        <p:spPr>
          <a:xfrm>
            <a:off x="2971800" y="4745736"/>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Datos comparables permiten informes defendibles</a:t>
            </a:r>
            <a:endParaRPr lang="es-CL" sz="1300" dirty="0"/>
          </a:p>
        </p:txBody>
      </p:sp>
      <p:sp>
        <p:nvSpPr>
          <p:cNvPr id="57" name="Text 55"/>
          <p:cNvSpPr txBox="1"/>
          <p:nvPr/>
        </p:nvSpPr>
        <p:spPr>
          <a:xfrm>
            <a:off x="7909560" y="4745736"/>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Expedientes con línea base común</a:t>
            </a:r>
            <a:endParaRPr lang="es-CL" sz="1300" dirty="0"/>
          </a:p>
        </p:txBody>
      </p:sp>
      <p:sp>
        <p:nvSpPr>
          <p:cNvPr id="58" name="Shape 56"/>
          <p:cNvSpPr/>
          <p:nvPr/>
        </p:nvSpPr>
        <p:spPr>
          <a:xfrm>
            <a:off x="548640" y="5097780"/>
            <a:ext cx="11094415" cy="0"/>
          </a:xfrm>
          <a:prstGeom prst="line">
            <a:avLst/>
          </a:prstGeom>
          <a:noFill/>
          <a:ln w="9525">
            <a:solidFill>
              <a:schemeClr val="accent5"/>
            </a:solidFill>
            <a:prstDash val="solid"/>
          </a:ln>
        </p:spPr>
      </p:sp>
      <p:sp>
        <p:nvSpPr>
          <p:cNvPr id="59" name="Text 57"/>
          <p:cNvSpPr txBox="1"/>
          <p:nvPr/>
        </p:nvSpPr>
        <p:spPr>
          <a:xfrm>
            <a:off x="548640" y="5097780"/>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R08</a:t>
            </a:r>
            <a:endParaRPr lang="es-CL" sz="1200" dirty="0"/>
          </a:p>
        </p:txBody>
      </p:sp>
      <p:sp>
        <p:nvSpPr>
          <p:cNvPr id="60" name="Shape 58"/>
          <p:cNvSpPr/>
          <p:nvPr/>
        </p:nvSpPr>
        <p:spPr>
          <a:xfrm>
            <a:off x="1051560" y="5273802"/>
            <a:ext cx="457200" cy="0"/>
          </a:xfrm>
          <a:prstGeom prst="line">
            <a:avLst/>
          </a:prstGeom>
          <a:noFill/>
          <a:ln w="19050">
            <a:solidFill>
              <a:schemeClr val="accent1"/>
            </a:solidFill>
            <a:prstDash val="dash"/>
          </a:ln>
        </p:spPr>
      </p:sp>
      <p:sp>
        <p:nvSpPr>
          <p:cNvPr id="61" name="Text 59"/>
          <p:cNvSpPr txBox="1"/>
          <p:nvPr/>
        </p:nvSpPr>
        <p:spPr>
          <a:xfrm>
            <a:off x="1691640" y="5097780"/>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P3 a P4</a:t>
            </a:r>
            <a:endParaRPr lang="es-CL" sz="1300" dirty="0"/>
          </a:p>
        </p:txBody>
      </p:sp>
      <p:sp>
        <p:nvSpPr>
          <p:cNvPr id="62" name="Text 60"/>
          <p:cNvSpPr txBox="1"/>
          <p:nvPr/>
        </p:nvSpPr>
        <p:spPr>
          <a:xfrm>
            <a:off x="2971800" y="5097780"/>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Una instalación trazable permite el seguimiento</a:t>
            </a:r>
            <a:endParaRPr lang="es-CL" sz="1300" dirty="0"/>
          </a:p>
        </p:txBody>
      </p:sp>
      <p:sp>
        <p:nvSpPr>
          <p:cNvPr id="63" name="Text 61"/>
          <p:cNvSpPr txBox="1"/>
          <p:nvPr/>
        </p:nvSpPr>
        <p:spPr>
          <a:xfrm>
            <a:off x="7909560" y="5097780"/>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Componentes y línea base identificados</a:t>
            </a:r>
            <a:endParaRPr lang="es-CL" sz="1300" dirty="0"/>
          </a:p>
        </p:txBody>
      </p:sp>
      <p:sp>
        <p:nvSpPr>
          <p:cNvPr id="64" name="Shape 62"/>
          <p:cNvSpPr/>
          <p:nvPr/>
        </p:nvSpPr>
        <p:spPr>
          <a:xfrm>
            <a:off x="548640" y="5449824"/>
            <a:ext cx="11094415" cy="0"/>
          </a:xfrm>
          <a:prstGeom prst="line">
            <a:avLst/>
          </a:prstGeom>
          <a:noFill/>
          <a:ln w="9525">
            <a:solidFill>
              <a:schemeClr val="accent5"/>
            </a:solidFill>
            <a:prstDash val="solid"/>
          </a:ln>
        </p:spPr>
      </p:sp>
      <p:sp>
        <p:nvSpPr>
          <p:cNvPr id="65" name="Text 63"/>
          <p:cNvSpPr txBox="1"/>
          <p:nvPr/>
        </p:nvSpPr>
        <p:spPr>
          <a:xfrm>
            <a:off x="548640" y="5449824"/>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R09</a:t>
            </a:r>
            <a:endParaRPr lang="es-CL" sz="1200" dirty="0"/>
          </a:p>
        </p:txBody>
      </p:sp>
      <p:sp>
        <p:nvSpPr>
          <p:cNvPr id="66" name="Shape 64"/>
          <p:cNvSpPr/>
          <p:nvPr/>
        </p:nvSpPr>
        <p:spPr>
          <a:xfrm>
            <a:off x="1051560" y="5625846"/>
            <a:ext cx="457200" cy="0"/>
          </a:xfrm>
          <a:prstGeom prst="line">
            <a:avLst/>
          </a:prstGeom>
          <a:noFill/>
          <a:ln w="25400">
            <a:solidFill>
              <a:schemeClr val="accent1"/>
            </a:solidFill>
            <a:prstDash val="solid"/>
          </a:ln>
        </p:spPr>
      </p:sp>
      <p:sp>
        <p:nvSpPr>
          <p:cNvPr id="67" name="Text 65"/>
          <p:cNvSpPr txBox="1"/>
          <p:nvPr/>
        </p:nvSpPr>
        <p:spPr>
          <a:xfrm>
            <a:off x="1691640" y="5449824"/>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P4 a C2</a:t>
            </a:r>
            <a:endParaRPr lang="es-CL" sz="1300" dirty="0"/>
          </a:p>
        </p:txBody>
      </p:sp>
      <p:sp>
        <p:nvSpPr>
          <p:cNvPr id="68" name="Text 66"/>
          <p:cNvSpPr txBox="1"/>
          <p:nvPr/>
        </p:nvSpPr>
        <p:spPr>
          <a:xfrm>
            <a:off x="2971800" y="5449824"/>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Datos revisados habilitan un reporte confiable</a:t>
            </a:r>
            <a:endParaRPr lang="es-CL" sz="1300" dirty="0"/>
          </a:p>
        </p:txBody>
      </p:sp>
      <p:sp>
        <p:nvSpPr>
          <p:cNvPr id="69" name="Text 67"/>
          <p:cNvSpPr txBox="1"/>
          <p:nvPr/>
        </p:nvSpPr>
        <p:spPr>
          <a:xfrm>
            <a:off x="7909560" y="5449824"/>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Informe con método, límites y acuse</a:t>
            </a:r>
            <a:endParaRPr lang="es-CL" sz="1300" dirty="0"/>
          </a:p>
        </p:txBody>
      </p:sp>
      <p:sp>
        <p:nvSpPr>
          <p:cNvPr id="70" name="Shape 68"/>
          <p:cNvSpPr/>
          <p:nvPr/>
        </p:nvSpPr>
        <p:spPr>
          <a:xfrm>
            <a:off x="548640" y="5801868"/>
            <a:ext cx="11094415" cy="0"/>
          </a:xfrm>
          <a:prstGeom prst="line">
            <a:avLst/>
          </a:prstGeom>
          <a:noFill/>
          <a:ln w="9525">
            <a:solidFill>
              <a:schemeClr val="accent5"/>
            </a:solidFill>
            <a:prstDash val="solid"/>
          </a:ln>
        </p:spPr>
      </p:sp>
      <p:sp>
        <p:nvSpPr>
          <p:cNvPr id="71" name="Text 69"/>
          <p:cNvSpPr txBox="1"/>
          <p:nvPr/>
        </p:nvSpPr>
        <p:spPr>
          <a:xfrm>
            <a:off x="548640" y="5801868"/>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R10</a:t>
            </a:r>
            <a:endParaRPr lang="es-CL" sz="1200" dirty="0"/>
          </a:p>
        </p:txBody>
      </p:sp>
      <p:sp>
        <p:nvSpPr>
          <p:cNvPr id="72" name="Shape 70"/>
          <p:cNvSpPr/>
          <p:nvPr/>
        </p:nvSpPr>
        <p:spPr>
          <a:xfrm>
            <a:off x="1051560" y="5977890"/>
            <a:ext cx="457200" cy="0"/>
          </a:xfrm>
          <a:prstGeom prst="line">
            <a:avLst/>
          </a:prstGeom>
          <a:noFill/>
          <a:ln w="19050">
            <a:solidFill>
              <a:schemeClr val="accent1"/>
            </a:solidFill>
            <a:prstDash val="dash"/>
          </a:ln>
        </p:spPr>
      </p:sp>
      <p:sp>
        <p:nvSpPr>
          <p:cNvPr id="73" name="Text 71"/>
          <p:cNvSpPr txBox="1"/>
          <p:nvPr/>
        </p:nvSpPr>
        <p:spPr>
          <a:xfrm>
            <a:off x="1691640" y="5801868"/>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C1 a C3</a:t>
            </a:r>
            <a:endParaRPr lang="es-CL" sz="1300" dirty="0"/>
          </a:p>
        </p:txBody>
      </p:sp>
      <p:sp>
        <p:nvSpPr>
          <p:cNvPr id="74" name="Text 72"/>
          <p:cNvSpPr txBox="1"/>
          <p:nvPr/>
        </p:nvSpPr>
        <p:spPr>
          <a:xfrm>
            <a:off x="2971800" y="5801868"/>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Cumplir la promesa técnica reforzaría la confianza</a:t>
            </a:r>
            <a:endParaRPr lang="es-CL" sz="1300" dirty="0"/>
          </a:p>
        </p:txBody>
      </p:sp>
      <p:sp>
        <p:nvSpPr>
          <p:cNvPr id="75" name="Text 73"/>
          <p:cNvSpPr txBox="1"/>
          <p:nvPr/>
        </p:nvSpPr>
        <p:spPr>
          <a:xfrm>
            <a:off x="7909560" y="5801868"/>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Opinión posservicio y reclamos</a:t>
            </a:r>
            <a:endParaRPr lang="es-CL" sz="1300" dirty="0"/>
          </a:p>
        </p:txBody>
      </p:sp>
      <p:sp>
        <p:nvSpPr>
          <p:cNvPr id="76" name="Shape 74"/>
          <p:cNvSpPr/>
          <p:nvPr/>
        </p:nvSpPr>
        <p:spPr>
          <a:xfrm>
            <a:off x="548640" y="6153912"/>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A3</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MAPA</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LAS 20 RELACIONES: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R11 a R20.</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Continua: habilitante; blanca gruesa: condición externa; punteada: hipótesis.</a:t>
            </a:r>
            <a:endParaRPr lang="es-CL" sz="1100" dirty="0"/>
          </a:p>
        </p:txBody>
      </p:sp>
      <p:sp>
        <p:nvSpPr>
          <p:cNvPr id="6" name="Text 4"/>
          <p:cNvSpPr txBox="1"/>
          <p:nvPr/>
        </p:nvSpPr>
        <p:spPr>
          <a:xfrm>
            <a:off x="10671505" y="841248"/>
            <a:ext cx="97155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HIPÓTESIS</a:t>
            </a:r>
            <a:endParaRPr lang="es-CL" sz="1200" dirty="0"/>
          </a:p>
        </p:txBody>
      </p:sp>
      <p:sp>
        <p:nvSpPr>
          <p:cNvPr id="7" name="Shape 5"/>
          <p:cNvSpPr/>
          <p:nvPr/>
        </p:nvSpPr>
        <p:spPr>
          <a:xfrm>
            <a:off x="10168585" y="978408"/>
            <a:ext cx="384048" cy="0"/>
          </a:xfrm>
          <a:prstGeom prst="line">
            <a:avLst/>
          </a:prstGeom>
          <a:noFill/>
          <a:ln w="19050">
            <a:solidFill>
              <a:schemeClr val="accent1"/>
            </a:solidFill>
            <a:prstDash val="dash"/>
          </a:ln>
        </p:spPr>
      </p:sp>
      <p:sp>
        <p:nvSpPr>
          <p:cNvPr id="8" name="Text 6"/>
          <p:cNvSpPr txBox="1"/>
          <p:nvPr/>
        </p:nvSpPr>
        <p:spPr>
          <a:xfrm>
            <a:off x="8140395" y="841248"/>
            <a:ext cx="175387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CONDICIÓN EXTERNA</a:t>
            </a:r>
            <a:endParaRPr lang="es-CL" sz="1200" dirty="0"/>
          </a:p>
        </p:txBody>
      </p:sp>
      <p:sp>
        <p:nvSpPr>
          <p:cNvPr id="9" name="Shape 7"/>
          <p:cNvSpPr/>
          <p:nvPr/>
        </p:nvSpPr>
        <p:spPr>
          <a:xfrm>
            <a:off x="7637475" y="978408"/>
            <a:ext cx="384048" cy="0"/>
          </a:xfrm>
          <a:prstGeom prst="line">
            <a:avLst/>
          </a:prstGeom>
          <a:noFill/>
          <a:ln w="41275">
            <a:solidFill>
              <a:schemeClr val="tx1"/>
            </a:solidFill>
            <a:prstDash val="solid"/>
          </a:ln>
        </p:spPr>
      </p:sp>
      <p:sp>
        <p:nvSpPr>
          <p:cNvPr id="10" name="Text 8"/>
          <p:cNvSpPr txBox="1"/>
          <p:nvPr/>
        </p:nvSpPr>
        <p:spPr>
          <a:xfrm>
            <a:off x="6196025" y="841248"/>
            <a:ext cx="1167130" cy="274320"/>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HABILITANTE</a:t>
            </a:r>
            <a:endParaRPr lang="es-CL" sz="1200" dirty="0"/>
          </a:p>
        </p:txBody>
      </p:sp>
      <p:sp>
        <p:nvSpPr>
          <p:cNvPr id="11" name="Shape 9"/>
          <p:cNvSpPr/>
          <p:nvPr/>
        </p:nvSpPr>
        <p:spPr>
          <a:xfrm>
            <a:off x="5693105" y="978408"/>
            <a:ext cx="384048" cy="0"/>
          </a:xfrm>
          <a:prstGeom prst="line">
            <a:avLst/>
          </a:prstGeom>
          <a:noFill/>
          <a:ln w="25400">
            <a:solidFill>
              <a:schemeClr val="accent1"/>
            </a:solidFill>
            <a:prstDash val="solid"/>
          </a:ln>
        </p:spPr>
      </p:sp>
      <p:sp>
        <p:nvSpPr>
          <p:cNvPr id="12" name="Text 10"/>
          <p:cNvSpPr txBox="1"/>
          <p:nvPr/>
        </p:nvSpPr>
        <p:spPr>
          <a:xfrm>
            <a:off x="548640" y="2322576"/>
            <a:ext cx="11430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a:t>
            </a:r>
            <a:endParaRPr lang="es-CL" sz="1200" dirty="0"/>
          </a:p>
        </p:txBody>
      </p:sp>
      <p:sp>
        <p:nvSpPr>
          <p:cNvPr id="13" name="Text 11"/>
          <p:cNvSpPr txBox="1"/>
          <p:nvPr/>
        </p:nvSpPr>
        <p:spPr>
          <a:xfrm>
            <a:off x="1691640" y="2322576"/>
            <a:ext cx="12801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DE · A</a:t>
            </a:r>
            <a:endParaRPr lang="es-CL" sz="1200" dirty="0"/>
          </a:p>
        </p:txBody>
      </p:sp>
      <p:sp>
        <p:nvSpPr>
          <p:cNvPr id="14" name="Text 12"/>
          <p:cNvSpPr txBox="1"/>
          <p:nvPr/>
        </p:nvSpPr>
        <p:spPr>
          <a:xfrm>
            <a:off x="2971800" y="2322576"/>
            <a:ext cx="4937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MECANISMO</a:t>
            </a:r>
            <a:endParaRPr lang="es-CL" sz="1200" dirty="0"/>
          </a:p>
        </p:txBody>
      </p:sp>
      <p:sp>
        <p:nvSpPr>
          <p:cNvPr id="15" name="Text 13"/>
          <p:cNvSpPr txBox="1"/>
          <p:nvPr/>
        </p:nvSpPr>
        <p:spPr>
          <a:xfrm>
            <a:off x="7909560" y="2322576"/>
            <a:ext cx="373349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CÓMO SE COMPRUEBA</a:t>
            </a:r>
            <a:endParaRPr lang="es-CL" sz="1200" dirty="0"/>
          </a:p>
        </p:txBody>
      </p:sp>
      <p:sp>
        <p:nvSpPr>
          <p:cNvPr id="16" name="Shape 14"/>
          <p:cNvSpPr/>
          <p:nvPr/>
        </p:nvSpPr>
        <p:spPr>
          <a:xfrm>
            <a:off x="548640" y="2633472"/>
            <a:ext cx="11094415" cy="0"/>
          </a:xfrm>
          <a:prstGeom prst="line">
            <a:avLst/>
          </a:prstGeom>
          <a:noFill/>
          <a:ln w="9525">
            <a:solidFill>
              <a:schemeClr val="accent1"/>
            </a:solidFill>
            <a:prstDash val="solid"/>
          </a:ln>
        </p:spPr>
      </p:sp>
      <p:sp>
        <p:nvSpPr>
          <p:cNvPr id="17" name="Text 15"/>
          <p:cNvSpPr txBox="1"/>
          <p:nvPr/>
        </p:nvSpPr>
        <p:spPr>
          <a:xfrm>
            <a:off x="548640" y="2633472"/>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R11</a:t>
            </a:r>
            <a:endParaRPr lang="es-CL" sz="1200" dirty="0"/>
          </a:p>
        </p:txBody>
      </p:sp>
      <p:sp>
        <p:nvSpPr>
          <p:cNvPr id="18" name="Shape 16"/>
          <p:cNvSpPr/>
          <p:nvPr/>
        </p:nvSpPr>
        <p:spPr>
          <a:xfrm>
            <a:off x="1051560" y="2809494"/>
            <a:ext cx="457200" cy="0"/>
          </a:xfrm>
          <a:prstGeom prst="line">
            <a:avLst/>
          </a:prstGeom>
          <a:noFill/>
          <a:ln w="19050">
            <a:solidFill>
              <a:schemeClr val="accent1"/>
            </a:solidFill>
            <a:prstDash val="dash"/>
          </a:ln>
        </p:spPr>
      </p:sp>
      <p:sp>
        <p:nvSpPr>
          <p:cNvPr id="19" name="Text 17"/>
          <p:cNvSpPr txBox="1"/>
          <p:nvPr/>
        </p:nvSpPr>
        <p:spPr>
          <a:xfrm>
            <a:off x="1691640" y="2633472"/>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C2 a C3</a:t>
            </a:r>
            <a:endParaRPr lang="es-CL" sz="1300" dirty="0"/>
          </a:p>
        </p:txBody>
      </p:sp>
      <p:sp>
        <p:nvSpPr>
          <p:cNvPr id="20" name="Text 18"/>
          <p:cNvSpPr txBox="1"/>
          <p:nvPr/>
        </p:nvSpPr>
        <p:spPr>
          <a:xfrm>
            <a:off x="2971800" y="2633472"/>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Evidencia comprensible del ahorro sumaría confianza</a:t>
            </a:r>
            <a:endParaRPr lang="es-CL" sz="1300" dirty="0"/>
          </a:p>
        </p:txBody>
      </p:sp>
      <p:sp>
        <p:nvSpPr>
          <p:cNvPr id="21" name="Text 19"/>
          <p:cNvSpPr txBox="1"/>
          <p:nvPr/>
        </p:nvSpPr>
        <p:spPr>
          <a:xfrm>
            <a:off x="7909560" y="2633472"/>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Opinión posservicio y reclamos</a:t>
            </a:r>
            <a:endParaRPr lang="es-CL" sz="1300" dirty="0"/>
          </a:p>
        </p:txBody>
      </p:sp>
      <p:sp>
        <p:nvSpPr>
          <p:cNvPr id="22" name="Shape 20"/>
          <p:cNvSpPr/>
          <p:nvPr/>
        </p:nvSpPr>
        <p:spPr>
          <a:xfrm>
            <a:off x="548640" y="2985516"/>
            <a:ext cx="11094415" cy="0"/>
          </a:xfrm>
          <a:prstGeom prst="line">
            <a:avLst/>
          </a:prstGeom>
          <a:noFill/>
          <a:ln w="9525">
            <a:solidFill>
              <a:schemeClr val="accent5"/>
            </a:solidFill>
            <a:prstDash val="solid"/>
          </a:ln>
        </p:spPr>
      </p:sp>
      <p:sp>
        <p:nvSpPr>
          <p:cNvPr id="23" name="Text 21"/>
          <p:cNvSpPr txBox="1"/>
          <p:nvPr/>
        </p:nvSpPr>
        <p:spPr>
          <a:xfrm>
            <a:off x="548640" y="2985516"/>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R12</a:t>
            </a:r>
            <a:endParaRPr lang="es-CL" sz="1200" dirty="0"/>
          </a:p>
        </p:txBody>
      </p:sp>
      <p:sp>
        <p:nvSpPr>
          <p:cNvPr id="24" name="Shape 22"/>
          <p:cNvSpPr/>
          <p:nvPr/>
        </p:nvSpPr>
        <p:spPr>
          <a:xfrm>
            <a:off x="1051560" y="3161538"/>
            <a:ext cx="457200" cy="0"/>
          </a:xfrm>
          <a:prstGeom prst="line">
            <a:avLst/>
          </a:prstGeom>
          <a:noFill/>
          <a:ln w="19050">
            <a:solidFill>
              <a:schemeClr val="accent1"/>
            </a:solidFill>
            <a:prstDash val="dash"/>
          </a:ln>
        </p:spPr>
      </p:sp>
      <p:sp>
        <p:nvSpPr>
          <p:cNvPr id="25" name="Text 23"/>
          <p:cNvSpPr txBox="1"/>
          <p:nvPr/>
        </p:nvSpPr>
        <p:spPr>
          <a:xfrm>
            <a:off x="1691640" y="2985516"/>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P6 a C3</a:t>
            </a:r>
            <a:endParaRPr lang="es-CL" sz="1300" dirty="0"/>
          </a:p>
        </p:txBody>
      </p:sp>
      <p:sp>
        <p:nvSpPr>
          <p:cNvPr id="26" name="Text 24"/>
          <p:cNvSpPr txBox="1"/>
          <p:nvPr/>
        </p:nvSpPr>
        <p:spPr>
          <a:xfrm>
            <a:off x="2971800" y="2985516"/>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El respaldo de aseguradoras y plantas suma confianza</a:t>
            </a:r>
            <a:endParaRPr lang="es-CL" sz="1300" dirty="0"/>
          </a:p>
        </p:txBody>
      </p:sp>
      <p:sp>
        <p:nvSpPr>
          <p:cNvPr id="27" name="Text 25"/>
          <p:cNvSpPr txBox="1"/>
          <p:nvPr/>
        </p:nvSpPr>
        <p:spPr>
          <a:xfrm>
            <a:off x="7909560" y="2985516"/>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Confianza con y sin respaldo</a:t>
            </a:r>
            <a:endParaRPr lang="es-CL" sz="1300" dirty="0"/>
          </a:p>
        </p:txBody>
      </p:sp>
      <p:sp>
        <p:nvSpPr>
          <p:cNvPr id="28" name="Shape 26"/>
          <p:cNvSpPr/>
          <p:nvPr/>
        </p:nvSpPr>
        <p:spPr>
          <a:xfrm>
            <a:off x="548640" y="3337560"/>
            <a:ext cx="11094415" cy="0"/>
          </a:xfrm>
          <a:prstGeom prst="line">
            <a:avLst/>
          </a:prstGeom>
          <a:noFill/>
          <a:ln w="9525">
            <a:solidFill>
              <a:schemeClr val="accent5"/>
            </a:solidFill>
            <a:prstDash val="solid"/>
          </a:ln>
        </p:spPr>
      </p:sp>
      <p:sp>
        <p:nvSpPr>
          <p:cNvPr id="29" name="Text 27"/>
          <p:cNvSpPr txBox="1"/>
          <p:nvPr/>
        </p:nvSpPr>
        <p:spPr>
          <a:xfrm>
            <a:off x="548640" y="3337560"/>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R13</a:t>
            </a:r>
            <a:endParaRPr lang="es-CL" sz="1200" dirty="0"/>
          </a:p>
        </p:txBody>
      </p:sp>
      <p:sp>
        <p:nvSpPr>
          <p:cNvPr id="30" name="Shape 28"/>
          <p:cNvSpPr/>
          <p:nvPr/>
        </p:nvSpPr>
        <p:spPr>
          <a:xfrm>
            <a:off x="1051560" y="3513582"/>
            <a:ext cx="457200" cy="0"/>
          </a:xfrm>
          <a:prstGeom prst="line">
            <a:avLst/>
          </a:prstGeom>
          <a:noFill/>
          <a:ln w="19050">
            <a:solidFill>
              <a:schemeClr val="accent1"/>
            </a:solidFill>
            <a:prstDash val="dash"/>
          </a:ln>
        </p:spPr>
      </p:sp>
      <p:sp>
        <p:nvSpPr>
          <p:cNvPr id="31" name="Text 29"/>
          <p:cNvSpPr txBox="1"/>
          <p:nvPr/>
        </p:nvSpPr>
        <p:spPr>
          <a:xfrm>
            <a:off x="1691640" y="3337560"/>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C3 a C4</a:t>
            </a:r>
            <a:endParaRPr lang="es-CL" sz="1300" dirty="0"/>
          </a:p>
        </p:txBody>
      </p:sp>
      <p:sp>
        <p:nvSpPr>
          <p:cNvPr id="32" name="Text 30"/>
          <p:cNvSpPr txBox="1"/>
          <p:nvPr/>
        </p:nvSpPr>
        <p:spPr>
          <a:xfrm>
            <a:off x="2971800" y="3337560"/>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Más confianza mejoraría la conversión de consultas</a:t>
            </a:r>
            <a:endParaRPr lang="es-CL" sz="1300" dirty="0"/>
          </a:p>
        </p:txBody>
      </p:sp>
      <p:sp>
        <p:nvSpPr>
          <p:cNvPr id="33" name="Text 31"/>
          <p:cNvSpPr txBox="1"/>
          <p:nvPr/>
        </p:nvSpPr>
        <p:spPr>
          <a:xfrm>
            <a:off x="7909560" y="3337560"/>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Conversión segmentada antes y después</a:t>
            </a:r>
            <a:endParaRPr lang="es-CL" sz="1300" dirty="0"/>
          </a:p>
        </p:txBody>
      </p:sp>
      <p:sp>
        <p:nvSpPr>
          <p:cNvPr id="34" name="Shape 32"/>
          <p:cNvSpPr/>
          <p:nvPr/>
        </p:nvSpPr>
        <p:spPr>
          <a:xfrm>
            <a:off x="548640" y="3689604"/>
            <a:ext cx="11094415" cy="0"/>
          </a:xfrm>
          <a:prstGeom prst="line">
            <a:avLst/>
          </a:prstGeom>
          <a:noFill/>
          <a:ln w="9525">
            <a:solidFill>
              <a:schemeClr val="accent5"/>
            </a:solidFill>
            <a:prstDash val="solid"/>
          </a:ln>
        </p:spPr>
      </p:sp>
      <p:sp>
        <p:nvSpPr>
          <p:cNvPr id="35" name="Text 33"/>
          <p:cNvSpPr txBox="1"/>
          <p:nvPr/>
        </p:nvSpPr>
        <p:spPr>
          <a:xfrm>
            <a:off x="548640" y="3689604"/>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R14</a:t>
            </a:r>
            <a:endParaRPr lang="es-CL" sz="1200" dirty="0"/>
          </a:p>
        </p:txBody>
      </p:sp>
      <p:sp>
        <p:nvSpPr>
          <p:cNvPr id="36" name="Shape 34"/>
          <p:cNvSpPr/>
          <p:nvPr/>
        </p:nvSpPr>
        <p:spPr>
          <a:xfrm>
            <a:off x="1051560" y="3865626"/>
            <a:ext cx="457200" cy="0"/>
          </a:xfrm>
          <a:prstGeom prst="line">
            <a:avLst/>
          </a:prstGeom>
          <a:noFill/>
          <a:ln w="19050">
            <a:solidFill>
              <a:schemeClr val="accent1"/>
            </a:solidFill>
            <a:prstDash val="dash"/>
          </a:ln>
        </p:spPr>
      </p:sp>
      <p:sp>
        <p:nvSpPr>
          <p:cNvPr id="37" name="Text 35"/>
          <p:cNvSpPr txBox="1"/>
          <p:nvPr/>
        </p:nvSpPr>
        <p:spPr>
          <a:xfrm>
            <a:off x="1691640" y="3689604"/>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P6 a C4</a:t>
            </a:r>
            <a:endParaRPr lang="es-CL" sz="1300" dirty="0"/>
          </a:p>
        </p:txBody>
      </p:sp>
      <p:sp>
        <p:nvSpPr>
          <p:cNvPr id="38" name="Text 36"/>
          <p:cNvSpPr txBox="1"/>
          <p:nvPr/>
        </p:nvSpPr>
        <p:spPr>
          <a:xfrm>
            <a:off x="2971800" y="3689604"/>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La cuota disponible destrabaría la compra</a:t>
            </a:r>
            <a:endParaRPr lang="es-CL" sz="1300" dirty="0"/>
          </a:p>
        </p:txBody>
      </p:sp>
      <p:sp>
        <p:nvSpPr>
          <p:cNvPr id="39" name="Text 37"/>
          <p:cNvSpPr txBox="1"/>
          <p:nvPr/>
        </p:nvSpPr>
        <p:spPr>
          <a:xfrm>
            <a:off x="7909560" y="3689604"/>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Conversión con y sin financiamiento</a:t>
            </a:r>
            <a:endParaRPr lang="es-CL" sz="1300" dirty="0"/>
          </a:p>
        </p:txBody>
      </p:sp>
      <p:sp>
        <p:nvSpPr>
          <p:cNvPr id="40" name="Shape 38"/>
          <p:cNvSpPr/>
          <p:nvPr/>
        </p:nvSpPr>
        <p:spPr>
          <a:xfrm>
            <a:off x="548640" y="4041648"/>
            <a:ext cx="11094415" cy="0"/>
          </a:xfrm>
          <a:prstGeom prst="line">
            <a:avLst/>
          </a:prstGeom>
          <a:noFill/>
          <a:ln w="9525">
            <a:solidFill>
              <a:schemeClr val="accent5"/>
            </a:solidFill>
            <a:prstDash val="solid"/>
          </a:ln>
        </p:spPr>
      </p:sp>
      <p:sp>
        <p:nvSpPr>
          <p:cNvPr id="41" name="Text 39"/>
          <p:cNvSpPr txBox="1"/>
          <p:nvPr/>
        </p:nvSpPr>
        <p:spPr>
          <a:xfrm>
            <a:off x="548640" y="4041648"/>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R15</a:t>
            </a:r>
            <a:endParaRPr lang="es-CL" sz="1200" dirty="0"/>
          </a:p>
        </p:txBody>
      </p:sp>
      <p:sp>
        <p:nvSpPr>
          <p:cNvPr id="42" name="Shape 40"/>
          <p:cNvSpPr/>
          <p:nvPr/>
        </p:nvSpPr>
        <p:spPr>
          <a:xfrm>
            <a:off x="1051560" y="4217670"/>
            <a:ext cx="457200" cy="0"/>
          </a:xfrm>
          <a:prstGeom prst="line">
            <a:avLst/>
          </a:prstGeom>
          <a:noFill/>
          <a:ln w="19050">
            <a:solidFill>
              <a:schemeClr val="accent1"/>
            </a:solidFill>
            <a:prstDash val="dash"/>
          </a:ln>
        </p:spPr>
      </p:sp>
      <p:sp>
        <p:nvSpPr>
          <p:cNvPr id="43" name="Text 41"/>
          <p:cNvSpPr txBox="1"/>
          <p:nvPr/>
        </p:nvSpPr>
        <p:spPr>
          <a:xfrm>
            <a:off x="1691640" y="4041648"/>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C4 a F2</a:t>
            </a:r>
            <a:endParaRPr lang="es-CL" sz="1300" dirty="0"/>
          </a:p>
        </p:txBody>
      </p:sp>
      <p:sp>
        <p:nvSpPr>
          <p:cNvPr id="44" name="Text 42"/>
          <p:cNvSpPr txBox="1"/>
          <p:nvPr/>
        </p:nvSpPr>
        <p:spPr>
          <a:xfrm>
            <a:off x="2971800" y="4041648"/>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Más volumen aporta solo con precio y costo controlados</a:t>
            </a:r>
            <a:endParaRPr lang="es-CL" sz="1300" dirty="0"/>
          </a:p>
        </p:txBody>
      </p:sp>
      <p:sp>
        <p:nvSpPr>
          <p:cNvPr id="45" name="Text 43"/>
          <p:cNvSpPr txBox="1"/>
          <p:nvPr/>
        </p:nvSpPr>
        <p:spPr>
          <a:xfrm>
            <a:off x="7909560" y="4041648"/>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Margen real y contribución total</a:t>
            </a:r>
            <a:endParaRPr lang="es-CL" sz="1300" dirty="0"/>
          </a:p>
        </p:txBody>
      </p:sp>
      <p:sp>
        <p:nvSpPr>
          <p:cNvPr id="46" name="Shape 44"/>
          <p:cNvSpPr/>
          <p:nvPr/>
        </p:nvSpPr>
        <p:spPr>
          <a:xfrm>
            <a:off x="548640" y="4393692"/>
            <a:ext cx="11094415" cy="0"/>
          </a:xfrm>
          <a:prstGeom prst="line">
            <a:avLst/>
          </a:prstGeom>
          <a:noFill/>
          <a:ln w="9525">
            <a:solidFill>
              <a:schemeClr val="accent5"/>
            </a:solidFill>
            <a:prstDash val="solid"/>
          </a:ln>
        </p:spPr>
      </p:sp>
      <p:sp>
        <p:nvSpPr>
          <p:cNvPr id="47" name="Text 45"/>
          <p:cNvSpPr txBox="1"/>
          <p:nvPr/>
        </p:nvSpPr>
        <p:spPr>
          <a:xfrm>
            <a:off x="548640" y="4393692"/>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R16</a:t>
            </a:r>
            <a:endParaRPr lang="es-CL" sz="1200" dirty="0"/>
          </a:p>
        </p:txBody>
      </p:sp>
      <p:sp>
        <p:nvSpPr>
          <p:cNvPr id="48" name="Shape 46"/>
          <p:cNvSpPr/>
          <p:nvPr/>
        </p:nvSpPr>
        <p:spPr>
          <a:xfrm>
            <a:off x="1051560" y="4569714"/>
            <a:ext cx="457200" cy="0"/>
          </a:xfrm>
          <a:prstGeom prst="line">
            <a:avLst/>
          </a:prstGeom>
          <a:noFill/>
          <a:ln w="19050">
            <a:solidFill>
              <a:schemeClr val="accent1"/>
            </a:solidFill>
            <a:prstDash val="dash"/>
          </a:ln>
        </p:spPr>
      </p:sp>
      <p:sp>
        <p:nvSpPr>
          <p:cNvPr id="49" name="Text 47"/>
          <p:cNvSpPr txBox="1"/>
          <p:nvPr/>
        </p:nvSpPr>
        <p:spPr>
          <a:xfrm>
            <a:off x="1691640" y="4393692"/>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P3 a F2</a:t>
            </a:r>
            <a:endParaRPr lang="es-CL" sz="1300" dirty="0"/>
          </a:p>
        </p:txBody>
      </p:sp>
      <p:sp>
        <p:nvSpPr>
          <p:cNvPr id="50" name="Text 48"/>
          <p:cNvSpPr txBox="1"/>
          <p:nvPr/>
        </p:nvSpPr>
        <p:spPr>
          <a:xfrm>
            <a:off x="2971800" y="4393692"/>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Menos retrabajo contendría el costo variable</a:t>
            </a:r>
            <a:endParaRPr lang="es-CL" sz="1300" dirty="0"/>
          </a:p>
        </p:txBody>
      </p:sp>
      <p:sp>
        <p:nvSpPr>
          <p:cNvPr id="51" name="Text 49"/>
          <p:cNvSpPr txBox="1"/>
          <p:nvPr/>
        </p:nvSpPr>
        <p:spPr>
          <a:xfrm>
            <a:off x="7909560" y="4393692"/>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Costo por orden y reprocesos</a:t>
            </a:r>
            <a:endParaRPr lang="es-CL" sz="1300" dirty="0"/>
          </a:p>
        </p:txBody>
      </p:sp>
      <p:sp>
        <p:nvSpPr>
          <p:cNvPr id="52" name="Shape 50"/>
          <p:cNvSpPr/>
          <p:nvPr/>
        </p:nvSpPr>
        <p:spPr>
          <a:xfrm>
            <a:off x="548640" y="4745736"/>
            <a:ext cx="11094415" cy="0"/>
          </a:xfrm>
          <a:prstGeom prst="line">
            <a:avLst/>
          </a:prstGeom>
          <a:noFill/>
          <a:ln w="9525">
            <a:solidFill>
              <a:schemeClr val="accent5"/>
            </a:solidFill>
            <a:prstDash val="solid"/>
          </a:ln>
        </p:spPr>
      </p:sp>
      <p:sp>
        <p:nvSpPr>
          <p:cNvPr id="53" name="Text 51"/>
          <p:cNvSpPr txBox="1"/>
          <p:nvPr/>
        </p:nvSpPr>
        <p:spPr>
          <a:xfrm>
            <a:off x="548640" y="4745736"/>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R17</a:t>
            </a:r>
            <a:endParaRPr lang="es-CL" sz="1200" dirty="0"/>
          </a:p>
        </p:txBody>
      </p:sp>
      <p:sp>
        <p:nvSpPr>
          <p:cNvPr id="54" name="Shape 52"/>
          <p:cNvSpPr/>
          <p:nvPr/>
        </p:nvSpPr>
        <p:spPr>
          <a:xfrm>
            <a:off x="1051560" y="4921758"/>
            <a:ext cx="457200" cy="0"/>
          </a:xfrm>
          <a:prstGeom prst="line">
            <a:avLst/>
          </a:prstGeom>
          <a:noFill/>
          <a:ln w="19050">
            <a:solidFill>
              <a:schemeClr val="accent1"/>
            </a:solidFill>
            <a:prstDash val="dash"/>
          </a:ln>
        </p:spPr>
      </p:sp>
      <p:sp>
        <p:nvSpPr>
          <p:cNvPr id="55" name="Text 53"/>
          <p:cNvSpPr txBox="1"/>
          <p:nvPr/>
        </p:nvSpPr>
        <p:spPr>
          <a:xfrm>
            <a:off x="1691640" y="4745736"/>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F2 a F1</a:t>
            </a:r>
            <a:endParaRPr lang="es-CL" sz="1300" dirty="0"/>
          </a:p>
        </p:txBody>
      </p:sp>
      <p:sp>
        <p:nvSpPr>
          <p:cNvPr id="56" name="Text 54"/>
          <p:cNvSpPr txBox="1"/>
          <p:nvPr/>
        </p:nvSpPr>
        <p:spPr>
          <a:xfrm>
            <a:off x="2971800" y="4745736"/>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El margen alimenta flujos descontables</a:t>
            </a:r>
            <a:endParaRPr lang="es-CL" sz="1300" dirty="0"/>
          </a:p>
        </p:txBody>
      </p:sp>
      <p:sp>
        <p:nvSpPr>
          <p:cNvPr id="57" name="Text 55"/>
          <p:cNvSpPr txBox="1"/>
          <p:nvPr/>
        </p:nvSpPr>
        <p:spPr>
          <a:xfrm>
            <a:off x="7909560" y="4745736"/>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Conciliación de costos, ventas y flujo</a:t>
            </a:r>
            <a:endParaRPr lang="es-CL" sz="1300" dirty="0"/>
          </a:p>
        </p:txBody>
      </p:sp>
      <p:sp>
        <p:nvSpPr>
          <p:cNvPr id="58" name="Shape 56"/>
          <p:cNvSpPr/>
          <p:nvPr/>
        </p:nvSpPr>
        <p:spPr>
          <a:xfrm>
            <a:off x="548640" y="5097780"/>
            <a:ext cx="11094415" cy="0"/>
          </a:xfrm>
          <a:prstGeom prst="line">
            <a:avLst/>
          </a:prstGeom>
          <a:noFill/>
          <a:ln w="9525">
            <a:solidFill>
              <a:schemeClr val="accent5"/>
            </a:solidFill>
            <a:prstDash val="solid"/>
          </a:ln>
        </p:spPr>
      </p:sp>
      <p:sp>
        <p:nvSpPr>
          <p:cNvPr id="59" name="Text 57"/>
          <p:cNvSpPr txBox="1"/>
          <p:nvPr/>
        </p:nvSpPr>
        <p:spPr>
          <a:xfrm>
            <a:off x="548640" y="5097780"/>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R18</a:t>
            </a:r>
            <a:endParaRPr lang="es-CL" sz="1200" dirty="0"/>
          </a:p>
        </p:txBody>
      </p:sp>
      <p:sp>
        <p:nvSpPr>
          <p:cNvPr id="60" name="Shape 58"/>
          <p:cNvSpPr/>
          <p:nvPr/>
        </p:nvSpPr>
        <p:spPr>
          <a:xfrm>
            <a:off x="1051560" y="5273802"/>
            <a:ext cx="457200" cy="0"/>
          </a:xfrm>
          <a:prstGeom prst="line">
            <a:avLst/>
          </a:prstGeom>
          <a:noFill/>
          <a:ln w="19050">
            <a:solidFill>
              <a:schemeClr val="accent1"/>
            </a:solidFill>
            <a:prstDash val="dash"/>
          </a:ln>
        </p:spPr>
      </p:sp>
      <p:sp>
        <p:nvSpPr>
          <p:cNvPr id="61" name="Text 59"/>
          <p:cNvSpPr txBox="1"/>
          <p:nvPr/>
        </p:nvSpPr>
        <p:spPr>
          <a:xfrm>
            <a:off x="1691640" y="5097780"/>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A4 a P5</a:t>
            </a:r>
            <a:endParaRPr lang="es-CL" sz="1300" dirty="0"/>
          </a:p>
        </p:txBody>
      </p:sp>
      <p:sp>
        <p:nvSpPr>
          <p:cNvPr id="62" name="Text 60"/>
          <p:cNvSpPr txBox="1"/>
          <p:nvPr/>
        </p:nvSpPr>
        <p:spPr>
          <a:xfrm>
            <a:off x="2971800" y="5097780"/>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Un método documentado hace replicable el servicio</a:t>
            </a:r>
            <a:endParaRPr lang="es-CL" sz="1300" dirty="0"/>
          </a:p>
        </p:txBody>
      </p:sp>
      <p:sp>
        <p:nvSpPr>
          <p:cNvPr id="63" name="Text 61"/>
          <p:cNvSpPr txBox="1"/>
          <p:nvPr/>
        </p:nvSpPr>
        <p:spPr>
          <a:xfrm>
            <a:off x="7909560" y="5097780"/>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Paquete de formación revisado</a:t>
            </a:r>
            <a:endParaRPr lang="es-CL" sz="1300" dirty="0"/>
          </a:p>
        </p:txBody>
      </p:sp>
      <p:sp>
        <p:nvSpPr>
          <p:cNvPr id="64" name="Shape 62"/>
          <p:cNvSpPr/>
          <p:nvPr/>
        </p:nvSpPr>
        <p:spPr>
          <a:xfrm>
            <a:off x="548640" y="5449824"/>
            <a:ext cx="11094415" cy="0"/>
          </a:xfrm>
          <a:prstGeom prst="line">
            <a:avLst/>
          </a:prstGeom>
          <a:noFill/>
          <a:ln w="9525">
            <a:solidFill>
              <a:schemeClr val="accent5"/>
            </a:solidFill>
            <a:prstDash val="solid"/>
          </a:ln>
        </p:spPr>
      </p:sp>
      <p:sp>
        <p:nvSpPr>
          <p:cNvPr id="65" name="Text 63"/>
          <p:cNvSpPr txBox="1"/>
          <p:nvPr/>
        </p:nvSpPr>
        <p:spPr>
          <a:xfrm>
            <a:off x="548640" y="5449824"/>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R19</a:t>
            </a:r>
            <a:endParaRPr lang="es-CL" sz="1200" dirty="0"/>
          </a:p>
        </p:txBody>
      </p:sp>
      <p:sp>
        <p:nvSpPr>
          <p:cNvPr id="66" name="Shape 64"/>
          <p:cNvSpPr/>
          <p:nvPr/>
        </p:nvSpPr>
        <p:spPr>
          <a:xfrm>
            <a:off x="1051560" y="5625846"/>
            <a:ext cx="457200" cy="0"/>
          </a:xfrm>
          <a:prstGeom prst="line">
            <a:avLst/>
          </a:prstGeom>
          <a:noFill/>
          <a:ln w="19050">
            <a:solidFill>
              <a:schemeClr val="accent1"/>
            </a:solidFill>
            <a:prstDash val="dash"/>
          </a:ln>
        </p:spPr>
      </p:sp>
      <p:sp>
        <p:nvSpPr>
          <p:cNvPr id="67" name="Text 65"/>
          <p:cNvSpPr txBox="1"/>
          <p:nvPr/>
        </p:nvSpPr>
        <p:spPr>
          <a:xfrm>
            <a:off x="1691640" y="5449824"/>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P5 a F3</a:t>
            </a:r>
            <a:endParaRPr lang="es-CL" sz="1300" dirty="0"/>
          </a:p>
        </p:txBody>
      </p:sp>
      <p:sp>
        <p:nvSpPr>
          <p:cNvPr id="68" name="Text 66"/>
          <p:cNvSpPr txBox="1"/>
          <p:nvPr/>
        </p:nvSpPr>
        <p:spPr>
          <a:xfrm>
            <a:off x="2971800" y="5449824"/>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El paquete permite evaluar la línea de licencias</a:t>
            </a:r>
            <a:endParaRPr lang="es-CL" sz="1300" dirty="0"/>
          </a:p>
        </p:txBody>
      </p:sp>
      <p:sp>
        <p:nvSpPr>
          <p:cNvPr id="69" name="Text 67"/>
          <p:cNvSpPr txBox="1"/>
          <p:nvPr/>
        </p:nvSpPr>
        <p:spPr>
          <a:xfrm>
            <a:off x="7909560" y="5449824"/>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Modelo de ingresos y costos aprobado</a:t>
            </a:r>
            <a:endParaRPr lang="es-CL" sz="1300" dirty="0"/>
          </a:p>
        </p:txBody>
      </p:sp>
      <p:sp>
        <p:nvSpPr>
          <p:cNvPr id="70" name="Shape 68"/>
          <p:cNvSpPr/>
          <p:nvPr/>
        </p:nvSpPr>
        <p:spPr>
          <a:xfrm>
            <a:off x="548640" y="5801868"/>
            <a:ext cx="11094415" cy="0"/>
          </a:xfrm>
          <a:prstGeom prst="line">
            <a:avLst/>
          </a:prstGeom>
          <a:noFill/>
          <a:ln w="9525">
            <a:solidFill>
              <a:schemeClr val="accent5"/>
            </a:solidFill>
            <a:prstDash val="solid"/>
          </a:ln>
        </p:spPr>
      </p:sp>
      <p:sp>
        <p:nvSpPr>
          <p:cNvPr id="71" name="Text 69"/>
          <p:cNvSpPr txBox="1"/>
          <p:nvPr/>
        </p:nvSpPr>
        <p:spPr>
          <a:xfrm>
            <a:off x="548640" y="5801868"/>
            <a:ext cx="457200" cy="352044"/>
          </a:xfrm>
          <a:prstGeom prst="rect">
            <a:avLst/>
          </a:prstGeom>
          <a:noFill/>
          <a:ln/>
        </p:spPr>
        <p:txBody>
          <a:bodyPr wrap="square" lIns="0" tIns="0" rIns="0" bIns="0" rtlCol="0" anchor="ctr"/>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R20</a:t>
            </a:r>
            <a:endParaRPr lang="es-CL" sz="1200" dirty="0"/>
          </a:p>
        </p:txBody>
      </p:sp>
      <p:sp>
        <p:nvSpPr>
          <p:cNvPr id="72" name="Shape 70"/>
          <p:cNvSpPr/>
          <p:nvPr/>
        </p:nvSpPr>
        <p:spPr>
          <a:xfrm>
            <a:off x="1051560" y="5977890"/>
            <a:ext cx="457200" cy="0"/>
          </a:xfrm>
          <a:prstGeom prst="line">
            <a:avLst/>
          </a:prstGeom>
          <a:noFill/>
          <a:ln w="19050">
            <a:solidFill>
              <a:schemeClr val="accent1"/>
            </a:solidFill>
            <a:prstDash val="dash"/>
          </a:ln>
        </p:spPr>
      </p:sp>
      <p:sp>
        <p:nvSpPr>
          <p:cNvPr id="73" name="Text 71"/>
          <p:cNvSpPr txBox="1"/>
          <p:nvPr/>
        </p:nvSpPr>
        <p:spPr>
          <a:xfrm>
            <a:off x="1691640" y="5801868"/>
            <a:ext cx="11430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F3 a F1</a:t>
            </a:r>
            <a:endParaRPr lang="es-CL" sz="1300" dirty="0"/>
          </a:p>
        </p:txBody>
      </p:sp>
      <p:sp>
        <p:nvSpPr>
          <p:cNvPr id="74" name="Text 72"/>
          <p:cNvSpPr txBox="1"/>
          <p:nvPr/>
        </p:nvSpPr>
        <p:spPr>
          <a:xfrm>
            <a:off x="2971800" y="5801868"/>
            <a:ext cx="4800600"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1"/>
                </a:solidFill>
                <a:latin typeface="Figtree" pitchFamily="34" charset="0"/>
                <a:ea typeface="Figtree" pitchFamily="34" charset="-122"/>
                <a:cs typeface="Figtree" pitchFamily="34" charset="-120"/>
              </a:rPr>
              <a:t>Expandirse crea valor solo con evaluación positiva</a:t>
            </a:r>
            <a:endParaRPr lang="es-CL" sz="1300" dirty="0"/>
          </a:p>
        </p:txBody>
      </p:sp>
      <p:sp>
        <p:nvSpPr>
          <p:cNvPr id="75" name="Text 73"/>
          <p:cNvSpPr txBox="1"/>
          <p:nvPr/>
        </p:nvSpPr>
        <p:spPr>
          <a:xfrm>
            <a:off x="7909560" y="5801868"/>
            <a:ext cx="3596335" cy="352044"/>
          </a:xfrm>
          <a:prstGeom prst="rect">
            <a:avLst/>
          </a:prstGeom>
          <a:noFill/>
          <a:ln/>
        </p:spPr>
        <p:txBody>
          <a:bodyPr wrap="square" lIns="0" tIns="0" rIns="0" bIns="0" rtlCol="0" anchor="ctr"/>
          <a:lstStyle/>
          <a:p>
            <a:pPr algn="l" indent="0" marL="0">
              <a:lnSpc>
                <a:spcPct val="92000"/>
              </a:lnSpc>
              <a:buNone/>
            </a:pPr>
            <a:r>
              <a:rPr lang="es-CL" altLang="en-US" sz="1300" dirty="0">
                <a:solidFill>
                  <a:schemeClr val="tx2"/>
                </a:solidFill>
                <a:latin typeface="Figtree" pitchFamily="34" charset="0"/>
                <a:ea typeface="Figtree" pitchFamily="34" charset="-122"/>
                <a:cs typeface="Figtree" pitchFamily="34" charset="-120"/>
              </a:rPr>
              <a:t>VAN incremental por alternativa</a:t>
            </a:r>
            <a:endParaRPr lang="es-CL" sz="1300" dirty="0"/>
          </a:p>
        </p:txBody>
      </p:sp>
      <p:sp>
        <p:nvSpPr>
          <p:cNvPr id="76" name="Shape 74"/>
          <p:cNvSpPr/>
          <p:nvPr/>
        </p:nvSpPr>
        <p:spPr>
          <a:xfrm>
            <a:off x="548640" y="6153912"/>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A4</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PERSPECTIVA FINANCIERA · F1</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F1 SE MIDE EN DOS ETAPAS: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decidir invertir y controlar la operación.</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Sin cifra: faltan flujos, inversión y una tasa sustentada (Plan Financiero).</a:t>
            </a:r>
            <a:endParaRPr lang="es-CL" sz="1100" dirty="0"/>
          </a:p>
        </p:txBody>
      </p:sp>
      <p:sp>
        <p:nvSpPr>
          <p:cNvPr id="6" name="Shape 4"/>
          <p:cNvSpPr/>
          <p:nvPr/>
        </p:nvSpPr>
        <p:spPr>
          <a:xfrm>
            <a:off x="548640" y="2395728"/>
            <a:ext cx="5364328" cy="3108960"/>
          </a:xfrm>
          <a:prstGeom prst="rect">
            <a:avLst/>
          </a:prstGeom>
          <a:solidFill>
            <a:srgbClr val="0B1A22"/>
          </a:solidFill>
          <a:ln w="15875">
            <a:solidFill>
              <a:schemeClr val="accent1"/>
            </a:solidFill>
            <a:prstDash val="solid"/>
          </a:ln>
        </p:spPr>
      </p:sp>
      <p:sp>
        <p:nvSpPr>
          <p:cNvPr id="7" name="Shape 5"/>
          <p:cNvSpPr/>
          <p:nvPr/>
        </p:nvSpPr>
        <p:spPr>
          <a:xfrm>
            <a:off x="493776" y="2340864"/>
            <a:ext cx="155448" cy="0"/>
          </a:xfrm>
          <a:prstGeom prst="line">
            <a:avLst/>
          </a:prstGeom>
          <a:noFill/>
          <a:ln w="15875">
            <a:solidFill>
              <a:schemeClr val="accent1"/>
            </a:solidFill>
            <a:prstDash val="solid"/>
          </a:ln>
        </p:spPr>
      </p:sp>
      <p:sp>
        <p:nvSpPr>
          <p:cNvPr id="8" name="Shape 6"/>
          <p:cNvSpPr/>
          <p:nvPr/>
        </p:nvSpPr>
        <p:spPr>
          <a:xfrm>
            <a:off x="493776" y="2340864"/>
            <a:ext cx="0" cy="155448"/>
          </a:xfrm>
          <a:prstGeom prst="line">
            <a:avLst/>
          </a:prstGeom>
          <a:noFill/>
          <a:ln w="15875">
            <a:solidFill>
              <a:schemeClr val="accent1"/>
            </a:solidFill>
            <a:prstDash val="solid"/>
          </a:ln>
        </p:spPr>
      </p:sp>
      <p:sp>
        <p:nvSpPr>
          <p:cNvPr id="9" name="Shape 7"/>
          <p:cNvSpPr/>
          <p:nvPr/>
        </p:nvSpPr>
        <p:spPr>
          <a:xfrm>
            <a:off x="5812384" y="2340864"/>
            <a:ext cx="155448" cy="0"/>
          </a:xfrm>
          <a:prstGeom prst="line">
            <a:avLst/>
          </a:prstGeom>
          <a:noFill/>
          <a:ln w="15875">
            <a:solidFill>
              <a:schemeClr val="accent1"/>
            </a:solidFill>
            <a:prstDash val="solid"/>
          </a:ln>
        </p:spPr>
      </p:sp>
      <p:sp>
        <p:nvSpPr>
          <p:cNvPr id="10" name="Shape 8"/>
          <p:cNvSpPr/>
          <p:nvPr/>
        </p:nvSpPr>
        <p:spPr>
          <a:xfrm>
            <a:off x="5967832" y="2340864"/>
            <a:ext cx="0" cy="155448"/>
          </a:xfrm>
          <a:prstGeom prst="line">
            <a:avLst/>
          </a:prstGeom>
          <a:noFill/>
          <a:ln w="15875">
            <a:solidFill>
              <a:schemeClr val="accent1"/>
            </a:solidFill>
            <a:prstDash val="solid"/>
          </a:ln>
        </p:spPr>
      </p:sp>
      <p:sp>
        <p:nvSpPr>
          <p:cNvPr id="11" name="Shape 9"/>
          <p:cNvSpPr/>
          <p:nvPr/>
        </p:nvSpPr>
        <p:spPr>
          <a:xfrm>
            <a:off x="493776" y="5559552"/>
            <a:ext cx="155448" cy="0"/>
          </a:xfrm>
          <a:prstGeom prst="line">
            <a:avLst/>
          </a:prstGeom>
          <a:noFill/>
          <a:ln w="15875">
            <a:solidFill>
              <a:schemeClr val="accent1"/>
            </a:solidFill>
            <a:prstDash val="solid"/>
          </a:ln>
        </p:spPr>
      </p:sp>
      <p:sp>
        <p:nvSpPr>
          <p:cNvPr id="12" name="Shape 10"/>
          <p:cNvSpPr/>
          <p:nvPr/>
        </p:nvSpPr>
        <p:spPr>
          <a:xfrm>
            <a:off x="493776" y="5404104"/>
            <a:ext cx="0" cy="155448"/>
          </a:xfrm>
          <a:prstGeom prst="line">
            <a:avLst/>
          </a:prstGeom>
          <a:noFill/>
          <a:ln w="15875">
            <a:solidFill>
              <a:schemeClr val="accent1"/>
            </a:solidFill>
            <a:prstDash val="solid"/>
          </a:ln>
        </p:spPr>
      </p:sp>
      <p:sp>
        <p:nvSpPr>
          <p:cNvPr id="13" name="Shape 11"/>
          <p:cNvSpPr/>
          <p:nvPr/>
        </p:nvSpPr>
        <p:spPr>
          <a:xfrm>
            <a:off x="5812384" y="5559552"/>
            <a:ext cx="155448" cy="0"/>
          </a:xfrm>
          <a:prstGeom prst="line">
            <a:avLst/>
          </a:prstGeom>
          <a:noFill/>
          <a:ln w="15875">
            <a:solidFill>
              <a:schemeClr val="accent1"/>
            </a:solidFill>
            <a:prstDash val="solid"/>
          </a:ln>
        </p:spPr>
      </p:sp>
      <p:sp>
        <p:nvSpPr>
          <p:cNvPr id="14" name="Shape 12"/>
          <p:cNvSpPr/>
          <p:nvPr/>
        </p:nvSpPr>
        <p:spPr>
          <a:xfrm>
            <a:off x="5967832" y="5404104"/>
            <a:ext cx="0" cy="155448"/>
          </a:xfrm>
          <a:prstGeom prst="line">
            <a:avLst/>
          </a:prstGeom>
          <a:noFill/>
          <a:ln w="15875">
            <a:solidFill>
              <a:schemeClr val="accent1"/>
            </a:solidFill>
            <a:prstDash val="solid"/>
          </a:ln>
        </p:spPr>
      </p:sp>
      <p:sp>
        <p:nvSpPr>
          <p:cNvPr id="15" name="Text 13"/>
          <p:cNvSpPr txBox="1"/>
          <p:nvPr/>
        </p:nvSpPr>
        <p:spPr>
          <a:xfrm>
            <a:off x="804672" y="2578608"/>
            <a:ext cx="490712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1 · ANTES DE INVERTIR</a:t>
            </a:r>
            <a:endParaRPr lang="es-CL" sz="1300" dirty="0"/>
          </a:p>
        </p:txBody>
      </p:sp>
      <p:sp>
        <p:nvSpPr>
          <p:cNvPr id="16" name="Text 14"/>
          <p:cNvSpPr txBox="1"/>
          <p:nvPr/>
        </p:nvSpPr>
        <p:spPr>
          <a:xfrm>
            <a:off x="804672" y="2898648"/>
            <a:ext cx="4907128" cy="685800"/>
          </a:xfrm>
          <a:prstGeom prst="rect">
            <a:avLst/>
          </a:prstGeom>
          <a:noFill/>
          <a:ln/>
        </p:spPr>
        <p:txBody>
          <a:bodyPr wrap="square" lIns="0" tIns="0" rIns="0" bIns="0" rtlCol="0" anchor="t"/>
          <a:lstStyle/>
          <a:p>
            <a:pPr indent="0" marL="0">
              <a:buNone/>
            </a:pPr>
            <a:r>
              <a:rPr lang="es-CL" altLang="en-US" sz="2100" b="1" dirty="0">
                <a:solidFill>
                  <a:schemeClr val="tx1"/>
                </a:solidFill>
                <a:latin typeface="Figtree" pitchFamily="34" charset="0"/>
                <a:ea typeface="Figtree" pitchFamily="34" charset="-122"/>
                <a:cs typeface="Figtree" pitchFamily="34" charset="-120"/>
              </a:rPr>
              <a:t>VAN &gt; 0 y TIR &gt; tasa exigida</a:t>
            </a:r>
            <a:endParaRPr lang="es-CL" sz="2100" dirty="0"/>
          </a:p>
        </p:txBody>
      </p:sp>
      <p:sp>
        <p:nvSpPr>
          <p:cNvPr id="17" name="Shape 15"/>
          <p:cNvSpPr/>
          <p:nvPr/>
        </p:nvSpPr>
        <p:spPr>
          <a:xfrm>
            <a:off x="804672" y="3721608"/>
            <a:ext cx="4852264" cy="0"/>
          </a:xfrm>
          <a:prstGeom prst="line">
            <a:avLst/>
          </a:prstGeom>
          <a:noFill/>
          <a:ln w="9525">
            <a:solidFill>
              <a:schemeClr val="accent5"/>
            </a:solidFill>
            <a:prstDash val="solid"/>
          </a:ln>
        </p:spPr>
      </p:sp>
      <p:sp>
        <p:nvSpPr>
          <p:cNvPr id="18" name="Text 16"/>
          <p:cNvSpPr txBox="1"/>
          <p:nvPr/>
        </p:nvSpPr>
        <p:spPr>
          <a:xfrm>
            <a:off x="804672" y="3721608"/>
            <a:ext cx="1005840" cy="566928"/>
          </a:xfrm>
          <a:prstGeom prst="rect">
            <a:avLst/>
          </a:prstGeom>
          <a:noFill/>
          <a:ln/>
        </p:spPr>
        <p:txBody>
          <a:bodyPr wrap="square" lIns="0" tIns="0" rIns="0" bIns="0" rtlCol="0" anchor="ctr"/>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MIDE</a:t>
            </a:r>
            <a:endParaRPr lang="es-CL" sz="1200" dirty="0"/>
          </a:p>
        </p:txBody>
      </p:sp>
      <p:sp>
        <p:nvSpPr>
          <p:cNvPr id="19" name="Text 17"/>
          <p:cNvSpPr txBox="1"/>
          <p:nvPr/>
        </p:nvSpPr>
        <p:spPr>
          <a:xfrm>
            <a:off x="1828800" y="3721608"/>
            <a:ext cx="3809848" cy="566928"/>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si conviene invertir, con flujos proyectados</a:t>
            </a:r>
            <a:endParaRPr lang="es-CL" sz="1600" dirty="0"/>
          </a:p>
        </p:txBody>
      </p:sp>
      <p:sp>
        <p:nvSpPr>
          <p:cNvPr id="20" name="Shape 18"/>
          <p:cNvSpPr/>
          <p:nvPr/>
        </p:nvSpPr>
        <p:spPr>
          <a:xfrm>
            <a:off x="804672" y="4288536"/>
            <a:ext cx="4852264" cy="0"/>
          </a:xfrm>
          <a:prstGeom prst="line">
            <a:avLst/>
          </a:prstGeom>
          <a:noFill/>
          <a:ln w="9525">
            <a:solidFill>
              <a:schemeClr val="accent5"/>
            </a:solidFill>
            <a:prstDash val="solid"/>
          </a:ln>
        </p:spPr>
      </p:sp>
      <p:sp>
        <p:nvSpPr>
          <p:cNvPr id="21" name="Text 19"/>
          <p:cNvSpPr txBox="1"/>
          <p:nvPr/>
        </p:nvSpPr>
        <p:spPr>
          <a:xfrm>
            <a:off x="804672" y="4288536"/>
            <a:ext cx="1005840" cy="566928"/>
          </a:xfrm>
          <a:prstGeom prst="rect">
            <a:avLst/>
          </a:prstGeom>
          <a:noFill/>
          <a:ln/>
        </p:spPr>
        <p:txBody>
          <a:bodyPr wrap="square" lIns="0" tIns="0" rIns="0" bIns="0" rtlCol="0" anchor="ctr"/>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CUÁNDO</a:t>
            </a:r>
            <a:endParaRPr lang="es-CL" sz="1200" dirty="0"/>
          </a:p>
        </p:txBody>
      </p:sp>
      <p:sp>
        <p:nvSpPr>
          <p:cNvPr id="22" name="Text 20"/>
          <p:cNvSpPr txBox="1"/>
          <p:nvPr/>
        </p:nvSpPr>
        <p:spPr>
          <a:xfrm>
            <a:off x="1828800" y="4288536"/>
            <a:ext cx="3809848" cy="566928"/>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una vez, con el Plan Financiero</a:t>
            </a:r>
            <a:endParaRPr lang="es-CL" sz="1600" dirty="0"/>
          </a:p>
        </p:txBody>
      </p:sp>
      <p:sp>
        <p:nvSpPr>
          <p:cNvPr id="23" name="Shape 21"/>
          <p:cNvSpPr/>
          <p:nvPr/>
        </p:nvSpPr>
        <p:spPr>
          <a:xfrm>
            <a:off x="804672" y="4855464"/>
            <a:ext cx="4852264" cy="0"/>
          </a:xfrm>
          <a:prstGeom prst="line">
            <a:avLst/>
          </a:prstGeom>
          <a:noFill/>
          <a:ln w="9525">
            <a:solidFill>
              <a:schemeClr val="accent5"/>
            </a:solidFill>
            <a:prstDash val="solid"/>
          </a:ln>
        </p:spPr>
      </p:sp>
      <p:sp>
        <p:nvSpPr>
          <p:cNvPr id="24" name="Text 22"/>
          <p:cNvSpPr txBox="1"/>
          <p:nvPr/>
        </p:nvSpPr>
        <p:spPr>
          <a:xfrm>
            <a:off x="804672" y="4855464"/>
            <a:ext cx="1005840" cy="566928"/>
          </a:xfrm>
          <a:prstGeom prst="rect">
            <a:avLst/>
          </a:prstGeom>
          <a:noFill/>
          <a:ln/>
        </p:spPr>
        <p:txBody>
          <a:bodyPr wrap="square" lIns="0" tIns="0" rIns="0" bIns="0" rtlCol="0" anchor="ctr"/>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FALTA</a:t>
            </a:r>
            <a:endParaRPr lang="es-CL" sz="1200" dirty="0"/>
          </a:p>
        </p:txBody>
      </p:sp>
      <p:sp>
        <p:nvSpPr>
          <p:cNvPr id="25" name="Text 23"/>
          <p:cNvSpPr txBox="1"/>
          <p:nvPr/>
        </p:nvSpPr>
        <p:spPr>
          <a:xfrm>
            <a:off x="1828800" y="4855464"/>
            <a:ext cx="3809848" cy="566928"/>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flujos, inversión inicial y tasa sustentada</a:t>
            </a:r>
            <a:endParaRPr lang="es-CL" sz="1600" dirty="0"/>
          </a:p>
        </p:txBody>
      </p:sp>
      <p:sp>
        <p:nvSpPr>
          <p:cNvPr id="26" name="Shape 24"/>
          <p:cNvSpPr/>
          <p:nvPr/>
        </p:nvSpPr>
        <p:spPr>
          <a:xfrm>
            <a:off x="6278728" y="2395728"/>
            <a:ext cx="5364328" cy="3108960"/>
          </a:xfrm>
          <a:prstGeom prst="rect">
            <a:avLst/>
          </a:prstGeom>
          <a:solidFill>
            <a:schemeClr val="bg2"/>
          </a:solidFill>
          <a:ln w="12700">
            <a:solidFill>
              <a:schemeClr val="accent1"/>
            </a:solidFill>
            <a:prstDash val="solid"/>
          </a:ln>
        </p:spPr>
      </p:sp>
      <p:sp>
        <p:nvSpPr>
          <p:cNvPr id="27" name="Text 25"/>
          <p:cNvSpPr txBox="1"/>
          <p:nvPr/>
        </p:nvSpPr>
        <p:spPr>
          <a:xfrm>
            <a:off x="6534760" y="2578608"/>
            <a:ext cx="490712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2 · OPERANDO</a:t>
            </a:r>
            <a:endParaRPr lang="es-CL" sz="1300" dirty="0"/>
          </a:p>
        </p:txBody>
      </p:sp>
      <p:sp>
        <p:nvSpPr>
          <p:cNvPr id="28" name="Text 26"/>
          <p:cNvSpPr txBox="1"/>
          <p:nvPr/>
        </p:nvSpPr>
        <p:spPr>
          <a:xfrm>
            <a:off x="6534760" y="2898648"/>
            <a:ext cx="4907128" cy="685800"/>
          </a:xfrm>
          <a:prstGeom prst="rect">
            <a:avLst/>
          </a:prstGeom>
          <a:noFill/>
          <a:ln/>
        </p:spPr>
        <p:txBody>
          <a:bodyPr wrap="square" lIns="0" tIns="0" rIns="0" bIns="0" rtlCol="0" anchor="t"/>
          <a:lstStyle/>
          <a:p>
            <a:pPr indent="0" marL="0">
              <a:buNone/>
            </a:pPr>
            <a:r>
              <a:rPr lang="es-CL" altLang="en-US" sz="2100" b="1" dirty="0">
                <a:solidFill>
                  <a:schemeClr val="tx1"/>
                </a:solidFill>
                <a:latin typeface="Figtree" pitchFamily="34" charset="0"/>
                <a:ea typeface="Figtree" pitchFamily="34" charset="-122"/>
                <a:cs typeface="Figtree" pitchFamily="34" charset="-120"/>
              </a:rPr>
              <a:t>Retorno sobre el capital empleado frente a su costo</a:t>
            </a:r>
            <a:endParaRPr lang="es-CL" sz="2100" dirty="0"/>
          </a:p>
        </p:txBody>
      </p:sp>
      <p:sp>
        <p:nvSpPr>
          <p:cNvPr id="29" name="Shape 27"/>
          <p:cNvSpPr/>
          <p:nvPr/>
        </p:nvSpPr>
        <p:spPr>
          <a:xfrm>
            <a:off x="6534760" y="3721608"/>
            <a:ext cx="4852264" cy="0"/>
          </a:xfrm>
          <a:prstGeom prst="line">
            <a:avLst/>
          </a:prstGeom>
          <a:noFill/>
          <a:ln w="9525">
            <a:solidFill>
              <a:schemeClr val="accent5"/>
            </a:solidFill>
            <a:prstDash val="solid"/>
          </a:ln>
        </p:spPr>
      </p:sp>
      <p:sp>
        <p:nvSpPr>
          <p:cNvPr id="30" name="Text 28"/>
          <p:cNvSpPr txBox="1"/>
          <p:nvPr/>
        </p:nvSpPr>
        <p:spPr>
          <a:xfrm>
            <a:off x="6534760" y="3721608"/>
            <a:ext cx="1005840" cy="566928"/>
          </a:xfrm>
          <a:prstGeom prst="rect">
            <a:avLst/>
          </a:prstGeom>
          <a:noFill/>
          <a:ln/>
        </p:spPr>
        <p:txBody>
          <a:bodyPr wrap="square" lIns="0" tIns="0" rIns="0" bIns="0" rtlCol="0" anchor="ctr"/>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MIDE</a:t>
            </a:r>
            <a:endParaRPr lang="es-CL" sz="1200" dirty="0"/>
          </a:p>
        </p:txBody>
      </p:sp>
      <p:sp>
        <p:nvSpPr>
          <p:cNvPr id="31" name="Text 29"/>
          <p:cNvSpPr txBox="1"/>
          <p:nvPr/>
        </p:nvSpPr>
        <p:spPr>
          <a:xfrm>
            <a:off x="7558888" y="3721608"/>
            <a:ext cx="3809848" cy="566928"/>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si la operación rinde más que el capital</a:t>
            </a:r>
            <a:endParaRPr lang="es-CL" sz="1600" dirty="0"/>
          </a:p>
        </p:txBody>
      </p:sp>
      <p:sp>
        <p:nvSpPr>
          <p:cNvPr id="32" name="Shape 30"/>
          <p:cNvSpPr/>
          <p:nvPr/>
        </p:nvSpPr>
        <p:spPr>
          <a:xfrm>
            <a:off x="6534760" y="4288536"/>
            <a:ext cx="4852264" cy="0"/>
          </a:xfrm>
          <a:prstGeom prst="line">
            <a:avLst/>
          </a:prstGeom>
          <a:noFill/>
          <a:ln w="9525">
            <a:solidFill>
              <a:schemeClr val="accent5"/>
            </a:solidFill>
            <a:prstDash val="solid"/>
          </a:ln>
        </p:spPr>
      </p:sp>
      <p:sp>
        <p:nvSpPr>
          <p:cNvPr id="33" name="Text 31"/>
          <p:cNvSpPr txBox="1"/>
          <p:nvPr/>
        </p:nvSpPr>
        <p:spPr>
          <a:xfrm>
            <a:off x="6534760" y="4288536"/>
            <a:ext cx="1005840" cy="566928"/>
          </a:xfrm>
          <a:prstGeom prst="rect">
            <a:avLst/>
          </a:prstGeom>
          <a:noFill/>
          <a:ln/>
        </p:spPr>
        <p:txBody>
          <a:bodyPr wrap="square" lIns="0" tIns="0" rIns="0" bIns="0" rtlCol="0" anchor="ctr"/>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CUÁNDO</a:t>
            </a:r>
            <a:endParaRPr lang="es-CL" sz="1200" dirty="0"/>
          </a:p>
        </p:txBody>
      </p:sp>
      <p:sp>
        <p:nvSpPr>
          <p:cNvPr id="34" name="Text 32"/>
          <p:cNvSpPr txBox="1"/>
          <p:nvPr/>
        </p:nvSpPr>
        <p:spPr>
          <a:xfrm>
            <a:off x="7558888" y="4288536"/>
            <a:ext cx="3809848" cy="566928"/>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cada ejercicio</a:t>
            </a:r>
            <a:endParaRPr lang="es-CL" sz="1600" dirty="0"/>
          </a:p>
        </p:txBody>
      </p:sp>
      <p:sp>
        <p:nvSpPr>
          <p:cNvPr id="35" name="Shape 33"/>
          <p:cNvSpPr/>
          <p:nvPr/>
        </p:nvSpPr>
        <p:spPr>
          <a:xfrm>
            <a:off x="6534760" y="4855464"/>
            <a:ext cx="4852264" cy="0"/>
          </a:xfrm>
          <a:prstGeom prst="line">
            <a:avLst/>
          </a:prstGeom>
          <a:noFill/>
          <a:ln w="9525">
            <a:solidFill>
              <a:schemeClr val="accent5"/>
            </a:solidFill>
            <a:prstDash val="solid"/>
          </a:ln>
        </p:spPr>
      </p:sp>
      <p:sp>
        <p:nvSpPr>
          <p:cNvPr id="36" name="Text 34"/>
          <p:cNvSpPr txBox="1"/>
          <p:nvPr/>
        </p:nvSpPr>
        <p:spPr>
          <a:xfrm>
            <a:off x="6534760" y="4855464"/>
            <a:ext cx="1005840" cy="566928"/>
          </a:xfrm>
          <a:prstGeom prst="rect">
            <a:avLst/>
          </a:prstGeom>
          <a:noFill/>
          <a:ln/>
        </p:spPr>
        <p:txBody>
          <a:bodyPr wrap="square" lIns="0" tIns="0" rIns="0" bIns="0" rtlCol="0" anchor="ctr"/>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FALTA</a:t>
            </a:r>
            <a:endParaRPr lang="es-CL" sz="1200" dirty="0"/>
          </a:p>
        </p:txBody>
      </p:sp>
      <p:sp>
        <p:nvSpPr>
          <p:cNvPr id="37" name="Text 35"/>
          <p:cNvSpPr txBox="1"/>
          <p:nvPr/>
        </p:nvSpPr>
        <p:spPr>
          <a:xfrm>
            <a:off x="7558888" y="4855464"/>
            <a:ext cx="3809848" cy="566928"/>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resultados, capital empleado y costo de capital</a:t>
            </a:r>
            <a:endParaRPr lang="es-CL" sz="1600" dirty="0"/>
          </a:p>
        </p:txBody>
      </p:sp>
      <p:sp>
        <p:nvSpPr>
          <p:cNvPr id="38" name="Text 36"/>
          <p:cNvSpPr txBox="1"/>
          <p:nvPr/>
        </p:nvSpPr>
        <p:spPr>
          <a:xfrm>
            <a:off x="548640" y="5733288"/>
            <a:ext cx="11094415" cy="45720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Un VAN positivo autoriza invertir; </a:t>
            </a:r>
            <a:pPr indent="0" marL="0">
              <a:buNone/>
            </a:pPr>
            <a:r>
              <a:rPr lang="es-CL" altLang="en-US" sz="2000" b="1" dirty="0">
                <a:solidFill>
                  <a:schemeClr val="accent1"/>
                </a:solidFill>
                <a:latin typeface="Figtree" pitchFamily="34" charset="0"/>
                <a:ea typeface="Figtree" pitchFamily="34" charset="-122"/>
                <a:cs typeface="Figtree" pitchFamily="34" charset="-120"/>
              </a:rPr>
              <a:t>no demuestra que la operación rinda.</a:t>
            </a:r>
            <a:endParaRPr lang="es-CL" sz="20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A5</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UMBRAL · SENSIBILIDAD AL AHORRO REAL</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SI EL AHORRO FUERA MENOR,</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el umbral sube rápido.</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informe de la Fase 3 del equipo (precios de referencia); Emol (2026), datos de la CNE. Estimación, no medición.</a:t>
            </a:r>
            <a:endParaRPr lang="es-CL" sz="1100" dirty="0"/>
          </a:p>
        </p:txBody>
      </p:sp>
      <p:sp>
        <p:nvSpPr>
          <p:cNvPr id="6" name="Text 4"/>
          <p:cNvSpPr txBox="1"/>
          <p:nvPr/>
        </p:nvSpPr>
        <p:spPr>
          <a:xfrm>
            <a:off x="548640" y="2395728"/>
            <a:ext cx="27432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AHORRO REAL</a:t>
            </a:r>
            <a:endParaRPr lang="es-CL" sz="1200" dirty="0"/>
          </a:p>
        </p:txBody>
      </p:sp>
      <p:sp>
        <p:nvSpPr>
          <p:cNvPr id="7" name="Text 5"/>
          <p:cNvSpPr txBox="1"/>
          <p:nvPr/>
        </p:nvSpPr>
        <p:spPr>
          <a:xfrm>
            <a:off x="3291840" y="2395728"/>
            <a:ext cx="41148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ESENCIAL · $4.290.000</a:t>
            </a:r>
            <a:endParaRPr lang="es-CL" sz="1200" dirty="0"/>
          </a:p>
        </p:txBody>
      </p:sp>
      <p:sp>
        <p:nvSpPr>
          <p:cNvPr id="8" name="Text 6"/>
          <p:cNvSpPr txBox="1"/>
          <p:nvPr/>
        </p:nvSpPr>
        <p:spPr>
          <a:xfrm>
            <a:off x="7406640" y="2395728"/>
            <a:ext cx="423641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PLUS · $4.990.000</a:t>
            </a:r>
            <a:endParaRPr lang="es-CL" sz="1200" dirty="0"/>
          </a:p>
        </p:txBody>
      </p:sp>
      <p:sp>
        <p:nvSpPr>
          <p:cNvPr id="9" name="Shape 7"/>
          <p:cNvSpPr/>
          <p:nvPr/>
        </p:nvSpPr>
        <p:spPr>
          <a:xfrm>
            <a:off x="548640" y="2706624"/>
            <a:ext cx="11094415" cy="0"/>
          </a:xfrm>
          <a:prstGeom prst="line">
            <a:avLst/>
          </a:prstGeom>
          <a:noFill/>
          <a:ln w="9525">
            <a:solidFill>
              <a:schemeClr val="accent1"/>
            </a:solidFill>
            <a:prstDash val="solid"/>
          </a:ln>
        </p:spPr>
      </p:sp>
      <p:sp>
        <p:nvSpPr>
          <p:cNvPr id="10" name="Text 8"/>
          <p:cNvSpPr txBox="1"/>
          <p:nvPr/>
        </p:nvSpPr>
        <p:spPr>
          <a:xfrm>
            <a:off x="548640" y="2706624"/>
            <a:ext cx="2606040" cy="566928"/>
          </a:xfrm>
          <a:prstGeom prst="rect">
            <a:avLst/>
          </a:prstGeom>
          <a:noFill/>
          <a:ln/>
        </p:spPr>
        <p:txBody>
          <a:bodyPr wrap="square" lIns="0" tIns="0" rIns="0" bIns="0" rtlCol="0" anchor="ctr"/>
          <a:lstStyle/>
          <a:p>
            <a:pPr algn="l" indent="0" marL="0">
              <a:lnSpc>
                <a:spcPct val="92000"/>
              </a:lnSpc>
              <a:buNone/>
            </a:pPr>
            <a:r>
              <a:rPr lang="es-CL" altLang="en-US" sz="2000" b="1" dirty="0">
                <a:solidFill>
                  <a:schemeClr val="tx1"/>
                </a:solidFill>
                <a:latin typeface="Figtree" pitchFamily="34" charset="0"/>
                <a:ea typeface="Figtree" pitchFamily="34" charset="-122"/>
                <a:cs typeface="Figtree" pitchFamily="34" charset="-120"/>
              </a:rPr>
              <a:t>5%</a:t>
            </a:r>
            <a:endParaRPr lang="es-CL" sz="2000" dirty="0"/>
          </a:p>
        </p:txBody>
      </p:sp>
      <p:sp>
        <p:nvSpPr>
          <p:cNvPr id="11" name="Text 9"/>
          <p:cNvSpPr txBox="1"/>
          <p:nvPr/>
        </p:nvSpPr>
        <p:spPr>
          <a:xfrm>
            <a:off x="3291840" y="2706624"/>
            <a:ext cx="3977640"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55.754 litros</a:t>
            </a:r>
            <a:endParaRPr lang="es-CL" sz="2000" dirty="0"/>
          </a:p>
        </p:txBody>
      </p:sp>
      <p:sp>
        <p:nvSpPr>
          <p:cNvPr id="12" name="Text 10"/>
          <p:cNvSpPr txBox="1"/>
          <p:nvPr/>
        </p:nvSpPr>
        <p:spPr>
          <a:xfrm>
            <a:off x="7406640" y="2706624"/>
            <a:ext cx="4099255"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64.852 litros</a:t>
            </a:r>
            <a:endParaRPr lang="es-CL" sz="2000" dirty="0"/>
          </a:p>
        </p:txBody>
      </p:sp>
      <p:sp>
        <p:nvSpPr>
          <p:cNvPr id="13" name="Shape 11"/>
          <p:cNvSpPr/>
          <p:nvPr/>
        </p:nvSpPr>
        <p:spPr>
          <a:xfrm>
            <a:off x="548640" y="3273552"/>
            <a:ext cx="11094415" cy="0"/>
          </a:xfrm>
          <a:prstGeom prst="line">
            <a:avLst/>
          </a:prstGeom>
          <a:noFill/>
          <a:ln w="9525">
            <a:solidFill>
              <a:schemeClr val="accent5"/>
            </a:solidFill>
            <a:prstDash val="solid"/>
          </a:ln>
        </p:spPr>
      </p:sp>
      <p:sp>
        <p:nvSpPr>
          <p:cNvPr id="14" name="Text 12"/>
          <p:cNvSpPr txBox="1"/>
          <p:nvPr/>
        </p:nvSpPr>
        <p:spPr>
          <a:xfrm>
            <a:off x="548640" y="3273552"/>
            <a:ext cx="2606040" cy="566928"/>
          </a:xfrm>
          <a:prstGeom prst="rect">
            <a:avLst/>
          </a:prstGeom>
          <a:noFill/>
          <a:ln/>
        </p:spPr>
        <p:txBody>
          <a:bodyPr wrap="square" lIns="0" tIns="0" rIns="0" bIns="0" rtlCol="0" anchor="ctr"/>
          <a:lstStyle/>
          <a:p>
            <a:pPr algn="l" indent="0" marL="0">
              <a:lnSpc>
                <a:spcPct val="92000"/>
              </a:lnSpc>
              <a:buNone/>
            </a:pPr>
            <a:r>
              <a:rPr lang="es-CL" altLang="en-US" sz="2000" b="1" dirty="0">
                <a:solidFill>
                  <a:schemeClr val="tx1"/>
                </a:solidFill>
                <a:latin typeface="Figtree" pitchFamily="34" charset="0"/>
                <a:ea typeface="Figtree" pitchFamily="34" charset="-122"/>
                <a:cs typeface="Figtree" pitchFamily="34" charset="-120"/>
              </a:rPr>
              <a:t>10%</a:t>
            </a:r>
            <a:endParaRPr lang="es-CL" sz="2000" dirty="0"/>
          </a:p>
        </p:txBody>
      </p:sp>
      <p:sp>
        <p:nvSpPr>
          <p:cNvPr id="15" name="Text 13"/>
          <p:cNvSpPr txBox="1"/>
          <p:nvPr/>
        </p:nvSpPr>
        <p:spPr>
          <a:xfrm>
            <a:off x="3291840" y="3273552"/>
            <a:ext cx="3977640"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27.877 litros</a:t>
            </a:r>
            <a:endParaRPr lang="es-CL" sz="2000" dirty="0"/>
          </a:p>
        </p:txBody>
      </p:sp>
      <p:sp>
        <p:nvSpPr>
          <p:cNvPr id="16" name="Text 14"/>
          <p:cNvSpPr txBox="1"/>
          <p:nvPr/>
        </p:nvSpPr>
        <p:spPr>
          <a:xfrm>
            <a:off x="7406640" y="3273552"/>
            <a:ext cx="4099255"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32.426 litros</a:t>
            </a:r>
            <a:endParaRPr lang="es-CL" sz="2000" dirty="0"/>
          </a:p>
        </p:txBody>
      </p:sp>
      <p:sp>
        <p:nvSpPr>
          <p:cNvPr id="17" name="Shape 15"/>
          <p:cNvSpPr/>
          <p:nvPr/>
        </p:nvSpPr>
        <p:spPr>
          <a:xfrm>
            <a:off x="548640" y="3840480"/>
            <a:ext cx="11094415" cy="0"/>
          </a:xfrm>
          <a:prstGeom prst="line">
            <a:avLst/>
          </a:prstGeom>
          <a:noFill/>
          <a:ln w="9525">
            <a:solidFill>
              <a:schemeClr val="accent5"/>
            </a:solidFill>
            <a:prstDash val="solid"/>
          </a:ln>
        </p:spPr>
      </p:sp>
      <p:sp>
        <p:nvSpPr>
          <p:cNvPr id="18" name="Text 16"/>
          <p:cNvSpPr txBox="1"/>
          <p:nvPr/>
        </p:nvSpPr>
        <p:spPr>
          <a:xfrm>
            <a:off x="548640" y="3840480"/>
            <a:ext cx="2606040" cy="566928"/>
          </a:xfrm>
          <a:prstGeom prst="rect">
            <a:avLst/>
          </a:prstGeom>
          <a:noFill/>
          <a:ln/>
        </p:spPr>
        <p:txBody>
          <a:bodyPr wrap="square" lIns="0" tIns="0" rIns="0" bIns="0" rtlCol="0" anchor="ctr"/>
          <a:lstStyle/>
          <a:p>
            <a:pPr algn="l" indent="0" marL="0">
              <a:lnSpc>
                <a:spcPct val="92000"/>
              </a:lnSpc>
              <a:buNone/>
            </a:pPr>
            <a:r>
              <a:rPr lang="es-CL" altLang="en-US" sz="2000" b="1" dirty="0">
                <a:solidFill>
                  <a:schemeClr val="tx1"/>
                </a:solidFill>
                <a:latin typeface="Figtree" pitchFamily="34" charset="0"/>
                <a:ea typeface="Figtree" pitchFamily="34" charset="-122"/>
                <a:cs typeface="Figtree" pitchFamily="34" charset="-120"/>
              </a:rPr>
              <a:t>15%</a:t>
            </a:r>
            <a:endParaRPr lang="es-CL" sz="2000" dirty="0"/>
          </a:p>
        </p:txBody>
      </p:sp>
      <p:sp>
        <p:nvSpPr>
          <p:cNvPr id="19" name="Text 17"/>
          <p:cNvSpPr txBox="1"/>
          <p:nvPr/>
        </p:nvSpPr>
        <p:spPr>
          <a:xfrm>
            <a:off x="3291840" y="3840480"/>
            <a:ext cx="3977640"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18.585 litros</a:t>
            </a:r>
            <a:endParaRPr lang="es-CL" sz="2000" dirty="0"/>
          </a:p>
        </p:txBody>
      </p:sp>
      <p:sp>
        <p:nvSpPr>
          <p:cNvPr id="20" name="Text 18"/>
          <p:cNvSpPr txBox="1"/>
          <p:nvPr/>
        </p:nvSpPr>
        <p:spPr>
          <a:xfrm>
            <a:off x="7406640" y="3840480"/>
            <a:ext cx="4099255"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21.617 litros</a:t>
            </a:r>
            <a:endParaRPr lang="es-CL" sz="2000" dirty="0"/>
          </a:p>
        </p:txBody>
      </p:sp>
      <p:sp>
        <p:nvSpPr>
          <p:cNvPr id="21" name="Shape 19"/>
          <p:cNvSpPr/>
          <p:nvPr/>
        </p:nvSpPr>
        <p:spPr>
          <a:xfrm>
            <a:off x="548640" y="4407408"/>
            <a:ext cx="11094415" cy="0"/>
          </a:xfrm>
          <a:prstGeom prst="line">
            <a:avLst/>
          </a:prstGeom>
          <a:noFill/>
          <a:ln w="9525">
            <a:solidFill>
              <a:schemeClr val="accent5"/>
            </a:solidFill>
            <a:prstDash val="solid"/>
          </a:ln>
        </p:spPr>
      </p:sp>
      <p:sp>
        <p:nvSpPr>
          <p:cNvPr id="22" name="Text 20"/>
          <p:cNvSpPr txBox="1"/>
          <p:nvPr/>
        </p:nvSpPr>
        <p:spPr>
          <a:xfrm>
            <a:off x="548640" y="4407408"/>
            <a:ext cx="2606040" cy="566928"/>
          </a:xfrm>
          <a:prstGeom prst="rect">
            <a:avLst/>
          </a:prstGeom>
          <a:noFill/>
          <a:ln/>
        </p:spPr>
        <p:txBody>
          <a:bodyPr wrap="square" lIns="0" tIns="0" rIns="0" bIns="0" rtlCol="0" anchor="ctr"/>
          <a:lstStyle/>
          <a:p>
            <a:pPr algn="l" indent="0" marL="0">
              <a:lnSpc>
                <a:spcPct val="92000"/>
              </a:lnSpc>
              <a:buNone/>
            </a:pPr>
            <a:r>
              <a:rPr lang="es-CL" altLang="en-US" sz="2000" b="1" dirty="0">
                <a:solidFill>
                  <a:schemeClr val="tx1"/>
                </a:solidFill>
                <a:latin typeface="Figtree" pitchFamily="34" charset="0"/>
                <a:ea typeface="Figtree" pitchFamily="34" charset="-122"/>
                <a:cs typeface="Figtree" pitchFamily="34" charset="-120"/>
              </a:rPr>
              <a:t>20%</a:t>
            </a:r>
            <a:endParaRPr lang="es-CL" sz="2000" dirty="0"/>
          </a:p>
        </p:txBody>
      </p:sp>
      <p:sp>
        <p:nvSpPr>
          <p:cNvPr id="23" name="Text 21"/>
          <p:cNvSpPr txBox="1"/>
          <p:nvPr/>
        </p:nvSpPr>
        <p:spPr>
          <a:xfrm>
            <a:off x="3291840" y="4407408"/>
            <a:ext cx="3977640"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13.939 litros</a:t>
            </a:r>
            <a:endParaRPr lang="es-CL" sz="2000" dirty="0"/>
          </a:p>
        </p:txBody>
      </p:sp>
      <p:sp>
        <p:nvSpPr>
          <p:cNvPr id="24" name="Text 22"/>
          <p:cNvSpPr txBox="1"/>
          <p:nvPr/>
        </p:nvSpPr>
        <p:spPr>
          <a:xfrm>
            <a:off x="7406640" y="4407408"/>
            <a:ext cx="4099255"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16.213 litros</a:t>
            </a:r>
            <a:endParaRPr lang="es-CL" sz="2000" dirty="0"/>
          </a:p>
        </p:txBody>
      </p:sp>
      <p:sp>
        <p:nvSpPr>
          <p:cNvPr id="25" name="Shape 23"/>
          <p:cNvSpPr/>
          <p:nvPr/>
        </p:nvSpPr>
        <p:spPr>
          <a:xfrm>
            <a:off x="548640" y="4974336"/>
            <a:ext cx="11094415" cy="0"/>
          </a:xfrm>
          <a:prstGeom prst="line">
            <a:avLst/>
          </a:prstGeom>
          <a:noFill/>
          <a:ln w="9525">
            <a:solidFill>
              <a:schemeClr val="accent5"/>
            </a:solidFill>
            <a:prstDash val="solid"/>
          </a:ln>
        </p:spPr>
      </p:sp>
      <p:sp>
        <p:nvSpPr>
          <p:cNvPr id="26" name="Text 24"/>
          <p:cNvSpPr txBox="1"/>
          <p:nvPr/>
        </p:nvSpPr>
        <p:spPr>
          <a:xfrm>
            <a:off x="548640" y="4974336"/>
            <a:ext cx="2606040" cy="566928"/>
          </a:xfrm>
          <a:prstGeom prst="rect">
            <a:avLst/>
          </a:prstGeom>
          <a:noFill/>
          <a:ln/>
        </p:spPr>
        <p:txBody>
          <a:bodyPr wrap="square" lIns="0" tIns="0" rIns="0" bIns="0" rtlCol="0" anchor="ctr"/>
          <a:lstStyle/>
          <a:p>
            <a:pPr algn="l" indent="0" marL="0">
              <a:lnSpc>
                <a:spcPct val="92000"/>
              </a:lnSpc>
              <a:buNone/>
            </a:pPr>
            <a:r>
              <a:rPr lang="es-CL" altLang="en-US" sz="2000" b="1" dirty="0">
                <a:solidFill>
                  <a:schemeClr val="tx1"/>
                </a:solidFill>
                <a:latin typeface="Figtree" pitchFamily="34" charset="0"/>
                <a:ea typeface="Figtree" pitchFamily="34" charset="-122"/>
                <a:cs typeface="Figtree" pitchFamily="34" charset="-120"/>
              </a:rPr>
              <a:t>25%</a:t>
            </a:r>
            <a:endParaRPr lang="es-CL" sz="2000" dirty="0"/>
          </a:p>
        </p:txBody>
      </p:sp>
      <p:sp>
        <p:nvSpPr>
          <p:cNvPr id="27" name="Text 25"/>
          <p:cNvSpPr txBox="1"/>
          <p:nvPr/>
        </p:nvSpPr>
        <p:spPr>
          <a:xfrm>
            <a:off x="3291840" y="4974336"/>
            <a:ext cx="3977640"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11.151 litros</a:t>
            </a:r>
            <a:endParaRPr lang="es-CL" sz="2000" dirty="0"/>
          </a:p>
        </p:txBody>
      </p:sp>
      <p:sp>
        <p:nvSpPr>
          <p:cNvPr id="28" name="Text 26"/>
          <p:cNvSpPr txBox="1"/>
          <p:nvPr/>
        </p:nvSpPr>
        <p:spPr>
          <a:xfrm>
            <a:off x="7406640" y="4974336"/>
            <a:ext cx="4099255" cy="566928"/>
          </a:xfrm>
          <a:prstGeom prst="rect">
            <a:avLst/>
          </a:prstGeom>
          <a:noFill/>
          <a:ln/>
        </p:spPr>
        <p:txBody>
          <a:bodyPr wrap="square" lIns="0" tIns="0" rIns="0" bIns="0" rtlCol="0" anchor="ctr"/>
          <a:lstStyle/>
          <a:p>
            <a:pPr algn="l" indent="0" marL="0">
              <a:lnSpc>
                <a:spcPct val="92000"/>
              </a:lnSpc>
              <a:buNone/>
            </a:pPr>
            <a:r>
              <a:rPr lang="es-CL" altLang="en-US" sz="2000" dirty="0">
                <a:solidFill>
                  <a:schemeClr val="tx1"/>
                </a:solidFill>
                <a:latin typeface="Figtree" pitchFamily="34" charset="0"/>
                <a:ea typeface="Figtree" pitchFamily="34" charset="-122"/>
                <a:cs typeface="Figtree" pitchFamily="34" charset="-120"/>
              </a:rPr>
              <a:t>12.970 litros</a:t>
            </a:r>
            <a:endParaRPr lang="es-CL" sz="2000" dirty="0"/>
          </a:p>
        </p:txBody>
      </p:sp>
      <p:sp>
        <p:nvSpPr>
          <p:cNvPr id="29" name="Shape 27"/>
          <p:cNvSpPr/>
          <p:nvPr/>
        </p:nvSpPr>
        <p:spPr>
          <a:xfrm>
            <a:off x="548640" y="5541264"/>
            <a:ext cx="11094415" cy="0"/>
          </a:xfrm>
          <a:prstGeom prst="line">
            <a:avLst/>
          </a:prstGeom>
          <a:noFill/>
          <a:ln w="9525">
            <a:solidFill>
              <a:schemeClr val="accent5"/>
            </a:solidFill>
            <a:prstDash val="solid"/>
          </a:ln>
        </p:spPr>
      </p:sp>
      <p:sp>
        <p:nvSpPr>
          <p:cNvPr id="30" name="Text 28"/>
          <p:cNvSpPr txBox="1"/>
          <p:nvPr/>
        </p:nvSpPr>
        <p:spPr>
          <a:xfrm>
            <a:off x="548640" y="5769864"/>
            <a:ext cx="11094415" cy="54864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Bencina 93 RM a $1.538,9 por litro. Precios de referencia con IVA (Fase 3), por validar. Mismo cálculo que la hoja «Umbral» del Excel.</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A6</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PEST · INSTRUMENTO 03</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PEST POR DIMENSIÓN,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hoy y a futuro.</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instrumento 03 del equipo; Banco Central de Chile (2026); INE (2026); BloombergNEF (2025); CAVEM (2026).</a:t>
            </a:r>
            <a:endParaRPr lang="es-CL" sz="1100" dirty="0"/>
          </a:p>
        </p:txBody>
      </p:sp>
      <p:sp>
        <p:nvSpPr>
          <p:cNvPr id="6" name="Text 4"/>
          <p:cNvSpPr txBox="1"/>
          <p:nvPr/>
        </p:nvSpPr>
        <p:spPr>
          <a:xfrm>
            <a:off x="548640" y="2350008"/>
            <a:ext cx="21031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DIMENSIÓN</a:t>
            </a:r>
            <a:endParaRPr lang="es-CL" sz="1200" dirty="0"/>
          </a:p>
        </p:txBody>
      </p:sp>
      <p:sp>
        <p:nvSpPr>
          <p:cNvPr id="7" name="Text 5"/>
          <p:cNvSpPr txBox="1"/>
          <p:nvPr/>
        </p:nvSpPr>
        <p:spPr>
          <a:xfrm>
            <a:off x="2651760" y="2350008"/>
            <a:ext cx="731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HOY</a:t>
            </a:r>
            <a:endParaRPr lang="es-CL" sz="1200" dirty="0"/>
          </a:p>
        </p:txBody>
      </p:sp>
      <p:sp>
        <p:nvSpPr>
          <p:cNvPr id="8" name="Text 6"/>
          <p:cNvSpPr txBox="1"/>
          <p:nvPr/>
        </p:nvSpPr>
        <p:spPr>
          <a:xfrm>
            <a:off x="3383280" y="2350008"/>
            <a:ext cx="9144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FUTURO</a:t>
            </a:r>
            <a:endParaRPr lang="es-CL" sz="1200" dirty="0"/>
          </a:p>
        </p:txBody>
      </p:sp>
      <p:sp>
        <p:nvSpPr>
          <p:cNvPr id="9" name="Text 7"/>
          <p:cNvSpPr txBox="1"/>
          <p:nvPr/>
        </p:nvSpPr>
        <p:spPr>
          <a:xfrm>
            <a:off x="4297680" y="2350008"/>
            <a:ext cx="36118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A FAVOR</a:t>
            </a:r>
            <a:endParaRPr lang="es-CL" sz="1200" dirty="0"/>
          </a:p>
        </p:txBody>
      </p:sp>
      <p:sp>
        <p:nvSpPr>
          <p:cNvPr id="10" name="Text 8"/>
          <p:cNvSpPr txBox="1"/>
          <p:nvPr/>
        </p:nvSpPr>
        <p:spPr>
          <a:xfrm>
            <a:off x="7909560" y="2350008"/>
            <a:ext cx="373349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EN CONTRA</a:t>
            </a:r>
            <a:endParaRPr lang="es-CL" sz="1200" dirty="0"/>
          </a:p>
        </p:txBody>
      </p:sp>
      <p:sp>
        <p:nvSpPr>
          <p:cNvPr id="11" name="Shape 9"/>
          <p:cNvSpPr/>
          <p:nvPr/>
        </p:nvSpPr>
        <p:spPr>
          <a:xfrm>
            <a:off x="548640" y="2660904"/>
            <a:ext cx="11094415" cy="0"/>
          </a:xfrm>
          <a:prstGeom prst="line">
            <a:avLst/>
          </a:prstGeom>
          <a:noFill/>
          <a:ln w="9525">
            <a:solidFill>
              <a:schemeClr val="accent1"/>
            </a:solidFill>
            <a:prstDash val="solid"/>
          </a:ln>
        </p:spPr>
      </p:sp>
      <p:sp>
        <p:nvSpPr>
          <p:cNvPr id="12" name="Text 10"/>
          <p:cNvSpPr txBox="1"/>
          <p:nvPr/>
        </p:nvSpPr>
        <p:spPr>
          <a:xfrm>
            <a:off x="548640" y="2660904"/>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Político-jurídico</a:t>
            </a:r>
            <a:endParaRPr lang="es-CL" sz="1400" dirty="0"/>
          </a:p>
        </p:txBody>
      </p:sp>
      <p:sp>
        <p:nvSpPr>
          <p:cNvPr id="13" name="Text 11"/>
          <p:cNvSpPr txBox="1"/>
          <p:nvPr/>
        </p:nvSpPr>
        <p:spPr>
          <a:xfrm>
            <a:off x="2651760" y="2660904"/>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2,67</a:t>
            </a:r>
            <a:endParaRPr lang="es-CL" sz="1400" dirty="0"/>
          </a:p>
        </p:txBody>
      </p:sp>
      <p:sp>
        <p:nvSpPr>
          <p:cNvPr id="14" name="Text 12"/>
          <p:cNvSpPr txBox="1"/>
          <p:nvPr/>
        </p:nvSpPr>
        <p:spPr>
          <a:xfrm>
            <a:off x="3383280" y="2660904"/>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2,78</a:t>
            </a:r>
            <a:endParaRPr lang="es-CL" sz="1400" dirty="0"/>
          </a:p>
        </p:txBody>
      </p:sp>
      <p:sp>
        <p:nvSpPr>
          <p:cNvPr id="15" name="Text 13"/>
          <p:cNvSpPr txBox="1"/>
          <p:nvPr/>
        </p:nvSpPr>
        <p:spPr>
          <a:xfrm>
            <a:off x="4297680" y="2660904"/>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Ley 21.455 de carbono neutralidad (oportunidad leve)</a:t>
            </a:r>
            <a:endParaRPr lang="es-CL" sz="1400" dirty="0"/>
          </a:p>
        </p:txBody>
      </p:sp>
      <p:sp>
        <p:nvSpPr>
          <p:cNvPr id="16" name="Text 14"/>
          <p:cNvSpPr txBox="1"/>
          <p:nvPr/>
        </p:nvSpPr>
        <p:spPr>
          <a:xfrm>
            <a:off x="7909560" y="2660904"/>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Ley 21.793 sin reglamento (gran amenaza); IVA completo</a:t>
            </a:r>
            <a:endParaRPr lang="es-CL" sz="1400" dirty="0"/>
          </a:p>
        </p:txBody>
      </p:sp>
      <p:sp>
        <p:nvSpPr>
          <p:cNvPr id="17" name="Shape 15"/>
          <p:cNvSpPr/>
          <p:nvPr/>
        </p:nvSpPr>
        <p:spPr>
          <a:xfrm>
            <a:off x="548640" y="3374136"/>
            <a:ext cx="11094415" cy="0"/>
          </a:xfrm>
          <a:prstGeom prst="line">
            <a:avLst/>
          </a:prstGeom>
          <a:noFill/>
          <a:ln w="9525">
            <a:solidFill>
              <a:schemeClr val="accent5"/>
            </a:solidFill>
            <a:prstDash val="solid"/>
          </a:ln>
        </p:spPr>
      </p:sp>
      <p:sp>
        <p:nvSpPr>
          <p:cNvPr id="18" name="Text 16"/>
          <p:cNvSpPr txBox="1"/>
          <p:nvPr/>
        </p:nvSpPr>
        <p:spPr>
          <a:xfrm>
            <a:off x="548640" y="3374136"/>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Económico</a:t>
            </a:r>
            <a:endParaRPr lang="es-CL" sz="1400" dirty="0"/>
          </a:p>
        </p:txBody>
      </p:sp>
      <p:sp>
        <p:nvSpPr>
          <p:cNvPr id="19" name="Text 17"/>
          <p:cNvSpPr txBox="1"/>
          <p:nvPr/>
        </p:nvSpPr>
        <p:spPr>
          <a:xfrm>
            <a:off x="2651760" y="3374136"/>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2,38</a:t>
            </a:r>
            <a:endParaRPr lang="es-CL" sz="1400" dirty="0"/>
          </a:p>
        </p:txBody>
      </p:sp>
      <p:sp>
        <p:nvSpPr>
          <p:cNvPr id="20" name="Text 18"/>
          <p:cNvSpPr txBox="1"/>
          <p:nvPr/>
        </p:nvSpPr>
        <p:spPr>
          <a:xfrm>
            <a:off x="3383280" y="3374136"/>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2,81</a:t>
            </a:r>
            <a:endParaRPr lang="es-CL" sz="1400" dirty="0"/>
          </a:p>
        </p:txBody>
      </p:sp>
      <p:sp>
        <p:nvSpPr>
          <p:cNvPr id="21" name="Text 19"/>
          <p:cNvSpPr txBox="1"/>
          <p:nvPr/>
        </p:nvSpPr>
        <p:spPr>
          <a:xfrm>
            <a:off x="4297680" y="3374136"/>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Bencina más cara; baterías LFP a US$81/kWh</a:t>
            </a:r>
            <a:endParaRPr lang="es-CL" sz="1400" dirty="0"/>
          </a:p>
        </p:txBody>
      </p:sp>
      <p:sp>
        <p:nvSpPr>
          <p:cNvPr id="22" name="Text 20"/>
          <p:cNvSpPr txBox="1"/>
          <p:nvPr/>
        </p:nvSpPr>
        <p:spPr>
          <a:xfrm>
            <a:off x="7909560" y="3374136"/>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Ingreso disponible (gran amenaza); dólar sobre $970; PIB 2026 de 0,25% a 0,75%; desempleo 9,6%</a:t>
            </a:r>
            <a:endParaRPr lang="es-CL" sz="1400" dirty="0"/>
          </a:p>
        </p:txBody>
      </p:sp>
      <p:sp>
        <p:nvSpPr>
          <p:cNvPr id="23" name="Shape 21"/>
          <p:cNvSpPr/>
          <p:nvPr/>
        </p:nvSpPr>
        <p:spPr>
          <a:xfrm>
            <a:off x="548640" y="4087368"/>
            <a:ext cx="11094415" cy="0"/>
          </a:xfrm>
          <a:prstGeom prst="line">
            <a:avLst/>
          </a:prstGeom>
          <a:noFill/>
          <a:ln w="9525">
            <a:solidFill>
              <a:schemeClr val="accent5"/>
            </a:solidFill>
            <a:prstDash val="solid"/>
          </a:ln>
        </p:spPr>
      </p:sp>
      <p:sp>
        <p:nvSpPr>
          <p:cNvPr id="24" name="Text 22"/>
          <p:cNvSpPr txBox="1"/>
          <p:nvPr/>
        </p:nvSpPr>
        <p:spPr>
          <a:xfrm>
            <a:off x="548640" y="4087368"/>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Sociocultural</a:t>
            </a:r>
            <a:endParaRPr lang="es-CL" sz="1400" dirty="0"/>
          </a:p>
        </p:txBody>
      </p:sp>
      <p:sp>
        <p:nvSpPr>
          <p:cNvPr id="25" name="Text 23"/>
          <p:cNvSpPr txBox="1"/>
          <p:nvPr/>
        </p:nvSpPr>
        <p:spPr>
          <a:xfrm>
            <a:off x="2651760" y="4087368"/>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3,00</a:t>
            </a:r>
            <a:endParaRPr lang="es-CL" sz="1400" dirty="0"/>
          </a:p>
        </p:txBody>
      </p:sp>
      <p:sp>
        <p:nvSpPr>
          <p:cNvPr id="26" name="Text 24"/>
          <p:cNvSpPr txBox="1"/>
          <p:nvPr/>
        </p:nvSpPr>
        <p:spPr>
          <a:xfrm>
            <a:off x="3383280" y="4087368"/>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3,00</a:t>
            </a:r>
            <a:endParaRPr lang="es-CL" sz="1400" dirty="0"/>
          </a:p>
        </p:txBody>
      </p:sp>
      <p:sp>
        <p:nvSpPr>
          <p:cNvPr id="27" name="Text 25"/>
          <p:cNvSpPr txBox="1"/>
          <p:nvPr/>
        </p:nvSpPr>
        <p:spPr>
          <a:xfrm>
            <a:off x="4297680" y="4087368"/>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3,5 usados por cada nuevo (gran oportunidad)</a:t>
            </a:r>
            <a:endParaRPr lang="es-CL" sz="1400" dirty="0"/>
          </a:p>
        </p:txBody>
      </p:sp>
      <p:sp>
        <p:nvSpPr>
          <p:cNvPr id="28" name="Text 26"/>
          <p:cNvSpPr txBox="1"/>
          <p:nvPr/>
        </p:nvSpPr>
        <p:spPr>
          <a:xfrm>
            <a:off x="7909560" y="4087368"/>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Aseguradoras excluyen vehículos modificados; pago por sostenibilidad sesgado por ingreso</a:t>
            </a:r>
            <a:endParaRPr lang="es-CL" sz="1400" dirty="0"/>
          </a:p>
        </p:txBody>
      </p:sp>
      <p:sp>
        <p:nvSpPr>
          <p:cNvPr id="29" name="Shape 27"/>
          <p:cNvSpPr/>
          <p:nvPr/>
        </p:nvSpPr>
        <p:spPr>
          <a:xfrm>
            <a:off x="548640" y="4800600"/>
            <a:ext cx="11094415" cy="0"/>
          </a:xfrm>
          <a:prstGeom prst="line">
            <a:avLst/>
          </a:prstGeom>
          <a:noFill/>
          <a:ln w="9525">
            <a:solidFill>
              <a:schemeClr val="accent5"/>
            </a:solidFill>
            <a:prstDash val="solid"/>
          </a:ln>
        </p:spPr>
      </p:sp>
      <p:sp>
        <p:nvSpPr>
          <p:cNvPr id="30" name="Text 28"/>
          <p:cNvSpPr txBox="1"/>
          <p:nvPr/>
        </p:nvSpPr>
        <p:spPr>
          <a:xfrm>
            <a:off x="548640" y="4800600"/>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Tecnológico</a:t>
            </a:r>
            <a:endParaRPr lang="es-CL" sz="1400" dirty="0"/>
          </a:p>
        </p:txBody>
      </p:sp>
      <p:sp>
        <p:nvSpPr>
          <p:cNvPr id="31" name="Text 29"/>
          <p:cNvSpPr txBox="1"/>
          <p:nvPr/>
        </p:nvSpPr>
        <p:spPr>
          <a:xfrm>
            <a:off x="2651760" y="4800600"/>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3,23</a:t>
            </a:r>
            <a:endParaRPr lang="es-CL" sz="1400" dirty="0"/>
          </a:p>
        </p:txBody>
      </p:sp>
      <p:sp>
        <p:nvSpPr>
          <p:cNvPr id="32" name="Text 30"/>
          <p:cNvSpPr txBox="1"/>
          <p:nvPr/>
        </p:nvSpPr>
        <p:spPr>
          <a:xfrm>
            <a:off x="3383280" y="4800600"/>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3,38</a:t>
            </a:r>
            <a:endParaRPr lang="es-CL" sz="1400" dirty="0"/>
          </a:p>
        </p:txBody>
      </p:sp>
      <p:sp>
        <p:nvSpPr>
          <p:cNvPr id="33" name="Text 31"/>
          <p:cNvSpPr txBox="1"/>
          <p:nvPr/>
        </p:nvSpPr>
        <p:spPr>
          <a:xfrm>
            <a:off x="4297680" y="4800600"/>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Componentes maduros y estandarizados</a:t>
            </a:r>
            <a:endParaRPr lang="es-CL" sz="1400" dirty="0"/>
          </a:p>
        </p:txBody>
      </p:sp>
      <p:sp>
        <p:nvSpPr>
          <p:cNvPr id="34" name="Text 32"/>
          <p:cNvSpPr txBox="1"/>
          <p:nvPr/>
        </p:nvSpPr>
        <p:spPr>
          <a:xfrm>
            <a:off x="7909560" y="4800600"/>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Sin proveedor local de baterías</a:t>
            </a:r>
            <a:endParaRPr lang="es-CL" sz="1400" dirty="0"/>
          </a:p>
        </p:txBody>
      </p:sp>
      <p:sp>
        <p:nvSpPr>
          <p:cNvPr id="35" name="Shape 33"/>
          <p:cNvSpPr/>
          <p:nvPr/>
        </p:nvSpPr>
        <p:spPr>
          <a:xfrm>
            <a:off x="548640" y="5513832"/>
            <a:ext cx="11094415" cy="0"/>
          </a:xfrm>
          <a:prstGeom prst="line">
            <a:avLst/>
          </a:prstGeom>
          <a:noFill/>
          <a:ln w="9525">
            <a:solidFill>
              <a:schemeClr val="accent5"/>
            </a:solidFill>
            <a:prstDash val="solid"/>
          </a:ln>
        </p:spPr>
      </p:sp>
      <p:sp>
        <p:nvSpPr>
          <p:cNvPr id="36" name="Text 34"/>
          <p:cNvSpPr txBox="1"/>
          <p:nvPr/>
        </p:nvSpPr>
        <p:spPr>
          <a:xfrm>
            <a:off x="548640" y="5513832"/>
            <a:ext cx="1965960" cy="713232"/>
          </a:xfrm>
          <a:prstGeom prst="rect">
            <a:avLst/>
          </a:prstGeom>
          <a:noFill/>
          <a:ln/>
        </p:spPr>
        <p:txBody>
          <a:bodyPr wrap="square" lIns="0" tIns="0" rIns="0" bIns="0" rtlCol="0" anchor="ctr"/>
          <a:lstStyle/>
          <a:p>
            <a:pPr algn="l" indent="0" marL="0">
              <a:lnSpc>
                <a:spcPct val="92000"/>
              </a:lnSpc>
              <a:buNone/>
            </a:pPr>
            <a:r>
              <a:rPr lang="es-CL" altLang="en-US" sz="1400" b="1" dirty="0">
                <a:solidFill>
                  <a:schemeClr val="tx1"/>
                </a:solidFill>
                <a:latin typeface="Figtree" pitchFamily="34" charset="0"/>
                <a:ea typeface="Figtree" pitchFamily="34" charset="-122"/>
                <a:cs typeface="Figtree" pitchFamily="34" charset="-120"/>
              </a:rPr>
              <a:t>Global</a:t>
            </a:r>
            <a:endParaRPr lang="es-CL" sz="1400" dirty="0"/>
          </a:p>
        </p:txBody>
      </p:sp>
      <p:sp>
        <p:nvSpPr>
          <p:cNvPr id="37" name="Text 35"/>
          <p:cNvSpPr txBox="1"/>
          <p:nvPr/>
        </p:nvSpPr>
        <p:spPr>
          <a:xfrm>
            <a:off x="2651760" y="5513832"/>
            <a:ext cx="59436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2,82</a:t>
            </a:r>
            <a:endParaRPr lang="es-CL" sz="1400" dirty="0"/>
          </a:p>
        </p:txBody>
      </p:sp>
      <p:sp>
        <p:nvSpPr>
          <p:cNvPr id="38" name="Text 36"/>
          <p:cNvSpPr txBox="1"/>
          <p:nvPr/>
        </p:nvSpPr>
        <p:spPr>
          <a:xfrm>
            <a:off x="3383280" y="5513832"/>
            <a:ext cx="777240" cy="713232"/>
          </a:xfrm>
          <a:prstGeom prst="rect">
            <a:avLst/>
          </a:prstGeom>
          <a:noFill/>
          <a:ln/>
        </p:spPr>
        <p:txBody>
          <a:bodyPr wrap="square" lIns="0" tIns="0" rIns="0" bIns="0" rtlCol="0" anchor="ctr"/>
          <a:lstStyle/>
          <a:p>
            <a:pPr algn="r" indent="0" marL="0">
              <a:lnSpc>
                <a:spcPct val="92000"/>
              </a:lnSpc>
              <a:buNone/>
            </a:pPr>
            <a:r>
              <a:rPr lang="es-CL" altLang="en-US" sz="1400" dirty="0">
                <a:solidFill>
                  <a:schemeClr val="tx1"/>
                </a:solidFill>
                <a:latin typeface="Figtree" pitchFamily="34" charset="0"/>
                <a:ea typeface="Figtree" pitchFamily="34" charset="-122"/>
                <a:cs typeface="Figtree" pitchFamily="34" charset="-120"/>
              </a:rPr>
              <a:t>2,99</a:t>
            </a:r>
            <a:endParaRPr lang="es-CL" sz="1400" dirty="0"/>
          </a:p>
        </p:txBody>
      </p:sp>
      <p:sp>
        <p:nvSpPr>
          <p:cNvPr id="39" name="Text 37"/>
          <p:cNvSpPr txBox="1"/>
          <p:nvPr/>
        </p:nvSpPr>
        <p:spPr>
          <a:xfrm>
            <a:off x="4297680" y="5513832"/>
            <a:ext cx="3474720"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13 oportunidades</a:t>
            </a:r>
            <a:endParaRPr lang="es-CL" sz="1400" dirty="0"/>
          </a:p>
        </p:txBody>
      </p:sp>
      <p:sp>
        <p:nvSpPr>
          <p:cNvPr id="40" name="Text 38"/>
          <p:cNvSpPr txBox="1"/>
          <p:nvPr/>
        </p:nvSpPr>
        <p:spPr>
          <a:xfrm>
            <a:off x="7909560" y="5513832"/>
            <a:ext cx="3596335" cy="713232"/>
          </a:xfrm>
          <a:prstGeom prst="rect">
            <a:avLst/>
          </a:prstGeom>
          <a:noFill/>
          <a:ln/>
        </p:spPr>
        <p:txBody>
          <a:bodyPr wrap="square" lIns="0" tIns="0" rIns="0" bIns="0" rtlCol="0" anchor="ctr"/>
          <a:lstStyle/>
          <a:p>
            <a:pPr algn="l" indent="0" marL="0">
              <a:lnSpc>
                <a:spcPct val="92000"/>
              </a:lnSpc>
              <a:buNone/>
            </a:pPr>
            <a:r>
              <a:rPr lang="es-CL" altLang="en-US" sz="1400" dirty="0">
                <a:solidFill>
                  <a:schemeClr val="tx2"/>
                </a:solidFill>
                <a:latin typeface="Figtree" pitchFamily="34" charset="0"/>
                <a:ea typeface="Figtree" pitchFamily="34" charset="-122"/>
                <a:cs typeface="Figtree" pitchFamily="34" charset="-120"/>
              </a:rPr>
              <a:t>20 amenazas · 18 neutros</a:t>
            </a:r>
            <a:endParaRPr lang="es-CL" sz="1400" dirty="0"/>
          </a:p>
        </p:txBody>
      </p:sp>
      <p:sp>
        <p:nvSpPr>
          <p:cNvPr id="41" name="Shape 39"/>
          <p:cNvSpPr/>
          <p:nvPr/>
        </p:nvSpPr>
        <p:spPr>
          <a:xfrm>
            <a:off x="548640" y="6227064"/>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A6</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CINCO FUERZAS · INSTRUMENTO 02</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3,49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es peso por intensidad.</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02 del equipo. La ponderación es un supuesto del modelo, no una medición del mercado.</a:t>
            </a:r>
            <a:endParaRPr lang="es-CL" sz="1100" dirty="0"/>
          </a:p>
        </p:txBody>
      </p:sp>
      <p:sp>
        <p:nvSpPr>
          <p:cNvPr id="6" name="Text 4"/>
          <p:cNvSpPr txBox="1"/>
          <p:nvPr/>
        </p:nvSpPr>
        <p:spPr>
          <a:xfrm>
            <a:off x="548640" y="2350008"/>
            <a:ext cx="23774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FUERZA</a:t>
            </a:r>
            <a:endParaRPr lang="es-CL" sz="1200" dirty="0"/>
          </a:p>
        </p:txBody>
      </p:sp>
      <p:sp>
        <p:nvSpPr>
          <p:cNvPr id="7" name="Text 5"/>
          <p:cNvSpPr txBox="1"/>
          <p:nvPr/>
        </p:nvSpPr>
        <p:spPr>
          <a:xfrm>
            <a:off x="2926080" y="2350008"/>
            <a:ext cx="9144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PESO</a:t>
            </a:r>
            <a:endParaRPr lang="es-CL" sz="1200" dirty="0"/>
          </a:p>
        </p:txBody>
      </p:sp>
      <p:sp>
        <p:nvSpPr>
          <p:cNvPr id="8" name="Text 6"/>
          <p:cNvSpPr txBox="1"/>
          <p:nvPr/>
        </p:nvSpPr>
        <p:spPr>
          <a:xfrm>
            <a:off x="3840480" y="2350008"/>
            <a:ext cx="13716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INTENSIDAD</a:t>
            </a:r>
            <a:endParaRPr lang="es-CL" sz="1200" dirty="0"/>
          </a:p>
        </p:txBody>
      </p:sp>
      <p:sp>
        <p:nvSpPr>
          <p:cNvPr id="9" name="Text 7"/>
          <p:cNvSpPr txBox="1"/>
          <p:nvPr/>
        </p:nvSpPr>
        <p:spPr>
          <a:xfrm>
            <a:off x="5212080" y="2350008"/>
            <a:ext cx="20116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PESO × INTENSIDAD</a:t>
            </a:r>
            <a:endParaRPr lang="es-CL" sz="1200" dirty="0"/>
          </a:p>
        </p:txBody>
      </p:sp>
      <p:sp>
        <p:nvSpPr>
          <p:cNvPr id="10" name="Text 8"/>
          <p:cNvSpPr txBox="1"/>
          <p:nvPr/>
        </p:nvSpPr>
        <p:spPr>
          <a:xfrm>
            <a:off x="7223760" y="2350008"/>
            <a:ext cx="441929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LECTURA</a:t>
            </a:r>
            <a:endParaRPr lang="es-CL" sz="1200" dirty="0"/>
          </a:p>
        </p:txBody>
      </p:sp>
      <p:sp>
        <p:nvSpPr>
          <p:cNvPr id="11" name="Shape 9"/>
          <p:cNvSpPr/>
          <p:nvPr/>
        </p:nvSpPr>
        <p:spPr>
          <a:xfrm>
            <a:off x="548640" y="2660904"/>
            <a:ext cx="11094415" cy="0"/>
          </a:xfrm>
          <a:prstGeom prst="line">
            <a:avLst/>
          </a:prstGeom>
          <a:noFill/>
          <a:ln w="9525">
            <a:solidFill>
              <a:schemeClr val="accent1"/>
            </a:solidFill>
            <a:prstDash val="solid"/>
          </a:ln>
        </p:spPr>
      </p:sp>
      <p:sp>
        <p:nvSpPr>
          <p:cNvPr id="12" name="Text 10"/>
          <p:cNvSpPr txBox="1"/>
          <p:nvPr/>
        </p:nvSpPr>
        <p:spPr>
          <a:xfrm>
            <a:off x="548640" y="2660904"/>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Sustitutos</a:t>
            </a:r>
            <a:endParaRPr lang="es-CL" sz="1600" dirty="0"/>
          </a:p>
        </p:txBody>
      </p:sp>
      <p:sp>
        <p:nvSpPr>
          <p:cNvPr id="13" name="Text 11"/>
          <p:cNvSpPr txBox="1"/>
          <p:nvPr/>
        </p:nvSpPr>
        <p:spPr>
          <a:xfrm>
            <a:off x="2926080" y="2660904"/>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30%</a:t>
            </a:r>
            <a:endParaRPr lang="es-CL" sz="1600" dirty="0"/>
          </a:p>
        </p:txBody>
      </p:sp>
      <p:sp>
        <p:nvSpPr>
          <p:cNvPr id="14" name="Text 12"/>
          <p:cNvSpPr txBox="1"/>
          <p:nvPr/>
        </p:nvSpPr>
        <p:spPr>
          <a:xfrm>
            <a:off x="3840480" y="2660904"/>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5,00</a:t>
            </a:r>
            <a:endParaRPr lang="es-CL" sz="1600" dirty="0"/>
          </a:p>
        </p:txBody>
      </p:sp>
      <p:sp>
        <p:nvSpPr>
          <p:cNvPr id="15" name="Text 13"/>
          <p:cNvSpPr txBox="1"/>
          <p:nvPr/>
        </p:nvSpPr>
        <p:spPr>
          <a:xfrm>
            <a:off x="5212080" y="2660904"/>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1,50</a:t>
            </a:r>
            <a:endParaRPr lang="es-CL" sz="1600" dirty="0"/>
          </a:p>
        </p:txBody>
      </p:sp>
      <p:sp>
        <p:nvSpPr>
          <p:cNvPr id="16" name="Text 14"/>
          <p:cNvSpPr txBox="1"/>
          <p:nvPr/>
        </p:nvSpPr>
        <p:spPr>
          <a:xfrm>
            <a:off x="7223760" y="2660904"/>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Posponer la inversión; híbrido usado</a:t>
            </a:r>
            <a:endParaRPr lang="es-CL" sz="1600" dirty="0"/>
          </a:p>
        </p:txBody>
      </p:sp>
      <p:sp>
        <p:nvSpPr>
          <p:cNvPr id="17" name="Shape 15"/>
          <p:cNvSpPr/>
          <p:nvPr/>
        </p:nvSpPr>
        <p:spPr>
          <a:xfrm>
            <a:off x="548640" y="3227832"/>
            <a:ext cx="11094415" cy="0"/>
          </a:xfrm>
          <a:prstGeom prst="line">
            <a:avLst/>
          </a:prstGeom>
          <a:noFill/>
          <a:ln w="9525">
            <a:solidFill>
              <a:schemeClr val="accent5"/>
            </a:solidFill>
            <a:prstDash val="solid"/>
          </a:ln>
        </p:spPr>
      </p:sp>
      <p:sp>
        <p:nvSpPr>
          <p:cNvPr id="18" name="Text 16"/>
          <p:cNvSpPr txBox="1"/>
          <p:nvPr/>
        </p:nvSpPr>
        <p:spPr>
          <a:xfrm>
            <a:off x="548640" y="3227832"/>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Nuevos entrantes</a:t>
            </a:r>
            <a:endParaRPr lang="es-CL" sz="1600" dirty="0"/>
          </a:p>
        </p:txBody>
      </p:sp>
      <p:sp>
        <p:nvSpPr>
          <p:cNvPr id="19" name="Text 17"/>
          <p:cNvSpPr txBox="1"/>
          <p:nvPr/>
        </p:nvSpPr>
        <p:spPr>
          <a:xfrm>
            <a:off x="2926080" y="3227832"/>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20%</a:t>
            </a:r>
            <a:endParaRPr lang="es-CL" sz="1600" dirty="0"/>
          </a:p>
        </p:txBody>
      </p:sp>
      <p:sp>
        <p:nvSpPr>
          <p:cNvPr id="20" name="Text 18"/>
          <p:cNvSpPr txBox="1"/>
          <p:nvPr/>
        </p:nvSpPr>
        <p:spPr>
          <a:xfrm>
            <a:off x="3840480" y="3227832"/>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3,75</a:t>
            </a:r>
            <a:endParaRPr lang="es-CL" sz="1600" dirty="0"/>
          </a:p>
        </p:txBody>
      </p:sp>
      <p:sp>
        <p:nvSpPr>
          <p:cNvPr id="21" name="Text 19"/>
          <p:cNvSpPr txBox="1"/>
          <p:nvPr/>
        </p:nvSpPr>
        <p:spPr>
          <a:xfrm>
            <a:off x="5212080" y="3227832"/>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0,75</a:t>
            </a:r>
            <a:endParaRPr lang="es-CL" sz="1600" dirty="0"/>
          </a:p>
        </p:txBody>
      </p:sp>
      <p:sp>
        <p:nvSpPr>
          <p:cNvPr id="22" name="Text 20"/>
          <p:cNvSpPr txBox="1"/>
          <p:nvPr/>
        </p:nvSpPr>
        <p:spPr>
          <a:xfrm>
            <a:off x="7223760" y="3227832"/>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La barrera regulatoria hoy bloquea a todos por igual</a:t>
            </a:r>
            <a:endParaRPr lang="es-CL" sz="1600" dirty="0"/>
          </a:p>
        </p:txBody>
      </p:sp>
      <p:sp>
        <p:nvSpPr>
          <p:cNvPr id="23" name="Shape 21"/>
          <p:cNvSpPr/>
          <p:nvPr/>
        </p:nvSpPr>
        <p:spPr>
          <a:xfrm>
            <a:off x="548640" y="3794760"/>
            <a:ext cx="11094415" cy="0"/>
          </a:xfrm>
          <a:prstGeom prst="line">
            <a:avLst/>
          </a:prstGeom>
          <a:noFill/>
          <a:ln w="9525">
            <a:solidFill>
              <a:schemeClr val="accent5"/>
            </a:solidFill>
            <a:prstDash val="solid"/>
          </a:ln>
        </p:spPr>
      </p:sp>
      <p:sp>
        <p:nvSpPr>
          <p:cNvPr id="24" name="Text 22"/>
          <p:cNvSpPr txBox="1"/>
          <p:nvPr/>
        </p:nvSpPr>
        <p:spPr>
          <a:xfrm>
            <a:off x="548640" y="3794760"/>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Clientes</a:t>
            </a:r>
            <a:endParaRPr lang="es-CL" sz="1600" dirty="0"/>
          </a:p>
        </p:txBody>
      </p:sp>
      <p:sp>
        <p:nvSpPr>
          <p:cNvPr id="25" name="Text 23"/>
          <p:cNvSpPr txBox="1"/>
          <p:nvPr/>
        </p:nvSpPr>
        <p:spPr>
          <a:xfrm>
            <a:off x="2926080" y="3794760"/>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25%</a:t>
            </a:r>
            <a:endParaRPr lang="es-CL" sz="1600" dirty="0"/>
          </a:p>
        </p:txBody>
      </p:sp>
      <p:sp>
        <p:nvSpPr>
          <p:cNvPr id="26" name="Text 24"/>
          <p:cNvSpPr txBox="1"/>
          <p:nvPr/>
        </p:nvSpPr>
        <p:spPr>
          <a:xfrm>
            <a:off x="3840480" y="3794760"/>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2,64</a:t>
            </a:r>
            <a:endParaRPr lang="es-CL" sz="1600" dirty="0"/>
          </a:p>
        </p:txBody>
      </p:sp>
      <p:sp>
        <p:nvSpPr>
          <p:cNvPr id="27" name="Text 25"/>
          <p:cNvSpPr txBox="1"/>
          <p:nvPr/>
        </p:nvSpPr>
        <p:spPr>
          <a:xfrm>
            <a:off x="5212080" y="3794760"/>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0,66</a:t>
            </a:r>
            <a:endParaRPr lang="es-CL" sz="1600" dirty="0"/>
          </a:p>
        </p:txBody>
      </p:sp>
      <p:sp>
        <p:nvSpPr>
          <p:cNvPr id="28" name="Text 26"/>
          <p:cNvSpPr txBox="1"/>
          <p:nvPr/>
        </p:nvSpPr>
        <p:spPr>
          <a:xfrm>
            <a:off x="7223760" y="3794760"/>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Sensibles al precio por falta de liquidez</a:t>
            </a:r>
            <a:endParaRPr lang="es-CL" sz="1600" dirty="0"/>
          </a:p>
        </p:txBody>
      </p:sp>
      <p:sp>
        <p:nvSpPr>
          <p:cNvPr id="29" name="Shape 27"/>
          <p:cNvSpPr/>
          <p:nvPr/>
        </p:nvSpPr>
        <p:spPr>
          <a:xfrm>
            <a:off x="548640" y="4361688"/>
            <a:ext cx="11094415" cy="0"/>
          </a:xfrm>
          <a:prstGeom prst="line">
            <a:avLst/>
          </a:prstGeom>
          <a:noFill/>
          <a:ln w="9525">
            <a:solidFill>
              <a:schemeClr val="accent5"/>
            </a:solidFill>
            <a:prstDash val="solid"/>
          </a:ln>
        </p:spPr>
      </p:sp>
      <p:sp>
        <p:nvSpPr>
          <p:cNvPr id="30" name="Text 28"/>
          <p:cNvSpPr txBox="1"/>
          <p:nvPr/>
        </p:nvSpPr>
        <p:spPr>
          <a:xfrm>
            <a:off x="548640" y="4361688"/>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Proveedores</a:t>
            </a:r>
            <a:endParaRPr lang="es-CL" sz="1600" dirty="0"/>
          </a:p>
        </p:txBody>
      </p:sp>
      <p:sp>
        <p:nvSpPr>
          <p:cNvPr id="31" name="Text 29"/>
          <p:cNvSpPr txBox="1"/>
          <p:nvPr/>
        </p:nvSpPr>
        <p:spPr>
          <a:xfrm>
            <a:off x="2926080" y="4361688"/>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15%</a:t>
            </a:r>
            <a:endParaRPr lang="es-CL" sz="1600" dirty="0"/>
          </a:p>
        </p:txBody>
      </p:sp>
      <p:sp>
        <p:nvSpPr>
          <p:cNvPr id="32" name="Text 30"/>
          <p:cNvSpPr txBox="1"/>
          <p:nvPr/>
        </p:nvSpPr>
        <p:spPr>
          <a:xfrm>
            <a:off x="3840480" y="4361688"/>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2,67</a:t>
            </a:r>
            <a:endParaRPr lang="es-CL" sz="1600" dirty="0"/>
          </a:p>
        </p:txBody>
      </p:sp>
      <p:sp>
        <p:nvSpPr>
          <p:cNvPr id="33" name="Text 31"/>
          <p:cNvSpPr txBox="1"/>
          <p:nvPr/>
        </p:nvSpPr>
        <p:spPr>
          <a:xfrm>
            <a:off x="5212080" y="4361688"/>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0,40</a:t>
            </a:r>
            <a:endParaRPr lang="es-CL" sz="1600" dirty="0"/>
          </a:p>
        </p:txBody>
      </p:sp>
      <p:sp>
        <p:nvSpPr>
          <p:cNvPr id="34" name="Text 32"/>
          <p:cNvSpPr txBox="1"/>
          <p:nvPr/>
        </p:nvSpPr>
        <p:spPr>
          <a:xfrm>
            <a:off x="7223760" y="4361688"/>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Componentes estandarizados e importados</a:t>
            </a:r>
            <a:endParaRPr lang="es-CL" sz="1600" dirty="0"/>
          </a:p>
        </p:txBody>
      </p:sp>
      <p:sp>
        <p:nvSpPr>
          <p:cNvPr id="35" name="Shape 33"/>
          <p:cNvSpPr/>
          <p:nvPr/>
        </p:nvSpPr>
        <p:spPr>
          <a:xfrm>
            <a:off x="548640" y="4928616"/>
            <a:ext cx="11094415" cy="0"/>
          </a:xfrm>
          <a:prstGeom prst="line">
            <a:avLst/>
          </a:prstGeom>
          <a:noFill/>
          <a:ln w="9525">
            <a:solidFill>
              <a:schemeClr val="accent5"/>
            </a:solidFill>
            <a:prstDash val="solid"/>
          </a:ln>
        </p:spPr>
      </p:sp>
      <p:sp>
        <p:nvSpPr>
          <p:cNvPr id="36" name="Text 34"/>
          <p:cNvSpPr txBox="1"/>
          <p:nvPr/>
        </p:nvSpPr>
        <p:spPr>
          <a:xfrm>
            <a:off x="548640" y="4928616"/>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Rivalidad</a:t>
            </a:r>
            <a:endParaRPr lang="es-CL" sz="1600" dirty="0"/>
          </a:p>
        </p:txBody>
      </p:sp>
      <p:sp>
        <p:nvSpPr>
          <p:cNvPr id="37" name="Text 35"/>
          <p:cNvSpPr txBox="1"/>
          <p:nvPr/>
        </p:nvSpPr>
        <p:spPr>
          <a:xfrm>
            <a:off x="2926080" y="4928616"/>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10%</a:t>
            </a:r>
            <a:endParaRPr lang="es-CL" sz="1600" dirty="0"/>
          </a:p>
        </p:txBody>
      </p:sp>
      <p:sp>
        <p:nvSpPr>
          <p:cNvPr id="38" name="Text 36"/>
          <p:cNvSpPr txBox="1"/>
          <p:nvPr/>
        </p:nvSpPr>
        <p:spPr>
          <a:xfrm>
            <a:off x="3840480" y="4928616"/>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1,83</a:t>
            </a:r>
            <a:endParaRPr lang="es-CL" sz="1600" dirty="0"/>
          </a:p>
        </p:txBody>
      </p:sp>
      <p:sp>
        <p:nvSpPr>
          <p:cNvPr id="39" name="Text 37"/>
          <p:cNvSpPr txBox="1"/>
          <p:nvPr/>
        </p:nvSpPr>
        <p:spPr>
          <a:xfrm>
            <a:off x="5212080" y="4928616"/>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0,18</a:t>
            </a:r>
            <a:endParaRPr lang="es-CL" sz="1600" dirty="0"/>
          </a:p>
        </p:txBody>
      </p:sp>
      <p:sp>
        <p:nvSpPr>
          <p:cNvPr id="40" name="Text 38"/>
          <p:cNvSpPr txBox="1"/>
          <p:nvPr/>
        </p:nvSpPr>
        <p:spPr>
          <a:xfrm>
            <a:off x="7223760" y="4928616"/>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Nadie ofrece hoy el servicio</a:t>
            </a:r>
            <a:endParaRPr lang="es-CL" sz="1600" dirty="0"/>
          </a:p>
        </p:txBody>
      </p:sp>
      <p:sp>
        <p:nvSpPr>
          <p:cNvPr id="41" name="Shape 39"/>
          <p:cNvSpPr/>
          <p:nvPr/>
        </p:nvSpPr>
        <p:spPr>
          <a:xfrm>
            <a:off x="548640" y="5495544"/>
            <a:ext cx="11094415" cy="0"/>
          </a:xfrm>
          <a:prstGeom prst="line">
            <a:avLst/>
          </a:prstGeom>
          <a:noFill/>
          <a:ln w="9525">
            <a:solidFill>
              <a:schemeClr val="accent5"/>
            </a:solidFill>
            <a:prstDash val="solid"/>
          </a:ln>
        </p:spPr>
      </p:sp>
      <p:sp>
        <p:nvSpPr>
          <p:cNvPr id="42" name="Text 40"/>
          <p:cNvSpPr txBox="1"/>
          <p:nvPr/>
        </p:nvSpPr>
        <p:spPr>
          <a:xfrm>
            <a:off x="548640" y="5495544"/>
            <a:ext cx="2240280" cy="566928"/>
          </a:xfrm>
          <a:prstGeom prst="rect">
            <a:avLst/>
          </a:prstGeom>
          <a:noFill/>
          <a:ln/>
        </p:spPr>
        <p:txBody>
          <a:bodyPr wrap="square" lIns="0" tIns="0" rIns="0" bIns="0" rtlCol="0" anchor="ctr"/>
          <a:lstStyle/>
          <a:p>
            <a:pPr algn="l"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Total</a:t>
            </a:r>
            <a:endParaRPr lang="es-CL" sz="1600" dirty="0"/>
          </a:p>
        </p:txBody>
      </p:sp>
      <p:sp>
        <p:nvSpPr>
          <p:cNvPr id="43" name="Text 41"/>
          <p:cNvSpPr txBox="1"/>
          <p:nvPr/>
        </p:nvSpPr>
        <p:spPr>
          <a:xfrm>
            <a:off x="2926080" y="5495544"/>
            <a:ext cx="7772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100%</a:t>
            </a:r>
            <a:endParaRPr lang="es-CL" sz="1600" dirty="0"/>
          </a:p>
        </p:txBody>
      </p:sp>
      <p:sp>
        <p:nvSpPr>
          <p:cNvPr id="44" name="Text 42"/>
          <p:cNvSpPr txBox="1"/>
          <p:nvPr/>
        </p:nvSpPr>
        <p:spPr>
          <a:xfrm>
            <a:off x="3840480" y="5495544"/>
            <a:ext cx="123444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a:t>
            </a:r>
            <a:endParaRPr lang="es-CL" sz="1600" dirty="0"/>
          </a:p>
        </p:txBody>
      </p:sp>
      <p:sp>
        <p:nvSpPr>
          <p:cNvPr id="45" name="Text 43"/>
          <p:cNvSpPr txBox="1"/>
          <p:nvPr/>
        </p:nvSpPr>
        <p:spPr>
          <a:xfrm>
            <a:off x="5212080" y="5495544"/>
            <a:ext cx="1874520" cy="566928"/>
          </a:xfrm>
          <a:prstGeom prst="rect">
            <a:avLst/>
          </a:prstGeom>
          <a:noFill/>
          <a:ln/>
        </p:spPr>
        <p:txBody>
          <a:bodyPr wrap="square" lIns="0" tIns="0" rIns="0" bIns="0" rtlCol="0" anchor="ctr"/>
          <a:lstStyle/>
          <a:p>
            <a:pPr algn="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3,49</a:t>
            </a:r>
            <a:endParaRPr lang="es-CL" sz="1600" dirty="0"/>
          </a:p>
        </p:txBody>
      </p:sp>
      <p:sp>
        <p:nvSpPr>
          <p:cNvPr id="46" name="Text 44"/>
          <p:cNvSpPr txBox="1"/>
          <p:nvPr/>
        </p:nvSpPr>
        <p:spPr>
          <a:xfrm>
            <a:off x="7223760" y="5495544"/>
            <a:ext cx="4282135" cy="566928"/>
          </a:xfrm>
          <a:prstGeom prst="rect">
            <a:avLst/>
          </a:prstGeom>
          <a:noFill/>
          <a:ln/>
        </p:spPr>
        <p:txBody>
          <a:bodyPr wrap="square" lIns="0" tIns="0" rIns="0" bIns="0" rtlCol="0" anchor="ctr"/>
          <a:lstStyle/>
          <a:p>
            <a:pPr algn="l" indent="0" marL="0">
              <a:lnSpc>
                <a:spcPct val="92000"/>
              </a:lnSpc>
              <a:buNone/>
            </a:pPr>
            <a:r>
              <a:rPr lang="es-CL" altLang="en-US" sz="1600" dirty="0">
                <a:solidFill>
                  <a:schemeClr val="tx2"/>
                </a:solidFill>
                <a:latin typeface="Figtree" pitchFamily="34" charset="0"/>
                <a:ea typeface="Figtree" pitchFamily="34" charset="-122"/>
                <a:cs typeface="Figtree" pitchFamily="34" charset="-120"/>
              </a:rPr>
              <a:t>Industria moderadamente poco atractiva</a:t>
            </a:r>
            <a:endParaRPr lang="es-CL" sz="1600" dirty="0"/>
          </a:p>
        </p:txBody>
      </p:sp>
      <p:sp>
        <p:nvSpPr>
          <p:cNvPr id="47" name="Shape 45"/>
          <p:cNvSpPr/>
          <p:nvPr/>
        </p:nvSpPr>
        <p:spPr>
          <a:xfrm>
            <a:off x="548640" y="6062472"/>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A7</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RECURSOS Y CAPACIDADES · INSTRUMENTO 05</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QUINCE RECURSOS Y CAPACIDADES,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cuatro filtros.</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05 del equipo (recursos y capacidades; criterios valioso, raro, costoso de imitar e insustituible).</a:t>
            </a:r>
            <a:endParaRPr lang="es-CL" sz="1100" dirty="0"/>
          </a:p>
        </p:txBody>
      </p:sp>
      <p:sp>
        <p:nvSpPr>
          <p:cNvPr id="6" name="Text 4"/>
          <p:cNvSpPr txBox="1"/>
          <p:nvPr/>
        </p:nvSpPr>
        <p:spPr>
          <a:xfrm>
            <a:off x="548640" y="2304288"/>
            <a:ext cx="59436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RECURSO O CAPACIDAD</a:t>
            </a:r>
            <a:endParaRPr lang="es-CL" sz="1200" dirty="0"/>
          </a:p>
        </p:txBody>
      </p:sp>
      <p:sp>
        <p:nvSpPr>
          <p:cNvPr id="7" name="Text 5"/>
          <p:cNvSpPr txBox="1"/>
          <p:nvPr/>
        </p:nvSpPr>
        <p:spPr>
          <a:xfrm>
            <a:off x="6492240" y="2304288"/>
            <a:ext cx="20116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TIPO</a:t>
            </a:r>
            <a:endParaRPr lang="es-CL" sz="1200" dirty="0"/>
          </a:p>
        </p:txBody>
      </p:sp>
      <p:sp>
        <p:nvSpPr>
          <p:cNvPr id="8" name="Text 6"/>
          <p:cNvSpPr txBox="1"/>
          <p:nvPr/>
        </p:nvSpPr>
        <p:spPr>
          <a:xfrm>
            <a:off x="8503920" y="2304288"/>
            <a:ext cx="313913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CONSECUENCIA</a:t>
            </a:r>
            <a:endParaRPr lang="es-CL" sz="1200" dirty="0"/>
          </a:p>
        </p:txBody>
      </p:sp>
      <p:sp>
        <p:nvSpPr>
          <p:cNvPr id="9" name="Shape 7"/>
          <p:cNvSpPr/>
          <p:nvPr/>
        </p:nvSpPr>
        <p:spPr>
          <a:xfrm>
            <a:off x="548640" y="2615184"/>
            <a:ext cx="11094415" cy="0"/>
          </a:xfrm>
          <a:prstGeom prst="line">
            <a:avLst/>
          </a:prstGeom>
          <a:noFill/>
          <a:ln w="9525">
            <a:solidFill>
              <a:schemeClr val="accent1"/>
            </a:solidFill>
            <a:prstDash val="solid"/>
          </a:ln>
        </p:spPr>
      </p:sp>
      <p:sp>
        <p:nvSpPr>
          <p:cNvPr id="10" name="Text 8"/>
          <p:cNvSpPr txBox="1"/>
          <p:nvPr/>
        </p:nvSpPr>
        <p:spPr>
          <a:xfrm>
            <a:off x="548640" y="2615184"/>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Biblioteca de calibraciones por marca y modelo</a:t>
            </a:r>
            <a:endParaRPr lang="es-CL" sz="1500" dirty="0"/>
          </a:p>
        </p:txBody>
      </p:sp>
      <p:sp>
        <p:nvSpPr>
          <p:cNvPr id="11" name="Text 9"/>
          <p:cNvSpPr txBox="1"/>
          <p:nvPr/>
        </p:nvSpPr>
        <p:spPr>
          <a:xfrm>
            <a:off x="6492240" y="2615184"/>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Recurso intangible</a:t>
            </a:r>
            <a:endParaRPr lang="es-CL" sz="1500" dirty="0"/>
          </a:p>
        </p:txBody>
      </p:sp>
      <p:sp>
        <p:nvSpPr>
          <p:cNvPr id="12" name="Text 10"/>
          <p:cNvSpPr txBox="1"/>
          <p:nvPr/>
        </p:nvSpPr>
        <p:spPr>
          <a:xfrm>
            <a:off x="8503920" y="2615184"/>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Sostenible (potencial)</a:t>
            </a:r>
            <a:endParaRPr lang="es-CL" sz="1500" dirty="0"/>
          </a:p>
        </p:txBody>
      </p:sp>
      <p:sp>
        <p:nvSpPr>
          <p:cNvPr id="13" name="Shape 11"/>
          <p:cNvSpPr/>
          <p:nvPr/>
        </p:nvSpPr>
        <p:spPr>
          <a:xfrm>
            <a:off x="548640" y="3017520"/>
            <a:ext cx="11094415" cy="0"/>
          </a:xfrm>
          <a:prstGeom prst="line">
            <a:avLst/>
          </a:prstGeom>
          <a:noFill/>
          <a:ln w="9525">
            <a:solidFill>
              <a:schemeClr val="accent5"/>
            </a:solidFill>
            <a:prstDash val="solid"/>
          </a:ln>
        </p:spPr>
      </p:sp>
      <p:sp>
        <p:nvSpPr>
          <p:cNvPr id="14" name="Text 12"/>
          <p:cNvSpPr txBox="1"/>
          <p:nvPr/>
        </p:nvSpPr>
        <p:spPr>
          <a:xfrm>
            <a:off x="548640" y="3017520"/>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Ingeniería de integración y calibración</a:t>
            </a:r>
            <a:endParaRPr lang="es-CL" sz="1500" dirty="0"/>
          </a:p>
        </p:txBody>
      </p:sp>
      <p:sp>
        <p:nvSpPr>
          <p:cNvPr id="15" name="Text 13"/>
          <p:cNvSpPr txBox="1"/>
          <p:nvPr/>
        </p:nvSpPr>
        <p:spPr>
          <a:xfrm>
            <a:off x="6492240" y="3017520"/>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Capacidad</a:t>
            </a:r>
            <a:endParaRPr lang="es-CL" sz="1500" dirty="0"/>
          </a:p>
        </p:txBody>
      </p:sp>
      <p:sp>
        <p:nvSpPr>
          <p:cNvPr id="16" name="Text 14"/>
          <p:cNvSpPr txBox="1"/>
          <p:nvPr/>
        </p:nvSpPr>
        <p:spPr>
          <a:xfrm>
            <a:off x="8503920" y="3017520"/>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Sostenible (potencial)</a:t>
            </a:r>
            <a:endParaRPr lang="es-CL" sz="1500" dirty="0"/>
          </a:p>
        </p:txBody>
      </p:sp>
      <p:sp>
        <p:nvSpPr>
          <p:cNvPr id="17" name="Shape 15"/>
          <p:cNvSpPr/>
          <p:nvPr/>
        </p:nvSpPr>
        <p:spPr>
          <a:xfrm>
            <a:off x="548640" y="3419856"/>
            <a:ext cx="11094415" cy="0"/>
          </a:xfrm>
          <a:prstGeom prst="line">
            <a:avLst/>
          </a:prstGeom>
          <a:noFill/>
          <a:ln w="9525">
            <a:solidFill>
              <a:schemeClr val="accent5"/>
            </a:solidFill>
            <a:prstDash val="solid"/>
          </a:ln>
        </p:spPr>
      </p:sp>
      <p:sp>
        <p:nvSpPr>
          <p:cNvPr id="18" name="Text 16"/>
          <p:cNvSpPr txBox="1"/>
          <p:nvPr/>
        </p:nvSpPr>
        <p:spPr>
          <a:xfrm>
            <a:off x="548640" y="3419856"/>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Formación interna en proceso y calibración</a:t>
            </a:r>
            <a:endParaRPr lang="es-CL" sz="1500" dirty="0"/>
          </a:p>
        </p:txBody>
      </p:sp>
      <p:sp>
        <p:nvSpPr>
          <p:cNvPr id="19" name="Text 17"/>
          <p:cNvSpPr txBox="1"/>
          <p:nvPr/>
        </p:nvSpPr>
        <p:spPr>
          <a:xfrm>
            <a:off x="6492240" y="3419856"/>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Capacidad</a:t>
            </a:r>
            <a:endParaRPr lang="es-CL" sz="1500" dirty="0"/>
          </a:p>
        </p:txBody>
      </p:sp>
      <p:sp>
        <p:nvSpPr>
          <p:cNvPr id="20" name="Text 18"/>
          <p:cNvSpPr txBox="1"/>
          <p:nvPr/>
        </p:nvSpPr>
        <p:spPr>
          <a:xfrm>
            <a:off x="8503920" y="3419856"/>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21" name="Shape 19"/>
          <p:cNvSpPr/>
          <p:nvPr/>
        </p:nvSpPr>
        <p:spPr>
          <a:xfrm>
            <a:off x="548640" y="3822192"/>
            <a:ext cx="11094415" cy="0"/>
          </a:xfrm>
          <a:prstGeom prst="line">
            <a:avLst/>
          </a:prstGeom>
          <a:noFill/>
          <a:ln w="9525">
            <a:solidFill>
              <a:schemeClr val="accent5"/>
            </a:solidFill>
            <a:prstDash val="solid"/>
          </a:ln>
        </p:spPr>
      </p:sp>
      <p:sp>
        <p:nvSpPr>
          <p:cNvPr id="22" name="Text 20"/>
          <p:cNvSpPr txBox="1"/>
          <p:nvPr/>
        </p:nvSpPr>
        <p:spPr>
          <a:xfrm>
            <a:off x="548640" y="3822192"/>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Homologación por par modelo-kit</a:t>
            </a:r>
            <a:endParaRPr lang="es-CL" sz="1500" dirty="0"/>
          </a:p>
        </p:txBody>
      </p:sp>
      <p:sp>
        <p:nvSpPr>
          <p:cNvPr id="23" name="Text 21"/>
          <p:cNvSpPr txBox="1"/>
          <p:nvPr/>
        </p:nvSpPr>
        <p:spPr>
          <a:xfrm>
            <a:off x="6492240" y="3822192"/>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Recurso</a:t>
            </a:r>
            <a:endParaRPr lang="es-CL" sz="1500" dirty="0"/>
          </a:p>
        </p:txBody>
      </p:sp>
      <p:sp>
        <p:nvSpPr>
          <p:cNvPr id="24" name="Text 22"/>
          <p:cNvSpPr txBox="1"/>
          <p:nvPr/>
        </p:nvSpPr>
        <p:spPr>
          <a:xfrm>
            <a:off x="8503920" y="3822192"/>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25" name="Shape 23"/>
          <p:cNvSpPr/>
          <p:nvPr/>
        </p:nvSpPr>
        <p:spPr>
          <a:xfrm>
            <a:off x="548640" y="4224528"/>
            <a:ext cx="11094415" cy="0"/>
          </a:xfrm>
          <a:prstGeom prst="line">
            <a:avLst/>
          </a:prstGeom>
          <a:noFill/>
          <a:ln w="9525">
            <a:solidFill>
              <a:schemeClr val="accent5"/>
            </a:solidFill>
            <a:prstDash val="solid"/>
          </a:ln>
        </p:spPr>
      </p:sp>
      <p:sp>
        <p:nvSpPr>
          <p:cNvPr id="26" name="Text 24"/>
          <p:cNvSpPr txBox="1"/>
          <p:nvPr/>
        </p:nvSpPr>
        <p:spPr>
          <a:xfrm>
            <a:off x="548640" y="4224528"/>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Autorización del taller</a:t>
            </a:r>
            <a:endParaRPr lang="es-CL" sz="1500" dirty="0"/>
          </a:p>
        </p:txBody>
      </p:sp>
      <p:sp>
        <p:nvSpPr>
          <p:cNvPr id="27" name="Text 25"/>
          <p:cNvSpPr txBox="1"/>
          <p:nvPr/>
        </p:nvSpPr>
        <p:spPr>
          <a:xfrm>
            <a:off x="6492240" y="4224528"/>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Recurso</a:t>
            </a:r>
            <a:endParaRPr lang="es-CL" sz="1500" dirty="0"/>
          </a:p>
        </p:txBody>
      </p:sp>
      <p:sp>
        <p:nvSpPr>
          <p:cNvPr id="28" name="Text 26"/>
          <p:cNvSpPr txBox="1"/>
          <p:nvPr/>
        </p:nvSpPr>
        <p:spPr>
          <a:xfrm>
            <a:off x="8503920" y="4224528"/>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29" name="Shape 27"/>
          <p:cNvSpPr/>
          <p:nvPr/>
        </p:nvSpPr>
        <p:spPr>
          <a:xfrm>
            <a:off x="548640" y="4626864"/>
            <a:ext cx="11094415" cy="0"/>
          </a:xfrm>
          <a:prstGeom prst="line">
            <a:avLst/>
          </a:prstGeom>
          <a:noFill/>
          <a:ln w="9525">
            <a:solidFill>
              <a:schemeClr val="accent5"/>
            </a:solidFill>
            <a:prstDash val="solid"/>
          </a:ln>
        </p:spPr>
      </p:sp>
      <p:sp>
        <p:nvSpPr>
          <p:cNvPr id="30" name="Text 28"/>
          <p:cNvSpPr txBox="1"/>
          <p:nvPr/>
        </p:nvSpPr>
        <p:spPr>
          <a:xfrm>
            <a:off x="548640" y="4626864"/>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Técnicos con licencia SEC</a:t>
            </a:r>
            <a:endParaRPr lang="es-CL" sz="1500" dirty="0"/>
          </a:p>
        </p:txBody>
      </p:sp>
      <p:sp>
        <p:nvSpPr>
          <p:cNvPr id="31" name="Text 29"/>
          <p:cNvSpPr txBox="1"/>
          <p:nvPr/>
        </p:nvSpPr>
        <p:spPr>
          <a:xfrm>
            <a:off x="6492240" y="4626864"/>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Recurso</a:t>
            </a:r>
            <a:endParaRPr lang="es-CL" sz="1500" dirty="0"/>
          </a:p>
        </p:txBody>
      </p:sp>
      <p:sp>
        <p:nvSpPr>
          <p:cNvPr id="32" name="Text 30"/>
          <p:cNvSpPr txBox="1"/>
          <p:nvPr/>
        </p:nvSpPr>
        <p:spPr>
          <a:xfrm>
            <a:off x="8503920" y="4626864"/>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33" name="Shape 31"/>
          <p:cNvSpPr/>
          <p:nvPr/>
        </p:nvSpPr>
        <p:spPr>
          <a:xfrm>
            <a:off x="548640" y="5029200"/>
            <a:ext cx="11094415" cy="0"/>
          </a:xfrm>
          <a:prstGeom prst="line">
            <a:avLst/>
          </a:prstGeom>
          <a:noFill/>
          <a:ln w="9525">
            <a:solidFill>
              <a:schemeClr val="accent5"/>
            </a:solidFill>
            <a:prstDash val="solid"/>
          </a:ln>
        </p:spPr>
      </p:sp>
      <p:sp>
        <p:nvSpPr>
          <p:cNvPr id="34" name="Text 32"/>
          <p:cNvSpPr txBox="1"/>
          <p:nvPr/>
        </p:nvSpPr>
        <p:spPr>
          <a:xfrm>
            <a:off x="548640" y="5029200"/>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Gestión regulatoria e institucional</a:t>
            </a:r>
            <a:endParaRPr lang="es-CL" sz="1500" dirty="0"/>
          </a:p>
        </p:txBody>
      </p:sp>
      <p:sp>
        <p:nvSpPr>
          <p:cNvPr id="35" name="Text 33"/>
          <p:cNvSpPr txBox="1"/>
          <p:nvPr/>
        </p:nvSpPr>
        <p:spPr>
          <a:xfrm>
            <a:off x="6492240" y="5029200"/>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Capacidad</a:t>
            </a:r>
            <a:endParaRPr lang="es-CL" sz="1500" dirty="0"/>
          </a:p>
        </p:txBody>
      </p:sp>
      <p:sp>
        <p:nvSpPr>
          <p:cNvPr id="36" name="Text 34"/>
          <p:cNvSpPr txBox="1"/>
          <p:nvPr/>
        </p:nvSpPr>
        <p:spPr>
          <a:xfrm>
            <a:off x="8503920" y="5029200"/>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37" name="Shape 35"/>
          <p:cNvSpPr/>
          <p:nvPr/>
        </p:nvSpPr>
        <p:spPr>
          <a:xfrm>
            <a:off x="548640" y="5431536"/>
            <a:ext cx="11094415" cy="0"/>
          </a:xfrm>
          <a:prstGeom prst="line">
            <a:avLst/>
          </a:prstGeom>
          <a:noFill/>
          <a:ln w="9525">
            <a:solidFill>
              <a:schemeClr val="accent5"/>
            </a:solidFill>
            <a:prstDash val="solid"/>
          </a:ln>
        </p:spPr>
      </p:sp>
      <p:sp>
        <p:nvSpPr>
          <p:cNvPr id="38" name="Text 36"/>
          <p:cNvSpPr txBox="1"/>
          <p:nvPr/>
        </p:nvSpPr>
        <p:spPr>
          <a:xfrm>
            <a:off x="548640" y="5431536"/>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Diagnóstico previo y posventa</a:t>
            </a:r>
            <a:endParaRPr lang="es-CL" sz="1500" dirty="0"/>
          </a:p>
        </p:txBody>
      </p:sp>
      <p:sp>
        <p:nvSpPr>
          <p:cNvPr id="39" name="Text 37"/>
          <p:cNvSpPr txBox="1"/>
          <p:nvPr/>
        </p:nvSpPr>
        <p:spPr>
          <a:xfrm>
            <a:off x="6492240" y="5431536"/>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Capacidad</a:t>
            </a:r>
            <a:endParaRPr lang="es-CL" sz="1500" dirty="0"/>
          </a:p>
        </p:txBody>
      </p:sp>
      <p:sp>
        <p:nvSpPr>
          <p:cNvPr id="40" name="Text 38"/>
          <p:cNvSpPr txBox="1"/>
          <p:nvPr/>
        </p:nvSpPr>
        <p:spPr>
          <a:xfrm>
            <a:off x="8503920" y="5431536"/>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Temporal</a:t>
            </a:r>
            <a:endParaRPr lang="es-CL" sz="1500" dirty="0"/>
          </a:p>
        </p:txBody>
      </p:sp>
      <p:sp>
        <p:nvSpPr>
          <p:cNvPr id="41" name="Shape 39"/>
          <p:cNvSpPr/>
          <p:nvPr/>
        </p:nvSpPr>
        <p:spPr>
          <a:xfrm>
            <a:off x="548640" y="5833872"/>
            <a:ext cx="11094415" cy="0"/>
          </a:xfrm>
          <a:prstGeom prst="line">
            <a:avLst/>
          </a:prstGeom>
          <a:noFill/>
          <a:ln w="9525">
            <a:solidFill>
              <a:schemeClr val="accent5"/>
            </a:solidFill>
            <a:prstDash val="solid"/>
          </a:ln>
        </p:spPr>
      </p:sp>
      <p:sp>
        <p:nvSpPr>
          <p:cNvPr id="42" name="Text 40"/>
          <p:cNvSpPr txBox="1"/>
          <p:nvPr/>
        </p:nvSpPr>
        <p:spPr>
          <a:xfrm>
            <a:off x="548640" y="5833872"/>
            <a:ext cx="580644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Taller, kit, convenio financiero y cuatro más</a:t>
            </a:r>
            <a:endParaRPr lang="es-CL" sz="1500" dirty="0"/>
          </a:p>
        </p:txBody>
      </p:sp>
      <p:sp>
        <p:nvSpPr>
          <p:cNvPr id="43" name="Text 41"/>
          <p:cNvSpPr txBox="1"/>
          <p:nvPr/>
        </p:nvSpPr>
        <p:spPr>
          <a:xfrm>
            <a:off x="6492240" y="5833872"/>
            <a:ext cx="1874520"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7 elementos</a:t>
            </a:r>
            <a:endParaRPr lang="es-CL" sz="1500" dirty="0"/>
          </a:p>
        </p:txBody>
      </p:sp>
      <p:sp>
        <p:nvSpPr>
          <p:cNvPr id="44" name="Text 42"/>
          <p:cNvSpPr txBox="1"/>
          <p:nvPr/>
        </p:nvSpPr>
        <p:spPr>
          <a:xfrm>
            <a:off x="8503920" y="5833872"/>
            <a:ext cx="3001975" cy="40233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Igualdad</a:t>
            </a:r>
            <a:endParaRPr lang="es-CL" sz="1500" dirty="0"/>
          </a:p>
        </p:txBody>
      </p:sp>
      <p:sp>
        <p:nvSpPr>
          <p:cNvPr id="45" name="Shape 43"/>
          <p:cNvSpPr/>
          <p:nvPr/>
        </p:nvSpPr>
        <p:spPr>
          <a:xfrm>
            <a:off x="548640" y="6236208"/>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A7</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FACTORES CRÍTICOS DE ÉXITO · INSTRUMENTO 06</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SEIS FACTORES CRÍTICOS,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dos son condición de entrada.</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06 del equipo, factores críticos de éxito. Escala de 1 (gran debilidad) a 5 (gran fortaleza); en riesgo, un número bajo es riesgo alto.</a:t>
            </a:r>
            <a:endParaRPr lang="es-CL" sz="1100" dirty="0"/>
          </a:p>
        </p:txBody>
      </p:sp>
      <p:sp>
        <p:nvSpPr>
          <p:cNvPr id="6" name="Text 4"/>
          <p:cNvSpPr txBox="1"/>
          <p:nvPr/>
        </p:nvSpPr>
        <p:spPr>
          <a:xfrm>
            <a:off x="548640" y="2350008"/>
            <a:ext cx="42062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FACTOR · LÍNEA DEL 06</a:t>
            </a:r>
            <a:endParaRPr lang="es-CL" sz="1200" dirty="0"/>
          </a:p>
        </p:txBody>
      </p:sp>
      <p:sp>
        <p:nvSpPr>
          <p:cNvPr id="7" name="Text 5"/>
          <p:cNvSpPr txBox="1"/>
          <p:nvPr/>
        </p:nvSpPr>
        <p:spPr>
          <a:xfrm>
            <a:off x="4754880" y="2350008"/>
            <a:ext cx="731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HAB.</a:t>
            </a:r>
            <a:endParaRPr lang="es-CL" sz="1200" dirty="0"/>
          </a:p>
        </p:txBody>
      </p:sp>
      <p:sp>
        <p:nvSpPr>
          <p:cNvPr id="8" name="Text 6"/>
          <p:cNvSpPr txBox="1"/>
          <p:nvPr/>
        </p:nvSpPr>
        <p:spPr>
          <a:xfrm>
            <a:off x="5486400" y="2350008"/>
            <a:ext cx="9144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RIESGO</a:t>
            </a:r>
            <a:endParaRPr lang="es-CL" sz="1200" dirty="0"/>
          </a:p>
        </p:txBody>
      </p:sp>
      <p:sp>
        <p:nvSpPr>
          <p:cNvPr id="9" name="Text 7"/>
          <p:cNvSpPr txBox="1"/>
          <p:nvPr/>
        </p:nvSpPr>
        <p:spPr>
          <a:xfrm>
            <a:off x="6400800" y="2350008"/>
            <a:ext cx="52422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ESTADO</a:t>
            </a:r>
            <a:endParaRPr lang="es-CL" sz="1200" dirty="0"/>
          </a:p>
        </p:txBody>
      </p:sp>
      <p:sp>
        <p:nvSpPr>
          <p:cNvPr id="10" name="Shape 8"/>
          <p:cNvSpPr/>
          <p:nvPr/>
        </p:nvSpPr>
        <p:spPr>
          <a:xfrm>
            <a:off x="548640" y="2660904"/>
            <a:ext cx="11094415" cy="0"/>
          </a:xfrm>
          <a:prstGeom prst="line">
            <a:avLst/>
          </a:prstGeom>
          <a:noFill/>
          <a:ln w="9525">
            <a:solidFill>
              <a:schemeClr val="accent1"/>
            </a:solidFill>
            <a:prstDash val="solid"/>
          </a:ln>
        </p:spPr>
      </p:sp>
      <p:sp>
        <p:nvSpPr>
          <p:cNvPr id="11" name="Text 9"/>
          <p:cNvSpPr txBox="1"/>
          <p:nvPr/>
        </p:nvSpPr>
        <p:spPr>
          <a:xfrm>
            <a:off x="548640" y="2660904"/>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Gestión regulatoria e institucional · infraestructura</a:t>
            </a:r>
            <a:endParaRPr lang="es-CL" sz="1500" dirty="0"/>
          </a:p>
        </p:txBody>
      </p:sp>
      <p:sp>
        <p:nvSpPr>
          <p:cNvPr id="12" name="Text 10"/>
          <p:cNvSpPr txBox="1"/>
          <p:nvPr/>
        </p:nvSpPr>
        <p:spPr>
          <a:xfrm>
            <a:off x="4754880" y="2660904"/>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13" name="Text 11"/>
          <p:cNvSpPr txBox="1"/>
          <p:nvPr/>
        </p:nvSpPr>
        <p:spPr>
          <a:xfrm>
            <a:off x="5486400" y="2660904"/>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14" name="Text 12"/>
          <p:cNvSpPr txBox="1"/>
          <p:nvPr/>
        </p:nvSpPr>
        <p:spPr>
          <a:xfrm>
            <a:off x="6400800" y="2660904"/>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Sin interlocución formal con la autoridad · condición de entrada</a:t>
            </a:r>
            <a:endParaRPr lang="es-CL" sz="1500" dirty="0"/>
          </a:p>
        </p:txBody>
      </p:sp>
      <p:sp>
        <p:nvSpPr>
          <p:cNvPr id="15" name="Shape 13"/>
          <p:cNvSpPr/>
          <p:nvPr/>
        </p:nvSpPr>
        <p:spPr>
          <a:xfrm>
            <a:off x="548640" y="3246120"/>
            <a:ext cx="11094415" cy="0"/>
          </a:xfrm>
          <a:prstGeom prst="line">
            <a:avLst/>
          </a:prstGeom>
          <a:noFill/>
          <a:ln w="9525">
            <a:solidFill>
              <a:schemeClr val="accent5"/>
            </a:solidFill>
            <a:prstDash val="solid"/>
          </a:ln>
        </p:spPr>
      </p:sp>
      <p:sp>
        <p:nvSpPr>
          <p:cNvPr id="16" name="Text 14"/>
          <p:cNvSpPr txBox="1"/>
          <p:nvPr/>
        </p:nvSpPr>
        <p:spPr>
          <a:xfrm>
            <a:off x="548640" y="3246120"/>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Financiamiento en el punto de venta · finanzas</a:t>
            </a:r>
            <a:endParaRPr lang="es-CL" sz="1500" dirty="0"/>
          </a:p>
        </p:txBody>
      </p:sp>
      <p:sp>
        <p:nvSpPr>
          <p:cNvPr id="17" name="Text 15"/>
          <p:cNvSpPr txBox="1"/>
          <p:nvPr/>
        </p:nvSpPr>
        <p:spPr>
          <a:xfrm>
            <a:off x="4754880" y="3246120"/>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3</a:t>
            </a:r>
            <a:endParaRPr lang="es-CL" sz="1500" dirty="0"/>
          </a:p>
        </p:txBody>
      </p:sp>
      <p:sp>
        <p:nvSpPr>
          <p:cNvPr id="18" name="Text 16"/>
          <p:cNvSpPr txBox="1"/>
          <p:nvPr/>
        </p:nvSpPr>
        <p:spPr>
          <a:xfrm>
            <a:off x="5486400" y="3246120"/>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19" name="Text 17"/>
          <p:cNvSpPr txBox="1"/>
          <p:nvPr/>
        </p:nvSpPr>
        <p:spPr>
          <a:xfrm>
            <a:off x="6400800" y="3246120"/>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Sin convenio · condición de entrada</a:t>
            </a:r>
            <a:endParaRPr lang="es-CL" sz="1500" dirty="0"/>
          </a:p>
        </p:txBody>
      </p:sp>
      <p:sp>
        <p:nvSpPr>
          <p:cNvPr id="20" name="Shape 18"/>
          <p:cNvSpPr/>
          <p:nvPr/>
        </p:nvSpPr>
        <p:spPr>
          <a:xfrm>
            <a:off x="548640" y="3831336"/>
            <a:ext cx="11094415" cy="0"/>
          </a:xfrm>
          <a:prstGeom prst="line">
            <a:avLst/>
          </a:prstGeom>
          <a:noFill/>
          <a:ln w="9525">
            <a:solidFill>
              <a:schemeClr val="accent5"/>
            </a:solidFill>
            <a:prstDash val="solid"/>
          </a:ln>
        </p:spPr>
      </p:sp>
      <p:sp>
        <p:nvSpPr>
          <p:cNvPr id="21" name="Text 19"/>
          <p:cNvSpPr txBox="1"/>
          <p:nvPr/>
        </p:nvSpPr>
        <p:spPr>
          <a:xfrm>
            <a:off x="548640" y="3831336"/>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Ingeniería de integración y calibración · fabricación</a:t>
            </a:r>
            <a:endParaRPr lang="es-CL" sz="1500" dirty="0"/>
          </a:p>
        </p:txBody>
      </p:sp>
      <p:sp>
        <p:nvSpPr>
          <p:cNvPr id="22" name="Text 20"/>
          <p:cNvSpPr txBox="1"/>
          <p:nvPr/>
        </p:nvSpPr>
        <p:spPr>
          <a:xfrm>
            <a:off x="4754880" y="3831336"/>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4</a:t>
            </a:r>
            <a:endParaRPr lang="es-CL" sz="1500" dirty="0"/>
          </a:p>
        </p:txBody>
      </p:sp>
      <p:sp>
        <p:nvSpPr>
          <p:cNvPr id="23" name="Text 21"/>
          <p:cNvSpPr txBox="1"/>
          <p:nvPr/>
        </p:nvSpPr>
        <p:spPr>
          <a:xfrm>
            <a:off x="5486400" y="3831336"/>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24" name="Text 22"/>
          <p:cNvSpPr txBox="1"/>
          <p:nvPr/>
        </p:nvSpPr>
        <p:spPr>
          <a:xfrm>
            <a:off x="6400800" y="3831336"/>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Diseñada; riesgo de incompatibilidad con la electrónica original</a:t>
            </a:r>
            <a:endParaRPr lang="es-CL" sz="1500" dirty="0"/>
          </a:p>
        </p:txBody>
      </p:sp>
      <p:sp>
        <p:nvSpPr>
          <p:cNvPr id="25" name="Shape 23"/>
          <p:cNvSpPr/>
          <p:nvPr/>
        </p:nvSpPr>
        <p:spPr>
          <a:xfrm>
            <a:off x="548640" y="4416552"/>
            <a:ext cx="11094415" cy="0"/>
          </a:xfrm>
          <a:prstGeom prst="line">
            <a:avLst/>
          </a:prstGeom>
          <a:noFill/>
          <a:ln w="9525">
            <a:solidFill>
              <a:schemeClr val="accent5"/>
            </a:solidFill>
            <a:prstDash val="solid"/>
          </a:ln>
        </p:spPr>
      </p:sp>
      <p:sp>
        <p:nvSpPr>
          <p:cNvPr id="26" name="Text 24"/>
          <p:cNvSpPr txBox="1"/>
          <p:nvPr/>
        </p:nvSpPr>
        <p:spPr>
          <a:xfrm>
            <a:off x="548640" y="4416552"/>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Talento certificado en alta tensión · RR. HH.</a:t>
            </a:r>
            <a:endParaRPr lang="es-CL" sz="1500" dirty="0"/>
          </a:p>
        </p:txBody>
      </p:sp>
      <p:sp>
        <p:nvSpPr>
          <p:cNvPr id="27" name="Text 25"/>
          <p:cNvSpPr txBox="1"/>
          <p:nvPr/>
        </p:nvSpPr>
        <p:spPr>
          <a:xfrm>
            <a:off x="4754880" y="4416552"/>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28" name="Text 26"/>
          <p:cNvSpPr txBox="1"/>
          <p:nvPr/>
        </p:nvSpPr>
        <p:spPr>
          <a:xfrm>
            <a:off x="5486400" y="4416552"/>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29" name="Text 27"/>
          <p:cNvSpPr txBox="1"/>
          <p:nvPr/>
        </p:nvSpPr>
        <p:spPr>
          <a:xfrm>
            <a:off x="6400800" y="4416552"/>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Perfil escaso; sin esquema de retención</a:t>
            </a:r>
            <a:endParaRPr lang="es-CL" sz="1500" dirty="0"/>
          </a:p>
        </p:txBody>
      </p:sp>
      <p:sp>
        <p:nvSpPr>
          <p:cNvPr id="30" name="Shape 28"/>
          <p:cNvSpPr/>
          <p:nvPr/>
        </p:nvSpPr>
        <p:spPr>
          <a:xfrm>
            <a:off x="548640" y="5001768"/>
            <a:ext cx="11094415" cy="0"/>
          </a:xfrm>
          <a:prstGeom prst="line">
            <a:avLst/>
          </a:prstGeom>
          <a:noFill/>
          <a:ln w="9525">
            <a:solidFill>
              <a:schemeClr val="accent5"/>
            </a:solidFill>
            <a:prstDash val="solid"/>
          </a:ln>
        </p:spPr>
      </p:sp>
      <p:sp>
        <p:nvSpPr>
          <p:cNvPr id="31" name="Text 29"/>
          <p:cNvSpPr txBox="1"/>
          <p:nvPr/>
        </p:nvSpPr>
        <p:spPr>
          <a:xfrm>
            <a:off x="548640" y="5001768"/>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Logística de insumos críticos · adquisiciones</a:t>
            </a:r>
            <a:endParaRPr lang="es-CL" sz="1500" dirty="0"/>
          </a:p>
        </p:txBody>
      </p:sp>
      <p:sp>
        <p:nvSpPr>
          <p:cNvPr id="32" name="Text 30"/>
          <p:cNvSpPr txBox="1"/>
          <p:nvPr/>
        </p:nvSpPr>
        <p:spPr>
          <a:xfrm>
            <a:off x="4754880" y="5001768"/>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3</a:t>
            </a:r>
            <a:endParaRPr lang="es-CL" sz="1500" dirty="0"/>
          </a:p>
        </p:txBody>
      </p:sp>
      <p:sp>
        <p:nvSpPr>
          <p:cNvPr id="33" name="Text 31"/>
          <p:cNvSpPr txBox="1"/>
          <p:nvPr/>
        </p:nvSpPr>
        <p:spPr>
          <a:xfrm>
            <a:off x="5486400" y="5001768"/>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2</a:t>
            </a:r>
            <a:endParaRPr lang="es-CL" sz="1500" dirty="0"/>
          </a:p>
        </p:txBody>
      </p:sp>
      <p:sp>
        <p:nvSpPr>
          <p:cNvPr id="34" name="Text 32"/>
          <p:cNvSpPr txBox="1"/>
          <p:nvPr/>
        </p:nvSpPr>
        <p:spPr>
          <a:xfrm>
            <a:off x="6400800" y="5001768"/>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Protocolo definido; Clase 9 con plazos largos</a:t>
            </a:r>
            <a:endParaRPr lang="es-CL" sz="1500" dirty="0"/>
          </a:p>
        </p:txBody>
      </p:sp>
      <p:sp>
        <p:nvSpPr>
          <p:cNvPr id="35" name="Shape 33"/>
          <p:cNvSpPr/>
          <p:nvPr/>
        </p:nvSpPr>
        <p:spPr>
          <a:xfrm>
            <a:off x="548640" y="5586984"/>
            <a:ext cx="11094415" cy="0"/>
          </a:xfrm>
          <a:prstGeom prst="line">
            <a:avLst/>
          </a:prstGeom>
          <a:noFill/>
          <a:ln w="9525">
            <a:solidFill>
              <a:schemeClr val="accent5"/>
            </a:solidFill>
            <a:prstDash val="solid"/>
          </a:ln>
        </p:spPr>
      </p:sp>
      <p:sp>
        <p:nvSpPr>
          <p:cNvPr id="36" name="Text 34"/>
          <p:cNvSpPr txBox="1"/>
          <p:nvPr/>
        </p:nvSpPr>
        <p:spPr>
          <a:xfrm>
            <a:off x="548640" y="5586984"/>
            <a:ext cx="4069080"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Estandarización y tiempo de taller · procesos</a:t>
            </a:r>
            <a:endParaRPr lang="es-CL" sz="1500" dirty="0"/>
          </a:p>
        </p:txBody>
      </p:sp>
      <p:sp>
        <p:nvSpPr>
          <p:cNvPr id="37" name="Text 35"/>
          <p:cNvSpPr txBox="1"/>
          <p:nvPr/>
        </p:nvSpPr>
        <p:spPr>
          <a:xfrm>
            <a:off x="4754880" y="5586984"/>
            <a:ext cx="59436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4</a:t>
            </a:r>
            <a:endParaRPr lang="es-CL" sz="1500" dirty="0"/>
          </a:p>
        </p:txBody>
      </p:sp>
      <p:sp>
        <p:nvSpPr>
          <p:cNvPr id="38" name="Text 36"/>
          <p:cNvSpPr txBox="1"/>
          <p:nvPr/>
        </p:nvSpPr>
        <p:spPr>
          <a:xfrm>
            <a:off x="5486400" y="5586984"/>
            <a:ext cx="777240" cy="585216"/>
          </a:xfrm>
          <a:prstGeom prst="rect">
            <a:avLst/>
          </a:prstGeom>
          <a:noFill/>
          <a:ln/>
        </p:spPr>
        <p:txBody>
          <a:bodyPr wrap="square" lIns="0" tIns="0" rIns="0" bIns="0" rtlCol="0" anchor="ctr"/>
          <a:lstStyle/>
          <a:p>
            <a:pPr algn="r" indent="0" marL="0">
              <a:lnSpc>
                <a:spcPct val="92000"/>
              </a:lnSpc>
              <a:buNone/>
            </a:pPr>
            <a:r>
              <a:rPr lang="es-CL" altLang="en-US" sz="1500" dirty="0">
                <a:solidFill>
                  <a:schemeClr val="tx1"/>
                </a:solidFill>
                <a:latin typeface="Figtree" pitchFamily="34" charset="0"/>
                <a:ea typeface="Figtree" pitchFamily="34" charset="-122"/>
                <a:cs typeface="Figtree" pitchFamily="34" charset="-120"/>
              </a:rPr>
              <a:t>3</a:t>
            </a:r>
            <a:endParaRPr lang="es-CL" sz="1500" dirty="0"/>
          </a:p>
        </p:txBody>
      </p:sp>
      <p:sp>
        <p:nvSpPr>
          <p:cNvPr id="39" name="Text 37"/>
          <p:cNvSpPr txBox="1"/>
          <p:nvPr/>
        </p:nvSpPr>
        <p:spPr>
          <a:xfrm>
            <a:off x="6400800" y="5586984"/>
            <a:ext cx="5105095" cy="585216"/>
          </a:xfrm>
          <a:prstGeom prst="rect">
            <a:avLst/>
          </a:prstGeom>
          <a:noFill/>
          <a:ln/>
        </p:spPr>
        <p:txBody>
          <a:bodyPr wrap="square" lIns="0" tIns="0" rIns="0" bIns="0" rtlCol="0" anchor="ctr"/>
          <a:lstStyle/>
          <a:p>
            <a:pPr algn="l" indent="0" marL="0">
              <a:lnSpc>
                <a:spcPct val="92000"/>
              </a:lnSpc>
              <a:buNone/>
            </a:pPr>
            <a:r>
              <a:rPr lang="es-CL" altLang="en-US" sz="1500" dirty="0">
                <a:solidFill>
                  <a:schemeClr val="tx2"/>
                </a:solidFill>
                <a:latin typeface="Figtree" pitchFamily="34" charset="0"/>
                <a:ea typeface="Figtree" pitchFamily="34" charset="-122"/>
                <a:cs typeface="Figtree" pitchFamily="34" charset="-120"/>
              </a:rPr>
              <a:t>Cinco etapas definidas; no probadas</a:t>
            </a:r>
            <a:endParaRPr lang="es-CL" sz="1500" dirty="0"/>
          </a:p>
        </p:txBody>
      </p:sp>
      <p:sp>
        <p:nvSpPr>
          <p:cNvPr id="40" name="Shape 38"/>
          <p:cNvSpPr/>
          <p:nvPr/>
        </p:nvSpPr>
        <p:spPr>
          <a:xfrm>
            <a:off x="548640" y="6172200"/>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A8</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COMPARACIÓN COMPETITIVA · INSTRUMENTO 06</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FRENTE A COMPETIDORES EN OPERACIÓN,</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todo sale debilidad.</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instrumento 06 del equipo. Los puntajes de los competidores son estimaciones del equipo; las marcadas con * operan fuera del segmento liviano y son referencia.</a:t>
            </a:r>
            <a:endParaRPr lang="es-CL" sz="1100" dirty="0"/>
          </a:p>
        </p:txBody>
      </p:sp>
      <p:graphicFrame>
        <p:nvGraphicFramePr>
          <p:cNvPr id="6" name="Chart 0" descr=""/>
          <p:cNvGraphicFramePr/>
          <p:nvPr/>
        </p:nvGraphicFramePr>
        <p:xfrm>
          <a:off x="457200" y="2670048"/>
          <a:ext cx="7680960" cy="3566160"/>
        </p:xfrm>
        <a:graphic xmlns:a="http://schemas.openxmlformats.org/drawingml/2006/main">
          <a:graphicData uri="http://schemas.openxmlformats.org/drawingml/2006/chart">
            <c:chart xmlns:c="http://schemas.openxmlformats.org/drawingml/2006/chart" r:id="rId2"/>
          </a:graphicData>
        </a:graphic>
      </p:graphicFrame>
      <p:sp>
        <p:nvSpPr>
          <p:cNvPr id="7" name="Shape 4"/>
          <p:cNvSpPr/>
          <p:nvPr/>
        </p:nvSpPr>
        <p:spPr>
          <a:xfrm>
            <a:off x="8412480" y="2578608"/>
            <a:ext cx="3230575" cy="0"/>
          </a:xfrm>
          <a:prstGeom prst="line">
            <a:avLst/>
          </a:prstGeom>
          <a:noFill/>
          <a:ln w="9525">
            <a:solidFill>
              <a:schemeClr val="accent1"/>
            </a:solidFill>
            <a:prstDash val="solid"/>
          </a:ln>
        </p:spPr>
      </p:sp>
      <p:sp>
        <p:nvSpPr>
          <p:cNvPr id="8" name="Text 5"/>
          <p:cNvSpPr txBox="1"/>
          <p:nvPr/>
        </p:nvSpPr>
        <p:spPr>
          <a:xfrm>
            <a:off x="8412480" y="2670048"/>
            <a:ext cx="3230575" cy="274320"/>
          </a:xfrm>
          <a:prstGeom prst="rect">
            <a:avLst/>
          </a:prstGeom>
          <a:noFill/>
          <a:ln/>
        </p:spPr>
        <p:txBody>
          <a:bodyPr wrap="square" lIns="0" tIns="0" rIns="0" bIns="0" rtlCol="0" anchor="t"/>
          <a:lstStyle/>
          <a:p>
            <a:pPr indent="0" marL="0">
              <a:buNone/>
            </a:pPr>
            <a:r>
              <a:rPr lang="es-CL" altLang="en-US" sz="1100" spc="100" kern="0" dirty="0">
                <a:solidFill>
                  <a:schemeClr val="accent1"/>
                </a:solidFill>
                <a:latin typeface="IBM Plex Mono" pitchFamily="34" charset="0"/>
                <a:ea typeface="IBM Plex Mono" pitchFamily="34" charset="-122"/>
                <a:cs typeface="IBM Plex Mono" pitchFamily="34" charset="-120"/>
              </a:rPr>
              <a:t>POR QUÉ TODO SALE DEBILIDAD</a:t>
            </a:r>
            <a:endParaRPr lang="es-CL" sz="1100" dirty="0"/>
          </a:p>
        </p:txBody>
      </p:sp>
      <p:sp>
        <p:nvSpPr>
          <p:cNvPr id="9" name="Text 6"/>
          <p:cNvSpPr txBox="1"/>
          <p:nvPr/>
        </p:nvSpPr>
        <p:spPr>
          <a:xfrm>
            <a:off x="8412480" y="2962656"/>
            <a:ext cx="3230575" cy="731520"/>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Se compara una empresa preoperativa con actores en operación.</a:t>
            </a:r>
            <a:endParaRPr lang="es-CL" sz="1500" dirty="0"/>
          </a:p>
        </p:txBody>
      </p:sp>
      <p:sp>
        <p:nvSpPr>
          <p:cNvPr id="10" name="Shape 7"/>
          <p:cNvSpPr/>
          <p:nvPr/>
        </p:nvSpPr>
        <p:spPr>
          <a:xfrm>
            <a:off x="8412480" y="3767328"/>
            <a:ext cx="3230575" cy="0"/>
          </a:xfrm>
          <a:prstGeom prst="line">
            <a:avLst/>
          </a:prstGeom>
          <a:noFill/>
          <a:ln w="9525">
            <a:solidFill>
              <a:schemeClr val="accent5"/>
            </a:solidFill>
            <a:prstDash val="solid"/>
          </a:ln>
        </p:spPr>
      </p:sp>
      <p:sp>
        <p:nvSpPr>
          <p:cNvPr id="11" name="Text 8"/>
          <p:cNvSpPr txBox="1"/>
          <p:nvPr/>
        </p:nvSpPr>
        <p:spPr>
          <a:xfrm>
            <a:off x="8412480" y="3858768"/>
            <a:ext cx="3230575" cy="274320"/>
          </a:xfrm>
          <a:prstGeom prst="rect">
            <a:avLst/>
          </a:prstGeom>
          <a:noFill/>
          <a:ln/>
        </p:spPr>
        <p:txBody>
          <a:bodyPr wrap="square" lIns="0" tIns="0" rIns="0" bIns="0" rtlCol="0" anchor="t"/>
          <a:lstStyle/>
          <a:p>
            <a:pPr indent="0" marL="0">
              <a:buNone/>
            </a:pPr>
            <a:r>
              <a:rPr lang="es-CL" altLang="en-US" sz="1100" spc="100" kern="0" dirty="0">
                <a:solidFill>
                  <a:schemeClr val="accent1"/>
                </a:solidFill>
                <a:latin typeface="IBM Plex Mono" pitchFamily="34" charset="0"/>
                <a:ea typeface="IBM Plex Mono" pitchFamily="34" charset="-122"/>
                <a:cs typeface="IBM Plex Mono" pitchFamily="34" charset="-120"/>
              </a:rPr>
              <a:t>EL LÍDER NO ES REAL</a:t>
            </a:r>
            <a:endParaRPr lang="es-CL" sz="1100" dirty="0"/>
          </a:p>
        </p:txBody>
      </p:sp>
      <p:sp>
        <p:nvSpPr>
          <p:cNvPr id="12" name="Text 9"/>
          <p:cNvSpPr txBox="1"/>
          <p:nvPr/>
        </p:nvSpPr>
        <p:spPr>
          <a:xfrm>
            <a:off x="8412480" y="4151376"/>
            <a:ext cx="3230575" cy="731520"/>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Es el máximo de cada área entre los competidores.</a:t>
            </a:r>
            <a:endParaRPr lang="es-CL" sz="1500" dirty="0"/>
          </a:p>
        </p:txBody>
      </p:sp>
      <p:sp>
        <p:nvSpPr>
          <p:cNvPr id="13" name="Shape 10"/>
          <p:cNvSpPr/>
          <p:nvPr/>
        </p:nvSpPr>
        <p:spPr>
          <a:xfrm>
            <a:off x="8412480" y="4956048"/>
            <a:ext cx="3230575" cy="0"/>
          </a:xfrm>
          <a:prstGeom prst="line">
            <a:avLst/>
          </a:prstGeom>
          <a:noFill/>
          <a:ln w="9525">
            <a:solidFill>
              <a:schemeClr val="accent5"/>
            </a:solidFill>
            <a:prstDash val="solid"/>
          </a:ln>
        </p:spPr>
      </p:sp>
      <p:sp>
        <p:nvSpPr>
          <p:cNvPr id="14" name="Text 11"/>
          <p:cNvSpPr txBox="1"/>
          <p:nvPr/>
        </p:nvSpPr>
        <p:spPr>
          <a:xfrm>
            <a:off x="8412480" y="5047488"/>
            <a:ext cx="3230575" cy="274320"/>
          </a:xfrm>
          <a:prstGeom prst="rect">
            <a:avLst/>
          </a:prstGeom>
          <a:noFill/>
          <a:ln/>
        </p:spPr>
        <p:txBody>
          <a:bodyPr wrap="square" lIns="0" tIns="0" rIns="0" bIns="0" rtlCol="0" anchor="t"/>
          <a:lstStyle/>
          <a:p>
            <a:pPr indent="0" marL="0">
              <a:buNone/>
            </a:pPr>
            <a:r>
              <a:rPr lang="es-CL" altLang="en-US" sz="1100" spc="100" kern="0" dirty="0">
                <a:solidFill>
                  <a:schemeClr val="accent1"/>
                </a:solidFill>
                <a:latin typeface="IBM Plex Mono" pitchFamily="34" charset="0"/>
                <a:ea typeface="IBM Plex Mono" pitchFamily="34" charset="-122"/>
                <a:cs typeface="IBM Plex Mono" pitchFamily="34" charset="-120"/>
              </a:rPr>
              <a:t>QUÉ SE USA EN EL FODA</a:t>
            </a:r>
            <a:endParaRPr lang="es-CL" sz="1100" dirty="0"/>
          </a:p>
        </p:txBody>
      </p:sp>
      <p:sp>
        <p:nvSpPr>
          <p:cNvPr id="15" name="Text 12"/>
          <p:cNvSpPr txBox="1"/>
          <p:nvPr/>
        </p:nvSpPr>
        <p:spPr>
          <a:xfrm>
            <a:off x="8412480" y="5340096"/>
            <a:ext cx="3230575" cy="731520"/>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Las fortalezas puntuales (puntaje 4 o más), no el promedio.</a:t>
            </a:r>
            <a:endParaRPr lang="es-CL" sz="15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A9</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FODA · CON SU EVIDENCIA</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FODA COMPLETO,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factor por factor.</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instrumentos 02, 03, 05 y 06 del equipo y las fuentes públicas del anexo A8.</a:t>
            </a:r>
            <a:endParaRPr lang="es-CL" sz="1100" dirty="0"/>
          </a:p>
        </p:txBody>
      </p:sp>
      <p:sp>
        <p:nvSpPr>
          <p:cNvPr id="6" name="Shape 4"/>
          <p:cNvSpPr/>
          <p:nvPr/>
        </p:nvSpPr>
        <p:spPr>
          <a:xfrm>
            <a:off x="548640" y="2395728"/>
            <a:ext cx="5432908" cy="1805940"/>
          </a:xfrm>
          <a:prstGeom prst="rect">
            <a:avLst/>
          </a:prstGeom>
          <a:solidFill>
            <a:schemeClr val="bg2"/>
          </a:solidFill>
          <a:ln w="9525">
            <a:solidFill>
              <a:schemeClr val="accent1"/>
            </a:solidFill>
            <a:prstDash val="solid"/>
          </a:ln>
        </p:spPr>
      </p:sp>
      <p:sp>
        <p:nvSpPr>
          <p:cNvPr id="7" name="Text 5"/>
          <p:cNvSpPr txBox="1"/>
          <p:nvPr/>
        </p:nvSpPr>
        <p:spPr>
          <a:xfrm>
            <a:off x="731520" y="2487168"/>
            <a:ext cx="506714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FORTALEZAS</a:t>
            </a:r>
            <a:endParaRPr lang="es-CL" sz="1200" dirty="0"/>
          </a:p>
        </p:txBody>
      </p:sp>
      <p:sp>
        <p:nvSpPr>
          <p:cNvPr id="8" name="Text 6"/>
          <p:cNvSpPr txBox="1"/>
          <p:nvPr/>
        </p:nvSpPr>
        <p:spPr>
          <a:xfrm>
            <a:off x="731520" y="2779776"/>
            <a:ext cx="5112868" cy="1348740"/>
          </a:xfrm>
          <a:prstGeom prst="rect">
            <a:avLst/>
          </a:prstGeom>
          <a:noFill/>
          <a:ln/>
        </p:spPr>
        <p:txBody>
          <a:bodyPr wrap="square" lIns="0" tIns="0" rIns="0" bIns="0" rtlCol="0" anchor="t"/>
          <a:lstStyle/>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Arquitectura en el eje trasero que conserva el motor (diseño)</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Proceso de taller en cinco etapas (definido, no probado)</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Segmento delimitado y estrategia de producto única</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Riesgos identificados con protocolo de contención</a:t>
            </a:r>
            <a:endParaRPr lang="es-CL" sz="1400" dirty="0"/>
          </a:p>
        </p:txBody>
      </p:sp>
      <p:sp>
        <p:nvSpPr>
          <p:cNvPr id="9" name="Shape 7"/>
          <p:cNvSpPr/>
          <p:nvPr/>
        </p:nvSpPr>
        <p:spPr>
          <a:xfrm>
            <a:off x="6210148" y="2395728"/>
            <a:ext cx="5432908" cy="1805940"/>
          </a:xfrm>
          <a:prstGeom prst="rect">
            <a:avLst/>
          </a:prstGeom>
          <a:solidFill>
            <a:schemeClr val="bg2"/>
          </a:solidFill>
          <a:ln w="9525">
            <a:solidFill>
              <a:schemeClr val="tx2"/>
            </a:solidFill>
            <a:prstDash val="solid"/>
          </a:ln>
        </p:spPr>
      </p:sp>
      <p:sp>
        <p:nvSpPr>
          <p:cNvPr id="10" name="Text 8"/>
          <p:cNvSpPr txBox="1"/>
          <p:nvPr/>
        </p:nvSpPr>
        <p:spPr>
          <a:xfrm>
            <a:off x="6393028" y="2487168"/>
            <a:ext cx="506714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DEBILIDADES</a:t>
            </a:r>
            <a:endParaRPr lang="es-CL" sz="1200" dirty="0"/>
          </a:p>
        </p:txBody>
      </p:sp>
      <p:sp>
        <p:nvSpPr>
          <p:cNvPr id="11" name="Text 9"/>
          <p:cNvSpPr txBox="1"/>
          <p:nvPr/>
        </p:nvSpPr>
        <p:spPr>
          <a:xfrm>
            <a:off x="6393028" y="2779776"/>
            <a:ext cx="5112868" cy="1348740"/>
          </a:xfrm>
          <a:prstGeom prst="rect">
            <a:avLst/>
          </a:prstGeom>
          <a:noFill/>
          <a:ln/>
        </p:spPr>
        <p:txBody>
          <a:bodyPr wrap="square" lIns="0" tIns="0" rIns="0" bIns="0" rtlCol="0" anchor="t"/>
          <a:lstStyle/>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Sin ensayo ni homologación; biblioteca de calibraciones vacía</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Técnicos escasos y sin esquema de retención</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Patrimonio reducido; inventario en dólares sin cobertura</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Marca sin casos; validación cualitativa con n = 3</a:t>
            </a:r>
            <a:endParaRPr lang="es-CL" sz="1400" dirty="0"/>
          </a:p>
        </p:txBody>
      </p:sp>
      <p:sp>
        <p:nvSpPr>
          <p:cNvPr id="12" name="Shape 10"/>
          <p:cNvSpPr/>
          <p:nvPr/>
        </p:nvSpPr>
        <p:spPr>
          <a:xfrm>
            <a:off x="548640" y="4430268"/>
            <a:ext cx="5432908" cy="1805940"/>
          </a:xfrm>
          <a:prstGeom prst="rect">
            <a:avLst/>
          </a:prstGeom>
          <a:solidFill>
            <a:schemeClr val="bg2"/>
          </a:solidFill>
          <a:ln w="9525">
            <a:solidFill>
              <a:schemeClr val="accent1"/>
            </a:solidFill>
            <a:prstDash val="solid"/>
          </a:ln>
        </p:spPr>
      </p:sp>
      <p:sp>
        <p:nvSpPr>
          <p:cNvPr id="13" name="Text 11"/>
          <p:cNvSpPr txBox="1"/>
          <p:nvPr/>
        </p:nvSpPr>
        <p:spPr>
          <a:xfrm>
            <a:off x="731520" y="4521708"/>
            <a:ext cx="506714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OPORTUNIDADES</a:t>
            </a:r>
            <a:endParaRPr lang="es-CL" sz="1200" dirty="0"/>
          </a:p>
        </p:txBody>
      </p:sp>
      <p:sp>
        <p:nvSpPr>
          <p:cNvPr id="14" name="Text 12"/>
          <p:cNvSpPr txBox="1"/>
          <p:nvPr/>
        </p:nvSpPr>
        <p:spPr>
          <a:xfrm>
            <a:off x="731520" y="4814316"/>
            <a:ext cx="5112868" cy="1348740"/>
          </a:xfrm>
          <a:prstGeom prst="rect">
            <a:avLst/>
          </a:prstGeom>
          <a:noFill/>
          <a:ln/>
        </p:spPr>
        <p:txBody>
          <a:bodyPr wrap="square" lIns="0" tIns="0" rIns="0" bIns="0" rtlCol="0" anchor="t"/>
          <a:lstStyle/>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3,5 usados transferidos por cada nuevo (CAVEM, ene-ago 2026)</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Bencina 93 en la RM de $1.169 a $1.539 (CNE, marzo de 2026)</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Baterías LFP a US$81/kWh (BloombergNEF, 2025)</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Ocupación informal en transporte +8,6% en 12 meses (INE)</a:t>
            </a:r>
            <a:endParaRPr lang="es-CL" sz="1400" dirty="0"/>
          </a:p>
        </p:txBody>
      </p:sp>
      <p:sp>
        <p:nvSpPr>
          <p:cNvPr id="15" name="Shape 13"/>
          <p:cNvSpPr/>
          <p:nvPr/>
        </p:nvSpPr>
        <p:spPr>
          <a:xfrm>
            <a:off x="6210148" y="4430268"/>
            <a:ext cx="5432908" cy="1805940"/>
          </a:xfrm>
          <a:prstGeom prst="rect">
            <a:avLst/>
          </a:prstGeom>
          <a:solidFill>
            <a:schemeClr val="bg2"/>
          </a:solidFill>
          <a:ln w="9525">
            <a:solidFill>
              <a:schemeClr val="tx2"/>
            </a:solidFill>
            <a:prstDash val="solid"/>
          </a:ln>
        </p:spPr>
      </p:sp>
      <p:sp>
        <p:nvSpPr>
          <p:cNvPr id="16" name="Text 14"/>
          <p:cNvSpPr txBox="1"/>
          <p:nvPr/>
        </p:nvSpPr>
        <p:spPr>
          <a:xfrm>
            <a:off x="6393028" y="4521708"/>
            <a:ext cx="506714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AMENAZAS</a:t>
            </a:r>
            <a:endParaRPr lang="es-CL" sz="1200" dirty="0"/>
          </a:p>
        </p:txBody>
      </p:sp>
      <p:sp>
        <p:nvSpPr>
          <p:cNvPr id="17" name="Text 15"/>
          <p:cNvSpPr txBox="1"/>
          <p:nvPr/>
        </p:nvSpPr>
        <p:spPr>
          <a:xfrm>
            <a:off x="6393028" y="4814316"/>
            <a:ext cx="5112868" cy="1348740"/>
          </a:xfrm>
          <a:prstGeom prst="rect">
            <a:avLst/>
          </a:prstGeom>
          <a:noFill/>
          <a:ln/>
        </p:spPr>
        <p:txBody>
          <a:bodyPr wrap="square" lIns="0" tIns="0" rIns="0" bIns="0" rtlCol="0" anchor="t"/>
          <a:lstStyle/>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Ley N° 21.793 sin reglamento; borrador de 2021 sin vía</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Dólar observado sobre $970 con kit importado (Banco Central)</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PIB 2026 de 0,25% a 0,75%; desempleo 9,6% (BCCh, INE)</a:t>
            </a:r>
            <a:endParaRPr lang="es-CL" sz="1400" dirty="0"/>
          </a:p>
          <a:p>
            <a:pPr marL="342900" indent="-342900">
              <a:spcAft>
                <a:spcPts val="300"/>
              </a:spcAft>
              <a:buSzPct val="100000"/>
              <a:buChar char="•"/>
            </a:pPr>
            <a:r>
              <a:rPr lang="es-CL" altLang="en-US" sz="1400" dirty="0">
                <a:solidFill>
                  <a:schemeClr val="tx1"/>
                </a:solidFill>
                <a:latin typeface="Figtree" pitchFamily="34" charset="0"/>
                <a:ea typeface="Figtree" pitchFamily="34" charset="-122"/>
                <a:cs typeface="Figtree" pitchFamily="34" charset="-120"/>
              </a:rPr>
              <a:t>Posponer la inversión; aseguradoras excluyen modificados</a:t>
            </a:r>
            <a:endParaRPr lang="es-CL" sz="14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A10</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DECLARACIONES · TEXTOS LITERALES</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MISIÓN, VISIÓN Y VALORES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completos.</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declaraciones estratégicas del proyecto (presentación «Análisis estratégico», octubre de 2026).</a:t>
            </a:r>
            <a:endParaRPr lang="es-CL" sz="1100" dirty="0"/>
          </a:p>
        </p:txBody>
      </p:sp>
      <p:sp>
        <p:nvSpPr>
          <p:cNvPr id="6" name="Text 4"/>
          <p:cNvSpPr txBox="1"/>
          <p:nvPr/>
        </p:nvSpPr>
        <p:spPr>
          <a:xfrm>
            <a:off x="548640" y="2395728"/>
            <a:ext cx="11094415" cy="868680"/>
          </a:xfrm>
          <a:prstGeom prst="rect">
            <a:avLst/>
          </a:prstGeom>
          <a:noFill/>
          <a:ln/>
        </p:spPr>
        <p:txBody>
          <a:bodyPr wrap="square" lIns="0" tIns="0" rIns="0" bIns="0" rtlCol="0" anchor="t"/>
          <a:lstStyle/>
          <a:p>
            <a:pPr indent="0" marL="0">
              <a:buNone/>
            </a:pPr>
            <a:r>
              <a:rPr lang="es-CL" altLang="en-US" sz="1200" dirty="0">
                <a:solidFill>
                  <a:schemeClr val="accent1"/>
                </a:solidFill>
                <a:latin typeface="IBM Plex Mono" pitchFamily="34" charset="0"/>
                <a:ea typeface="IBM Plex Mono" pitchFamily="34" charset="-122"/>
                <a:cs typeface="IBM Plex Mono" pitchFamily="34" charset="-120"/>
              </a:rPr>
              <a:t>MISIÓN  </a:t>
            </a:r>
            <a:pPr indent="0" marL="0">
              <a:buNone/>
            </a:pPr>
            <a:r>
              <a:rPr lang="es-CL" altLang="en-US" sz="1600" dirty="0">
                <a:solidFill>
                  <a:schemeClr val="tx1"/>
                </a:solidFill>
                <a:latin typeface="Figtree" pitchFamily="34" charset="0"/>
                <a:ea typeface="Figtree" pitchFamily="34" charset="-122"/>
                <a:cs typeface="Figtree" pitchFamily="34" charset="-120"/>
              </a:rPr>
              <a:t>«Reducir el combustible que un vehículo liviano a combustión necesita por kilómetro, mediante la instalación certificada de un sistema de hibridación aditiva sobre el automóvil que el cliente ya tiene, sin reemplazarlo y sin intervenir su motor.»</a:t>
            </a:r>
            <a:endParaRPr lang="es-CL" sz="1600" dirty="0"/>
          </a:p>
        </p:txBody>
      </p:sp>
      <p:sp>
        <p:nvSpPr>
          <p:cNvPr id="7" name="Text 5"/>
          <p:cNvSpPr txBox="1"/>
          <p:nvPr/>
        </p:nvSpPr>
        <p:spPr>
          <a:xfrm>
            <a:off x="548640" y="3310128"/>
            <a:ext cx="11094415" cy="685800"/>
          </a:xfrm>
          <a:prstGeom prst="rect">
            <a:avLst/>
          </a:prstGeom>
          <a:noFill/>
          <a:ln/>
        </p:spPr>
        <p:txBody>
          <a:bodyPr wrap="square" lIns="0" tIns="0" rIns="0" bIns="0" rtlCol="0" anchor="t"/>
          <a:lstStyle/>
          <a:p>
            <a:pPr indent="0" marL="0">
              <a:buNone/>
            </a:pPr>
            <a:r>
              <a:rPr lang="es-CL" altLang="en-US" sz="1200" dirty="0">
                <a:solidFill>
                  <a:schemeClr val="accent1"/>
                </a:solidFill>
                <a:latin typeface="IBM Plex Mono" pitchFamily="34" charset="0"/>
                <a:ea typeface="IBM Plex Mono" pitchFamily="34" charset="-122"/>
                <a:cs typeface="IBM Plex Mono" pitchFamily="34" charset="-120"/>
              </a:rPr>
              <a:t>VISIÓN  </a:t>
            </a:r>
            <a:pPr indent="0" marL="0">
              <a:buNone/>
            </a:pPr>
            <a:r>
              <a:rPr lang="es-CL" altLang="en-US" sz="1600" dirty="0">
                <a:solidFill>
                  <a:schemeClr val="tx1"/>
                </a:solidFill>
                <a:latin typeface="Figtree" pitchFamily="34" charset="0"/>
                <a:ea typeface="Figtree" pitchFamily="34" charset="-122"/>
                <a:cs typeface="Figtree" pitchFamily="34" charset="-120"/>
              </a:rPr>
              <a:t>«Ser hacia 2031 el taller de referencia en hibridación de vehículos en uso en Chile, con un procedimiento reconocido por la autoridad, las plantas de revisión técnica y las compañías de seguros.»</a:t>
            </a:r>
            <a:endParaRPr lang="es-CL" sz="1600" dirty="0"/>
          </a:p>
        </p:txBody>
      </p:sp>
      <p:sp>
        <p:nvSpPr>
          <p:cNvPr id="8" name="Shape 6"/>
          <p:cNvSpPr/>
          <p:nvPr/>
        </p:nvSpPr>
        <p:spPr>
          <a:xfrm>
            <a:off x="548640" y="4133088"/>
            <a:ext cx="5364328" cy="0"/>
          </a:xfrm>
          <a:prstGeom prst="line">
            <a:avLst/>
          </a:prstGeom>
          <a:noFill/>
          <a:ln w="9525">
            <a:solidFill>
              <a:schemeClr val="accent1"/>
            </a:solidFill>
            <a:prstDash val="solid"/>
          </a:ln>
        </p:spPr>
      </p:sp>
      <p:sp>
        <p:nvSpPr>
          <p:cNvPr id="9" name="Text 7"/>
          <p:cNvSpPr txBox="1"/>
          <p:nvPr/>
        </p:nvSpPr>
        <p:spPr>
          <a:xfrm>
            <a:off x="548640" y="4206240"/>
            <a:ext cx="5364328"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VALORES ORGANIZACIONALES</a:t>
            </a:r>
            <a:endParaRPr lang="es-CL" sz="1200" dirty="0"/>
          </a:p>
        </p:txBody>
      </p:sp>
      <p:sp>
        <p:nvSpPr>
          <p:cNvPr id="10" name="Text 8"/>
          <p:cNvSpPr txBox="1"/>
          <p:nvPr/>
        </p:nvSpPr>
        <p:spPr>
          <a:xfrm>
            <a:off x="548640" y="4544568"/>
            <a:ext cx="5364328" cy="1828800"/>
          </a:xfrm>
          <a:prstGeom prst="rect">
            <a:avLst/>
          </a:prstGeom>
          <a:noFill/>
          <a:ln/>
        </p:spPr>
        <p:txBody>
          <a:bodyPr wrap="square" lIns="0" tIns="0" rIns="0" bIns="0" rtlCol="0" anchor="t"/>
          <a:lstStyle/>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Verificabilidad antes que afirmación</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Formalidad como condición de operación</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Trazabilidad del conocimiento técnico</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Responsabilidad sobre el ciclo completo del componente</a:t>
            </a:r>
            <a:endParaRPr lang="es-CL" sz="1600" dirty="0"/>
          </a:p>
        </p:txBody>
      </p:sp>
      <p:sp>
        <p:nvSpPr>
          <p:cNvPr id="11" name="Shape 9"/>
          <p:cNvSpPr/>
          <p:nvPr/>
        </p:nvSpPr>
        <p:spPr>
          <a:xfrm>
            <a:off x="6278728" y="4133088"/>
            <a:ext cx="5364328" cy="0"/>
          </a:xfrm>
          <a:prstGeom prst="line">
            <a:avLst/>
          </a:prstGeom>
          <a:noFill/>
          <a:ln w="9525">
            <a:solidFill>
              <a:schemeClr val="accent1"/>
            </a:solidFill>
            <a:prstDash val="solid"/>
          </a:ln>
        </p:spPr>
      </p:sp>
      <p:sp>
        <p:nvSpPr>
          <p:cNvPr id="12" name="Text 10"/>
          <p:cNvSpPr txBox="1"/>
          <p:nvPr/>
        </p:nvSpPr>
        <p:spPr>
          <a:xfrm>
            <a:off x="6278728" y="4206240"/>
            <a:ext cx="5364328"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VALORES HUMANOS</a:t>
            </a:r>
            <a:endParaRPr lang="es-CL" sz="1200" dirty="0"/>
          </a:p>
        </p:txBody>
      </p:sp>
      <p:sp>
        <p:nvSpPr>
          <p:cNvPr id="13" name="Text 11"/>
          <p:cNvSpPr txBox="1"/>
          <p:nvPr/>
        </p:nvSpPr>
        <p:spPr>
          <a:xfrm>
            <a:off x="6278728" y="4544568"/>
            <a:ext cx="5364328" cy="1828800"/>
          </a:xfrm>
          <a:prstGeom prst="rect">
            <a:avLst/>
          </a:prstGeom>
          <a:noFill/>
          <a:ln/>
        </p:spPr>
        <p:txBody>
          <a:bodyPr wrap="square" lIns="0" tIns="0" rIns="0" bIns="0" rtlCol="0" anchor="t"/>
          <a:lstStyle/>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Honestidad técnica en el diagnóstico</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Seguridad de quien instala y de quien conduce</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Responsabilidad individual sobre la instalación ejecutada</a:t>
            </a:r>
            <a:endParaRPr lang="es-CL" sz="1600" dirty="0"/>
          </a:p>
          <a:p>
            <a:pPr marL="342900" indent="-342900">
              <a:spcAft>
                <a:spcPts val="300"/>
              </a:spcAft>
              <a:buSzPct val="100000"/>
              <a:buChar char="•"/>
            </a:pPr>
            <a:r>
              <a:rPr lang="es-CL" altLang="en-US" sz="1600" dirty="0">
                <a:solidFill>
                  <a:schemeClr val="tx1"/>
                </a:solidFill>
                <a:latin typeface="Figtree" pitchFamily="34" charset="0"/>
                <a:ea typeface="Figtree" pitchFamily="34" charset="-122"/>
                <a:cs typeface="Figtree" pitchFamily="34" charset="-120"/>
              </a:rPr>
              <a:t>Reconocimiento del oficio técnico</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A11</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FUENTES PÚBLICAS · APA</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DE DÓNDE SALE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cada cifra pública.</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Verificación realizada el 22-10-2026. Las cifras de los instrumentos que no tienen fuente pública identificable no se usan en las láminas.</a:t>
            </a:r>
            <a:endParaRPr lang="es-CL" sz="1100" dirty="0"/>
          </a:p>
        </p:txBody>
      </p:sp>
      <p:sp>
        <p:nvSpPr>
          <p:cNvPr id="6" name="Text 4"/>
          <p:cNvSpPr txBox="1"/>
          <p:nvPr/>
        </p:nvSpPr>
        <p:spPr>
          <a:xfrm>
            <a:off x="548640" y="2350008"/>
            <a:ext cx="11094415" cy="3291840"/>
          </a:xfrm>
          <a:prstGeom prst="rect">
            <a:avLst/>
          </a:prstGeom>
          <a:noFill/>
          <a:ln/>
        </p:spPr>
        <p:txBody>
          <a:bodyPr wrap="square" lIns="0" tIns="0" rIns="0" bIns="0" rtlCol="0" anchor="t"/>
          <a:lstStyle/>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Banco Central de Chile. (2026, 9 de septiembre). Informe de Política Monetaria, septiembre 2026. https://www.bcentral.cl</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Banco Central de Chile. (2026). Dólar observado, serie diaria (30-09-2026: $970,46). Base de Datos Estadísticos.</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BloombergNEF. (2025, 9 de diciembre). Lithium-ion battery pack prices fall to $108 per kilowatt-hour. https://about.bnef.com</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Cámara de Comercio Automotriz de Chile [CAVEM]. (2026). Informe del mercado automotor, enero a agosto de 2026 (citado en Redimin).</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Comisión Nacional de Energía [CNE]. (2026). Bencina en Línea. Citado en «Combustibles se disparan…», Emol, 24 de marzo de 2026.</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Instituto Nacional de Estadísticas [INE]. (2026, 30 de septiembre). Boletín estadístico: empleo trimestral, n.º 335 (junio-agosto 2026).</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Ley N° 21.793. (2026, 14 de enero). Diario Oficial de la República de Chile.</a:t>
            </a:r>
            <a:endParaRPr lang="es-CL" sz="1400" dirty="0"/>
          </a:p>
          <a:p>
            <a:pPr indent="0" marL="0">
              <a:lnSpc>
                <a:spcPct val="98000"/>
              </a:lnSpc>
              <a:spcAft>
                <a:spcPts val="600"/>
              </a:spcAft>
              <a:buNone/>
            </a:pPr>
            <a:r>
              <a:rPr lang="es-CL" altLang="en-US" sz="1400" dirty="0">
                <a:solidFill>
                  <a:schemeClr val="tx1"/>
                </a:solidFill>
                <a:latin typeface="Figtree" pitchFamily="34" charset="0"/>
                <a:ea typeface="Figtree" pitchFamily="34" charset="-122"/>
                <a:cs typeface="Figtree" pitchFamily="34" charset="-120"/>
              </a:rPr>
              <a:t>Precios de referencia del kit (con IVA): informe de la Fase 3 del equipo, Integrador II (octubre de 2026), por validar.</a:t>
            </a:r>
            <a:endParaRPr lang="es-CL" sz="1400" dirty="0"/>
          </a:p>
        </p:txBody>
      </p:sp>
      <p:sp>
        <p:nvSpPr>
          <p:cNvPr id="7" name="Shape 5"/>
          <p:cNvSpPr/>
          <p:nvPr/>
        </p:nvSpPr>
        <p:spPr>
          <a:xfrm>
            <a:off x="548640" y="5852160"/>
            <a:ext cx="7260336" cy="329184"/>
          </a:xfrm>
          <a:prstGeom prst="rect">
            <a:avLst/>
          </a:prstGeom>
          <a:solidFill>
            <a:schemeClr val="bg1">
              <a:alpha val="0"/>
            </a:schemeClr>
          </a:solidFill>
          <a:ln w="12700">
            <a:solidFill>
              <a:schemeClr val="tx1"/>
            </a:solidFill>
            <a:prstDash val="dash"/>
          </a:ln>
        </p:spPr>
      </p:sp>
      <p:sp>
        <p:nvSpPr>
          <p:cNvPr id="8" name="Text 6"/>
          <p:cNvSpPr txBox="1"/>
          <p:nvPr/>
        </p:nvSpPr>
        <p:spPr>
          <a:xfrm>
            <a:off x="658368" y="5852160"/>
            <a:ext cx="7040880" cy="329184"/>
          </a:xfrm>
          <a:prstGeom prst="rect">
            <a:avLst/>
          </a:prstGeom>
          <a:noFill/>
          <a:ln/>
        </p:spPr>
        <p:txBody>
          <a:bodyPr wrap="square" lIns="0" tIns="0" rIns="0" bIns="0" rtlCol="0" anchor="ctr"/>
          <a:lstStyle/>
          <a:p>
            <a:pPr algn="ctr" indent="0" marL="0">
              <a:buNone/>
            </a:pPr>
            <a:r>
              <a:rPr lang="es-CL" altLang="en-US" sz="1100" spc="100" kern="0" dirty="0">
                <a:solidFill>
                  <a:schemeClr val="tx1"/>
                </a:solidFill>
                <a:latin typeface="IBM Plex Mono" pitchFamily="34" charset="0"/>
                <a:ea typeface="IBM Plex Mono" pitchFamily="34" charset="-122"/>
                <a:cs typeface="IBM Plex Mono" pitchFamily="34" charset="-120"/>
              </a:rPr>
              <a:t>NO SE USA: «EMPLEO EN TRANSPORTE +9,7%» · SIN FUENTE CHILENA VERIFICABLE</a:t>
            </a:r>
            <a:endParaRPr lang="es-CL" sz="11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A12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ANEXO · TRANSPARENCIA · NATURALEZA DE CADA AFIRMACIÓN</a:t>
            </a:r>
            <a:endParaRPr lang="en-US" sz="12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DATO, INSTRUMENTO, ESTIMACIÓN</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o por confirmar.</a:t>
            </a:r>
            <a:endParaRPr lang="en-US" sz="3400" dirty="0"/>
          </a:p>
        </p:txBody>
      </p:sp>
      <p:sp>
        <p:nvSpPr>
          <p:cNvPr id="5" name="Text 3"/>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a:t>
            </a:r>
            <a:endParaRPr lang="es-CL" sz="1100" dirty="0"/>
          </a:p>
        </p:txBody>
      </p:sp>
      <p:sp>
        <p:nvSpPr>
          <p:cNvPr id="6" name="Shape 4"/>
          <p:cNvSpPr/>
          <p:nvPr/>
        </p:nvSpPr>
        <p:spPr>
          <a:xfrm>
            <a:off x="548640" y="2395728"/>
            <a:ext cx="2602154" cy="3785616"/>
          </a:xfrm>
          <a:prstGeom prst="rect">
            <a:avLst/>
          </a:prstGeom>
          <a:solidFill>
            <a:schemeClr val="bg2"/>
          </a:solidFill>
          <a:ln w="15875">
            <a:solidFill>
              <a:schemeClr val="accent1"/>
            </a:solidFill>
            <a:prstDash val="solid"/>
          </a:ln>
        </p:spPr>
      </p:sp>
      <p:sp>
        <p:nvSpPr>
          <p:cNvPr id="7" name="Text 5"/>
          <p:cNvSpPr txBox="1"/>
          <p:nvPr/>
        </p:nvSpPr>
        <p:spPr>
          <a:xfrm>
            <a:off x="731520" y="2578608"/>
            <a:ext cx="2236394" cy="457200"/>
          </a:xfrm>
          <a:prstGeom prst="rect">
            <a:avLst/>
          </a:prstGeom>
          <a:noFill/>
          <a:ln/>
        </p:spPr>
        <p:txBody>
          <a:bodyPr wrap="square" lIns="0" tIns="0" rIns="0" bIns="0" rtlCol="0" anchor="t"/>
          <a:lstStyle/>
          <a:p>
            <a:pPr indent="0" marL="0">
              <a:buNone/>
            </a:pPr>
            <a:r>
              <a:rPr lang="es-CL" altLang="en-US" sz="1200" b="1" spc="100" kern="0" dirty="0">
                <a:solidFill>
                  <a:schemeClr val="accent1"/>
                </a:solidFill>
                <a:latin typeface="IBM Plex Mono" pitchFamily="34" charset="0"/>
                <a:ea typeface="IBM Plex Mono" pitchFamily="34" charset="-122"/>
                <a:cs typeface="IBM Plex Mono" pitchFamily="34" charset="-120"/>
              </a:rPr>
              <a:t>DATO PÚBLICO</a:t>
            </a:r>
            <a:endParaRPr lang="es-CL" sz="1200" dirty="0"/>
          </a:p>
        </p:txBody>
      </p:sp>
      <p:sp>
        <p:nvSpPr>
          <p:cNvPr id="8" name="Shape 6"/>
          <p:cNvSpPr/>
          <p:nvPr/>
        </p:nvSpPr>
        <p:spPr>
          <a:xfrm>
            <a:off x="731520" y="3172968"/>
            <a:ext cx="2236394" cy="0"/>
          </a:xfrm>
          <a:prstGeom prst="line">
            <a:avLst/>
          </a:prstGeom>
          <a:noFill/>
          <a:ln w="9525">
            <a:solidFill>
              <a:schemeClr val="accent5"/>
            </a:solidFill>
            <a:prstDash val="solid"/>
          </a:ln>
        </p:spPr>
      </p:sp>
      <p:sp>
        <p:nvSpPr>
          <p:cNvPr id="9" name="Text 7"/>
          <p:cNvSpPr txBox="1"/>
          <p:nvPr/>
        </p:nvSpPr>
        <p:spPr>
          <a:xfrm>
            <a:off x="731520" y="321868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Usados por cada nuevo</a:t>
            </a:r>
            <a:endParaRPr lang="es-CL" sz="1600" dirty="0"/>
          </a:p>
        </p:txBody>
      </p:sp>
      <p:sp>
        <p:nvSpPr>
          <p:cNvPr id="10" name="Shape 8"/>
          <p:cNvSpPr/>
          <p:nvPr/>
        </p:nvSpPr>
        <p:spPr>
          <a:xfrm>
            <a:off x="731520" y="3904488"/>
            <a:ext cx="2236394" cy="0"/>
          </a:xfrm>
          <a:prstGeom prst="line">
            <a:avLst/>
          </a:prstGeom>
          <a:noFill/>
          <a:ln w="9525">
            <a:solidFill>
              <a:schemeClr val="accent5"/>
            </a:solidFill>
            <a:prstDash val="solid"/>
          </a:ln>
        </p:spPr>
      </p:sp>
      <p:sp>
        <p:nvSpPr>
          <p:cNvPr id="11" name="Text 9"/>
          <p:cNvSpPr txBox="1"/>
          <p:nvPr/>
        </p:nvSpPr>
        <p:spPr>
          <a:xfrm>
            <a:off x="731520" y="395020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Precio de la bencina</a:t>
            </a:r>
            <a:endParaRPr lang="es-CL" sz="1600" dirty="0"/>
          </a:p>
        </p:txBody>
      </p:sp>
      <p:sp>
        <p:nvSpPr>
          <p:cNvPr id="12" name="Shape 10"/>
          <p:cNvSpPr/>
          <p:nvPr/>
        </p:nvSpPr>
        <p:spPr>
          <a:xfrm>
            <a:off x="731520" y="4636008"/>
            <a:ext cx="2236394" cy="0"/>
          </a:xfrm>
          <a:prstGeom prst="line">
            <a:avLst/>
          </a:prstGeom>
          <a:noFill/>
          <a:ln w="9525">
            <a:solidFill>
              <a:schemeClr val="accent5"/>
            </a:solidFill>
            <a:prstDash val="solid"/>
          </a:ln>
        </p:spPr>
      </p:sp>
      <p:sp>
        <p:nvSpPr>
          <p:cNvPr id="13" name="Text 11"/>
          <p:cNvSpPr txBox="1"/>
          <p:nvPr/>
        </p:nvSpPr>
        <p:spPr>
          <a:xfrm>
            <a:off x="731520" y="468172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Dólar, PIB y desempleo</a:t>
            </a:r>
            <a:endParaRPr lang="es-CL" sz="1600" dirty="0"/>
          </a:p>
        </p:txBody>
      </p:sp>
      <p:sp>
        <p:nvSpPr>
          <p:cNvPr id="14" name="Shape 12"/>
          <p:cNvSpPr/>
          <p:nvPr/>
        </p:nvSpPr>
        <p:spPr>
          <a:xfrm>
            <a:off x="731520" y="5367528"/>
            <a:ext cx="2236394" cy="0"/>
          </a:xfrm>
          <a:prstGeom prst="line">
            <a:avLst/>
          </a:prstGeom>
          <a:noFill/>
          <a:ln w="9525">
            <a:solidFill>
              <a:schemeClr val="accent5"/>
            </a:solidFill>
            <a:prstDash val="solid"/>
          </a:ln>
        </p:spPr>
      </p:sp>
      <p:sp>
        <p:nvSpPr>
          <p:cNvPr id="15" name="Text 13"/>
          <p:cNvSpPr txBox="1"/>
          <p:nvPr/>
        </p:nvSpPr>
        <p:spPr>
          <a:xfrm>
            <a:off x="731520" y="541324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Ley N° 21.793 sin reglamento</a:t>
            </a:r>
            <a:endParaRPr lang="es-CL" sz="1600" dirty="0"/>
          </a:p>
        </p:txBody>
      </p:sp>
      <p:sp>
        <p:nvSpPr>
          <p:cNvPr id="16" name="Shape 14"/>
          <p:cNvSpPr/>
          <p:nvPr/>
        </p:nvSpPr>
        <p:spPr>
          <a:xfrm>
            <a:off x="3379394" y="2395728"/>
            <a:ext cx="2602154" cy="3785616"/>
          </a:xfrm>
          <a:prstGeom prst="rect">
            <a:avLst/>
          </a:prstGeom>
          <a:solidFill>
            <a:schemeClr val="bg2"/>
          </a:solidFill>
          <a:ln w="12700">
            <a:solidFill>
              <a:schemeClr val="tx1"/>
            </a:solidFill>
            <a:prstDash val="sysDot"/>
          </a:ln>
        </p:spPr>
      </p:sp>
      <p:sp>
        <p:nvSpPr>
          <p:cNvPr id="17" name="Text 15"/>
          <p:cNvSpPr txBox="1"/>
          <p:nvPr/>
        </p:nvSpPr>
        <p:spPr>
          <a:xfrm>
            <a:off x="3562274" y="2578608"/>
            <a:ext cx="2236394" cy="457200"/>
          </a:xfrm>
          <a:prstGeom prst="rect">
            <a:avLst/>
          </a:prstGeom>
          <a:noFill/>
          <a:ln/>
        </p:spPr>
        <p:txBody>
          <a:bodyPr wrap="square" lIns="0" tIns="0" rIns="0" bIns="0" rtlCol="0" anchor="t"/>
          <a:lstStyle/>
          <a:p>
            <a:pPr indent="0" marL="0">
              <a:buNone/>
            </a:pPr>
            <a:r>
              <a:rPr lang="es-CL" altLang="en-US" sz="1200" b="1" spc="100" kern="0" dirty="0">
                <a:solidFill>
                  <a:schemeClr val="tx1"/>
                </a:solidFill>
                <a:latin typeface="IBM Plex Mono" pitchFamily="34" charset="0"/>
                <a:ea typeface="IBM Plex Mono" pitchFamily="34" charset="-122"/>
                <a:cs typeface="IBM Plex Mono" pitchFamily="34" charset="-120"/>
              </a:rPr>
              <a:t>INSTRUMENTO DEL EQUIPO</a:t>
            </a:r>
            <a:endParaRPr lang="es-CL" sz="1200" dirty="0"/>
          </a:p>
        </p:txBody>
      </p:sp>
      <p:sp>
        <p:nvSpPr>
          <p:cNvPr id="18" name="Shape 16"/>
          <p:cNvSpPr/>
          <p:nvPr/>
        </p:nvSpPr>
        <p:spPr>
          <a:xfrm>
            <a:off x="3562274" y="3172968"/>
            <a:ext cx="2236394" cy="0"/>
          </a:xfrm>
          <a:prstGeom prst="line">
            <a:avLst/>
          </a:prstGeom>
          <a:noFill/>
          <a:ln w="9525">
            <a:solidFill>
              <a:schemeClr val="accent5"/>
            </a:solidFill>
            <a:prstDash val="solid"/>
          </a:ln>
        </p:spPr>
      </p:sp>
      <p:sp>
        <p:nvSpPr>
          <p:cNvPr id="19" name="Text 17"/>
          <p:cNvSpPr txBox="1"/>
          <p:nvPr/>
        </p:nvSpPr>
        <p:spPr>
          <a:xfrm>
            <a:off x="3562274" y="321868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PEST 2,82 y Porter 3,49</a:t>
            </a:r>
            <a:endParaRPr lang="es-CL" sz="1600" dirty="0"/>
          </a:p>
        </p:txBody>
      </p:sp>
      <p:sp>
        <p:nvSpPr>
          <p:cNvPr id="20" name="Shape 18"/>
          <p:cNvSpPr/>
          <p:nvPr/>
        </p:nvSpPr>
        <p:spPr>
          <a:xfrm>
            <a:off x="3562274" y="3904488"/>
            <a:ext cx="2236394" cy="0"/>
          </a:xfrm>
          <a:prstGeom prst="line">
            <a:avLst/>
          </a:prstGeom>
          <a:noFill/>
          <a:ln w="9525">
            <a:solidFill>
              <a:schemeClr val="accent5"/>
            </a:solidFill>
            <a:prstDash val="solid"/>
          </a:ln>
        </p:spPr>
      </p:sp>
      <p:sp>
        <p:nvSpPr>
          <p:cNvPr id="21" name="Text 19"/>
          <p:cNvSpPr txBox="1"/>
          <p:nvPr/>
        </p:nvSpPr>
        <p:spPr>
          <a:xfrm>
            <a:off x="3562274" y="395020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VRIO 2 de 15 y FCE</a:t>
            </a:r>
            <a:endParaRPr lang="es-CL" sz="1600" dirty="0"/>
          </a:p>
        </p:txBody>
      </p:sp>
      <p:sp>
        <p:nvSpPr>
          <p:cNvPr id="22" name="Shape 20"/>
          <p:cNvSpPr/>
          <p:nvPr/>
        </p:nvSpPr>
        <p:spPr>
          <a:xfrm>
            <a:off x="3562274" y="4636008"/>
            <a:ext cx="2236394" cy="0"/>
          </a:xfrm>
          <a:prstGeom prst="line">
            <a:avLst/>
          </a:prstGeom>
          <a:noFill/>
          <a:ln w="9525">
            <a:solidFill>
              <a:schemeClr val="accent5"/>
            </a:solidFill>
            <a:prstDash val="solid"/>
          </a:ln>
        </p:spPr>
      </p:sp>
      <p:sp>
        <p:nvSpPr>
          <p:cNvPr id="23" name="Text 21"/>
          <p:cNvSpPr txBox="1"/>
          <p:nvPr/>
        </p:nvSpPr>
        <p:spPr>
          <a:xfrm>
            <a:off x="3562274" y="468172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Escenarios E1 a E4</a:t>
            </a:r>
            <a:endParaRPr lang="es-CL" sz="1600" dirty="0"/>
          </a:p>
        </p:txBody>
      </p:sp>
      <p:sp>
        <p:nvSpPr>
          <p:cNvPr id="24" name="Shape 22"/>
          <p:cNvSpPr/>
          <p:nvPr/>
        </p:nvSpPr>
        <p:spPr>
          <a:xfrm>
            <a:off x="3562274" y="5367528"/>
            <a:ext cx="2236394" cy="0"/>
          </a:xfrm>
          <a:prstGeom prst="line">
            <a:avLst/>
          </a:prstGeom>
          <a:noFill/>
          <a:ln w="9525">
            <a:solidFill>
              <a:schemeClr val="accent5"/>
            </a:solidFill>
            <a:prstDash val="solid"/>
          </a:ln>
        </p:spPr>
      </p:sp>
      <p:sp>
        <p:nvSpPr>
          <p:cNvPr id="25" name="Text 23"/>
          <p:cNvSpPr txBox="1"/>
          <p:nvPr/>
        </p:nvSpPr>
        <p:spPr>
          <a:xfrm>
            <a:off x="3562274" y="541324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CMI: 17 objetivos y metas propuestas</a:t>
            </a:r>
            <a:endParaRPr lang="es-CL" sz="1600" dirty="0"/>
          </a:p>
        </p:txBody>
      </p:sp>
      <p:sp>
        <p:nvSpPr>
          <p:cNvPr id="26" name="Shape 24"/>
          <p:cNvSpPr/>
          <p:nvPr/>
        </p:nvSpPr>
        <p:spPr>
          <a:xfrm>
            <a:off x="6210148" y="2395728"/>
            <a:ext cx="2602154" cy="3785616"/>
          </a:xfrm>
          <a:prstGeom prst="rect">
            <a:avLst/>
          </a:prstGeom>
          <a:solidFill>
            <a:schemeClr val="bg2"/>
          </a:solidFill>
          <a:ln w="12700">
            <a:solidFill>
              <a:srgbClr val="8B9598"/>
            </a:solidFill>
            <a:prstDash val="dash"/>
          </a:ln>
        </p:spPr>
      </p:sp>
      <p:sp>
        <p:nvSpPr>
          <p:cNvPr id="27" name="Text 25"/>
          <p:cNvSpPr txBox="1"/>
          <p:nvPr/>
        </p:nvSpPr>
        <p:spPr>
          <a:xfrm>
            <a:off x="6393028" y="2578608"/>
            <a:ext cx="2236394" cy="457200"/>
          </a:xfrm>
          <a:prstGeom prst="rect">
            <a:avLst/>
          </a:prstGeom>
          <a:noFill/>
          <a:ln/>
        </p:spPr>
        <p:txBody>
          <a:bodyPr wrap="square" lIns="0" tIns="0" rIns="0" bIns="0" rtlCol="0" anchor="t"/>
          <a:lstStyle/>
          <a:p>
            <a:pPr indent="0" marL="0">
              <a:buNone/>
            </a:pPr>
            <a:r>
              <a:rPr lang="es-CL" altLang="en-US" sz="1200" b="1" spc="100" kern="0" dirty="0">
                <a:solidFill>
                  <a:schemeClr val="tx1"/>
                </a:solidFill>
                <a:latin typeface="IBM Plex Mono" pitchFamily="34" charset="0"/>
                <a:ea typeface="IBM Plex Mono" pitchFamily="34" charset="-122"/>
                <a:cs typeface="IBM Plex Mono" pitchFamily="34" charset="-120"/>
              </a:rPr>
              <a:t>ESTIMACIÓN O INDICIO</a:t>
            </a:r>
            <a:endParaRPr lang="es-CL" sz="1200" dirty="0"/>
          </a:p>
        </p:txBody>
      </p:sp>
      <p:sp>
        <p:nvSpPr>
          <p:cNvPr id="28" name="Shape 26"/>
          <p:cNvSpPr/>
          <p:nvPr/>
        </p:nvSpPr>
        <p:spPr>
          <a:xfrm>
            <a:off x="6393028" y="3172968"/>
            <a:ext cx="2236394" cy="0"/>
          </a:xfrm>
          <a:prstGeom prst="line">
            <a:avLst/>
          </a:prstGeom>
          <a:noFill/>
          <a:ln w="9525">
            <a:solidFill>
              <a:schemeClr val="accent5"/>
            </a:solidFill>
            <a:prstDash val="solid"/>
          </a:ln>
        </p:spPr>
      </p:sp>
      <p:sp>
        <p:nvSpPr>
          <p:cNvPr id="29" name="Text 27"/>
          <p:cNvSpPr txBox="1"/>
          <p:nvPr/>
        </p:nvSpPr>
        <p:spPr>
          <a:xfrm>
            <a:off x="6393028" y="321868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Hasta 20% menos bencina en ciudad</a:t>
            </a:r>
            <a:endParaRPr lang="es-CL" sz="1600" dirty="0"/>
          </a:p>
        </p:txBody>
      </p:sp>
      <p:sp>
        <p:nvSpPr>
          <p:cNvPr id="30" name="Shape 28"/>
          <p:cNvSpPr/>
          <p:nvPr/>
        </p:nvSpPr>
        <p:spPr>
          <a:xfrm>
            <a:off x="6393028" y="3904488"/>
            <a:ext cx="2236394" cy="0"/>
          </a:xfrm>
          <a:prstGeom prst="line">
            <a:avLst/>
          </a:prstGeom>
          <a:noFill/>
          <a:ln w="9525">
            <a:solidFill>
              <a:schemeClr val="accent5"/>
            </a:solidFill>
            <a:prstDash val="solid"/>
          </a:ln>
        </p:spPr>
      </p:sp>
      <p:sp>
        <p:nvSpPr>
          <p:cNvPr id="31" name="Text 29"/>
          <p:cNvSpPr txBox="1"/>
          <p:nvPr/>
        </p:nvSpPr>
        <p:spPr>
          <a:xfrm>
            <a:off x="6393028" y="395020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Precio de referencia del kit (Fase 3)</a:t>
            </a:r>
            <a:endParaRPr lang="es-CL" sz="1600" dirty="0"/>
          </a:p>
        </p:txBody>
      </p:sp>
      <p:sp>
        <p:nvSpPr>
          <p:cNvPr id="32" name="Shape 30"/>
          <p:cNvSpPr/>
          <p:nvPr/>
        </p:nvSpPr>
        <p:spPr>
          <a:xfrm>
            <a:off x="6393028" y="4636008"/>
            <a:ext cx="2236394" cy="0"/>
          </a:xfrm>
          <a:prstGeom prst="line">
            <a:avLst/>
          </a:prstGeom>
          <a:noFill/>
          <a:ln w="9525">
            <a:solidFill>
              <a:schemeClr val="accent5"/>
            </a:solidFill>
            <a:prstDash val="solid"/>
          </a:ln>
        </p:spPr>
      </p:sp>
      <p:sp>
        <p:nvSpPr>
          <p:cNvPr id="33" name="Text 31"/>
          <p:cNvSpPr txBox="1"/>
          <p:nvPr/>
        </p:nvSpPr>
        <p:spPr>
          <a:xfrm>
            <a:off x="6393028" y="468172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Precio decide, confianza atreve (n = 3)</a:t>
            </a:r>
            <a:endParaRPr lang="es-CL" sz="1600" dirty="0"/>
          </a:p>
        </p:txBody>
      </p:sp>
      <p:sp>
        <p:nvSpPr>
          <p:cNvPr id="34" name="Shape 32"/>
          <p:cNvSpPr/>
          <p:nvPr/>
        </p:nvSpPr>
        <p:spPr>
          <a:xfrm>
            <a:off x="9040901" y="2395728"/>
            <a:ext cx="2602154" cy="3785616"/>
          </a:xfrm>
          <a:prstGeom prst="rect">
            <a:avLst/>
          </a:prstGeom>
          <a:solidFill>
            <a:schemeClr val="bg2"/>
          </a:solidFill>
          <a:ln w="15875">
            <a:solidFill>
              <a:schemeClr val="tx1"/>
            </a:solidFill>
            <a:prstDash val="dash"/>
          </a:ln>
        </p:spPr>
      </p:sp>
      <p:sp>
        <p:nvSpPr>
          <p:cNvPr id="35" name="Text 33"/>
          <p:cNvSpPr txBox="1"/>
          <p:nvPr/>
        </p:nvSpPr>
        <p:spPr>
          <a:xfrm>
            <a:off x="9223781" y="2578608"/>
            <a:ext cx="2236394" cy="457200"/>
          </a:xfrm>
          <a:prstGeom prst="rect">
            <a:avLst/>
          </a:prstGeom>
          <a:noFill/>
          <a:ln/>
        </p:spPr>
        <p:txBody>
          <a:bodyPr wrap="square" lIns="0" tIns="0" rIns="0" bIns="0" rtlCol="0" anchor="t"/>
          <a:lstStyle/>
          <a:p>
            <a:pPr indent="0" marL="0">
              <a:buNone/>
            </a:pPr>
            <a:r>
              <a:rPr lang="es-CL" altLang="en-US" sz="1200" b="1" spc="100" kern="0" dirty="0">
                <a:solidFill>
                  <a:schemeClr val="tx1"/>
                </a:solidFill>
                <a:latin typeface="IBM Plex Mono" pitchFamily="34" charset="0"/>
                <a:ea typeface="IBM Plex Mono" pitchFamily="34" charset="-122"/>
                <a:cs typeface="IBM Plex Mono" pitchFamily="34" charset="-120"/>
              </a:rPr>
              <a:t>POR CONFIRMAR</a:t>
            </a:r>
            <a:endParaRPr lang="es-CL" sz="1200" dirty="0"/>
          </a:p>
        </p:txBody>
      </p:sp>
      <p:sp>
        <p:nvSpPr>
          <p:cNvPr id="36" name="Shape 34"/>
          <p:cNvSpPr/>
          <p:nvPr/>
        </p:nvSpPr>
        <p:spPr>
          <a:xfrm>
            <a:off x="9223781" y="3172968"/>
            <a:ext cx="2236394" cy="0"/>
          </a:xfrm>
          <a:prstGeom prst="line">
            <a:avLst/>
          </a:prstGeom>
          <a:noFill/>
          <a:ln w="9525">
            <a:solidFill>
              <a:schemeClr val="accent5"/>
            </a:solidFill>
            <a:prstDash val="solid"/>
          </a:ln>
        </p:spPr>
      </p:sp>
      <p:sp>
        <p:nvSpPr>
          <p:cNvPr id="37" name="Text 35"/>
          <p:cNvSpPr txBox="1"/>
          <p:nvPr/>
        </p:nvSpPr>
        <p:spPr>
          <a:xfrm>
            <a:off x="9223781" y="321868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Convenios de financiamiento y seguros</a:t>
            </a:r>
            <a:endParaRPr lang="es-CL" sz="1600" dirty="0"/>
          </a:p>
        </p:txBody>
      </p:sp>
      <p:sp>
        <p:nvSpPr>
          <p:cNvPr id="38" name="Shape 36"/>
          <p:cNvSpPr/>
          <p:nvPr/>
        </p:nvSpPr>
        <p:spPr>
          <a:xfrm>
            <a:off x="9223781" y="3904488"/>
            <a:ext cx="2236394" cy="0"/>
          </a:xfrm>
          <a:prstGeom prst="line">
            <a:avLst/>
          </a:prstGeom>
          <a:noFill/>
          <a:ln w="9525">
            <a:solidFill>
              <a:schemeClr val="accent5"/>
            </a:solidFill>
            <a:prstDash val="solid"/>
          </a:ln>
        </p:spPr>
      </p:sp>
      <p:sp>
        <p:nvSpPr>
          <p:cNvPr id="39" name="Text 37"/>
          <p:cNvSpPr txBox="1"/>
          <p:nvPr/>
        </p:nvSpPr>
        <p:spPr>
          <a:xfrm>
            <a:off x="9223781" y="395020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Homologación y autorización</a:t>
            </a:r>
            <a:endParaRPr lang="es-CL" sz="1600" dirty="0"/>
          </a:p>
        </p:txBody>
      </p:sp>
      <p:sp>
        <p:nvSpPr>
          <p:cNvPr id="40" name="Shape 38"/>
          <p:cNvSpPr/>
          <p:nvPr/>
        </p:nvSpPr>
        <p:spPr>
          <a:xfrm>
            <a:off x="9223781" y="4636008"/>
            <a:ext cx="2236394" cy="0"/>
          </a:xfrm>
          <a:prstGeom prst="line">
            <a:avLst/>
          </a:prstGeom>
          <a:noFill/>
          <a:ln w="9525">
            <a:solidFill>
              <a:schemeClr val="accent5"/>
            </a:solidFill>
            <a:prstDash val="solid"/>
          </a:ln>
        </p:spPr>
      </p:sp>
      <p:sp>
        <p:nvSpPr>
          <p:cNvPr id="41" name="Text 39"/>
          <p:cNvSpPr txBox="1"/>
          <p:nvPr/>
        </p:nvSpPr>
        <p:spPr>
          <a:xfrm>
            <a:off x="9223781" y="4681728"/>
            <a:ext cx="2236394" cy="64008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Precio y costos unitarios</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Lumine">
  <a:themeElements>
    <a:clrScheme name="Lumine">
      <a:dk1>
        <a:srgbClr val="ECECEC"/>
      </a:dk1>
      <a:lt1>
        <a:srgbClr val="020304"/>
      </a:lt1>
      <a:dk2>
        <a:srgbClr val="8B9598"/>
      </a:dk2>
      <a:lt2>
        <a:srgbClr val="0A0D0F"/>
      </a:lt2>
      <a:accent1>
        <a:srgbClr val="22B8F0"/>
      </a:accent1>
      <a:accent2>
        <a:srgbClr val="8B9598"/>
      </a:accent2>
      <a:accent3>
        <a:srgbClr val="4A5257"/>
      </a:accent3>
      <a:accent4>
        <a:srgbClr val="ECECEC"/>
      </a:accent4>
      <a:accent5>
        <a:srgbClr val="2E3438"/>
      </a:accent5>
      <a:accent6>
        <a:srgbClr val="101417"/>
      </a:accent6>
      <a:hlink>
        <a:srgbClr val="22B8F0"/>
      </a:hlink>
      <a:folHlink>
        <a:srgbClr val="0A6F9E"/>
      </a:folHlink>
    </a:clrScheme>
    <a:fontScheme name="Lumine">
      <a:majorFont>
        <a:latin typeface="Archivo SemiExpanded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Lumine Motors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TIG · Informe final · Lumine Motors</dc:title>
  <dc:subject>Control de Gestión · ICMA901 · Sección 500 · NRC 4118 · UNAB</dc:subject>
  <dc:creator>Diego Alarcón, Benjamín Torres y Lukas Verdugo</dc:creator>
  <cp:lastModifiedBy>Diego Alarcón, Benjamín Torres y Lukas Verdugo</cp:lastModifiedBy>
  <cp:revision>1</cp:revision>
  <dcterms:created xsi:type="dcterms:W3CDTF">2026-10-22T18:51:44Z</dcterms:created>
  <dcterms:modified xsi:type="dcterms:W3CDTF">2026-10-22T18:51:44Z</dcterms:modified>
</cp:coreProperties>
</file>