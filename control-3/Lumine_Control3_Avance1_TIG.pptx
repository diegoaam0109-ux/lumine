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rchivo SemiExpanded ExtraBold" charset="0"/>
      <p:regular r:id="rIdFuente1"/>
    </p:embeddedFont>
    <p:embeddedFont>
      <p:font typeface="Archivo Condensed" charset="0"/>
      <p:regular r:id="rIdFuente2"/>
      <p:bold r:id="rIdFuente3"/>
    </p:embeddedFont>
    <p:embeddedFont>
      <p:font typeface="Figtree" charset="0"/>
      <p:regular r:id="rIdFuente4"/>
      <p:bold r:id="rIdFuente5"/>
    </p:embeddedFont>
    <p:embeddedFont>
      <p:font typeface="IBM Plex Mono" charset="0"/>
      <p:regular r:id="rIdFuente6"/>
      <p:bold r:id="rIdFuente7"/>
    </p:embeddedFont>
    <p:embeddedFont>
      <p:font typeface="Instrument Serif" charset="0"/>
      <p:regular r:id="rIdFuente8"/>
      <p:italic r:id="rIdFuente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Diego Alarcón" id="{b0fcaaf8-6078-abca-b6ea-d8596c61234e}">
          <p14:sldIdLst>
            <p14:sldId id="256"/>
            <p14:sldId id="257"/>
            <p14:sldId id="258"/>
            <p14:sldId id="259"/>
            <p14:sldId id="260"/>
          </p14:sldIdLst>
        </p14:section>
        <p14:section name="2 · Benjamín Torres" id="{8ba07021-c769-d4fc-4eba-f51e0e7209c0}">
          <p14:sldIdLst>
            <p14:sldId id="261"/>
            <p14:sldId id="262"/>
            <p14:sldId id="263"/>
          </p14:sldIdLst>
        </p14:section>
        <p14:section name="3 · Lukas Verdugo" id="{0cafde67-2b73-2f7f-2934-32abfea01f97}">
          <p14:sldIdLst>
            <p14:sldId id="264"/>
            <p14:sldId id="265"/>
            <p14:sldId id="266"/>
            <p14:sldId id="267"/>
          </p14:sldIdLst>
        </p14:section>
        <p14:section name="4 · Diego Alarcón" id="{aee75e4c-26d9-5792-992b-a7d26a3ff1ae}">
          <p14:sldIdLst>
            <p14:sldId id="268"/>
          </p14:sldIdLst>
        </p14:section>
        <p14:section name="Anexo" id="{f82c7ce7-4807-cf4c-8fea-bcdd4609f15a}">
          <p14:sldIdLst>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uente1" Type="http://schemas.openxmlformats.org/officeDocument/2006/relationships/font" Target="fonts/font1.fntdata"/><Relationship Id="rIdFuente2" Type="http://schemas.openxmlformats.org/officeDocument/2006/relationships/font" Target="fonts/font2.fntdata"/><Relationship Id="rIdFuente3" Type="http://schemas.openxmlformats.org/officeDocument/2006/relationships/font" Target="fonts/font3.fntdata"/><Relationship Id="rIdFuente4" Type="http://schemas.openxmlformats.org/officeDocument/2006/relationships/font" Target="fonts/font4.fntdata"/><Relationship Id="rIdFuente5" Type="http://schemas.openxmlformats.org/officeDocument/2006/relationships/font" Target="fonts/font5.fntdata"/><Relationship Id="rIdFuente6" Type="http://schemas.openxmlformats.org/officeDocument/2006/relationships/font" Target="fonts/font6.fntdata"/><Relationship Id="rIdFuente7" Type="http://schemas.openxmlformats.org/officeDocument/2006/relationships/font" Target="fonts/font7.fntdata"/><Relationship Id="rIdFuente8" Type="http://schemas.openxmlformats.org/officeDocument/2006/relationships/font" Target="fonts/font8.fntdata"/><Relationship Id="rIdFuente9" Type="http://schemas.openxmlformats.org/officeDocument/2006/relationships/font" Target="fonts/font9.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Habilidades</c:v>
                </c:pt>
              </c:strCache>
            </c:strRef>
          </c:tx>
          <c:spPr>
            <a:solidFill>
              <a:srgbClr val="22B8F0"/>
            </a:solidFill>
            <a:effectLst/>
          </c:spPr>
          <c:invertIfNegative val="0"/>
          <c:dLbls>
            <c:numFmt formatCode="0.00" sourceLinked="0"/>
            <c:txPr>
              <a:bodyPr/>
              <a:lstStyle/>
              <a:p>
                <a:pPr>
                  <a:defRPr b="0" i="0" strike="noStrike" sz="1200" u="none">
                    <a:solidFill>
                      <a:srgbClr val="ECECEC"/>
                    </a:solidFill>
                    <a:latin typeface="Archivo Condensed"/>
                  </a:defRPr>
                </a:pPr>
              </a:p>
            </c:txPr>
            <c:showLegendKey val="0"/>
            <c:showVal val="1"/>
            <c:showCatName val="0"/>
            <c:showSerName val="0"/>
            <c:showPercent val="0"/>
            <c:showBubbleSize val="0"/>
            <c:showLeaderLines val="0"/>
          </c:dLbls>
          <c:cat>
            <c:multiLvlStrRef>
              <c:f>Sheet1!$A$2:$A$8</c:f>
              <c:multiLvlStrCache>
                <c:ptCount val="7"/>
                <c:lvl>
                  <c:pt idx="0">
                    <c:v>Conversión GLP</c:v>
                  </c:pt>
                  <c:pt idx="1">
                    <c:v>Eléctricos nuevos</c:v>
                  </c:pt>
                  <c:pt idx="2">
                    <c:v>Reborn*</c:v>
                  </c:pt>
                  <c:pt idx="3">
                    <c:v>Movener*</c:v>
                  </c:pt>
                  <c:pt idx="4">
                    <c:v>Híbridos usados</c:v>
                  </c:pt>
                  <c:pt idx="5">
                    <c:v>Lumine</c:v>
                  </c:pt>
                  <c:pt idx="6">
                    <c:v>Líder</c:v>
                  </c:pt>
                </c:lvl>
              </c:multiLvlStrCache>
            </c:multiLvlStrRef>
          </c:cat>
          <c:val>
            <c:numRef>
              <c:f>Sheet1!$B$2:$B$8</c:f>
              <c:numCache>
                <c:formatCode>General</c:formatCode>
                <c:ptCount val="7"/>
                <c:pt idx="0">
                  <c:v>3.86</c:v>
                </c:pt>
                <c:pt idx="1">
                  <c:v>3.86</c:v>
                </c:pt>
                <c:pt idx="2">
                  <c:v>3.86</c:v>
                </c:pt>
                <c:pt idx="3">
                  <c:v>3.71</c:v>
                </c:pt>
                <c:pt idx="4">
                  <c:v>3.57</c:v>
                </c:pt>
                <c:pt idx="5">
                  <c:v>3</c:v>
                </c:pt>
                <c:pt idx="6">
                  <c:v>4.29</c:v>
                </c:pt>
              </c:numCache>
            </c:numRef>
          </c:val>
        </c:ser>
        <c:ser>
          <c:idx val="1"/>
          <c:order val="1"/>
          <c:tx>
            <c:strRef>
              <c:f>Sheet1!$C$1</c:f>
              <c:strCache>
                <c:ptCount val="1"/>
                <c:pt idx="0">
                  <c:v>Factores de riesgo</c:v>
                </c:pt>
              </c:strCache>
            </c:strRef>
          </c:tx>
          <c:spPr>
            <a:solidFill>
              <a:srgbClr val="8B9598"/>
            </a:solidFill>
            <a:effectLst/>
          </c:spPr>
          <c:invertIfNegative val="0"/>
          <c:dLbls>
            <c:numFmt formatCode="0.00" sourceLinked="0"/>
            <c:txPr>
              <a:bodyPr/>
              <a:lstStyle/>
              <a:p>
                <a:pPr>
                  <a:defRPr b="0" i="0" strike="noStrike" sz="1200" u="none">
                    <a:solidFill>
                      <a:srgbClr val="ECECEC"/>
                    </a:solidFill>
                    <a:latin typeface="Archivo Condensed"/>
                  </a:defRPr>
                </a:pPr>
              </a:p>
            </c:txPr>
            <c:showLegendKey val="0"/>
            <c:showVal val="1"/>
            <c:showCatName val="0"/>
            <c:showSerName val="0"/>
            <c:showPercent val="0"/>
            <c:showBubbleSize val="0"/>
            <c:showLeaderLines val="0"/>
          </c:dLbls>
          <c:cat>
            <c:multiLvlStrRef>
              <c:f>Sheet1!$A$2:$A$8</c:f>
              <c:multiLvlStrCache>
                <c:ptCount val="7"/>
                <c:lvl>
                  <c:pt idx="0">
                    <c:v>Conversión GLP</c:v>
                  </c:pt>
                  <c:pt idx="1">
                    <c:v>Eléctricos nuevos</c:v>
                  </c:pt>
                  <c:pt idx="2">
                    <c:v>Reborn*</c:v>
                  </c:pt>
                  <c:pt idx="3">
                    <c:v>Movener*</c:v>
                  </c:pt>
                  <c:pt idx="4">
                    <c:v>Híbridos usados</c:v>
                  </c:pt>
                  <c:pt idx="5">
                    <c:v>Lumine</c:v>
                  </c:pt>
                  <c:pt idx="6">
                    <c:v>Líder</c:v>
                  </c:pt>
                </c:lvl>
              </c:multiLvlStrCache>
            </c:multiLvlStrRef>
          </c:cat>
          <c:val>
            <c:numRef>
              <c:f>Sheet1!$C$2:$C$8</c:f>
              <c:numCache>
                <c:formatCode>General</c:formatCode>
                <c:ptCount val="7"/>
                <c:pt idx="0">
                  <c:v>4</c:v>
                </c:pt>
                <c:pt idx="1">
                  <c:v>3.43</c:v>
                </c:pt>
                <c:pt idx="2">
                  <c:v>3.71</c:v>
                </c:pt>
                <c:pt idx="3">
                  <c:v>3.43</c:v>
                </c:pt>
                <c:pt idx="4">
                  <c:v>3.43</c:v>
                </c:pt>
                <c:pt idx="5">
                  <c:v>2.71</c:v>
                </c:pt>
                <c:pt idx="6">
                  <c:v>4.14</c:v>
                </c:pt>
              </c:numCache>
            </c:numRef>
          </c:val>
        </c:ser>
        <c:dLbls>
          <c:numFmt formatCode="0.00" sourceLinked="0"/>
          <c:txPr>
            <a:bodyPr/>
            <a:lstStyle/>
            <a:p>
              <a:pPr>
                <a:defRPr b="0" i="0" strike="noStrike" sz="1200" u="none">
                  <a:solidFill>
                    <a:srgbClr val="ECECEC"/>
                  </a:solidFill>
                  <a:latin typeface="Archivo Condense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CECEC"/>
                </a:solidFill>
                <a:latin typeface="Figtree"/>
              </a:defRPr>
            </a:pPr>
            <a:endParaRPr lang="en-US"/>
          </a:p>
        </c:txPr>
        <c:crossAx val="2094734552"/>
        <c:crosses val="autoZero"/>
        <c:auto val="1"/>
        <c:lblAlgn val="ctr"/>
        <c:noMultiLvlLbl val="1"/>
      </c:catAx>
      <c:valAx>
        <c:axId val="2094734552"/>
        <c:scaling>
          <c:orientation val="minMax"/>
          <c:max val="5"/>
          <c:min val="1"/>
        </c:scaling>
        <c:delete val="0"/>
        <c:axPos val="l"/>
        <c:majorGridlines>
          <c:spPr>
            <a:ln w="6350" cap="flat">
              <a:solidFill>
                <a:srgbClr val="2E34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598"/>
                </a:solidFill>
                <a:latin typeface="Figtree"/>
              </a:defRPr>
            </a:pPr>
            <a:endParaRPr lang="en-US"/>
          </a:p>
        </c:txPr>
        <c:crossAx val="2094734554"/>
        <c:crosses val="autoZero"/>
        <c:crossBetween val="between"/>
      </c:valAx>
      <c:spPr>
        <a:solidFill>
          <a:srgbClr val="020304"/>
        </a:solidFill>
        <a:ln>
          <a:noFill/>
        </a:ln>
        <a:effectLst/>
      </c:spPr>
    </c:plotArea>
    <c:legend>
      <c:legendPos val="t"/>
      <c:overlay val="0"/>
      <c:txPr>
        <a:bodyPr/>
        <a:lstStyle/>
        <a:p>
          <a:pPr>
            <a:defRPr sz="1300">
              <a:solidFill>
                <a:srgbClr val="ECECEC"/>
              </a:solidFill>
              <a:latin typeface="Figtree"/>
              <a:cs typeface="Figtree"/>
            </a:defRPr>
          </a:pPr>
          <a:endParaRPr lang="en-US"/>
        </a:p>
      </c:txPr>
    </c:legend>
    <c:plotVisOnly val="1"/>
    <c:dispBlanksAs val="span"/>
  </c:chart>
  <c:spPr>
    <a:solidFill>
      <a:srgbClr val="02030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0:15 a 130 palabras por minuto (36 palabras) · Informe: —
Buenos días, profesor y compañeros. Somos Diego Alarcón, Benjamín Torres y Lukas Verdugo, y presentamos el Avance 1 de nuestro trabajo de Control de Gestión: la comprensión del negocio y el análisis estratégico de Lumine Motors.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1:00 a 130 palabras por minuto (127 palabras) · Informe: 3. Introducción
Partamos por el contexto. En todo el mundo, la transición energética suele pensarse como cambiar de auto. Pero en Chile la gente conserva su vehículo: este año se han transferido tres coma cinco autos usados por cada auto nuevo inscrito. Al mismo tiempo, usar ese auto cuesta más. En marzo, la bencina de noventa y tres en la Región Metropolitana subió de unos mil ciento setenta a unos mil quinientos cuarenta pesos por litro, y el Banco Central recortó su proyección de crecimiento, en parte por el alza de los combustibles. Ahí está el problema: quien depende de su auto paga cada vez más por usarlo y no puede cambiarlo. El objetivo de este avance es entender si Lumine responde a ese problema y en qué condiciones.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0:55 a 130 palabras por minuto (124 palabras) · Informe: 4. Comprensión del negocio
Lumine Motors Chile es un proyecto, todavía sin operación, que instalaría un kit de hibridación aditiva en autos a combustión de tracción delantera. El motor original, la transmisión y la alimentación quedan como están. El kit suma tres piezas: una unidad de control, que decide cuándo asistir y corta ante fallas; un banco de baterías, que guarda la energía que hoy se pierde al frenar; y un motor eléctrico en el eje trasero, que ayuda al auto a moverse. No se enchufa, y el diseño deja que el freno, el ABS y el control de estabilidad originales siempre manden sobre el kit. Todavía es un diseño: falta probarlo, homologarlo y documentarlo antes de ofrecerlo. Por eso hoy no hablamos de resultados, sino de condiciones.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1:05 a 130 palabras por minuto (140 palabras) · Informe: 4. Comprensión del negocio
¿Qué compra el cliente? La necesidad es dejar de pagar cada vez más por usar el auto, sin tener que reemplazarlo. La propuesta de valor tendría cuatro partes: ahorrar combustible sin comprar un auto nuevo, un respaldo técnico verificable, seguir usando el mismo vehículo y transparencia sobre compatibilidad y costos. La estimación de ingeniería es de hasta veinte por ciento menos bencina en ciudad, pero no está medida en autos chilenos. En tres entrevistas apareció una pista que habrá que validar con una muestra mayor: el precio decide si se compra, pero la confianza decide si uno se atreve. El modelo de negocio tendría dos líneas: un taller propio y, más adelante, licencias de la biblioteca de calibraciones y del procedimiento a otros talleres, junto con la plataforma de habilitación técnica Lumine Habilita, cuya demostración pueden ver con este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0:55 a 130 palabras por minuto (114 palabras) · Informe: 5. Declaraciones estratégicas
Esa propuesta descansa en una identidad declarada. La misión es reducir el combustible que un vehículo liviano a combustión necesita por kilómetro, mediante la instalación certificada de un sistema de hibridación aditiva sobre el auto que el cliente ya tiene, sin reemplazarlo y sin intervenir su motor. La visión es ser hacia 2031 el taller de referencia en hibridación de vehículos en uso en Chile, reconocido por la autoridad, las plantas de revisión técnica y las aseguradoras. Hoy ambas son aspiraciones. Tres valores ordenan las decisiones: verificabilidad antes que afirmación, formalidad como condición de operación y seguridad de quien instala y de quien conduce. Benjamín analiza el entorno en que esto tendría que funcionar.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1:30 a 130 palabras por minuto (190 palabras) · Informe: 6.2 Entorno general: PEST
Gracias, Diego. Para el entorno general usamos la matriz PEST del curso. Cada factor se califica de uno a cinco, donde tres es neutro; bajo tres, el entorno juega en contra. El resultado global es dos coma ochenta y dos: un entorno moderadamente desfavorable. De cincuenta y un factores, trece son oportunidades, dieciocho son neutros y veinte son amenazas. Pero lo importante es dónde está el freno. La dimensión económica es la más baja, con dos coma treinta y ocho: el ingreso de los hogares cayó con el alza de los combustibles, el desempleo llegó a nueve coma seis por ciento y el kit es cien por ciento importado, con un dólar sobre novecientos setenta pesos. La segunda más baja es la político-jurídica, con dos coma sesenta y siete, por la regulación. En cambio, la tecnológica es la más favorable, con tres coma veintitrés: los componentes son maduros y el precio promedio mundial de los paquetes de baterías LFP llegó a ochenta y un dólares por kilowatt hora, según BloombergNEF. Es decir: la tecnología existe; lo que falta es que el cliente pueda pagarla y que la ley permita instalarla.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1:25 a 130 palabras por minuto (181 palabras) · Informe: 6.2 Entorno general: PEST (regulación)
La regulación decide si el negocio existe. La Ley veintiún mil setecientos noventa y tres, publicada el catorce de enero de este año, facultó al Ministerio de Transportes para autorizar talleres que transformen la propulsión de vehículos en uso. Pero todavía no tiene reglamento. La única referencia es un borrador de diciembre de dos mil veintiuno, anterior a la ley, que define la transformación como reemplazar el motor por uno eléctrico y excluye autos con ABS, airbag o control de estabilidad. Con esas dos preguntas armamos cuatro escenarios. Si el reglamento acepta conservar el motor y no excluye esos sistemas, hay una vía amplia, en la que el primero que homologa gana una ventaja temporal. Si los excluye, la vía queda acotada. Si no acepta conservar el motor, queda una vía alternativa, por alteración de características, o ninguna, y entonces el negocio no opera. Si el reglamento sigue al borrador, Lumine quedaría en la rama de los escenarios tres o cuatro; la vía aplicable está sin confirmar. No es una amenaza que se promedie con otras: es una condición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1:40 a 130 palabras por minuto (220 palabras) · Informe: 6.3 Industria: cinco fuerzas
Para la industria usamos las cinco fuerzas de Porter. Cada fuerza se califica de cero a cinco según su intensidad, y el modelo pondera su importancia. El resultado ponderado es tres coma cuarenta y nueve: una industria moderadamente poco atractiva. La fuerza más intensa son los sustitutos, con el máximo de cinco. Y el sustituto principal no es otro taller: es posponer la inversión; el propio Porter cuenta como sustituto la opción de prescindir del producto o comprar usado. Quien no compra se ahorra el kit, pero sigue pagando toda su bencina. También compiten el híbrido usado y otras formas de reconversión. Le siguen los nuevos entrantes, con tres coma setenta y cinco: hoy la regulación bloquea a todos por igual, pero cuando se abra la vía, cualquiera con presupuesto podría homologar. Los clientes, con dos coma sesenta y cuatro, y los proveedores, con dos coma sesenta y siete, presionan menos, y la rivalidad es baja, uno coma ochenta y tres, porque nuestro análisis no identifica competidores directos en hibridación aditiva. Ojo: sustitutos y clientes suman cincuenta y cinco por ciento de la ponderación del modelo; eso es peso dentro del instrumento, no probabilidad de amenaza. Lo que Lumine sí puede mover es la inercia del cliente, con evidencia de ahorro. Lukas sigue con lo que Lumine tiene hacia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1:10 a 130 palabras por minuto (151 palabras) · Informe: 6.4 Capacidades internas
Gracias, Benjamín. Hacia adentro, Lumine tiene una fortaleza de diseño, no de ejecución. En el análisis de recursos y capacidades evaluamos quince elementos con cuatro filtros: valioso, raro, costoso de imitar e insustituible. Solo dos pasan los cuatro: la biblioteca de calibraciones por marca y modelo y la ingeniería de integración. Pero hay que leerlo con cuidado: son ventajas potencialmente sostenibles, no efectivas, porque la biblioteca está vacía y solo sería sostenible si se protege como secreto empresarial. Seis elementos dan ventajas temporales y siete solo igualdad. Los factores críticos de éxito muestran lo mismo: la ingeniería de integración y la estandarización del taller tienen habilidad cuatro de cinco, pero como diseño; la gestión regulatoria y el talento en alta tensión están en dos, y el financiamiento en el punto de venta no tiene convenio. La gestión regulatoria es una condición de entrada; el financiamiento, un facilitador clave de la compra.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1:10 a 130 palabras por minuto (149 palabras) · Informe: 6.4 Capacidades internas y cadena de valor
La cadena de valor explica dónde se gana y dónde se arriesga. La exclusividad nace en el desarrollo tecnológico, es decir, en la calibración de cada modelo. Pero se entrega en operaciones, que es también el cuello de botella: ahí convergen la homologación por modelo, la internación de componentes y la escasez de técnicos. El costo, en cambio, se acumula en la logística de entrada: el kit es importado, las baterías viajan como mercancía peligrosa Clase nueve y todo depende del dólar. La infraestructura es una condición de entrada: sin autorización no opera ningún eslabón. Y hay funciones que se pueden externalizar, como contabilidad, aduana, transporte peligroso y remuneraciones. Frente a competidores en operación, Lumine obtiene tres en habilidades y dos coma setenta y uno en riesgo. Es esperable en una empresa que todavía no opera, y por eso para el FODA usamos sus fortalezas puntuales, no el promedio.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1:15 a 130 palabras por minuto (163 palabras) · Informe: 6.5 Síntesis FODA
El FODA ordena todo lo anterior, separando lo interno de lo externo. Las fortalezas son de diseño: una arquitectura en el eje trasero que conserva el motor, un proceso de taller de cinco etapas y un segmento definido. Las debilidades son de ejecución: sin ensayo ni homologación, una biblioteca vacía, sin técnicos habilitados, compras en dólares sin cobertura y una marca sin casos. Cuidamos no repetir factores: el dólar aparece como amenaza externa y su efecto interno, las compras sin cobertura, como debilidad. Afuera, las oportunidades son reales y medibles: el parque se conserva, la bencina subió y las baterías se abaratan. Pero las amenazas son decisivas: la ley sin reglamento, el dólar alto con un kit importado, el menor ingreso disponible de los hogares y la opción del cliente de posponer la compra. La lectura es clara: el entorno ofrece una necesidad, pero el negocio todavía no tiene cómo demostrar que la resuelve de forma legal, segura y conveniente para 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1:00 a 130 palabras por minuto (134 palabras) · Informe: 6.6 Diagnóstico integrado
De ese diagnóstico salen tres brechas prioritarias. No son todavía objetivos: son lo que el análisis dice que hay que resolver. La primera es la habilitación formal: una vía legal aplicable y el reconocimiento de aseguradoras y plantas de revisión técnica. La segunda es demostrar valor frente a posponer la compra: medir el ahorro en autos chilenos con un protocolo comparable y ofrecer una forma de pago que el cliente pueda asumir. La tercera es la capacidad de ejecución: llenar la biblioteca de calibraciones, formar técnicos en alta tensión y proteger el costo de un kit importado frente al dólar. Las tres se conectan: sin vía legal no hay ahorro que medir, y sin capacidad de ejecución no hay ahorro que ofrecer. Si cualquiera de las tres falla, el negocio no funciona. Diego cierra.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0:30 a 130 palabras por minuto (69 palabras) · Informe: 6.6 Diagnóstico integrado
Gracias, Lukas. En síntesis, hemos fundamentado una necesidad real y una propuesta coherente, con una identidad que exige verificar antes de afirmar. Lo que falta demostrar es igual de claro: la vía legal, el ahorro medido y la capacidad de ejecutar. En el próximo avance formularemos la estrategia y los objetivos, incluida la rentabilidad por sobre el costo de capital, y construiremos el Cuadro de Mando Integral.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expone. Cada pregunta tiene un enlace a su respuesta; cada lámina del anexo tiene un enlace de vuelta a este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 · Solo si preguntan.
Los cuatro puntajes de hoy y a futuro, con los factores que más pesan en cada dimensión.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Suma de peso por intensidad de cada fuerza: 1,50 + 0,75 + 0,66 + 0,40 + 0,18 = 3,49.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A3 · Solo si preguntan.
Quince elementos con los filtros valioso, raro, costoso de imitar e insustituible.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A4 · Solo si preguntan.
Seis factores con su habilidad y su riesgo, de 1 a 5; la gestión regulatoria es condición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A5 · Solo si preguntan.
Promedios del instrumento 06; el líder es el máximo de cada área, no un competidor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A6 · Solo si preguntan.
Cada factor con la cifra o el hallazgo que lo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A7 · Solo si preguntan.
Los ocho valores, organizacionales y humanos.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A8 · Solo si preguntan.
Fuentes verificadas el 22-10-2026, en formato 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A9 · Solo si preguntan.
Cada afirmación dice qué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A10 · Solo si preguntan.
Correspondencia de las láminas con los apartados 3 a 6 del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A11 · Solo si preguntan.
Mapa estratégico preliminar: es material de trabajo del siguiente avance.
GUION (Lukas Verdugo, unos 1:56):
PARA EMPEZAR · Abrir A11 desde el índice del anexo y señalar el título.
Profesor, esto que ve aquí es el mapa estratégico de Lumine. No es parte de este avance: es lo que vamos a desarrollar en el Avance 2. Lo dejamos en el anexo porque muestra hacia dónde nos lleva todo el diagnóstico.
CÓMO SE LEE · Recorrer el mapa con la mano, de abajo hacia arriba.
El mapa se lee de abajo hacia arriba. Abajo está lo que Lumine tiene que aprender: la biblioteca de calibraciones, los técnicos habilitados y el protocolo para medir el ahorro. Con eso funcionan los procesos: conseguir la vía legal, aprobar cada modelo e instalar de forma segura. Eso le entrega al cliente dos cosas: que el kit cumpla lo que promete y un ahorro que se pueda demostrar. Si lo logramos, viene la confianza, el cliente compra, y arriba, al final, está la meta: que el negocio rinda más de lo que cuesta el capital. En total son diecisiete objetivos, conectados por veinte flechas.
LAS FLECHAS · Señalar la leyenda de líneas, arriba a la derecha.
Las flechas no son todas iguales. La continua es algo que tiene que pasar sí o sí antes del paso siguiente. La blanca y gruesa es algo que no depende de nosotros, como la ley. Y la punteada es una hipótesis: creemos que funciona, pero hay que probarlo. Y aquí está lo honesto: doce de las veinte flechas son hipótesis. Es lógico, porque Lumine todavía no opera.
PARA CERRAR · Volver al índice del anexo.
Por eso el mapa responde a las tres brechas que vimos: la vía legal, demostrar el ahorro y tener la capacidad de ejecutar. Los indicadores y las metas de cada objetivo los vamos a presentar en el Avance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ph idx="101" type="title" hasCustomPrompt="1"/>
          </p:nvPr>
        </p:nvSpPr>
        <p:spPr>
          <a:xfrm>
            <a:off x="548640" y="1298448"/>
            <a:ext cx="8778240" cy="1737360"/>
          </a:xfrm>
          <a:prstGeom prst="rect">
            <a:avLst/>
          </a:prstGeom>
          <a:noFill/>
          <a:ln/>
        </p:spPr>
        <p:txBody>
          <a:bodyPr wrap="square" rtlCol="0"/>
          <a:lstStyle>
            <a:lvl1pPr algn="l" indent="0" marL="0">
              <a:lnSpc>
                <a:spcPct val="90000"/>
              </a:lnSpc>
              <a:buNone/>
              <a:defRPr lang="en-US" sz="54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90000"/>
              </a:lnSpc>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nvSpPr>
        <p:spPr>
          <a:xfrm>
            <a:off x="5669280" y="365760"/>
            <a:ext cx="5973775" cy="237744"/>
          </a:xfrm>
          <a:prstGeom prst="rect">
            <a:avLst/>
          </a:prstGeom>
          <a:noFill/>
          <a:ln/>
        </p:spPr>
        <p:txBody>
          <a:bodyPr wrap="square" lIns="0" tIns="0" rIns="0" bIns="0" rtlCol="0" anchor="ctr"/>
          <a:lstStyle/>
          <a:p>
            <a:pPr algn="r" indent="0" marL="0">
              <a:buNone/>
            </a:pPr>
            <a:r>
              <a:rPr lang="en-US" sz="1100" spc="150" kern="0" dirty="0">
                <a:solidFill>
                  <a:schemeClr val="tx2"/>
                </a:solidFill>
                <a:latin typeface="IBM Plex Mono" pitchFamily="34" charset="0"/>
                <a:ea typeface="IBM Plex Mono" pitchFamily="34" charset="-122"/>
                <a:cs typeface="IBM Plex Mono" pitchFamily="34" charset="-120"/>
              </a:rPr>
              <a:t>CONTROL DE GESTIÓN · ICMA901 · CONTROL 3 · AVANCE 1 TIG</a:t>
            </a:r>
            <a:endParaRPr lang="en-US" sz="1100" dirty="0"/>
          </a:p>
        </p:txBody>
      </p:sp>
      <p:sp>
        <p:nvSpPr>
          <p:cNvPr id="4" name="Text 1"/>
          <p:cNvSpPr/>
          <p:nvPr>
            <p:ph idx="102" type="body" hasCustomPrompt="1"/>
          </p:nvPr>
        </p:nvSpPr>
        <p:spPr>
          <a:xfrm>
            <a:off x="548640" y="841248"/>
            <a:ext cx="6949440" cy="274320"/>
          </a:xfrm>
          <a:prstGeom prst="rect">
            <a:avLst/>
          </a:prstGeom>
          <a:noFill/>
          <a:ln/>
        </p:spPr>
        <p:txBody>
          <a:bodyPr wrap="square" rtlCol="0"/>
          <a:lstStyle>
            <a:lvl1pPr indent="0" marL="0">
              <a:buNone/>
              <a:defRPr lang="en-US" sz="1200" spc="150" kern="0" dirty="0">
                <a:solidFill>
                  <a:schemeClr val="tx2"/>
                </a:solidFill>
                <a:latin typeface="IBM Plex Mono" pitchFamily="34" charset="0"/>
                <a:ea typeface="IBM Plex Mono" pitchFamily="34" charset="-122"/>
                <a:cs typeface="IBM Plex Mono" pitchFamily="34" charset="-120"/>
              </a:defRPr>
            </a:lvl1pPr>
          </a:lstStyle>
          <a:p>
            <a:pPr indent="0" marL="0">
              <a:buNone/>
            </a:pPr>
            <a:endParaRPr lang="en-US" sz="1200" dirty="0"/>
          </a:p>
        </p:txBody>
      </p:sp>
      <p:sp>
        <p:nvSpPr>
          <p:cNvPr id="5" name="Text 1"/>
          <p:cNvSpPr/>
          <p:nvPr>
            <p:ph idx="103" type="title" hasCustomPrompt="1"/>
          </p:nvPr>
        </p:nvSpPr>
        <p:spPr>
          <a:xfrm>
            <a:off x="548640" y="1243584"/>
            <a:ext cx="11094415" cy="1097280"/>
          </a:xfrm>
          <a:prstGeom prst="rect">
            <a:avLst/>
          </a:prstGeom>
          <a:noFill/>
          <a:ln/>
        </p:spPr>
        <p:txBody>
          <a:bodyPr wrap="square" rtlCol="0"/>
          <a:lstStyle>
            <a:lvl1pPr algn="l" indent="0" marL="0">
              <a:lnSpc>
                <a:spcPct val="86000"/>
              </a:lnSpc>
              <a:buNone/>
              <a:defRPr lang="en-US" sz="34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86000"/>
              </a:lnSpc>
              <a:buNone/>
            </a:pPr>
            <a:endParaRPr lang="en-US" sz="3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 Target="slide17.xml"/><Relationship Id="rId6" Type="http://schemas.openxmlformats.org/officeDocument/2006/relationships/slide" Target="slide17.xml"/><Relationship Id="rId7" Type="http://schemas.openxmlformats.org/officeDocument/2006/relationships/slide" Target="slide18.xml"/><Relationship Id="rId8" Type="http://schemas.openxmlformats.org/officeDocument/2006/relationships/slide" Target="slide18.xml"/><Relationship Id="rId9" Type="http://schemas.openxmlformats.org/officeDocument/2006/relationships/slide" Target="slide19.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0.xml"/><Relationship Id="rId13" Type="http://schemas.openxmlformats.org/officeDocument/2006/relationships/slide" Target="slide21.xml"/><Relationship Id="rId14" Type="http://schemas.openxmlformats.org/officeDocument/2006/relationships/slide" Target="slide21.xml"/><Relationship Id="rId15" Type="http://schemas.openxmlformats.org/officeDocument/2006/relationships/slide" Target="slide22.xml"/><Relationship Id="rId16" Type="http://schemas.openxmlformats.org/officeDocument/2006/relationships/slide" Target="slide22.xml"/><Relationship Id="rId17" Type="http://schemas.openxmlformats.org/officeDocument/2006/relationships/slide" Target="slide23.xml"/><Relationship Id="rId18" Type="http://schemas.openxmlformats.org/officeDocument/2006/relationships/slide" Target="slide23.xml"/><Relationship Id="rId19" Type="http://schemas.openxmlformats.org/officeDocument/2006/relationships/slide" Target="slide24.xml"/><Relationship Id="rId20" Type="http://schemas.openxmlformats.org/officeDocument/2006/relationships/slide" Target="slide24.xml"/><Relationship Id="rId21" Type="http://schemas.openxmlformats.org/officeDocument/2006/relationships/slide" Target="slide25.xml"/><Relationship Id="rId22" Type="http://schemas.openxmlformats.org/officeDocument/2006/relationships/slide" Target="slide25.xml"/><Relationship Id="rId23" Type="http://schemas.openxmlformats.org/officeDocument/2006/relationships/slideLayout" Target="../slideLayouts/slideLayout3.xml"/><Relationship Id="rId2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chart" Target="/ppt/charts/chart1.xml"/><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image" Target="../media/image-25-1.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583680" y="365760"/>
            <a:ext cx="5059375" cy="237744"/>
          </a:xfrm>
          <a:prstGeom prst="rect">
            <a:avLst/>
          </a:prstGeom>
          <a:noFill/>
          <a:ln/>
        </p:spPr>
        <p:txBody>
          <a:bodyPr wrap="square" lIns="0" tIns="0" rIns="0" bIns="0" rtlCol="0" anchor="ctr"/>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UNAB · OCTUBRE 2026</a:t>
            </a:r>
            <a:endParaRPr lang="es-CL" sz="1200" dirty="0"/>
          </a:p>
        </p:txBody>
      </p:sp>
      <p:sp>
        <p:nvSpPr>
          <p:cNvPr id="3" name="Text 1"/>
          <p:cNvSpPr txBox="1"/>
          <p:nvPr/>
        </p:nvSpPr>
        <p:spPr>
          <a:xfrm>
            <a:off x="548640" y="914400"/>
            <a:ext cx="11094415" cy="292608"/>
          </a:xfrm>
          <a:prstGeom prst="rect">
            <a:avLst/>
          </a:prstGeom>
          <a:noFill/>
          <a:ln/>
        </p:spPr>
        <p:txBody>
          <a:bodyPr wrap="square" lIns="0" tIns="0" rIns="0" bIns="0" rtlCol="0" anchor="ctr"/>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CONTROL 3 · AVANCE 1 DEL TIG</a:t>
            </a:r>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  ·  CONTROL DE GESTIÓN</a:t>
            </a:r>
            <a:endParaRPr lang="es-CL" sz="1400" dirty="0"/>
          </a:p>
        </p:txBody>
      </p:sp>
      <p:sp>
        <p:nvSpPr>
          <p:cNvPr id="4" name="Text 0"/>
          <p:cNvSpPr/>
          <p:nvPr>
            <p:ph idx="101" type="title" hasCustomPrompt="1"/>
          </p:nvPr>
        </p:nvSpPr>
        <p:spPr>
          <a:xfrm>
            <a:off x="548640" y="1298448"/>
            <a:ext cx="8778240" cy="1737360"/>
          </a:xfrm>
          <a:prstGeom prst="rect">
            <a:avLst/>
          </a:prstGeom>
          <a:noFill/>
          <a:ln/>
        </p:spPr>
        <p:txBody>
          <a:bodyPr wrap="square" lIns="0" tIns="0" rIns="0" bIns="0" rtlCol="0" anchor="t"/>
          <a:lstStyle/>
          <a:p>
            <a:pPr algn="l" indent="0" marL="0">
              <a:lnSpc>
                <a:spcPct val="90000"/>
              </a:lnSpc>
              <a:buNone/>
            </a:pPr>
            <a:r>
              <a:rPr lang="en-US" sz="5000" dirty="0">
                <a:solidFill>
                  <a:schemeClr val="tx1"/>
                </a:solidFill>
                <a:latin typeface="Archivo SemiExpanded ExtraBold" pitchFamily="34" charset="0"/>
                <a:ea typeface="Archivo SemiExpanded ExtraBold" pitchFamily="34" charset="-122"/>
                <a:cs typeface="Archivo SemiExpanded ExtraBold" pitchFamily="34" charset="-120"/>
              </a:rPr>
              <a:t>LUMINE MOTORS</a:t>
            </a:r>
            <a:endParaRPr lang="en-US" sz="5400" dirty="0"/>
          </a:p>
          <a:p>
            <a:pPr algn="l" indent="0" marL="0">
              <a:lnSpc>
                <a:spcPct val="90000"/>
              </a:lnSpc>
              <a:buNone/>
            </a:pPr>
            <a:r>
              <a:rPr lang="en-US" sz="3800" i="1" dirty="0">
                <a:solidFill>
                  <a:schemeClr val="accent1"/>
                </a:solidFill>
                <a:latin typeface="Instrument Serif" pitchFamily="34" charset="0"/>
                <a:ea typeface="Instrument Serif" pitchFamily="34" charset="-122"/>
                <a:cs typeface="Instrument Serif" pitchFamily="34" charset="-120"/>
              </a:rPr>
              <a:t>comprensión del negocio y análisis estratégico</a:t>
            </a:r>
            <a:endParaRPr lang="en-US" sz="5400" dirty="0"/>
          </a:p>
        </p:txBody>
      </p:sp>
      <p:sp>
        <p:nvSpPr>
          <p:cNvPr id="5" name="Shape 3"/>
          <p:cNvSpPr/>
          <p:nvPr/>
        </p:nvSpPr>
        <p:spPr>
          <a:xfrm>
            <a:off x="548640" y="2788920"/>
            <a:ext cx="54864" cy="786384"/>
          </a:xfrm>
          <a:prstGeom prst="line">
            <a:avLst/>
          </a:prstGeom>
          <a:noFill/>
          <a:ln w="38100">
            <a:solidFill>
              <a:schemeClr val="accent1"/>
            </a:solidFill>
            <a:prstDash val="solid"/>
          </a:ln>
        </p:spPr>
      </p:sp>
      <p:sp>
        <p:nvSpPr>
          <p:cNvPr id="6" name="Text 4"/>
          <p:cNvSpPr txBox="1"/>
          <p:nvPr/>
        </p:nvSpPr>
        <p:spPr>
          <a:xfrm>
            <a:off x="822960" y="2770632"/>
            <a:ext cx="4937760" cy="822960"/>
          </a:xfrm>
          <a:prstGeom prst="rect">
            <a:avLst/>
          </a:prstGeom>
          <a:noFill/>
          <a:ln/>
        </p:spPr>
        <p:txBody>
          <a:bodyPr wrap="square" lIns="0" tIns="0" rIns="0" bIns="0" rtlCol="0" anchor="ctr"/>
          <a:lstStyle/>
          <a:p>
            <a:pPr indent="0" marL="0">
              <a:lnSpc>
                <a:spcPct val="105000"/>
              </a:lnSpc>
              <a:buNone/>
            </a:pPr>
            <a:r>
              <a:rPr lang="es-CL" altLang="en-US" sz="2100" b="1" dirty="0">
                <a:solidFill>
                  <a:schemeClr val="tx1"/>
                </a:solidFill>
                <a:latin typeface="Figtree" pitchFamily="34" charset="0"/>
                <a:ea typeface="Figtree" pitchFamily="34" charset="-122"/>
                <a:cs typeface="Figtree" pitchFamily="34" charset="-120"/>
              </a:rPr>
              <a:t>Lumine es preoperativa: </a:t>
            </a:r>
            <a:pPr indent="0" marL="0">
              <a:lnSpc>
                <a:spcPct val="105000"/>
              </a:lnSpc>
              <a:buNone/>
            </a:pPr>
            <a:r>
              <a:rPr lang="es-CL" altLang="en-US" sz="2100" dirty="0">
                <a:solidFill>
                  <a:schemeClr val="tx2"/>
                </a:solidFill>
                <a:latin typeface="Figtree" pitchFamily="34" charset="0"/>
                <a:ea typeface="Figtree" pitchFamily="34" charset="-122"/>
                <a:cs typeface="Figtree" pitchFamily="34" charset="-120"/>
              </a:rPr>
              <a:t>este avance fundamenta el negocio; no presenta resultados.</a:t>
            </a:r>
            <a:endParaRPr lang="es-CL" sz="2100" dirty="0"/>
          </a:p>
        </p:txBody>
      </p:sp>
      <p:sp>
        <p:nvSpPr>
          <p:cNvPr id="7" name="Shape 5"/>
          <p:cNvSpPr/>
          <p:nvPr/>
        </p:nvSpPr>
        <p:spPr>
          <a:xfrm>
            <a:off x="548640" y="4846320"/>
            <a:ext cx="1097280" cy="0"/>
          </a:xfrm>
          <a:prstGeom prst="line">
            <a:avLst/>
          </a:prstGeom>
          <a:noFill/>
          <a:ln w="15875">
            <a:solidFill>
              <a:schemeClr val="accent1"/>
            </a:solidFill>
            <a:prstDash val="solid"/>
          </a:ln>
        </p:spPr>
      </p:sp>
      <p:sp>
        <p:nvSpPr>
          <p:cNvPr id="8" name="Text 6"/>
          <p:cNvSpPr txBox="1"/>
          <p:nvPr/>
        </p:nvSpPr>
        <p:spPr>
          <a:xfrm>
            <a:off x="548640" y="4992624"/>
            <a:ext cx="3429000" cy="1280160"/>
          </a:xfrm>
          <a:prstGeom prst="rect">
            <a:avLst/>
          </a:prstGeom>
          <a:noFill/>
          <a:ln/>
        </p:spPr>
        <p:txBody>
          <a:bodyPr wrap="square" lIns="0" tIns="0" rIns="0" bIns="0" rtlCol="0" anchor="t"/>
          <a:lstStyle/>
          <a:p>
            <a:pPr indent="0" marL="0">
              <a:lnSpc>
                <a:spcPct val="115000"/>
              </a:lnSpc>
              <a:buNone/>
            </a:pPr>
            <a:r>
              <a:rPr lang="es-CL" altLang="en-US" sz="1200" b="1" dirty="0">
                <a:solidFill>
                  <a:schemeClr val="tx1"/>
                </a:solidFill>
                <a:latin typeface="Figtree" pitchFamily="34" charset="0"/>
                <a:ea typeface="Figtree" pitchFamily="34" charset="-122"/>
                <a:cs typeface="Figtree" pitchFamily="34" charset="-120"/>
              </a:rPr>
              <a:t>Control de Gestión · ICMA901</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Sección 500 · NRC 4118 · UNAB</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Profesor: Leonardo Lizana Contreras</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Diego Alarcón · Benjamín Torres · Lukas Verdugo</a:t>
            </a:r>
            <a:endParaRPr lang="es-CL" sz="1200" dirty="0"/>
          </a:p>
        </p:txBody>
      </p:sp>
      <p:sp>
        <p:nvSpPr>
          <p:cNvPr id="9" name="Shape 7"/>
          <p:cNvSpPr/>
          <p:nvPr/>
        </p:nvSpPr>
        <p:spPr>
          <a:xfrm>
            <a:off x="5010912" y="6163056"/>
            <a:ext cx="4297680" cy="0"/>
          </a:xfrm>
          <a:prstGeom prst="line">
            <a:avLst/>
          </a:prstGeom>
          <a:noFill/>
          <a:ln w="9525">
            <a:solidFill>
              <a:schemeClr val="tx2"/>
            </a:solidFill>
            <a:prstDash val="solid"/>
          </a:ln>
        </p:spPr>
      </p:sp>
      <p:sp>
        <p:nvSpPr>
          <p:cNvPr id="10" name="Shape 8"/>
          <p:cNvSpPr/>
          <p:nvPr/>
        </p:nvSpPr>
        <p:spPr>
          <a:xfrm>
            <a:off x="5010912" y="4608576"/>
            <a:ext cx="0" cy="1554480"/>
          </a:xfrm>
          <a:prstGeom prst="line">
            <a:avLst/>
          </a:prstGeom>
          <a:noFill/>
          <a:ln w="9525">
            <a:solidFill>
              <a:schemeClr val="tx2"/>
            </a:solidFill>
            <a:prstDash val="sysDot"/>
          </a:ln>
        </p:spPr>
      </p:sp>
      <p:sp>
        <p:nvSpPr>
          <p:cNvPr id="11" name="Shape 9"/>
          <p:cNvSpPr/>
          <p:nvPr/>
        </p:nvSpPr>
        <p:spPr>
          <a:xfrm>
            <a:off x="4956048" y="4489704"/>
            <a:ext cx="109728" cy="109728"/>
          </a:xfrm>
          <a:prstGeom prst="ellipse">
            <a:avLst/>
          </a:prstGeom>
          <a:solidFill>
            <a:schemeClr val="accent1"/>
          </a:solidFill>
          <a:ln w="9525">
            <a:solidFill>
              <a:schemeClr val="tx1"/>
            </a:solidFill>
            <a:prstDash val="solid"/>
          </a:ln>
        </p:spPr>
      </p:sp>
      <p:sp>
        <p:nvSpPr>
          <p:cNvPr id="12" name="Shape 10"/>
          <p:cNvSpPr/>
          <p:nvPr/>
        </p:nvSpPr>
        <p:spPr>
          <a:xfrm>
            <a:off x="4978908" y="6131052"/>
            <a:ext cx="64008" cy="64008"/>
          </a:xfrm>
          <a:prstGeom prst="rect">
            <a:avLst/>
          </a:prstGeom>
          <a:solidFill>
            <a:schemeClr val="tx1"/>
          </a:solidFill>
          <a:ln/>
        </p:spPr>
      </p:sp>
      <p:sp>
        <p:nvSpPr>
          <p:cNvPr id="13" name="Text 11"/>
          <p:cNvSpPr txBox="1"/>
          <p:nvPr/>
        </p:nvSpPr>
        <p:spPr>
          <a:xfrm>
            <a:off x="400507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ORIGINAL</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intacto</a:t>
            </a:r>
            <a:endParaRPr lang="es-CL" sz="1200" dirty="0"/>
          </a:p>
        </p:txBody>
      </p:sp>
      <p:sp>
        <p:nvSpPr>
          <p:cNvPr id="14" name="Shape 12"/>
          <p:cNvSpPr/>
          <p:nvPr/>
        </p:nvSpPr>
        <p:spPr>
          <a:xfrm>
            <a:off x="6931152" y="5166360"/>
            <a:ext cx="0" cy="996696"/>
          </a:xfrm>
          <a:prstGeom prst="line">
            <a:avLst/>
          </a:prstGeom>
          <a:noFill/>
          <a:ln w="9525">
            <a:solidFill>
              <a:schemeClr val="tx2"/>
            </a:solidFill>
            <a:prstDash val="sysDot"/>
          </a:ln>
        </p:spPr>
      </p:sp>
      <p:sp>
        <p:nvSpPr>
          <p:cNvPr id="15" name="Shape 13"/>
          <p:cNvSpPr/>
          <p:nvPr/>
        </p:nvSpPr>
        <p:spPr>
          <a:xfrm>
            <a:off x="6876288" y="5047488"/>
            <a:ext cx="109728" cy="109728"/>
          </a:xfrm>
          <a:prstGeom prst="ellipse">
            <a:avLst/>
          </a:prstGeom>
          <a:solidFill>
            <a:schemeClr val="accent1"/>
          </a:solidFill>
          <a:ln w="9525">
            <a:solidFill>
              <a:schemeClr val="tx1"/>
            </a:solidFill>
            <a:prstDash val="solid"/>
          </a:ln>
        </p:spPr>
      </p:sp>
      <p:sp>
        <p:nvSpPr>
          <p:cNvPr id="16" name="Shape 14"/>
          <p:cNvSpPr/>
          <p:nvPr/>
        </p:nvSpPr>
        <p:spPr>
          <a:xfrm>
            <a:off x="6899148" y="6131052"/>
            <a:ext cx="64008" cy="64008"/>
          </a:xfrm>
          <a:prstGeom prst="rect">
            <a:avLst/>
          </a:prstGeom>
          <a:solidFill>
            <a:schemeClr val="tx1"/>
          </a:solidFill>
          <a:ln/>
        </p:spPr>
      </p:sp>
      <p:sp>
        <p:nvSpPr>
          <p:cNvPr id="17" name="Text 15"/>
          <p:cNvSpPr txBox="1"/>
          <p:nvPr/>
        </p:nvSpPr>
        <p:spPr>
          <a:xfrm>
            <a:off x="592531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BATERÍA</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bajo el piso</a:t>
            </a:r>
            <a:endParaRPr lang="es-CL" sz="1200" dirty="0"/>
          </a:p>
        </p:txBody>
      </p:sp>
      <p:sp>
        <p:nvSpPr>
          <p:cNvPr id="18" name="Shape 16"/>
          <p:cNvSpPr/>
          <p:nvPr/>
        </p:nvSpPr>
        <p:spPr>
          <a:xfrm>
            <a:off x="9308592" y="5102352"/>
            <a:ext cx="0" cy="1060704"/>
          </a:xfrm>
          <a:prstGeom prst="line">
            <a:avLst/>
          </a:prstGeom>
          <a:noFill/>
          <a:ln w="9525">
            <a:solidFill>
              <a:schemeClr val="tx2"/>
            </a:solidFill>
            <a:prstDash val="sysDot"/>
          </a:ln>
        </p:spPr>
      </p:sp>
      <p:sp>
        <p:nvSpPr>
          <p:cNvPr id="19" name="Shape 17"/>
          <p:cNvSpPr/>
          <p:nvPr/>
        </p:nvSpPr>
        <p:spPr>
          <a:xfrm>
            <a:off x="9253728" y="4983480"/>
            <a:ext cx="109728" cy="109728"/>
          </a:xfrm>
          <a:prstGeom prst="ellipse">
            <a:avLst/>
          </a:prstGeom>
          <a:solidFill>
            <a:schemeClr val="accent1"/>
          </a:solidFill>
          <a:ln w="9525">
            <a:solidFill>
              <a:schemeClr val="tx1"/>
            </a:solidFill>
            <a:prstDash val="solid"/>
          </a:ln>
        </p:spPr>
      </p:sp>
      <p:sp>
        <p:nvSpPr>
          <p:cNvPr id="20" name="Shape 18"/>
          <p:cNvSpPr/>
          <p:nvPr/>
        </p:nvSpPr>
        <p:spPr>
          <a:xfrm>
            <a:off x="9276588" y="6131052"/>
            <a:ext cx="64008" cy="64008"/>
          </a:xfrm>
          <a:prstGeom prst="rect">
            <a:avLst/>
          </a:prstGeom>
          <a:solidFill>
            <a:schemeClr val="tx1"/>
          </a:solidFill>
          <a:ln/>
        </p:spPr>
      </p:sp>
      <p:sp>
        <p:nvSpPr>
          <p:cNvPr id="21" name="Text 19"/>
          <p:cNvSpPr txBox="1"/>
          <p:nvPr/>
        </p:nvSpPr>
        <p:spPr>
          <a:xfrm>
            <a:off x="830275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TRACCIÓN ELÉCTRICA</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eje trasero</a:t>
            </a:r>
            <a:endParaRPr lang="es-CL" sz="1200" dirty="0"/>
          </a:p>
        </p:txBody>
      </p:sp>
      <p:sp>
        <p:nvSpPr>
          <p:cNvPr id="22" name="Text 20"/>
          <p:cNvSpPr txBox="1"/>
          <p:nvPr/>
        </p:nvSpPr>
        <p:spPr>
          <a:xfrm>
            <a:off x="8899855" y="640080"/>
            <a:ext cx="2743200" cy="237744"/>
          </a:xfrm>
          <a:prstGeom prst="rect">
            <a:avLst/>
          </a:prstGeom>
          <a:noFill/>
          <a:ln/>
        </p:spPr>
        <p:txBody>
          <a:bodyPr wrap="square" lIns="0" tIns="0" rIns="0" bIns="0" rtlCol="0" anchor="t"/>
          <a:lstStyle/>
          <a:p>
            <a:pPr algn="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ILUSTRACIÓN DEL KIT</a:t>
            </a:r>
            <a:endParaRPr lang="es-CL"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3 · INTRODUCCIÓN · CONTEXTO Y PROBLEMA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PARQUE SE CONSERVA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usarlo cuesta cada vez más.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CAVEM (2026), mercado automotor enero-agosto; CNE, Bencina en Línea, citado por Emol (24-03-2026); Banco Central de Chile (2026), IPoM de septiembre.</a:t>
            </a:r>
            <a:endParaRPr lang="es-CL" sz="1100" dirty="0"/>
          </a:p>
        </p:txBody>
      </p:sp>
      <p:sp>
        <p:nvSpPr>
          <p:cNvPr id="5" name="Shape 3"/>
          <p:cNvSpPr/>
          <p:nvPr/>
        </p:nvSpPr>
        <p:spPr>
          <a:xfrm>
            <a:off x="548640" y="2395728"/>
            <a:ext cx="3484778" cy="2487168"/>
          </a:xfrm>
          <a:prstGeom prst="rect">
            <a:avLst/>
          </a:prstGeom>
          <a:solidFill>
            <a:schemeClr val="bg2"/>
          </a:solidFill>
          <a:ln w="9525">
            <a:solidFill>
              <a:schemeClr val="tx2"/>
            </a:solidFill>
            <a:prstDash val="solid"/>
          </a:ln>
        </p:spPr>
      </p:sp>
      <p:sp>
        <p:nvSpPr>
          <p:cNvPr id="6" name="Text 4"/>
          <p:cNvSpPr txBox="1"/>
          <p:nvPr/>
        </p:nvSpPr>
        <p:spPr>
          <a:xfrm>
            <a:off x="777240" y="2578608"/>
            <a:ext cx="302757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SE CONSERVA EL AUTO</a:t>
            </a:r>
            <a:endParaRPr lang="es-CL" sz="1300" dirty="0"/>
          </a:p>
        </p:txBody>
      </p:sp>
      <p:sp>
        <p:nvSpPr>
          <p:cNvPr id="7" name="Text 5"/>
          <p:cNvSpPr txBox="1"/>
          <p:nvPr/>
        </p:nvSpPr>
        <p:spPr>
          <a:xfrm>
            <a:off x="777240" y="2852928"/>
            <a:ext cx="3027578" cy="777240"/>
          </a:xfrm>
          <a:prstGeom prst="rect">
            <a:avLst/>
          </a:prstGeom>
          <a:noFill/>
          <a:ln/>
        </p:spPr>
        <p:txBody>
          <a:bodyPr wrap="square" lIns="0" tIns="0" rIns="0" bIns="0" rtlCol="0" anchor="ctr"/>
          <a:lstStyle/>
          <a:p>
            <a:pPr indent="0" marL="0">
              <a:buNone/>
            </a:pPr>
            <a:r>
              <a:rPr lang="es-CL" altLang="en-US" sz="5400" b="1" dirty="0">
                <a:solidFill>
                  <a:schemeClr val="tx1"/>
                </a:solidFill>
                <a:latin typeface="Archivo Condensed" pitchFamily="34" charset="0"/>
                <a:ea typeface="Archivo Condensed" pitchFamily="34" charset="-122"/>
                <a:cs typeface="Archivo Condensed" pitchFamily="34" charset="-120"/>
              </a:rPr>
              <a:t>3,5</a:t>
            </a:r>
            <a:endParaRPr lang="es-CL" sz="5400" dirty="0"/>
          </a:p>
        </p:txBody>
      </p:sp>
      <p:sp>
        <p:nvSpPr>
          <p:cNvPr id="8" name="Text 6"/>
          <p:cNvSpPr txBox="1"/>
          <p:nvPr/>
        </p:nvSpPr>
        <p:spPr>
          <a:xfrm>
            <a:off x="777240" y="3630168"/>
            <a:ext cx="3027578"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autos usados transferidos por cada auto nuevo inscrito</a:t>
            </a:r>
            <a:endParaRPr lang="es-CL" sz="1600" dirty="0"/>
          </a:p>
        </p:txBody>
      </p:sp>
      <p:sp>
        <p:nvSpPr>
          <p:cNvPr id="9" name="Text 7"/>
          <p:cNvSpPr txBox="1"/>
          <p:nvPr/>
        </p:nvSpPr>
        <p:spPr>
          <a:xfrm>
            <a:off x="777240" y="4498848"/>
            <a:ext cx="3027578" cy="310896"/>
          </a:xfrm>
          <a:prstGeom prst="rect">
            <a:avLst/>
          </a:prstGeom>
          <a:noFill/>
          <a:ln/>
        </p:spPr>
        <p:txBody>
          <a:bodyPr wrap="square" lIns="0" tIns="0" rIns="0" bIns="0" rtlCol="0" anchor="b"/>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Enero a agosto de 2026 · CAVEM</a:t>
            </a:r>
            <a:endParaRPr lang="es-CL" sz="1100" dirty="0"/>
          </a:p>
        </p:txBody>
      </p:sp>
      <p:pic>
        <p:nvPicPr>
          <p:cNvPr id="10" name="Image 0" descr="C:\Users\Usuario\Documents\GitHub\lumine\control-3\generador\assets\brillo.png">    </p:cNvPr>
          <p:cNvPicPr>
            <a:picLocks noChangeAspect="1"/>
          </p:cNvPicPr>
          <p:nvPr/>
        </p:nvPicPr>
        <p:blipFill>
          <a:blip r:embed="rId1"/>
          <a:stretch>
            <a:fillRect/>
          </a:stretch>
        </p:blipFill>
        <p:spPr>
          <a:xfrm>
            <a:off x="3896258" y="2075688"/>
            <a:ext cx="4399178" cy="3127248"/>
          </a:xfrm>
          <a:prstGeom prst="rect">
            <a:avLst/>
          </a:prstGeom>
        </p:spPr>
      </p:pic>
      <p:sp>
        <p:nvSpPr>
          <p:cNvPr id="11" name="Shape 8"/>
          <p:cNvSpPr/>
          <p:nvPr/>
        </p:nvSpPr>
        <p:spPr>
          <a:xfrm>
            <a:off x="4353458" y="2395728"/>
            <a:ext cx="3484778" cy="2487168"/>
          </a:xfrm>
          <a:prstGeom prst="rect">
            <a:avLst/>
          </a:prstGeom>
          <a:solidFill>
            <a:srgbClr val="0B1A22"/>
          </a:solidFill>
          <a:ln w="15875">
            <a:solidFill>
              <a:schemeClr val="accent1"/>
            </a:solidFill>
            <a:prstDash val="solid"/>
          </a:ln>
        </p:spPr>
      </p:sp>
      <p:sp>
        <p:nvSpPr>
          <p:cNvPr id="12" name="Shape 9"/>
          <p:cNvSpPr/>
          <p:nvPr/>
        </p:nvSpPr>
        <p:spPr>
          <a:xfrm>
            <a:off x="4298594" y="2340864"/>
            <a:ext cx="155448" cy="0"/>
          </a:xfrm>
          <a:prstGeom prst="line">
            <a:avLst/>
          </a:prstGeom>
          <a:noFill/>
          <a:ln w="15875">
            <a:solidFill>
              <a:schemeClr val="accent1"/>
            </a:solidFill>
            <a:prstDash val="solid"/>
          </a:ln>
        </p:spPr>
      </p:sp>
      <p:sp>
        <p:nvSpPr>
          <p:cNvPr id="13" name="Shape 10"/>
          <p:cNvSpPr/>
          <p:nvPr/>
        </p:nvSpPr>
        <p:spPr>
          <a:xfrm>
            <a:off x="4298594" y="2340864"/>
            <a:ext cx="0" cy="155448"/>
          </a:xfrm>
          <a:prstGeom prst="line">
            <a:avLst/>
          </a:prstGeom>
          <a:noFill/>
          <a:ln w="15875">
            <a:solidFill>
              <a:schemeClr val="accent1"/>
            </a:solidFill>
            <a:prstDash val="solid"/>
          </a:ln>
        </p:spPr>
      </p:sp>
      <p:sp>
        <p:nvSpPr>
          <p:cNvPr id="14" name="Shape 11"/>
          <p:cNvSpPr/>
          <p:nvPr/>
        </p:nvSpPr>
        <p:spPr>
          <a:xfrm>
            <a:off x="7737653" y="2340864"/>
            <a:ext cx="155448" cy="0"/>
          </a:xfrm>
          <a:prstGeom prst="line">
            <a:avLst/>
          </a:prstGeom>
          <a:noFill/>
          <a:ln w="15875">
            <a:solidFill>
              <a:schemeClr val="accent1"/>
            </a:solidFill>
            <a:prstDash val="solid"/>
          </a:ln>
        </p:spPr>
      </p:sp>
      <p:sp>
        <p:nvSpPr>
          <p:cNvPr id="15" name="Shape 12"/>
          <p:cNvSpPr/>
          <p:nvPr/>
        </p:nvSpPr>
        <p:spPr>
          <a:xfrm>
            <a:off x="7893101" y="2340864"/>
            <a:ext cx="0" cy="155448"/>
          </a:xfrm>
          <a:prstGeom prst="line">
            <a:avLst/>
          </a:prstGeom>
          <a:noFill/>
          <a:ln w="15875">
            <a:solidFill>
              <a:schemeClr val="accent1"/>
            </a:solidFill>
            <a:prstDash val="solid"/>
          </a:ln>
        </p:spPr>
      </p:sp>
      <p:sp>
        <p:nvSpPr>
          <p:cNvPr id="16" name="Shape 13"/>
          <p:cNvSpPr/>
          <p:nvPr/>
        </p:nvSpPr>
        <p:spPr>
          <a:xfrm>
            <a:off x="4298594" y="4937760"/>
            <a:ext cx="155448" cy="0"/>
          </a:xfrm>
          <a:prstGeom prst="line">
            <a:avLst/>
          </a:prstGeom>
          <a:noFill/>
          <a:ln w="15875">
            <a:solidFill>
              <a:schemeClr val="accent1"/>
            </a:solidFill>
            <a:prstDash val="solid"/>
          </a:ln>
        </p:spPr>
      </p:sp>
      <p:sp>
        <p:nvSpPr>
          <p:cNvPr id="17" name="Shape 14"/>
          <p:cNvSpPr/>
          <p:nvPr/>
        </p:nvSpPr>
        <p:spPr>
          <a:xfrm>
            <a:off x="4298594" y="4782312"/>
            <a:ext cx="0" cy="155448"/>
          </a:xfrm>
          <a:prstGeom prst="line">
            <a:avLst/>
          </a:prstGeom>
          <a:noFill/>
          <a:ln w="15875">
            <a:solidFill>
              <a:schemeClr val="accent1"/>
            </a:solidFill>
            <a:prstDash val="solid"/>
          </a:ln>
        </p:spPr>
      </p:sp>
      <p:sp>
        <p:nvSpPr>
          <p:cNvPr id="18" name="Shape 15"/>
          <p:cNvSpPr/>
          <p:nvPr/>
        </p:nvSpPr>
        <p:spPr>
          <a:xfrm>
            <a:off x="7737653" y="4937760"/>
            <a:ext cx="155448" cy="0"/>
          </a:xfrm>
          <a:prstGeom prst="line">
            <a:avLst/>
          </a:prstGeom>
          <a:noFill/>
          <a:ln w="15875">
            <a:solidFill>
              <a:schemeClr val="accent1"/>
            </a:solidFill>
            <a:prstDash val="solid"/>
          </a:ln>
        </p:spPr>
      </p:sp>
      <p:sp>
        <p:nvSpPr>
          <p:cNvPr id="19" name="Shape 16"/>
          <p:cNvSpPr/>
          <p:nvPr/>
        </p:nvSpPr>
        <p:spPr>
          <a:xfrm>
            <a:off x="7893101" y="4782312"/>
            <a:ext cx="0" cy="155448"/>
          </a:xfrm>
          <a:prstGeom prst="line">
            <a:avLst/>
          </a:prstGeom>
          <a:noFill/>
          <a:ln w="15875">
            <a:solidFill>
              <a:schemeClr val="accent1"/>
            </a:solidFill>
            <a:prstDash val="solid"/>
          </a:ln>
        </p:spPr>
      </p:sp>
      <p:sp>
        <p:nvSpPr>
          <p:cNvPr id="20" name="Text 17"/>
          <p:cNvSpPr txBox="1"/>
          <p:nvPr/>
        </p:nvSpPr>
        <p:spPr>
          <a:xfrm>
            <a:off x="4582058" y="2578608"/>
            <a:ext cx="302757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USARLO CUESTA MÁS</a:t>
            </a:r>
            <a:endParaRPr lang="es-CL" sz="1300" dirty="0"/>
          </a:p>
        </p:txBody>
      </p:sp>
      <p:sp>
        <p:nvSpPr>
          <p:cNvPr id="21" name="Text 18"/>
          <p:cNvSpPr txBox="1"/>
          <p:nvPr/>
        </p:nvSpPr>
        <p:spPr>
          <a:xfrm>
            <a:off x="4582058" y="2852928"/>
            <a:ext cx="3027578" cy="777240"/>
          </a:xfrm>
          <a:prstGeom prst="rect">
            <a:avLst/>
          </a:prstGeom>
          <a:noFill/>
          <a:ln/>
        </p:spPr>
        <p:txBody>
          <a:bodyPr wrap="square" lIns="0" tIns="0" rIns="0" bIns="0" rtlCol="0" anchor="ctr"/>
          <a:lstStyle/>
          <a:p>
            <a:pPr indent="0" marL="0">
              <a:buNone/>
            </a:pPr>
            <a:r>
              <a:rPr lang="es-CL" altLang="en-US" sz="5400" b="1" dirty="0">
                <a:solidFill>
                  <a:schemeClr val="accent1"/>
                </a:solidFill>
                <a:latin typeface="Archivo Condensed" pitchFamily="34" charset="0"/>
                <a:ea typeface="Archivo Condensed" pitchFamily="34" charset="-122"/>
                <a:cs typeface="Archivo Condensed" pitchFamily="34" charset="-120"/>
              </a:rPr>
              <a:t>+$370</a:t>
            </a:r>
            <a:endParaRPr lang="es-CL" sz="5400" dirty="0"/>
          </a:p>
        </p:txBody>
      </p:sp>
      <p:sp>
        <p:nvSpPr>
          <p:cNvPr id="22" name="Text 19"/>
          <p:cNvSpPr txBox="1"/>
          <p:nvPr/>
        </p:nvSpPr>
        <p:spPr>
          <a:xfrm>
            <a:off x="4582058" y="3630168"/>
            <a:ext cx="3027578"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por litro de bencina 93 en la RM con el alza de marzo ($1.169 a $1.539)</a:t>
            </a:r>
            <a:endParaRPr lang="es-CL" sz="1600" dirty="0"/>
          </a:p>
        </p:txBody>
      </p:sp>
      <p:sp>
        <p:nvSpPr>
          <p:cNvPr id="23" name="Text 20"/>
          <p:cNvSpPr txBox="1"/>
          <p:nvPr/>
        </p:nvSpPr>
        <p:spPr>
          <a:xfrm>
            <a:off x="4582058" y="4498848"/>
            <a:ext cx="3027578" cy="310896"/>
          </a:xfrm>
          <a:prstGeom prst="rect">
            <a:avLst/>
          </a:prstGeom>
          <a:noFill/>
          <a:ln/>
        </p:spPr>
        <p:txBody>
          <a:bodyPr wrap="square" lIns="0" tIns="0" rIns="0" bIns="0" rtlCol="0" anchor="b"/>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Marzo de 2026 · CNE, Bencina en Línea</a:t>
            </a:r>
            <a:endParaRPr lang="es-CL" sz="1100" dirty="0"/>
          </a:p>
        </p:txBody>
      </p:sp>
      <p:sp>
        <p:nvSpPr>
          <p:cNvPr id="24" name="Shape 21"/>
          <p:cNvSpPr/>
          <p:nvPr/>
        </p:nvSpPr>
        <p:spPr>
          <a:xfrm>
            <a:off x="8158277" y="2395728"/>
            <a:ext cx="3484778" cy="2487168"/>
          </a:xfrm>
          <a:prstGeom prst="rect">
            <a:avLst/>
          </a:prstGeom>
          <a:solidFill>
            <a:schemeClr val="bg2"/>
          </a:solidFill>
          <a:ln w="9525">
            <a:solidFill>
              <a:schemeClr val="tx2"/>
            </a:solidFill>
            <a:prstDash val="solid"/>
          </a:ln>
        </p:spPr>
      </p:sp>
      <p:sp>
        <p:nvSpPr>
          <p:cNvPr id="25" name="Text 22"/>
          <p:cNvSpPr txBox="1"/>
          <p:nvPr/>
        </p:nvSpPr>
        <p:spPr>
          <a:xfrm>
            <a:off x="8386877" y="2578608"/>
            <a:ext cx="302757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LA ECONOMÍA SE FRENA</a:t>
            </a:r>
            <a:endParaRPr lang="es-CL" sz="1300" dirty="0"/>
          </a:p>
        </p:txBody>
      </p:sp>
      <p:sp>
        <p:nvSpPr>
          <p:cNvPr id="26" name="Text 23"/>
          <p:cNvSpPr txBox="1"/>
          <p:nvPr/>
        </p:nvSpPr>
        <p:spPr>
          <a:xfrm>
            <a:off x="8386877" y="2852928"/>
            <a:ext cx="3027578" cy="777240"/>
          </a:xfrm>
          <a:prstGeom prst="rect">
            <a:avLst/>
          </a:prstGeom>
          <a:noFill/>
          <a:ln/>
        </p:spPr>
        <p:txBody>
          <a:bodyPr wrap="square" lIns="0" tIns="0" rIns="0" bIns="0" rtlCol="0" anchor="ctr"/>
          <a:lstStyle/>
          <a:p>
            <a:pPr indent="0" marL="0">
              <a:buNone/>
            </a:pPr>
            <a:r>
              <a:rPr lang="es-CL" altLang="en-US" sz="4000" b="1" dirty="0">
                <a:solidFill>
                  <a:schemeClr val="tx1"/>
                </a:solidFill>
                <a:latin typeface="Archivo Condensed" pitchFamily="34" charset="0"/>
                <a:ea typeface="Archivo Condensed" pitchFamily="34" charset="-122"/>
                <a:cs typeface="Archivo Condensed" pitchFamily="34" charset="-120"/>
              </a:rPr>
              <a:t>0,25%–0,75%</a:t>
            </a:r>
            <a:endParaRPr lang="es-CL" sz="4000" dirty="0"/>
          </a:p>
        </p:txBody>
      </p:sp>
      <p:sp>
        <p:nvSpPr>
          <p:cNvPr id="27" name="Text 24"/>
          <p:cNvSpPr txBox="1"/>
          <p:nvPr/>
        </p:nvSpPr>
        <p:spPr>
          <a:xfrm>
            <a:off x="8386877" y="3630168"/>
            <a:ext cx="3027578"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crecimiento proyectado para 2026, recortado en parte por el alza de los combustibles</a:t>
            </a:r>
            <a:endParaRPr lang="es-CL" sz="1600" dirty="0"/>
          </a:p>
        </p:txBody>
      </p:sp>
      <p:sp>
        <p:nvSpPr>
          <p:cNvPr id="28" name="Text 25"/>
          <p:cNvSpPr txBox="1"/>
          <p:nvPr/>
        </p:nvSpPr>
        <p:spPr>
          <a:xfrm>
            <a:off x="8386877" y="4498848"/>
            <a:ext cx="3027578" cy="310896"/>
          </a:xfrm>
          <a:prstGeom prst="rect">
            <a:avLst/>
          </a:prstGeom>
          <a:noFill/>
          <a:ln/>
        </p:spPr>
        <p:txBody>
          <a:bodyPr wrap="square" lIns="0" tIns="0" rIns="0" bIns="0" rtlCol="0" anchor="b"/>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Septiembre de 2026 · Banco Central, IPoM</a:t>
            </a:r>
            <a:endParaRPr lang="es-CL" sz="1100" dirty="0"/>
          </a:p>
        </p:txBody>
      </p:sp>
      <p:sp>
        <p:nvSpPr>
          <p:cNvPr id="29" name="Shape 26"/>
          <p:cNvSpPr/>
          <p:nvPr/>
        </p:nvSpPr>
        <p:spPr>
          <a:xfrm>
            <a:off x="548640" y="5065776"/>
            <a:ext cx="11094415" cy="0"/>
          </a:xfrm>
          <a:prstGeom prst="line">
            <a:avLst/>
          </a:prstGeom>
          <a:noFill/>
          <a:ln w="9525">
            <a:solidFill>
              <a:schemeClr val="accent1"/>
            </a:solidFill>
            <a:prstDash val="solid"/>
          </a:ln>
        </p:spPr>
      </p:sp>
      <p:sp>
        <p:nvSpPr>
          <p:cNvPr id="30" name="Text 27"/>
          <p:cNvSpPr txBox="1"/>
          <p:nvPr/>
        </p:nvSpPr>
        <p:spPr>
          <a:xfrm>
            <a:off x="548640" y="5157216"/>
            <a:ext cx="2194560" cy="438912"/>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PROBLEMA</a:t>
            </a:r>
            <a:endParaRPr lang="es-CL" sz="1300" dirty="0"/>
          </a:p>
        </p:txBody>
      </p:sp>
      <p:sp>
        <p:nvSpPr>
          <p:cNvPr id="31" name="Text 28"/>
          <p:cNvSpPr txBox="1"/>
          <p:nvPr/>
        </p:nvSpPr>
        <p:spPr>
          <a:xfrm>
            <a:off x="2788920" y="5157216"/>
            <a:ext cx="8854135" cy="43891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Quien depende de su auto paga cada vez más por usarlo y no puede cambiarlo.</a:t>
            </a:r>
            <a:endParaRPr lang="es-CL" sz="1800" dirty="0"/>
          </a:p>
        </p:txBody>
      </p:sp>
      <p:sp>
        <p:nvSpPr>
          <p:cNvPr id="32" name="Text 29"/>
          <p:cNvSpPr txBox="1"/>
          <p:nvPr/>
        </p:nvSpPr>
        <p:spPr>
          <a:xfrm>
            <a:off x="548640" y="5660136"/>
            <a:ext cx="2194560" cy="438912"/>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OBJETIVO DEL AVANCE</a:t>
            </a:r>
            <a:endParaRPr lang="es-CL" sz="1300" dirty="0"/>
          </a:p>
        </p:txBody>
      </p:sp>
      <p:sp>
        <p:nvSpPr>
          <p:cNvPr id="33" name="Text 30"/>
          <p:cNvSpPr txBox="1"/>
          <p:nvPr/>
        </p:nvSpPr>
        <p:spPr>
          <a:xfrm>
            <a:off x="2788920" y="5660136"/>
            <a:ext cx="8854135" cy="438912"/>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Entender si Lumine responde a ese problema y en qué condiciones.</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4 · COMPRENSIÓN DEL NEGOCIO · LA SOLUCIÓN</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UN KIT QUE SE SUMA,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reemplaza.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presentación «Análisis estratégico» de Control de Gestión (octubre de 2026); contexto vigente del proyecto. Ilustración del kit, no un plano certificado.</a:t>
            </a:r>
            <a:endParaRPr lang="es-CL" sz="1100" dirty="0"/>
          </a:p>
        </p:txBody>
      </p:sp>
      <p:pic>
        <p:nvPicPr>
          <p:cNvPr id="5" name="Image 0" descr="Plano del kit: motor original adelante, unidad de control, banco de baterías y motor eléctrico en el eje trasero">    </p:cNvPr>
          <p:cNvPicPr>
            <a:picLocks noChangeAspect="1"/>
          </p:cNvPicPr>
          <p:nvPr/>
        </p:nvPicPr>
        <p:blipFill>
          <a:blip r:embed="rId1"/>
          <a:stretch>
            <a:fillRect/>
          </a:stretch>
        </p:blipFill>
        <p:spPr>
          <a:xfrm>
            <a:off x="640080" y="2350008"/>
            <a:ext cx="7955280" cy="2452878"/>
          </a:xfrm>
          <a:prstGeom prst="rect">
            <a:avLst/>
          </a:prstGeom>
        </p:spPr>
      </p:pic>
      <p:sp>
        <p:nvSpPr>
          <p:cNvPr id="6" name="Shape 3"/>
          <p:cNvSpPr/>
          <p:nvPr/>
        </p:nvSpPr>
        <p:spPr>
          <a:xfrm>
            <a:off x="548640" y="4894326"/>
            <a:ext cx="8138160" cy="0"/>
          </a:xfrm>
          <a:prstGeom prst="line">
            <a:avLst/>
          </a:prstGeom>
          <a:noFill/>
          <a:ln w="9525">
            <a:solidFill>
              <a:schemeClr val="accent5"/>
            </a:solidFill>
            <a:prstDash val="solid"/>
          </a:ln>
        </p:spPr>
      </p:sp>
      <p:sp>
        <p:nvSpPr>
          <p:cNvPr id="7" name="Shape 4"/>
          <p:cNvSpPr/>
          <p:nvPr/>
        </p:nvSpPr>
        <p:spPr>
          <a:xfrm>
            <a:off x="548640" y="5040630"/>
            <a:ext cx="457200" cy="310896"/>
          </a:xfrm>
          <a:prstGeom prst="rect">
            <a:avLst/>
          </a:prstGeom>
          <a:solidFill>
            <a:schemeClr val="accent5"/>
          </a:solidFill>
          <a:ln/>
        </p:spPr>
      </p:sp>
      <p:sp>
        <p:nvSpPr>
          <p:cNvPr id="8" name="Text 5"/>
          <p:cNvSpPr txBox="1"/>
          <p:nvPr/>
        </p:nvSpPr>
        <p:spPr>
          <a:xfrm>
            <a:off x="54864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01</a:t>
            </a:r>
            <a:endParaRPr lang="es-CL" sz="1400" dirty="0"/>
          </a:p>
        </p:txBody>
      </p:sp>
      <p:sp>
        <p:nvSpPr>
          <p:cNvPr id="9" name="Text 6"/>
          <p:cNvSpPr txBox="1"/>
          <p:nvPr/>
        </p:nvSpPr>
        <p:spPr>
          <a:xfrm>
            <a:off x="109728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ORIGINAL</a:t>
            </a:r>
            <a:endParaRPr lang="es-CL" sz="1200" dirty="0"/>
          </a:p>
        </p:txBody>
      </p:sp>
      <p:sp>
        <p:nvSpPr>
          <p:cNvPr id="10" name="Text 7"/>
          <p:cNvSpPr txBox="1"/>
          <p:nvPr/>
        </p:nvSpPr>
        <p:spPr>
          <a:xfrm>
            <a:off x="54864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Intacto, con su tracción delantera</a:t>
            </a:r>
            <a:endParaRPr lang="es-CL" sz="1600" dirty="0"/>
          </a:p>
        </p:txBody>
      </p:sp>
      <p:sp>
        <p:nvSpPr>
          <p:cNvPr id="11" name="Shape 8"/>
          <p:cNvSpPr/>
          <p:nvPr/>
        </p:nvSpPr>
        <p:spPr>
          <a:xfrm>
            <a:off x="2583180" y="5040630"/>
            <a:ext cx="457200" cy="310896"/>
          </a:xfrm>
          <a:prstGeom prst="rect">
            <a:avLst/>
          </a:prstGeom>
          <a:solidFill>
            <a:schemeClr val="accent1"/>
          </a:solidFill>
          <a:ln/>
        </p:spPr>
      </p:sp>
      <p:sp>
        <p:nvSpPr>
          <p:cNvPr id="12" name="Text 9"/>
          <p:cNvSpPr txBox="1"/>
          <p:nvPr/>
        </p:nvSpPr>
        <p:spPr>
          <a:xfrm>
            <a:off x="258318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02</a:t>
            </a:r>
            <a:endParaRPr lang="es-CL" sz="1400" dirty="0"/>
          </a:p>
        </p:txBody>
      </p:sp>
      <p:sp>
        <p:nvSpPr>
          <p:cNvPr id="13" name="Text 10"/>
          <p:cNvSpPr txBox="1"/>
          <p:nvPr/>
        </p:nvSpPr>
        <p:spPr>
          <a:xfrm>
            <a:off x="313182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UNIDAD DE CONTROL</a:t>
            </a:r>
            <a:endParaRPr lang="es-CL" sz="1200" dirty="0"/>
          </a:p>
        </p:txBody>
      </p:sp>
      <p:sp>
        <p:nvSpPr>
          <p:cNvPr id="14" name="Text 11"/>
          <p:cNvSpPr txBox="1"/>
          <p:nvPr/>
        </p:nvSpPr>
        <p:spPr>
          <a:xfrm>
            <a:off x="258318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Decide cuándo asistir y corta ante fallas</a:t>
            </a:r>
            <a:endParaRPr lang="es-CL" sz="1600" dirty="0"/>
          </a:p>
        </p:txBody>
      </p:sp>
      <p:sp>
        <p:nvSpPr>
          <p:cNvPr id="15" name="Shape 12"/>
          <p:cNvSpPr/>
          <p:nvPr/>
        </p:nvSpPr>
        <p:spPr>
          <a:xfrm>
            <a:off x="4617720" y="5040630"/>
            <a:ext cx="457200" cy="310896"/>
          </a:xfrm>
          <a:prstGeom prst="rect">
            <a:avLst/>
          </a:prstGeom>
          <a:solidFill>
            <a:schemeClr val="accent1"/>
          </a:solidFill>
          <a:ln/>
        </p:spPr>
      </p:sp>
      <p:sp>
        <p:nvSpPr>
          <p:cNvPr id="16" name="Text 13"/>
          <p:cNvSpPr txBox="1"/>
          <p:nvPr/>
        </p:nvSpPr>
        <p:spPr>
          <a:xfrm>
            <a:off x="461772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03</a:t>
            </a:r>
            <a:endParaRPr lang="es-CL" sz="1400" dirty="0"/>
          </a:p>
        </p:txBody>
      </p:sp>
      <p:sp>
        <p:nvSpPr>
          <p:cNvPr id="17" name="Text 14"/>
          <p:cNvSpPr txBox="1"/>
          <p:nvPr/>
        </p:nvSpPr>
        <p:spPr>
          <a:xfrm>
            <a:off x="516636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BANCO DE BATERÍAS</a:t>
            </a:r>
            <a:endParaRPr lang="es-CL" sz="1200" dirty="0"/>
          </a:p>
        </p:txBody>
      </p:sp>
      <p:sp>
        <p:nvSpPr>
          <p:cNvPr id="18" name="Text 15"/>
          <p:cNvSpPr txBox="1"/>
          <p:nvPr/>
        </p:nvSpPr>
        <p:spPr>
          <a:xfrm>
            <a:off x="461772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Guarda la energía del frenado</a:t>
            </a:r>
            <a:endParaRPr lang="es-CL" sz="1600" dirty="0"/>
          </a:p>
        </p:txBody>
      </p:sp>
      <p:sp>
        <p:nvSpPr>
          <p:cNvPr id="19" name="Shape 16"/>
          <p:cNvSpPr/>
          <p:nvPr/>
        </p:nvSpPr>
        <p:spPr>
          <a:xfrm>
            <a:off x="6652260" y="5040630"/>
            <a:ext cx="457200" cy="310896"/>
          </a:xfrm>
          <a:prstGeom prst="rect">
            <a:avLst/>
          </a:prstGeom>
          <a:solidFill>
            <a:schemeClr val="accent1"/>
          </a:solidFill>
          <a:ln/>
        </p:spPr>
      </p:sp>
      <p:sp>
        <p:nvSpPr>
          <p:cNvPr id="20" name="Text 17"/>
          <p:cNvSpPr txBox="1"/>
          <p:nvPr/>
        </p:nvSpPr>
        <p:spPr>
          <a:xfrm>
            <a:off x="665226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04</a:t>
            </a:r>
            <a:endParaRPr lang="es-CL" sz="1400" dirty="0"/>
          </a:p>
        </p:txBody>
      </p:sp>
      <p:sp>
        <p:nvSpPr>
          <p:cNvPr id="21" name="Text 18"/>
          <p:cNvSpPr txBox="1"/>
          <p:nvPr/>
        </p:nvSpPr>
        <p:spPr>
          <a:xfrm>
            <a:off x="720090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ELÉCTRICO</a:t>
            </a:r>
            <a:endParaRPr lang="es-CL" sz="1200" dirty="0"/>
          </a:p>
        </p:txBody>
      </p:sp>
      <p:sp>
        <p:nvSpPr>
          <p:cNvPr id="22" name="Text 19"/>
          <p:cNvSpPr txBox="1"/>
          <p:nvPr/>
        </p:nvSpPr>
        <p:spPr>
          <a:xfrm>
            <a:off x="665226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En el eje trasero; no se enchufa</a:t>
            </a:r>
            <a:endParaRPr lang="es-CL" sz="1600" dirty="0"/>
          </a:p>
        </p:txBody>
      </p:sp>
      <p:sp>
        <p:nvSpPr>
          <p:cNvPr id="23" name="Shape 20"/>
          <p:cNvSpPr/>
          <p:nvPr/>
        </p:nvSpPr>
        <p:spPr>
          <a:xfrm>
            <a:off x="9052560" y="2395728"/>
            <a:ext cx="2590495" cy="0"/>
          </a:xfrm>
          <a:prstGeom prst="line">
            <a:avLst/>
          </a:prstGeom>
          <a:noFill/>
          <a:ln w="9525">
            <a:solidFill>
              <a:schemeClr val="accent1"/>
            </a:solidFill>
            <a:prstDash val="solid"/>
          </a:ln>
        </p:spPr>
      </p:sp>
      <p:sp>
        <p:nvSpPr>
          <p:cNvPr id="24" name="Text 21"/>
          <p:cNvSpPr txBox="1"/>
          <p:nvPr/>
        </p:nvSpPr>
        <p:spPr>
          <a:xfrm>
            <a:off x="9052560" y="2487168"/>
            <a:ext cx="25904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ESTADO</a:t>
            </a:r>
            <a:endParaRPr lang="es-CL" sz="1300" dirty="0"/>
          </a:p>
        </p:txBody>
      </p:sp>
      <p:sp>
        <p:nvSpPr>
          <p:cNvPr id="25" name="Text 22"/>
          <p:cNvSpPr txBox="1"/>
          <p:nvPr/>
        </p:nvSpPr>
        <p:spPr>
          <a:xfrm>
            <a:off x="9052560" y="2779776"/>
            <a:ext cx="2590495"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Preoperativa: sin taller, personal ni clientes</a:t>
            </a:r>
            <a:endParaRPr lang="es-CL" sz="1600" dirty="0"/>
          </a:p>
        </p:txBody>
      </p:sp>
      <p:sp>
        <p:nvSpPr>
          <p:cNvPr id="26" name="Shape 23"/>
          <p:cNvSpPr/>
          <p:nvPr/>
        </p:nvSpPr>
        <p:spPr>
          <a:xfrm>
            <a:off x="9052560" y="3602736"/>
            <a:ext cx="2590495" cy="0"/>
          </a:xfrm>
          <a:prstGeom prst="line">
            <a:avLst/>
          </a:prstGeom>
          <a:noFill/>
          <a:ln w="9525">
            <a:solidFill>
              <a:schemeClr val="accent5"/>
            </a:solidFill>
            <a:prstDash val="solid"/>
          </a:ln>
        </p:spPr>
      </p:sp>
      <p:sp>
        <p:nvSpPr>
          <p:cNvPr id="27" name="Text 24"/>
          <p:cNvSpPr txBox="1"/>
          <p:nvPr/>
        </p:nvSpPr>
        <p:spPr>
          <a:xfrm>
            <a:off x="9052560" y="3694176"/>
            <a:ext cx="25904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SEGURIDAD</a:t>
            </a:r>
            <a:endParaRPr lang="es-CL" sz="1300" dirty="0"/>
          </a:p>
        </p:txBody>
      </p:sp>
      <p:sp>
        <p:nvSpPr>
          <p:cNvPr id="28" name="Text 25"/>
          <p:cNvSpPr txBox="1"/>
          <p:nvPr/>
        </p:nvSpPr>
        <p:spPr>
          <a:xfrm>
            <a:off x="9052560" y="3986784"/>
            <a:ext cx="2590495"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Por diseño, freno, ABS y estabilidad originales mandan sobre el kit</a:t>
            </a:r>
            <a:endParaRPr lang="es-CL" sz="1600" dirty="0"/>
          </a:p>
        </p:txBody>
      </p:sp>
      <p:sp>
        <p:nvSpPr>
          <p:cNvPr id="29" name="Shape 26"/>
          <p:cNvSpPr/>
          <p:nvPr/>
        </p:nvSpPr>
        <p:spPr>
          <a:xfrm>
            <a:off x="9052560" y="4809744"/>
            <a:ext cx="2590495" cy="0"/>
          </a:xfrm>
          <a:prstGeom prst="line">
            <a:avLst/>
          </a:prstGeom>
          <a:noFill/>
          <a:ln w="9525">
            <a:solidFill>
              <a:schemeClr val="accent5"/>
            </a:solidFill>
            <a:prstDash val="solid"/>
          </a:ln>
        </p:spPr>
      </p:sp>
      <p:sp>
        <p:nvSpPr>
          <p:cNvPr id="30" name="Text 27"/>
          <p:cNvSpPr txBox="1"/>
          <p:nvPr/>
        </p:nvSpPr>
        <p:spPr>
          <a:xfrm>
            <a:off x="9052560" y="4901184"/>
            <a:ext cx="25904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DISEÑO</a:t>
            </a:r>
            <a:endParaRPr lang="es-CL" sz="1300" dirty="0"/>
          </a:p>
        </p:txBody>
      </p:sp>
      <p:sp>
        <p:nvSpPr>
          <p:cNvPr id="31" name="Text 28"/>
          <p:cNvSpPr txBox="1"/>
          <p:nvPr/>
        </p:nvSpPr>
        <p:spPr>
          <a:xfrm>
            <a:off x="9052560" y="5193792"/>
            <a:ext cx="2590495"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Falta probarlo, homologarlo y documentarlo</a:t>
            </a:r>
            <a:endParaRPr lang="es-CL" sz="1600" dirty="0"/>
          </a:p>
        </p:txBody>
      </p:sp>
      <p:sp>
        <p:nvSpPr>
          <p:cNvPr id="32" name="Shape 29"/>
          <p:cNvSpPr/>
          <p:nvPr/>
        </p:nvSpPr>
        <p:spPr>
          <a:xfrm>
            <a:off x="10186619" y="4864608"/>
            <a:ext cx="1456436" cy="292608"/>
          </a:xfrm>
          <a:prstGeom prst="rect">
            <a:avLst/>
          </a:prstGeom>
          <a:solidFill>
            <a:schemeClr val="bg1">
              <a:alpha val="0"/>
            </a:schemeClr>
          </a:solidFill>
          <a:ln w="12700">
            <a:solidFill>
              <a:schemeClr val="tx2"/>
            </a:solidFill>
            <a:prstDash val="solid"/>
          </a:ln>
        </p:spPr>
      </p:sp>
      <p:sp>
        <p:nvSpPr>
          <p:cNvPr id="33" name="Text 30"/>
          <p:cNvSpPr txBox="1"/>
          <p:nvPr/>
        </p:nvSpPr>
        <p:spPr>
          <a:xfrm>
            <a:off x="10296347" y="4864608"/>
            <a:ext cx="1236980" cy="292608"/>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POR VALIDAR</a:t>
            </a:r>
            <a:endParaRPr lang="es-CL" sz="12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04</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4 · COMPRENSIÓN DEL NEGOCIO · CLIENTE Y MODELO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CLIENTE COMPRA AHORRO</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sin cambiar de auto, si confía.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entrevistas del equipo (n = 3; evidencia indicativa); estimación de ingeniería del equipo, no medida en autos chilenos; Lumine Habilita, demostración con datos ficticios.</a:t>
            </a:r>
            <a:endParaRPr lang="es-CL" sz="1100" dirty="0"/>
          </a:p>
        </p:txBody>
      </p:sp>
      <p:sp>
        <p:nvSpPr>
          <p:cNvPr id="5" name="Text 3"/>
          <p:cNvSpPr txBox="1"/>
          <p:nvPr/>
        </p:nvSpPr>
        <p:spPr>
          <a:xfrm>
            <a:off x="548640" y="2395728"/>
            <a:ext cx="1828800" cy="365760"/>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NECESIDAD</a:t>
            </a:r>
            <a:endParaRPr lang="es-CL" sz="1300" dirty="0"/>
          </a:p>
        </p:txBody>
      </p:sp>
      <p:sp>
        <p:nvSpPr>
          <p:cNvPr id="6" name="Text 4"/>
          <p:cNvSpPr txBox="1"/>
          <p:nvPr/>
        </p:nvSpPr>
        <p:spPr>
          <a:xfrm>
            <a:off x="2011680" y="2395728"/>
            <a:ext cx="9631375" cy="365760"/>
          </a:xfrm>
          <a:prstGeom prst="rect">
            <a:avLst/>
          </a:prstGeom>
          <a:noFill/>
          <a:ln/>
        </p:spPr>
        <p:txBody>
          <a:bodyPr wrap="square" lIns="0" tIns="0" rIns="0" bIns="0" rtlCol="0" anchor="ctr"/>
          <a:lstStyle/>
          <a:p>
            <a:pPr indent="0" marL="0">
              <a:buNone/>
            </a:pPr>
            <a:r>
              <a:rPr lang="es-CL" altLang="en-US" sz="2200" i="1" dirty="0">
                <a:solidFill>
                  <a:schemeClr val="tx1"/>
                </a:solidFill>
                <a:latin typeface="Instrument Serif" pitchFamily="34" charset="0"/>
                <a:ea typeface="Instrument Serif" pitchFamily="34" charset="-122"/>
                <a:cs typeface="Instrument Serif" pitchFamily="34" charset="-120"/>
              </a:rPr>
              <a:t>«Dejar de pagar cada vez más por usar el auto, sin tener que reemplazarlo.»</a:t>
            </a:r>
            <a:endParaRPr lang="es-CL" sz="2200" dirty="0"/>
          </a:p>
        </p:txBody>
      </p:sp>
      <p:sp>
        <p:nvSpPr>
          <p:cNvPr id="7" name="Shape 5"/>
          <p:cNvSpPr/>
          <p:nvPr/>
        </p:nvSpPr>
        <p:spPr>
          <a:xfrm>
            <a:off x="548640" y="2898648"/>
            <a:ext cx="2602154" cy="1207008"/>
          </a:xfrm>
          <a:prstGeom prst="rect">
            <a:avLst/>
          </a:prstGeom>
          <a:solidFill>
            <a:schemeClr val="bg2"/>
          </a:solidFill>
          <a:ln w="15875">
            <a:solidFill>
              <a:schemeClr val="accent1"/>
            </a:solidFill>
            <a:prstDash val="solid"/>
          </a:ln>
        </p:spPr>
      </p:sp>
      <p:sp>
        <p:nvSpPr>
          <p:cNvPr id="8" name="Shape 6"/>
          <p:cNvSpPr/>
          <p:nvPr/>
        </p:nvSpPr>
        <p:spPr>
          <a:xfrm>
            <a:off x="713232" y="3044952"/>
            <a:ext cx="347472" cy="310896"/>
          </a:xfrm>
          <a:prstGeom prst="rect">
            <a:avLst/>
          </a:prstGeom>
          <a:solidFill>
            <a:schemeClr val="accent1"/>
          </a:solidFill>
          <a:ln/>
        </p:spPr>
      </p:sp>
      <p:sp>
        <p:nvSpPr>
          <p:cNvPr id="9" name="Text 7"/>
          <p:cNvSpPr txBox="1"/>
          <p:nvPr/>
        </p:nvSpPr>
        <p:spPr>
          <a:xfrm>
            <a:off x="713232"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1</a:t>
            </a:r>
            <a:endParaRPr lang="es-CL" sz="1400" dirty="0"/>
          </a:p>
        </p:txBody>
      </p:sp>
      <p:sp>
        <p:nvSpPr>
          <p:cNvPr id="10" name="Text 8"/>
          <p:cNvSpPr txBox="1"/>
          <p:nvPr/>
        </p:nvSpPr>
        <p:spPr>
          <a:xfrm>
            <a:off x="713232"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Ahorrar hasta 20% sin cambiar de auto</a:t>
            </a:r>
            <a:endParaRPr lang="es-CL" sz="1600" dirty="0"/>
          </a:p>
        </p:txBody>
      </p:sp>
      <p:sp>
        <p:nvSpPr>
          <p:cNvPr id="11" name="Shape 9"/>
          <p:cNvSpPr/>
          <p:nvPr/>
        </p:nvSpPr>
        <p:spPr>
          <a:xfrm>
            <a:off x="1841170" y="3026664"/>
            <a:ext cx="1199896" cy="274320"/>
          </a:xfrm>
          <a:prstGeom prst="rect">
            <a:avLst/>
          </a:prstGeom>
          <a:solidFill>
            <a:schemeClr val="bg1">
              <a:alpha val="0"/>
            </a:schemeClr>
          </a:solidFill>
          <a:ln w="12700">
            <a:solidFill>
              <a:schemeClr val="tx2"/>
            </a:solidFill>
            <a:prstDash val="dash"/>
          </a:ln>
        </p:spPr>
      </p:sp>
      <p:sp>
        <p:nvSpPr>
          <p:cNvPr id="12" name="Text 10"/>
          <p:cNvSpPr txBox="1"/>
          <p:nvPr/>
        </p:nvSpPr>
        <p:spPr>
          <a:xfrm>
            <a:off x="1950898" y="3026664"/>
            <a:ext cx="980440" cy="274320"/>
          </a:xfrm>
          <a:prstGeom prst="rect">
            <a:avLst/>
          </a:prstGeom>
          <a:noFill/>
          <a:ln/>
        </p:spPr>
        <p:txBody>
          <a:bodyPr wrap="square" lIns="0" tIns="0" rIns="0" bIns="0" rtlCol="0" anchor="ctr"/>
          <a:lstStyle/>
          <a:p>
            <a:pPr algn="ctr" indent="0" marL="0">
              <a:buNone/>
            </a:pPr>
            <a:r>
              <a:rPr lang="es-CL" altLang="en-US" sz="1000" spc="100" kern="0" dirty="0">
                <a:solidFill>
                  <a:schemeClr val="tx2"/>
                </a:solidFill>
                <a:latin typeface="IBM Plex Mono" pitchFamily="34" charset="0"/>
                <a:ea typeface="IBM Plex Mono" pitchFamily="34" charset="-122"/>
                <a:cs typeface="IBM Plex Mono" pitchFamily="34" charset="-120"/>
              </a:rPr>
              <a:t>ESTIMACIÓN</a:t>
            </a:r>
            <a:endParaRPr lang="es-CL" sz="1000" dirty="0"/>
          </a:p>
        </p:txBody>
      </p:sp>
      <p:sp>
        <p:nvSpPr>
          <p:cNvPr id="13" name="Shape 11"/>
          <p:cNvSpPr/>
          <p:nvPr/>
        </p:nvSpPr>
        <p:spPr>
          <a:xfrm>
            <a:off x="3379394" y="2898648"/>
            <a:ext cx="2602154" cy="1207008"/>
          </a:xfrm>
          <a:prstGeom prst="rect">
            <a:avLst/>
          </a:prstGeom>
          <a:solidFill>
            <a:schemeClr val="bg2"/>
          </a:solidFill>
          <a:ln w="9525">
            <a:solidFill>
              <a:schemeClr val="tx2"/>
            </a:solidFill>
            <a:prstDash val="solid"/>
          </a:ln>
        </p:spPr>
      </p:sp>
      <p:sp>
        <p:nvSpPr>
          <p:cNvPr id="14" name="Shape 12"/>
          <p:cNvSpPr/>
          <p:nvPr/>
        </p:nvSpPr>
        <p:spPr>
          <a:xfrm>
            <a:off x="3543986" y="3044952"/>
            <a:ext cx="347472" cy="310896"/>
          </a:xfrm>
          <a:prstGeom prst="rect">
            <a:avLst/>
          </a:prstGeom>
          <a:solidFill>
            <a:schemeClr val="accent5"/>
          </a:solidFill>
          <a:ln/>
        </p:spPr>
      </p:sp>
      <p:sp>
        <p:nvSpPr>
          <p:cNvPr id="15" name="Text 13"/>
          <p:cNvSpPr txBox="1"/>
          <p:nvPr/>
        </p:nvSpPr>
        <p:spPr>
          <a:xfrm>
            <a:off x="3543986"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2</a:t>
            </a:r>
            <a:endParaRPr lang="es-CL" sz="1400" dirty="0"/>
          </a:p>
        </p:txBody>
      </p:sp>
      <p:sp>
        <p:nvSpPr>
          <p:cNvPr id="16" name="Text 14"/>
          <p:cNvSpPr txBox="1"/>
          <p:nvPr/>
        </p:nvSpPr>
        <p:spPr>
          <a:xfrm>
            <a:off x="3543986"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Respaldo técnico verificable</a:t>
            </a:r>
            <a:endParaRPr lang="es-CL" sz="1600" dirty="0"/>
          </a:p>
        </p:txBody>
      </p:sp>
      <p:sp>
        <p:nvSpPr>
          <p:cNvPr id="17" name="Shape 15"/>
          <p:cNvSpPr/>
          <p:nvPr/>
        </p:nvSpPr>
        <p:spPr>
          <a:xfrm>
            <a:off x="6210148" y="2898648"/>
            <a:ext cx="2602154" cy="1207008"/>
          </a:xfrm>
          <a:prstGeom prst="rect">
            <a:avLst/>
          </a:prstGeom>
          <a:solidFill>
            <a:schemeClr val="bg2"/>
          </a:solidFill>
          <a:ln w="9525">
            <a:solidFill>
              <a:schemeClr val="tx2"/>
            </a:solidFill>
            <a:prstDash val="solid"/>
          </a:ln>
        </p:spPr>
      </p:sp>
      <p:sp>
        <p:nvSpPr>
          <p:cNvPr id="18" name="Shape 16"/>
          <p:cNvSpPr/>
          <p:nvPr/>
        </p:nvSpPr>
        <p:spPr>
          <a:xfrm>
            <a:off x="6374740" y="3044952"/>
            <a:ext cx="347472" cy="310896"/>
          </a:xfrm>
          <a:prstGeom prst="rect">
            <a:avLst/>
          </a:prstGeom>
          <a:solidFill>
            <a:schemeClr val="accent5"/>
          </a:solidFill>
          <a:ln/>
        </p:spPr>
      </p:sp>
      <p:sp>
        <p:nvSpPr>
          <p:cNvPr id="19" name="Text 17"/>
          <p:cNvSpPr txBox="1"/>
          <p:nvPr/>
        </p:nvSpPr>
        <p:spPr>
          <a:xfrm>
            <a:off x="6374740"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3</a:t>
            </a:r>
            <a:endParaRPr lang="es-CL" sz="1400" dirty="0"/>
          </a:p>
        </p:txBody>
      </p:sp>
      <p:sp>
        <p:nvSpPr>
          <p:cNvPr id="20" name="Text 18"/>
          <p:cNvSpPr txBox="1"/>
          <p:nvPr/>
        </p:nvSpPr>
        <p:spPr>
          <a:xfrm>
            <a:off x="6374740"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Seguir usando el mismo vehículo</a:t>
            </a:r>
            <a:endParaRPr lang="es-CL" sz="1600" dirty="0"/>
          </a:p>
        </p:txBody>
      </p:sp>
      <p:sp>
        <p:nvSpPr>
          <p:cNvPr id="21" name="Shape 19"/>
          <p:cNvSpPr/>
          <p:nvPr/>
        </p:nvSpPr>
        <p:spPr>
          <a:xfrm>
            <a:off x="9040901" y="2898648"/>
            <a:ext cx="2602154" cy="1207008"/>
          </a:xfrm>
          <a:prstGeom prst="rect">
            <a:avLst/>
          </a:prstGeom>
          <a:solidFill>
            <a:schemeClr val="bg2"/>
          </a:solidFill>
          <a:ln w="9525">
            <a:solidFill>
              <a:schemeClr val="tx2"/>
            </a:solidFill>
            <a:prstDash val="solid"/>
          </a:ln>
        </p:spPr>
      </p:sp>
      <p:sp>
        <p:nvSpPr>
          <p:cNvPr id="22" name="Shape 20"/>
          <p:cNvSpPr/>
          <p:nvPr/>
        </p:nvSpPr>
        <p:spPr>
          <a:xfrm>
            <a:off x="9205493" y="3044952"/>
            <a:ext cx="347472" cy="310896"/>
          </a:xfrm>
          <a:prstGeom prst="rect">
            <a:avLst/>
          </a:prstGeom>
          <a:solidFill>
            <a:schemeClr val="accent5"/>
          </a:solidFill>
          <a:ln/>
        </p:spPr>
      </p:sp>
      <p:sp>
        <p:nvSpPr>
          <p:cNvPr id="23" name="Text 21"/>
          <p:cNvSpPr txBox="1"/>
          <p:nvPr/>
        </p:nvSpPr>
        <p:spPr>
          <a:xfrm>
            <a:off x="9205493"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4</a:t>
            </a:r>
            <a:endParaRPr lang="es-CL" sz="1400" dirty="0"/>
          </a:p>
        </p:txBody>
      </p:sp>
      <p:sp>
        <p:nvSpPr>
          <p:cNvPr id="24" name="Text 22"/>
          <p:cNvSpPr txBox="1"/>
          <p:nvPr/>
        </p:nvSpPr>
        <p:spPr>
          <a:xfrm>
            <a:off x="9205493"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Transparencia en compatibilidad y costos</a:t>
            </a:r>
            <a:endParaRPr lang="es-CL" sz="1600" dirty="0"/>
          </a:p>
        </p:txBody>
      </p:sp>
      <p:sp>
        <p:nvSpPr>
          <p:cNvPr id="25" name="Text 23"/>
          <p:cNvSpPr txBox="1"/>
          <p:nvPr/>
        </p:nvSpPr>
        <p:spPr>
          <a:xfrm>
            <a:off x="548640" y="4251960"/>
            <a:ext cx="8716975" cy="411480"/>
          </a:xfrm>
          <a:prstGeom prst="rect">
            <a:avLst/>
          </a:prstGeom>
          <a:noFill/>
          <a:ln/>
        </p:spPr>
        <p:txBody>
          <a:bodyPr wrap="square" lIns="0" tIns="0" rIns="0" bIns="0" rtlCol="0" anchor="ctr"/>
          <a:lstStyle/>
          <a:p>
            <a:pPr indent="0" marL="0">
              <a:buNone/>
            </a:pPr>
            <a:r>
              <a:rPr lang="es-CL" altLang="en-US" sz="1800" dirty="0">
                <a:solidFill>
                  <a:schemeClr val="tx2"/>
                </a:solidFill>
                <a:latin typeface="Figtree" pitchFamily="34" charset="0"/>
                <a:ea typeface="Figtree" pitchFamily="34" charset="-122"/>
                <a:cs typeface="Figtree" pitchFamily="34" charset="-120"/>
              </a:rPr>
              <a:t>Indicio cualitativo: </a:t>
            </a:r>
            <a:pPr indent="0" marL="0">
              <a:buNone/>
            </a:pPr>
            <a:r>
              <a:rPr lang="es-CL" altLang="en-US" sz="1800" b="1" dirty="0">
                <a:solidFill>
                  <a:schemeClr val="tx1"/>
                </a:solidFill>
                <a:latin typeface="Figtree" pitchFamily="34" charset="0"/>
                <a:ea typeface="Figtree" pitchFamily="34" charset="-122"/>
                <a:cs typeface="Figtree" pitchFamily="34" charset="-120"/>
              </a:rPr>
              <a:t>el precio decide si se compra; la confianza, si uno se atreve.</a:t>
            </a:r>
            <a:endParaRPr lang="es-CL" sz="1800" dirty="0"/>
          </a:p>
        </p:txBody>
      </p:sp>
      <p:sp>
        <p:nvSpPr>
          <p:cNvPr id="26" name="Shape 24"/>
          <p:cNvSpPr/>
          <p:nvPr/>
        </p:nvSpPr>
        <p:spPr>
          <a:xfrm>
            <a:off x="9457639" y="4297680"/>
            <a:ext cx="2185416" cy="329184"/>
          </a:xfrm>
          <a:prstGeom prst="rect">
            <a:avLst/>
          </a:prstGeom>
          <a:solidFill>
            <a:schemeClr val="bg1">
              <a:alpha val="0"/>
            </a:schemeClr>
          </a:solidFill>
          <a:ln w="12700">
            <a:solidFill>
              <a:schemeClr val="tx2"/>
            </a:solidFill>
            <a:prstDash val="sysDot"/>
          </a:ln>
        </p:spPr>
      </p:sp>
      <p:sp>
        <p:nvSpPr>
          <p:cNvPr id="27" name="Text 25"/>
          <p:cNvSpPr txBox="1"/>
          <p:nvPr/>
        </p:nvSpPr>
        <p:spPr>
          <a:xfrm>
            <a:off x="9567367" y="4297680"/>
            <a:ext cx="1965960" cy="329184"/>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INDICATIVO · n = 3</a:t>
            </a:r>
            <a:endParaRPr lang="es-CL" sz="1200" dirty="0"/>
          </a:p>
        </p:txBody>
      </p:sp>
      <p:sp>
        <p:nvSpPr>
          <p:cNvPr id="28" name="Shape 26"/>
          <p:cNvSpPr/>
          <p:nvPr/>
        </p:nvSpPr>
        <p:spPr>
          <a:xfrm>
            <a:off x="548640" y="4846320"/>
            <a:ext cx="11094415" cy="0"/>
          </a:xfrm>
          <a:prstGeom prst="line">
            <a:avLst/>
          </a:prstGeom>
          <a:noFill/>
          <a:ln w="9525">
            <a:solidFill>
              <a:schemeClr val="accent1"/>
            </a:solidFill>
            <a:prstDash val="solid"/>
          </a:ln>
        </p:spPr>
      </p:sp>
      <p:sp>
        <p:nvSpPr>
          <p:cNvPr id="29" name="Text 27"/>
          <p:cNvSpPr txBox="1"/>
          <p:nvPr/>
        </p:nvSpPr>
        <p:spPr>
          <a:xfrm>
            <a:off x="548640" y="4956048"/>
            <a:ext cx="36576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MODELO DE NEGOCIO</a:t>
            </a:r>
            <a:endParaRPr lang="es-CL" sz="1300" dirty="0"/>
          </a:p>
        </p:txBody>
      </p:sp>
      <p:sp>
        <p:nvSpPr>
          <p:cNvPr id="30" name="Text 28"/>
          <p:cNvSpPr txBox="1"/>
          <p:nvPr/>
        </p:nvSpPr>
        <p:spPr>
          <a:xfrm>
            <a:off x="548640" y="5285232"/>
            <a:ext cx="109728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LÍNEA 1</a:t>
            </a:r>
            <a:endParaRPr lang="es-CL" sz="1200" dirty="0"/>
          </a:p>
        </p:txBody>
      </p:sp>
      <p:sp>
        <p:nvSpPr>
          <p:cNvPr id="31" name="Text 29"/>
          <p:cNvSpPr txBox="1"/>
          <p:nvPr/>
        </p:nvSpPr>
        <p:spPr>
          <a:xfrm>
            <a:off x="548640" y="5577840"/>
            <a:ext cx="4486504" cy="612648"/>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Taller propio: diagnóstico, instalación, calibración y posventa</a:t>
            </a:r>
            <a:endParaRPr lang="es-CL" sz="1700" dirty="0"/>
          </a:p>
        </p:txBody>
      </p:sp>
      <p:sp>
        <p:nvSpPr>
          <p:cNvPr id="32" name="Text 30"/>
          <p:cNvSpPr txBox="1"/>
          <p:nvPr/>
        </p:nvSpPr>
        <p:spPr>
          <a:xfrm>
            <a:off x="5355184" y="5285232"/>
            <a:ext cx="109728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LÍNEA 2</a:t>
            </a:r>
            <a:endParaRPr lang="es-CL" sz="1200" dirty="0"/>
          </a:p>
        </p:txBody>
      </p:sp>
      <p:sp>
        <p:nvSpPr>
          <p:cNvPr id="33" name="Text 31"/>
          <p:cNvSpPr txBox="1"/>
          <p:nvPr/>
        </p:nvSpPr>
        <p:spPr>
          <a:xfrm>
            <a:off x="5355184" y="5577840"/>
            <a:ext cx="4486504" cy="612648"/>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Licencias de calibración y procedimiento, con Lumine Habilita</a:t>
            </a:r>
            <a:endParaRPr lang="es-CL" sz="1700" dirty="0"/>
          </a:p>
        </p:txBody>
      </p:sp>
      <p:sp>
        <p:nvSpPr>
          <p:cNvPr id="34" name="Shape 32"/>
          <p:cNvSpPr/>
          <p:nvPr/>
        </p:nvSpPr>
        <p:spPr>
          <a:xfrm>
            <a:off x="8662111" y="5257800"/>
            <a:ext cx="1179576" cy="274320"/>
          </a:xfrm>
          <a:prstGeom prst="rect">
            <a:avLst/>
          </a:prstGeom>
          <a:solidFill>
            <a:schemeClr val="bg1">
              <a:alpha val="0"/>
            </a:schemeClr>
          </a:solidFill>
          <a:ln w="12700">
            <a:solidFill>
              <a:schemeClr val="tx2"/>
            </a:solidFill>
            <a:prstDash val="sysDot"/>
          </a:ln>
        </p:spPr>
      </p:sp>
      <p:sp>
        <p:nvSpPr>
          <p:cNvPr id="35" name="Text 33"/>
          <p:cNvSpPr txBox="1"/>
          <p:nvPr/>
        </p:nvSpPr>
        <p:spPr>
          <a:xfrm>
            <a:off x="8771839" y="5257800"/>
            <a:ext cx="960120" cy="274320"/>
          </a:xfrm>
          <a:prstGeom prst="rect">
            <a:avLst/>
          </a:prstGeom>
          <a:noFill/>
          <a:ln/>
        </p:spPr>
        <p:txBody>
          <a:bodyPr wrap="square" lIns="0" tIns="0" rIns="0" bIns="0" rtlCol="0" anchor="ctr"/>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POTENCIAL</a:t>
            </a:r>
            <a:endParaRPr lang="es-CL" sz="1100" dirty="0"/>
          </a:p>
        </p:txBody>
      </p:sp>
      <p:pic>
        <p:nvPicPr>
          <p:cNvPr id="36" name="Image 0" descr="Código QR a la demostración de Lumine Habilita">    </p:cNvPr>
          <p:cNvPicPr>
            <a:picLocks noChangeAspect="1"/>
          </p:cNvPicPr>
          <p:nvPr/>
        </p:nvPicPr>
        <p:blipFill>
          <a:blip r:embed="rId1"/>
          <a:stretch>
            <a:fillRect/>
          </a:stretch>
        </p:blipFill>
        <p:spPr>
          <a:xfrm>
            <a:off x="10344607" y="4937760"/>
            <a:ext cx="1298448" cy="1298448"/>
          </a:xfrm>
          <a:prstGeom prst="rect">
            <a:avLst/>
          </a:prstGeom>
        </p:spPr>
      </p:pic>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05</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5 · DECLARACIONES ESTRATÉGICAS COMPARTIDAS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MISIÓN, VISIÓN Y VALORES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que orientan decisiones.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declaraciones estratégicas del proyecto; textos literales en el anexo A7.</a:t>
            </a:r>
            <a:endParaRPr lang="es-CL" sz="1100" dirty="0"/>
          </a:p>
        </p:txBody>
      </p:sp>
      <p:sp>
        <p:nvSpPr>
          <p:cNvPr id="5" name="Shape 3"/>
          <p:cNvSpPr/>
          <p:nvPr/>
        </p:nvSpPr>
        <p:spPr>
          <a:xfrm>
            <a:off x="9015679" y="804672"/>
            <a:ext cx="2627376" cy="292608"/>
          </a:xfrm>
          <a:prstGeom prst="rect">
            <a:avLst/>
          </a:prstGeom>
          <a:solidFill>
            <a:schemeClr val="bg1">
              <a:alpha val="0"/>
            </a:schemeClr>
          </a:solidFill>
          <a:ln w="12700">
            <a:solidFill>
              <a:schemeClr val="tx2"/>
            </a:solidFill>
            <a:prstDash val="sysDot"/>
          </a:ln>
        </p:spPr>
      </p:sp>
      <p:sp>
        <p:nvSpPr>
          <p:cNvPr id="6" name="Text 4"/>
          <p:cNvSpPr txBox="1"/>
          <p:nvPr/>
        </p:nvSpPr>
        <p:spPr>
          <a:xfrm>
            <a:off x="9125407" y="804672"/>
            <a:ext cx="2407920" cy="292608"/>
          </a:xfrm>
          <a:prstGeom prst="rect">
            <a:avLst/>
          </a:prstGeom>
          <a:noFill/>
          <a:ln/>
        </p:spPr>
        <p:txBody>
          <a:bodyPr wrap="square" lIns="0" tIns="0" rIns="0" bIns="0" rtlCol="0" anchor="ctr"/>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DECLARACIÓN DEL PROYECTO</a:t>
            </a:r>
            <a:endParaRPr lang="es-CL" sz="1100" dirty="0"/>
          </a:p>
        </p:txBody>
      </p:sp>
      <p:sp>
        <p:nvSpPr>
          <p:cNvPr id="7" name="Text 5"/>
          <p:cNvSpPr txBox="1"/>
          <p:nvPr/>
        </p:nvSpPr>
        <p:spPr>
          <a:xfrm>
            <a:off x="548640" y="2441448"/>
            <a:ext cx="118872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MISIÓN</a:t>
            </a:r>
            <a:endParaRPr lang="es-CL" sz="1300" dirty="0"/>
          </a:p>
        </p:txBody>
      </p:sp>
      <p:sp>
        <p:nvSpPr>
          <p:cNvPr id="8" name="Text 6"/>
          <p:cNvSpPr txBox="1"/>
          <p:nvPr/>
        </p:nvSpPr>
        <p:spPr>
          <a:xfrm>
            <a:off x="1783080" y="2395728"/>
            <a:ext cx="9859975" cy="841248"/>
          </a:xfrm>
          <a:prstGeom prst="rect">
            <a:avLst/>
          </a:prstGeom>
          <a:noFill/>
          <a:ln/>
        </p:spPr>
        <p:txBody>
          <a:bodyPr wrap="square" lIns="0" tIns="0" rIns="0" bIns="0" rtlCol="0" anchor="t"/>
          <a:lstStyle/>
          <a:p>
            <a:pPr indent="0" marL="0">
              <a:lnSpc>
                <a:spcPct val="95000"/>
              </a:lnSpc>
              <a:buNone/>
            </a:pPr>
            <a:r>
              <a:rPr lang="es-CL" altLang="en-US" sz="1800" i="1" dirty="0">
                <a:solidFill>
                  <a:schemeClr val="tx1"/>
                </a:solidFill>
                <a:latin typeface="Instrument Serif" pitchFamily="34" charset="0"/>
                <a:ea typeface="Instrument Serif" pitchFamily="34" charset="-122"/>
                <a:cs typeface="Instrument Serif" pitchFamily="34" charset="-120"/>
              </a:rPr>
              <a:t>«Reducir el combustible que un vehículo liviano a combustión necesita por kilómetro, mediante la instalación certificada de un sistema de hibridación aditiva sobre el automóvil que el cliente ya tiene, sin reemplazarlo y sin intervenir su motor.»</a:t>
            </a:r>
            <a:endParaRPr lang="es-CL" sz="1800" dirty="0"/>
          </a:p>
        </p:txBody>
      </p:sp>
      <p:sp>
        <p:nvSpPr>
          <p:cNvPr id="9" name="Text 7"/>
          <p:cNvSpPr txBox="1"/>
          <p:nvPr/>
        </p:nvSpPr>
        <p:spPr>
          <a:xfrm>
            <a:off x="548640" y="3337560"/>
            <a:ext cx="118872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VISIÓN</a:t>
            </a:r>
            <a:endParaRPr lang="es-CL" sz="1300" dirty="0"/>
          </a:p>
        </p:txBody>
      </p:sp>
      <p:sp>
        <p:nvSpPr>
          <p:cNvPr id="10" name="Text 8"/>
          <p:cNvSpPr txBox="1"/>
          <p:nvPr/>
        </p:nvSpPr>
        <p:spPr>
          <a:xfrm>
            <a:off x="1783080" y="3291840"/>
            <a:ext cx="9859975" cy="603504"/>
          </a:xfrm>
          <a:prstGeom prst="rect">
            <a:avLst/>
          </a:prstGeom>
          <a:noFill/>
          <a:ln/>
        </p:spPr>
        <p:txBody>
          <a:bodyPr wrap="square" lIns="0" tIns="0" rIns="0" bIns="0" rtlCol="0" anchor="t"/>
          <a:lstStyle/>
          <a:p>
            <a:pPr indent="0" marL="0">
              <a:lnSpc>
                <a:spcPct val="95000"/>
              </a:lnSpc>
              <a:buNone/>
            </a:pPr>
            <a:r>
              <a:rPr lang="es-CL" altLang="en-US" sz="1800" i="1" dirty="0">
                <a:solidFill>
                  <a:schemeClr val="tx1"/>
                </a:solidFill>
                <a:latin typeface="Instrument Serif" pitchFamily="34" charset="0"/>
                <a:ea typeface="Instrument Serif" pitchFamily="34" charset="-122"/>
                <a:cs typeface="Instrument Serif" pitchFamily="34" charset="-120"/>
              </a:rPr>
              <a:t>«Ser hacia 2031 el taller de referencia en hibridación de vehículos en uso en Chile, con un procedimiento reconocido por la autoridad, las plantas de revisión técnica y las compañías de seguros.»</a:t>
            </a:r>
            <a:endParaRPr lang="es-CL" sz="1800" dirty="0"/>
          </a:p>
        </p:txBody>
      </p:sp>
      <p:sp>
        <p:nvSpPr>
          <p:cNvPr id="11" name="Shape 9"/>
          <p:cNvSpPr/>
          <p:nvPr/>
        </p:nvSpPr>
        <p:spPr>
          <a:xfrm>
            <a:off x="548640" y="3968496"/>
            <a:ext cx="5364328" cy="0"/>
          </a:xfrm>
          <a:prstGeom prst="line">
            <a:avLst/>
          </a:prstGeom>
          <a:noFill/>
          <a:ln w="9525">
            <a:solidFill>
              <a:schemeClr val="accent1"/>
            </a:solidFill>
            <a:prstDash val="solid"/>
          </a:ln>
        </p:spPr>
      </p:sp>
      <p:sp>
        <p:nvSpPr>
          <p:cNvPr id="12" name="Text 10"/>
          <p:cNvSpPr txBox="1"/>
          <p:nvPr/>
        </p:nvSpPr>
        <p:spPr>
          <a:xfrm>
            <a:off x="548640" y="4041648"/>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ORGANIZACIONALES</a:t>
            </a:r>
            <a:endParaRPr lang="es-CL" sz="1200" dirty="0"/>
          </a:p>
        </p:txBody>
      </p:sp>
      <p:sp>
        <p:nvSpPr>
          <p:cNvPr id="13" name="Shape 11"/>
          <p:cNvSpPr/>
          <p:nvPr/>
        </p:nvSpPr>
        <p:spPr>
          <a:xfrm>
            <a:off x="548640" y="4517136"/>
            <a:ext cx="128016" cy="128016"/>
          </a:xfrm>
          <a:prstGeom prst="rect">
            <a:avLst/>
          </a:prstGeom>
          <a:solidFill>
            <a:schemeClr val="accent1"/>
          </a:solidFill>
          <a:ln/>
        </p:spPr>
      </p:sp>
      <p:sp>
        <p:nvSpPr>
          <p:cNvPr id="14" name="Text 12"/>
          <p:cNvSpPr txBox="1"/>
          <p:nvPr/>
        </p:nvSpPr>
        <p:spPr>
          <a:xfrm>
            <a:off x="822960" y="4352544"/>
            <a:ext cx="5090008" cy="457200"/>
          </a:xfrm>
          <a:prstGeom prst="rect">
            <a:avLst/>
          </a:prstGeom>
          <a:noFill/>
          <a:ln/>
        </p:spPr>
        <p:txBody>
          <a:bodyPr wrap="square" lIns="0" tIns="0" rIns="0" bIns="0" rtlCol="0" anchor="ctr"/>
          <a:lstStyle/>
          <a:p>
            <a:pPr indent="0" marL="0">
              <a:lnSpc>
                <a:spcPct val="90000"/>
              </a:lnSpc>
              <a:buNone/>
            </a:pPr>
            <a:r>
              <a:rPr lang="es-CL" altLang="en-US" sz="1600" b="1" dirty="0">
                <a:solidFill>
                  <a:schemeClr val="tx1"/>
                </a:solidFill>
                <a:latin typeface="Figtree" pitchFamily="34" charset="0"/>
                <a:ea typeface="Figtree" pitchFamily="34" charset="-122"/>
                <a:cs typeface="Figtree" pitchFamily="34" charset="-120"/>
              </a:rPr>
              <a:t>Verificabilidad antes que afirmación</a:t>
            </a:r>
            <a:endParaRPr lang="es-CL" sz="1600" dirty="0"/>
          </a:p>
        </p:txBody>
      </p:sp>
      <p:sp>
        <p:nvSpPr>
          <p:cNvPr id="15" name="Shape 13"/>
          <p:cNvSpPr/>
          <p:nvPr/>
        </p:nvSpPr>
        <p:spPr>
          <a:xfrm>
            <a:off x="548640" y="4992624"/>
            <a:ext cx="128016" cy="128016"/>
          </a:xfrm>
          <a:prstGeom prst="rect">
            <a:avLst/>
          </a:prstGeom>
          <a:solidFill>
            <a:schemeClr val="accent1"/>
          </a:solidFill>
          <a:ln/>
        </p:spPr>
      </p:sp>
      <p:sp>
        <p:nvSpPr>
          <p:cNvPr id="16" name="Text 14"/>
          <p:cNvSpPr txBox="1"/>
          <p:nvPr/>
        </p:nvSpPr>
        <p:spPr>
          <a:xfrm>
            <a:off x="822960" y="4828032"/>
            <a:ext cx="5090008" cy="457200"/>
          </a:xfrm>
          <a:prstGeom prst="rect">
            <a:avLst/>
          </a:prstGeom>
          <a:noFill/>
          <a:ln/>
        </p:spPr>
        <p:txBody>
          <a:bodyPr wrap="square" lIns="0" tIns="0" rIns="0" bIns="0" rtlCol="0" anchor="ctr"/>
          <a:lstStyle/>
          <a:p>
            <a:pPr indent="0" marL="0">
              <a:lnSpc>
                <a:spcPct val="90000"/>
              </a:lnSpc>
              <a:buNone/>
            </a:pPr>
            <a:r>
              <a:rPr lang="es-CL" altLang="en-US" sz="1600" b="1" dirty="0">
                <a:solidFill>
                  <a:schemeClr val="tx1"/>
                </a:solidFill>
                <a:latin typeface="Figtree" pitchFamily="34" charset="0"/>
                <a:ea typeface="Figtree" pitchFamily="34" charset="-122"/>
                <a:cs typeface="Figtree" pitchFamily="34" charset="-120"/>
              </a:rPr>
              <a:t>Formalidad como condición de operación</a:t>
            </a:r>
            <a:endParaRPr lang="es-CL" sz="1600" dirty="0"/>
          </a:p>
        </p:txBody>
      </p:sp>
      <p:sp>
        <p:nvSpPr>
          <p:cNvPr id="17" name="Shape 15"/>
          <p:cNvSpPr/>
          <p:nvPr/>
        </p:nvSpPr>
        <p:spPr>
          <a:xfrm>
            <a:off x="548640" y="5468112"/>
            <a:ext cx="128016" cy="128016"/>
          </a:xfrm>
          <a:prstGeom prst="rect">
            <a:avLst/>
          </a:prstGeom>
          <a:solidFill>
            <a:schemeClr val="accent5"/>
          </a:solidFill>
          <a:ln/>
        </p:spPr>
      </p:sp>
      <p:sp>
        <p:nvSpPr>
          <p:cNvPr id="18" name="Text 16"/>
          <p:cNvSpPr txBox="1"/>
          <p:nvPr/>
        </p:nvSpPr>
        <p:spPr>
          <a:xfrm>
            <a:off x="822960" y="5303520"/>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Trazabilidad del conocimiento técnico</a:t>
            </a:r>
            <a:endParaRPr lang="es-CL" sz="1600" dirty="0"/>
          </a:p>
        </p:txBody>
      </p:sp>
      <p:sp>
        <p:nvSpPr>
          <p:cNvPr id="19" name="Shape 17"/>
          <p:cNvSpPr/>
          <p:nvPr/>
        </p:nvSpPr>
        <p:spPr>
          <a:xfrm>
            <a:off x="548640" y="5943600"/>
            <a:ext cx="128016" cy="128016"/>
          </a:xfrm>
          <a:prstGeom prst="rect">
            <a:avLst/>
          </a:prstGeom>
          <a:solidFill>
            <a:schemeClr val="accent5"/>
          </a:solidFill>
          <a:ln/>
        </p:spPr>
      </p:sp>
      <p:sp>
        <p:nvSpPr>
          <p:cNvPr id="20" name="Text 18"/>
          <p:cNvSpPr txBox="1"/>
          <p:nvPr/>
        </p:nvSpPr>
        <p:spPr>
          <a:xfrm>
            <a:off x="822960" y="5779008"/>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Responsabilidad sobre el ciclo completo del componente</a:t>
            </a:r>
            <a:endParaRPr lang="es-CL" sz="1600" dirty="0"/>
          </a:p>
        </p:txBody>
      </p:sp>
      <p:sp>
        <p:nvSpPr>
          <p:cNvPr id="21" name="Shape 19"/>
          <p:cNvSpPr/>
          <p:nvPr/>
        </p:nvSpPr>
        <p:spPr>
          <a:xfrm>
            <a:off x="6278728" y="3968496"/>
            <a:ext cx="5364328" cy="0"/>
          </a:xfrm>
          <a:prstGeom prst="line">
            <a:avLst/>
          </a:prstGeom>
          <a:noFill/>
          <a:ln w="9525">
            <a:solidFill>
              <a:schemeClr val="accent1"/>
            </a:solidFill>
            <a:prstDash val="solid"/>
          </a:ln>
        </p:spPr>
      </p:sp>
      <p:sp>
        <p:nvSpPr>
          <p:cNvPr id="22" name="Text 20"/>
          <p:cNvSpPr txBox="1"/>
          <p:nvPr/>
        </p:nvSpPr>
        <p:spPr>
          <a:xfrm>
            <a:off x="6278728" y="4041648"/>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HUMANOS</a:t>
            </a:r>
            <a:endParaRPr lang="es-CL" sz="1200" dirty="0"/>
          </a:p>
        </p:txBody>
      </p:sp>
      <p:sp>
        <p:nvSpPr>
          <p:cNvPr id="23" name="Shape 21"/>
          <p:cNvSpPr/>
          <p:nvPr/>
        </p:nvSpPr>
        <p:spPr>
          <a:xfrm>
            <a:off x="6278728" y="4517136"/>
            <a:ext cx="128016" cy="128016"/>
          </a:xfrm>
          <a:prstGeom prst="rect">
            <a:avLst/>
          </a:prstGeom>
          <a:solidFill>
            <a:schemeClr val="accent5"/>
          </a:solidFill>
          <a:ln/>
        </p:spPr>
      </p:sp>
      <p:sp>
        <p:nvSpPr>
          <p:cNvPr id="24" name="Text 22"/>
          <p:cNvSpPr txBox="1"/>
          <p:nvPr/>
        </p:nvSpPr>
        <p:spPr>
          <a:xfrm>
            <a:off x="6553048" y="4352544"/>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Honestidad técnica en el diagnóstico</a:t>
            </a:r>
            <a:endParaRPr lang="es-CL" sz="1600" dirty="0"/>
          </a:p>
        </p:txBody>
      </p:sp>
      <p:sp>
        <p:nvSpPr>
          <p:cNvPr id="25" name="Shape 23"/>
          <p:cNvSpPr/>
          <p:nvPr/>
        </p:nvSpPr>
        <p:spPr>
          <a:xfrm>
            <a:off x="6278728" y="4992624"/>
            <a:ext cx="128016" cy="128016"/>
          </a:xfrm>
          <a:prstGeom prst="rect">
            <a:avLst/>
          </a:prstGeom>
          <a:solidFill>
            <a:schemeClr val="accent1"/>
          </a:solidFill>
          <a:ln/>
        </p:spPr>
      </p:sp>
      <p:sp>
        <p:nvSpPr>
          <p:cNvPr id="26" name="Text 24"/>
          <p:cNvSpPr txBox="1"/>
          <p:nvPr/>
        </p:nvSpPr>
        <p:spPr>
          <a:xfrm>
            <a:off x="6553048" y="4828032"/>
            <a:ext cx="5090008" cy="457200"/>
          </a:xfrm>
          <a:prstGeom prst="rect">
            <a:avLst/>
          </a:prstGeom>
          <a:noFill/>
          <a:ln/>
        </p:spPr>
        <p:txBody>
          <a:bodyPr wrap="square" lIns="0" tIns="0" rIns="0" bIns="0" rtlCol="0" anchor="ctr"/>
          <a:lstStyle/>
          <a:p>
            <a:pPr indent="0" marL="0">
              <a:lnSpc>
                <a:spcPct val="90000"/>
              </a:lnSpc>
              <a:buNone/>
            </a:pPr>
            <a:r>
              <a:rPr lang="es-CL" altLang="en-US" sz="1600" b="1" dirty="0">
                <a:solidFill>
                  <a:schemeClr val="tx1"/>
                </a:solidFill>
                <a:latin typeface="Figtree" pitchFamily="34" charset="0"/>
                <a:ea typeface="Figtree" pitchFamily="34" charset="-122"/>
                <a:cs typeface="Figtree" pitchFamily="34" charset="-120"/>
              </a:rPr>
              <a:t>Seguridad de quien instala y de quien conduce</a:t>
            </a:r>
            <a:endParaRPr lang="es-CL" sz="1600" dirty="0"/>
          </a:p>
        </p:txBody>
      </p:sp>
      <p:sp>
        <p:nvSpPr>
          <p:cNvPr id="27" name="Shape 25"/>
          <p:cNvSpPr/>
          <p:nvPr/>
        </p:nvSpPr>
        <p:spPr>
          <a:xfrm>
            <a:off x="6278728" y="5468112"/>
            <a:ext cx="128016" cy="128016"/>
          </a:xfrm>
          <a:prstGeom prst="rect">
            <a:avLst/>
          </a:prstGeom>
          <a:solidFill>
            <a:schemeClr val="accent5"/>
          </a:solidFill>
          <a:ln/>
        </p:spPr>
      </p:sp>
      <p:sp>
        <p:nvSpPr>
          <p:cNvPr id="28" name="Text 26"/>
          <p:cNvSpPr txBox="1"/>
          <p:nvPr/>
        </p:nvSpPr>
        <p:spPr>
          <a:xfrm>
            <a:off x="6553048" y="5303520"/>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Responsabilidad individual sobre la instalación ejecutada</a:t>
            </a:r>
            <a:endParaRPr lang="es-CL" sz="1600" dirty="0"/>
          </a:p>
        </p:txBody>
      </p:sp>
      <p:sp>
        <p:nvSpPr>
          <p:cNvPr id="29" name="Shape 27"/>
          <p:cNvSpPr/>
          <p:nvPr/>
        </p:nvSpPr>
        <p:spPr>
          <a:xfrm>
            <a:off x="6278728" y="5943600"/>
            <a:ext cx="128016" cy="128016"/>
          </a:xfrm>
          <a:prstGeom prst="rect">
            <a:avLst/>
          </a:prstGeom>
          <a:solidFill>
            <a:schemeClr val="accent5"/>
          </a:solidFill>
          <a:ln/>
        </p:spPr>
      </p:sp>
      <p:sp>
        <p:nvSpPr>
          <p:cNvPr id="30" name="Text 28"/>
          <p:cNvSpPr txBox="1"/>
          <p:nvPr/>
        </p:nvSpPr>
        <p:spPr>
          <a:xfrm>
            <a:off x="6553048" y="5779008"/>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Reconocimiento del oficio técnico</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06</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ENTORNO GENERAL (PEST)</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PEST 2,82: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el freno es económico y regulatorio.</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 03 del equipo (PEST, escala 1 a 5); INE (2026), ENE junio-agosto; Banco Central de Chile (2026), dólar observado; BloombergNEF (2025).</a:t>
            </a:r>
            <a:endParaRPr lang="es-CL" sz="1100" dirty="0"/>
          </a:p>
        </p:txBody>
      </p:sp>
      <p:sp>
        <p:nvSpPr>
          <p:cNvPr id="5" name="Text 3"/>
          <p:cNvSpPr txBox="1"/>
          <p:nvPr/>
        </p:nvSpPr>
        <p:spPr>
          <a:xfrm>
            <a:off x="548640" y="2350008"/>
            <a:ext cx="749808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DIMENSIÓN · ESCALA 1 A 5 · 3 = NEUTRO</a:t>
            </a:r>
            <a:endParaRPr lang="es-CL" sz="1200" dirty="0"/>
          </a:p>
        </p:txBody>
      </p:sp>
      <p:sp>
        <p:nvSpPr>
          <p:cNvPr id="6" name="Text 4"/>
          <p:cNvSpPr txBox="1"/>
          <p:nvPr/>
        </p:nvSpPr>
        <p:spPr>
          <a:xfrm>
            <a:off x="2880360" y="2651760"/>
            <a:ext cx="365760" cy="228600"/>
          </a:xfrm>
          <a:prstGeom prst="rect">
            <a:avLst/>
          </a:prstGeom>
          <a:noFill/>
          <a:ln/>
        </p:spPr>
        <p:txBody>
          <a:bodyPr wrap="square" lIns="0" tIns="0" rIns="0" bIns="0" rtlCol="0" anchor="t"/>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1</a:t>
            </a:r>
            <a:endParaRPr lang="es-CL" sz="1100" dirty="0"/>
          </a:p>
        </p:txBody>
      </p:sp>
      <p:sp>
        <p:nvSpPr>
          <p:cNvPr id="7" name="Text 5"/>
          <p:cNvSpPr txBox="1"/>
          <p:nvPr/>
        </p:nvSpPr>
        <p:spPr>
          <a:xfrm>
            <a:off x="3954780" y="2651760"/>
            <a:ext cx="365760" cy="228600"/>
          </a:xfrm>
          <a:prstGeom prst="rect">
            <a:avLst/>
          </a:prstGeom>
          <a:noFill/>
          <a:ln/>
        </p:spPr>
        <p:txBody>
          <a:bodyPr wrap="square" lIns="0" tIns="0" rIns="0" bIns="0" rtlCol="0" anchor="t"/>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2</a:t>
            </a:r>
            <a:endParaRPr lang="es-CL" sz="1100" dirty="0"/>
          </a:p>
        </p:txBody>
      </p:sp>
      <p:sp>
        <p:nvSpPr>
          <p:cNvPr id="8" name="Text 6"/>
          <p:cNvSpPr txBox="1"/>
          <p:nvPr/>
        </p:nvSpPr>
        <p:spPr>
          <a:xfrm>
            <a:off x="5029200" y="2651760"/>
            <a:ext cx="365760" cy="228600"/>
          </a:xfrm>
          <a:prstGeom prst="rect">
            <a:avLst/>
          </a:prstGeom>
          <a:noFill/>
          <a:ln/>
        </p:spPr>
        <p:txBody>
          <a:bodyPr wrap="square" lIns="0" tIns="0" rIns="0" bIns="0" rtlCol="0" anchor="t"/>
          <a:lstStyle/>
          <a:p>
            <a:pPr algn="ctr" indent="0" marL="0">
              <a:buNone/>
            </a:pPr>
            <a:r>
              <a:rPr lang="es-CL" altLang="en-US" sz="1100" spc="100" kern="0" dirty="0">
                <a:solidFill>
                  <a:schemeClr val="tx1"/>
                </a:solidFill>
                <a:latin typeface="IBM Plex Mono" pitchFamily="34" charset="0"/>
                <a:ea typeface="IBM Plex Mono" pitchFamily="34" charset="-122"/>
                <a:cs typeface="IBM Plex Mono" pitchFamily="34" charset="-120"/>
              </a:rPr>
              <a:t>3</a:t>
            </a:r>
            <a:endParaRPr lang="es-CL" sz="1100" dirty="0"/>
          </a:p>
        </p:txBody>
      </p:sp>
      <p:sp>
        <p:nvSpPr>
          <p:cNvPr id="9" name="Text 7"/>
          <p:cNvSpPr txBox="1"/>
          <p:nvPr/>
        </p:nvSpPr>
        <p:spPr>
          <a:xfrm>
            <a:off x="6103620" y="2651760"/>
            <a:ext cx="365760" cy="228600"/>
          </a:xfrm>
          <a:prstGeom prst="rect">
            <a:avLst/>
          </a:prstGeom>
          <a:noFill/>
          <a:ln/>
        </p:spPr>
        <p:txBody>
          <a:bodyPr wrap="square" lIns="0" tIns="0" rIns="0" bIns="0" rtlCol="0" anchor="t"/>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4</a:t>
            </a:r>
            <a:endParaRPr lang="es-CL" sz="1100" dirty="0"/>
          </a:p>
        </p:txBody>
      </p:sp>
      <p:sp>
        <p:nvSpPr>
          <p:cNvPr id="10" name="Text 8"/>
          <p:cNvSpPr txBox="1"/>
          <p:nvPr/>
        </p:nvSpPr>
        <p:spPr>
          <a:xfrm>
            <a:off x="7178040" y="2651760"/>
            <a:ext cx="365760" cy="228600"/>
          </a:xfrm>
          <a:prstGeom prst="rect">
            <a:avLst/>
          </a:prstGeom>
          <a:noFill/>
          <a:ln/>
        </p:spPr>
        <p:txBody>
          <a:bodyPr wrap="square" lIns="0" tIns="0" rIns="0" bIns="0" rtlCol="0" anchor="t"/>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5</a:t>
            </a:r>
            <a:endParaRPr lang="es-CL" sz="1100" dirty="0"/>
          </a:p>
        </p:txBody>
      </p:sp>
      <p:sp>
        <p:nvSpPr>
          <p:cNvPr id="11" name="Text 9"/>
          <p:cNvSpPr txBox="1"/>
          <p:nvPr/>
        </p:nvSpPr>
        <p:spPr>
          <a:xfrm>
            <a:off x="548640" y="2962656"/>
            <a:ext cx="2377440" cy="34747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Económico</a:t>
            </a:r>
            <a:endParaRPr lang="es-CL" sz="1800" dirty="0"/>
          </a:p>
        </p:txBody>
      </p:sp>
      <p:sp>
        <p:nvSpPr>
          <p:cNvPr id="12" name="Text 10"/>
          <p:cNvSpPr txBox="1"/>
          <p:nvPr/>
        </p:nvSpPr>
        <p:spPr>
          <a:xfrm>
            <a:off x="548640" y="3310128"/>
            <a:ext cx="7406640" cy="329184"/>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Ingreso disponible, desempleo 9,6%, dólar sobre $970</a:t>
            </a:r>
            <a:endParaRPr lang="es-CL" sz="1300" dirty="0"/>
          </a:p>
        </p:txBody>
      </p:sp>
      <p:sp>
        <p:nvSpPr>
          <p:cNvPr id="13" name="Shape 11"/>
          <p:cNvSpPr/>
          <p:nvPr/>
        </p:nvSpPr>
        <p:spPr>
          <a:xfrm>
            <a:off x="3063240" y="3026664"/>
            <a:ext cx="1482700" cy="201168"/>
          </a:xfrm>
          <a:prstGeom prst="rect">
            <a:avLst/>
          </a:prstGeom>
          <a:solidFill>
            <a:schemeClr val="tx1"/>
          </a:solidFill>
          <a:ln/>
        </p:spPr>
      </p:sp>
      <p:sp>
        <p:nvSpPr>
          <p:cNvPr id="14" name="Shape 12"/>
          <p:cNvSpPr/>
          <p:nvPr/>
        </p:nvSpPr>
        <p:spPr>
          <a:xfrm>
            <a:off x="3063240" y="3236976"/>
            <a:ext cx="1944700" cy="54864"/>
          </a:xfrm>
          <a:prstGeom prst="rect">
            <a:avLst/>
          </a:prstGeom>
          <a:solidFill>
            <a:srgbClr val="8B9598"/>
          </a:solidFill>
          <a:ln/>
        </p:spPr>
      </p:sp>
      <p:sp>
        <p:nvSpPr>
          <p:cNvPr id="15" name="Text 13"/>
          <p:cNvSpPr txBox="1"/>
          <p:nvPr/>
        </p:nvSpPr>
        <p:spPr>
          <a:xfrm>
            <a:off x="7406640" y="2962656"/>
            <a:ext cx="685800" cy="347472"/>
          </a:xfrm>
          <a:prstGeom prst="rect">
            <a:avLst/>
          </a:prstGeom>
          <a:noFill/>
          <a:ln/>
        </p:spPr>
        <p:txBody>
          <a:bodyPr wrap="square" lIns="0" tIns="0" rIns="0" bIns="0" rtlCol="0" anchor="ctr"/>
          <a:lstStyle/>
          <a:p>
            <a:pP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2,38</a:t>
            </a:r>
            <a:endParaRPr lang="es-CL" sz="2000" dirty="0"/>
          </a:p>
        </p:txBody>
      </p:sp>
      <p:sp>
        <p:nvSpPr>
          <p:cNvPr id="16" name="Text 14"/>
          <p:cNvSpPr txBox="1"/>
          <p:nvPr/>
        </p:nvSpPr>
        <p:spPr>
          <a:xfrm>
            <a:off x="548640" y="3749040"/>
            <a:ext cx="2377440" cy="34747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Político-jurídico</a:t>
            </a:r>
            <a:endParaRPr lang="es-CL" sz="1800" dirty="0"/>
          </a:p>
        </p:txBody>
      </p:sp>
      <p:sp>
        <p:nvSpPr>
          <p:cNvPr id="17" name="Text 15"/>
          <p:cNvSpPr txBox="1"/>
          <p:nvPr/>
        </p:nvSpPr>
        <p:spPr>
          <a:xfrm>
            <a:off x="548640" y="4096512"/>
            <a:ext cx="7406640" cy="329184"/>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Ley 21.793 sin reglamento</a:t>
            </a:r>
            <a:endParaRPr lang="es-CL" sz="1300" dirty="0"/>
          </a:p>
        </p:txBody>
      </p:sp>
      <p:sp>
        <p:nvSpPr>
          <p:cNvPr id="18" name="Shape 16"/>
          <p:cNvSpPr/>
          <p:nvPr/>
        </p:nvSpPr>
        <p:spPr>
          <a:xfrm>
            <a:off x="3063240" y="3813048"/>
            <a:ext cx="1794281" cy="201168"/>
          </a:xfrm>
          <a:prstGeom prst="rect">
            <a:avLst/>
          </a:prstGeom>
          <a:solidFill>
            <a:schemeClr val="tx1"/>
          </a:solidFill>
          <a:ln/>
        </p:spPr>
      </p:sp>
      <p:sp>
        <p:nvSpPr>
          <p:cNvPr id="19" name="Shape 17"/>
          <p:cNvSpPr/>
          <p:nvPr/>
        </p:nvSpPr>
        <p:spPr>
          <a:xfrm>
            <a:off x="3063240" y="4023360"/>
            <a:ext cx="1912468" cy="54864"/>
          </a:xfrm>
          <a:prstGeom prst="rect">
            <a:avLst/>
          </a:prstGeom>
          <a:solidFill>
            <a:srgbClr val="8B9598"/>
          </a:solidFill>
          <a:ln/>
        </p:spPr>
      </p:sp>
      <p:sp>
        <p:nvSpPr>
          <p:cNvPr id="20" name="Text 18"/>
          <p:cNvSpPr txBox="1"/>
          <p:nvPr/>
        </p:nvSpPr>
        <p:spPr>
          <a:xfrm>
            <a:off x="7406640" y="3749040"/>
            <a:ext cx="685800" cy="347472"/>
          </a:xfrm>
          <a:prstGeom prst="rect">
            <a:avLst/>
          </a:prstGeom>
          <a:noFill/>
          <a:ln/>
        </p:spPr>
        <p:txBody>
          <a:bodyPr wrap="square" lIns="0" tIns="0" rIns="0" bIns="0" rtlCol="0" anchor="ctr"/>
          <a:lstStyle/>
          <a:p>
            <a:pP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2,67</a:t>
            </a:r>
            <a:endParaRPr lang="es-CL" sz="2000" dirty="0"/>
          </a:p>
        </p:txBody>
      </p:sp>
      <p:sp>
        <p:nvSpPr>
          <p:cNvPr id="21" name="Text 19"/>
          <p:cNvSpPr txBox="1"/>
          <p:nvPr/>
        </p:nvSpPr>
        <p:spPr>
          <a:xfrm>
            <a:off x="548640" y="4535424"/>
            <a:ext cx="2377440" cy="34747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Sociocultural</a:t>
            </a:r>
            <a:endParaRPr lang="es-CL" sz="1800" dirty="0"/>
          </a:p>
        </p:txBody>
      </p:sp>
      <p:sp>
        <p:nvSpPr>
          <p:cNvPr id="22" name="Text 20"/>
          <p:cNvSpPr txBox="1"/>
          <p:nvPr/>
        </p:nvSpPr>
        <p:spPr>
          <a:xfrm>
            <a:off x="548640" y="4882896"/>
            <a:ext cx="7406640" cy="329184"/>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Se conserva el auto; posibles exclusiones de seguros</a:t>
            </a:r>
            <a:endParaRPr lang="es-CL" sz="1300" dirty="0"/>
          </a:p>
        </p:txBody>
      </p:sp>
      <p:sp>
        <p:nvSpPr>
          <p:cNvPr id="23" name="Shape 21"/>
          <p:cNvSpPr/>
          <p:nvPr/>
        </p:nvSpPr>
        <p:spPr>
          <a:xfrm>
            <a:off x="3063240" y="4599432"/>
            <a:ext cx="2148840" cy="201168"/>
          </a:xfrm>
          <a:prstGeom prst="rect">
            <a:avLst/>
          </a:prstGeom>
          <a:solidFill>
            <a:schemeClr val="accent1"/>
          </a:solidFill>
          <a:ln/>
        </p:spPr>
      </p:sp>
      <p:sp>
        <p:nvSpPr>
          <p:cNvPr id="24" name="Shape 22"/>
          <p:cNvSpPr/>
          <p:nvPr/>
        </p:nvSpPr>
        <p:spPr>
          <a:xfrm>
            <a:off x="3063240" y="4809744"/>
            <a:ext cx="2148840" cy="54864"/>
          </a:xfrm>
          <a:prstGeom prst="rect">
            <a:avLst/>
          </a:prstGeom>
          <a:solidFill>
            <a:srgbClr val="8B9598"/>
          </a:solidFill>
          <a:ln/>
        </p:spPr>
      </p:sp>
      <p:sp>
        <p:nvSpPr>
          <p:cNvPr id="25" name="Text 23"/>
          <p:cNvSpPr txBox="1"/>
          <p:nvPr/>
        </p:nvSpPr>
        <p:spPr>
          <a:xfrm>
            <a:off x="7406640" y="4535424"/>
            <a:ext cx="685800" cy="347472"/>
          </a:xfrm>
          <a:prstGeom prst="rect">
            <a:avLst/>
          </a:prstGeom>
          <a:noFill/>
          <a:ln/>
        </p:spPr>
        <p:txBody>
          <a:bodyPr wrap="square" lIns="0" tIns="0" rIns="0" bIns="0" rtlCol="0" anchor="ctr"/>
          <a:lstStyle/>
          <a:p>
            <a:pPr indent="0" marL="0">
              <a:buNone/>
            </a:pPr>
            <a:r>
              <a:rPr lang="es-CL" altLang="en-US" sz="2000" b="1" dirty="0">
                <a:solidFill>
                  <a:schemeClr val="accent1"/>
                </a:solidFill>
                <a:latin typeface="Archivo Condensed" pitchFamily="34" charset="0"/>
                <a:ea typeface="Archivo Condensed" pitchFamily="34" charset="-122"/>
                <a:cs typeface="Archivo Condensed" pitchFamily="34" charset="-120"/>
              </a:rPr>
              <a:t>3,00</a:t>
            </a:r>
            <a:endParaRPr lang="es-CL" sz="2000" dirty="0"/>
          </a:p>
        </p:txBody>
      </p:sp>
      <p:sp>
        <p:nvSpPr>
          <p:cNvPr id="26" name="Text 24"/>
          <p:cNvSpPr txBox="1"/>
          <p:nvPr/>
        </p:nvSpPr>
        <p:spPr>
          <a:xfrm>
            <a:off x="548640" y="5321808"/>
            <a:ext cx="2377440" cy="34747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Tecnológico</a:t>
            </a:r>
            <a:endParaRPr lang="es-CL" sz="1800" dirty="0"/>
          </a:p>
        </p:txBody>
      </p:sp>
      <p:sp>
        <p:nvSpPr>
          <p:cNvPr id="27" name="Text 25"/>
          <p:cNvSpPr txBox="1"/>
          <p:nvPr/>
        </p:nvSpPr>
        <p:spPr>
          <a:xfrm>
            <a:off x="548640" y="5669280"/>
            <a:ext cx="7406640" cy="329184"/>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Componentes maduros; packs LFP a US$81/kWh, promedio mundial</a:t>
            </a:r>
            <a:endParaRPr lang="es-CL" sz="1300" dirty="0"/>
          </a:p>
        </p:txBody>
      </p:sp>
      <p:sp>
        <p:nvSpPr>
          <p:cNvPr id="28" name="Shape 26"/>
          <p:cNvSpPr/>
          <p:nvPr/>
        </p:nvSpPr>
        <p:spPr>
          <a:xfrm>
            <a:off x="3063240" y="5385816"/>
            <a:ext cx="2395957" cy="201168"/>
          </a:xfrm>
          <a:prstGeom prst="rect">
            <a:avLst/>
          </a:prstGeom>
          <a:solidFill>
            <a:schemeClr val="accent1"/>
          </a:solidFill>
          <a:ln/>
        </p:spPr>
      </p:sp>
      <p:sp>
        <p:nvSpPr>
          <p:cNvPr id="29" name="Shape 27"/>
          <p:cNvSpPr/>
          <p:nvPr/>
        </p:nvSpPr>
        <p:spPr>
          <a:xfrm>
            <a:off x="3063240" y="5596128"/>
            <a:ext cx="2557120" cy="54864"/>
          </a:xfrm>
          <a:prstGeom prst="rect">
            <a:avLst/>
          </a:prstGeom>
          <a:solidFill>
            <a:srgbClr val="8B9598"/>
          </a:solidFill>
          <a:ln/>
        </p:spPr>
      </p:sp>
      <p:sp>
        <p:nvSpPr>
          <p:cNvPr id="30" name="Text 28"/>
          <p:cNvSpPr txBox="1"/>
          <p:nvPr/>
        </p:nvSpPr>
        <p:spPr>
          <a:xfrm>
            <a:off x="7406640" y="5321808"/>
            <a:ext cx="685800" cy="347472"/>
          </a:xfrm>
          <a:prstGeom prst="rect">
            <a:avLst/>
          </a:prstGeom>
          <a:noFill/>
          <a:ln/>
        </p:spPr>
        <p:txBody>
          <a:bodyPr wrap="square" lIns="0" tIns="0" rIns="0" bIns="0" rtlCol="0" anchor="ctr"/>
          <a:lstStyle/>
          <a:p>
            <a:pPr indent="0" marL="0">
              <a:buNone/>
            </a:pPr>
            <a:r>
              <a:rPr lang="es-CL" altLang="en-US" sz="2000" b="1" dirty="0">
                <a:solidFill>
                  <a:schemeClr val="accent1"/>
                </a:solidFill>
                <a:latin typeface="Archivo Condensed" pitchFamily="34" charset="0"/>
                <a:ea typeface="Archivo Condensed" pitchFamily="34" charset="-122"/>
                <a:cs typeface="Archivo Condensed" pitchFamily="34" charset="-120"/>
              </a:rPr>
              <a:t>3,23</a:t>
            </a:r>
            <a:endParaRPr lang="es-CL" sz="2000" dirty="0"/>
          </a:p>
        </p:txBody>
      </p:sp>
      <p:sp>
        <p:nvSpPr>
          <p:cNvPr id="31" name="Shape 29"/>
          <p:cNvSpPr/>
          <p:nvPr/>
        </p:nvSpPr>
        <p:spPr>
          <a:xfrm>
            <a:off x="5212080" y="2898648"/>
            <a:ext cx="0" cy="3191256"/>
          </a:xfrm>
          <a:prstGeom prst="line">
            <a:avLst/>
          </a:prstGeom>
          <a:noFill/>
          <a:ln w="15875">
            <a:solidFill>
              <a:schemeClr val="accent1"/>
            </a:solidFill>
            <a:prstDash val="dash"/>
          </a:ln>
        </p:spPr>
      </p:sp>
      <p:sp>
        <p:nvSpPr>
          <p:cNvPr id="32" name="Shape 30"/>
          <p:cNvSpPr/>
          <p:nvPr/>
        </p:nvSpPr>
        <p:spPr>
          <a:xfrm>
            <a:off x="548640" y="6135624"/>
            <a:ext cx="274320" cy="128016"/>
          </a:xfrm>
          <a:prstGeom prst="rect">
            <a:avLst/>
          </a:prstGeom>
          <a:solidFill>
            <a:schemeClr val="tx1"/>
          </a:solidFill>
          <a:ln/>
        </p:spPr>
      </p:sp>
      <p:sp>
        <p:nvSpPr>
          <p:cNvPr id="33" name="Text 31"/>
          <p:cNvSpPr txBox="1"/>
          <p:nvPr/>
        </p:nvSpPr>
        <p:spPr>
          <a:xfrm>
            <a:off x="896112" y="6062472"/>
            <a:ext cx="548640"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hoy</a:t>
            </a:r>
            <a:endParaRPr lang="es-CL" sz="1200" dirty="0"/>
          </a:p>
        </p:txBody>
      </p:sp>
      <p:sp>
        <p:nvSpPr>
          <p:cNvPr id="34" name="Shape 32"/>
          <p:cNvSpPr/>
          <p:nvPr/>
        </p:nvSpPr>
        <p:spPr>
          <a:xfrm>
            <a:off x="1508760" y="6172200"/>
            <a:ext cx="274320" cy="54864"/>
          </a:xfrm>
          <a:prstGeom prst="rect">
            <a:avLst/>
          </a:prstGeom>
          <a:solidFill>
            <a:srgbClr val="8B9598"/>
          </a:solidFill>
          <a:ln/>
        </p:spPr>
      </p:sp>
      <p:sp>
        <p:nvSpPr>
          <p:cNvPr id="35" name="Text 33"/>
          <p:cNvSpPr txBox="1"/>
          <p:nvPr/>
        </p:nvSpPr>
        <p:spPr>
          <a:xfrm>
            <a:off x="1856232" y="6062472"/>
            <a:ext cx="1097280"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a futuro</a:t>
            </a:r>
            <a:endParaRPr lang="es-CL" sz="1200" dirty="0"/>
          </a:p>
        </p:txBody>
      </p:sp>
      <p:pic>
        <p:nvPicPr>
          <p:cNvPr id="36" name="Image 0" descr="C:\Users\Usuario\Documents\GitHub\lumine\control-3\generador\assets\brillo.png">    </p:cNvPr>
          <p:cNvPicPr>
            <a:picLocks noChangeAspect="1"/>
          </p:cNvPicPr>
          <p:nvPr/>
        </p:nvPicPr>
        <p:blipFill>
          <a:blip r:embed="rId1"/>
          <a:stretch>
            <a:fillRect/>
          </a:stretch>
        </p:blipFill>
        <p:spPr>
          <a:xfrm>
            <a:off x="8046720" y="2075688"/>
            <a:ext cx="4053535" cy="1920240"/>
          </a:xfrm>
          <a:prstGeom prst="rect">
            <a:avLst/>
          </a:prstGeom>
        </p:spPr>
      </p:pic>
      <p:sp>
        <p:nvSpPr>
          <p:cNvPr id="37" name="Text 34"/>
          <p:cNvSpPr txBox="1"/>
          <p:nvPr/>
        </p:nvSpPr>
        <p:spPr>
          <a:xfrm>
            <a:off x="8503920" y="2350008"/>
            <a:ext cx="31391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GLOBAL HOY</a:t>
            </a:r>
            <a:endParaRPr lang="es-CL" sz="1200" dirty="0"/>
          </a:p>
        </p:txBody>
      </p:sp>
      <p:sp>
        <p:nvSpPr>
          <p:cNvPr id="38" name="Text 35"/>
          <p:cNvSpPr txBox="1"/>
          <p:nvPr/>
        </p:nvSpPr>
        <p:spPr>
          <a:xfrm>
            <a:off x="8503920" y="2624328"/>
            <a:ext cx="3139135" cy="1005840"/>
          </a:xfrm>
          <a:prstGeom prst="rect">
            <a:avLst/>
          </a:prstGeom>
          <a:noFill/>
          <a:ln/>
        </p:spPr>
        <p:txBody>
          <a:bodyPr wrap="square" lIns="0" tIns="0" rIns="0" bIns="0" rtlCol="0" anchor="ctr"/>
          <a:lstStyle/>
          <a:p>
            <a:pPr indent="0" marL="0">
              <a:buNone/>
            </a:pPr>
            <a:r>
              <a:rPr lang="es-CL" altLang="en-US" sz="7200" b="1" dirty="0">
                <a:solidFill>
                  <a:schemeClr val="accent1"/>
                </a:solidFill>
                <a:latin typeface="Archivo Condensed" pitchFamily="34" charset="0"/>
                <a:ea typeface="Archivo Condensed" pitchFamily="34" charset="-122"/>
                <a:cs typeface="Archivo Condensed" pitchFamily="34" charset="-120"/>
              </a:rPr>
              <a:t>2,82</a:t>
            </a:r>
            <a:endParaRPr lang="es-CL" sz="7200" dirty="0"/>
          </a:p>
        </p:txBody>
      </p:sp>
      <p:sp>
        <p:nvSpPr>
          <p:cNvPr id="39" name="Text 36"/>
          <p:cNvSpPr txBox="1"/>
          <p:nvPr/>
        </p:nvSpPr>
        <p:spPr>
          <a:xfrm>
            <a:off x="8503920" y="3630168"/>
            <a:ext cx="3139135" cy="32004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moderadamente desfavorable</a:t>
            </a:r>
            <a:endParaRPr lang="es-CL" sz="1500" dirty="0"/>
          </a:p>
        </p:txBody>
      </p:sp>
      <p:sp>
        <p:nvSpPr>
          <p:cNvPr id="40" name="Text 37"/>
          <p:cNvSpPr txBox="1"/>
          <p:nvPr/>
        </p:nvSpPr>
        <p:spPr>
          <a:xfrm>
            <a:off x="8503920" y="4224528"/>
            <a:ext cx="3139135"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51 FACTORES · A FUTURO 2,99</a:t>
            </a:r>
            <a:endParaRPr lang="es-CL" sz="1200" dirty="0"/>
          </a:p>
        </p:txBody>
      </p:sp>
      <p:sp>
        <p:nvSpPr>
          <p:cNvPr id="41" name="Shape 38"/>
          <p:cNvSpPr/>
          <p:nvPr/>
        </p:nvSpPr>
        <p:spPr>
          <a:xfrm>
            <a:off x="8503920" y="4535424"/>
            <a:ext cx="763596" cy="256032"/>
          </a:xfrm>
          <a:prstGeom prst="rect">
            <a:avLst/>
          </a:prstGeom>
          <a:solidFill>
            <a:schemeClr val="accent1"/>
          </a:solidFill>
          <a:ln/>
        </p:spPr>
      </p:sp>
      <p:sp>
        <p:nvSpPr>
          <p:cNvPr id="42" name="Shape 39"/>
          <p:cNvSpPr/>
          <p:nvPr/>
        </p:nvSpPr>
        <p:spPr>
          <a:xfrm>
            <a:off x="9304092" y="4535424"/>
            <a:ext cx="1071354" cy="256032"/>
          </a:xfrm>
          <a:prstGeom prst="rect">
            <a:avLst/>
          </a:prstGeom>
          <a:solidFill>
            <a:srgbClr val="8B9598"/>
          </a:solidFill>
          <a:ln/>
        </p:spPr>
      </p:sp>
      <p:sp>
        <p:nvSpPr>
          <p:cNvPr id="43" name="Shape 40"/>
          <p:cNvSpPr/>
          <p:nvPr/>
        </p:nvSpPr>
        <p:spPr>
          <a:xfrm>
            <a:off x="10412022" y="4535424"/>
            <a:ext cx="1194457" cy="256032"/>
          </a:xfrm>
          <a:prstGeom prst="rect">
            <a:avLst/>
          </a:prstGeom>
          <a:solidFill>
            <a:schemeClr val="tx1"/>
          </a:solidFill>
          <a:ln/>
        </p:spPr>
      </p:sp>
      <p:sp>
        <p:nvSpPr>
          <p:cNvPr id="44" name="Text 41"/>
          <p:cNvSpPr txBox="1"/>
          <p:nvPr/>
        </p:nvSpPr>
        <p:spPr>
          <a:xfrm>
            <a:off x="8503920" y="4910328"/>
            <a:ext cx="640080" cy="384048"/>
          </a:xfrm>
          <a:prstGeom prst="rect">
            <a:avLst/>
          </a:prstGeom>
          <a:noFill/>
          <a:ln/>
        </p:spPr>
        <p:txBody>
          <a:bodyPr wrap="square" lIns="0" tIns="0" rIns="0" bIns="0" rtlCol="0" anchor="ctr"/>
          <a:lstStyle/>
          <a:p>
            <a:pPr indent="0" marL="0">
              <a:buNone/>
            </a:pPr>
            <a:r>
              <a:rPr lang="es-CL" altLang="en-US" sz="2400" b="1" dirty="0">
                <a:solidFill>
                  <a:schemeClr val="accent1"/>
                </a:solidFill>
                <a:latin typeface="Archivo Condensed" pitchFamily="34" charset="0"/>
                <a:ea typeface="Archivo Condensed" pitchFamily="34" charset="-122"/>
                <a:cs typeface="Archivo Condensed" pitchFamily="34" charset="-120"/>
              </a:rPr>
              <a:t>13</a:t>
            </a:r>
            <a:endParaRPr lang="es-CL" sz="2400" dirty="0"/>
          </a:p>
        </p:txBody>
      </p:sp>
      <p:sp>
        <p:nvSpPr>
          <p:cNvPr id="45" name="Text 42"/>
          <p:cNvSpPr txBox="1"/>
          <p:nvPr/>
        </p:nvSpPr>
        <p:spPr>
          <a:xfrm>
            <a:off x="9189720" y="4910328"/>
            <a:ext cx="2453335" cy="38404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oportunidades</a:t>
            </a:r>
            <a:endParaRPr lang="es-CL" sz="1600" dirty="0"/>
          </a:p>
        </p:txBody>
      </p:sp>
      <p:sp>
        <p:nvSpPr>
          <p:cNvPr id="46" name="Text 43"/>
          <p:cNvSpPr txBox="1"/>
          <p:nvPr/>
        </p:nvSpPr>
        <p:spPr>
          <a:xfrm>
            <a:off x="8503920" y="5312664"/>
            <a:ext cx="640080" cy="384048"/>
          </a:xfrm>
          <a:prstGeom prst="rect">
            <a:avLst/>
          </a:prstGeom>
          <a:noFill/>
          <a:ln/>
        </p:spPr>
        <p:txBody>
          <a:bodyPr wrap="square" lIns="0" tIns="0" rIns="0" bIns="0" rtlCol="0" anchor="ctr"/>
          <a:lstStyle/>
          <a:p>
            <a:pPr indent="0" marL="0">
              <a:buNone/>
            </a:pPr>
            <a:r>
              <a:rPr lang="es-CL" altLang="en-US" sz="2400" b="1" dirty="0">
                <a:solidFill>
                  <a:srgbClr val="8B9598"/>
                </a:solidFill>
                <a:latin typeface="Archivo Condensed" pitchFamily="34" charset="0"/>
                <a:ea typeface="Archivo Condensed" pitchFamily="34" charset="-122"/>
                <a:cs typeface="Archivo Condensed" pitchFamily="34" charset="-120"/>
              </a:rPr>
              <a:t>18</a:t>
            </a:r>
            <a:endParaRPr lang="es-CL" sz="2400" dirty="0"/>
          </a:p>
        </p:txBody>
      </p:sp>
      <p:sp>
        <p:nvSpPr>
          <p:cNvPr id="47" name="Text 44"/>
          <p:cNvSpPr txBox="1"/>
          <p:nvPr/>
        </p:nvSpPr>
        <p:spPr>
          <a:xfrm>
            <a:off x="9189720" y="5312664"/>
            <a:ext cx="2453335" cy="38404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neutros</a:t>
            </a:r>
            <a:endParaRPr lang="es-CL" sz="1600" dirty="0"/>
          </a:p>
        </p:txBody>
      </p:sp>
      <p:sp>
        <p:nvSpPr>
          <p:cNvPr id="48" name="Text 45"/>
          <p:cNvSpPr txBox="1"/>
          <p:nvPr/>
        </p:nvSpPr>
        <p:spPr>
          <a:xfrm>
            <a:off x="8503920" y="5715000"/>
            <a:ext cx="640080" cy="384048"/>
          </a:xfrm>
          <a:prstGeom prst="rect">
            <a:avLst/>
          </a:prstGeom>
          <a:noFill/>
          <a:ln/>
        </p:spPr>
        <p:txBody>
          <a:bodyPr wrap="square" lIns="0" tIns="0" rIns="0" bIns="0" rtlCol="0" anchor="ctr"/>
          <a:lstStyle/>
          <a:p>
            <a:pPr indent="0" marL="0">
              <a:buNone/>
            </a:pPr>
            <a:r>
              <a:rPr lang="es-CL" altLang="en-US" sz="2400" b="1" dirty="0">
                <a:solidFill>
                  <a:schemeClr val="tx1"/>
                </a:solidFill>
                <a:latin typeface="Archivo Condensed" pitchFamily="34" charset="0"/>
                <a:ea typeface="Archivo Condensed" pitchFamily="34" charset="-122"/>
                <a:cs typeface="Archivo Condensed" pitchFamily="34" charset="-120"/>
              </a:rPr>
              <a:t>20</a:t>
            </a:r>
            <a:endParaRPr lang="es-CL" sz="2400" dirty="0"/>
          </a:p>
        </p:txBody>
      </p:sp>
      <p:sp>
        <p:nvSpPr>
          <p:cNvPr id="49" name="Text 46"/>
          <p:cNvSpPr txBox="1"/>
          <p:nvPr/>
        </p:nvSpPr>
        <p:spPr>
          <a:xfrm>
            <a:off x="9189720" y="5715000"/>
            <a:ext cx="2453335" cy="38404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amenazas</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07</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ENTORNO REGULATORIO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 VÍA LEGAL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decide si el negocio existe.</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Ley N° 21.793, Diario Oficial (14-01-2026); borrador de reglamento del MTT en consulta (diciembre de 2021); escenarios elaborados por el equipo.</a:t>
            </a:r>
            <a:endParaRPr lang="es-CL" sz="1100" dirty="0"/>
          </a:p>
        </p:txBody>
      </p:sp>
      <p:sp>
        <p:nvSpPr>
          <p:cNvPr id="5" name="Shape 3"/>
          <p:cNvSpPr/>
          <p:nvPr/>
        </p:nvSpPr>
        <p:spPr>
          <a:xfrm>
            <a:off x="548640" y="2395728"/>
            <a:ext cx="3794760" cy="1737360"/>
          </a:xfrm>
          <a:prstGeom prst="rect">
            <a:avLst/>
          </a:prstGeom>
          <a:solidFill>
            <a:schemeClr val="bg2"/>
          </a:solidFill>
          <a:ln w="12700">
            <a:solidFill>
              <a:schemeClr val="accent1"/>
            </a:solidFill>
            <a:prstDash val="solid"/>
          </a:ln>
        </p:spPr>
      </p:sp>
      <p:sp>
        <p:nvSpPr>
          <p:cNvPr id="6" name="Text 4"/>
          <p:cNvSpPr txBox="1"/>
          <p:nvPr/>
        </p:nvSpPr>
        <p:spPr>
          <a:xfrm>
            <a:off x="749808" y="2532888"/>
            <a:ext cx="34290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LEY N° 21.793 · 14-01-2026</a:t>
            </a:r>
            <a:endParaRPr lang="es-CL" sz="1200" dirty="0"/>
          </a:p>
        </p:txBody>
      </p:sp>
      <p:sp>
        <p:nvSpPr>
          <p:cNvPr id="7" name="Text 5"/>
          <p:cNvSpPr txBox="1"/>
          <p:nvPr/>
        </p:nvSpPr>
        <p:spPr>
          <a:xfrm>
            <a:off x="749808" y="2834640"/>
            <a:ext cx="3429000" cy="86868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Faculta al MTT para autorizar talleres que transformen la propulsión de vehículos en uso.</a:t>
            </a:r>
            <a:endParaRPr lang="es-CL" sz="1600" dirty="0"/>
          </a:p>
        </p:txBody>
      </p:sp>
      <p:sp>
        <p:nvSpPr>
          <p:cNvPr id="8" name="Shape 6"/>
          <p:cNvSpPr/>
          <p:nvPr/>
        </p:nvSpPr>
        <p:spPr>
          <a:xfrm>
            <a:off x="749808" y="3694176"/>
            <a:ext cx="2530856" cy="292608"/>
          </a:xfrm>
          <a:prstGeom prst="rect">
            <a:avLst/>
          </a:prstGeom>
          <a:solidFill>
            <a:schemeClr val="bg1">
              <a:alpha val="0"/>
            </a:schemeClr>
          </a:solidFill>
          <a:ln w="12700">
            <a:solidFill>
              <a:schemeClr val="tx2"/>
            </a:solidFill>
            <a:prstDash val="solid"/>
          </a:ln>
        </p:spPr>
      </p:sp>
      <p:sp>
        <p:nvSpPr>
          <p:cNvPr id="9" name="Text 7"/>
          <p:cNvSpPr txBox="1"/>
          <p:nvPr/>
        </p:nvSpPr>
        <p:spPr>
          <a:xfrm>
            <a:off x="859536" y="3694176"/>
            <a:ext cx="2311400" cy="292608"/>
          </a:xfrm>
          <a:prstGeom prst="rect">
            <a:avLst/>
          </a:prstGeom>
          <a:noFill/>
          <a:ln/>
        </p:spPr>
        <p:txBody>
          <a:bodyPr wrap="square" lIns="0" tIns="0" rIns="0" bIns="0" rtlCol="0" anchor="ctr"/>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REGLAMENTO SIN PUBLICAR</a:t>
            </a:r>
            <a:endParaRPr lang="es-CL" sz="1100" dirty="0"/>
          </a:p>
        </p:txBody>
      </p:sp>
      <p:sp>
        <p:nvSpPr>
          <p:cNvPr id="10" name="Shape 8"/>
          <p:cNvSpPr/>
          <p:nvPr/>
        </p:nvSpPr>
        <p:spPr>
          <a:xfrm>
            <a:off x="548640" y="4315968"/>
            <a:ext cx="3794760" cy="1828800"/>
          </a:xfrm>
          <a:prstGeom prst="rect">
            <a:avLst/>
          </a:prstGeom>
          <a:solidFill>
            <a:schemeClr val="bg2"/>
          </a:solidFill>
          <a:ln w="9525">
            <a:solidFill>
              <a:schemeClr val="tx2"/>
            </a:solidFill>
            <a:prstDash val="dash"/>
          </a:ln>
        </p:spPr>
      </p:sp>
      <p:sp>
        <p:nvSpPr>
          <p:cNvPr id="11" name="Text 9"/>
          <p:cNvSpPr txBox="1"/>
          <p:nvPr/>
        </p:nvSpPr>
        <p:spPr>
          <a:xfrm>
            <a:off x="749808" y="4453128"/>
            <a:ext cx="342900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BORRADOR MTT · DIC. 2021</a:t>
            </a:r>
            <a:endParaRPr lang="es-CL" sz="1200" dirty="0"/>
          </a:p>
        </p:txBody>
      </p:sp>
      <p:sp>
        <p:nvSpPr>
          <p:cNvPr id="12" name="Text 10"/>
          <p:cNvSpPr txBox="1"/>
          <p:nvPr/>
        </p:nvSpPr>
        <p:spPr>
          <a:xfrm>
            <a:off x="749808" y="4754880"/>
            <a:ext cx="3429000" cy="128016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Anterior a la ley. Define transformación como reemplazar el motor y excluye autos con ABS, airbag o control de estabilidad.</a:t>
            </a:r>
            <a:endParaRPr lang="es-CL" sz="1600" dirty="0"/>
          </a:p>
        </p:txBody>
      </p:sp>
      <p:sp>
        <p:nvSpPr>
          <p:cNvPr id="13" name="Shape 11"/>
          <p:cNvSpPr/>
          <p:nvPr/>
        </p:nvSpPr>
        <p:spPr>
          <a:xfrm>
            <a:off x="4754880" y="3721608"/>
            <a:ext cx="1965960" cy="786384"/>
          </a:xfrm>
          <a:prstGeom prst="rect">
            <a:avLst/>
          </a:prstGeom>
          <a:solidFill>
            <a:srgbClr val="0B1A22"/>
          </a:solidFill>
          <a:ln w="19050">
            <a:solidFill>
              <a:schemeClr val="accent1"/>
            </a:solidFill>
            <a:prstDash val="solid"/>
          </a:ln>
        </p:spPr>
      </p:sp>
      <p:sp>
        <p:nvSpPr>
          <p:cNvPr id="14" name="Text 12"/>
          <p:cNvSpPr txBox="1"/>
          <p:nvPr/>
        </p:nvSpPr>
        <p:spPr>
          <a:xfrm>
            <a:off x="4864608" y="3721608"/>
            <a:ext cx="1746504" cy="786384"/>
          </a:xfrm>
          <a:prstGeom prst="rect">
            <a:avLst/>
          </a:prstGeom>
          <a:noFill/>
          <a:ln/>
        </p:spPr>
        <p:txBody>
          <a:bodyPr wrap="square" lIns="0" tIns="0" rIns="0" bIns="0" rtlCol="0" anchor="ctr"/>
          <a:lstStyle/>
          <a:p>
            <a:pPr algn="ctr" indent="0" marL="0">
              <a:lnSpc>
                <a:spcPct val="92000"/>
              </a:lnSpc>
              <a:buNone/>
            </a:pPr>
            <a:r>
              <a:rPr lang="es-CL" altLang="en-US" sz="1500" b="1" dirty="0">
                <a:solidFill>
                  <a:schemeClr val="tx1"/>
                </a:solidFill>
                <a:latin typeface="Figtree" pitchFamily="34" charset="0"/>
                <a:ea typeface="Figtree" pitchFamily="34" charset="-122"/>
                <a:cs typeface="Figtree" pitchFamily="34" charset="-120"/>
              </a:rPr>
              <a:t>¿Acepta conservar el motor?</a:t>
            </a:r>
            <a:endParaRPr lang="es-CL" sz="1500" dirty="0"/>
          </a:p>
        </p:txBody>
      </p:sp>
      <p:sp>
        <p:nvSpPr>
          <p:cNvPr id="15" name="Shape 13"/>
          <p:cNvSpPr/>
          <p:nvPr/>
        </p:nvSpPr>
        <p:spPr>
          <a:xfrm>
            <a:off x="7223760" y="2715768"/>
            <a:ext cx="1965960" cy="786384"/>
          </a:xfrm>
          <a:prstGeom prst="rect">
            <a:avLst/>
          </a:prstGeom>
          <a:solidFill>
            <a:schemeClr val="bg2"/>
          </a:solidFill>
          <a:ln w="9525">
            <a:solidFill>
              <a:schemeClr val="tx2"/>
            </a:solidFill>
            <a:prstDash val="solid"/>
          </a:ln>
        </p:spPr>
      </p:sp>
      <p:sp>
        <p:nvSpPr>
          <p:cNvPr id="16" name="Text 14"/>
          <p:cNvSpPr txBox="1"/>
          <p:nvPr/>
        </p:nvSpPr>
        <p:spPr>
          <a:xfrm>
            <a:off x="7333488" y="2715768"/>
            <a:ext cx="1746504" cy="786384"/>
          </a:xfrm>
          <a:prstGeom prst="rect">
            <a:avLst/>
          </a:prstGeom>
          <a:noFill/>
          <a:ln/>
        </p:spPr>
        <p:txBody>
          <a:bodyPr wrap="square" lIns="0" tIns="0" rIns="0" bIns="0" rtlCol="0" anchor="ctr"/>
          <a:lstStyle/>
          <a:p>
            <a:pPr algn="ctr" indent="0" marL="0">
              <a:lnSpc>
                <a:spcPct val="92000"/>
              </a:lnSpc>
              <a:buNone/>
            </a:pPr>
            <a:r>
              <a:rPr lang="es-CL" altLang="en-US" sz="1500" b="1" dirty="0">
                <a:solidFill>
                  <a:schemeClr val="tx1"/>
                </a:solidFill>
                <a:latin typeface="Figtree" pitchFamily="34" charset="0"/>
                <a:ea typeface="Figtree" pitchFamily="34" charset="-122"/>
                <a:cs typeface="Figtree" pitchFamily="34" charset="-120"/>
              </a:rPr>
              <a:t>¿Excluye ABS, airbag o estabilidad?</a:t>
            </a:r>
            <a:endParaRPr lang="es-CL" sz="1500" dirty="0"/>
          </a:p>
        </p:txBody>
      </p:sp>
      <p:sp>
        <p:nvSpPr>
          <p:cNvPr id="17" name="Shape 15"/>
          <p:cNvSpPr/>
          <p:nvPr/>
        </p:nvSpPr>
        <p:spPr>
          <a:xfrm>
            <a:off x="7223760" y="4818888"/>
            <a:ext cx="1965960" cy="786384"/>
          </a:xfrm>
          <a:prstGeom prst="rect">
            <a:avLst/>
          </a:prstGeom>
          <a:solidFill>
            <a:srgbClr val="0B1A22"/>
          </a:solidFill>
          <a:ln w="19050">
            <a:solidFill>
              <a:schemeClr val="accent1"/>
            </a:solidFill>
            <a:prstDash val="solid"/>
          </a:ln>
        </p:spPr>
      </p:sp>
      <p:sp>
        <p:nvSpPr>
          <p:cNvPr id="18" name="Text 16"/>
          <p:cNvSpPr txBox="1"/>
          <p:nvPr/>
        </p:nvSpPr>
        <p:spPr>
          <a:xfrm>
            <a:off x="7333488" y="4818888"/>
            <a:ext cx="1746504" cy="786384"/>
          </a:xfrm>
          <a:prstGeom prst="rect">
            <a:avLst/>
          </a:prstGeom>
          <a:noFill/>
          <a:ln/>
        </p:spPr>
        <p:txBody>
          <a:bodyPr wrap="square" lIns="0" tIns="0" rIns="0" bIns="0" rtlCol="0" anchor="ctr"/>
          <a:lstStyle/>
          <a:p>
            <a:pPr algn="ctr" indent="0" marL="0">
              <a:lnSpc>
                <a:spcPct val="92000"/>
              </a:lnSpc>
              <a:buNone/>
            </a:pPr>
            <a:r>
              <a:rPr lang="es-CL" altLang="en-US" sz="1500" b="1" dirty="0">
                <a:solidFill>
                  <a:schemeClr val="tx1"/>
                </a:solidFill>
                <a:latin typeface="Figtree" pitchFamily="34" charset="0"/>
                <a:ea typeface="Figtree" pitchFamily="34" charset="-122"/>
                <a:cs typeface="Figtree" pitchFamily="34" charset="-120"/>
              </a:rPr>
              <a:t>¿Procede alterar características?</a:t>
            </a:r>
            <a:endParaRPr lang="es-CL" sz="1500" dirty="0"/>
          </a:p>
        </p:txBody>
      </p:sp>
      <p:sp>
        <p:nvSpPr>
          <p:cNvPr id="19" name="Shape 17"/>
          <p:cNvSpPr/>
          <p:nvPr/>
        </p:nvSpPr>
        <p:spPr>
          <a:xfrm>
            <a:off x="6720840" y="4114800"/>
            <a:ext cx="246888" cy="0"/>
          </a:xfrm>
          <a:prstGeom prst="line">
            <a:avLst/>
          </a:prstGeom>
          <a:noFill/>
          <a:ln w="12700">
            <a:solidFill>
              <a:schemeClr val="tx2"/>
            </a:solidFill>
            <a:prstDash val="solid"/>
          </a:ln>
        </p:spPr>
      </p:sp>
      <p:sp>
        <p:nvSpPr>
          <p:cNvPr id="20" name="Shape 18"/>
          <p:cNvSpPr/>
          <p:nvPr/>
        </p:nvSpPr>
        <p:spPr>
          <a:xfrm>
            <a:off x="6967728" y="4114800"/>
            <a:ext cx="0" cy="-1005840"/>
          </a:xfrm>
          <a:prstGeom prst="line">
            <a:avLst/>
          </a:prstGeom>
          <a:noFill/>
          <a:ln w="12700">
            <a:solidFill>
              <a:schemeClr val="tx2"/>
            </a:solidFill>
            <a:prstDash val="solid"/>
          </a:ln>
        </p:spPr>
      </p:sp>
      <p:sp>
        <p:nvSpPr>
          <p:cNvPr id="21" name="Shape 19"/>
          <p:cNvSpPr/>
          <p:nvPr/>
        </p:nvSpPr>
        <p:spPr>
          <a:xfrm>
            <a:off x="6967728" y="3108960"/>
            <a:ext cx="256032" cy="0"/>
          </a:xfrm>
          <a:prstGeom prst="line">
            <a:avLst/>
          </a:prstGeom>
          <a:noFill/>
          <a:ln w="12700">
            <a:solidFill>
              <a:schemeClr val="tx2"/>
            </a:solidFill>
            <a:prstDash val="solid"/>
            <a:tailEnd type="triangle"/>
          </a:ln>
        </p:spPr>
      </p:sp>
      <p:sp>
        <p:nvSpPr>
          <p:cNvPr id="22" name="Text 20"/>
          <p:cNvSpPr txBox="1"/>
          <p:nvPr/>
        </p:nvSpPr>
        <p:spPr>
          <a:xfrm>
            <a:off x="7004304" y="2862072"/>
            <a:ext cx="365760" cy="219456"/>
          </a:xfrm>
          <a:prstGeom prst="rect">
            <a:avLst/>
          </a:prstGeom>
          <a:noFill/>
          <a:ln/>
        </p:spPr>
        <p:txBody>
          <a:bodyPr wrap="square" lIns="0" tIns="0" rIns="0" bIns="0" rtlCol="0" anchor="t"/>
          <a:lstStyle/>
          <a:p>
            <a:pPr indent="0" marL="0">
              <a:buNone/>
            </a:pPr>
            <a:r>
              <a:rPr lang="es-CL" altLang="en-US" sz="1100" b="1" spc="100" kern="0" dirty="0">
                <a:solidFill>
                  <a:schemeClr val="tx2"/>
                </a:solidFill>
                <a:latin typeface="IBM Plex Mono" pitchFamily="34" charset="0"/>
                <a:ea typeface="IBM Plex Mono" pitchFamily="34" charset="-122"/>
                <a:cs typeface="IBM Plex Mono" pitchFamily="34" charset="-120"/>
              </a:rPr>
              <a:t>SÍ</a:t>
            </a:r>
            <a:endParaRPr lang="es-CL" sz="1100" dirty="0"/>
          </a:p>
        </p:txBody>
      </p:sp>
      <p:sp>
        <p:nvSpPr>
          <p:cNvPr id="23" name="Shape 21"/>
          <p:cNvSpPr/>
          <p:nvPr/>
        </p:nvSpPr>
        <p:spPr>
          <a:xfrm>
            <a:off x="6720840" y="4114800"/>
            <a:ext cx="246888" cy="0"/>
          </a:xfrm>
          <a:prstGeom prst="line">
            <a:avLst/>
          </a:prstGeom>
          <a:noFill/>
          <a:ln w="28575">
            <a:solidFill>
              <a:schemeClr val="accent1"/>
            </a:solidFill>
            <a:prstDash val="solid"/>
          </a:ln>
        </p:spPr>
      </p:sp>
      <p:sp>
        <p:nvSpPr>
          <p:cNvPr id="24" name="Shape 22"/>
          <p:cNvSpPr/>
          <p:nvPr/>
        </p:nvSpPr>
        <p:spPr>
          <a:xfrm>
            <a:off x="6967728" y="4114800"/>
            <a:ext cx="0" cy="1097280"/>
          </a:xfrm>
          <a:prstGeom prst="line">
            <a:avLst/>
          </a:prstGeom>
          <a:noFill/>
          <a:ln w="28575">
            <a:solidFill>
              <a:schemeClr val="accent1"/>
            </a:solidFill>
            <a:prstDash val="solid"/>
          </a:ln>
        </p:spPr>
      </p:sp>
      <p:sp>
        <p:nvSpPr>
          <p:cNvPr id="25" name="Shape 23"/>
          <p:cNvSpPr/>
          <p:nvPr/>
        </p:nvSpPr>
        <p:spPr>
          <a:xfrm>
            <a:off x="6967728" y="5212080"/>
            <a:ext cx="256032" cy="0"/>
          </a:xfrm>
          <a:prstGeom prst="line">
            <a:avLst/>
          </a:prstGeom>
          <a:noFill/>
          <a:ln w="28575">
            <a:solidFill>
              <a:schemeClr val="accent1"/>
            </a:solidFill>
            <a:prstDash val="solid"/>
            <a:tailEnd type="triangle"/>
          </a:ln>
        </p:spPr>
      </p:sp>
      <p:sp>
        <p:nvSpPr>
          <p:cNvPr id="26" name="Text 24"/>
          <p:cNvSpPr txBox="1"/>
          <p:nvPr/>
        </p:nvSpPr>
        <p:spPr>
          <a:xfrm>
            <a:off x="7004304" y="4965192"/>
            <a:ext cx="365760" cy="219456"/>
          </a:xfrm>
          <a:prstGeom prst="rect">
            <a:avLst/>
          </a:prstGeom>
          <a:noFill/>
          <a:ln/>
        </p:spPr>
        <p:txBody>
          <a:bodyPr wrap="square" lIns="0" tIns="0" rIns="0" bIns="0" rtlCol="0" anchor="t"/>
          <a:lstStyle/>
          <a:p>
            <a:pPr indent="0" marL="0">
              <a:buNone/>
            </a:pPr>
            <a:r>
              <a:rPr lang="es-CL" altLang="en-US" sz="1100" b="1" spc="100" kern="0" dirty="0">
                <a:solidFill>
                  <a:schemeClr val="accent1"/>
                </a:solidFill>
                <a:latin typeface="IBM Plex Mono" pitchFamily="34" charset="0"/>
                <a:ea typeface="IBM Plex Mono" pitchFamily="34" charset="-122"/>
                <a:cs typeface="IBM Plex Mono" pitchFamily="34" charset="-120"/>
              </a:rPr>
              <a:t>NO</a:t>
            </a:r>
            <a:endParaRPr lang="es-CL" sz="1100" dirty="0"/>
          </a:p>
        </p:txBody>
      </p:sp>
      <p:sp>
        <p:nvSpPr>
          <p:cNvPr id="27" name="Shape 25"/>
          <p:cNvSpPr/>
          <p:nvPr/>
        </p:nvSpPr>
        <p:spPr>
          <a:xfrm>
            <a:off x="9692640" y="2350008"/>
            <a:ext cx="2224735" cy="749808"/>
          </a:xfrm>
          <a:prstGeom prst="rect">
            <a:avLst/>
          </a:prstGeom>
          <a:solidFill>
            <a:schemeClr val="bg2"/>
          </a:solidFill>
          <a:ln w="9525">
            <a:solidFill>
              <a:schemeClr val="tx2"/>
            </a:solidFill>
            <a:prstDash val="solid"/>
          </a:ln>
        </p:spPr>
      </p:sp>
      <p:sp>
        <p:nvSpPr>
          <p:cNvPr id="28" name="Shape 26"/>
          <p:cNvSpPr/>
          <p:nvPr/>
        </p:nvSpPr>
        <p:spPr>
          <a:xfrm>
            <a:off x="9802368" y="2551176"/>
            <a:ext cx="457200" cy="329184"/>
          </a:xfrm>
          <a:prstGeom prst="rect">
            <a:avLst/>
          </a:prstGeom>
          <a:solidFill>
            <a:schemeClr val="accent5"/>
          </a:solidFill>
          <a:ln/>
        </p:spPr>
      </p:sp>
      <p:sp>
        <p:nvSpPr>
          <p:cNvPr id="29" name="Text 27"/>
          <p:cNvSpPr txBox="1"/>
          <p:nvPr/>
        </p:nvSpPr>
        <p:spPr>
          <a:xfrm>
            <a:off x="9802368" y="2551176"/>
            <a:ext cx="457200" cy="329184"/>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E1</a:t>
            </a:r>
            <a:endParaRPr lang="es-CL" sz="1300" dirty="0"/>
          </a:p>
        </p:txBody>
      </p:sp>
      <p:sp>
        <p:nvSpPr>
          <p:cNvPr id="30" name="Text 28"/>
          <p:cNvSpPr txBox="1"/>
          <p:nvPr/>
        </p:nvSpPr>
        <p:spPr>
          <a:xfrm>
            <a:off x="10351008" y="2350008"/>
            <a:ext cx="1493215" cy="749808"/>
          </a:xfrm>
          <a:prstGeom prst="rect">
            <a:avLst/>
          </a:prstGeom>
          <a:noFill/>
          <a:ln/>
        </p:spPr>
        <p:txBody>
          <a:bodyPr wrap="square" lIns="0" tIns="0" rIns="0" bIns="0" rtlCol="0" anchor="ctr"/>
          <a:lstStyle/>
          <a:p>
            <a:pP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Vía amplia: ventaja temporal al primero</a:t>
            </a:r>
            <a:endParaRPr lang="es-CL" sz="1500" dirty="0"/>
          </a:p>
        </p:txBody>
      </p:sp>
      <p:sp>
        <p:nvSpPr>
          <p:cNvPr id="31" name="Shape 29"/>
          <p:cNvSpPr/>
          <p:nvPr/>
        </p:nvSpPr>
        <p:spPr>
          <a:xfrm>
            <a:off x="9692640" y="3218688"/>
            <a:ext cx="2224735" cy="749808"/>
          </a:xfrm>
          <a:prstGeom prst="rect">
            <a:avLst/>
          </a:prstGeom>
          <a:solidFill>
            <a:schemeClr val="bg2"/>
          </a:solidFill>
          <a:ln w="9525">
            <a:solidFill>
              <a:schemeClr val="tx2"/>
            </a:solidFill>
            <a:prstDash val="solid"/>
          </a:ln>
        </p:spPr>
      </p:sp>
      <p:sp>
        <p:nvSpPr>
          <p:cNvPr id="32" name="Shape 30"/>
          <p:cNvSpPr/>
          <p:nvPr/>
        </p:nvSpPr>
        <p:spPr>
          <a:xfrm>
            <a:off x="9802368" y="3419856"/>
            <a:ext cx="457200" cy="329184"/>
          </a:xfrm>
          <a:prstGeom prst="rect">
            <a:avLst/>
          </a:prstGeom>
          <a:solidFill>
            <a:schemeClr val="accent5"/>
          </a:solidFill>
          <a:ln/>
        </p:spPr>
      </p:sp>
      <p:sp>
        <p:nvSpPr>
          <p:cNvPr id="33" name="Text 31"/>
          <p:cNvSpPr txBox="1"/>
          <p:nvPr/>
        </p:nvSpPr>
        <p:spPr>
          <a:xfrm>
            <a:off x="9802368" y="3419856"/>
            <a:ext cx="457200" cy="329184"/>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E2</a:t>
            </a:r>
            <a:endParaRPr lang="es-CL" sz="1300" dirty="0"/>
          </a:p>
        </p:txBody>
      </p:sp>
      <p:sp>
        <p:nvSpPr>
          <p:cNvPr id="34" name="Text 32"/>
          <p:cNvSpPr txBox="1"/>
          <p:nvPr/>
        </p:nvSpPr>
        <p:spPr>
          <a:xfrm>
            <a:off x="10351008" y="3218688"/>
            <a:ext cx="1493215" cy="749808"/>
          </a:xfrm>
          <a:prstGeom prst="rect">
            <a:avLst/>
          </a:prstGeom>
          <a:noFill/>
          <a:ln/>
        </p:spPr>
        <p:txBody>
          <a:bodyPr wrap="square" lIns="0" tIns="0" rIns="0" bIns="0" rtlCol="0" anchor="ctr"/>
          <a:lstStyle/>
          <a:p>
            <a:pP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Vía acotada: solo parque sin esos sistemas</a:t>
            </a:r>
            <a:endParaRPr lang="es-CL" sz="1500" dirty="0"/>
          </a:p>
        </p:txBody>
      </p:sp>
      <p:sp>
        <p:nvSpPr>
          <p:cNvPr id="35" name="Shape 33"/>
          <p:cNvSpPr/>
          <p:nvPr/>
        </p:nvSpPr>
        <p:spPr>
          <a:xfrm>
            <a:off x="9692640" y="4498848"/>
            <a:ext cx="2224735" cy="749808"/>
          </a:xfrm>
          <a:prstGeom prst="rect">
            <a:avLst/>
          </a:prstGeom>
          <a:solidFill>
            <a:schemeClr val="bg2"/>
          </a:solidFill>
          <a:ln w="19050">
            <a:solidFill>
              <a:schemeClr val="accent1"/>
            </a:solidFill>
            <a:prstDash val="solid"/>
          </a:ln>
        </p:spPr>
      </p:sp>
      <p:sp>
        <p:nvSpPr>
          <p:cNvPr id="36" name="Shape 34"/>
          <p:cNvSpPr/>
          <p:nvPr/>
        </p:nvSpPr>
        <p:spPr>
          <a:xfrm>
            <a:off x="9802368" y="4700016"/>
            <a:ext cx="457200" cy="329184"/>
          </a:xfrm>
          <a:prstGeom prst="rect">
            <a:avLst/>
          </a:prstGeom>
          <a:solidFill>
            <a:schemeClr val="accent1"/>
          </a:solidFill>
          <a:ln/>
        </p:spPr>
      </p:sp>
      <p:sp>
        <p:nvSpPr>
          <p:cNvPr id="37" name="Text 35"/>
          <p:cNvSpPr txBox="1"/>
          <p:nvPr/>
        </p:nvSpPr>
        <p:spPr>
          <a:xfrm>
            <a:off x="9802368" y="4700016"/>
            <a:ext cx="457200" cy="329184"/>
          </a:xfrm>
          <a:prstGeom prst="rect">
            <a:avLst/>
          </a:prstGeom>
          <a:noFill/>
          <a:ln/>
        </p:spPr>
        <p:txBody>
          <a:bodyPr wrap="square" lIns="0" tIns="0" rIns="0" bIns="0" rtlCol="0" anchor="ctr"/>
          <a:lstStyle/>
          <a:p>
            <a:pPr algn="ctr" indent="0" marL="0">
              <a:buNone/>
            </a:pPr>
            <a:r>
              <a:rPr lang="es-CL" altLang="en-US" sz="1300" b="1" dirty="0">
                <a:solidFill>
                  <a:schemeClr val="bg1"/>
                </a:solidFill>
                <a:latin typeface="IBM Plex Mono" pitchFamily="34" charset="0"/>
                <a:ea typeface="IBM Plex Mono" pitchFamily="34" charset="-122"/>
                <a:cs typeface="IBM Plex Mono" pitchFamily="34" charset="-120"/>
              </a:rPr>
              <a:t>E3</a:t>
            </a:r>
            <a:endParaRPr lang="es-CL" sz="1300" dirty="0"/>
          </a:p>
        </p:txBody>
      </p:sp>
      <p:sp>
        <p:nvSpPr>
          <p:cNvPr id="38" name="Text 36"/>
          <p:cNvSpPr txBox="1"/>
          <p:nvPr/>
        </p:nvSpPr>
        <p:spPr>
          <a:xfrm>
            <a:off x="10351008" y="4498848"/>
            <a:ext cx="1493215" cy="749808"/>
          </a:xfrm>
          <a:prstGeom prst="rect">
            <a:avLst/>
          </a:prstGeom>
          <a:noFill/>
          <a:ln/>
        </p:spPr>
        <p:txBody>
          <a:bodyPr wrap="square" lIns="0" tIns="0" rIns="0" bIns="0" rtlCol="0" anchor="ctr"/>
          <a:lstStyle/>
          <a:p>
            <a:pP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Vía alternativa: alteración de características</a:t>
            </a:r>
            <a:endParaRPr lang="es-CL" sz="1500" dirty="0"/>
          </a:p>
        </p:txBody>
      </p:sp>
      <p:sp>
        <p:nvSpPr>
          <p:cNvPr id="39" name="Shape 37"/>
          <p:cNvSpPr/>
          <p:nvPr/>
        </p:nvSpPr>
        <p:spPr>
          <a:xfrm>
            <a:off x="9692640" y="5413248"/>
            <a:ext cx="2224735" cy="749808"/>
          </a:xfrm>
          <a:prstGeom prst="rect">
            <a:avLst/>
          </a:prstGeom>
          <a:solidFill>
            <a:schemeClr val="bg2"/>
          </a:solidFill>
          <a:ln w="19050">
            <a:solidFill>
              <a:schemeClr val="accent1"/>
            </a:solidFill>
            <a:prstDash val="solid"/>
          </a:ln>
        </p:spPr>
      </p:sp>
      <p:sp>
        <p:nvSpPr>
          <p:cNvPr id="40" name="Shape 38"/>
          <p:cNvSpPr/>
          <p:nvPr/>
        </p:nvSpPr>
        <p:spPr>
          <a:xfrm>
            <a:off x="9802368" y="5614416"/>
            <a:ext cx="457200" cy="329184"/>
          </a:xfrm>
          <a:prstGeom prst="rect">
            <a:avLst/>
          </a:prstGeom>
          <a:solidFill>
            <a:schemeClr val="accent1"/>
          </a:solidFill>
          <a:ln/>
        </p:spPr>
      </p:sp>
      <p:sp>
        <p:nvSpPr>
          <p:cNvPr id="41" name="Text 39"/>
          <p:cNvSpPr txBox="1"/>
          <p:nvPr/>
        </p:nvSpPr>
        <p:spPr>
          <a:xfrm>
            <a:off x="9802368" y="5614416"/>
            <a:ext cx="457200" cy="329184"/>
          </a:xfrm>
          <a:prstGeom prst="rect">
            <a:avLst/>
          </a:prstGeom>
          <a:noFill/>
          <a:ln/>
        </p:spPr>
        <p:txBody>
          <a:bodyPr wrap="square" lIns="0" tIns="0" rIns="0" bIns="0" rtlCol="0" anchor="ctr"/>
          <a:lstStyle/>
          <a:p>
            <a:pPr algn="ctr" indent="0" marL="0">
              <a:buNone/>
            </a:pPr>
            <a:r>
              <a:rPr lang="es-CL" altLang="en-US" sz="1300" b="1" dirty="0">
                <a:solidFill>
                  <a:schemeClr val="bg1"/>
                </a:solidFill>
                <a:latin typeface="IBM Plex Mono" pitchFamily="34" charset="0"/>
                <a:ea typeface="IBM Plex Mono" pitchFamily="34" charset="-122"/>
                <a:cs typeface="IBM Plex Mono" pitchFamily="34" charset="-120"/>
              </a:rPr>
              <a:t>E4</a:t>
            </a:r>
            <a:endParaRPr lang="es-CL" sz="1300" dirty="0"/>
          </a:p>
        </p:txBody>
      </p:sp>
      <p:sp>
        <p:nvSpPr>
          <p:cNvPr id="42" name="Text 40"/>
          <p:cNvSpPr txBox="1"/>
          <p:nvPr/>
        </p:nvSpPr>
        <p:spPr>
          <a:xfrm>
            <a:off x="10351008" y="5413248"/>
            <a:ext cx="1493215" cy="749808"/>
          </a:xfrm>
          <a:prstGeom prst="rect">
            <a:avLst/>
          </a:prstGeom>
          <a:noFill/>
          <a:ln/>
        </p:spPr>
        <p:txBody>
          <a:bodyPr wrap="square" lIns="0" tIns="0" rIns="0" bIns="0" rtlCol="0" anchor="ctr"/>
          <a:lstStyle/>
          <a:p>
            <a:pP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Sin vía legal: el negocio no opera</a:t>
            </a:r>
            <a:endParaRPr lang="es-CL" sz="1500" dirty="0"/>
          </a:p>
        </p:txBody>
      </p:sp>
      <p:sp>
        <p:nvSpPr>
          <p:cNvPr id="43" name="Shape 41"/>
          <p:cNvSpPr/>
          <p:nvPr/>
        </p:nvSpPr>
        <p:spPr>
          <a:xfrm>
            <a:off x="9189720" y="3108960"/>
            <a:ext cx="246888" cy="0"/>
          </a:xfrm>
          <a:prstGeom prst="line">
            <a:avLst/>
          </a:prstGeom>
          <a:noFill/>
          <a:ln w="12700">
            <a:solidFill>
              <a:schemeClr val="tx2"/>
            </a:solidFill>
            <a:prstDash val="solid"/>
          </a:ln>
        </p:spPr>
      </p:sp>
      <p:sp>
        <p:nvSpPr>
          <p:cNvPr id="44" name="Shape 42"/>
          <p:cNvSpPr/>
          <p:nvPr/>
        </p:nvSpPr>
        <p:spPr>
          <a:xfrm>
            <a:off x="9436608" y="3108960"/>
            <a:ext cx="0" cy="-384048"/>
          </a:xfrm>
          <a:prstGeom prst="line">
            <a:avLst/>
          </a:prstGeom>
          <a:noFill/>
          <a:ln w="12700">
            <a:solidFill>
              <a:schemeClr val="tx2"/>
            </a:solidFill>
            <a:prstDash val="solid"/>
          </a:ln>
        </p:spPr>
      </p:sp>
      <p:sp>
        <p:nvSpPr>
          <p:cNvPr id="45" name="Shape 43"/>
          <p:cNvSpPr/>
          <p:nvPr/>
        </p:nvSpPr>
        <p:spPr>
          <a:xfrm>
            <a:off x="9436608" y="2724912"/>
            <a:ext cx="256032" cy="0"/>
          </a:xfrm>
          <a:prstGeom prst="line">
            <a:avLst/>
          </a:prstGeom>
          <a:noFill/>
          <a:ln w="12700">
            <a:solidFill>
              <a:schemeClr val="tx2"/>
            </a:solidFill>
            <a:prstDash val="solid"/>
            <a:tailEnd type="triangle"/>
          </a:ln>
        </p:spPr>
      </p:sp>
      <p:sp>
        <p:nvSpPr>
          <p:cNvPr id="46" name="Text 44"/>
          <p:cNvSpPr txBox="1"/>
          <p:nvPr/>
        </p:nvSpPr>
        <p:spPr>
          <a:xfrm>
            <a:off x="9473184" y="2478024"/>
            <a:ext cx="365760" cy="219456"/>
          </a:xfrm>
          <a:prstGeom prst="rect">
            <a:avLst/>
          </a:prstGeom>
          <a:noFill/>
          <a:ln/>
        </p:spPr>
        <p:txBody>
          <a:bodyPr wrap="square" lIns="0" tIns="0" rIns="0" bIns="0" rtlCol="0" anchor="t"/>
          <a:lstStyle/>
          <a:p>
            <a:pPr indent="0" marL="0">
              <a:buNone/>
            </a:pPr>
            <a:r>
              <a:rPr lang="es-CL" altLang="en-US" sz="1100" b="1" spc="100" kern="0" dirty="0">
                <a:solidFill>
                  <a:schemeClr val="tx2"/>
                </a:solidFill>
                <a:latin typeface="IBM Plex Mono" pitchFamily="34" charset="0"/>
                <a:ea typeface="IBM Plex Mono" pitchFamily="34" charset="-122"/>
                <a:cs typeface="IBM Plex Mono" pitchFamily="34" charset="-120"/>
              </a:rPr>
              <a:t>NO</a:t>
            </a:r>
            <a:endParaRPr lang="es-CL" sz="1100" dirty="0"/>
          </a:p>
        </p:txBody>
      </p:sp>
      <p:sp>
        <p:nvSpPr>
          <p:cNvPr id="47" name="Shape 45"/>
          <p:cNvSpPr/>
          <p:nvPr/>
        </p:nvSpPr>
        <p:spPr>
          <a:xfrm>
            <a:off x="9189720" y="3108960"/>
            <a:ext cx="246888" cy="0"/>
          </a:xfrm>
          <a:prstGeom prst="line">
            <a:avLst/>
          </a:prstGeom>
          <a:noFill/>
          <a:ln w="12700">
            <a:solidFill>
              <a:schemeClr val="tx2"/>
            </a:solidFill>
            <a:prstDash val="solid"/>
          </a:ln>
        </p:spPr>
      </p:sp>
      <p:sp>
        <p:nvSpPr>
          <p:cNvPr id="48" name="Shape 46"/>
          <p:cNvSpPr/>
          <p:nvPr/>
        </p:nvSpPr>
        <p:spPr>
          <a:xfrm>
            <a:off x="9436608" y="3108960"/>
            <a:ext cx="0" cy="484632"/>
          </a:xfrm>
          <a:prstGeom prst="line">
            <a:avLst/>
          </a:prstGeom>
          <a:noFill/>
          <a:ln w="12700">
            <a:solidFill>
              <a:schemeClr val="tx2"/>
            </a:solidFill>
            <a:prstDash val="solid"/>
          </a:ln>
        </p:spPr>
      </p:sp>
      <p:sp>
        <p:nvSpPr>
          <p:cNvPr id="49" name="Shape 47"/>
          <p:cNvSpPr/>
          <p:nvPr/>
        </p:nvSpPr>
        <p:spPr>
          <a:xfrm>
            <a:off x="9436608" y="3593592"/>
            <a:ext cx="256032" cy="0"/>
          </a:xfrm>
          <a:prstGeom prst="line">
            <a:avLst/>
          </a:prstGeom>
          <a:noFill/>
          <a:ln w="12700">
            <a:solidFill>
              <a:schemeClr val="tx2"/>
            </a:solidFill>
            <a:prstDash val="solid"/>
            <a:tailEnd type="triangle"/>
          </a:ln>
        </p:spPr>
      </p:sp>
      <p:sp>
        <p:nvSpPr>
          <p:cNvPr id="50" name="Text 48"/>
          <p:cNvSpPr txBox="1"/>
          <p:nvPr/>
        </p:nvSpPr>
        <p:spPr>
          <a:xfrm>
            <a:off x="9473184" y="3346704"/>
            <a:ext cx="365760" cy="219456"/>
          </a:xfrm>
          <a:prstGeom prst="rect">
            <a:avLst/>
          </a:prstGeom>
          <a:noFill/>
          <a:ln/>
        </p:spPr>
        <p:txBody>
          <a:bodyPr wrap="square" lIns="0" tIns="0" rIns="0" bIns="0" rtlCol="0" anchor="t"/>
          <a:lstStyle/>
          <a:p>
            <a:pPr indent="0" marL="0">
              <a:buNone/>
            </a:pPr>
            <a:r>
              <a:rPr lang="es-CL" altLang="en-US" sz="1100" b="1" spc="100" kern="0" dirty="0">
                <a:solidFill>
                  <a:schemeClr val="tx2"/>
                </a:solidFill>
                <a:latin typeface="IBM Plex Mono" pitchFamily="34" charset="0"/>
                <a:ea typeface="IBM Plex Mono" pitchFamily="34" charset="-122"/>
                <a:cs typeface="IBM Plex Mono" pitchFamily="34" charset="-120"/>
              </a:rPr>
              <a:t>SÍ</a:t>
            </a:r>
            <a:endParaRPr lang="es-CL" sz="1100" dirty="0"/>
          </a:p>
        </p:txBody>
      </p:sp>
      <p:sp>
        <p:nvSpPr>
          <p:cNvPr id="51" name="Shape 49"/>
          <p:cNvSpPr/>
          <p:nvPr/>
        </p:nvSpPr>
        <p:spPr>
          <a:xfrm>
            <a:off x="9189720" y="5212080"/>
            <a:ext cx="246888" cy="0"/>
          </a:xfrm>
          <a:prstGeom prst="line">
            <a:avLst/>
          </a:prstGeom>
          <a:noFill/>
          <a:ln w="28575">
            <a:solidFill>
              <a:schemeClr val="accent1"/>
            </a:solidFill>
            <a:prstDash val="solid"/>
          </a:ln>
        </p:spPr>
      </p:sp>
      <p:sp>
        <p:nvSpPr>
          <p:cNvPr id="52" name="Shape 50"/>
          <p:cNvSpPr/>
          <p:nvPr/>
        </p:nvSpPr>
        <p:spPr>
          <a:xfrm>
            <a:off x="9436608" y="5212080"/>
            <a:ext cx="0" cy="-338328"/>
          </a:xfrm>
          <a:prstGeom prst="line">
            <a:avLst/>
          </a:prstGeom>
          <a:noFill/>
          <a:ln w="28575">
            <a:solidFill>
              <a:schemeClr val="accent1"/>
            </a:solidFill>
            <a:prstDash val="solid"/>
          </a:ln>
        </p:spPr>
      </p:sp>
      <p:sp>
        <p:nvSpPr>
          <p:cNvPr id="53" name="Shape 51"/>
          <p:cNvSpPr/>
          <p:nvPr/>
        </p:nvSpPr>
        <p:spPr>
          <a:xfrm>
            <a:off x="9436608" y="4873752"/>
            <a:ext cx="256032" cy="0"/>
          </a:xfrm>
          <a:prstGeom prst="line">
            <a:avLst/>
          </a:prstGeom>
          <a:noFill/>
          <a:ln w="28575">
            <a:solidFill>
              <a:schemeClr val="accent1"/>
            </a:solidFill>
            <a:prstDash val="solid"/>
            <a:tailEnd type="triangle"/>
          </a:ln>
        </p:spPr>
      </p:sp>
      <p:sp>
        <p:nvSpPr>
          <p:cNvPr id="54" name="Text 52"/>
          <p:cNvSpPr txBox="1"/>
          <p:nvPr/>
        </p:nvSpPr>
        <p:spPr>
          <a:xfrm>
            <a:off x="9473184" y="4626864"/>
            <a:ext cx="365760" cy="219456"/>
          </a:xfrm>
          <a:prstGeom prst="rect">
            <a:avLst/>
          </a:prstGeom>
          <a:noFill/>
          <a:ln/>
        </p:spPr>
        <p:txBody>
          <a:bodyPr wrap="square" lIns="0" tIns="0" rIns="0" bIns="0" rtlCol="0" anchor="t"/>
          <a:lstStyle/>
          <a:p>
            <a:pPr indent="0" marL="0">
              <a:buNone/>
            </a:pPr>
            <a:r>
              <a:rPr lang="es-CL" altLang="en-US" sz="1100" b="1" spc="100" kern="0" dirty="0">
                <a:solidFill>
                  <a:schemeClr val="accent1"/>
                </a:solidFill>
                <a:latin typeface="IBM Plex Mono" pitchFamily="34" charset="0"/>
                <a:ea typeface="IBM Plex Mono" pitchFamily="34" charset="-122"/>
                <a:cs typeface="IBM Plex Mono" pitchFamily="34" charset="-120"/>
              </a:rPr>
              <a:t>SÍ</a:t>
            </a:r>
            <a:endParaRPr lang="es-CL" sz="1100" dirty="0"/>
          </a:p>
        </p:txBody>
      </p:sp>
      <p:sp>
        <p:nvSpPr>
          <p:cNvPr id="55" name="Shape 53"/>
          <p:cNvSpPr/>
          <p:nvPr/>
        </p:nvSpPr>
        <p:spPr>
          <a:xfrm>
            <a:off x="9189720" y="5212080"/>
            <a:ext cx="246888" cy="0"/>
          </a:xfrm>
          <a:prstGeom prst="line">
            <a:avLst/>
          </a:prstGeom>
          <a:noFill/>
          <a:ln w="28575">
            <a:solidFill>
              <a:schemeClr val="accent1"/>
            </a:solidFill>
            <a:prstDash val="solid"/>
          </a:ln>
        </p:spPr>
      </p:sp>
      <p:sp>
        <p:nvSpPr>
          <p:cNvPr id="56" name="Shape 54"/>
          <p:cNvSpPr/>
          <p:nvPr/>
        </p:nvSpPr>
        <p:spPr>
          <a:xfrm>
            <a:off x="9436608" y="5212080"/>
            <a:ext cx="0" cy="576072"/>
          </a:xfrm>
          <a:prstGeom prst="line">
            <a:avLst/>
          </a:prstGeom>
          <a:noFill/>
          <a:ln w="28575">
            <a:solidFill>
              <a:schemeClr val="accent1"/>
            </a:solidFill>
            <a:prstDash val="solid"/>
          </a:ln>
        </p:spPr>
      </p:sp>
      <p:sp>
        <p:nvSpPr>
          <p:cNvPr id="57" name="Shape 55"/>
          <p:cNvSpPr/>
          <p:nvPr/>
        </p:nvSpPr>
        <p:spPr>
          <a:xfrm>
            <a:off x="9436608" y="5788152"/>
            <a:ext cx="256032" cy="0"/>
          </a:xfrm>
          <a:prstGeom prst="line">
            <a:avLst/>
          </a:prstGeom>
          <a:noFill/>
          <a:ln w="28575">
            <a:solidFill>
              <a:schemeClr val="accent1"/>
            </a:solidFill>
            <a:prstDash val="solid"/>
            <a:tailEnd type="triangle"/>
          </a:ln>
        </p:spPr>
      </p:sp>
      <p:sp>
        <p:nvSpPr>
          <p:cNvPr id="58" name="Text 56"/>
          <p:cNvSpPr txBox="1"/>
          <p:nvPr/>
        </p:nvSpPr>
        <p:spPr>
          <a:xfrm>
            <a:off x="9473184" y="5541264"/>
            <a:ext cx="365760" cy="219456"/>
          </a:xfrm>
          <a:prstGeom prst="rect">
            <a:avLst/>
          </a:prstGeom>
          <a:noFill/>
          <a:ln/>
        </p:spPr>
        <p:txBody>
          <a:bodyPr wrap="square" lIns="0" tIns="0" rIns="0" bIns="0" rtlCol="0" anchor="t"/>
          <a:lstStyle/>
          <a:p>
            <a:pPr indent="0" marL="0">
              <a:buNone/>
            </a:pPr>
            <a:r>
              <a:rPr lang="es-CL" altLang="en-US" sz="1100" b="1" spc="100" kern="0" dirty="0">
                <a:solidFill>
                  <a:schemeClr val="accent1"/>
                </a:solidFill>
                <a:latin typeface="IBM Plex Mono" pitchFamily="34" charset="0"/>
                <a:ea typeface="IBM Plex Mono" pitchFamily="34" charset="-122"/>
                <a:cs typeface="IBM Plex Mono" pitchFamily="34" charset="-120"/>
              </a:rPr>
              <a:t>NO</a:t>
            </a:r>
            <a:endParaRPr lang="es-CL" sz="1100" dirty="0"/>
          </a:p>
        </p:txBody>
      </p:sp>
      <p:sp>
        <p:nvSpPr>
          <p:cNvPr id="59" name="Text 57"/>
          <p:cNvSpPr txBox="1"/>
          <p:nvPr/>
        </p:nvSpPr>
        <p:spPr>
          <a:xfrm>
            <a:off x="4754880" y="4608576"/>
            <a:ext cx="2148840" cy="256032"/>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SI SIGUE EL BORRADOR:</a:t>
            </a:r>
            <a:endParaRPr lang="es-CL" sz="1100" dirty="0"/>
          </a:p>
        </p:txBody>
      </p:sp>
      <p:sp>
        <p:nvSpPr>
          <p:cNvPr id="60" name="Text 58"/>
          <p:cNvSpPr txBox="1"/>
          <p:nvPr/>
        </p:nvSpPr>
        <p:spPr>
          <a:xfrm>
            <a:off x="4754880" y="4864608"/>
            <a:ext cx="2148840" cy="256032"/>
          </a:xfrm>
          <a:prstGeom prst="rect">
            <a:avLst/>
          </a:prstGeom>
          <a:noFill/>
          <a:ln/>
        </p:spPr>
        <p:txBody>
          <a:bodyPr wrap="square" lIns="0" tIns="0" rIns="0" bIns="0" rtlCol="0" anchor="t"/>
          <a:lstStyle/>
          <a:p>
            <a:pPr indent="0" marL="0">
              <a:buNone/>
            </a:pPr>
            <a:r>
              <a:rPr lang="es-CL" altLang="en-US" sz="1100" b="1" spc="100" kern="0" dirty="0">
                <a:solidFill>
                  <a:schemeClr val="accent1"/>
                </a:solidFill>
                <a:latin typeface="IBM Plex Mono" pitchFamily="34" charset="0"/>
                <a:ea typeface="IBM Plex Mono" pitchFamily="34" charset="-122"/>
                <a:cs typeface="IBM Plex Mono" pitchFamily="34" charset="-120"/>
              </a:rPr>
              <a:t>RAMA E3 O E4</a:t>
            </a:r>
            <a:endParaRPr lang="es-CL" sz="1100" dirty="0"/>
          </a:p>
        </p:txBody>
      </p:sp>
      <p:sp>
        <p:nvSpPr>
          <p:cNvPr id="61" name="Text 59"/>
          <p:cNvSpPr txBox="1"/>
          <p:nvPr/>
        </p:nvSpPr>
        <p:spPr>
          <a:xfrm>
            <a:off x="4754880" y="5641848"/>
            <a:ext cx="2240280" cy="5029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Condición de entrada: </a:t>
            </a:r>
            <a:pPr indent="0" marL="0">
              <a:buNone/>
            </a:pPr>
            <a:r>
              <a:rPr lang="es-CL" altLang="en-US" sz="1500" dirty="0">
                <a:solidFill>
                  <a:schemeClr val="tx2"/>
                </a:solidFill>
                <a:latin typeface="Figtree" pitchFamily="34" charset="0"/>
                <a:ea typeface="Figtree" pitchFamily="34" charset="-122"/>
                <a:cs typeface="Figtree" pitchFamily="34" charset="-120"/>
              </a:rPr>
              <a:t>no se promedia.</a:t>
            </a:r>
            <a:endParaRPr lang="es-CL" sz="15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08</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INDUSTRIA (CINCO FUERZAS)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PORTER 3,49:</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el rival principal es posponer la inversión.</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02 del equipo (cinco fuerzas de Porter): intensidad de 0 a 5 y ponderación propia del modelo; cálculo en el anexo A2.</a:t>
            </a:r>
            <a:endParaRPr lang="es-CL" sz="1100" dirty="0"/>
          </a:p>
        </p:txBody>
      </p:sp>
      <p:sp>
        <p:nvSpPr>
          <p:cNvPr id="5" name="Text 3"/>
          <p:cNvSpPr txBox="1"/>
          <p:nvPr/>
        </p:nvSpPr>
        <p:spPr>
          <a:xfrm>
            <a:off x="548640" y="2350008"/>
            <a:ext cx="256032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FUERZA · PESO</a:t>
            </a:r>
            <a:endParaRPr lang="es-CL" sz="1200" dirty="0"/>
          </a:p>
        </p:txBody>
      </p:sp>
      <p:sp>
        <p:nvSpPr>
          <p:cNvPr id="6" name="Text 4"/>
          <p:cNvSpPr txBox="1"/>
          <p:nvPr/>
        </p:nvSpPr>
        <p:spPr>
          <a:xfrm>
            <a:off x="3246120" y="2350008"/>
            <a:ext cx="402336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INTENSIDAD · 0 A 5</a:t>
            </a:r>
            <a:endParaRPr lang="es-CL" sz="1200" dirty="0"/>
          </a:p>
        </p:txBody>
      </p:sp>
      <p:sp>
        <p:nvSpPr>
          <p:cNvPr id="7" name="Text 5"/>
          <p:cNvSpPr txBox="1"/>
          <p:nvPr/>
        </p:nvSpPr>
        <p:spPr>
          <a:xfrm>
            <a:off x="548640" y="2761488"/>
            <a:ext cx="2011680" cy="603504"/>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Sustitutos</a:t>
            </a:r>
            <a:endParaRPr lang="es-CL" sz="1800" dirty="0"/>
          </a:p>
        </p:txBody>
      </p:sp>
      <p:sp>
        <p:nvSpPr>
          <p:cNvPr id="8" name="Text 6"/>
          <p:cNvSpPr txBox="1"/>
          <p:nvPr/>
        </p:nvSpPr>
        <p:spPr>
          <a:xfrm>
            <a:off x="2468880" y="2761488"/>
            <a:ext cx="640080" cy="603504"/>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30%</a:t>
            </a:r>
            <a:endParaRPr lang="es-CL" sz="1300" dirty="0"/>
          </a:p>
        </p:txBody>
      </p:sp>
      <p:sp>
        <p:nvSpPr>
          <p:cNvPr id="9" name="Shape 7"/>
          <p:cNvSpPr/>
          <p:nvPr/>
        </p:nvSpPr>
        <p:spPr>
          <a:xfrm>
            <a:off x="3246120" y="2944368"/>
            <a:ext cx="4023360" cy="237744"/>
          </a:xfrm>
          <a:prstGeom prst="rect">
            <a:avLst/>
          </a:prstGeom>
          <a:solidFill>
            <a:schemeClr val="accent6"/>
          </a:solidFill>
          <a:ln/>
        </p:spPr>
      </p:sp>
      <p:sp>
        <p:nvSpPr>
          <p:cNvPr id="10" name="Shape 8"/>
          <p:cNvSpPr/>
          <p:nvPr/>
        </p:nvSpPr>
        <p:spPr>
          <a:xfrm>
            <a:off x="3246120" y="2944368"/>
            <a:ext cx="4023360" cy="237744"/>
          </a:xfrm>
          <a:prstGeom prst="rect">
            <a:avLst/>
          </a:prstGeom>
          <a:solidFill>
            <a:schemeClr val="accent1"/>
          </a:solidFill>
          <a:ln/>
        </p:spPr>
      </p:sp>
      <p:sp>
        <p:nvSpPr>
          <p:cNvPr id="11" name="Text 9"/>
          <p:cNvSpPr txBox="1"/>
          <p:nvPr/>
        </p:nvSpPr>
        <p:spPr>
          <a:xfrm>
            <a:off x="7342632" y="2761488"/>
            <a:ext cx="777240" cy="603504"/>
          </a:xfrm>
          <a:prstGeom prst="rect">
            <a:avLst/>
          </a:prstGeom>
          <a:noFill/>
          <a:ln/>
        </p:spPr>
        <p:txBody>
          <a:bodyPr wrap="square" lIns="0" tIns="0" rIns="0" bIns="0" rtlCol="0" anchor="ctr"/>
          <a:lstStyle/>
          <a:p>
            <a:pPr indent="0" marL="0">
              <a:buNone/>
            </a:pPr>
            <a:r>
              <a:rPr lang="es-CL" altLang="en-US" sz="2200" b="1" dirty="0">
                <a:solidFill>
                  <a:schemeClr val="accent1"/>
                </a:solidFill>
                <a:latin typeface="Archivo Condensed" pitchFamily="34" charset="0"/>
                <a:ea typeface="Archivo Condensed" pitchFamily="34" charset="-122"/>
                <a:cs typeface="Archivo Condensed" pitchFamily="34" charset="-120"/>
              </a:rPr>
              <a:t>5,00</a:t>
            </a:r>
            <a:endParaRPr lang="es-CL" sz="2200" dirty="0"/>
          </a:p>
        </p:txBody>
      </p:sp>
      <p:sp>
        <p:nvSpPr>
          <p:cNvPr id="12" name="Text 10"/>
          <p:cNvSpPr txBox="1"/>
          <p:nvPr/>
        </p:nvSpPr>
        <p:spPr>
          <a:xfrm>
            <a:off x="548640" y="3364992"/>
            <a:ext cx="2011680" cy="603504"/>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Nuevos entrantes</a:t>
            </a:r>
            <a:endParaRPr lang="es-CL" sz="1800" dirty="0"/>
          </a:p>
        </p:txBody>
      </p:sp>
      <p:sp>
        <p:nvSpPr>
          <p:cNvPr id="13" name="Text 11"/>
          <p:cNvSpPr txBox="1"/>
          <p:nvPr/>
        </p:nvSpPr>
        <p:spPr>
          <a:xfrm>
            <a:off x="2468880" y="3364992"/>
            <a:ext cx="640080" cy="603504"/>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20%</a:t>
            </a:r>
            <a:endParaRPr lang="es-CL" sz="1300" dirty="0"/>
          </a:p>
        </p:txBody>
      </p:sp>
      <p:sp>
        <p:nvSpPr>
          <p:cNvPr id="14" name="Shape 12"/>
          <p:cNvSpPr/>
          <p:nvPr/>
        </p:nvSpPr>
        <p:spPr>
          <a:xfrm>
            <a:off x="3246120" y="3547872"/>
            <a:ext cx="4023360" cy="237744"/>
          </a:xfrm>
          <a:prstGeom prst="rect">
            <a:avLst/>
          </a:prstGeom>
          <a:solidFill>
            <a:schemeClr val="accent6"/>
          </a:solidFill>
          <a:ln/>
        </p:spPr>
      </p:sp>
      <p:sp>
        <p:nvSpPr>
          <p:cNvPr id="15" name="Shape 13"/>
          <p:cNvSpPr/>
          <p:nvPr/>
        </p:nvSpPr>
        <p:spPr>
          <a:xfrm>
            <a:off x="3246120" y="3547872"/>
            <a:ext cx="3017520" cy="237744"/>
          </a:xfrm>
          <a:prstGeom prst="rect">
            <a:avLst/>
          </a:prstGeom>
          <a:solidFill>
            <a:schemeClr val="tx2"/>
          </a:solidFill>
          <a:ln/>
        </p:spPr>
      </p:sp>
      <p:sp>
        <p:nvSpPr>
          <p:cNvPr id="16" name="Text 14"/>
          <p:cNvSpPr txBox="1"/>
          <p:nvPr/>
        </p:nvSpPr>
        <p:spPr>
          <a:xfrm>
            <a:off x="7342632" y="3364992"/>
            <a:ext cx="777240" cy="603504"/>
          </a:xfrm>
          <a:prstGeom prst="rect">
            <a:avLst/>
          </a:prstGeom>
          <a:noFill/>
          <a:ln/>
        </p:spPr>
        <p:txBody>
          <a:bodyPr wrap="square" lIns="0" tIns="0" rIns="0" bIns="0" rtlCol="0" anchor="ctr"/>
          <a:lstStyle/>
          <a:p>
            <a:pPr indent="0" marL="0">
              <a:buNone/>
            </a:pPr>
            <a:r>
              <a:rPr lang="es-CL" altLang="en-US" sz="2200" b="1" dirty="0">
                <a:solidFill>
                  <a:schemeClr val="tx1"/>
                </a:solidFill>
                <a:latin typeface="Archivo Condensed" pitchFamily="34" charset="0"/>
                <a:ea typeface="Archivo Condensed" pitchFamily="34" charset="-122"/>
                <a:cs typeface="Archivo Condensed" pitchFamily="34" charset="-120"/>
              </a:rPr>
              <a:t>3,75</a:t>
            </a:r>
            <a:endParaRPr lang="es-CL" sz="2200" dirty="0"/>
          </a:p>
        </p:txBody>
      </p:sp>
      <p:sp>
        <p:nvSpPr>
          <p:cNvPr id="17" name="Text 15"/>
          <p:cNvSpPr txBox="1"/>
          <p:nvPr/>
        </p:nvSpPr>
        <p:spPr>
          <a:xfrm>
            <a:off x="548640" y="3968496"/>
            <a:ext cx="2011680" cy="603504"/>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Proveedores</a:t>
            </a:r>
            <a:endParaRPr lang="es-CL" sz="1800" dirty="0"/>
          </a:p>
        </p:txBody>
      </p:sp>
      <p:sp>
        <p:nvSpPr>
          <p:cNvPr id="18" name="Text 16"/>
          <p:cNvSpPr txBox="1"/>
          <p:nvPr/>
        </p:nvSpPr>
        <p:spPr>
          <a:xfrm>
            <a:off x="2468880" y="3968496"/>
            <a:ext cx="640080" cy="603504"/>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15%</a:t>
            </a:r>
            <a:endParaRPr lang="es-CL" sz="1300" dirty="0"/>
          </a:p>
        </p:txBody>
      </p:sp>
      <p:sp>
        <p:nvSpPr>
          <p:cNvPr id="19" name="Shape 17"/>
          <p:cNvSpPr/>
          <p:nvPr/>
        </p:nvSpPr>
        <p:spPr>
          <a:xfrm>
            <a:off x="3246120" y="4151376"/>
            <a:ext cx="4023360" cy="237744"/>
          </a:xfrm>
          <a:prstGeom prst="rect">
            <a:avLst/>
          </a:prstGeom>
          <a:solidFill>
            <a:schemeClr val="accent6"/>
          </a:solidFill>
          <a:ln/>
        </p:spPr>
      </p:sp>
      <p:sp>
        <p:nvSpPr>
          <p:cNvPr id="20" name="Shape 18"/>
          <p:cNvSpPr/>
          <p:nvPr/>
        </p:nvSpPr>
        <p:spPr>
          <a:xfrm>
            <a:off x="3246120" y="4151376"/>
            <a:ext cx="2148474" cy="237744"/>
          </a:xfrm>
          <a:prstGeom prst="rect">
            <a:avLst/>
          </a:prstGeom>
          <a:solidFill>
            <a:schemeClr val="tx2"/>
          </a:solidFill>
          <a:ln/>
        </p:spPr>
      </p:sp>
      <p:sp>
        <p:nvSpPr>
          <p:cNvPr id="21" name="Text 19"/>
          <p:cNvSpPr txBox="1"/>
          <p:nvPr/>
        </p:nvSpPr>
        <p:spPr>
          <a:xfrm>
            <a:off x="7342632" y="3968496"/>
            <a:ext cx="777240" cy="603504"/>
          </a:xfrm>
          <a:prstGeom prst="rect">
            <a:avLst/>
          </a:prstGeom>
          <a:noFill/>
          <a:ln/>
        </p:spPr>
        <p:txBody>
          <a:bodyPr wrap="square" lIns="0" tIns="0" rIns="0" bIns="0" rtlCol="0" anchor="ctr"/>
          <a:lstStyle/>
          <a:p>
            <a:pPr indent="0" marL="0">
              <a:buNone/>
            </a:pPr>
            <a:r>
              <a:rPr lang="es-CL" altLang="en-US" sz="2200" b="1" dirty="0">
                <a:solidFill>
                  <a:schemeClr val="tx1"/>
                </a:solidFill>
                <a:latin typeface="Archivo Condensed" pitchFamily="34" charset="0"/>
                <a:ea typeface="Archivo Condensed" pitchFamily="34" charset="-122"/>
                <a:cs typeface="Archivo Condensed" pitchFamily="34" charset="-120"/>
              </a:rPr>
              <a:t>2,67</a:t>
            </a:r>
            <a:endParaRPr lang="es-CL" sz="2200" dirty="0"/>
          </a:p>
        </p:txBody>
      </p:sp>
      <p:sp>
        <p:nvSpPr>
          <p:cNvPr id="22" name="Text 20"/>
          <p:cNvSpPr txBox="1"/>
          <p:nvPr/>
        </p:nvSpPr>
        <p:spPr>
          <a:xfrm>
            <a:off x="548640" y="4572000"/>
            <a:ext cx="2011680" cy="603504"/>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Clientes</a:t>
            </a:r>
            <a:endParaRPr lang="es-CL" sz="1800" dirty="0"/>
          </a:p>
        </p:txBody>
      </p:sp>
      <p:sp>
        <p:nvSpPr>
          <p:cNvPr id="23" name="Text 21"/>
          <p:cNvSpPr txBox="1"/>
          <p:nvPr/>
        </p:nvSpPr>
        <p:spPr>
          <a:xfrm>
            <a:off x="2468880" y="4572000"/>
            <a:ext cx="640080" cy="603504"/>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25%</a:t>
            </a:r>
            <a:endParaRPr lang="es-CL" sz="1300" dirty="0"/>
          </a:p>
        </p:txBody>
      </p:sp>
      <p:sp>
        <p:nvSpPr>
          <p:cNvPr id="24" name="Shape 22"/>
          <p:cNvSpPr/>
          <p:nvPr/>
        </p:nvSpPr>
        <p:spPr>
          <a:xfrm>
            <a:off x="3246120" y="4754880"/>
            <a:ext cx="4023360" cy="237744"/>
          </a:xfrm>
          <a:prstGeom prst="rect">
            <a:avLst/>
          </a:prstGeom>
          <a:solidFill>
            <a:schemeClr val="accent6"/>
          </a:solidFill>
          <a:ln/>
        </p:spPr>
      </p:sp>
      <p:sp>
        <p:nvSpPr>
          <p:cNvPr id="25" name="Shape 23"/>
          <p:cNvSpPr/>
          <p:nvPr/>
        </p:nvSpPr>
        <p:spPr>
          <a:xfrm>
            <a:off x="3246120" y="4754880"/>
            <a:ext cx="2124334" cy="237744"/>
          </a:xfrm>
          <a:prstGeom prst="rect">
            <a:avLst/>
          </a:prstGeom>
          <a:solidFill>
            <a:schemeClr val="tx2"/>
          </a:solidFill>
          <a:ln/>
        </p:spPr>
      </p:sp>
      <p:sp>
        <p:nvSpPr>
          <p:cNvPr id="26" name="Text 24"/>
          <p:cNvSpPr txBox="1"/>
          <p:nvPr/>
        </p:nvSpPr>
        <p:spPr>
          <a:xfrm>
            <a:off x="7342632" y="4572000"/>
            <a:ext cx="777240" cy="603504"/>
          </a:xfrm>
          <a:prstGeom prst="rect">
            <a:avLst/>
          </a:prstGeom>
          <a:noFill/>
          <a:ln/>
        </p:spPr>
        <p:txBody>
          <a:bodyPr wrap="square" lIns="0" tIns="0" rIns="0" bIns="0" rtlCol="0" anchor="ctr"/>
          <a:lstStyle/>
          <a:p>
            <a:pPr indent="0" marL="0">
              <a:buNone/>
            </a:pPr>
            <a:r>
              <a:rPr lang="es-CL" altLang="en-US" sz="2200" b="1" dirty="0">
                <a:solidFill>
                  <a:schemeClr val="tx1"/>
                </a:solidFill>
                <a:latin typeface="Archivo Condensed" pitchFamily="34" charset="0"/>
                <a:ea typeface="Archivo Condensed" pitchFamily="34" charset="-122"/>
                <a:cs typeface="Archivo Condensed" pitchFamily="34" charset="-120"/>
              </a:rPr>
              <a:t>2,64</a:t>
            </a:r>
            <a:endParaRPr lang="es-CL" sz="2200" dirty="0"/>
          </a:p>
        </p:txBody>
      </p:sp>
      <p:sp>
        <p:nvSpPr>
          <p:cNvPr id="27" name="Text 25"/>
          <p:cNvSpPr txBox="1"/>
          <p:nvPr/>
        </p:nvSpPr>
        <p:spPr>
          <a:xfrm>
            <a:off x="548640" y="5175504"/>
            <a:ext cx="2011680" cy="603504"/>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Rivalidad</a:t>
            </a:r>
            <a:endParaRPr lang="es-CL" sz="1800" dirty="0"/>
          </a:p>
        </p:txBody>
      </p:sp>
      <p:sp>
        <p:nvSpPr>
          <p:cNvPr id="28" name="Text 26"/>
          <p:cNvSpPr txBox="1"/>
          <p:nvPr/>
        </p:nvSpPr>
        <p:spPr>
          <a:xfrm>
            <a:off x="2468880" y="5175504"/>
            <a:ext cx="640080" cy="603504"/>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10%</a:t>
            </a:r>
            <a:endParaRPr lang="es-CL" sz="1300" dirty="0"/>
          </a:p>
        </p:txBody>
      </p:sp>
      <p:sp>
        <p:nvSpPr>
          <p:cNvPr id="29" name="Shape 27"/>
          <p:cNvSpPr/>
          <p:nvPr/>
        </p:nvSpPr>
        <p:spPr>
          <a:xfrm>
            <a:off x="3246120" y="5358384"/>
            <a:ext cx="4023360" cy="237744"/>
          </a:xfrm>
          <a:prstGeom prst="rect">
            <a:avLst/>
          </a:prstGeom>
          <a:solidFill>
            <a:schemeClr val="accent6"/>
          </a:solidFill>
          <a:ln/>
        </p:spPr>
      </p:sp>
      <p:sp>
        <p:nvSpPr>
          <p:cNvPr id="30" name="Shape 28"/>
          <p:cNvSpPr/>
          <p:nvPr/>
        </p:nvSpPr>
        <p:spPr>
          <a:xfrm>
            <a:off x="3246120" y="5358384"/>
            <a:ext cx="1472550" cy="237744"/>
          </a:xfrm>
          <a:prstGeom prst="rect">
            <a:avLst/>
          </a:prstGeom>
          <a:solidFill>
            <a:schemeClr val="tx2"/>
          </a:solidFill>
          <a:ln/>
        </p:spPr>
      </p:sp>
      <p:sp>
        <p:nvSpPr>
          <p:cNvPr id="31" name="Text 29"/>
          <p:cNvSpPr txBox="1"/>
          <p:nvPr/>
        </p:nvSpPr>
        <p:spPr>
          <a:xfrm>
            <a:off x="7342632" y="5175504"/>
            <a:ext cx="777240" cy="603504"/>
          </a:xfrm>
          <a:prstGeom prst="rect">
            <a:avLst/>
          </a:prstGeom>
          <a:noFill/>
          <a:ln/>
        </p:spPr>
        <p:txBody>
          <a:bodyPr wrap="square" lIns="0" tIns="0" rIns="0" bIns="0" rtlCol="0" anchor="ctr"/>
          <a:lstStyle/>
          <a:p>
            <a:pPr indent="0" marL="0">
              <a:buNone/>
            </a:pPr>
            <a:r>
              <a:rPr lang="es-CL" altLang="en-US" sz="2200" b="1" dirty="0">
                <a:solidFill>
                  <a:schemeClr val="tx1"/>
                </a:solidFill>
                <a:latin typeface="Archivo Condensed" pitchFamily="34" charset="0"/>
                <a:ea typeface="Archivo Condensed" pitchFamily="34" charset="-122"/>
                <a:cs typeface="Archivo Condensed" pitchFamily="34" charset="-120"/>
              </a:rPr>
              <a:t>1,83</a:t>
            </a:r>
            <a:endParaRPr lang="es-CL" sz="2200" dirty="0"/>
          </a:p>
        </p:txBody>
      </p:sp>
      <p:sp>
        <p:nvSpPr>
          <p:cNvPr id="32" name="Text 30"/>
          <p:cNvSpPr txBox="1"/>
          <p:nvPr/>
        </p:nvSpPr>
        <p:spPr>
          <a:xfrm>
            <a:off x="548640" y="5888736"/>
            <a:ext cx="7498080" cy="384048"/>
          </a:xfrm>
          <a:prstGeom prst="rect">
            <a:avLst/>
          </a:prstGeom>
          <a:noFill/>
          <a:ln/>
        </p:spPr>
        <p:txBody>
          <a:bodyPr wrap="square" lIns="0" tIns="0" rIns="0" bIns="0" rtlCol="0" anchor="ctr"/>
          <a:lstStyle/>
          <a:p>
            <a:pPr indent="0" marL="0">
              <a:buNone/>
            </a:pPr>
            <a:r>
              <a:rPr lang="es-CL" altLang="en-US" sz="1500" b="1" dirty="0">
                <a:solidFill>
                  <a:schemeClr val="tx1"/>
                </a:solidFill>
                <a:latin typeface="Figtree" pitchFamily="34" charset="0"/>
                <a:ea typeface="Figtree" pitchFamily="34" charset="-122"/>
                <a:cs typeface="Figtree" pitchFamily="34" charset="-120"/>
              </a:rPr>
              <a:t>Sustitutos + clientes = 55% </a:t>
            </a:r>
            <a:pPr indent="0" marL="0">
              <a:buNone/>
            </a:pPr>
            <a:r>
              <a:rPr lang="es-CL" altLang="en-US" sz="1500" dirty="0">
                <a:solidFill>
                  <a:schemeClr val="tx2"/>
                </a:solidFill>
                <a:latin typeface="Figtree" pitchFamily="34" charset="0"/>
                <a:ea typeface="Figtree" pitchFamily="34" charset="-122"/>
                <a:cs typeface="Figtree" pitchFamily="34" charset="-120"/>
              </a:rPr>
              <a:t>del peso del modelo, no probabilidad de amenaza.</a:t>
            </a:r>
            <a:endParaRPr lang="es-CL" sz="1500" dirty="0"/>
          </a:p>
        </p:txBody>
      </p:sp>
      <p:pic>
        <p:nvPicPr>
          <p:cNvPr id="33" name="Image 0" descr="C:\Users\Usuario\Documents\GitHub\lumine\control-3\generador\assets\brillo.png">    </p:cNvPr>
          <p:cNvPicPr>
            <a:picLocks noChangeAspect="1"/>
          </p:cNvPicPr>
          <p:nvPr/>
        </p:nvPicPr>
        <p:blipFill>
          <a:blip r:embed="rId1"/>
          <a:stretch>
            <a:fillRect/>
          </a:stretch>
        </p:blipFill>
        <p:spPr>
          <a:xfrm>
            <a:off x="8046720" y="2075688"/>
            <a:ext cx="4053535" cy="1920240"/>
          </a:xfrm>
          <a:prstGeom prst="rect">
            <a:avLst/>
          </a:prstGeom>
        </p:spPr>
      </p:pic>
      <p:sp>
        <p:nvSpPr>
          <p:cNvPr id="34" name="Text 31"/>
          <p:cNvSpPr txBox="1"/>
          <p:nvPr/>
        </p:nvSpPr>
        <p:spPr>
          <a:xfrm>
            <a:off x="8503920" y="2350008"/>
            <a:ext cx="31391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PONDERADO · 0 A 5</a:t>
            </a:r>
            <a:endParaRPr lang="es-CL" sz="1200" dirty="0"/>
          </a:p>
        </p:txBody>
      </p:sp>
      <p:sp>
        <p:nvSpPr>
          <p:cNvPr id="35" name="Text 32"/>
          <p:cNvSpPr txBox="1"/>
          <p:nvPr/>
        </p:nvSpPr>
        <p:spPr>
          <a:xfrm>
            <a:off x="8503920" y="2624328"/>
            <a:ext cx="3139135" cy="1005840"/>
          </a:xfrm>
          <a:prstGeom prst="rect">
            <a:avLst/>
          </a:prstGeom>
          <a:noFill/>
          <a:ln/>
        </p:spPr>
        <p:txBody>
          <a:bodyPr wrap="square" lIns="0" tIns="0" rIns="0" bIns="0" rtlCol="0" anchor="ctr"/>
          <a:lstStyle/>
          <a:p>
            <a:pPr indent="0" marL="0">
              <a:buNone/>
            </a:pPr>
            <a:r>
              <a:rPr lang="es-CL" altLang="en-US" sz="7200" b="1" dirty="0">
                <a:solidFill>
                  <a:schemeClr val="accent1"/>
                </a:solidFill>
                <a:latin typeface="Archivo Condensed" pitchFamily="34" charset="0"/>
                <a:ea typeface="Archivo Condensed" pitchFamily="34" charset="-122"/>
                <a:cs typeface="Archivo Condensed" pitchFamily="34" charset="-120"/>
              </a:rPr>
              <a:t>3,49</a:t>
            </a:r>
            <a:endParaRPr lang="es-CL" sz="7200" dirty="0"/>
          </a:p>
        </p:txBody>
      </p:sp>
      <p:sp>
        <p:nvSpPr>
          <p:cNvPr id="36" name="Text 33"/>
          <p:cNvSpPr txBox="1"/>
          <p:nvPr/>
        </p:nvSpPr>
        <p:spPr>
          <a:xfrm>
            <a:off x="8503920" y="3630168"/>
            <a:ext cx="3139135" cy="36576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industria moderadamente poco atractiva</a:t>
            </a:r>
            <a:endParaRPr lang="es-CL" sz="1500" dirty="0"/>
          </a:p>
        </p:txBody>
      </p:sp>
      <p:sp>
        <p:nvSpPr>
          <p:cNvPr id="37" name="Shape 34"/>
          <p:cNvSpPr/>
          <p:nvPr/>
        </p:nvSpPr>
        <p:spPr>
          <a:xfrm>
            <a:off x="8503920" y="4224528"/>
            <a:ext cx="3139135" cy="1956816"/>
          </a:xfrm>
          <a:prstGeom prst="rect">
            <a:avLst/>
          </a:prstGeom>
          <a:solidFill>
            <a:srgbClr val="0B1A22"/>
          </a:solidFill>
          <a:ln w="15875">
            <a:solidFill>
              <a:schemeClr val="accent1"/>
            </a:solidFill>
            <a:prstDash val="solid"/>
          </a:ln>
        </p:spPr>
      </p:sp>
      <p:sp>
        <p:nvSpPr>
          <p:cNvPr id="38" name="Shape 35"/>
          <p:cNvSpPr/>
          <p:nvPr/>
        </p:nvSpPr>
        <p:spPr>
          <a:xfrm>
            <a:off x="8449056" y="4169664"/>
            <a:ext cx="155448" cy="0"/>
          </a:xfrm>
          <a:prstGeom prst="line">
            <a:avLst/>
          </a:prstGeom>
          <a:noFill/>
          <a:ln w="15875">
            <a:solidFill>
              <a:schemeClr val="accent1"/>
            </a:solidFill>
            <a:prstDash val="solid"/>
          </a:ln>
        </p:spPr>
      </p:sp>
      <p:sp>
        <p:nvSpPr>
          <p:cNvPr id="39" name="Shape 36"/>
          <p:cNvSpPr/>
          <p:nvPr/>
        </p:nvSpPr>
        <p:spPr>
          <a:xfrm>
            <a:off x="8449056" y="4169664"/>
            <a:ext cx="0" cy="155448"/>
          </a:xfrm>
          <a:prstGeom prst="line">
            <a:avLst/>
          </a:prstGeom>
          <a:noFill/>
          <a:ln w="15875">
            <a:solidFill>
              <a:schemeClr val="accent1"/>
            </a:solidFill>
            <a:prstDash val="solid"/>
          </a:ln>
        </p:spPr>
      </p:sp>
      <p:sp>
        <p:nvSpPr>
          <p:cNvPr id="40" name="Shape 37"/>
          <p:cNvSpPr/>
          <p:nvPr/>
        </p:nvSpPr>
        <p:spPr>
          <a:xfrm>
            <a:off x="11542471" y="4169664"/>
            <a:ext cx="155448" cy="0"/>
          </a:xfrm>
          <a:prstGeom prst="line">
            <a:avLst/>
          </a:prstGeom>
          <a:noFill/>
          <a:ln w="15875">
            <a:solidFill>
              <a:schemeClr val="accent1"/>
            </a:solidFill>
            <a:prstDash val="solid"/>
          </a:ln>
        </p:spPr>
      </p:sp>
      <p:sp>
        <p:nvSpPr>
          <p:cNvPr id="41" name="Shape 38"/>
          <p:cNvSpPr/>
          <p:nvPr/>
        </p:nvSpPr>
        <p:spPr>
          <a:xfrm>
            <a:off x="11697919" y="4169664"/>
            <a:ext cx="0" cy="155448"/>
          </a:xfrm>
          <a:prstGeom prst="line">
            <a:avLst/>
          </a:prstGeom>
          <a:noFill/>
          <a:ln w="15875">
            <a:solidFill>
              <a:schemeClr val="accent1"/>
            </a:solidFill>
            <a:prstDash val="solid"/>
          </a:ln>
        </p:spPr>
      </p:sp>
      <p:sp>
        <p:nvSpPr>
          <p:cNvPr id="42" name="Shape 39"/>
          <p:cNvSpPr/>
          <p:nvPr/>
        </p:nvSpPr>
        <p:spPr>
          <a:xfrm>
            <a:off x="8449056" y="6236208"/>
            <a:ext cx="155448" cy="0"/>
          </a:xfrm>
          <a:prstGeom prst="line">
            <a:avLst/>
          </a:prstGeom>
          <a:noFill/>
          <a:ln w="15875">
            <a:solidFill>
              <a:schemeClr val="accent1"/>
            </a:solidFill>
            <a:prstDash val="solid"/>
          </a:ln>
        </p:spPr>
      </p:sp>
      <p:sp>
        <p:nvSpPr>
          <p:cNvPr id="43" name="Shape 40"/>
          <p:cNvSpPr/>
          <p:nvPr/>
        </p:nvSpPr>
        <p:spPr>
          <a:xfrm>
            <a:off x="8449056" y="6080760"/>
            <a:ext cx="0" cy="155448"/>
          </a:xfrm>
          <a:prstGeom prst="line">
            <a:avLst/>
          </a:prstGeom>
          <a:noFill/>
          <a:ln w="15875">
            <a:solidFill>
              <a:schemeClr val="accent1"/>
            </a:solidFill>
            <a:prstDash val="solid"/>
          </a:ln>
        </p:spPr>
      </p:sp>
      <p:sp>
        <p:nvSpPr>
          <p:cNvPr id="44" name="Shape 41"/>
          <p:cNvSpPr/>
          <p:nvPr/>
        </p:nvSpPr>
        <p:spPr>
          <a:xfrm>
            <a:off x="11542471" y="6236208"/>
            <a:ext cx="155448" cy="0"/>
          </a:xfrm>
          <a:prstGeom prst="line">
            <a:avLst/>
          </a:prstGeom>
          <a:noFill/>
          <a:ln w="15875">
            <a:solidFill>
              <a:schemeClr val="accent1"/>
            </a:solidFill>
            <a:prstDash val="solid"/>
          </a:ln>
        </p:spPr>
      </p:sp>
      <p:sp>
        <p:nvSpPr>
          <p:cNvPr id="45" name="Shape 42"/>
          <p:cNvSpPr/>
          <p:nvPr/>
        </p:nvSpPr>
        <p:spPr>
          <a:xfrm>
            <a:off x="11697919" y="6080760"/>
            <a:ext cx="0" cy="155448"/>
          </a:xfrm>
          <a:prstGeom prst="line">
            <a:avLst/>
          </a:prstGeom>
          <a:noFill/>
          <a:ln w="15875">
            <a:solidFill>
              <a:schemeClr val="accent1"/>
            </a:solidFill>
            <a:prstDash val="solid"/>
          </a:ln>
        </p:spPr>
      </p:sp>
      <p:sp>
        <p:nvSpPr>
          <p:cNvPr id="46" name="Text 43"/>
          <p:cNvSpPr txBox="1"/>
          <p:nvPr/>
        </p:nvSpPr>
        <p:spPr>
          <a:xfrm>
            <a:off x="8705088" y="4361688"/>
            <a:ext cx="277337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SUSTITUTO PRINCIPAL</a:t>
            </a:r>
            <a:endParaRPr lang="es-CL" sz="1200" dirty="0"/>
          </a:p>
        </p:txBody>
      </p:sp>
      <p:sp>
        <p:nvSpPr>
          <p:cNvPr id="47" name="Text 44"/>
          <p:cNvSpPr txBox="1"/>
          <p:nvPr/>
        </p:nvSpPr>
        <p:spPr>
          <a:xfrm>
            <a:off x="8705088" y="4663440"/>
            <a:ext cx="2773375" cy="411480"/>
          </a:xfrm>
          <a:prstGeom prst="rect">
            <a:avLst/>
          </a:prstGeom>
          <a:noFill/>
          <a:ln/>
        </p:spPr>
        <p:txBody>
          <a:bodyPr wrap="square" lIns="0" tIns="0" rIns="0" bIns="0" rtlCol="0" anchor="ctr"/>
          <a:lstStyle/>
          <a:p>
            <a:pPr indent="0" marL="0">
              <a:buNone/>
            </a:pPr>
            <a:r>
              <a:rPr lang="es-CL" altLang="en-US" sz="2100" b="1" dirty="0">
                <a:solidFill>
                  <a:schemeClr val="tx1"/>
                </a:solidFill>
                <a:latin typeface="Figtree" pitchFamily="34" charset="0"/>
                <a:ea typeface="Figtree" pitchFamily="34" charset="-122"/>
                <a:cs typeface="Figtree" pitchFamily="34" charset="-120"/>
              </a:rPr>
              <a:t>Posponer la inversión</a:t>
            </a:r>
            <a:endParaRPr lang="es-CL" sz="2100" dirty="0"/>
          </a:p>
        </p:txBody>
      </p:sp>
      <p:sp>
        <p:nvSpPr>
          <p:cNvPr id="48" name="Text 45"/>
          <p:cNvSpPr txBox="1"/>
          <p:nvPr/>
        </p:nvSpPr>
        <p:spPr>
          <a:xfrm>
            <a:off x="8705088" y="5120640"/>
            <a:ext cx="2773375" cy="91440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El cliente se ahorra el kit, pero sigue pagando toda su bencina.</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09</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RECURSOS, CAPACIDADES Y FCE</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RECURSOS Y FACTORES CRÍTICOS: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la diferenciación es potencial.</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 05 del equipo (recursos y capacidades, cuatro criterios de competencias centrales) e instrumento 06 del equipo (factores críticos de éxito, escala 1 a 5).</a:t>
            </a:r>
            <a:endParaRPr lang="es-CL" sz="1100" dirty="0"/>
          </a:p>
        </p:txBody>
      </p:sp>
      <p:sp>
        <p:nvSpPr>
          <p:cNvPr id="5" name="Text 3"/>
          <p:cNvSpPr txBox="1"/>
          <p:nvPr/>
        </p:nvSpPr>
        <p:spPr>
          <a:xfrm>
            <a:off x="548640" y="2350008"/>
            <a:ext cx="420624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CUATRO CRITERIOS · 15 RECURSOS</a:t>
            </a:r>
            <a:endParaRPr lang="es-CL" sz="1200" dirty="0"/>
          </a:p>
        </p:txBody>
      </p:sp>
      <p:sp>
        <p:nvSpPr>
          <p:cNvPr id="6" name="Text 4"/>
          <p:cNvSpPr txBox="1"/>
          <p:nvPr/>
        </p:nvSpPr>
        <p:spPr>
          <a:xfrm>
            <a:off x="548640" y="2670048"/>
            <a:ext cx="1051560" cy="731520"/>
          </a:xfrm>
          <a:prstGeom prst="rect">
            <a:avLst/>
          </a:prstGeom>
          <a:noFill/>
          <a:ln/>
        </p:spPr>
        <p:txBody>
          <a:bodyPr wrap="square" lIns="0" tIns="0" rIns="0" bIns="0" rtlCol="0" anchor="ctr"/>
          <a:lstStyle/>
          <a:p>
            <a:pPr indent="0" marL="0">
              <a:buNone/>
            </a:pPr>
            <a:r>
              <a:rPr lang="es-CL" altLang="en-US" sz="4800" b="1" dirty="0">
                <a:solidFill>
                  <a:schemeClr val="accent1"/>
                </a:solidFill>
                <a:latin typeface="Archivo Condensed" pitchFamily="34" charset="0"/>
                <a:ea typeface="Archivo Condensed" pitchFamily="34" charset="-122"/>
                <a:cs typeface="Archivo Condensed" pitchFamily="34" charset="-120"/>
              </a:rPr>
              <a:t>2</a:t>
            </a:r>
            <a:endParaRPr lang="es-CL" sz="4800" dirty="0"/>
          </a:p>
        </p:txBody>
      </p:sp>
      <p:sp>
        <p:nvSpPr>
          <p:cNvPr id="7" name="Text 5"/>
          <p:cNvSpPr txBox="1"/>
          <p:nvPr/>
        </p:nvSpPr>
        <p:spPr>
          <a:xfrm>
            <a:off x="548640" y="3401568"/>
            <a:ext cx="1143000" cy="27432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sostenibles*</a:t>
            </a:r>
            <a:endParaRPr lang="es-CL" sz="1300" dirty="0"/>
          </a:p>
        </p:txBody>
      </p:sp>
      <p:sp>
        <p:nvSpPr>
          <p:cNvPr id="8" name="Text 6"/>
          <p:cNvSpPr txBox="1"/>
          <p:nvPr/>
        </p:nvSpPr>
        <p:spPr>
          <a:xfrm>
            <a:off x="1600200" y="2670048"/>
            <a:ext cx="1051560" cy="731520"/>
          </a:xfrm>
          <a:prstGeom prst="rect">
            <a:avLst/>
          </a:prstGeom>
          <a:noFill/>
          <a:ln/>
        </p:spPr>
        <p:txBody>
          <a:bodyPr wrap="square" lIns="0" tIns="0" rIns="0" bIns="0" rtlCol="0" anchor="ctr"/>
          <a:lstStyle/>
          <a:p>
            <a:pPr indent="0" marL="0">
              <a:buNone/>
            </a:pPr>
            <a:r>
              <a:rPr lang="es-CL" altLang="en-US" sz="4800" b="1" dirty="0">
                <a:solidFill>
                  <a:schemeClr val="tx1"/>
                </a:solidFill>
                <a:latin typeface="Archivo Condensed" pitchFamily="34" charset="0"/>
                <a:ea typeface="Archivo Condensed" pitchFamily="34" charset="-122"/>
                <a:cs typeface="Archivo Condensed" pitchFamily="34" charset="-120"/>
              </a:rPr>
              <a:t>6</a:t>
            </a:r>
            <a:endParaRPr lang="es-CL" sz="4800" dirty="0"/>
          </a:p>
        </p:txBody>
      </p:sp>
      <p:sp>
        <p:nvSpPr>
          <p:cNvPr id="9" name="Text 7"/>
          <p:cNvSpPr txBox="1"/>
          <p:nvPr/>
        </p:nvSpPr>
        <p:spPr>
          <a:xfrm>
            <a:off x="1600200" y="3401568"/>
            <a:ext cx="1143000" cy="27432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temporales</a:t>
            </a:r>
            <a:endParaRPr lang="es-CL" sz="1300" dirty="0"/>
          </a:p>
        </p:txBody>
      </p:sp>
      <p:sp>
        <p:nvSpPr>
          <p:cNvPr id="10" name="Text 8"/>
          <p:cNvSpPr txBox="1"/>
          <p:nvPr/>
        </p:nvSpPr>
        <p:spPr>
          <a:xfrm>
            <a:off x="2651760" y="2670048"/>
            <a:ext cx="1051560" cy="731520"/>
          </a:xfrm>
          <a:prstGeom prst="rect">
            <a:avLst/>
          </a:prstGeom>
          <a:noFill/>
          <a:ln/>
        </p:spPr>
        <p:txBody>
          <a:bodyPr wrap="square" lIns="0" tIns="0" rIns="0" bIns="0" rtlCol="0" anchor="ctr"/>
          <a:lstStyle/>
          <a:p>
            <a:pPr indent="0" marL="0">
              <a:buNone/>
            </a:pPr>
            <a:r>
              <a:rPr lang="es-CL" altLang="en-US" sz="4800" b="1" dirty="0">
                <a:solidFill>
                  <a:srgbClr val="8B9598"/>
                </a:solidFill>
                <a:latin typeface="Archivo Condensed" pitchFamily="34" charset="0"/>
                <a:ea typeface="Archivo Condensed" pitchFamily="34" charset="-122"/>
                <a:cs typeface="Archivo Condensed" pitchFamily="34" charset="-120"/>
              </a:rPr>
              <a:t>7</a:t>
            </a:r>
            <a:endParaRPr lang="es-CL" sz="4800" dirty="0"/>
          </a:p>
        </p:txBody>
      </p:sp>
      <p:sp>
        <p:nvSpPr>
          <p:cNvPr id="11" name="Text 9"/>
          <p:cNvSpPr txBox="1"/>
          <p:nvPr/>
        </p:nvSpPr>
        <p:spPr>
          <a:xfrm>
            <a:off x="2651760" y="3401568"/>
            <a:ext cx="1143000" cy="27432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igualdad</a:t>
            </a:r>
            <a:endParaRPr lang="es-CL" sz="1300" dirty="0"/>
          </a:p>
        </p:txBody>
      </p:sp>
      <p:sp>
        <p:nvSpPr>
          <p:cNvPr id="12" name="Text 10"/>
          <p:cNvSpPr txBox="1"/>
          <p:nvPr/>
        </p:nvSpPr>
        <p:spPr>
          <a:xfrm>
            <a:off x="3703320" y="2670048"/>
            <a:ext cx="1051560" cy="731520"/>
          </a:xfrm>
          <a:prstGeom prst="rect">
            <a:avLst/>
          </a:prstGeom>
          <a:noFill/>
          <a:ln/>
        </p:spPr>
        <p:txBody>
          <a:bodyPr wrap="square" lIns="0" tIns="0" rIns="0" bIns="0" rtlCol="0" anchor="ctr"/>
          <a:lstStyle/>
          <a:p>
            <a:pPr indent="0" marL="0">
              <a:buNone/>
            </a:pPr>
            <a:r>
              <a:rPr lang="es-CL" altLang="en-US" sz="4800" b="1" dirty="0">
                <a:solidFill>
                  <a:srgbClr val="8B9598"/>
                </a:solidFill>
                <a:latin typeface="Archivo Condensed" pitchFamily="34" charset="0"/>
                <a:ea typeface="Archivo Condensed" pitchFamily="34" charset="-122"/>
                <a:cs typeface="Archivo Condensed" pitchFamily="34" charset="-120"/>
              </a:rPr>
              <a:t>0</a:t>
            </a:r>
            <a:endParaRPr lang="es-CL" sz="4800" dirty="0"/>
          </a:p>
        </p:txBody>
      </p:sp>
      <p:sp>
        <p:nvSpPr>
          <p:cNvPr id="13" name="Text 11"/>
          <p:cNvSpPr txBox="1"/>
          <p:nvPr/>
        </p:nvSpPr>
        <p:spPr>
          <a:xfrm>
            <a:off x="3703320" y="3401568"/>
            <a:ext cx="1143000" cy="27432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desventaja</a:t>
            </a:r>
            <a:endParaRPr lang="es-CL" sz="1300" dirty="0"/>
          </a:p>
        </p:txBody>
      </p:sp>
      <p:sp>
        <p:nvSpPr>
          <p:cNvPr id="14" name="Shape 12"/>
          <p:cNvSpPr/>
          <p:nvPr/>
        </p:nvSpPr>
        <p:spPr>
          <a:xfrm>
            <a:off x="548640" y="3858768"/>
            <a:ext cx="4206240" cy="2340864"/>
          </a:xfrm>
          <a:prstGeom prst="rect">
            <a:avLst/>
          </a:prstGeom>
          <a:solidFill>
            <a:srgbClr val="0B1A22"/>
          </a:solidFill>
          <a:ln w="15875">
            <a:solidFill>
              <a:schemeClr val="accent1"/>
            </a:solidFill>
            <a:prstDash val="solid"/>
          </a:ln>
        </p:spPr>
      </p:sp>
      <p:sp>
        <p:nvSpPr>
          <p:cNvPr id="15" name="Shape 13"/>
          <p:cNvSpPr/>
          <p:nvPr/>
        </p:nvSpPr>
        <p:spPr>
          <a:xfrm>
            <a:off x="493776" y="3803904"/>
            <a:ext cx="155448" cy="0"/>
          </a:xfrm>
          <a:prstGeom prst="line">
            <a:avLst/>
          </a:prstGeom>
          <a:noFill/>
          <a:ln w="15875">
            <a:solidFill>
              <a:schemeClr val="accent1"/>
            </a:solidFill>
            <a:prstDash val="solid"/>
          </a:ln>
        </p:spPr>
      </p:sp>
      <p:sp>
        <p:nvSpPr>
          <p:cNvPr id="16" name="Shape 14"/>
          <p:cNvSpPr/>
          <p:nvPr/>
        </p:nvSpPr>
        <p:spPr>
          <a:xfrm>
            <a:off x="493776" y="3803904"/>
            <a:ext cx="0" cy="155448"/>
          </a:xfrm>
          <a:prstGeom prst="line">
            <a:avLst/>
          </a:prstGeom>
          <a:noFill/>
          <a:ln w="15875">
            <a:solidFill>
              <a:schemeClr val="accent1"/>
            </a:solidFill>
            <a:prstDash val="solid"/>
          </a:ln>
        </p:spPr>
      </p:sp>
      <p:sp>
        <p:nvSpPr>
          <p:cNvPr id="17" name="Shape 15"/>
          <p:cNvSpPr/>
          <p:nvPr/>
        </p:nvSpPr>
        <p:spPr>
          <a:xfrm>
            <a:off x="4654296" y="3803904"/>
            <a:ext cx="155448" cy="0"/>
          </a:xfrm>
          <a:prstGeom prst="line">
            <a:avLst/>
          </a:prstGeom>
          <a:noFill/>
          <a:ln w="15875">
            <a:solidFill>
              <a:schemeClr val="accent1"/>
            </a:solidFill>
            <a:prstDash val="solid"/>
          </a:ln>
        </p:spPr>
      </p:sp>
      <p:sp>
        <p:nvSpPr>
          <p:cNvPr id="18" name="Shape 16"/>
          <p:cNvSpPr/>
          <p:nvPr/>
        </p:nvSpPr>
        <p:spPr>
          <a:xfrm>
            <a:off x="4809744" y="3803904"/>
            <a:ext cx="0" cy="155448"/>
          </a:xfrm>
          <a:prstGeom prst="line">
            <a:avLst/>
          </a:prstGeom>
          <a:noFill/>
          <a:ln w="15875">
            <a:solidFill>
              <a:schemeClr val="accent1"/>
            </a:solidFill>
            <a:prstDash val="solid"/>
          </a:ln>
        </p:spPr>
      </p:sp>
      <p:sp>
        <p:nvSpPr>
          <p:cNvPr id="19" name="Shape 17"/>
          <p:cNvSpPr/>
          <p:nvPr/>
        </p:nvSpPr>
        <p:spPr>
          <a:xfrm>
            <a:off x="493776" y="6254496"/>
            <a:ext cx="155448" cy="0"/>
          </a:xfrm>
          <a:prstGeom prst="line">
            <a:avLst/>
          </a:prstGeom>
          <a:noFill/>
          <a:ln w="15875">
            <a:solidFill>
              <a:schemeClr val="accent1"/>
            </a:solidFill>
            <a:prstDash val="solid"/>
          </a:ln>
        </p:spPr>
      </p:sp>
      <p:sp>
        <p:nvSpPr>
          <p:cNvPr id="20" name="Shape 18"/>
          <p:cNvSpPr/>
          <p:nvPr/>
        </p:nvSpPr>
        <p:spPr>
          <a:xfrm>
            <a:off x="493776" y="6099048"/>
            <a:ext cx="0" cy="155448"/>
          </a:xfrm>
          <a:prstGeom prst="line">
            <a:avLst/>
          </a:prstGeom>
          <a:noFill/>
          <a:ln w="15875">
            <a:solidFill>
              <a:schemeClr val="accent1"/>
            </a:solidFill>
            <a:prstDash val="solid"/>
          </a:ln>
        </p:spPr>
      </p:sp>
      <p:sp>
        <p:nvSpPr>
          <p:cNvPr id="21" name="Shape 19"/>
          <p:cNvSpPr/>
          <p:nvPr/>
        </p:nvSpPr>
        <p:spPr>
          <a:xfrm>
            <a:off x="4654296" y="6254496"/>
            <a:ext cx="155448" cy="0"/>
          </a:xfrm>
          <a:prstGeom prst="line">
            <a:avLst/>
          </a:prstGeom>
          <a:noFill/>
          <a:ln w="15875">
            <a:solidFill>
              <a:schemeClr val="accent1"/>
            </a:solidFill>
            <a:prstDash val="solid"/>
          </a:ln>
        </p:spPr>
      </p:sp>
      <p:sp>
        <p:nvSpPr>
          <p:cNvPr id="22" name="Shape 20"/>
          <p:cNvSpPr/>
          <p:nvPr/>
        </p:nvSpPr>
        <p:spPr>
          <a:xfrm>
            <a:off x="4809744" y="6099048"/>
            <a:ext cx="0" cy="155448"/>
          </a:xfrm>
          <a:prstGeom prst="line">
            <a:avLst/>
          </a:prstGeom>
          <a:noFill/>
          <a:ln w="15875">
            <a:solidFill>
              <a:schemeClr val="accent1"/>
            </a:solidFill>
            <a:prstDash val="solid"/>
          </a:ln>
        </p:spPr>
      </p:sp>
      <p:sp>
        <p:nvSpPr>
          <p:cNvPr id="23" name="Text 21"/>
          <p:cNvSpPr txBox="1"/>
          <p:nvPr/>
        </p:nvSpPr>
        <p:spPr>
          <a:xfrm>
            <a:off x="749808" y="3995928"/>
            <a:ext cx="38404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 POTENCIALMENTE SOSTENIBLES</a:t>
            </a:r>
            <a:endParaRPr lang="es-CL" sz="1200" dirty="0"/>
          </a:p>
        </p:txBody>
      </p:sp>
      <p:sp>
        <p:nvSpPr>
          <p:cNvPr id="24" name="Text 22"/>
          <p:cNvSpPr txBox="1"/>
          <p:nvPr/>
        </p:nvSpPr>
        <p:spPr>
          <a:xfrm>
            <a:off x="749808" y="4315968"/>
            <a:ext cx="3840480" cy="731520"/>
          </a:xfrm>
          <a:prstGeom prst="rect">
            <a:avLst/>
          </a:prstGeom>
          <a:noFill/>
          <a:ln/>
        </p:spPr>
        <p:txBody>
          <a:bodyPr wrap="square" lIns="0" tIns="0" rIns="0" bIns="0" rtlCol="0" anchor="t"/>
          <a:lstStyle/>
          <a:p>
            <a:pPr indent="0" marL="0">
              <a:buNone/>
            </a:pPr>
            <a:r>
              <a:rPr lang="es-CL" altLang="en-US" sz="1800" b="1" dirty="0">
                <a:solidFill>
                  <a:schemeClr val="tx1"/>
                </a:solidFill>
                <a:latin typeface="Figtree" pitchFamily="34" charset="0"/>
                <a:ea typeface="Figtree" pitchFamily="34" charset="-122"/>
                <a:cs typeface="Figtree" pitchFamily="34" charset="-120"/>
              </a:rPr>
              <a:t>Biblioteca de calibraciones</a:t>
            </a:r>
            <a:endParaRPr lang="es-CL" sz="1800" dirty="0"/>
          </a:p>
          <a:p>
            <a:pPr indent="0" marL="0">
              <a:buNone/>
            </a:pPr>
            <a:r>
              <a:rPr lang="es-CL" altLang="en-US" sz="1800" b="1" dirty="0">
                <a:solidFill>
                  <a:schemeClr val="tx1"/>
                </a:solidFill>
                <a:latin typeface="Figtree" pitchFamily="34" charset="0"/>
                <a:ea typeface="Figtree" pitchFamily="34" charset="-122"/>
                <a:cs typeface="Figtree" pitchFamily="34" charset="-120"/>
              </a:rPr>
              <a:t>Ingeniería de integración</a:t>
            </a:r>
            <a:endParaRPr lang="es-CL" sz="1800" dirty="0"/>
          </a:p>
        </p:txBody>
      </p:sp>
      <p:sp>
        <p:nvSpPr>
          <p:cNvPr id="25" name="Text 23"/>
          <p:cNvSpPr txBox="1"/>
          <p:nvPr/>
        </p:nvSpPr>
        <p:spPr>
          <a:xfrm>
            <a:off x="749808" y="5093208"/>
            <a:ext cx="3840480" cy="82296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La biblioteca está vacía: solo sería sostenible si se protege como secreto empresarial.</a:t>
            </a:r>
            <a:endParaRPr lang="es-CL" sz="1500" dirty="0"/>
          </a:p>
        </p:txBody>
      </p:sp>
      <p:sp>
        <p:nvSpPr>
          <p:cNvPr id="26" name="Text 24"/>
          <p:cNvSpPr txBox="1"/>
          <p:nvPr/>
        </p:nvSpPr>
        <p:spPr>
          <a:xfrm>
            <a:off x="5212080" y="2350008"/>
            <a:ext cx="6430975"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FACTORES CRÍTICOS DE ÉXITO · 1 A 5</a:t>
            </a:r>
            <a:endParaRPr lang="es-CL" sz="1200" dirty="0"/>
          </a:p>
        </p:txBody>
      </p:sp>
      <p:sp>
        <p:nvSpPr>
          <p:cNvPr id="27" name="Text 25"/>
          <p:cNvSpPr txBox="1"/>
          <p:nvPr/>
        </p:nvSpPr>
        <p:spPr>
          <a:xfrm>
            <a:off x="9311335" y="2624328"/>
            <a:ext cx="1188720" cy="237744"/>
          </a:xfrm>
          <a:prstGeom prst="rect">
            <a:avLst/>
          </a:prstGeom>
          <a:noFill/>
          <a:ln/>
        </p:spPr>
        <p:txBody>
          <a:bodyPr wrap="square" lIns="0" tIns="0" rIns="0" bIns="0" rtlCol="0" anchor="t"/>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HABILIDAD</a:t>
            </a:r>
            <a:endParaRPr lang="es-CL" sz="1100" dirty="0"/>
          </a:p>
        </p:txBody>
      </p:sp>
      <p:sp>
        <p:nvSpPr>
          <p:cNvPr id="28" name="Text 26"/>
          <p:cNvSpPr txBox="1"/>
          <p:nvPr/>
        </p:nvSpPr>
        <p:spPr>
          <a:xfrm>
            <a:off x="10500055" y="2624328"/>
            <a:ext cx="1143000" cy="237744"/>
          </a:xfrm>
          <a:prstGeom prst="rect">
            <a:avLst/>
          </a:prstGeom>
          <a:noFill/>
          <a:ln/>
        </p:spPr>
        <p:txBody>
          <a:bodyPr wrap="square" lIns="0" tIns="0" rIns="0" bIns="0" rtlCol="0" anchor="t"/>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RIESGO</a:t>
            </a:r>
            <a:endParaRPr lang="es-CL" sz="1100" dirty="0"/>
          </a:p>
        </p:txBody>
      </p:sp>
      <p:sp>
        <p:nvSpPr>
          <p:cNvPr id="29" name="Shape 27"/>
          <p:cNvSpPr/>
          <p:nvPr/>
        </p:nvSpPr>
        <p:spPr>
          <a:xfrm>
            <a:off x="5212080" y="2898648"/>
            <a:ext cx="6430975" cy="0"/>
          </a:xfrm>
          <a:prstGeom prst="line">
            <a:avLst/>
          </a:prstGeom>
          <a:noFill/>
          <a:ln w="9525">
            <a:solidFill>
              <a:schemeClr val="accent1"/>
            </a:solidFill>
            <a:prstDash val="solid"/>
          </a:ln>
        </p:spPr>
      </p:sp>
      <p:sp>
        <p:nvSpPr>
          <p:cNvPr id="30" name="Text 28"/>
          <p:cNvSpPr txBox="1"/>
          <p:nvPr/>
        </p:nvSpPr>
        <p:spPr>
          <a:xfrm>
            <a:off x="5394960" y="2898648"/>
            <a:ext cx="3870655" cy="502920"/>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Ingeniería de integración y calibración</a:t>
            </a:r>
            <a:endParaRPr lang="es-CL" sz="1600" dirty="0"/>
          </a:p>
        </p:txBody>
      </p:sp>
      <p:sp>
        <p:nvSpPr>
          <p:cNvPr id="31" name="Shape 29"/>
          <p:cNvSpPr/>
          <p:nvPr/>
        </p:nvSpPr>
        <p:spPr>
          <a:xfrm>
            <a:off x="9402775" y="3076956"/>
            <a:ext cx="146304" cy="146304"/>
          </a:xfrm>
          <a:prstGeom prst="rect">
            <a:avLst/>
          </a:prstGeom>
          <a:solidFill>
            <a:schemeClr val="accent1"/>
          </a:solidFill>
          <a:ln/>
        </p:spPr>
      </p:sp>
      <p:sp>
        <p:nvSpPr>
          <p:cNvPr id="32" name="Shape 30"/>
          <p:cNvSpPr/>
          <p:nvPr/>
        </p:nvSpPr>
        <p:spPr>
          <a:xfrm>
            <a:off x="9603943" y="3076956"/>
            <a:ext cx="146304" cy="146304"/>
          </a:xfrm>
          <a:prstGeom prst="rect">
            <a:avLst/>
          </a:prstGeom>
          <a:solidFill>
            <a:schemeClr val="accent1"/>
          </a:solidFill>
          <a:ln/>
        </p:spPr>
      </p:sp>
      <p:sp>
        <p:nvSpPr>
          <p:cNvPr id="33" name="Shape 31"/>
          <p:cNvSpPr/>
          <p:nvPr/>
        </p:nvSpPr>
        <p:spPr>
          <a:xfrm>
            <a:off x="9805111" y="3076956"/>
            <a:ext cx="146304" cy="146304"/>
          </a:xfrm>
          <a:prstGeom prst="rect">
            <a:avLst/>
          </a:prstGeom>
          <a:solidFill>
            <a:schemeClr val="accent1"/>
          </a:solidFill>
          <a:ln/>
        </p:spPr>
      </p:sp>
      <p:sp>
        <p:nvSpPr>
          <p:cNvPr id="34" name="Shape 32"/>
          <p:cNvSpPr/>
          <p:nvPr/>
        </p:nvSpPr>
        <p:spPr>
          <a:xfrm>
            <a:off x="10006279" y="3076956"/>
            <a:ext cx="146304" cy="146304"/>
          </a:xfrm>
          <a:prstGeom prst="rect">
            <a:avLst/>
          </a:prstGeom>
          <a:solidFill>
            <a:schemeClr val="accent1"/>
          </a:solidFill>
          <a:ln/>
        </p:spPr>
      </p:sp>
      <p:sp>
        <p:nvSpPr>
          <p:cNvPr id="35" name="Shape 33"/>
          <p:cNvSpPr/>
          <p:nvPr/>
        </p:nvSpPr>
        <p:spPr>
          <a:xfrm>
            <a:off x="10207447" y="3076956"/>
            <a:ext cx="146304" cy="146304"/>
          </a:xfrm>
          <a:prstGeom prst="rect">
            <a:avLst/>
          </a:prstGeom>
          <a:solidFill>
            <a:schemeClr val="accent5"/>
          </a:solidFill>
          <a:ln/>
        </p:spPr>
      </p:sp>
      <p:sp>
        <p:nvSpPr>
          <p:cNvPr id="36" name="Text 34"/>
          <p:cNvSpPr txBox="1"/>
          <p:nvPr/>
        </p:nvSpPr>
        <p:spPr>
          <a:xfrm>
            <a:off x="10500055" y="2898648"/>
            <a:ext cx="1143000" cy="50292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a:t>
            </a:r>
            <a:endParaRPr lang="es-CL" sz="2000" dirty="0"/>
          </a:p>
        </p:txBody>
      </p:sp>
      <p:sp>
        <p:nvSpPr>
          <p:cNvPr id="37" name="Shape 35"/>
          <p:cNvSpPr/>
          <p:nvPr/>
        </p:nvSpPr>
        <p:spPr>
          <a:xfrm>
            <a:off x="5212080" y="3401568"/>
            <a:ext cx="6430975" cy="0"/>
          </a:xfrm>
          <a:prstGeom prst="line">
            <a:avLst/>
          </a:prstGeom>
          <a:noFill/>
          <a:ln w="9525">
            <a:solidFill>
              <a:schemeClr val="accent5"/>
            </a:solidFill>
            <a:prstDash val="solid"/>
          </a:ln>
        </p:spPr>
      </p:sp>
      <p:sp>
        <p:nvSpPr>
          <p:cNvPr id="38" name="Text 36"/>
          <p:cNvSpPr txBox="1"/>
          <p:nvPr/>
        </p:nvSpPr>
        <p:spPr>
          <a:xfrm>
            <a:off x="5394960" y="3401568"/>
            <a:ext cx="3870655" cy="502920"/>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Estandarización y tiempo de taller</a:t>
            </a:r>
            <a:endParaRPr lang="es-CL" sz="1600" dirty="0"/>
          </a:p>
        </p:txBody>
      </p:sp>
      <p:sp>
        <p:nvSpPr>
          <p:cNvPr id="39" name="Shape 37"/>
          <p:cNvSpPr/>
          <p:nvPr/>
        </p:nvSpPr>
        <p:spPr>
          <a:xfrm>
            <a:off x="9402775" y="3579876"/>
            <a:ext cx="146304" cy="146304"/>
          </a:xfrm>
          <a:prstGeom prst="rect">
            <a:avLst/>
          </a:prstGeom>
          <a:solidFill>
            <a:schemeClr val="accent1"/>
          </a:solidFill>
          <a:ln/>
        </p:spPr>
      </p:sp>
      <p:sp>
        <p:nvSpPr>
          <p:cNvPr id="40" name="Shape 38"/>
          <p:cNvSpPr/>
          <p:nvPr/>
        </p:nvSpPr>
        <p:spPr>
          <a:xfrm>
            <a:off x="9603943" y="3579876"/>
            <a:ext cx="146304" cy="146304"/>
          </a:xfrm>
          <a:prstGeom prst="rect">
            <a:avLst/>
          </a:prstGeom>
          <a:solidFill>
            <a:schemeClr val="accent1"/>
          </a:solidFill>
          <a:ln/>
        </p:spPr>
      </p:sp>
      <p:sp>
        <p:nvSpPr>
          <p:cNvPr id="41" name="Shape 39"/>
          <p:cNvSpPr/>
          <p:nvPr/>
        </p:nvSpPr>
        <p:spPr>
          <a:xfrm>
            <a:off x="9805111" y="3579876"/>
            <a:ext cx="146304" cy="146304"/>
          </a:xfrm>
          <a:prstGeom prst="rect">
            <a:avLst/>
          </a:prstGeom>
          <a:solidFill>
            <a:schemeClr val="accent1"/>
          </a:solidFill>
          <a:ln/>
        </p:spPr>
      </p:sp>
      <p:sp>
        <p:nvSpPr>
          <p:cNvPr id="42" name="Shape 40"/>
          <p:cNvSpPr/>
          <p:nvPr/>
        </p:nvSpPr>
        <p:spPr>
          <a:xfrm>
            <a:off x="10006279" y="3579876"/>
            <a:ext cx="146304" cy="146304"/>
          </a:xfrm>
          <a:prstGeom prst="rect">
            <a:avLst/>
          </a:prstGeom>
          <a:solidFill>
            <a:schemeClr val="accent1"/>
          </a:solidFill>
          <a:ln/>
        </p:spPr>
      </p:sp>
      <p:sp>
        <p:nvSpPr>
          <p:cNvPr id="43" name="Shape 41"/>
          <p:cNvSpPr/>
          <p:nvPr/>
        </p:nvSpPr>
        <p:spPr>
          <a:xfrm>
            <a:off x="10207447" y="3579876"/>
            <a:ext cx="146304" cy="146304"/>
          </a:xfrm>
          <a:prstGeom prst="rect">
            <a:avLst/>
          </a:prstGeom>
          <a:solidFill>
            <a:schemeClr val="accent5"/>
          </a:solidFill>
          <a:ln/>
        </p:spPr>
      </p:sp>
      <p:sp>
        <p:nvSpPr>
          <p:cNvPr id="44" name="Text 42"/>
          <p:cNvSpPr txBox="1"/>
          <p:nvPr/>
        </p:nvSpPr>
        <p:spPr>
          <a:xfrm>
            <a:off x="10500055" y="3401568"/>
            <a:ext cx="1143000" cy="502920"/>
          </a:xfrm>
          <a:prstGeom prst="rect">
            <a:avLst/>
          </a:prstGeom>
          <a:noFill/>
          <a:ln/>
        </p:spPr>
        <p:txBody>
          <a:bodyPr wrap="square" lIns="0" tIns="0" rIns="0" bIns="0" rtlCol="0" anchor="ctr"/>
          <a:lstStyle/>
          <a:p>
            <a:pPr algn="ctr" indent="0" marL="0">
              <a:buNone/>
            </a:pPr>
            <a:r>
              <a:rPr lang="es-CL" altLang="en-US" sz="2000" b="1" dirty="0">
                <a:solidFill>
                  <a:schemeClr val="tx2"/>
                </a:solidFill>
                <a:latin typeface="Archivo Condensed" pitchFamily="34" charset="0"/>
                <a:ea typeface="Archivo Condensed" pitchFamily="34" charset="-122"/>
                <a:cs typeface="Archivo Condensed" pitchFamily="34" charset="-120"/>
              </a:rPr>
              <a:t>3</a:t>
            </a:r>
            <a:endParaRPr lang="es-CL" sz="2000" dirty="0"/>
          </a:p>
        </p:txBody>
      </p:sp>
      <p:sp>
        <p:nvSpPr>
          <p:cNvPr id="45" name="Shape 43"/>
          <p:cNvSpPr/>
          <p:nvPr/>
        </p:nvSpPr>
        <p:spPr>
          <a:xfrm>
            <a:off x="5212080" y="3904488"/>
            <a:ext cx="6430975" cy="0"/>
          </a:xfrm>
          <a:prstGeom prst="line">
            <a:avLst/>
          </a:prstGeom>
          <a:noFill/>
          <a:ln w="9525">
            <a:solidFill>
              <a:schemeClr val="accent5"/>
            </a:solidFill>
            <a:prstDash val="solid"/>
          </a:ln>
        </p:spPr>
      </p:sp>
      <p:sp>
        <p:nvSpPr>
          <p:cNvPr id="46" name="Text 44"/>
          <p:cNvSpPr txBox="1"/>
          <p:nvPr/>
        </p:nvSpPr>
        <p:spPr>
          <a:xfrm>
            <a:off x="5394960" y="3904488"/>
            <a:ext cx="3870655" cy="502920"/>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Logística de insumos críticos</a:t>
            </a:r>
            <a:endParaRPr lang="es-CL" sz="1600" dirty="0"/>
          </a:p>
        </p:txBody>
      </p:sp>
      <p:sp>
        <p:nvSpPr>
          <p:cNvPr id="47" name="Shape 45"/>
          <p:cNvSpPr/>
          <p:nvPr/>
        </p:nvSpPr>
        <p:spPr>
          <a:xfrm>
            <a:off x="9402775" y="4082796"/>
            <a:ext cx="146304" cy="146304"/>
          </a:xfrm>
          <a:prstGeom prst="rect">
            <a:avLst/>
          </a:prstGeom>
          <a:solidFill>
            <a:schemeClr val="tx1"/>
          </a:solidFill>
          <a:ln/>
        </p:spPr>
      </p:sp>
      <p:sp>
        <p:nvSpPr>
          <p:cNvPr id="48" name="Shape 46"/>
          <p:cNvSpPr/>
          <p:nvPr/>
        </p:nvSpPr>
        <p:spPr>
          <a:xfrm>
            <a:off x="9603943" y="4082796"/>
            <a:ext cx="146304" cy="146304"/>
          </a:xfrm>
          <a:prstGeom prst="rect">
            <a:avLst/>
          </a:prstGeom>
          <a:solidFill>
            <a:schemeClr val="tx1"/>
          </a:solidFill>
          <a:ln/>
        </p:spPr>
      </p:sp>
      <p:sp>
        <p:nvSpPr>
          <p:cNvPr id="49" name="Shape 47"/>
          <p:cNvSpPr/>
          <p:nvPr/>
        </p:nvSpPr>
        <p:spPr>
          <a:xfrm>
            <a:off x="9805111" y="4082796"/>
            <a:ext cx="146304" cy="146304"/>
          </a:xfrm>
          <a:prstGeom prst="rect">
            <a:avLst/>
          </a:prstGeom>
          <a:solidFill>
            <a:schemeClr val="tx1"/>
          </a:solidFill>
          <a:ln/>
        </p:spPr>
      </p:sp>
      <p:sp>
        <p:nvSpPr>
          <p:cNvPr id="50" name="Shape 48"/>
          <p:cNvSpPr/>
          <p:nvPr/>
        </p:nvSpPr>
        <p:spPr>
          <a:xfrm>
            <a:off x="10006279" y="4082796"/>
            <a:ext cx="146304" cy="146304"/>
          </a:xfrm>
          <a:prstGeom prst="rect">
            <a:avLst/>
          </a:prstGeom>
          <a:solidFill>
            <a:schemeClr val="accent5"/>
          </a:solidFill>
          <a:ln/>
        </p:spPr>
      </p:sp>
      <p:sp>
        <p:nvSpPr>
          <p:cNvPr id="51" name="Shape 49"/>
          <p:cNvSpPr/>
          <p:nvPr/>
        </p:nvSpPr>
        <p:spPr>
          <a:xfrm>
            <a:off x="10207447" y="4082796"/>
            <a:ext cx="146304" cy="146304"/>
          </a:xfrm>
          <a:prstGeom prst="rect">
            <a:avLst/>
          </a:prstGeom>
          <a:solidFill>
            <a:schemeClr val="accent5"/>
          </a:solidFill>
          <a:ln/>
        </p:spPr>
      </p:sp>
      <p:sp>
        <p:nvSpPr>
          <p:cNvPr id="52" name="Text 50"/>
          <p:cNvSpPr txBox="1"/>
          <p:nvPr/>
        </p:nvSpPr>
        <p:spPr>
          <a:xfrm>
            <a:off x="10500055" y="3904488"/>
            <a:ext cx="1143000" cy="50292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a:t>
            </a:r>
            <a:endParaRPr lang="es-CL" sz="2000" dirty="0"/>
          </a:p>
        </p:txBody>
      </p:sp>
      <p:sp>
        <p:nvSpPr>
          <p:cNvPr id="53" name="Shape 51"/>
          <p:cNvSpPr/>
          <p:nvPr/>
        </p:nvSpPr>
        <p:spPr>
          <a:xfrm>
            <a:off x="5212080" y="4407408"/>
            <a:ext cx="6430975" cy="0"/>
          </a:xfrm>
          <a:prstGeom prst="line">
            <a:avLst/>
          </a:prstGeom>
          <a:noFill/>
          <a:ln w="9525">
            <a:solidFill>
              <a:schemeClr val="accent5"/>
            </a:solidFill>
            <a:prstDash val="solid"/>
          </a:ln>
        </p:spPr>
      </p:sp>
      <p:sp>
        <p:nvSpPr>
          <p:cNvPr id="54" name="Text 52"/>
          <p:cNvSpPr txBox="1"/>
          <p:nvPr/>
        </p:nvSpPr>
        <p:spPr>
          <a:xfrm>
            <a:off x="5394960" y="4407408"/>
            <a:ext cx="3870655" cy="502920"/>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Financiamiento en el punto de venta</a:t>
            </a:r>
            <a:endParaRPr lang="es-CL" sz="1600" dirty="0"/>
          </a:p>
        </p:txBody>
      </p:sp>
      <p:sp>
        <p:nvSpPr>
          <p:cNvPr id="55" name="Shape 53"/>
          <p:cNvSpPr/>
          <p:nvPr/>
        </p:nvSpPr>
        <p:spPr>
          <a:xfrm>
            <a:off x="9402775" y="4585716"/>
            <a:ext cx="146304" cy="146304"/>
          </a:xfrm>
          <a:prstGeom prst="rect">
            <a:avLst/>
          </a:prstGeom>
          <a:solidFill>
            <a:schemeClr val="tx1"/>
          </a:solidFill>
          <a:ln/>
        </p:spPr>
      </p:sp>
      <p:sp>
        <p:nvSpPr>
          <p:cNvPr id="56" name="Shape 54"/>
          <p:cNvSpPr/>
          <p:nvPr/>
        </p:nvSpPr>
        <p:spPr>
          <a:xfrm>
            <a:off x="9603943" y="4585716"/>
            <a:ext cx="146304" cy="146304"/>
          </a:xfrm>
          <a:prstGeom prst="rect">
            <a:avLst/>
          </a:prstGeom>
          <a:solidFill>
            <a:schemeClr val="tx1"/>
          </a:solidFill>
          <a:ln/>
        </p:spPr>
      </p:sp>
      <p:sp>
        <p:nvSpPr>
          <p:cNvPr id="57" name="Shape 55"/>
          <p:cNvSpPr/>
          <p:nvPr/>
        </p:nvSpPr>
        <p:spPr>
          <a:xfrm>
            <a:off x="9805111" y="4585716"/>
            <a:ext cx="146304" cy="146304"/>
          </a:xfrm>
          <a:prstGeom prst="rect">
            <a:avLst/>
          </a:prstGeom>
          <a:solidFill>
            <a:schemeClr val="tx1"/>
          </a:solidFill>
          <a:ln/>
        </p:spPr>
      </p:sp>
      <p:sp>
        <p:nvSpPr>
          <p:cNvPr id="58" name="Shape 56"/>
          <p:cNvSpPr/>
          <p:nvPr/>
        </p:nvSpPr>
        <p:spPr>
          <a:xfrm>
            <a:off x="10006279" y="4585716"/>
            <a:ext cx="146304" cy="146304"/>
          </a:xfrm>
          <a:prstGeom prst="rect">
            <a:avLst/>
          </a:prstGeom>
          <a:solidFill>
            <a:schemeClr val="accent5"/>
          </a:solidFill>
          <a:ln/>
        </p:spPr>
      </p:sp>
      <p:sp>
        <p:nvSpPr>
          <p:cNvPr id="59" name="Shape 57"/>
          <p:cNvSpPr/>
          <p:nvPr/>
        </p:nvSpPr>
        <p:spPr>
          <a:xfrm>
            <a:off x="10207447" y="4585716"/>
            <a:ext cx="146304" cy="146304"/>
          </a:xfrm>
          <a:prstGeom prst="rect">
            <a:avLst/>
          </a:prstGeom>
          <a:solidFill>
            <a:schemeClr val="accent5"/>
          </a:solidFill>
          <a:ln/>
        </p:spPr>
      </p:sp>
      <p:sp>
        <p:nvSpPr>
          <p:cNvPr id="60" name="Text 58"/>
          <p:cNvSpPr txBox="1"/>
          <p:nvPr/>
        </p:nvSpPr>
        <p:spPr>
          <a:xfrm>
            <a:off x="10500055" y="4407408"/>
            <a:ext cx="1143000" cy="50292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a:t>
            </a:r>
            <a:endParaRPr lang="es-CL" sz="2000" dirty="0"/>
          </a:p>
        </p:txBody>
      </p:sp>
      <p:sp>
        <p:nvSpPr>
          <p:cNvPr id="61" name="Shape 59"/>
          <p:cNvSpPr/>
          <p:nvPr/>
        </p:nvSpPr>
        <p:spPr>
          <a:xfrm>
            <a:off x="5212080" y="4910328"/>
            <a:ext cx="6430975" cy="0"/>
          </a:xfrm>
          <a:prstGeom prst="line">
            <a:avLst/>
          </a:prstGeom>
          <a:noFill/>
          <a:ln w="9525">
            <a:solidFill>
              <a:schemeClr val="accent5"/>
            </a:solidFill>
            <a:prstDash val="solid"/>
          </a:ln>
        </p:spPr>
      </p:sp>
      <p:sp>
        <p:nvSpPr>
          <p:cNvPr id="62" name="Shape 60"/>
          <p:cNvSpPr/>
          <p:nvPr/>
        </p:nvSpPr>
        <p:spPr>
          <a:xfrm>
            <a:off x="5212080" y="5074920"/>
            <a:ext cx="73152" cy="173736"/>
          </a:xfrm>
          <a:prstGeom prst="rect">
            <a:avLst/>
          </a:prstGeom>
          <a:solidFill>
            <a:schemeClr val="tx1"/>
          </a:solidFill>
          <a:ln/>
        </p:spPr>
      </p:sp>
      <p:sp>
        <p:nvSpPr>
          <p:cNvPr id="63" name="Text 61"/>
          <p:cNvSpPr txBox="1"/>
          <p:nvPr/>
        </p:nvSpPr>
        <p:spPr>
          <a:xfrm>
            <a:off x="5394960" y="4910328"/>
            <a:ext cx="3870655" cy="502920"/>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Gestión regulatoria e institucional</a:t>
            </a:r>
            <a:endParaRPr lang="es-CL" sz="1600" dirty="0"/>
          </a:p>
        </p:txBody>
      </p:sp>
      <p:sp>
        <p:nvSpPr>
          <p:cNvPr id="64" name="Shape 62"/>
          <p:cNvSpPr/>
          <p:nvPr/>
        </p:nvSpPr>
        <p:spPr>
          <a:xfrm>
            <a:off x="9402775" y="5088636"/>
            <a:ext cx="146304" cy="146304"/>
          </a:xfrm>
          <a:prstGeom prst="rect">
            <a:avLst/>
          </a:prstGeom>
          <a:solidFill>
            <a:schemeClr val="tx1"/>
          </a:solidFill>
          <a:ln/>
        </p:spPr>
      </p:sp>
      <p:sp>
        <p:nvSpPr>
          <p:cNvPr id="65" name="Shape 63"/>
          <p:cNvSpPr/>
          <p:nvPr/>
        </p:nvSpPr>
        <p:spPr>
          <a:xfrm>
            <a:off x="9603943" y="5088636"/>
            <a:ext cx="146304" cy="146304"/>
          </a:xfrm>
          <a:prstGeom prst="rect">
            <a:avLst/>
          </a:prstGeom>
          <a:solidFill>
            <a:schemeClr val="tx1"/>
          </a:solidFill>
          <a:ln/>
        </p:spPr>
      </p:sp>
      <p:sp>
        <p:nvSpPr>
          <p:cNvPr id="66" name="Shape 64"/>
          <p:cNvSpPr/>
          <p:nvPr/>
        </p:nvSpPr>
        <p:spPr>
          <a:xfrm>
            <a:off x="9805111" y="5088636"/>
            <a:ext cx="146304" cy="146304"/>
          </a:xfrm>
          <a:prstGeom prst="rect">
            <a:avLst/>
          </a:prstGeom>
          <a:solidFill>
            <a:schemeClr val="accent5"/>
          </a:solidFill>
          <a:ln/>
        </p:spPr>
      </p:sp>
      <p:sp>
        <p:nvSpPr>
          <p:cNvPr id="67" name="Shape 65"/>
          <p:cNvSpPr/>
          <p:nvPr/>
        </p:nvSpPr>
        <p:spPr>
          <a:xfrm>
            <a:off x="10006279" y="5088636"/>
            <a:ext cx="146304" cy="146304"/>
          </a:xfrm>
          <a:prstGeom prst="rect">
            <a:avLst/>
          </a:prstGeom>
          <a:solidFill>
            <a:schemeClr val="accent5"/>
          </a:solidFill>
          <a:ln/>
        </p:spPr>
      </p:sp>
      <p:sp>
        <p:nvSpPr>
          <p:cNvPr id="68" name="Shape 66"/>
          <p:cNvSpPr/>
          <p:nvPr/>
        </p:nvSpPr>
        <p:spPr>
          <a:xfrm>
            <a:off x="10207447" y="5088636"/>
            <a:ext cx="146304" cy="146304"/>
          </a:xfrm>
          <a:prstGeom prst="rect">
            <a:avLst/>
          </a:prstGeom>
          <a:solidFill>
            <a:schemeClr val="accent5"/>
          </a:solidFill>
          <a:ln/>
        </p:spPr>
      </p:sp>
      <p:sp>
        <p:nvSpPr>
          <p:cNvPr id="69" name="Text 67"/>
          <p:cNvSpPr txBox="1"/>
          <p:nvPr/>
        </p:nvSpPr>
        <p:spPr>
          <a:xfrm>
            <a:off x="10500055" y="4910328"/>
            <a:ext cx="1143000" cy="50292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a:t>
            </a:r>
            <a:endParaRPr lang="es-CL" sz="2000" dirty="0"/>
          </a:p>
        </p:txBody>
      </p:sp>
      <p:sp>
        <p:nvSpPr>
          <p:cNvPr id="70" name="Shape 68"/>
          <p:cNvSpPr/>
          <p:nvPr/>
        </p:nvSpPr>
        <p:spPr>
          <a:xfrm>
            <a:off x="5212080" y="5413248"/>
            <a:ext cx="6430975" cy="0"/>
          </a:xfrm>
          <a:prstGeom prst="line">
            <a:avLst/>
          </a:prstGeom>
          <a:noFill/>
          <a:ln w="9525">
            <a:solidFill>
              <a:schemeClr val="accent5"/>
            </a:solidFill>
            <a:prstDash val="solid"/>
          </a:ln>
        </p:spPr>
      </p:sp>
      <p:sp>
        <p:nvSpPr>
          <p:cNvPr id="71" name="Text 69"/>
          <p:cNvSpPr txBox="1"/>
          <p:nvPr/>
        </p:nvSpPr>
        <p:spPr>
          <a:xfrm>
            <a:off x="5394960" y="5413248"/>
            <a:ext cx="3870655" cy="502920"/>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Talento certificado en alta tensión</a:t>
            </a:r>
            <a:endParaRPr lang="es-CL" sz="1600" dirty="0"/>
          </a:p>
        </p:txBody>
      </p:sp>
      <p:sp>
        <p:nvSpPr>
          <p:cNvPr id="72" name="Shape 70"/>
          <p:cNvSpPr/>
          <p:nvPr/>
        </p:nvSpPr>
        <p:spPr>
          <a:xfrm>
            <a:off x="9402775" y="5591556"/>
            <a:ext cx="146304" cy="146304"/>
          </a:xfrm>
          <a:prstGeom prst="rect">
            <a:avLst/>
          </a:prstGeom>
          <a:solidFill>
            <a:schemeClr val="tx1"/>
          </a:solidFill>
          <a:ln/>
        </p:spPr>
      </p:sp>
      <p:sp>
        <p:nvSpPr>
          <p:cNvPr id="73" name="Shape 71"/>
          <p:cNvSpPr/>
          <p:nvPr/>
        </p:nvSpPr>
        <p:spPr>
          <a:xfrm>
            <a:off x="9603943" y="5591556"/>
            <a:ext cx="146304" cy="146304"/>
          </a:xfrm>
          <a:prstGeom prst="rect">
            <a:avLst/>
          </a:prstGeom>
          <a:solidFill>
            <a:schemeClr val="tx1"/>
          </a:solidFill>
          <a:ln/>
        </p:spPr>
      </p:sp>
      <p:sp>
        <p:nvSpPr>
          <p:cNvPr id="74" name="Shape 72"/>
          <p:cNvSpPr/>
          <p:nvPr/>
        </p:nvSpPr>
        <p:spPr>
          <a:xfrm>
            <a:off x="9805111" y="5591556"/>
            <a:ext cx="146304" cy="146304"/>
          </a:xfrm>
          <a:prstGeom prst="rect">
            <a:avLst/>
          </a:prstGeom>
          <a:solidFill>
            <a:schemeClr val="accent5"/>
          </a:solidFill>
          <a:ln/>
        </p:spPr>
      </p:sp>
      <p:sp>
        <p:nvSpPr>
          <p:cNvPr id="75" name="Shape 73"/>
          <p:cNvSpPr/>
          <p:nvPr/>
        </p:nvSpPr>
        <p:spPr>
          <a:xfrm>
            <a:off x="10006279" y="5591556"/>
            <a:ext cx="146304" cy="146304"/>
          </a:xfrm>
          <a:prstGeom prst="rect">
            <a:avLst/>
          </a:prstGeom>
          <a:solidFill>
            <a:schemeClr val="accent5"/>
          </a:solidFill>
          <a:ln/>
        </p:spPr>
      </p:sp>
      <p:sp>
        <p:nvSpPr>
          <p:cNvPr id="76" name="Shape 74"/>
          <p:cNvSpPr/>
          <p:nvPr/>
        </p:nvSpPr>
        <p:spPr>
          <a:xfrm>
            <a:off x="10207447" y="5591556"/>
            <a:ext cx="146304" cy="146304"/>
          </a:xfrm>
          <a:prstGeom prst="rect">
            <a:avLst/>
          </a:prstGeom>
          <a:solidFill>
            <a:schemeClr val="accent5"/>
          </a:solidFill>
          <a:ln/>
        </p:spPr>
      </p:sp>
      <p:sp>
        <p:nvSpPr>
          <p:cNvPr id="77" name="Text 75"/>
          <p:cNvSpPr txBox="1"/>
          <p:nvPr/>
        </p:nvSpPr>
        <p:spPr>
          <a:xfrm>
            <a:off x="10500055" y="5413248"/>
            <a:ext cx="1143000" cy="50292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a:t>
            </a:r>
            <a:endParaRPr lang="es-CL" sz="2000" dirty="0"/>
          </a:p>
        </p:txBody>
      </p:sp>
      <p:sp>
        <p:nvSpPr>
          <p:cNvPr id="78" name="Shape 76"/>
          <p:cNvSpPr/>
          <p:nvPr/>
        </p:nvSpPr>
        <p:spPr>
          <a:xfrm>
            <a:off x="5212080" y="5916168"/>
            <a:ext cx="6430975" cy="0"/>
          </a:xfrm>
          <a:prstGeom prst="line">
            <a:avLst/>
          </a:prstGeom>
          <a:noFill/>
          <a:ln w="9525">
            <a:solidFill>
              <a:schemeClr val="accent5"/>
            </a:solidFill>
            <a:prstDash val="solid"/>
          </a:ln>
        </p:spPr>
      </p:sp>
      <p:sp>
        <p:nvSpPr>
          <p:cNvPr id="79" name="Shape 77"/>
          <p:cNvSpPr/>
          <p:nvPr/>
        </p:nvSpPr>
        <p:spPr>
          <a:xfrm>
            <a:off x="5212080" y="6025896"/>
            <a:ext cx="73152" cy="182880"/>
          </a:xfrm>
          <a:prstGeom prst="rect">
            <a:avLst/>
          </a:prstGeom>
          <a:solidFill>
            <a:schemeClr val="tx1"/>
          </a:solidFill>
          <a:ln/>
        </p:spPr>
      </p:sp>
      <p:sp>
        <p:nvSpPr>
          <p:cNvPr id="80" name="Text 78"/>
          <p:cNvSpPr txBox="1"/>
          <p:nvPr/>
        </p:nvSpPr>
        <p:spPr>
          <a:xfrm>
            <a:off x="5394960" y="5971032"/>
            <a:ext cx="6248095" cy="292608"/>
          </a:xfrm>
          <a:prstGeom prst="rect">
            <a:avLst/>
          </a:prstGeom>
          <a:noFill/>
          <a:ln/>
        </p:spPr>
        <p:txBody>
          <a:bodyPr wrap="square" lIns="0" tIns="0" rIns="0" bIns="0" rtlCol="0" anchor="ctr"/>
          <a:lstStyle/>
          <a:p>
            <a:pPr indent="0" marL="0">
              <a:buNone/>
            </a:pPr>
            <a:r>
              <a:rPr lang="es-CL" altLang="en-US" sz="1300" dirty="0">
                <a:solidFill>
                  <a:schemeClr val="tx2"/>
                </a:solidFill>
                <a:latin typeface="Figtree" pitchFamily="34" charset="0"/>
                <a:ea typeface="Figtree" pitchFamily="34" charset="-122"/>
                <a:cs typeface="Figtree" pitchFamily="34" charset="-120"/>
              </a:rPr>
              <a:t>condición de entrada · en riesgo, un número bajo es riesgo alto</a:t>
            </a:r>
            <a:endParaRPr lang="es-CL" sz="13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10</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CADENA DE VALOR</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 CALIBRACIÓN DA EXCLUSIVIDAD;</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operaciones, el cuello de botella.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06 del equipo (cadena de valor y comparación con competidores estimada por el equipo, escala 1 a 5).</a:t>
            </a:r>
            <a:endParaRPr lang="es-CL" sz="1100" dirty="0"/>
          </a:p>
        </p:txBody>
      </p:sp>
      <p:sp>
        <p:nvSpPr>
          <p:cNvPr id="5" name="Shape 3"/>
          <p:cNvSpPr/>
          <p:nvPr/>
        </p:nvSpPr>
        <p:spPr>
          <a:xfrm>
            <a:off x="548640" y="2350008"/>
            <a:ext cx="10545775" cy="329184"/>
          </a:xfrm>
          <a:prstGeom prst="rect">
            <a:avLst/>
          </a:prstGeom>
          <a:solidFill>
            <a:schemeClr val="bg2"/>
          </a:solidFill>
          <a:ln w="15875">
            <a:solidFill>
              <a:schemeClr val="tx1"/>
            </a:solidFill>
            <a:prstDash val="solid"/>
          </a:ln>
        </p:spPr>
      </p:sp>
      <p:sp>
        <p:nvSpPr>
          <p:cNvPr id="6" name="Text 4"/>
          <p:cNvSpPr txBox="1"/>
          <p:nvPr/>
        </p:nvSpPr>
        <p:spPr>
          <a:xfrm>
            <a:off x="713232" y="2350008"/>
            <a:ext cx="3657600" cy="329184"/>
          </a:xfrm>
          <a:prstGeom prst="rect">
            <a:avLst/>
          </a:prstGeom>
          <a:noFill/>
          <a:ln/>
        </p:spPr>
        <p:txBody>
          <a:bodyPr wrap="square" lIns="0" tIns="0" rIns="0" bIns="0" rtlCol="0" anchor="ctr"/>
          <a:lstStyle/>
          <a:p>
            <a:pPr indent="0" marL="0">
              <a:buNone/>
            </a:pPr>
            <a:r>
              <a:rPr lang="es-CL" altLang="en-US" sz="1500" b="1" dirty="0">
                <a:solidFill>
                  <a:schemeClr val="tx1"/>
                </a:solidFill>
                <a:latin typeface="Figtree" pitchFamily="34" charset="0"/>
                <a:ea typeface="Figtree" pitchFamily="34" charset="-122"/>
                <a:cs typeface="Figtree" pitchFamily="34" charset="-120"/>
              </a:rPr>
              <a:t>Infraestructura de la empresa</a:t>
            </a:r>
            <a:endParaRPr lang="es-CL" sz="1500" dirty="0"/>
          </a:p>
        </p:txBody>
      </p:sp>
      <p:sp>
        <p:nvSpPr>
          <p:cNvPr id="7" name="Text 5"/>
          <p:cNvSpPr txBox="1"/>
          <p:nvPr/>
        </p:nvSpPr>
        <p:spPr>
          <a:xfrm>
            <a:off x="4389120" y="2350008"/>
            <a:ext cx="6522415" cy="329184"/>
          </a:xfrm>
          <a:prstGeom prst="rect">
            <a:avLst/>
          </a:prstGeom>
          <a:noFill/>
          <a:ln/>
        </p:spPr>
        <p:txBody>
          <a:bodyPr wrap="square" lIns="0" tIns="0" rIns="0" bIns="0" rtlCol="0" anchor="ctr"/>
          <a:lstStyle/>
          <a:p>
            <a:pPr algn="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CONDICIÓN DE ENTRADA</a:t>
            </a:r>
            <a:endParaRPr lang="es-CL" sz="1200" dirty="0"/>
          </a:p>
        </p:txBody>
      </p:sp>
      <p:sp>
        <p:nvSpPr>
          <p:cNvPr id="8" name="Shape 6"/>
          <p:cNvSpPr/>
          <p:nvPr/>
        </p:nvSpPr>
        <p:spPr>
          <a:xfrm>
            <a:off x="548640" y="2734056"/>
            <a:ext cx="10545775" cy="329184"/>
          </a:xfrm>
          <a:prstGeom prst="rect">
            <a:avLst/>
          </a:prstGeom>
          <a:solidFill>
            <a:schemeClr val="bg2"/>
          </a:solidFill>
          <a:ln w="9525">
            <a:solidFill>
              <a:schemeClr val="accent5"/>
            </a:solidFill>
            <a:prstDash val="solid"/>
          </a:ln>
        </p:spPr>
      </p:sp>
      <p:sp>
        <p:nvSpPr>
          <p:cNvPr id="9" name="Text 7"/>
          <p:cNvSpPr txBox="1"/>
          <p:nvPr/>
        </p:nvSpPr>
        <p:spPr>
          <a:xfrm>
            <a:off x="713232" y="2734056"/>
            <a:ext cx="3657600" cy="329184"/>
          </a:xfrm>
          <a:prstGeom prst="rect">
            <a:avLst/>
          </a:prstGeom>
          <a:noFill/>
          <a:ln/>
        </p:spPr>
        <p:txBody>
          <a:bodyPr wrap="square" lIns="0" tIns="0" rIns="0" bIns="0" rtlCol="0" anchor="ctr"/>
          <a:lstStyle/>
          <a:p>
            <a:pPr indent="0" marL="0">
              <a:buNone/>
            </a:pPr>
            <a:r>
              <a:rPr lang="es-CL" altLang="en-US" sz="1500" dirty="0">
                <a:solidFill>
                  <a:schemeClr val="tx1"/>
                </a:solidFill>
                <a:latin typeface="Figtree" pitchFamily="34" charset="0"/>
                <a:ea typeface="Figtree" pitchFamily="34" charset="-122"/>
                <a:cs typeface="Figtree" pitchFamily="34" charset="-120"/>
              </a:rPr>
              <a:t>Gestión de recursos humanos</a:t>
            </a:r>
            <a:endParaRPr lang="es-CL" sz="1500" dirty="0"/>
          </a:p>
        </p:txBody>
      </p:sp>
      <p:sp>
        <p:nvSpPr>
          <p:cNvPr id="10" name="Shape 8"/>
          <p:cNvSpPr/>
          <p:nvPr/>
        </p:nvSpPr>
        <p:spPr>
          <a:xfrm>
            <a:off x="548640" y="3118104"/>
            <a:ext cx="10545775" cy="329184"/>
          </a:xfrm>
          <a:prstGeom prst="rect">
            <a:avLst/>
          </a:prstGeom>
          <a:solidFill>
            <a:srgbClr val="0B1A22"/>
          </a:solidFill>
          <a:ln w="15875">
            <a:solidFill>
              <a:schemeClr val="accent1"/>
            </a:solidFill>
            <a:prstDash val="solid"/>
          </a:ln>
        </p:spPr>
      </p:sp>
      <p:sp>
        <p:nvSpPr>
          <p:cNvPr id="11" name="Text 9"/>
          <p:cNvSpPr txBox="1"/>
          <p:nvPr/>
        </p:nvSpPr>
        <p:spPr>
          <a:xfrm>
            <a:off x="713232" y="3118104"/>
            <a:ext cx="3657600" cy="329184"/>
          </a:xfrm>
          <a:prstGeom prst="rect">
            <a:avLst/>
          </a:prstGeom>
          <a:noFill/>
          <a:ln/>
        </p:spPr>
        <p:txBody>
          <a:bodyPr wrap="square" lIns="0" tIns="0" rIns="0" bIns="0" rtlCol="0" anchor="ctr"/>
          <a:lstStyle/>
          <a:p>
            <a:pPr indent="0" marL="0">
              <a:buNone/>
            </a:pPr>
            <a:r>
              <a:rPr lang="es-CL" altLang="en-US" sz="1500" b="1" dirty="0">
                <a:solidFill>
                  <a:schemeClr val="tx1"/>
                </a:solidFill>
                <a:latin typeface="Figtree" pitchFamily="34" charset="0"/>
                <a:ea typeface="Figtree" pitchFamily="34" charset="-122"/>
                <a:cs typeface="Figtree" pitchFamily="34" charset="-120"/>
              </a:rPr>
              <a:t>Desarrollo tecnológico</a:t>
            </a:r>
            <a:endParaRPr lang="es-CL" sz="1500" dirty="0"/>
          </a:p>
        </p:txBody>
      </p:sp>
      <p:sp>
        <p:nvSpPr>
          <p:cNvPr id="12" name="Text 10"/>
          <p:cNvSpPr txBox="1"/>
          <p:nvPr/>
        </p:nvSpPr>
        <p:spPr>
          <a:xfrm>
            <a:off x="4389120" y="3118104"/>
            <a:ext cx="6522415" cy="329184"/>
          </a:xfrm>
          <a:prstGeom prst="rect">
            <a:avLst/>
          </a:prstGeom>
          <a:noFill/>
          <a:ln/>
        </p:spPr>
        <p:txBody>
          <a:bodyPr wrap="square" lIns="0" tIns="0" rIns="0" bIns="0" rtlCol="0" anchor="ctr"/>
          <a:lstStyle/>
          <a:p>
            <a:pPr algn="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EXCLUSIVIDAD: LA CALIBRACIÓN</a:t>
            </a:r>
            <a:endParaRPr lang="es-CL" sz="1200" dirty="0"/>
          </a:p>
        </p:txBody>
      </p:sp>
      <p:sp>
        <p:nvSpPr>
          <p:cNvPr id="13" name="Shape 11"/>
          <p:cNvSpPr/>
          <p:nvPr/>
        </p:nvSpPr>
        <p:spPr>
          <a:xfrm>
            <a:off x="548640" y="3502152"/>
            <a:ext cx="10545775" cy="329184"/>
          </a:xfrm>
          <a:prstGeom prst="rect">
            <a:avLst/>
          </a:prstGeom>
          <a:solidFill>
            <a:schemeClr val="bg2"/>
          </a:solidFill>
          <a:ln w="9525">
            <a:solidFill>
              <a:schemeClr val="accent5"/>
            </a:solidFill>
            <a:prstDash val="solid"/>
          </a:ln>
        </p:spPr>
      </p:sp>
      <p:sp>
        <p:nvSpPr>
          <p:cNvPr id="14" name="Text 12"/>
          <p:cNvSpPr txBox="1"/>
          <p:nvPr/>
        </p:nvSpPr>
        <p:spPr>
          <a:xfrm>
            <a:off x="713232" y="3502152"/>
            <a:ext cx="3657600" cy="329184"/>
          </a:xfrm>
          <a:prstGeom prst="rect">
            <a:avLst/>
          </a:prstGeom>
          <a:noFill/>
          <a:ln/>
        </p:spPr>
        <p:txBody>
          <a:bodyPr wrap="square" lIns="0" tIns="0" rIns="0" bIns="0" rtlCol="0" anchor="ctr"/>
          <a:lstStyle/>
          <a:p>
            <a:pPr indent="0" marL="0">
              <a:buNone/>
            </a:pPr>
            <a:r>
              <a:rPr lang="es-CL" altLang="en-US" sz="1500" dirty="0">
                <a:solidFill>
                  <a:schemeClr val="tx1"/>
                </a:solidFill>
                <a:latin typeface="Figtree" pitchFamily="34" charset="0"/>
                <a:ea typeface="Figtree" pitchFamily="34" charset="-122"/>
                <a:cs typeface="Figtree" pitchFamily="34" charset="-120"/>
              </a:rPr>
              <a:t>Adquisiciones</a:t>
            </a:r>
            <a:endParaRPr lang="es-CL" sz="1500" dirty="0"/>
          </a:p>
        </p:txBody>
      </p:sp>
      <p:sp>
        <p:nvSpPr>
          <p:cNvPr id="15" name="Shape 13"/>
          <p:cNvSpPr/>
          <p:nvPr/>
        </p:nvSpPr>
        <p:spPr>
          <a:xfrm>
            <a:off x="548640" y="3941064"/>
            <a:ext cx="1999427" cy="1600200"/>
          </a:xfrm>
          <a:prstGeom prst="rect">
            <a:avLst/>
          </a:prstGeom>
          <a:solidFill>
            <a:schemeClr val="bg2"/>
          </a:solidFill>
          <a:ln w="19050">
            <a:solidFill>
              <a:schemeClr val="tx1"/>
            </a:solidFill>
            <a:prstDash val="solid"/>
          </a:ln>
        </p:spPr>
      </p:sp>
      <p:sp>
        <p:nvSpPr>
          <p:cNvPr id="16" name="Text 14"/>
          <p:cNvSpPr txBox="1"/>
          <p:nvPr/>
        </p:nvSpPr>
        <p:spPr>
          <a:xfrm>
            <a:off x="713232" y="4050792"/>
            <a:ext cx="1725107"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Logística de entrada</a:t>
            </a:r>
            <a:endParaRPr lang="es-CL" sz="1600" dirty="0"/>
          </a:p>
        </p:txBody>
      </p:sp>
      <p:sp>
        <p:nvSpPr>
          <p:cNvPr id="17" name="Text 15"/>
          <p:cNvSpPr txBox="1"/>
          <p:nvPr/>
        </p:nvSpPr>
        <p:spPr>
          <a:xfrm>
            <a:off x="713232" y="4636008"/>
            <a:ext cx="1725107" cy="384048"/>
          </a:xfrm>
          <a:prstGeom prst="rect">
            <a:avLst/>
          </a:prstGeom>
          <a:noFill/>
          <a:ln/>
        </p:spPr>
        <p:txBody>
          <a:bodyPr wrap="square" lIns="0" tIns="0" rIns="0" bIns="0" rtlCol="0" anchor="t"/>
          <a:lstStyle/>
          <a:p>
            <a:pPr indent="0" marL="0">
              <a:buNone/>
            </a:pPr>
            <a:r>
              <a:rPr lang="es-CL" altLang="en-US" sz="1100" spc="100" kern="0" dirty="0">
                <a:solidFill>
                  <a:schemeClr val="tx1"/>
                </a:solidFill>
                <a:latin typeface="IBM Plex Mono" pitchFamily="34" charset="0"/>
                <a:ea typeface="IBM Plex Mono" pitchFamily="34" charset="-122"/>
                <a:cs typeface="IBM Plex Mono" pitchFamily="34" charset="-120"/>
              </a:rPr>
              <a:t>DIRECTRIZ DE COSTO</a:t>
            </a:r>
            <a:endParaRPr lang="es-CL" sz="1100" dirty="0"/>
          </a:p>
        </p:txBody>
      </p:sp>
      <p:sp>
        <p:nvSpPr>
          <p:cNvPr id="18" name="Text 16"/>
          <p:cNvSpPr txBox="1"/>
          <p:nvPr/>
        </p:nvSpPr>
        <p:spPr>
          <a:xfrm>
            <a:off x="713232" y="5038344"/>
            <a:ext cx="1725107" cy="475488"/>
          </a:xfrm>
          <a:prstGeom prst="rect">
            <a:avLst/>
          </a:prstGeom>
          <a:noFill/>
          <a:ln/>
        </p:spPr>
        <p:txBody>
          <a:bodyPr wrap="square" lIns="0" tIns="0" rIns="0" bIns="0" rtlCol="0" anchor="t"/>
          <a:lstStyle/>
          <a:p>
            <a:pPr indent="0" marL="0">
              <a:lnSpc>
                <a:spcPct val="95000"/>
              </a:lnSpc>
              <a:buNone/>
            </a:pPr>
            <a:r>
              <a:rPr lang="es-CL" altLang="en-US" sz="1400" dirty="0">
                <a:solidFill>
                  <a:schemeClr val="tx2"/>
                </a:solidFill>
                <a:latin typeface="Figtree" pitchFamily="34" charset="0"/>
                <a:ea typeface="Figtree" pitchFamily="34" charset="-122"/>
                <a:cs typeface="Figtree" pitchFamily="34" charset="-120"/>
              </a:rPr>
              <a:t>Kit importado, Clase 9, dólar</a:t>
            </a:r>
            <a:endParaRPr lang="es-CL" sz="1400" dirty="0"/>
          </a:p>
        </p:txBody>
      </p:sp>
      <p:sp>
        <p:nvSpPr>
          <p:cNvPr id="19" name="Shape 17"/>
          <p:cNvSpPr/>
          <p:nvPr/>
        </p:nvSpPr>
        <p:spPr>
          <a:xfrm>
            <a:off x="2657795" y="3941064"/>
            <a:ext cx="1999427" cy="1600200"/>
          </a:xfrm>
          <a:prstGeom prst="rect">
            <a:avLst/>
          </a:prstGeom>
          <a:solidFill>
            <a:srgbClr val="0B1A22"/>
          </a:solidFill>
          <a:ln w="19050">
            <a:solidFill>
              <a:schemeClr val="accent1"/>
            </a:solidFill>
            <a:prstDash val="solid"/>
          </a:ln>
        </p:spPr>
      </p:sp>
      <p:sp>
        <p:nvSpPr>
          <p:cNvPr id="20" name="Text 18"/>
          <p:cNvSpPr txBox="1"/>
          <p:nvPr/>
        </p:nvSpPr>
        <p:spPr>
          <a:xfrm>
            <a:off x="2822387" y="4050792"/>
            <a:ext cx="1725107"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Operaciones</a:t>
            </a:r>
            <a:endParaRPr lang="es-CL" sz="1600" dirty="0"/>
          </a:p>
        </p:txBody>
      </p:sp>
      <p:sp>
        <p:nvSpPr>
          <p:cNvPr id="21" name="Text 19"/>
          <p:cNvSpPr txBox="1"/>
          <p:nvPr/>
        </p:nvSpPr>
        <p:spPr>
          <a:xfrm>
            <a:off x="2822387" y="4636008"/>
            <a:ext cx="1725107" cy="384048"/>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CUELLO DE BOTELLA</a:t>
            </a:r>
            <a:endParaRPr lang="es-CL" sz="1100" dirty="0"/>
          </a:p>
        </p:txBody>
      </p:sp>
      <p:sp>
        <p:nvSpPr>
          <p:cNvPr id="22" name="Text 20"/>
          <p:cNvSpPr txBox="1"/>
          <p:nvPr/>
        </p:nvSpPr>
        <p:spPr>
          <a:xfrm>
            <a:off x="2822387" y="5038344"/>
            <a:ext cx="1725107" cy="475488"/>
          </a:xfrm>
          <a:prstGeom prst="rect">
            <a:avLst/>
          </a:prstGeom>
          <a:noFill/>
          <a:ln/>
        </p:spPr>
        <p:txBody>
          <a:bodyPr wrap="square" lIns="0" tIns="0" rIns="0" bIns="0" rtlCol="0" anchor="t"/>
          <a:lstStyle/>
          <a:p>
            <a:pPr indent="0" marL="0">
              <a:lnSpc>
                <a:spcPct val="95000"/>
              </a:lnSpc>
              <a:buNone/>
            </a:pPr>
            <a:r>
              <a:rPr lang="es-CL" altLang="en-US" sz="1400" dirty="0">
                <a:solidFill>
                  <a:schemeClr val="tx2"/>
                </a:solidFill>
                <a:latin typeface="Figtree" pitchFamily="34" charset="0"/>
                <a:ea typeface="Figtree" pitchFamily="34" charset="-122"/>
                <a:cs typeface="Figtree" pitchFamily="34" charset="-120"/>
              </a:rPr>
              <a:t>Aquí se entrega la exclusividad</a:t>
            </a:r>
            <a:endParaRPr lang="es-CL" sz="1400" dirty="0"/>
          </a:p>
        </p:txBody>
      </p:sp>
      <p:sp>
        <p:nvSpPr>
          <p:cNvPr id="23" name="Shape 21"/>
          <p:cNvSpPr/>
          <p:nvPr/>
        </p:nvSpPr>
        <p:spPr>
          <a:xfrm>
            <a:off x="4766950" y="3941064"/>
            <a:ext cx="1999427" cy="1600200"/>
          </a:xfrm>
          <a:prstGeom prst="rect">
            <a:avLst/>
          </a:prstGeom>
          <a:solidFill>
            <a:schemeClr val="bg2"/>
          </a:solidFill>
          <a:ln w="9525">
            <a:solidFill>
              <a:schemeClr val="accent5"/>
            </a:solidFill>
            <a:prstDash val="solid"/>
          </a:ln>
        </p:spPr>
      </p:sp>
      <p:sp>
        <p:nvSpPr>
          <p:cNvPr id="24" name="Text 22"/>
          <p:cNvSpPr txBox="1"/>
          <p:nvPr/>
        </p:nvSpPr>
        <p:spPr>
          <a:xfrm>
            <a:off x="4931542" y="4050792"/>
            <a:ext cx="1725107"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Logística de salida</a:t>
            </a:r>
            <a:endParaRPr lang="es-CL" sz="1600" dirty="0"/>
          </a:p>
        </p:txBody>
      </p:sp>
      <p:sp>
        <p:nvSpPr>
          <p:cNvPr id="25" name="Shape 23"/>
          <p:cNvSpPr/>
          <p:nvPr/>
        </p:nvSpPr>
        <p:spPr>
          <a:xfrm>
            <a:off x="6876105" y="3941064"/>
            <a:ext cx="1999427" cy="1600200"/>
          </a:xfrm>
          <a:prstGeom prst="rect">
            <a:avLst/>
          </a:prstGeom>
          <a:solidFill>
            <a:schemeClr val="bg2"/>
          </a:solidFill>
          <a:ln w="9525">
            <a:solidFill>
              <a:schemeClr val="accent5"/>
            </a:solidFill>
            <a:prstDash val="solid"/>
          </a:ln>
        </p:spPr>
      </p:sp>
      <p:sp>
        <p:nvSpPr>
          <p:cNvPr id="26" name="Text 24"/>
          <p:cNvSpPr txBox="1"/>
          <p:nvPr/>
        </p:nvSpPr>
        <p:spPr>
          <a:xfrm>
            <a:off x="7040697" y="4050792"/>
            <a:ext cx="1725107"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Marketing y ventas</a:t>
            </a:r>
            <a:endParaRPr lang="es-CL" sz="1600" dirty="0"/>
          </a:p>
        </p:txBody>
      </p:sp>
      <p:sp>
        <p:nvSpPr>
          <p:cNvPr id="27" name="Shape 25"/>
          <p:cNvSpPr/>
          <p:nvPr/>
        </p:nvSpPr>
        <p:spPr>
          <a:xfrm>
            <a:off x="8985260" y="3941064"/>
            <a:ext cx="1999427" cy="1600200"/>
          </a:xfrm>
          <a:prstGeom prst="rect">
            <a:avLst/>
          </a:prstGeom>
          <a:solidFill>
            <a:schemeClr val="bg2"/>
          </a:solidFill>
          <a:ln w="9525">
            <a:solidFill>
              <a:schemeClr val="accent5"/>
            </a:solidFill>
            <a:prstDash val="solid"/>
          </a:ln>
        </p:spPr>
      </p:sp>
      <p:sp>
        <p:nvSpPr>
          <p:cNvPr id="28" name="Text 26"/>
          <p:cNvSpPr txBox="1"/>
          <p:nvPr/>
        </p:nvSpPr>
        <p:spPr>
          <a:xfrm>
            <a:off x="9149852" y="4050792"/>
            <a:ext cx="1725107"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Servicio posventa</a:t>
            </a:r>
            <a:endParaRPr lang="es-CL" sz="1600" dirty="0"/>
          </a:p>
        </p:txBody>
      </p:sp>
      <p:sp>
        <p:nvSpPr>
          <p:cNvPr id="29" name="Shape 27"/>
          <p:cNvSpPr/>
          <p:nvPr/>
        </p:nvSpPr>
        <p:spPr>
          <a:xfrm>
            <a:off x="11140135" y="2350008"/>
            <a:ext cx="502920" cy="3191256"/>
          </a:xfrm>
          <a:prstGeom prst="rect">
            <a:avLst/>
          </a:prstGeom>
          <a:solidFill>
            <a:schemeClr val="accent6"/>
          </a:solidFill>
          <a:ln w="9525">
            <a:solidFill>
              <a:schemeClr val="accent5"/>
            </a:solidFill>
            <a:prstDash val="solid"/>
          </a:ln>
        </p:spPr>
      </p:sp>
      <p:sp>
        <p:nvSpPr>
          <p:cNvPr id="30" name="Text 28"/>
          <p:cNvSpPr txBox="1"/>
          <p:nvPr/>
        </p:nvSpPr>
        <p:spPr>
          <a:xfrm>
            <a:off x="11140135" y="2350008"/>
            <a:ext cx="502920" cy="3191256"/>
          </a:xfrm>
          <a:prstGeom prst="rect">
            <a:avLst/>
          </a:prstGeom>
          <a:noFill/>
          <a:ln/>
        </p:spPr>
        <p:txBody>
          <a:bodyPr wrap="square" lIns="0" tIns="0" rIns="0" bIns="0" rtlCol="0" anchor="ctr" vert="vert270"/>
          <a:lstStyle/>
          <a:p>
            <a:pPr algn="ctr" indent="0" marL="0">
              <a:buNone/>
            </a:pPr>
            <a:r>
              <a:rPr lang="es-CL" altLang="en-US" sz="1100" dirty="0">
                <a:solidFill>
                  <a:schemeClr val="tx2"/>
                </a:solidFill>
                <a:latin typeface="IBM Plex Mono" pitchFamily="34" charset="0"/>
                <a:ea typeface="IBM Plex Mono" pitchFamily="34" charset="-122"/>
                <a:cs typeface="IBM Plex Mono" pitchFamily="34" charset="-120"/>
              </a:rPr>
              <a:t>MARGEN</a:t>
            </a:r>
            <a:endParaRPr lang="es-CL" sz="1100" dirty="0"/>
          </a:p>
        </p:txBody>
      </p:sp>
      <p:sp>
        <p:nvSpPr>
          <p:cNvPr id="31" name="Text 29"/>
          <p:cNvSpPr txBox="1"/>
          <p:nvPr/>
        </p:nvSpPr>
        <p:spPr>
          <a:xfrm>
            <a:off x="548640" y="5568696"/>
            <a:ext cx="11094415" cy="310896"/>
          </a:xfrm>
          <a:prstGeom prst="rect">
            <a:avLst/>
          </a:prstGeom>
          <a:noFill/>
          <a:ln/>
        </p:spPr>
        <p:txBody>
          <a:bodyPr wrap="square" lIns="0" tIns="0" rIns="0" bIns="0" rtlCol="0" anchor="ctr"/>
          <a:lstStyle/>
          <a:p>
            <a:pPr indent="0" marL="0">
              <a:buNone/>
            </a:pPr>
            <a:r>
              <a:rPr lang="es-CL" altLang="en-US" sz="1500" b="1" dirty="0">
                <a:solidFill>
                  <a:schemeClr val="tx1"/>
                </a:solidFill>
                <a:latin typeface="Figtree" pitchFamily="34" charset="0"/>
                <a:ea typeface="Figtree" pitchFamily="34" charset="-122"/>
                <a:cs typeface="Figtree" pitchFamily="34" charset="-120"/>
              </a:rPr>
              <a:t>Externalizable: </a:t>
            </a:r>
            <a:pPr indent="0" marL="0">
              <a:buNone/>
            </a:pPr>
            <a:r>
              <a:rPr lang="es-CL" altLang="en-US" sz="1500" dirty="0">
                <a:solidFill>
                  <a:schemeClr val="tx2"/>
                </a:solidFill>
                <a:latin typeface="Figtree" pitchFamily="34" charset="0"/>
                <a:ea typeface="Figtree" pitchFamily="34" charset="-122"/>
                <a:cs typeface="Figtree" pitchFamily="34" charset="-120"/>
              </a:rPr>
              <a:t>contabilidad, aduana, transporte peligroso y remuneraciones.</a:t>
            </a:r>
            <a:endParaRPr lang="es-CL" sz="1500" dirty="0"/>
          </a:p>
        </p:txBody>
      </p:sp>
      <p:sp>
        <p:nvSpPr>
          <p:cNvPr id="32" name="Text 30"/>
          <p:cNvSpPr txBox="1"/>
          <p:nvPr/>
        </p:nvSpPr>
        <p:spPr>
          <a:xfrm>
            <a:off x="548640" y="5897880"/>
            <a:ext cx="11094415" cy="310896"/>
          </a:xfrm>
          <a:prstGeom prst="rect">
            <a:avLst/>
          </a:prstGeom>
          <a:noFill/>
          <a:ln/>
        </p:spPr>
        <p:txBody>
          <a:bodyPr wrap="square" lIns="0" tIns="0" rIns="0" bIns="0" rtlCol="0" anchor="ctr"/>
          <a:lstStyle/>
          <a:p>
            <a:pPr indent="0" marL="0">
              <a:buNone/>
            </a:pPr>
            <a:r>
              <a:rPr lang="es-CL" altLang="en-US" sz="1500" b="1" dirty="0">
                <a:solidFill>
                  <a:schemeClr val="tx1"/>
                </a:solidFill>
                <a:latin typeface="Figtree" pitchFamily="34" charset="0"/>
                <a:ea typeface="Figtree" pitchFamily="34" charset="-122"/>
                <a:cs typeface="Figtree" pitchFamily="34" charset="-120"/>
              </a:rPr>
              <a:t>Frente a competidores en operación: </a:t>
            </a:r>
            <a:pPr indent="0" marL="0">
              <a:buNone/>
            </a:pPr>
            <a:r>
              <a:rPr lang="es-CL" altLang="en-US" sz="1500" dirty="0">
                <a:solidFill>
                  <a:schemeClr val="tx2"/>
                </a:solidFill>
                <a:latin typeface="Figtree" pitchFamily="34" charset="0"/>
                <a:ea typeface="Figtree" pitchFamily="34" charset="-122"/>
                <a:cs typeface="Figtree" pitchFamily="34" charset="-120"/>
              </a:rPr>
              <a:t>3,00 en habilidades y 2,71 en riesgo (1 a 5); brecha de −1,29 y −1,43 con el líder.</a:t>
            </a:r>
            <a:endParaRPr lang="es-CL" sz="15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SÍNTESIS FODA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FODA: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fortalezas de diseño frente a amenazas decisivas.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instrumentos 02, 03, 05 y 06 del equipo; CAVEM (2026); CNE (2026); INE (2026); Banco Central de Chile (2026); BloombergNEF (2025).</a:t>
            </a:r>
            <a:endParaRPr lang="es-CL" sz="1100" dirty="0"/>
          </a:p>
        </p:txBody>
      </p:sp>
      <p:sp>
        <p:nvSpPr>
          <p:cNvPr id="5" name="Text 3"/>
          <p:cNvSpPr txBox="1"/>
          <p:nvPr/>
        </p:nvSpPr>
        <p:spPr>
          <a:xfrm>
            <a:off x="1051560" y="2395728"/>
            <a:ext cx="5195164" cy="274320"/>
          </a:xfrm>
          <a:prstGeom prst="rect">
            <a:avLst/>
          </a:prstGeom>
          <a:noFill/>
          <a:ln/>
        </p:spPr>
        <p:txBody>
          <a:bodyPr wrap="square" lIns="0" tIns="0" rIns="0" bIns="0" rtlCol="0" anchor="t"/>
          <a:lstStyle/>
          <a:p>
            <a:pPr algn="ct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 FAVOR</a:t>
            </a:r>
            <a:endParaRPr lang="es-CL" sz="1200" dirty="0"/>
          </a:p>
        </p:txBody>
      </p:sp>
      <p:sp>
        <p:nvSpPr>
          <p:cNvPr id="6" name="Text 4"/>
          <p:cNvSpPr txBox="1"/>
          <p:nvPr/>
        </p:nvSpPr>
        <p:spPr>
          <a:xfrm>
            <a:off x="6447892" y="2395728"/>
            <a:ext cx="5195164"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EN CONTRA</a:t>
            </a:r>
            <a:endParaRPr lang="es-CL" sz="1200" dirty="0"/>
          </a:p>
        </p:txBody>
      </p:sp>
      <p:sp>
        <p:nvSpPr>
          <p:cNvPr id="7" name="Text 5"/>
          <p:cNvSpPr txBox="1"/>
          <p:nvPr/>
        </p:nvSpPr>
        <p:spPr>
          <a:xfrm>
            <a:off x="548640" y="2715768"/>
            <a:ext cx="365760" cy="1659636"/>
          </a:xfrm>
          <a:prstGeom prst="rect">
            <a:avLst/>
          </a:prstGeom>
          <a:noFill/>
          <a:ln/>
        </p:spPr>
        <p:txBody>
          <a:bodyPr wrap="square" lIns="0" tIns="0" rIns="0" bIns="0" rtlCol="0" anchor="ctr" vert="vert270"/>
          <a:lstStyle/>
          <a:p>
            <a:pPr algn="ctr" indent="0" marL="0">
              <a:buNone/>
            </a:pPr>
            <a:r>
              <a:rPr lang="es-CL" altLang="en-US" sz="1200" dirty="0">
                <a:solidFill>
                  <a:schemeClr val="tx2"/>
                </a:solidFill>
                <a:latin typeface="IBM Plex Mono" pitchFamily="34" charset="0"/>
                <a:ea typeface="IBM Plex Mono" pitchFamily="34" charset="-122"/>
                <a:cs typeface="IBM Plex Mono" pitchFamily="34" charset="-120"/>
              </a:rPr>
              <a:t>INTERNO</a:t>
            </a:r>
            <a:endParaRPr lang="es-CL" sz="1200" dirty="0"/>
          </a:p>
        </p:txBody>
      </p:sp>
      <p:sp>
        <p:nvSpPr>
          <p:cNvPr id="8" name="Text 6"/>
          <p:cNvSpPr txBox="1"/>
          <p:nvPr/>
        </p:nvSpPr>
        <p:spPr>
          <a:xfrm>
            <a:off x="548640" y="4576572"/>
            <a:ext cx="365760" cy="1659636"/>
          </a:xfrm>
          <a:prstGeom prst="rect">
            <a:avLst/>
          </a:prstGeom>
          <a:noFill/>
          <a:ln/>
        </p:spPr>
        <p:txBody>
          <a:bodyPr wrap="square" lIns="0" tIns="0" rIns="0" bIns="0" rtlCol="0" anchor="ctr" vert="vert270"/>
          <a:lstStyle/>
          <a:p>
            <a:pPr algn="ctr" indent="0" marL="0">
              <a:buNone/>
            </a:pPr>
            <a:r>
              <a:rPr lang="es-CL" altLang="en-US" sz="1200" dirty="0">
                <a:solidFill>
                  <a:schemeClr val="tx2"/>
                </a:solidFill>
                <a:latin typeface="IBM Plex Mono" pitchFamily="34" charset="0"/>
                <a:ea typeface="IBM Plex Mono" pitchFamily="34" charset="-122"/>
                <a:cs typeface="IBM Plex Mono" pitchFamily="34" charset="-120"/>
              </a:rPr>
              <a:t>EXTERNO</a:t>
            </a:r>
            <a:endParaRPr lang="es-CL" sz="1200" dirty="0"/>
          </a:p>
        </p:txBody>
      </p:sp>
      <p:sp>
        <p:nvSpPr>
          <p:cNvPr id="9" name="Shape 7"/>
          <p:cNvSpPr/>
          <p:nvPr/>
        </p:nvSpPr>
        <p:spPr>
          <a:xfrm>
            <a:off x="1051560" y="2715768"/>
            <a:ext cx="5195164" cy="1659636"/>
          </a:xfrm>
          <a:prstGeom prst="rect">
            <a:avLst/>
          </a:prstGeom>
          <a:solidFill>
            <a:schemeClr val="bg2"/>
          </a:solidFill>
          <a:ln w="15875">
            <a:solidFill>
              <a:schemeClr val="accent1"/>
            </a:solidFill>
            <a:prstDash val="solid"/>
          </a:ln>
        </p:spPr>
      </p:sp>
      <p:sp>
        <p:nvSpPr>
          <p:cNvPr id="10" name="Shape 8"/>
          <p:cNvSpPr/>
          <p:nvPr/>
        </p:nvSpPr>
        <p:spPr>
          <a:xfrm>
            <a:off x="1051560" y="2715768"/>
            <a:ext cx="5195164" cy="54864"/>
          </a:xfrm>
          <a:prstGeom prst="rect">
            <a:avLst/>
          </a:prstGeom>
          <a:solidFill>
            <a:schemeClr val="accent1"/>
          </a:solidFill>
          <a:ln/>
        </p:spPr>
      </p:sp>
      <p:sp>
        <p:nvSpPr>
          <p:cNvPr id="11" name="Text 9"/>
          <p:cNvSpPr txBox="1"/>
          <p:nvPr/>
        </p:nvSpPr>
        <p:spPr>
          <a:xfrm>
            <a:off x="1252728" y="2852928"/>
            <a:ext cx="4829404" cy="274320"/>
          </a:xfrm>
          <a:prstGeom prst="rect">
            <a:avLst/>
          </a:prstGeom>
          <a:noFill/>
          <a:ln/>
        </p:spPr>
        <p:txBody>
          <a:bodyPr wrap="square" lIns="0" tIns="0" rIns="0" bIns="0" rtlCol="0" anchor="t"/>
          <a:lstStyle/>
          <a:p>
            <a:pP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FORTALEZAS · DE DISEÑO</a:t>
            </a:r>
            <a:endParaRPr lang="es-CL" sz="1300" dirty="0"/>
          </a:p>
        </p:txBody>
      </p:sp>
      <p:sp>
        <p:nvSpPr>
          <p:cNvPr id="12" name="Shape 10"/>
          <p:cNvSpPr/>
          <p:nvPr/>
        </p:nvSpPr>
        <p:spPr>
          <a:xfrm>
            <a:off x="1252728" y="3300984"/>
            <a:ext cx="109728" cy="109728"/>
          </a:xfrm>
          <a:prstGeom prst="rect">
            <a:avLst/>
          </a:prstGeom>
          <a:solidFill>
            <a:schemeClr val="accent1"/>
          </a:solidFill>
          <a:ln/>
        </p:spPr>
      </p:sp>
      <p:sp>
        <p:nvSpPr>
          <p:cNvPr id="13" name="Text 11"/>
          <p:cNvSpPr txBox="1"/>
          <p:nvPr/>
        </p:nvSpPr>
        <p:spPr>
          <a:xfrm>
            <a:off x="1463040" y="3172968"/>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Arquitectura trasera que conserva el motor</a:t>
            </a:r>
            <a:endParaRPr lang="es-CL" sz="1600" dirty="0"/>
          </a:p>
        </p:txBody>
      </p:sp>
      <p:sp>
        <p:nvSpPr>
          <p:cNvPr id="14" name="Shape 12"/>
          <p:cNvSpPr/>
          <p:nvPr/>
        </p:nvSpPr>
        <p:spPr>
          <a:xfrm>
            <a:off x="1252728" y="3685032"/>
            <a:ext cx="109728" cy="109728"/>
          </a:xfrm>
          <a:prstGeom prst="rect">
            <a:avLst/>
          </a:prstGeom>
          <a:solidFill>
            <a:schemeClr val="accent1"/>
          </a:solidFill>
          <a:ln/>
        </p:spPr>
      </p:sp>
      <p:sp>
        <p:nvSpPr>
          <p:cNvPr id="15" name="Text 13"/>
          <p:cNvSpPr txBox="1"/>
          <p:nvPr/>
        </p:nvSpPr>
        <p:spPr>
          <a:xfrm>
            <a:off x="1463040" y="3557016"/>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Proceso de taller en cinco etapas</a:t>
            </a:r>
            <a:endParaRPr lang="es-CL" sz="1600" dirty="0"/>
          </a:p>
        </p:txBody>
      </p:sp>
      <p:sp>
        <p:nvSpPr>
          <p:cNvPr id="16" name="Shape 14"/>
          <p:cNvSpPr/>
          <p:nvPr/>
        </p:nvSpPr>
        <p:spPr>
          <a:xfrm>
            <a:off x="1252728" y="4069080"/>
            <a:ext cx="109728" cy="109728"/>
          </a:xfrm>
          <a:prstGeom prst="rect">
            <a:avLst/>
          </a:prstGeom>
          <a:solidFill>
            <a:schemeClr val="accent1"/>
          </a:solidFill>
          <a:ln/>
        </p:spPr>
      </p:sp>
      <p:sp>
        <p:nvSpPr>
          <p:cNvPr id="17" name="Text 15"/>
          <p:cNvSpPr txBox="1"/>
          <p:nvPr/>
        </p:nvSpPr>
        <p:spPr>
          <a:xfrm>
            <a:off x="1463040" y="3941064"/>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Segmento delimitado: uso intensivo</a:t>
            </a:r>
            <a:endParaRPr lang="es-CL" sz="1600" dirty="0"/>
          </a:p>
        </p:txBody>
      </p:sp>
      <p:sp>
        <p:nvSpPr>
          <p:cNvPr id="18" name="Shape 16"/>
          <p:cNvSpPr/>
          <p:nvPr/>
        </p:nvSpPr>
        <p:spPr>
          <a:xfrm>
            <a:off x="6447892" y="2715768"/>
            <a:ext cx="5195164" cy="1659636"/>
          </a:xfrm>
          <a:prstGeom prst="rect">
            <a:avLst/>
          </a:prstGeom>
          <a:solidFill>
            <a:schemeClr val="bg2"/>
          </a:solidFill>
          <a:ln w="9525">
            <a:solidFill>
              <a:schemeClr val="tx1"/>
            </a:solidFill>
            <a:prstDash val="solid"/>
          </a:ln>
        </p:spPr>
      </p:sp>
      <p:sp>
        <p:nvSpPr>
          <p:cNvPr id="19" name="Shape 17"/>
          <p:cNvSpPr/>
          <p:nvPr/>
        </p:nvSpPr>
        <p:spPr>
          <a:xfrm>
            <a:off x="6447892" y="2715768"/>
            <a:ext cx="5195164" cy="54864"/>
          </a:xfrm>
          <a:prstGeom prst="rect">
            <a:avLst/>
          </a:prstGeom>
          <a:solidFill>
            <a:schemeClr val="tx1"/>
          </a:solidFill>
          <a:ln/>
        </p:spPr>
      </p:sp>
      <p:sp>
        <p:nvSpPr>
          <p:cNvPr id="20" name="Text 18"/>
          <p:cNvSpPr txBox="1"/>
          <p:nvPr/>
        </p:nvSpPr>
        <p:spPr>
          <a:xfrm>
            <a:off x="6649060" y="2852928"/>
            <a:ext cx="4829404" cy="274320"/>
          </a:xfrm>
          <a:prstGeom prst="rect">
            <a:avLst/>
          </a:prstGeom>
          <a:noFill/>
          <a:ln/>
        </p:spPr>
        <p:txBody>
          <a:bodyPr wrap="square" lIns="0" tIns="0" rIns="0" bIns="0" rtlCol="0" anchor="t"/>
          <a:lstStyle/>
          <a:p>
            <a:pPr indent="0" marL="0">
              <a:buNone/>
            </a:pPr>
            <a:r>
              <a:rPr lang="es-CL" altLang="en-US" sz="1300" b="1" spc="100" kern="0" dirty="0">
                <a:solidFill>
                  <a:schemeClr val="tx1"/>
                </a:solidFill>
                <a:latin typeface="IBM Plex Mono" pitchFamily="34" charset="0"/>
                <a:ea typeface="IBM Plex Mono" pitchFamily="34" charset="-122"/>
                <a:cs typeface="IBM Plex Mono" pitchFamily="34" charset="-120"/>
              </a:rPr>
              <a:t>DEBILIDADES · DE EJECUCIÓN</a:t>
            </a:r>
            <a:endParaRPr lang="es-CL" sz="1300" dirty="0"/>
          </a:p>
        </p:txBody>
      </p:sp>
      <p:sp>
        <p:nvSpPr>
          <p:cNvPr id="21" name="Shape 19"/>
          <p:cNvSpPr/>
          <p:nvPr/>
        </p:nvSpPr>
        <p:spPr>
          <a:xfrm>
            <a:off x="6649060" y="3300984"/>
            <a:ext cx="109728" cy="109728"/>
          </a:xfrm>
          <a:prstGeom prst="rect">
            <a:avLst/>
          </a:prstGeom>
          <a:solidFill>
            <a:schemeClr val="tx1"/>
          </a:solidFill>
          <a:ln/>
        </p:spPr>
      </p:sp>
      <p:sp>
        <p:nvSpPr>
          <p:cNvPr id="22" name="Text 20"/>
          <p:cNvSpPr txBox="1"/>
          <p:nvPr/>
        </p:nvSpPr>
        <p:spPr>
          <a:xfrm>
            <a:off x="6859372" y="3172968"/>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Sin ensayo ni homologación; biblioteca vacía</a:t>
            </a:r>
            <a:endParaRPr lang="es-CL" sz="1600" dirty="0"/>
          </a:p>
        </p:txBody>
      </p:sp>
      <p:sp>
        <p:nvSpPr>
          <p:cNvPr id="23" name="Shape 21"/>
          <p:cNvSpPr/>
          <p:nvPr/>
        </p:nvSpPr>
        <p:spPr>
          <a:xfrm>
            <a:off x="6649060" y="3685032"/>
            <a:ext cx="109728" cy="109728"/>
          </a:xfrm>
          <a:prstGeom prst="rect">
            <a:avLst/>
          </a:prstGeom>
          <a:solidFill>
            <a:schemeClr val="tx1"/>
          </a:solidFill>
          <a:ln/>
        </p:spPr>
      </p:sp>
      <p:sp>
        <p:nvSpPr>
          <p:cNvPr id="24" name="Text 22"/>
          <p:cNvSpPr txBox="1"/>
          <p:nvPr/>
        </p:nvSpPr>
        <p:spPr>
          <a:xfrm>
            <a:off x="6859372" y="3557016"/>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Sin técnicos habilitados ni retención</a:t>
            </a:r>
            <a:endParaRPr lang="es-CL" sz="1600" dirty="0"/>
          </a:p>
        </p:txBody>
      </p:sp>
      <p:sp>
        <p:nvSpPr>
          <p:cNvPr id="25" name="Shape 23"/>
          <p:cNvSpPr/>
          <p:nvPr/>
        </p:nvSpPr>
        <p:spPr>
          <a:xfrm>
            <a:off x="6649060" y="4069080"/>
            <a:ext cx="109728" cy="109728"/>
          </a:xfrm>
          <a:prstGeom prst="rect">
            <a:avLst/>
          </a:prstGeom>
          <a:solidFill>
            <a:schemeClr val="tx1"/>
          </a:solidFill>
          <a:ln/>
        </p:spPr>
      </p:sp>
      <p:sp>
        <p:nvSpPr>
          <p:cNvPr id="26" name="Text 24"/>
          <p:cNvSpPr txBox="1"/>
          <p:nvPr/>
        </p:nvSpPr>
        <p:spPr>
          <a:xfrm>
            <a:off x="6859372" y="3941064"/>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Compras sin cobertura cambiaria; marca sin casos</a:t>
            </a:r>
            <a:endParaRPr lang="es-CL" sz="1600" dirty="0"/>
          </a:p>
        </p:txBody>
      </p:sp>
      <p:sp>
        <p:nvSpPr>
          <p:cNvPr id="27" name="Shape 25"/>
          <p:cNvSpPr/>
          <p:nvPr/>
        </p:nvSpPr>
        <p:spPr>
          <a:xfrm>
            <a:off x="1051560" y="4576572"/>
            <a:ext cx="5195164" cy="1659636"/>
          </a:xfrm>
          <a:prstGeom prst="rect">
            <a:avLst/>
          </a:prstGeom>
          <a:solidFill>
            <a:schemeClr val="bg2"/>
          </a:solidFill>
          <a:ln w="15875">
            <a:solidFill>
              <a:schemeClr val="accent1"/>
            </a:solidFill>
            <a:prstDash val="solid"/>
          </a:ln>
        </p:spPr>
      </p:sp>
      <p:sp>
        <p:nvSpPr>
          <p:cNvPr id="28" name="Shape 26"/>
          <p:cNvSpPr/>
          <p:nvPr/>
        </p:nvSpPr>
        <p:spPr>
          <a:xfrm>
            <a:off x="1051560" y="4576572"/>
            <a:ext cx="5195164" cy="54864"/>
          </a:xfrm>
          <a:prstGeom prst="rect">
            <a:avLst/>
          </a:prstGeom>
          <a:solidFill>
            <a:schemeClr val="accent1"/>
          </a:solidFill>
          <a:ln/>
        </p:spPr>
      </p:sp>
      <p:sp>
        <p:nvSpPr>
          <p:cNvPr id="29" name="Text 27"/>
          <p:cNvSpPr txBox="1"/>
          <p:nvPr/>
        </p:nvSpPr>
        <p:spPr>
          <a:xfrm>
            <a:off x="1252728" y="4713732"/>
            <a:ext cx="4829404" cy="274320"/>
          </a:xfrm>
          <a:prstGeom prst="rect">
            <a:avLst/>
          </a:prstGeom>
          <a:noFill/>
          <a:ln/>
        </p:spPr>
        <p:txBody>
          <a:bodyPr wrap="square" lIns="0" tIns="0" rIns="0" bIns="0" rtlCol="0" anchor="t"/>
          <a:lstStyle/>
          <a:p>
            <a:pP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OPORTUNIDADES</a:t>
            </a:r>
            <a:endParaRPr lang="es-CL" sz="1300" dirty="0"/>
          </a:p>
        </p:txBody>
      </p:sp>
      <p:sp>
        <p:nvSpPr>
          <p:cNvPr id="30" name="Shape 28"/>
          <p:cNvSpPr/>
          <p:nvPr/>
        </p:nvSpPr>
        <p:spPr>
          <a:xfrm>
            <a:off x="1252728" y="5161788"/>
            <a:ext cx="109728" cy="109728"/>
          </a:xfrm>
          <a:prstGeom prst="rect">
            <a:avLst/>
          </a:prstGeom>
          <a:solidFill>
            <a:schemeClr val="accent1"/>
          </a:solidFill>
          <a:ln/>
        </p:spPr>
      </p:sp>
      <p:sp>
        <p:nvSpPr>
          <p:cNvPr id="31" name="Text 29"/>
          <p:cNvSpPr txBox="1"/>
          <p:nvPr/>
        </p:nvSpPr>
        <p:spPr>
          <a:xfrm>
            <a:off x="1463040" y="5033772"/>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Se conserva el auto: 3,5 usados por cada nuevo</a:t>
            </a:r>
            <a:endParaRPr lang="es-CL" sz="1600" dirty="0"/>
          </a:p>
        </p:txBody>
      </p:sp>
      <p:sp>
        <p:nvSpPr>
          <p:cNvPr id="32" name="Shape 30"/>
          <p:cNvSpPr/>
          <p:nvPr/>
        </p:nvSpPr>
        <p:spPr>
          <a:xfrm>
            <a:off x="1252728" y="5545836"/>
            <a:ext cx="109728" cy="109728"/>
          </a:xfrm>
          <a:prstGeom prst="rect">
            <a:avLst/>
          </a:prstGeom>
          <a:solidFill>
            <a:schemeClr val="accent1"/>
          </a:solidFill>
          <a:ln/>
        </p:spPr>
      </p:sp>
      <p:sp>
        <p:nvSpPr>
          <p:cNvPr id="33" name="Text 31"/>
          <p:cNvSpPr txBox="1"/>
          <p:nvPr/>
        </p:nvSpPr>
        <p:spPr>
          <a:xfrm>
            <a:off x="1463040" y="5417820"/>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La bencina 93 subió $370 por litro en marzo</a:t>
            </a:r>
            <a:endParaRPr lang="es-CL" sz="1600" dirty="0"/>
          </a:p>
        </p:txBody>
      </p:sp>
      <p:sp>
        <p:nvSpPr>
          <p:cNvPr id="34" name="Shape 32"/>
          <p:cNvSpPr/>
          <p:nvPr/>
        </p:nvSpPr>
        <p:spPr>
          <a:xfrm>
            <a:off x="1252728" y="5929884"/>
            <a:ext cx="109728" cy="109728"/>
          </a:xfrm>
          <a:prstGeom prst="rect">
            <a:avLst/>
          </a:prstGeom>
          <a:solidFill>
            <a:schemeClr val="accent1"/>
          </a:solidFill>
          <a:ln/>
        </p:spPr>
      </p:sp>
      <p:sp>
        <p:nvSpPr>
          <p:cNvPr id="35" name="Text 33"/>
          <p:cNvSpPr txBox="1"/>
          <p:nvPr/>
        </p:nvSpPr>
        <p:spPr>
          <a:xfrm>
            <a:off x="1463040" y="5801868"/>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Packs LFP a US$81/kWh, promedio mundial</a:t>
            </a:r>
            <a:endParaRPr lang="es-CL" sz="1600" dirty="0"/>
          </a:p>
        </p:txBody>
      </p:sp>
      <p:sp>
        <p:nvSpPr>
          <p:cNvPr id="36" name="Shape 34"/>
          <p:cNvSpPr/>
          <p:nvPr/>
        </p:nvSpPr>
        <p:spPr>
          <a:xfrm>
            <a:off x="6447892" y="4576572"/>
            <a:ext cx="5195164" cy="1659636"/>
          </a:xfrm>
          <a:prstGeom prst="rect">
            <a:avLst/>
          </a:prstGeom>
          <a:solidFill>
            <a:schemeClr val="bg2"/>
          </a:solidFill>
          <a:ln w="9525">
            <a:solidFill>
              <a:schemeClr val="tx1"/>
            </a:solidFill>
            <a:prstDash val="solid"/>
          </a:ln>
        </p:spPr>
      </p:sp>
      <p:sp>
        <p:nvSpPr>
          <p:cNvPr id="37" name="Shape 35"/>
          <p:cNvSpPr/>
          <p:nvPr/>
        </p:nvSpPr>
        <p:spPr>
          <a:xfrm>
            <a:off x="6447892" y="4576572"/>
            <a:ext cx="5195164" cy="54864"/>
          </a:xfrm>
          <a:prstGeom prst="rect">
            <a:avLst/>
          </a:prstGeom>
          <a:solidFill>
            <a:schemeClr val="tx1"/>
          </a:solidFill>
          <a:ln/>
        </p:spPr>
      </p:sp>
      <p:sp>
        <p:nvSpPr>
          <p:cNvPr id="38" name="Text 36"/>
          <p:cNvSpPr txBox="1"/>
          <p:nvPr/>
        </p:nvSpPr>
        <p:spPr>
          <a:xfrm>
            <a:off x="6649060" y="4713732"/>
            <a:ext cx="4829404" cy="274320"/>
          </a:xfrm>
          <a:prstGeom prst="rect">
            <a:avLst/>
          </a:prstGeom>
          <a:noFill/>
          <a:ln/>
        </p:spPr>
        <p:txBody>
          <a:bodyPr wrap="square" lIns="0" tIns="0" rIns="0" bIns="0" rtlCol="0" anchor="t"/>
          <a:lstStyle/>
          <a:p>
            <a:pPr indent="0" marL="0">
              <a:buNone/>
            </a:pPr>
            <a:r>
              <a:rPr lang="es-CL" altLang="en-US" sz="1300" b="1" spc="100" kern="0" dirty="0">
                <a:solidFill>
                  <a:schemeClr val="tx1"/>
                </a:solidFill>
                <a:latin typeface="IBM Plex Mono" pitchFamily="34" charset="0"/>
                <a:ea typeface="IBM Plex Mono" pitchFamily="34" charset="-122"/>
                <a:cs typeface="IBM Plex Mono" pitchFamily="34" charset="-120"/>
              </a:rPr>
              <a:t>AMENAZAS</a:t>
            </a:r>
            <a:endParaRPr lang="es-CL" sz="1300" dirty="0"/>
          </a:p>
        </p:txBody>
      </p:sp>
      <p:sp>
        <p:nvSpPr>
          <p:cNvPr id="39" name="Shape 37"/>
          <p:cNvSpPr/>
          <p:nvPr/>
        </p:nvSpPr>
        <p:spPr>
          <a:xfrm>
            <a:off x="6649060" y="5161788"/>
            <a:ext cx="109728" cy="109728"/>
          </a:xfrm>
          <a:prstGeom prst="rect">
            <a:avLst/>
          </a:prstGeom>
          <a:solidFill>
            <a:schemeClr val="tx1"/>
          </a:solidFill>
          <a:ln/>
        </p:spPr>
      </p:sp>
      <p:sp>
        <p:nvSpPr>
          <p:cNvPr id="40" name="Text 38"/>
          <p:cNvSpPr txBox="1"/>
          <p:nvPr/>
        </p:nvSpPr>
        <p:spPr>
          <a:xfrm>
            <a:off x="6859372" y="5033772"/>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Ley N° 21.793 sin reglamento</a:t>
            </a:r>
            <a:endParaRPr lang="es-CL" sz="1600" dirty="0"/>
          </a:p>
        </p:txBody>
      </p:sp>
      <p:sp>
        <p:nvSpPr>
          <p:cNvPr id="41" name="Shape 39"/>
          <p:cNvSpPr/>
          <p:nvPr/>
        </p:nvSpPr>
        <p:spPr>
          <a:xfrm>
            <a:off x="6649060" y="5545836"/>
            <a:ext cx="109728" cy="109728"/>
          </a:xfrm>
          <a:prstGeom prst="rect">
            <a:avLst/>
          </a:prstGeom>
          <a:solidFill>
            <a:schemeClr val="tx1"/>
          </a:solidFill>
          <a:ln/>
        </p:spPr>
      </p:sp>
      <p:sp>
        <p:nvSpPr>
          <p:cNvPr id="42" name="Text 40"/>
          <p:cNvSpPr txBox="1"/>
          <p:nvPr/>
        </p:nvSpPr>
        <p:spPr>
          <a:xfrm>
            <a:off x="6859372" y="5417820"/>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Dólar sobre $970 y kit 100% importado</a:t>
            </a:r>
            <a:endParaRPr lang="es-CL" sz="1600" dirty="0"/>
          </a:p>
        </p:txBody>
      </p:sp>
      <p:sp>
        <p:nvSpPr>
          <p:cNvPr id="43" name="Shape 41"/>
          <p:cNvSpPr/>
          <p:nvPr/>
        </p:nvSpPr>
        <p:spPr>
          <a:xfrm>
            <a:off x="6649060" y="5929884"/>
            <a:ext cx="109728" cy="109728"/>
          </a:xfrm>
          <a:prstGeom prst="rect">
            <a:avLst/>
          </a:prstGeom>
          <a:solidFill>
            <a:schemeClr val="tx1"/>
          </a:solidFill>
          <a:ln/>
        </p:spPr>
      </p:sp>
      <p:sp>
        <p:nvSpPr>
          <p:cNvPr id="44" name="Text 42"/>
          <p:cNvSpPr txBox="1"/>
          <p:nvPr/>
        </p:nvSpPr>
        <p:spPr>
          <a:xfrm>
            <a:off x="6859372" y="5801868"/>
            <a:ext cx="4646524"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Menor ingreso y opción de posponer</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DIAGNÓSTICO INTEGRADO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TRES BRECHAS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deciden si el negocio funciona.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a partir del diagnóstico de las láminas 6 a 11.</a:t>
            </a:r>
            <a:endParaRPr lang="es-CL" sz="1100" dirty="0"/>
          </a:p>
        </p:txBody>
      </p:sp>
      <p:pic>
        <p:nvPicPr>
          <p:cNvPr id="5" name="Image 0" descr="C:\Users\Usuario\Documents\GitHub\lumine\control-3\generador\assets\brillo.png">    </p:cNvPr>
          <p:cNvPicPr>
            <a:picLocks noChangeAspect="1"/>
          </p:cNvPicPr>
          <p:nvPr/>
        </p:nvPicPr>
        <p:blipFill>
          <a:blip r:embed="rId1"/>
          <a:stretch>
            <a:fillRect/>
          </a:stretch>
        </p:blipFill>
        <p:spPr>
          <a:xfrm>
            <a:off x="182880" y="2139696"/>
            <a:ext cx="4246778" cy="3758184"/>
          </a:xfrm>
          <a:prstGeom prst="rect">
            <a:avLst/>
          </a:prstGeom>
        </p:spPr>
      </p:pic>
      <p:sp>
        <p:nvSpPr>
          <p:cNvPr id="6" name="Shape 3"/>
          <p:cNvSpPr/>
          <p:nvPr/>
        </p:nvSpPr>
        <p:spPr>
          <a:xfrm>
            <a:off x="548640" y="2395728"/>
            <a:ext cx="3515258" cy="3246120"/>
          </a:xfrm>
          <a:prstGeom prst="rect">
            <a:avLst/>
          </a:prstGeom>
          <a:solidFill>
            <a:srgbClr val="0B1A22"/>
          </a:solidFill>
          <a:ln w="15875">
            <a:solidFill>
              <a:schemeClr val="accent1"/>
            </a:solidFill>
            <a:prstDash val="solid"/>
          </a:ln>
        </p:spPr>
      </p:sp>
      <p:sp>
        <p:nvSpPr>
          <p:cNvPr id="7" name="Shape 4"/>
          <p:cNvSpPr/>
          <p:nvPr/>
        </p:nvSpPr>
        <p:spPr>
          <a:xfrm>
            <a:off x="493776" y="2340864"/>
            <a:ext cx="155448" cy="0"/>
          </a:xfrm>
          <a:prstGeom prst="line">
            <a:avLst/>
          </a:prstGeom>
          <a:noFill/>
          <a:ln w="15875">
            <a:solidFill>
              <a:schemeClr val="accent1"/>
            </a:solidFill>
            <a:prstDash val="solid"/>
          </a:ln>
        </p:spPr>
      </p:sp>
      <p:sp>
        <p:nvSpPr>
          <p:cNvPr id="8" name="Shape 5"/>
          <p:cNvSpPr/>
          <p:nvPr/>
        </p:nvSpPr>
        <p:spPr>
          <a:xfrm>
            <a:off x="493776" y="2340864"/>
            <a:ext cx="0" cy="155448"/>
          </a:xfrm>
          <a:prstGeom prst="line">
            <a:avLst/>
          </a:prstGeom>
          <a:noFill/>
          <a:ln w="15875">
            <a:solidFill>
              <a:schemeClr val="accent1"/>
            </a:solidFill>
            <a:prstDash val="solid"/>
          </a:ln>
        </p:spPr>
      </p:sp>
      <p:sp>
        <p:nvSpPr>
          <p:cNvPr id="9" name="Shape 6"/>
          <p:cNvSpPr/>
          <p:nvPr/>
        </p:nvSpPr>
        <p:spPr>
          <a:xfrm>
            <a:off x="3963314" y="2340864"/>
            <a:ext cx="155448" cy="0"/>
          </a:xfrm>
          <a:prstGeom prst="line">
            <a:avLst/>
          </a:prstGeom>
          <a:noFill/>
          <a:ln w="15875">
            <a:solidFill>
              <a:schemeClr val="accent1"/>
            </a:solidFill>
            <a:prstDash val="solid"/>
          </a:ln>
        </p:spPr>
      </p:sp>
      <p:sp>
        <p:nvSpPr>
          <p:cNvPr id="10" name="Shape 7"/>
          <p:cNvSpPr/>
          <p:nvPr/>
        </p:nvSpPr>
        <p:spPr>
          <a:xfrm>
            <a:off x="4118762" y="2340864"/>
            <a:ext cx="0" cy="155448"/>
          </a:xfrm>
          <a:prstGeom prst="line">
            <a:avLst/>
          </a:prstGeom>
          <a:noFill/>
          <a:ln w="15875">
            <a:solidFill>
              <a:schemeClr val="accent1"/>
            </a:solidFill>
            <a:prstDash val="solid"/>
          </a:ln>
        </p:spPr>
      </p:sp>
      <p:sp>
        <p:nvSpPr>
          <p:cNvPr id="11" name="Shape 8"/>
          <p:cNvSpPr/>
          <p:nvPr/>
        </p:nvSpPr>
        <p:spPr>
          <a:xfrm>
            <a:off x="493776" y="5696712"/>
            <a:ext cx="155448" cy="0"/>
          </a:xfrm>
          <a:prstGeom prst="line">
            <a:avLst/>
          </a:prstGeom>
          <a:noFill/>
          <a:ln w="15875">
            <a:solidFill>
              <a:schemeClr val="accent1"/>
            </a:solidFill>
            <a:prstDash val="solid"/>
          </a:ln>
        </p:spPr>
      </p:sp>
      <p:sp>
        <p:nvSpPr>
          <p:cNvPr id="12" name="Shape 9"/>
          <p:cNvSpPr/>
          <p:nvPr/>
        </p:nvSpPr>
        <p:spPr>
          <a:xfrm>
            <a:off x="493776" y="5541264"/>
            <a:ext cx="0" cy="155448"/>
          </a:xfrm>
          <a:prstGeom prst="line">
            <a:avLst/>
          </a:prstGeom>
          <a:noFill/>
          <a:ln w="15875">
            <a:solidFill>
              <a:schemeClr val="accent1"/>
            </a:solidFill>
            <a:prstDash val="solid"/>
          </a:ln>
        </p:spPr>
      </p:sp>
      <p:sp>
        <p:nvSpPr>
          <p:cNvPr id="13" name="Shape 10"/>
          <p:cNvSpPr/>
          <p:nvPr/>
        </p:nvSpPr>
        <p:spPr>
          <a:xfrm>
            <a:off x="3963314" y="5696712"/>
            <a:ext cx="155448" cy="0"/>
          </a:xfrm>
          <a:prstGeom prst="line">
            <a:avLst/>
          </a:prstGeom>
          <a:noFill/>
          <a:ln w="15875">
            <a:solidFill>
              <a:schemeClr val="accent1"/>
            </a:solidFill>
            <a:prstDash val="solid"/>
          </a:ln>
        </p:spPr>
      </p:sp>
      <p:sp>
        <p:nvSpPr>
          <p:cNvPr id="14" name="Shape 11"/>
          <p:cNvSpPr/>
          <p:nvPr/>
        </p:nvSpPr>
        <p:spPr>
          <a:xfrm>
            <a:off x="4118762" y="5541264"/>
            <a:ext cx="0" cy="155448"/>
          </a:xfrm>
          <a:prstGeom prst="line">
            <a:avLst/>
          </a:prstGeom>
          <a:noFill/>
          <a:ln w="15875">
            <a:solidFill>
              <a:schemeClr val="accent1"/>
            </a:solidFill>
            <a:prstDash val="solid"/>
          </a:ln>
        </p:spPr>
      </p:sp>
      <p:sp>
        <p:nvSpPr>
          <p:cNvPr id="15" name="Shape 12"/>
          <p:cNvSpPr/>
          <p:nvPr/>
        </p:nvSpPr>
        <p:spPr>
          <a:xfrm>
            <a:off x="777240" y="2624328"/>
            <a:ext cx="457200" cy="402336"/>
          </a:xfrm>
          <a:prstGeom prst="rect">
            <a:avLst/>
          </a:prstGeom>
          <a:solidFill>
            <a:schemeClr val="accent1"/>
          </a:solidFill>
          <a:ln/>
        </p:spPr>
      </p:sp>
      <p:sp>
        <p:nvSpPr>
          <p:cNvPr id="16" name="Text 13"/>
          <p:cNvSpPr txBox="1"/>
          <p:nvPr/>
        </p:nvSpPr>
        <p:spPr>
          <a:xfrm>
            <a:off x="777240" y="2624328"/>
            <a:ext cx="457200" cy="402336"/>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1</a:t>
            </a:r>
            <a:endParaRPr lang="es-CL" sz="1800" dirty="0"/>
          </a:p>
        </p:txBody>
      </p:sp>
      <p:sp>
        <p:nvSpPr>
          <p:cNvPr id="17" name="Text 14"/>
          <p:cNvSpPr txBox="1"/>
          <p:nvPr/>
        </p:nvSpPr>
        <p:spPr>
          <a:xfrm>
            <a:off x="777240" y="3172968"/>
            <a:ext cx="3103778" cy="502920"/>
          </a:xfrm>
          <a:prstGeom prst="rect">
            <a:avLst/>
          </a:prstGeom>
          <a:noFill/>
          <a:ln/>
        </p:spPr>
        <p:txBody>
          <a:bodyPr wrap="square" lIns="0" tIns="0" rIns="0" bIns="0" rtlCol="0" anchor="t"/>
          <a:lstStyle/>
          <a:p>
            <a:pPr indent="0" marL="0">
              <a:buNone/>
            </a:pPr>
            <a:r>
              <a:rPr lang="es-CL" altLang="en-US" sz="2200" b="1" dirty="0">
                <a:solidFill>
                  <a:schemeClr val="tx1"/>
                </a:solidFill>
                <a:latin typeface="Figtree" pitchFamily="34" charset="0"/>
                <a:ea typeface="Figtree" pitchFamily="34" charset="-122"/>
                <a:cs typeface="Figtree" pitchFamily="34" charset="-120"/>
              </a:rPr>
              <a:t>Habilitación formal</a:t>
            </a:r>
            <a:endParaRPr lang="es-CL" sz="2200" dirty="0"/>
          </a:p>
        </p:txBody>
      </p:sp>
      <p:sp>
        <p:nvSpPr>
          <p:cNvPr id="18" name="Shape 15"/>
          <p:cNvSpPr/>
          <p:nvPr/>
        </p:nvSpPr>
        <p:spPr>
          <a:xfrm>
            <a:off x="777240" y="3813048"/>
            <a:ext cx="3058058" cy="0"/>
          </a:xfrm>
          <a:prstGeom prst="line">
            <a:avLst/>
          </a:prstGeom>
          <a:noFill/>
          <a:ln w="9525">
            <a:solidFill>
              <a:schemeClr val="accent5"/>
            </a:solidFill>
            <a:prstDash val="solid"/>
          </a:ln>
        </p:spPr>
      </p:sp>
      <p:sp>
        <p:nvSpPr>
          <p:cNvPr id="19" name="Text 16"/>
          <p:cNvSpPr txBox="1"/>
          <p:nvPr/>
        </p:nvSpPr>
        <p:spPr>
          <a:xfrm>
            <a:off x="777240" y="3858768"/>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Vía legal aplicable</a:t>
            </a:r>
            <a:endParaRPr lang="es-CL" sz="1700" dirty="0"/>
          </a:p>
        </p:txBody>
      </p:sp>
      <p:sp>
        <p:nvSpPr>
          <p:cNvPr id="20" name="Shape 17"/>
          <p:cNvSpPr/>
          <p:nvPr/>
        </p:nvSpPr>
        <p:spPr>
          <a:xfrm>
            <a:off x="777240" y="4471416"/>
            <a:ext cx="3058058" cy="0"/>
          </a:xfrm>
          <a:prstGeom prst="line">
            <a:avLst/>
          </a:prstGeom>
          <a:noFill/>
          <a:ln w="9525">
            <a:solidFill>
              <a:schemeClr val="accent5"/>
            </a:solidFill>
            <a:prstDash val="solid"/>
          </a:ln>
        </p:spPr>
      </p:sp>
      <p:sp>
        <p:nvSpPr>
          <p:cNvPr id="21" name="Text 18"/>
          <p:cNvSpPr txBox="1"/>
          <p:nvPr/>
        </p:nvSpPr>
        <p:spPr>
          <a:xfrm>
            <a:off x="777240" y="4517136"/>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Aseguradoras y plantas de revisión</a:t>
            </a:r>
            <a:endParaRPr lang="es-CL" sz="1700" dirty="0"/>
          </a:p>
        </p:txBody>
      </p:sp>
      <p:sp>
        <p:nvSpPr>
          <p:cNvPr id="22" name="Text 19"/>
          <p:cNvSpPr txBox="1"/>
          <p:nvPr/>
        </p:nvSpPr>
        <p:spPr>
          <a:xfrm>
            <a:off x="777240" y="5257800"/>
            <a:ext cx="3103778" cy="274320"/>
          </a:xfrm>
          <a:prstGeom prst="rect">
            <a:avLst/>
          </a:prstGeom>
          <a:noFill/>
          <a:ln/>
        </p:spPr>
        <p:txBody>
          <a:bodyPr wrap="square" lIns="0" tIns="0" rIns="0" bIns="0" rtlCol="0" anchor="t"/>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VIENE DE · PEST · LEY · FCE</a:t>
            </a:r>
            <a:endParaRPr lang="es-CL" sz="1100" dirty="0"/>
          </a:p>
        </p:txBody>
      </p:sp>
      <p:sp>
        <p:nvSpPr>
          <p:cNvPr id="23" name="Shape 20"/>
          <p:cNvSpPr/>
          <p:nvPr/>
        </p:nvSpPr>
        <p:spPr>
          <a:xfrm>
            <a:off x="4338218" y="2395728"/>
            <a:ext cx="3515258" cy="3246120"/>
          </a:xfrm>
          <a:prstGeom prst="rect">
            <a:avLst/>
          </a:prstGeom>
          <a:solidFill>
            <a:schemeClr val="bg2"/>
          </a:solidFill>
          <a:ln w="12700">
            <a:solidFill>
              <a:schemeClr val="accent1"/>
            </a:solidFill>
            <a:prstDash val="solid"/>
          </a:ln>
        </p:spPr>
      </p:sp>
      <p:sp>
        <p:nvSpPr>
          <p:cNvPr id="24" name="Shape 21"/>
          <p:cNvSpPr/>
          <p:nvPr/>
        </p:nvSpPr>
        <p:spPr>
          <a:xfrm>
            <a:off x="4566818" y="2624328"/>
            <a:ext cx="457200" cy="402336"/>
          </a:xfrm>
          <a:prstGeom prst="rect">
            <a:avLst/>
          </a:prstGeom>
          <a:solidFill>
            <a:schemeClr val="accent1"/>
          </a:solidFill>
          <a:ln/>
        </p:spPr>
      </p:sp>
      <p:sp>
        <p:nvSpPr>
          <p:cNvPr id="25" name="Text 22"/>
          <p:cNvSpPr txBox="1"/>
          <p:nvPr/>
        </p:nvSpPr>
        <p:spPr>
          <a:xfrm>
            <a:off x="4566818" y="2624328"/>
            <a:ext cx="457200" cy="402336"/>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2</a:t>
            </a:r>
            <a:endParaRPr lang="es-CL" sz="1800" dirty="0"/>
          </a:p>
        </p:txBody>
      </p:sp>
      <p:sp>
        <p:nvSpPr>
          <p:cNvPr id="26" name="Text 23"/>
          <p:cNvSpPr txBox="1"/>
          <p:nvPr/>
        </p:nvSpPr>
        <p:spPr>
          <a:xfrm>
            <a:off x="4566818" y="3172968"/>
            <a:ext cx="3103778" cy="502920"/>
          </a:xfrm>
          <a:prstGeom prst="rect">
            <a:avLst/>
          </a:prstGeom>
          <a:noFill/>
          <a:ln/>
        </p:spPr>
        <p:txBody>
          <a:bodyPr wrap="square" lIns="0" tIns="0" rIns="0" bIns="0" rtlCol="0" anchor="t"/>
          <a:lstStyle/>
          <a:p>
            <a:pPr indent="0" marL="0">
              <a:buNone/>
            </a:pPr>
            <a:r>
              <a:rPr lang="es-CL" altLang="en-US" sz="2200" b="1" dirty="0">
                <a:solidFill>
                  <a:schemeClr val="tx1"/>
                </a:solidFill>
                <a:latin typeface="Figtree" pitchFamily="34" charset="0"/>
                <a:ea typeface="Figtree" pitchFamily="34" charset="-122"/>
                <a:cs typeface="Figtree" pitchFamily="34" charset="-120"/>
              </a:rPr>
              <a:t>Valor frente a posponer</a:t>
            </a:r>
            <a:endParaRPr lang="es-CL" sz="2200" dirty="0"/>
          </a:p>
        </p:txBody>
      </p:sp>
      <p:sp>
        <p:nvSpPr>
          <p:cNvPr id="27" name="Shape 24"/>
          <p:cNvSpPr/>
          <p:nvPr/>
        </p:nvSpPr>
        <p:spPr>
          <a:xfrm>
            <a:off x="4566818" y="3813048"/>
            <a:ext cx="3058058" cy="0"/>
          </a:xfrm>
          <a:prstGeom prst="line">
            <a:avLst/>
          </a:prstGeom>
          <a:noFill/>
          <a:ln w="9525">
            <a:solidFill>
              <a:schemeClr val="accent5"/>
            </a:solidFill>
            <a:prstDash val="solid"/>
          </a:ln>
        </p:spPr>
      </p:sp>
      <p:sp>
        <p:nvSpPr>
          <p:cNvPr id="28" name="Text 25"/>
          <p:cNvSpPr txBox="1"/>
          <p:nvPr/>
        </p:nvSpPr>
        <p:spPr>
          <a:xfrm>
            <a:off x="4566818" y="3858768"/>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Ahorro medido en autos chilenos</a:t>
            </a:r>
            <a:endParaRPr lang="es-CL" sz="1700" dirty="0"/>
          </a:p>
        </p:txBody>
      </p:sp>
      <p:sp>
        <p:nvSpPr>
          <p:cNvPr id="29" name="Shape 26"/>
          <p:cNvSpPr/>
          <p:nvPr/>
        </p:nvSpPr>
        <p:spPr>
          <a:xfrm>
            <a:off x="4566818" y="4471416"/>
            <a:ext cx="3058058" cy="0"/>
          </a:xfrm>
          <a:prstGeom prst="line">
            <a:avLst/>
          </a:prstGeom>
          <a:noFill/>
          <a:ln w="9525">
            <a:solidFill>
              <a:schemeClr val="accent5"/>
            </a:solidFill>
            <a:prstDash val="solid"/>
          </a:ln>
        </p:spPr>
      </p:sp>
      <p:sp>
        <p:nvSpPr>
          <p:cNvPr id="30" name="Text 27"/>
          <p:cNvSpPr txBox="1"/>
          <p:nvPr/>
        </p:nvSpPr>
        <p:spPr>
          <a:xfrm>
            <a:off x="4566818" y="4517136"/>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Forma de pago que el cliente pueda asumir</a:t>
            </a:r>
            <a:endParaRPr lang="es-CL" sz="1700" dirty="0"/>
          </a:p>
        </p:txBody>
      </p:sp>
      <p:sp>
        <p:nvSpPr>
          <p:cNvPr id="31" name="Text 28"/>
          <p:cNvSpPr txBox="1"/>
          <p:nvPr/>
        </p:nvSpPr>
        <p:spPr>
          <a:xfrm>
            <a:off x="4566818" y="5257800"/>
            <a:ext cx="3103778" cy="274320"/>
          </a:xfrm>
          <a:prstGeom prst="rect">
            <a:avLst/>
          </a:prstGeom>
          <a:noFill/>
          <a:ln/>
        </p:spPr>
        <p:txBody>
          <a:bodyPr wrap="square" lIns="0" tIns="0" rIns="0" bIns="0" rtlCol="0" anchor="t"/>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VIENE DE · PORTER · PEST · FODA</a:t>
            </a:r>
            <a:endParaRPr lang="es-CL" sz="1100" dirty="0"/>
          </a:p>
        </p:txBody>
      </p:sp>
      <p:sp>
        <p:nvSpPr>
          <p:cNvPr id="32" name="Shape 29"/>
          <p:cNvSpPr/>
          <p:nvPr/>
        </p:nvSpPr>
        <p:spPr>
          <a:xfrm>
            <a:off x="8127797" y="2395728"/>
            <a:ext cx="3515258" cy="3246120"/>
          </a:xfrm>
          <a:prstGeom prst="rect">
            <a:avLst/>
          </a:prstGeom>
          <a:solidFill>
            <a:schemeClr val="bg2"/>
          </a:solidFill>
          <a:ln w="12700">
            <a:solidFill>
              <a:schemeClr val="accent1"/>
            </a:solidFill>
            <a:prstDash val="solid"/>
          </a:ln>
        </p:spPr>
      </p:sp>
      <p:sp>
        <p:nvSpPr>
          <p:cNvPr id="33" name="Shape 30"/>
          <p:cNvSpPr/>
          <p:nvPr/>
        </p:nvSpPr>
        <p:spPr>
          <a:xfrm>
            <a:off x="8356397" y="2624328"/>
            <a:ext cx="457200" cy="402336"/>
          </a:xfrm>
          <a:prstGeom prst="rect">
            <a:avLst/>
          </a:prstGeom>
          <a:solidFill>
            <a:schemeClr val="accent1"/>
          </a:solidFill>
          <a:ln/>
        </p:spPr>
      </p:sp>
      <p:sp>
        <p:nvSpPr>
          <p:cNvPr id="34" name="Text 31"/>
          <p:cNvSpPr txBox="1"/>
          <p:nvPr/>
        </p:nvSpPr>
        <p:spPr>
          <a:xfrm>
            <a:off x="8356397" y="2624328"/>
            <a:ext cx="457200" cy="402336"/>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3</a:t>
            </a:r>
            <a:endParaRPr lang="es-CL" sz="1800" dirty="0"/>
          </a:p>
        </p:txBody>
      </p:sp>
      <p:sp>
        <p:nvSpPr>
          <p:cNvPr id="35" name="Text 32"/>
          <p:cNvSpPr txBox="1"/>
          <p:nvPr/>
        </p:nvSpPr>
        <p:spPr>
          <a:xfrm>
            <a:off x="8356397" y="3172968"/>
            <a:ext cx="3103778" cy="502920"/>
          </a:xfrm>
          <a:prstGeom prst="rect">
            <a:avLst/>
          </a:prstGeom>
          <a:noFill/>
          <a:ln/>
        </p:spPr>
        <p:txBody>
          <a:bodyPr wrap="square" lIns="0" tIns="0" rIns="0" bIns="0" rtlCol="0" anchor="t"/>
          <a:lstStyle/>
          <a:p>
            <a:pPr indent="0" marL="0">
              <a:buNone/>
            </a:pPr>
            <a:r>
              <a:rPr lang="es-CL" altLang="en-US" sz="2200" b="1" dirty="0">
                <a:solidFill>
                  <a:schemeClr val="tx1"/>
                </a:solidFill>
                <a:latin typeface="Figtree" pitchFamily="34" charset="0"/>
                <a:ea typeface="Figtree" pitchFamily="34" charset="-122"/>
                <a:cs typeface="Figtree" pitchFamily="34" charset="-120"/>
              </a:rPr>
              <a:t>Capacidad de ejecución</a:t>
            </a:r>
            <a:endParaRPr lang="es-CL" sz="2200" dirty="0"/>
          </a:p>
        </p:txBody>
      </p:sp>
      <p:sp>
        <p:nvSpPr>
          <p:cNvPr id="36" name="Shape 33"/>
          <p:cNvSpPr/>
          <p:nvPr/>
        </p:nvSpPr>
        <p:spPr>
          <a:xfrm>
            <a:off x="8356397" y="3813048"/>
            <a:ext cx="3058058" cy="0"/>
          </a:xfrm>
          <a:prstGeom prst="line">
            <a:avLst/>
          </a:prstGeom>
          <a:noFill/>
          <a:ln w="9525">
            <a:solidFill>
              <a:schemeClr val="accent5"/>
            </a:solidFill>
            <a:prstDash val="solid"/>
          </a:ln>
        </p:spPr>
      </p:sp>
      <p:sp>
        <p:nvSpPr>
          <p:cNvPr id="37" name="Text 34"/>
          <p:cNvSpPr txBox="1"/>
          <p:nvPr/>
        </p:nvSpPr>
        <p:spPr>
          <a:xfrm>
            <a:off x="8356397" y="3858768"/>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Biblioteca de calibraciones con datos</a:t>
            </a:r>
            <a:endParaRPr lang="es-CL" sz="1700" dirty="0"/>
          </a:p>
        </p:txBody>
      </p:sp>
      <p:sp>
        <p:nvSpPr>
          <p:cNvPr id="38" name="Shape 35"/>
          <p:cNvSpPr/>
          <p:nvPr/>
        </p:nvSpPr>
        <p:spPr>
          <a:xfrm>
            <a:off x="8356397" y="4471416"/>
            <a:ext cx="3058058" cy="0"/>
          </a:xfrm>
          <a:prstGeom prst="line">
            <a:avLst/>
          </a:prstGeom>
          <a:noFill/>
          <a:ln w="9525">
            <a:solidFill>
              <a:schemeClr val="accent5"/>
            </a:solidFill>
            <a:prstDash val="solid"/>
          </a:ln>
        </p:spPr>
      </p:sp>
      <p:sp>
        <p:nvSpPr>
          <p:cNvPr id="39" name="Text 36"/>
          <p:cNvSpPr txBox="1"/>
          <p:nvPr/>
        </p:nvSpPr>
        <p:spPr>
          <a:xfrm>
            <a:off x="8356397" y="4517136"/>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Técnicos en alta tensión y kit protegido del dólar</a:t>
            </a:r>
            <a:endParaRPr lang="es-CL" sz="1700" dirty="0"/>
          </a:p>
        </p:txBody>
      </p:sp>
      <p:sp>
        <p:nvSpPr>
          <p:cNvPr id="40" name="Text 37"/>
          <p:cNvSpPr txBox="1"/>
          <p:nvPr/>
        </p:nvSpPr>
        <p:spPr>
          <a:xfrm>
            <a:off x="8356397" y="5257800"/>
            <a:ext cx="3103778" cy="274320"/>
          </a:xfrm>
          <a:prstGeom prst="rect">
            <a:avLst/>
          </a:prstGeom>
          <a:noFill/>
          <a:ln/>
        </p:spPr>
        <p:txBody>
          <a:bodyPr wrap="square" lIns="0" tIns="0" rIns="0" bIns="0" rtlCol="0" anchor="t"/>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VIENE DE · RECURSOS · FCE · CADENA</a:t>
            </a:r>
            <a:endParaRPr lang="es-CL" sz="1100" dirty="0"/>
          </a:p>
        </p:txBody>
      </p:sp>
      <p:sp>
        <p:nvSpPr>
          <p:cNvPr id="41" name="Text 38"/>
          <p:cNvSpPr txBox="1"/>
          <p:nvPr/>
        </p:nvSpPr>
        <p:spPr>
          <a:xfrm>
            <a:off x="548640" y="5843016"/>
            <a:ext cx="11094415" cy="41148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Son hallazgos del diagnóstico, </a:t>
            </a:r>
            <a:pPr indent="0" marL="0">
              <a:buNone/>
            </a:pPr>
            <a:r>
              <a:rPr lang="es-CL" altLang="en-US" sz="1800" dirty="0">
                <a:solidFill>
                  <a:schemeClr val="tx2"/>
                </a:solidFill>
                <a:latin typeface="Figtree" pitchFamily="34" charset="0"/>
                <a:ea typeface="Figtree" pitchFamily="34" charset="-122"/>
                <a:cs typeface="Figtree" pitchFamily="34" charset="-120"/>
              </a:rPr>
              <a:t>no objetivos: la formulación es el Avance 2.</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CIERRE · DEL DIAGNÓSTICO AL AVANCE 2</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LO FUNDAMENTADO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lo que falta demostrar.</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La formulación de estrategia, los objetivos y el Cuadro de Mando Integral corresponden al Avance 2 del TIG.</a:t>
            </a:r>
            <a:endParaRPr lang="es-CL" sz="1100" dirty="0"/>
          </a:p>
        </p:txBody>
      </p:sp>
      <p:sp>
        <p:nvSpPr>
          <p:cNvPr id="5" name="Shape 3"/>
          <p:cNvSpPr/>
          <p:nvPr/>
        </p:nvSpPr>
        <p:spPr>
          <a:xfrm>
            <a:off x="548640" y="2395728"/>
            <a:ext cx="5364328" cy="2743200"/>
          </a:xfrm>
          <a:prstGeom prst="rect">
            <a:avLst/>
          </a:prstGeom>
          <a:solidFill>
            <a:schemeClr val="bg2"/>
          </a:solidFill>
          <a:ln w="9525">
            <a:solidFill>
              <a:schemeClr val="tx2"/>
            </a:solidFill>
            <a:prstDash val="solid"/>
          </a:ln>
        </p:spPr>
      </p:sp>
      <p:sp>
        <p:nvSpPr>
          <p:cNvPr id="6" name="Text 4"/>
          <p:cNvSpPr txBox="1"/>
          <p:nvPr/>
        </p:nvSpPr>
        <p:spPr>
          <a:xfrm>
            <a:off x="804672" y="2596896"/>
            <a:ext cx="4907128" cy="274320"/>
          </a:xfrm>
          <a:prstGeom prst="rect">
            <a:avLst/>
          </a:prstGeom>
          <a:noFill/>
          <a:ln/>
        </p:spPr>
        <p:txBody>
          <a:bodyPr wrap="square" lIns="0" tIns="0" rIns="0" bIns="0" rtlCol="0" anchor="t"/>
          <a:lstStyle/>
          <a:p>
            <a:pPr indent="0" marL="0">
              <a:buNone/>
            </a:pPr>
            <a:r>
              <a:rPr lang="es-CL" altLang="en-US" sz="1400" b="1" spc="100" kern="0" dirty="0">
                <a:solidFill>
                  <a:schemeClr val="accent1"/>
                </a:solidFill>
                <a:latin typeface="IBM Plex Mono" pitchFamily="34" charset="0"/>
                <a:ea typeface="IBM Plex Mono" pitchFamily="34" charset="-122"/>
                <a:cs typeface="IBM Plex Mono" pitchFamily="34" charset="-120"/>
              </a:rPr>
              <a:t>FUNDAMENTADO</a:t>
            </a:r>
            <a:endParaRPr lang="es-CL" sz="1400" dirty="0"/>
          </a:p>
        </p:txBody>
      </p:sp>
      <p:sp>
        <p:nvSpPr>
          <p:cNvPr id="7" name="Shape 5"/>
          <p:cNvSpPr/>
          <p:nvPr/>
        </p:nvSpPr>
        <p:spPr>
          <a:xfrm>
            <a:off x="804672" y="3035808"/>
            <a:ext cx="4852264" cy="0"/>
          </a:xfrm>
          <a:prstGeom prst="line">
            <a:avLst/>
          </a:prstGeom>
          <a:noFill/>
          <a:ln w="9525">
            <a:solidFill>
              <a:schemeClr val="accent5"/>
            </a:solidFill>
            <a:prstDash val="solid"/>
          </a:ln>
        </p:spPr>
      </p:sp>
      <p:sp>
        <p:nvSpPr>
          <p:cNvPr id="8" name="Text 6"/>
          <p:cNvSpPr txBox="1"/>
          <p:nvPr/>
        </p:nvSpPr>
        <p:spPr>
          <a:xfrm>
            <a:off x="804672" y="3081528"/>
            <a:ext cx="4852264" cy="59436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Una necesidad real y medible</a:t>
            </a:r>
            <a:endParaRPr lang="es-CL" sz="2000" dirty="0"/>
          </a:p>
        </p:txBody>
      </p:sp>
      <p:sp>
        <p:nvSpPr>
          <p:cNvPr id="9" name="Shape 7"/>
          <p:cNvSpPr/>
          <p:nvPr/>
        </p:nvSpPr>
        <p:spPr>
          <a:xfrm>
            <a:off x="804672" y="3694176"/>
            <a:ext cx="4852264" cy="0"/>
          </a:xfrm>
          <a:prstGeom prst="line">
            <a:avLst/>
          </a:prstGeom>
          <a:noFill/>
          <a:ln w="9525">
            <a:solidFill>
              <a:schemeClr val="accent5"/>
            </a:solidFill>
            <a:prstDash val="solid"/>
          </a:ln>
        </p:spPr>
      </p:sp>
      <p:sp>
        <p:nvSpPr>
          <p:cNvPr id="10" name="Text 8"/>
          <p:cNvSpPr txBox="1"/>
          <p:nvPr/>
        </p:nvSpPr>
        <p:spPr>
          <a:xfrm>
            <a:off x="804672" y="3739896"/>
            <a:ext cx="4852264" cy="59436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Una propuesta coherente con la identidad</a:t>
            </a:r>
            <a:endParaRPr lang="es-CL" sz="2000" dirty="0"/>
          </a:p>
        </p:txBody>
      </p:sp>
      <p:sp>
        <p:nvSpPr>
          <p:cNvPr id="11" name="Shape 9"/>
          <p:cNvSpPr/>
          <p:nvPr/>
        </p:nvSpPr>
        <p:spPr>
          <a:xfrm>
            <a:off x="804672" y="4352544"/>
            <a:ext cx="4852264" cy="0"/>
          </a:xfrm>
          <a:prstGeom prst="line">
            <a:avLst/>
          </a:prstGeom>
          <a:noFill/>
          <a:ln w="9525">
            <a:solidFill>
              <a:schemeClr val="accent5"/>
            </a:solidFill>
            <a:prstDash val="solid"/>
          </a:ln>
        </p:spPr>
      </p:sp>
      <p:sp>
        <p:nvSpPr>
          <p:cNvPr id="12" name="Text 10"/>
          <p:cNvSpPr txBox="1"/>
          <p:nvPr/>
        </p:nvSpPr>
        <p:spPr>
          <a:xfrm>
            <a:off x="804672" y="4398264"/>
            <a:ext cx="4852264" cy="59436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Un entorno moderadamente desfavorable, con causas claras</a:t>
            </a:r>
            <a:endParaRPr lang="es-CL" sz="2000" dirty="0"/>
          </a:p>
        </p:txBody>
      </p:sp>
      <p:pic>
        <p:nvPicPr>
          <p:cNvPr id="13" name="Image 0" descr="C:\Users\Usuario\Documents\GitHub\lumine\control-3\generador\assets\brillo.png">    </p:cNvPr>
          <p:cNvPicPr>
            <a:picLocks noChangeAspect="1"/>
          </p:cNvPicPr>
          <p:nvPr/>
        </p:nvPicPr>
        <p:blipFill>
          <a:blip r:embed="rId1"/>
          <a:stretch>
            <a:fillRect/>
          </a:stretch>
        </p:blipFill>
        <p:spPr>
          <a:xfrm>
            <a:off x="5912968" y="2139696"/>
            <a:ext cx="6095848" cy="3255264"/>
          </a:xfrm>
          <a:prstGeom prst="rect">
            <a:avLst/>
          </a:prstGeom>
        </p:spPr>
      </p:pic>
      <p:sp>
        <p:nvSpPr>
          <p:cNvPr id="14" name="Shape 11"/>
          <p:cNvSpPr/>
          <p:nvPr/>
        </p:nvSpPr>
        <p:spPr>
          <a:xfrm>
            <a:off x="6278728" y="2395728"/>
            <a:ext cx="5364328" cy="2743200"/>
          </a:xfrm>
          <a:prstGeom prst="rect">
            <a:avLst/>
          </a:prstGeom>
          <a:solidFill>
            <a:srgbClr val="0B1A22"/>
          </a:solidFill>
          <a:ln w="15875">
            <a:solidFill>
              <a:schemeClr val="accent1"/>
            </a:solidFill>
            <a:prstDash val="solid"/>
          </a:ln>
        </p:spPr>
      </p:sp>
      <p:sp>
        <p:nvSpPr>
          <p:cNvPr id="15" name="Shape 12"/>
          <p:cNvSpPr/>
          <p:nvPr/>
        </p:nvSpPr>
        <p:spPr>
          <a:xfrm>
            <a:off x="6223864" y="2340864"/>
            <a:ext cx="155448" cy="0"/>
          </a:xfrm>
          <a:prstGeom prst="line">
            <a:avLst/>
          </a:prstGeom>
          <a:noFill/>
          <a:ln w="15875">
            <a:solidFill>
              <a:schemeClr val="accent1"/>
            </a:solidFill>
            <a:prstDash val="solid"/>
          </a:ln>
        </p:spPr>
      </p:sp>
      <p:sp>
        <p:nvSpPr>
          <p:cNvPr id="16" name="Shape 13"/>
          <p:cNvSpPr/>
          <p:nvPr/>
        </p:nvSpPr>
        <p:spPr>
          <a:xfrm>
            <a:off x="6223864" y="2340864"/>
            <a:ext cx="0" cy="155448"/>
          </a:xfrm>
          <a:prstGeom prst="line">
            <a:avLst/>
          </a:prstGeom>
          <a:noFill/>
          <a:ln w="15875">
            <a:solidFill>
              <a:schemeClr val="accent1"/>
            </a:solidFill>
            <a:prstDash val="solid"/>
          </a:ln>
        </p:spPr>
      </p:sp>
      <p:sp>
        <p:nvSpPr>
          <p:cNvPr id="17" name="Shape 14"/>
          <p:cNvSpPr/>
          <p:nvPr/>
        </p:nvSpPr>
        <p:spPr>
          <a:xfrm>
            <a:off x="11542471" y="2340864"/>
            <a:ext cx="155448" cy="0"/>
          </a:xfrm>
          <a:prstGeom prst="line">
            <a:avLst/>
          </a:prstGeom>
          <a:noFill/>
          <a:ln w="15875">
            <a:solidFill>
              <a:schemeClr val="accent1"/>
            </a:solidFill>
            <a:prstDash val="solid"/>
          </a:ln>
        </p:spPr>
      </p:sp>
      <p:sp>
        <p:nvSpPr>
          <p:cNvPr id="18" name="Shape 15"/>
          <p:cNvSpPr/>
          <p:nvPr/>
        </p:nvSpPr>
        <p:spPr>
          <a:xfrm>
            <a:off x="11697919" y="2340864"/>
            <a:ext cx="0" cy="155448"/>
          </a:xfrm>
          <a:prstGeom prst="line">
            <a:avLst/>
          </a:prstGeom>
          <a:noFill/>
          <a:ln w="15875">
            <a:solidFill>
              <a:schemeClr val="accent1"/>
            </a:solidFill>
            <a:prstDash val="solid"/>
          </a:ln>
        </p:spPr>
      </p:sp>
      <p:sp>
        <p:nvSpPr>
          <p:cNvPr id="19" name="Shape 16"/>
          <p:cNvSpPr/>
          <p:nvPr/>
        </p:nvSpPr>
        <p:spPr>
          <a:xfrm>
            <a:off x="6223864" y="5193792"/>
            <a:ext cx="155448" cy="0"/>
          </a:xfrm>
          <a:prstGeom prst="line">
            <a:avLst/>
          </a:prstGeom>
          <a:noFill/>
          <a:ln w="15875">
            <a:solidFill>
              <a:schemeClr val="accent1"/>
            </a:solidFill>
            <a:prstDash val="solid"/>
          </a:ln>
        </p:spPr>
      </p:sp>
      <p:sp>
        <p:nvSpPr>
          <p:cNvPr id="20" name="Shape 17"/>
          <p:cNvSpPr/>
          <p:nvPr/>
        </p:nvSpPr>
        <p:spPr>
          <a:xfrm>
            <a:off x="6223864" y="5038344"/>
            <a:ext cx="0" cy="155448"/>
          </a:xfrm>
          <a:prstGeom prst="line">
            <a:avLst/>
          </a:prstGeom>
          <a:noFill/>
          <a:ln w="15875">
            <a:solidFill>
              <a:schemeClr val="accent1"/>
            </a:solidFill>
            <a:prstDash val="solid"/>
          </a:ln>
        </p:spPr>
      </p:sp>
      <p:sp>
        <p:nvSpPr>
          <p:cNvPr id="21" name="Shape 18"/>
          <p:cNvSpPr/>
          <p:nvPr/>
        </p:nvSpPr>
        <p:spPr>
          <a:xfrm>
            <a:off x="11542471" y="5193792"/>
            <a:ext cx="155448" cy="0"/>
          </a:xfrm>
          <a:prstGeom prst="line">
            <a:avLst/>
          </a:prstGeom>
          <a:noFill/>
          <a:ln w="15875">
            <a:solidFill>
              <a:schemeClr val="accent1"/>
            </a:solidFill>
            <a:prstDash val="solid"/>
          </a:ln>
        </p:spPr>
      </p:sp>
      <p:sp>
        <p:nvSpPr>
          <p:cNvPr id="22" name="Shape 19"/>
          <p:cNvSpPr/>
          <p:nvPr/>
        </p:nvSpPr>
        <p:spPr>
          <a:xfrm>
            <a:off x="11697919" y="5038344"/>
            <a:ext cx="0" cy="155448"/>
          </a:xfrm>
          <a:prstGeom prst="line">
            <a:avLst/>
          </a:prstGeom>
          <a:noFill/>
          <a:ln w="15875">
            <a:solidFill>
              <a:schemeClr val="accent1"/>
            </a:solidFill>
            <a:prstDash val="solid"/>
          </a:ln>
        </p:spPr>
      </p:sp>
      <p:sp>
        <p:nvSpPr>
          <p:cNvPr id="23" name="Text 20"/>
          <p:cNvSpPr txBox="1"/>
          <p:nvPr/>
        </p:nvSpPr>
        <p:spPr>
          <a:xfrm>
            <a:off x="6534760" y="2596896"/>
            <a:ext cx="4907128" cy="274320"/>
          </a:xfrm>
          <a:prstGeom prst="rect">
            <a:avLst/>
          </a:prstGeom>
          <a:noFill/>
          <a:ln/>
        </p:spPr>
        <p:txBody>
          <a:bodyPr wrap="square" lIns="0" tIns="0" rIns="0" bIns="0" rtlCol="0" anchor="t"/>
          <a:lstStyle/>
          <a:p>
            <a:pPr indent="0" marL="0">
              <a:buNone/>
            </a:pPr>
            <a:r>
              <a:rPr lang="es-CL" altLang="en-US" sz="1400" b="1" spc="100" kern="0" dirty="0">
                <a:solidFill>
                  <a:schemeClr val="accent1"/>
                </a:solidFill>
                <a:latin typeface="IBM Plex Mono" pitchFamily="34" charset="0"/>
                <a:ea typeface="IBM Plex Mono" pitchFamily="34" charset="-122"/>
                <a:cs typeface="IBM Plex Mono" pitchFamily="34" charset="-120"/>
              </a:rPr>
              <a:t>POR DEMOSTRAR</a:t>
            </a:r>
            <a:endParaRPr lang="es-CL" sz="1400" dirty="0"/>
          </a:p>
        </p:txBody>
      </p:sp>
      <p:sp>
        <p:nvSpPr>
          <p:cNvPr id="24" name="Shape 21"/>
          <p:cNvSpPr/>
          <p:nvPr/>
        </p:nvSpPr>
        <p:spPr>
          <a:xfrm>
            <a:off x="6534760" y="3035808"/>
            <a:ext cx="4852264" cy="0"/>
          </a:xfrm>
          <a:prstGeom prst="line">
            <a:avLst/>
          </a:prstGeom>
          <a:noFill/>
          <a:ln w="9525">
            <a:solidFill>
              <a:schemeClr val="accent5"/>
            </a:solidFill>
            <a:prstDash val="solid"/>
          </a:ln>
        </p:spPr>
      </p:sp>
      <p:sp>
        <p:nvSpPr>
          <p:cNvPr id="25" name="Text 22"/>
          <p:cNvSpPr txBox="1"/>
          <p:nvPr/>
        </p:nvSpPr>
        <p:spPr>
          <a:xfrm>
            <a:off x="6534760" y="3081528"/>
            <a:ext cx="4852264" cy="5943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La vía legal</a:t>
            </a:r>
            <a:endParaRPr lang="es-CL" sz="2000" dirty="0"/>
          </a:p>
        </p:txBody>
      </p:sp>
      <p:sp>
        <p:nvSpPr>
          <p:cNvPr id="26" name="Shape 23"/>
          <p:cNvSpPr/>
          <p:nvPr/>
        </p:nvSpPr>
        <p:spPr>
          <a:xfrm>
            <a:off x="6534760" y="3694176"/>
            <a:ext cx="4852264" cy="0"/>
          </a:xfrm>
          <a:prstGeom prst="line">
            <a:avLst/>
          </a:prstGeom>
          <a:noFill/>
          <a:ln w="9525">
            <a:solidFill>
              <a:schemeClr val="accent5"/>
            </a:solidFill>
            <a:prstDash val="solid"/>
          </a:ln>
        </p:spPr>
      </p:sp>
      <p:sp>
        <p:nvSpPr>
          <p:cNvPr id="27" name="Text 24"/>
          <p:cNvSpPr txBox="1"/>
          <p:nvPr/>
        </p:nvSpPr>
        <p:spPr>
          <a:xfrm>
            <a:off x="6534760" y="3739896"/>
            <a:ext cx="4852264" cy="5943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El ahorro, medido en autos chilenos</a:t>
            </a:r>
            <a:endParaRPr lang="es-CL" sz="2000" dirty="0"/>
          </a:p>
        </p:txBody>
      </p:sp>
      <p:sp>
        <p:nvSpPr>
          <p:cNvPr id="28" name="Shape 25"/>
          <p:cNvSpPr/>
          <p:nvPr/>
        </p:nvSpPr>
        <p:spPr>
          <a:xfrm>
            <a:off x="6534760" y="4352544"/>
            <a:ext cx="4852264" cy="0"/>
          </a:xfrm>
          <a:prstGeom prst="line">
            <a:avLst/>
          </a:prstGeom>
          <a:noFill/>
          <a:ln w="9525">
            <a:solidFill>
              <a:schemeClr val="accent5"/>
            </a:solidFill>
            <a:prstDash val="solid"/>
          </a:ln>
        </p:spPr>
      </p:sp>
      <p:sp>
        <p:nvSpPr>
          <p:cNvPr id="29" name="Text 26"/>
          <p:cNvSpPr txBox="1"/>
          <p:nvPr/>
        </p:nvSpPr>
        <p:spPr>
          <a:xfrm>
            <a:off x="6534760" y="4398264"/>
            <a:ext cx="4852264" cy="5943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La capacidad de ejecutar</a:t>
            </a:r>
            <a:endParaRPr lang="es-CL" sz="2000" dirty="0"/>
          </a:p>
        </p:txBody>
      </p:sp>
      <p:sp>
        <p:nvSpPr>
          <p:cNvPr id="30" name="Shape 27"/>
          <p:cNvSpPr/>
          <p:nvPr/>
        </p:nvSpPr>
        <p:spPr>
          <a:xfrm>
            <a:off x="548640" y="5413248"/>
            <a:ext cx="11094415" cy="0"/>
          </a:xfrm>
          <a:prstGeom prst="line">
            <a:avLst/>
          </a:prstGeom>
          <a:noFill/>
          <a:ln w="9525">
            <a:solidFill>
              <a:schemeClr val="accent1"/>
            </a:solidFill>
            <a:prstDash val="solid"/>
          </a:ln>
        </p:spPr>
      </p:sp>
      <p:sp>
        <p:nvSpPr>
          <p:cNvPr id="31" name="Text 28"/>
          <p:cNvSpPr txBox="1"/>
          <p:nvPr/>
        </p:nvSpPr>
        <p:spPr>
          <a:xfrm>
            <a:off x="548640" y="5522976"/>
            <a:ext cx="7863840" cy="411480"/>
          </a:xfrm>
          <a:prstGeom prst="rect">
            <a:avLst/>
          </a:prstGeom>
          <a:noFill/>
          <a:ln/>
        </p:spPr>
        <p:txBody>
          <a:bodyPr wrap="square" lIns="0" tIns="0" rIns="0" bIns="0" rtlCol="0" anchor="ctr"/>
          <a:lstStyle/>
          <a:p>
            <a:pPr indent="0" marL="0">
              <a:buNone/>
            </a:pPr>
            <a:r>
              <a:rPr lang="es-CL" altLang="en-US" sz="1300" dirty="0">
                <a:solidFill>
                  <a:schemeClr val="accent1"/>
                </a:solidFill>
                <a:latin typeface="IBM Plex Mono" pitchFamily="34" charset="0"/>
                <a:ea typeface="IBM Plex Mono" pitchFamily="34" charset="-122"/>
                <a:cs typeface="IBM Plex Mono" pitchFamily="34" charset="-120"/>
              </a:rPr>
              <a:t>AVANCE 2  </a:t>
            </a:r>
            <a:pPr indent="0" marL="0">
              <a:buNone/>
            </a:pPr>
            <a:r>
              <a:rPr lang="es-CL" altLang="en-US" sz="1800" b="1" dirty="0">
                <a:solidFill>
                  <a:schemeClr val="tx1"/>
                </a:solidFill>
                <a:latin typeface="Figtree" pitchFamily="34" charset="0"/>
                <a:ea typeface="Figtree" pitchFamily="34" charset="-122"/>
                <a:cs typeface="Figtree" pitchFamily="34" charset="-120"/>
              </a:rPr>
              <a:t>Estrategia, objetivos y Cuadro de Mando Integral</a:t>
            </a:r>
            <a:endParaRPr lang="es-CL" sz="1800" dirty="0"/>
          </a:p>
        </p:txBody>
      </p:sp>
      <p:sp>
        <p:nvSpPr>
          <p:cNvPr id="32" name="Text 29"/>
          <p:cNvSpPr txBox="1"/>
          <p:nvPr/>
        </p:nvSpPr>
        <p:spPr>
          <a:xfrm>
            <a:off x="7985455" y="5522976"/>
            <a:ext cx="3657600" cy="411480"/>
          </a:xfrm>
          <a:prstGeom prst="rect">
            <a:avLst/>
          </a:prstGeom>
          <a:noFill/>
          <a:ln/>
        </p:spPr>
        <p:txBody>
          <a:bodyPr wrap="square" lIns="0" tIns="0" rIns="0" bIns="0" rtlCol="0" anchor="ctr"/>
          <a:lstStyle/>
          <a:p>
            <a:pPr algn="r" indent="0" marL="0">
              <a:buNone/>
            </a:pPr>
            <a:r>
              <a:rPr lang="es-CL" altLang="en-US" sz="1800" spc="100" kern="0" dirty="0">
                <a:solidFill>
                  <a:schemeClr val="tx1"/>
                </a:solidFill>
                <a:latin typeface="IBM Plex Mono" pitchFamily="34" charset="0"/>
                <a:ea typeface="IBM Plex Mono" pitchFamily="34" charset="-122"/>
                <a:cs typeface="IBM Plex Mono" pitchFamily="34" charset="-120"/>
              </a:rPr>
              <a:t>GRACIAS · ¿PREGUNTAS?</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MATERIAL DE APOYO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ANEXO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para preguntas.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Las fuentes de cada tema están al pie de su diapositiva.</a:t>
            </a:r>
            <a:endParaRPr lang="es-CL" sz="1100" dirty="0"/>
          </a:p>
        </p:txBody>
      </p:sp>
      <p:sp>
        <p:nvSpPr>
          <p:cNvPr id="5" name="Shape 3"/>
          <p:cNvSpPr/>
          <p:nvPr/>
        </p:nvSpPr>
        <p:spPr>
          <a:xfrm>
            <a:off x="548640" y="2377440"/>
            <a:ext cx="11094415" cy="0"/>
          </a:xfrm>
          <a:prstGeom prst="line">
            <a:avLst/>
          </a:prstGeom>
          <a:noFill/>
          <a:ln w="9525">
            <a:solidFill>
              <a:schemeClr val="accent5"/>
            </a:solidFill>
            <a:prstDash val="solid"/>
          </a:ln>
        </p:spPr>
      </p:sp>
      <p:sp>
        <p:nvSpPr>
          <p:cNvPr id="6" name="Shape 4"/>
          <p:cNvSpPr/>
          <p:nvPr/>
        </p:nvSpPr>
        <p:spPr>
          <a:xfrm>
            <a:off x="548640" y="2414016"/>
            <a:ext cx="566928" cy="265176"/>
          </a:xfrm>
          <a:prstGeom prst="rect">
            <a:avLst/>
          </a:prstGeom>
          <a:solidFill>
            <a:schemeClr val="accent1"/>
          </a:solidFill>
          <a:ln/>
        </p:spPr>
      </p:sp>
      <p:sp>
        <p:nvSpPr>
          <p:cNvPr id="7" name="Text 5"/>
          <p:cNvSpPr txBox="1"/>
          <p:nvPr/>
        </p:nvSpPr>
        <p:spPr>
          <a:xfrm>
            <a:off x="548640" y="2414016"/>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a:t>
            </a:r>
            <a:endParaRPr lang="es-CL" sz="1200" dirty="0"/>
          </a:p>
        </p:txBody>
      </p:sp>
      <p:sp>
        <p:nvSpPr>
          <p:cNvPr id="8" name="Text 6">
            <a:hlinkClick r:id="rId1" tooltip="Ir a ¿Qué hay detrás del 2,82 del PEST?" action="ppaction://hlinksldjump"/>
          </p:cNvPr>
          <p:cNvSpPr txBox="1"/>
          <p:nvPr/>
        </p:nvSpPr>
        <p:spPr>
          <a:xfrm>
            <a:off x="1280160" y="2377440"/>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1" action="ppaction://hlinksldjump" tooltip="Ir a ¿Qué hay detrás del 2,82 del PEST?">
                  <a:extLst>
                    <a:ext uri="{A12FA001-AC4F-418D-AE19-62706E023703}">
                      <ahyp:hlinkClr xmlns:ahyp="http://schemas.microsoft.com/office/drawing/2018/hyperlinkcolor" val="tx"/>
                    </a:ext>
                  </a:extLst>
                </a:hlinkClick>
              </a:rPr>
              <a:t>¿Qué hay detrás del 2,82 del PEST?</a:t>
            </a:r>
            <a:endParaRPr lang="en-US" sz="1700" dirty="0"/>
          </a:p>
        </p:txBody>
      </p:sp>
      <p:sp>
        <p:nvSpPr>
          <p:cNvPr id="9" name="Text 7">
            <a:hlinkClick r:id="rId2" tooltip="Ir a ¿Qué hay detrás del 2,82 del PEST?" action="ppaction://hlinksldjump"/>
          </p:cNvPr>
          <p:cNvSpPr txBox="1"/>
          <p:nvPr/>
        </p:nvSpPr>
        <p:spPr>
          <a:xfrm>
            <a:off x="10637215" y="2377440"/>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 action="ppaction://hlinksldjump" tooltip="Ir a ¿Qué hay detrás del 2,82 del PEST?">
                  <a:extLst>
                    <a:ext uri="{A12FA001-AC4F-418D-AE19-62706E023703}">
                      <ahyp:hlinkClr xmlns:ahyp="http://schemas.microsoft.com/office/drawing/2018/hyperlinkcolor" val="tx"/>
                    </a:ext>
                  </a:extLst>
                </a:hlinkClick>
              </a:rPr>
              <a:t>LÁM. 15</a:t>
            </a:r>
            <a:endParaRPr lang="en-US" sz="1300" dirty="0"/>
          </a:p>
        </p:txBody>
      </p:sp>
      <p:sp>
        <p:nvSpPr>
          <p:cNvPr id="10" name="Shape 8"/>
          <p:cNvSpPr/>
          <p:nvPr/>
        </p:nvSpPr>
        <p:spPr>
          <a:xfrm>
            <a:off x="548640" y="2715768"/>
            <a:ext cx="11094415" cy="0"/>
          </a:xfrm>
          <a:prstGeom prst="line">
            <a:avLst/>
          </a:prstGeom>
          <a:noFill/>
          <a:ln w="9525">
            <a:solidFill>
              <a:schemeClr val="accent5"/>
            </a:solidFill>
            <a:prstDash val="solid"/>
          </a:ln>
        </p:spPr>
      </p:sp>
      <p:sp>
        <p:nvSpPr>
          <p:cNvPr id="11" name="Shape 9"/>
          <p:cNvSpPr/>
          <p:nvPr/>
        </p:nvSpPr>
        <p:spPr>
          <a:xfrm>
            <a:off x="548640" y="2752344"/>
            <a:ext cx="566928" cy="265176"/>
          </a:xfrm>
          <a:prstGeom prst="rect">
            <a:avLst/>
          </a:prstGeom>
          <a:solidFill>
            <a:schemeClr val="accent1"/>
          </a:solidFill>
          <a:ln/>
        </p:spPr>
      </p:sp>
      <p:sp>
        <p:nvSpPr>
          <p:cNvPr id="12" name="Text 10"/>
          <p:cNvSpPr txBox="1"/>
          <p:nvPr/>
        </p:nvSpPr>
        <p:spPr>
          <a:xfrm>
            <a:off x="548640" y="2752344"/>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A2</a:t>
            </a:r>
            <a:endParaRPr lang="es-CL" sz="1200" dirty="0"/>
          </a:p>
        </p:txBody>
      </p:sp>
      <p:sp>
        <p:nvSpPr>
          <p:cNvPr id="13" name="Text 11">
            <a:hlinkClick r:id="rId3" tooltip="Ir a ¿Cómo se calcula el 3,49 de las cinco fuerzas?" action="ppaction://hlinksldjump"/>
          </p:cNvPr>
          <p:cNvSpPr txBox="1"/>
          <p:nvPr/>
        </p:nvSpPr>
        <p:spPr>
          <a:xfrm>
            <a:off x="1280160" y="2715768"/>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3" action="ppaction://hlinksldjump" tooltip="Ir a ¿Cómo se calcula el 3,49 de las cinco fuerzas?">
                  <a:extLst>
                    <a:ext uri="{A12FA001-AC4F-418D-AE19-62706E023703}">
                      <ahyp:hlinkClr xmlns:ahyp="http://schemas.microsoft.com/office/drawing/2018/hyperlinkcolor" val="tx"/>
                    </a:ext>
                  </a:extLst>
                </a:hlinkClick>
              </a:rPr>
              <a:t>¿Cómo se calcula el 3,49 de las cinco fuerzas?</a:t>
            </a:r>
            <a:endParaRPr lang="en-US" sz="1700" dirty="0"/>
          </a:p>
        </p:txBody>
      </p:sp>
      <p:sp>
        <p:nvSpPr>
          <p:cNvPr id="14" name="Text 12">
            <a:hlinkClick r:id="rId4" tooltip="Ir a ¿Cómo se calcula el 3,49 de las cinco fuerzas?" action="ppaction://hlinksldjump"/>
          </p:cNvPr>
          <p:cNvSpPr txBox="1"/>
          <p:nvPr/>
        </p:nvSpPr>
        <p:spPr>
          <a:xfrm>
            <a:off x="10637215" y="2715768"/>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4" action="ppaction://hlinksldjump" tooltip="Ir a ¿Cómo se calcula el 3,49 de las cinco fuerzas?">
                  <a:extLst>
                    <a:ext uri="{A12FA001-AC4F-418D-AE19-62706E023703}">
                      <ahyp:hlinkClr xmlns:ahyp="http://schemas.microsoft.com/office/drawing/2018/hyperlinkcolor" val="tx"/>
                    </a:ext>
                  </a:extLst>
                </a:hlinkClick>
              </a:rPr>
              <a:t>LÁM. 16</a:t>
            </a:r>
            <a:endParaRPr lang="en-US" sz="1300" dirty="0"/>
          </a:p>
        </p:txBody>
      </p:sp>
      <p:sp>
        <p:nvSpPr>
          <p:cNvPr id="15" name="Shape 13"/>
          <p:cNvSpPr/>
          <p:nvPr/>
        </p:nvSpPr>
        <p:spPr>
          <a:xfrm>
            <a:off x="548640" y="3054096"/>
            <a:ext cx="11094415" cy="0"/>
          </a:xfrm>
          <a:prstGeom prst="line">
            <a:avLst/>
          </a:prstGeom>
          <a:noFill/>
          <a:ln w="9525">
            <a:solidFill>
              <a:schemeClr val="accent5"/>
            </a:solidFill>
            <a:prstDash val="solid"/>
          </a:ln>
        </p:spPr>
      </p:sp>
      <p:sp>
        <p:nvSpPr>
          <p:cNvPr id="16" name="Shape 14"/>
          <p:cNvSpPr/>
          <p:nvPr/>
        </p:nvSpPr>
        <p:spPr>
          <a:xfrm>
            <a:off x="548640" y="3090672"/>
            <a:ext cx="566928" cy="265176"/>
          </a:xfrm>
          <a:prstGeom prst="rect">
            <a:avLst/>
          </a:prstGeom>
          <a:solidFill>
            <a:schemeClr val="accent1"/>
          </a:solidFill>
          <a:ln/>
        </p:spPr>
      </p:sp>
      <p:sp>
        <p:nvSpPr>
          <p:cNvPr id="17" name="Text 15"/>
          <p:cNvSpPr txBox="1"/>
          <p:nvPr/>
        </p:nvSpPr>
        <p:spPr>
          <a:xfrm>
            <a:off x="548640" y="3090672"/>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A3</a:t>
            </a:r>
            <a:endParaRPr lang="es-CL" sz="1200" dirty="0"/>
          </a:p>
        </p:txBody>
      </p:sp>
      <p:sp>
        <p:nvSpPr>
          <p:cNvPr id="18" name="Text 16">
            <a:hlinkClick r:id="rId5" tooltip="Ir a ¿Qué recursos y capacidades se evaluaron?" action="ppaction://hlinksldjump"/>
          </p:cNvPr>
          <p:cNvSpPr txBox="1"/>
          <p:nvPr/>
        </p:nvSpPr>
        <p:spPr>
          <a:xfrm>
            <a:off x="1280160" y="3054096"/>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5" action="ppaction://hlinksldjump" tooltip="Ir a ¿Qué recursos y capacidades se evaluaron?">
                  <a:extLst>
                    <a:ext uri="{A12FA001-AC4F-418D-AE19-62706E023703}">
                      <ahyp:hlinkClr xmlns:ahyp="http://schemas.microsoft.com/office/drawing/2018/hyperlinkcolor" val="tx"/>
                    </a:ext>
                  </a:extLst>
                </a:hlinkClick>
              </a:rPr>
              <a:t>¿Qué recursos y capacidades se evaluaron?</a:t>
            </a:r>
            <a:endParaRPr lang="en-US" sz="1700" dirty="0"/>
          </a:p>
        </p:txBody>
      </p:sp>
      <p:sp>
        <p:nvSpPr>
          <p:cNvPr id="19" name="Text 17">
            <a:hlinkClick r:id="rId6" tooltip="Ir a ¿Qué recursos y capacidades se evaluaron?" action="ppaction://hlinksldjump"/>
          </p:cNvPr>
          <p:cNvSpPr txBox="1"/>
          <p:nvPr/>
        </p:nvSpPr>
        <p:spPr>
          <a:xfrm>
            <a:off x="10637215" y="3054096"/>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6" action="ppaction://hlinksldjump" tooltip="Ir a ¿Qué recursos y capacidades se evaluaron?">
                  <a:extLst>
                    <a:ext uri="{A12FA001-AC4F-418D-AE19-62706E023703}">
                      <ahyp:hlinkClr xmlns:ahyp="http://schemas.microsoft.com/office/drawing/2018/hyperlinkcolor" val="tx"/>
                    </a:ext>
                  </a:extLst>
                </a:hlinkClick>
              </a:rPr>
              <a:t>LÁM. 17</a:t>
            </a:r>
            <a:endParaRPr lang="en-US" sz="1300" dirty="0"/>
          </a:p>
        </p:txBody>
      </p:sp>
      <p:sp>
        <p:nvSpPr>
          <p:cNvPr id="20" name="Shape 18"/>
          <p:cNvSpPr/>
          <p:nvPr/>
        </p:nvSpPr>
        <p:spPr>
          <a:xfrm>
            <a:off x="548640" y="3392424"/>
            <a:ext cx="11094415" cy="0"/>
          </a:xfrm>
          <a:prstGeom prst="line">
            <a:avLst/>
          </a:prstGeom>
          <a:noFill/>
          <a:ln w="9525">
            <a:solidFill>
              <a:schemeClr val="accent5"/>
            </a:solidFill>
            <a:prstDash val="solid"/>
          </a:ln>
        </p:spPr>
      </p:sp>
      <p:sp>
        <p:nvSpPr>
          <p:cNvPr id="21" name="Shape 19"/>
          <p:cNvSpPr/>
          <p:nvPr/>
        </p:nvSpPr>
        <p:spPr>
          <a:xfrm>
            <a:off x="548640" y="3429000"/>
            <a:ext cx="566928" cy="265176"/>
          </a:xfrm>
          <a:prstGeom prst="rect">
            <a:avLst/>
          </a:prstGeom>
          <a:solidFill>
            <a:schemeClr val="accent1"/>
          </a:solidFill>
          <a:ln/>
        </p:spPr>
      </p:sp>
      <p:sp>
        <p:nvSpPr>
          <p:cNvPr id="22" name="Text 20"/>
          <p:cNvSpPr txBox="1"/>
          <p:nvPr/>
        </p:nvSpPr>
        <p:spPr>
          <a:xfrm>
            <a:off x="548640" y="3429000"/>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A4</a:t>
            </a:r>
            <a:endParaRPr lang="es-CL" sz="1200" dirty="0"/>
          </a:p>
        </p:txBody>
      </p:sp>
      <p:sp>
        <p:nvSpPr>
          <p:cNvPr id="23" name="Text 21">
            <a:hlinkClick r:id="rId7" tooltip="Ir a ¿Cuáles son los factores críticos de éxito?" action="ppaction://hlinksldjump"/>
          </p:cNvPr>
          <p:cNvSpPr txBox="1"/>
          <p:nvPr/>
        </p:nvSpPr>
        <p:spPr>
          <a:xfrm>
            <a:off x="1280160" y="3392424"/>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7" action="ppaction://hlinksldjump" tooltip="Ir a ¿Cuáles son los factores críticos de éxito?">
                  <a:extLst>
                    <a:ext uri="{A12FA001-AC4F-418D-AE19-62706E023703}">
                      <ahyp:hlinkClr xmlns:ahyp="http://schemas.microsoft.com/office/drawing/2018/hyperlinkcolor" val="tx"/>
                    </a:ext>
                  </a:extLst>
                </a:hlinkClick>
              </a:rPr>
              <a:t>¿Cuáles son los factores críticos de éxito?</a:t>
            </a:r>
            <a:endParaRPr lang="en-US" sz="1700" dirty="0"/>
          </a:p>
        </p:txBody>
      </p:sp>
      <p:sp>
        <p:nvSpPr>
          <p:cNvPr id="24" name="Text 22">
            <a:hlinkClick r:id="rId8" tooltip="Ir a ¿Cuáles son los factores críticos de éxito?" action="ppaction://hlinksldjump"/>
          </p:cNvPr>
          <p:cNvSpPr txBox="1"/>
          <p:nvPr/>
        </p:nvSpPr>
        <p:spPr>
          <a:xfrm>
            <a:off x="10637215" y="3392424"/>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8" action="ppaction://hlinksldjump" tooltip="Ir a ¿Cuáles son los factores críticos de éxito?">
                  <a:extLst>
                    <a:ext uri="{A12FA001-AC4F-418D-AE19-62706E023703}">
                      <ahyp:hlinkClr xmlns:ahyp="http://schemas.microsoft.com/office/drawing/2018/hyperlinkcolor" val="tx"/>
                    </a:ext>
                  </a:extLst>
                </a:hlinkClick>
              </a:rPr>
              <a:t>LÁM. 18</a:t>
            </a:r>
            <a:endParaRPr lang="en-US" sz="1300" dirty="0"/>
          </a:p>
        </p:txBody>
      </p:sp>
      <p:sp>
        <p:nvSpPr>
          <p:cNvPr id="25" name="Shape 23"/>
          <p:cNvSpPr/>
          <p:nvPr/>
        </p:nvSpPr>
        <p:spPr>
          <a:xfrm>
            <a:off x="548640" y="3730752"/>
            <a:ext cx="11094415" cy="0"/>
          </a:xfrm>
          <a:prstGeom prst="line">
            <a:avLst/>
          </a:prstGeom>
          <a:noFill/>
          <a:ln w="9525">
            <a:solidFill>
              <a:schemeClr val="accent5"/>
            </a:solidFill>
            <a:prstDash val="solid"/>
          </a:ln>
        </p:spPr>
      </p:sp>
      <p:sp>
        <p:nvSpPr>
          <p:cNvPr id="26" name="Shape 24"/>
          <p:cNvSpPr/>
          <p:nvPr/>
        </p:nvSpPr>
        <p:spPr>
          <a:xfrm>
            <a:off x="548640" y="3767328"/>
            <a:ext cx="566928" cy="265176"/>
          </a:xfrm>
          <a:prstGeom prst="rect">
            <a:avLst/>
          </a:prstGeom>
          <a:solidFill>
            <a:schemeClr val="accent1"/>
          </a:solidFill>
          <a:ln/>
        </p:spPr>
      </p:sp>
      <p:sp>
        <p:nvSpPr>
          <p:cNvPr id="27" name="Text 25"/>
          <p:cNvSpPr txBox="1"/>
          <p:nvPr/>
        </p:nvSpPr>
        <p:spPr>
          <a:xfrm>
            <a:off x="548640" y="3767328"/>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A5</a:t>
            </a:r>
            <a:endParaRPr lang="es-CL" sz="1200" dirty="0"/>
          </a:p>
        </p:txBody>
      </p:sp>
      <p:sp>
        <p:nvSpPr>
          <p:cNvPr id="28" name="Text 26">
            <a:hlinkClick r:id="rId9" tooltip="Ir a ¿Cómo se compara Lumine con sus competidores?" action="ppaction://hlinksldjump"/>
          </p:cNvPr>
          <p:cNvSpPr txBox="1"/>
          <p:nvPr/>
        </p:nvSpPr>
        <p:spPr>
          <a:xfrm>
            <a:off x="1280160" y="3730752"/>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9" action="ppaction://hlinksldjump" tooltip="Ir a ¿Cómo se compara Lumine con sus competidores?">
                  <a:extLst>
                    <a:ext uri="{A12FA001-AC4F-418D-AE19-62706E023703}">
                      <ahyp:hlinkClr xmlns:ahyp="http://schemas.microsoft.com/office/drawing/2018/hyperlinkcolor" val="tx"/>
                    </a:ext>
                  </a:extLst>
                </a:hlinkClick>
              </a:rPr>
              <a:t>¿Cómo se compara Lumine con sus competidores?</a:t>
            </a:r>
            <a:endParaRPr lang="en-US" sz="1700" dirty="0"/>
          </a:p>
        </p:txBody>
      </p:sp>
      <p:sp>
        <p:nvSpPr>
          <p:cNvPr id="29" name="Text 27">
            <a:hlinkClick r:id="rId10" tooltip="Ir a ¿Cómo se compara Lumine con sus competidores?" action="ppaction://hlinksldjump"/>
          </p:cNvPr>
          <p:cNvSpPr txBox="1"/>
          <p:nvPr/>
        </p:nvSpPr>
        <p:spPr>
          <a:xfrm>
            <a:off x="10637215" y="3730752"/>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0" action="ppaction://hlinksldjump" tooltip="Ir a ¿Cómo se compara Lumine con sus competidores?">
                  <a:extLst>
                    <a:ext uri="{A12FA001-AC4F-418D-AE19-62706E023703}">
                      <ahyp:hlinkClr xmlns:ahyp="http://schemas.microsoft.com/office/drawing/2018/hyperlinkcolor" val="tx"/>
                    </a:ext>
                  </a:extLst>
                </a:hlinkClick>
              </a:rPr>
              <a:t>LÁM. 19</a:t>
            </a:r>
            <a:endParaRPr lang="en-US" sz="1300" dirty="0"/>
          </a:p>
        </p:txBody>
      </p:sp>
      <p:sp>
        <p:nvSpPr>
          <p:cNvPr id="30" name="Shape 28"/>
          <p:cNvSpPr/>
          <p:nvPr/>
        </p:nvSpPr>
        <p:spPr>
          <a:xfrm>
            <a:off x="548640" y="4069080"/>
            <a:ext cx="11094415" cy="0"/>
          </a:xfrm>
          <a:prstGeom prst="line">
            <a:avLst/>
          </a:prstGeom>
          <a:noFill/>
          <a:ln w="9525">
            <a:solidFill>
              <a:schemeClr val="accent5"/>
            </a:solidFill>
            <a:prstDash val="solid"/>
          </a:ln>
        </p:spPr>
      </p:sp>
      <p:sp>
        <p:nvSpPr>
          <p:cNvPr id="31" name="Shape 29"/>
          <p:cNvSpPr/>
          <p:nvPr/>
        </p:nvSpPr>
        <p:spPr>
          <a:xfrm>
            <a:off x="548640" y="4105656"/>
            <a:ext cx="566928" cy="265176"/>
          </a:xfrm>
          <a:prstGeom prst="rect">
            <a:avLst/>
          </a:prstGeom>
          <a:solidFill>
            <a:schemeClr val="accent1"/>
          </a:solidFill>
          <a:ln/>
        </p:spPr>
      </p:sp>
      <p:sp>
        <p:nvSpPr>
          <p:cNvPr id="32" name="Text 30"/>
          <p:cNvSpPr txBox="1"/>
          <p:nvPr/>
        </p:nvSpPr>
        <p:spPr>
          <a:xfrm>
            <a:off x="548640" y="4105656"/>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A6</a:t>
            </a:r>
            <a:endParaRPr lang="es-CL" sz="1200" dirty="0"/>
          </a:p>
        </p:txBody>
      </p:sp>
      <p:sp>
        <p:nvSpPr>
          <p:cNvPr id="33" name="Text 31">
            <a:hlinkClick r:id="rId11" tooltip="Ir a FODA completo, con su evidencia" action="ppaction://hlinksldjump"/>
          </p:cNvPr>
          <p:cNvSpPr txBox="1"/>
          <p:nvPr/>
        </p:nvSpPr>
        <p:spPr>
          <a:xfrm>
            <a:off x="1280160" y="4069080"/>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11" action="ppaction://hlinksldjump" tooltip="Ir a FODA completo, con su evidencia">
                  <a:extLst>
                    <a:ext uri="{A12FA001-AC4F-418D-AE19-62706E023703}">
                      <ahyp:hlinkClr xmlns:ahyp="http://schemas.microsoft.com/office/drawing/2018/hyperlinkcolor" val="tx"/>
                    </a:ext>
                  </a:extLst>
                </a:hlinkClick>
              </a:rPr>
              <a:t>FODA completo, con su evidencia</a:t>
            </a:r>
            <a:endParaRPr lang="en-US" sz="1700" dirty="0"/>
          </a:p>
        </p:txBody>
      </p:sp>
      <p:sp>
        <p:nvSpPr>
          <p:cNvPr id="34" name="Text 32">
            <a:hlinkClick r:id="rId12" tooltip="Ir a FODA completo, con su evidencia" action="ppaction://hlinksldjump"/>
          </p:cNvPr>
          <p:cNvSpPr txBox="1"/>
          <p:nvPr/>
        </p:nvSpPr>
        <p:spPr>
          <a:xfrm>
            <a:off x="10637215" y="4069080"/>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2" action="ppaction://hlinksldjump" tooltip="Ir a FODA completo, con su evidencia">
                  <a:extLst>
                    <a:ext uri="{A12FA001-AC4F-418D-AE19-62706E023703}">
                      <ahyp:hlinkClr xmlns:ahyp="http://schemas.microsoft.com/office/drawing/2018/hyperlinkcolor" val="tx"/>
                    </a:ext>
                  </a:extLst>
                </a:hlinkClick>
              </a:rPr>
              <a:t>LÁM. 20</a:t>
            </a:r>
            <a:endParaRPr lang="en-US" sz="1300" dirty="0"/>
          </a:p>
        </p:txBody>
      </p:sp>
      <p:sp>
        <p:nvSpPr>
          <p:cNvPr id="35" name="Shape 33"/>
          <p:cNvSpPr/>
          <p:nvPr/>
        </p:nvSpPr>
        <p:spPr>
          <a:xfrm>
            <a:off x="548640" y="4407408"/>
            <a:ext cx="11094415" cy="0"/>
          </a:xfrm>
          <a:prstGeom prst="line">
            <a:avLst/>
          </a:prstGeom>
          <a:noFill/>
          <a:ln w="9525">
            <a:solidFill>
              <a:schemeClr val="accent5"/>
            </a:solidFill>
            <a:prstDash val="solid"/>
          </a:ln>
        </p:spPr>
      </p:sp>
      <p:sp>
        <p:nvSpPr>
          <p:cNvPr id="36" name="Shape 34"/>
          <p:cNvSpPr/>
          <p:nvPr/>
        </p:nvSpPr>
        <p:spPr>
          <a:xfrm>
            <a:off x="548640" y="4443984"/>
            <a:ext cx="566928" cy="265176"/>
          </a:xfrm>
          <a:prstGeom prst="rect">
            <a:avLst/>
          </a:prstGeom>
          <a:solidFill>
            <a:schemeClr val="accent1"/>
          </a:solidFill>
          <a:ln/>
        </p:spPr>
      </p:sp>
      <p:sp>
        <p:nvSpPr>
          <p:cNvPr id="37" name="Text 35"/>
          <p:cNvSpPr txBox="1"/>
          <p:nvPr/>
        </p:nvSpPr>
        <p:spPr>
          <a:xfrm>
            <a:off x="548640" y="4443984"/>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A7</a:t>
            </a:r>
            <a:endParaRPr lang="es-CL" sz="1200" dirty="0"/>
          </a:p>
        </p:txBody>
      </p:sp>
      <p:sp>
        <p:nvSpPr>
          <p:cNvPr id="38" name="Text 36">
            <a:hlinkClick r:id="rId13" tooltip="Ir a Misión, visión y valores literales" action="ppaction://hlinksldjump"/>
          </p:cNvPr>
          <p:cNvSpPr txBox="1"/>
          <p:nvPr/>
        </p:nvSpPr>
        <p:spPr>
          <a:xfrm>
            <a:off x="1280160" y="4407408"/>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13" action="ppaction://hlinksldjump" tooltip="Ir a Misión, visión y valores literales">
                  <a:extLst>
                    <a:ext uri="{A12FA001-AC4F-418D-AE19-62706E023703}">
                      <ahyp:hlinkClr xmlns:ahyp="http://schemas.microsoft.com/office/drawing/2018/hyperlinkcolor" val="tx"/>
                    </a:ext>
                  </a:extLst>
                </a:hlinkClick>
              </a:rPr>
              <a:t>Misión, visión y valores literales</a:t>
            </a:r>
            <a:endParaRPr lang="en-US" sz="1700" dirty="0"/>
          </a:p>
        </p:txBody>
      </p:sp>
      <p:sp>
        <p:nvSpPr>
          <p:cNvPr id="39" name="Text 37">
            <a:hlinkClick r:id="rId14" tooltip="Ir a Misión, visión y valores literales" action="ppaction://hlinksldjump"/>
          </p:cNvPr>
          <p:cNvSpPr txBox="1"/>
          <p:nvPr/>
        </p:nvSpPr>
        <p:spPr>
          <a:xfrm>
            <a:off x="10637215" y="4407408"/>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4" action="ppaction://hlinksldjump" tooltip="Ir a Misión, visión y valores literales">
                  <a:extLst>
                    <a:ext uri="{A12FA001-AC4F-418D-AE19-62706E023703}">
                      <ahyp:hlinkClr xmlns:ahyp="http://schemas.microsoft.com/office/drawing/2018/hyperlinkcolor" val="tx"/>
                    </a:ext>
                  </a:extLst>
                </a:hlinkClick>
              </a:rPr>
              <a:t>LÁM. 21</a:t>
            </a:r>
            <a:endParaRPr lang="en-US" sz="1300" dirty="0"/>
          </a:p>
        </p:txBody>
      </p:sp>
      <p:sp>
        <p:nvSpPr>
          <p:cNvPr id="40" name="Shape 38"/>
          <p:cNvSpPr/>
          <p:nvPr/>
        </p:nvSpPr>
        <p:spPr>
          <a:xfrm>
            <a:off x="548640" y="4745736"/>
            <a:ext cx="11094415" cy="0"/>
          </a:xfrm>
          <a:prstGeom prst="line">
            <a:avLst/>
          </a:prstGeom>
          <a:noFill/>
          <a:ln w="9525">
            <a:solidFill>
              <a:schemeClr val="accent5"/>
            </a:solidFill>
            <a:prstDash val="solid"/>
          </a:ln>
        </p:spPr>
      </p:sp>
      <p:sp>
        <p:nvSpPr>
          <p:cNvPr id="41" name="Shape 39"/>
          <p:cNvSpPr/>
          <p:nvPr/>
        </p:nvSpPr>
        <p:spPr>
          <a:xfrm>
            <a:off x="548640" y="4782312"/>
            <a:ext cx="566928" cy="265176"/>
          </a:xfrm>
          <a:prstGeom prst="rect">
            <a:avLst/>
          </a:prstGeom>
          <a:solidFill>
            <a:schemeClr val="accent1"/>
          </a:solidFill>
          <a:ln/>
        </p:spPr>
      </p:sp>
      <p:sp>
        <p:nvSpPr>
          <p:cNvPr id="42" name="Text 40"/>
          <p:cNvSpPr txBox="1"/>
          <p:nvPr/>
        </p:nvSpPr>
        <p:spPr>
          <a:xfrm>
            <a:off x="548640" y="4782312"/>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A8</a:t>
            </a:r>
            <a:endParaRPr lang="es-CL" sz="1200" dirty="0"/>
          </a:p>
        </p:txBody>
      </p:sp>
      <p:sp>
        <p:nvSpPr>
          <p:cNvPr id="43" name="Text 41">
            <a:hlinkClick r:id="rId15" tooltip="Ir a ¿De dónde sale cada cifra pública?" action="ppaction://hlinksldjump"/>
          </p:cNvPr>
          <p:cNvSpPr txBox="1"/>
          <p:nvPr/>
        </p:nvSpPr>
        <p:spPr>
          <a:xfrm>
            <a:off x="1280160" y="4745736"/>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15" action="ppaction://hlinksldjump" tooltip="Ir a ¿De dónde sale cada cifra pública?">
                  <a:extLst>
                    <a:ext uri="{A12FA001-AC4F-418D-AE19-62706E023703}">
                      <ahyp:hlinkClr xmlns:ahyp="http://schemas.microsoft.com/office/drawing/2018/hyperlinkcolor" val="tx"/>
                    </a:ext>
                  </a:extLst>
                </a:hlinkClick>
              </a:rPr>
              <a:t>¿De dónde sale cada cifra pública?</a:t>
            </a:r>
            <a:endParaRPr lang="en-US" sz="1700" dirty="0"/>
          </a:p>
        </p:txBody>
      </p:sp>
      <p:sp>
        <p:nvSpPr>
          <p:cNvPr id="44" name="Text 42">
            <a:hlinkClick r:id="rId16" tooltip="Ir a ¿De dónde sale cada cifra pública?" action="ppaction://hlinksldjump"/>
          </p:cNvPr>
          <p:cNvSpPr txBox="1"/>
          <p:nvPr/>
        </p:nvSpPr>
        <p:spPr>
          <a:xfrm>
            <a:off x="10637215" y="4745736"/>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6" action="ppaction://hlinksldjump" tooltip="Ir a ¿De dónde sale cada cifra pública?">
                  <a:extLst>
                    <a:ext uri="{A12FA001-AC4F-418D-AE19-62706E023703}">
                      <ahyp:hlinkClr xmlns:ahyp="http://schemas.microsoft.com/office/drawing/2018/hyperlinkcolor" val="tx"/>
                    </a:ext>
                  </a:extLst>
                </a:hlinkClick>
              </a:rPr>
              <a:t>LÁM. 22</a:t>
            </a:r>
            <a:endParaRPr lang="en-US" sz="1300" dirty="0"/>
          </a:p>
        </p:txBody>
      </p:sp>
      <p:sp>
        <p:nvSpPr>
          <p:cNvPr id="45" name="Shape 43"/>
          <p:cNvSpPr/>
          <p:nvPr/>
        </p:nvSpPr>
        <p:spPr>
          <a:xfrm>
            <a:off x="548640" y="5084064"/>
            <a:ext cx="11094415" cy="0"/>
          </a:xfrm>
          <a:prstGeom prst="line">
            <a:avLst/>
          </a:prstGeom>
          <a:noFill/>
          <a:ln w="9525">
            <a:solidFill>
              <a:schemeClr val="accent5"/>
            </a:solidFill>
            <a:prstDash val="solid"/>
          </a:ln>
        </p:spPr>
      </p:sp>
      <p:sp>
        <p:nvSpPr>
          <p:cNvPr id="46" name="Shape 44"/>
          <p:cNvSpPr/>
          <p:nvPr/>
        </p:nvSpPr>
        <p:spPr>
          <a:xfrm>
            <a:off x="548640" y="5120640"/>
            <a:ext cx="566928" cy="265176"/>
          </a:xfrm>
          <a:prstGeom prst="rect">
            <a:avLst/>
          </a:prstGeom>
          <a:solidFill>
            <a:schemeClr val="accent1"/>
          </a:solidFill>
          <a:ln/>
        </p:spPr>
      </p:sp>
      <p:sp>
        <p:nvSpPr>
          <p:cNvPr id="47" name="Text 45"/>
          <p:cNvSpPr txBox="1"/>
          <p:nvPr/>
        </p:nvSpPr>
        <p:spPr>
          <a:xfrm>
            <a:off x="548640" y="5120640"/>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A9</a:t>
            </a:r>
            <a:endParaRPr lang="es-CL" sz="1200" dirty="0"/>
          </a:p>
        </p:txBody>
      </p:sp>
      <p:sp>
        <p:nvSpPr>
          <p:cNvPr id="48" name="Text 46">
            <a:hlinkClick r:id="rId17" tooltip="Ir a ¿Qué es dato, estimación o supuesto?" action="ppaction://hlinksldjump"/>
          </p:cNvPr>
          <p:cNvSpPr txBox="1"/>
          <p:nvPr/>
        </p:nvSpPr>
        <p:spPr>
          <a:xfrm>
            <a:off x="1280160" y="5084064"/>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17" action="ppaction://hlinksldjump" tooltip="Ir a ¿Qué es dato, estimación o supuesto?">
                  <a:extLst>
                    <a:ext uri="{A12FA001-AC4F-418D-AE19-62706E023703}">
                      <ahyp:hlinkClr xmlns:ahyp="http://schemas.microsoft.com/office/drawing/2018/hyperlinkcolor" val="tx"/>
                    </a:ext>
                  </a:extLst>
                </a:hlinkClick>
              </a:rPr>
              <a:t>¿Qué es dato, estimación o supuesto?</a:t>
            </a:r>
            <a:endParaRPr lang="en-US" sz="1700" dirty="0"/>
          </a:p>
        </p:txBody>
      </p:sp>
      <p:sp>
        <p:nvSpPr>
          <p:cNvPr id="49" name="Text 47">
            <a:hlinkClick r:id="rId18" tooltip="Ir a ¿Qué es dato, estimación o supuesto?" action="ppaction://hlinksldjump"/>
          </p:cNvPr>
          <p:cNvSpPr txBox="1"/>
          <p:nvPr/>
        </p:nvSpPr>
        <p:spPr>
          <a:xfrm>
            <a:off x="10637215" y="5084064"/>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8" action="ppaction://hlinksldjump" tooltip="Ir a ¿Qué es dato, estimación o supuesto?">
                  <a:extLst>
                    <a:ext uri="{A12FA001-AC4F-418D-AE19-62706E023703}">
                      <ahyp:hlinkClr xmlns:ahyp="http://schemas.microsoft.com/office/drawing/2018/hyperlinkcolor" val="tx"/>
                    </a:ext>
                  </a:extLst>
                </a:hlinkClick>
              </a:rPr>
              <a:t>LÁM. 23</a:t>
            </a:r>
            <a:endParaRPr lang="en-US" sz="1300" dirty="0"/>
          </a:p>
        </p:txBody>
      </p:sp>
      <p:sp>
        <p:nvSpPr>
          <p:cNvPr id="50" name="Shape 48"/>
          <p:cNvSpPr/>
          <p:nvPr/>
        </p:nvSpPr>
        <p:spPr>
          <a:xfrm>
            <a:off x="548640" y="5422392"/>
            <a:ext cx="11094415" cy="0"/>
          </a:xfrm>
          <a:prstGeom prst="line">
            <a:avLst/>
          </a:prstGeom>
          <a:noFill/>
          <a:ln w="9525">
            <a:solidFill>
              <a:schemeClr val="accent5"/>
            </a:solidFill>
            <a:prstDash val="solid"/>
          </a:ln>
        </p:spPr>
      </p:sp>
      <p:sp>
        <p:nvSpPr>
          <p:cNvPr id="51" name="Shape 49"/>
          <p:cNvSpPr/>
          <p:nvPr/>
        </p:nvSpPr>
        <p:spPr>
          <a:xfrm>
            <a:off x="548640" y="5458968"/>
            <a:ext cx="566928" cy="265176"/>
          </a:xfrm>
          <a:prstGeom prst="rect">
            <a:avLst/>
          </a:prstGeom>
          <a:solidFill>
            <a:schemeClr val="accent1"/>
          </a:solidFill>
          <a:ln/>
        </p:spPr>
      </p:sp>
      <p:sp>
        <p:nvSpPr>
          <p:cNvPr id="52" name="Text 50"/>
          <p:cNvSpPr txBox="1"/>
          <p:nvPr/>
        </p:nvSpPr>
        <p:spPr>
          <a:xfrm>
            <a:off x="548640" y="5458968"/>
            <a:ext cx="566928" cy="265176"/>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A10</a:t>
            </a:r>
            <a:endParaRPr lang="es-CL" sz="1200" dirty="0"/>
          </a:p>
        </p:txBody>
      </p:sp>
      <p:sp>
        <p:nvSpPr>
          <p:cNvPr id="53" name="Text 51">
            <a:hlinkClick r:id="rId19" tooltip="Ir a ¿Dónde está cada lámina en el informe?" action="ppaction://hlinksldjump"/>
          </p:cNvPr>
          <p:cNvSpPr txBox="1"/>
          <p:nvPr/>
        </p:nvSpPr>
        <p:spPr>
          <a:xfrm>
            <a:off x="1280160" y="5422392"/>
            <a:ext cx="9265615" cy="338328"/>
          </a:xfrm>
          <a:prstGeom prst="rect">
            <a:avLst/>
          </a:prstGeom>
          <a:noFill/>
          <a:ln/>
        </p:spPr>
        <p:txBody>
          <a:bodyPr wrap="square" lIns="0" tIns="0" rIns="0" bIns="0" rtlCol="0" anchor="ctr"/>
          <a:lstStyle/>
          <a:p>
            <a:pPr indent="0" marL="0">
              <a:buNone/>
            </a:pPr>
            <a:r>
              <a:rPr lang="en-US" sz="1700" u="sng" dirty="0">
                <a:solidFill>
                  <a:schemeClr val="tx1"/>
                </a:solidFill>
                <a:latin typeface="Figtree" pitchFamily="34" charset="0"/>
                <a:ea typeface="Figtree" pitchFamily="34" charset="-122"/>
                <a:cs typeface="Figtree" pitchFamily="34" charset="-120"/>
                <a:hlinkClick r:id="rId19" action="ppaction://hlinksldjump" tooltip="Ir a ¿Dónde está cada lámina en el informe?">
                  <a:extLst>
                    <a:ext uri="{A12FA001-AC4F-418D-AE19-62706E023703}">
                      <ahyp:hlinkClr xmlns:ahyp="http://schemas.microsoft.com/office/drawing/2018/hyperlinkcolor" val="tx"/>
                    </a:ext>
                  </a:extLst>
                </a:hlinkClick>
              </a:rPr>
              <a:t>¿Dónde está cada lámina en el informe?</a:t>
            </a:r>
            <a:endParaRPr lang="en-US" sz="1700" dirty="0"/>
          </a:p>
        </p:txBody>
      </p:sp>
      <p:sp>
        <p:nvSpPr>
          <p:cNvPr id="54" name="Text 52">
            <a:hlinkClick r:id="rId20" tooltip="Ir a ¿Dónde está cada lámina en el informe?" action="ppaction://hlinksldjump"/>
          </p:cNvPr>
          <p:cNvSpPr txBox="1"/>
          <p:nvPr/>
        </p:nvSpPr>
        <p:spPr>
          <a:xfrm>
            <a:off x="10637215" y="5422392"/>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0" action="ppaction://hlinksldjump" tooltip="Ir a ¿Dónde está cada lámina en el informe?">
                  <a:extLst>
                    <a:ext uri="{A12FA001-AC4F-418D-AE19-62706E023703}">
                      <ahyp:hlinkClr xmlns:ahyp="http://schemas.microsoft.com/office/drawing/2018/hyperlinkcolor" val="tx"/>
                    </a:ext>
                  </a:extLst>
                </a:hlinkClick>
              </a:rPr>
              <a:t>LÁM. 24</a:t>
            </a:r>
            <a:endParaRPr lang="en-US" sz="1300" dirty="0"/>
          </a:p>
        </p:txBody>
      </p:sp>
      <p:sp>
        <p:nvSpPr>
          <p:cNvPr id="55" name="Shape 53"/>
          <p:cNvSpPr/>
          <p:nvPr/>
        </p:nvSpPr>
        <p:spPr>
          <a:xfrm>
            <a:off x="548640" y="5760720"/>
            <a:ext cx="11094415" cy="0"/>
          </a:xfrm>
          <a:prstGeom prst="line">
            <a:avLst/>
          </a:prstGeom>
          <a:noFill/>
          <a:ln w="9525">
            <a:solidFill>
              <a:schemeClr val="accent5"/>
            </a:solidFill>
            <a:prstDash val="solid"/>
          </a:ln>
        </p:spPr>
      </p:sp>
      <p:sp>
        <p:nvSpPr>
          <p:cNvPr id="56" name="Shape 54"/>
          <p:cNvSpPr/>
          <p:nvPr/>
        </p:nvSpPr>
        <p:spPr>
          <a:xfrm>
            <a:off x="548640" y="5797296"/>
            <a:ext cx="566928" cy="265176"/>
          </a:xfrm>
          <a:prstGeom prst="rect">
            <a:avLst/>
          </a:prstGeom>
          <a:solidFill>
            <a:schemeClr val="accent5"/>
          </a:solidFill>
          <a:ln/>
        </p:spPr>
      </p:sp>
      <p:sp>
        <p:nvSpPr>
          <p:cNvPr id="57" name="Text 55"/>
          <p:cNvSpPr txBox="1"/>
          <p:nvPr/>
        </p:nvSpPr>
        <p:spPr>
          <a:xfrm>
            <a:off x="548640" y="5797296"/>
            <a:ext cx="566928" cy="265176"/>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A11</a:t>
            </a:r>
            <a:endParaRPr lang="es-CL" sz="1200" dirty="0"/>
          </a:p>
        </p:txBody>
      </p:sp>
      <p:sp>
        <p:nvSpPr>
          <p:cNvPr id="58" name="Text 56">
            <a:hlinkClick r:id="rId21" tooltip="Ir a Respaldo para el Avance 2 (no se expone)" action="ppaction://hlinksldjump"/>
          </p:cNvPr>
          <p:cNvSpPr txBox="1"/>
          <p:nvPr/>
        </p:nvSpPr>
        <p:spPr>
          <a:xfrm>
            <a:off x="1280160" y="5760720"/>
            <a:ext cx="9265615" cy="338328"/>
          </a:xfrm>
          <a:prstGeom prst="rect">
            <a:avLst/>
          </a:prstGeom>
          <a:noFill/>
          <a:ln/>
        </p:spPr>
        <p:txBody>
          <a:bodyPr wrap="square" lIns="0" tIns="0" rIns="0" bIns="0" rtlCol="0" anchor="ctr"/>
          <a:lstStyle/>
          <a:p>
            <a:pPr indent="0" marL="0">
              <a:buNone/>
            </a:pPr>
            <a:r>
              <a:rPr lang="en-US" sz="1700" u="sng" dirty="0">
                <a:solidFill>
                  <a:schemeClr val="tx2"/>
                </a:solidFill>
                <a:latin typeface="Figtree" pitchFamily="34" charset="0"/>
                <a:ea typeface="Figtree" pitchFamily="34" charset="-122"/>
                <a:cs typeface="Figtree" pitchFamily="34" charset="-120"/>
                <a:hlinkClick r:id="rId21" action="ppaction://hlinksldjump" tooltip="Ir a Respaldo para el Avance 2 (no se expone)">
                  <a:extLst>
                    <a:ext uri="{A12FA001-AC4F-418D-AE19-62706E023703}">
                      <ahyp:hlinkClr xmlns:ahyp="http://schemas.microsoft.com/office/drawing/2018/hyperlinkcolor" val="tx"/>
                    </a:ext>
                  </a:extLst>
                </a:hlinkClick>
              </a:rPr>
              <a:t>Respaldo para el Avance 2 (no se expone)</a:t>
            </a:r>
            <a:endParaRPr lang="en-US" sz="1700" dirty="0"/>
          </a:p>
        </p:txBody>
      </p:sp>
      <p:sp>
        <p:nvSpPr>
          <p:cNvPr id="59" name="Text 57">
            <a:hlinkClick r:id="rId22" tooltip="Ir a Respaldo para el Avance 2 (no se expone)" action="ppaction://hlinksldjump"/>
          </p:cNvPr>
          <p:cNvSpPr txBox="1"/>
          <p:nvPr/>
        </p:nvSpPr>
        <p:spPr>
          <a:xfrm>
            <a:off x="10637215" y="5760720"/>
            <a:ext cx="1005840" cy="33832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2" action="ppaction://hlinksldjump" tooltip="Ir a Respaldo para el Avance 2 (no se expone)">
                  <a:extLst>
                    <a:ext uri="{A12FA001-AC4F-418D-AE19-62706E023703}">
                      <ahyp:hlinkClr xmlns:ahyp="http://schemas.microsoft.com/office/drawing/2018/hyperlinkcolor" val="tx"/>
                    </a:ext>
                  </a:extLst>
                </a:hlinkClick>
              </a:rPr>
              <a:t>LÁM. 25</a:t>
            </a:r>
            <a:endParaRPr lang="en-US" sz="1300" dirty="0"/>
          </a:p>
        </p:txBody>
      </p:sp>
      <p:sp>
        <p:nvSpPr>
          <p:cNvPr id="60" name="Shape 58"/>
          <p:cNvSpPr/>
          <p:nvPr/>
        </p:nvSpPr>
        <p:spPr>
          <a:xfrm>
            <a:off x="548640" y="6099048"/>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PEST · INSTRUMENTO 03</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PEST POR DIMENSIÓN,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hoy y a futuro.</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 03 del equipo; Banco Central de Chile (2026); INE (2026); BloombergNEF (2025); CAVEM (2026).</a:t>
            </a:r>
            <a:endParaRPr lang="es-CL" sz="1100" dirty="0"/>
          </a:p>
        </p:txBody>
      </p:sp>
      <p:sp>
        <p:nvSpPr>
          <p:cNvPr id="6" name="Text 4"/>
          <p:cNvSpPr txBox="1"/>
          <p:nvPr/>
        </p:nvSpPr>
        <p:spPr>
          <a:xfrm>
            <a:off x="548640" y="2350008"/>
            <a:ext cx="21031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DIMENSIÓN</a:t>
            </a:r>
            <a:endParaRPr lang="es-CL" sz="1200" dirty="0"/>
          </a:p>
        </p:txBody>
      </p:sp>
      <p:sp>
        <p:nvSpPr>
          <p:cNvPr id="7" name="Text 5"/>
          <p:cNvSpPr txBox="1"/>
          <p:nvPr/>
        </p:nvSpPr>
        <p:spPr>
          <a:xfrm>
            <a:off x="2651760" y="235000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HOY</a:t>
            </a:r>
            <a:endParaRPr lang="es-CL" sz="1200" dirty="0"/>
          </a:p>
        </p:txBody>
      </p:sp>
      <p:sp>
        <p:nvSpPr>
          <p:cNvPr id="8" name="Text 6"/>
          <p:cNvSpPr txBox="1"/>
          <p:nvPr/>
        </p:nvSpPr>
        <p:spPr>
          <a:xfrm>
            <a:off x="3383280" y="235000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FUTURO</a:t>
            </a:r>
            <a:endParaRPr lang="es-CL" sz="1200" dirty="0"/>
          </a:p>
        </p:txBody>
      </p:sp>
      <p:sp>
        <p:nvSpPr>
          <p:cNvPr id="9" name="Text 7"/>
          <p:cNvSpPr txBox="1"/>
          <p:nvPr/>
        </p:nvSpPr>
        <p:spPr>
          <a:xfrm>
            <a:off x="4297680" y="2350008"/>
            <a:ext cx="36118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 FAVOR</a:t>
            </a:r>
            <a:endParaRPr lang="es-CL" sz="1200" dirty="0"/>
          </a:p>
        </p:txBody>
      </p:sp>
      <p:sp>
        <p:nvSpPr>
          <p:cNvPr id="10" name="Text 8"/>
          <p:cNvSpPr txBox="1"/>
          <p:nvPr/>
        </p:nvSpPr>
        <p:spPr>
          <a:xfrm>
            <a:off x="7909560" y="2350008"/>
            <a:ext cx="37334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EN CONTRA</a:t>
            </a:r>
            <a:endParaRPr lang="es-CL" sz="1200" dirty="0"/>
          </a:p>
        </p:txBody>
      </p:sp>
      <p:sp>
        <p:nvSpPr>
          <p:cNvPr id="11" name="Shape 9"/>
          <p:cNvSpPr/>
          <p:nvPr/>
        </p:nvSpPr>
        <p:spPr>
          <a:xfrm>
            <a:off x="548640" y="2660904"/>
            <a:ext cx="11094415" cy="0"/>
          </a:xfrm>
          <a:prstGeom prst="line">
            <a:avLst/>
          </a:prstGeom>
          <a:noFill/>
          <a:ln w="9525">
            <a:solidFill>
              <a:schemeClr val="accent1"/>
            </a:solidFill>
            <a:prstDash val="solid"/>
          </a:ln>
        </p:spPr>
      </p:sp>
      <p:sp>
        <p:nvSpPr>
          <p:cNvPr id="12" name="Text 10"/>
          <p:cNvSpPr txBox="1"/>
          <p:nvPr/>
        </p:nvSpPr>
        <p:spPr>
          <a:xfrm>
            <a:off x="548640" y="2660904"/>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Político-jurídico</a:t>
            </a:r>
            <a:endParaRPr lang="es-CL" sz="1400" dirty="0"/>
          </a:p>
        </p:txBody>
      </p:sp>
      <p:sp>
        <p:nvSpPr>
          <p:cNvPr id="13" name="Text 11"/>
          <p:cNvSpPr txBox="1"/>
          <p:nvPr/>
        </p:nvSpPr>
        <p:spPr>
          <a:xfrm>
            <a:off x="2651760" y="2660904"/>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2,67</a:t>
            </a:r>
            <a:endParaRPr lang="es-CL" sz="1400" dirty="0"/>
          </a:p>
        </p:txBody>
      </p:sp>
      <p:sp>
        <p:nvSpPr>
          <p:cNvPr id="14" name="Text 12"/>
          <p:cNvSpPr txBox="1"/>
          <p:nvPr/>
        </p:nvSpPr>
        <p:spPr>
          <a:xfrm>
            <a:off x="3383280" y="2660904"/>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2,78</a:t>
            </a:r>
            <a:endParaRPr lang="es-CL" sz="1400" dirty="0"/>
          </a:p>
        </p:txBody>
      </p:sp>
      <p:sp>
        <p:nvSpPr>
          <p:cNvPr id="15" name="Text 13"/>
          <p:cNvSpPr txBox="1"/>
          <p:nvPr/>
        </p:nvSpPr>
        <p:spPr>
          <a:xfrm>
            <a:off x="4297680" y="2660904"/>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Ley 21.455 de carbono neutralidad (oportunidad leve)</a:t>
            </a:r>
            <a:endParaRPr lang="es-CL" sz="1400" dirty="0"/>
          </a:p>
        </p:txBody>
      </p:sp>
      <p:sp>
        <p:nvSpPr>
          <p:cNvPr id="16" name="Text 14"/>
          <p:cNvSpPr txBox="1"/>
          <p:nvPr/>
        </p:nvSpPr>
        <p:spPr>
          <a:xfrm>
            <a:off x="7909560" y="2660904"/>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Ley 21.793 sin reglamento (gran amenaza); IVA completo</a:t>
            </a:r>
            <a:endParaRPr lang="es-CL" sz="1400" dirty="0"/>
          </a:p>
        </p:txBody>
      </p:sp>
      <p:sp>
        <p:nvSpPr>
          <p:cNvPr id="17" name="Shape 15"/>
          <p:cNvSpPr/>
          <p:nvPr/>
        </p:nvSpPr>
        <p:spPr>
          <a:xfrm>
            <a:off x="548640" y="3374136"/>
            <a:ext cx="11094415" cy="0"/>
          </a:xfrm>
          <a:prstGeom prst="line">
            <a:avLst/>
          </a:prstGeom>
          <a:noFill/>
          <a:ln w="9525">
            <a:solidFill>
              <a:schemeClr val="accent5"/>
            </a:solidFill>
            <a:prstDash val="solid"/>
          </a:ln>
        </p:spPr>
      </p:sp>
      <p:sp>
        <p:nvSpPr>
          <p:cNvPr id="18" name="Text 16"/>
          <p:cNvSpPr txBox="1"/>
          <p:nvPr/>
        </p:nvSpPr>
        <p:spPr>
          <a:xfrm>
            <a:off x="548640" y="3374136"/>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Económico</a:t>
            </a:r>
            <a:endParaRPr lang="es-CL" sz="1400" dirty="0"/>
          </a:p>
        </p:txBody>
      </p:sp>
      <p:sp>
        <p:nvSpPr>
          <p:cNvPr id="19" name="Text 17"/>
          <p:cNvSpPr txBox="1"/>
          <p:nvPr/>
        </p:nvSpPr>
        <p:spPr>
          <a:xfrm>
            <a:off x="2651760" y="3374136"/>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2,38</a:t>
            </a:r>
            <a:endParaRPr lang="es-CL" sz="1400" dirty="0"/>
          </a:p>
        </p:txBody>
      </p:sp>
      <p:sp>
        <p:nvSpPr>
          <p:cNvPr id="20" name="Text 18"/>
          <p:cNvSpPr txBox="1"/>
          <p:nvPr/>
        </p:nvSpPr>
        <p:spPr>
          <a:xfrm>
            <a:off x="3383280" y="3374136"/>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2,81</a:t>
            </a:r>
            <a:endParaRPr lang="es-CL" sz="1400" dirty="0"/>
          </a:p>
        </p:txBody>
      </p:sp>
      <p:sp>
        <p:nvSpPr>
          <p:cNvPr id="21" name="Text 19"/>
          <p:cNvSpPr txBox="1"/>
          <p:nvPr/>
        </p:nvSpPr>
        <p:spPr>
          <a:xfrm>
            <a:off x="4297680" y="3374136"/>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Bencina más cara; packs LFP a US$81/kWh (promedio mundial)</a:t>
            </a:r>
            <a:endParaRPr lang="es-CL" sz="1400" dirty="0"/>
          </a:p>
        </p:txBody>
      </p:sp>
      <p:sp>
        <p:nvSpPr>
          <p:cNvPr id="22" name="Text 20"/>
          <p:cNvSpPr txBox="1"/>
          <p:nvPr/>
        </p:nvSpPr>
        <p:spPr>
          <a:xfrm>
            <a:off x="7909560" y="3374136"/>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Ingreso disponible (gran amenaza); dólar sobre $970; PIB 2026 de 0,25% a 0,75%; desempleo 9,6%</a:t>
            </a:r>
            <a:endParaRPr lang="es-CL" sz="1400" dirty="0"/>
          </a:p>
        </p:txBody>
      </p:sp>
      <p:sp>
        <p:nvSpPr>
          <p:cNvPr id="23" name="Shape 21"/>
          <p:cNvSpPr/>
          <p:nvPr/>
        </p:nvSpPr>
        <p:spPr>
          <a:xfrm>
            <a:off x="548640" y="4087368"/>
            <a:ext cx="11094415" cy="0"/>
          </a:xfrm>
          <a:prstGeom prst="line">
            <a:avLst/>
          </a:prstGeom>
          <a:noFill/>
          <a:ln w="9525">
            <a:solidFill>
              <a:schemeClr val="accent5"/>
            </a:solidFill>
            <a:prstDash val="solid"/>
          </a:ln>
        </p:spPr>
      </p:sp>
      <p:sp>
        <p:nvSpPr>
          <p:cNvPr id="24" name="Text 22"/>
          <p:cNvSpPr txBox="1"/>
          <p:nvPr/>
        </p:nvSpPr>
        <p:spPr>
          <a:xfrm>
            <a:off x="548640" y="4087368"/>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Sociocultural</a:t>
            </a:r>
            <a:endParaRPr lang="es-CL" sz="1400" dirty="0"/>
          </a:p>
        </p:txBody>
      </p:sp>
      <p:sp>
        <p:nvSpPr>
          <p:cNvPr id="25" name="Text 23"/>
          <p:cNvSpPr txBox="1"/>
          <p:nvPr/>
        </p:nvSpPr>
        <p:spPr>
          <a:xfrm>
            <a:off x="2651760" y="4087368"/>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3,00</a:t>
            </a:r>
            <a:endParaRPr lang="es-CL" sz="1400" dirty="0"/>
          </a:p>
        </p:txBody>
      </p:sp>
      <p:sp>
        <p:nvSpPr>
          <p:cNvPr id="26" name="Text 24"/>
          <p:cNvSpPr txBox="1"/>
          <p:nvPr/>
        </p:nvSpPr>
        <p:spPr>
          <a:xfrm>
            <a:off x="3383280" y="4087368"/>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3,00</a:t>
            </a:r>
            <a:endParaRPr lang="es-CL" sz="1400" dirty="0"/>
          </a:p>
        </p:txBody>
      </p:sp>
      <p:sp>
        <p:nvSpPr>
          <p:cNvPr id="27" name="Text 25"/>
          <p:cNvSpPr txBox="1"/>
          <p:nvPr/>
        </p:nvSpPr>
        <p:spPr>
          <a:xfrm>
            <a:off x="4297680" y="4087368"/>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3,5 usados por cada nuevo (gran oportunidad)</a:t>
            </a:r>
            <a:endParaRPr lang="es-CL" sz="1400" dirty="0"/>
          </a:p>
        </p:txBody>
      </p:sp>
      <p:sp>
        <p:nvSpPr>
          <p:cNvPr id="28" name="Text 26"/>
          <p:cNvSpPr txBox="1"/>
          <p:nvPr/>
        </p:nvSpPr>
        <p:spPr>
          <a:xfrm>
            <a:off x="7909560" y="4087368"/>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Posibles exclusiones de modificados en seguros (por verificar); pago por sostenibilidad sesgado por ingreso</a:t>
            </a:r>
            <a:endParaRPr lang="es-CL" sz="1400" dirty="0"/>
          </a:p>
        </p:txBody>
      </p:sp>
      <p:sp>
        <p:nvSpPr>
          <p:cNvPr id="29" name="Shape 27"/>
          <p:cNvSpPr/>
          <p:nvPr/>
        </p:nvSpPr>
        <p:spPr>
          <a:xfrm>
            <a:off x="548640" y="4800600"/>
            <a:ext cx="11094415" cy="0"/>
          </a:xfrm>
          <a:prstGeom prst="line">
            <a:avLst/>
          </a:prstGeom>
          <a:noFill/>
          <a:ln w="9525">
            <a:solidFill>
              <a:schemeClr val="accent5"/>
            </a:solidFill>
            <a:prstDash val="solid"/>
          </a:ln>
        </p:spPr>
      </p:sp>
      <p:sp>
        <p:nvSpPr>
          <p:cNvPr id="30" name="Text 28"/>
          <p:cNvSpPr txBox="1"/>
          <p:nvPr/>
        </p:nvSpPr>
        <p:spPr>
          <a:xfrm>
            <a:off x="548640" y="4800600"/>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Tecnológico</a:t>
            </a:r>
            <a:endParaRPr lang="es-CL" sz="1400" dirty="0"/>
          </a:p>
        </p:txBody>
      </p:sp>
      <p:sp>
        <p:nvSpPr>
          <p:cNvPr id="31" name="Text 29"/>
          <p:cNvSpPr txBox="1"/>
          <p:nvPr/>
        </p:nvSpPr>
        <p:spPr>
          <a:xfrm>
            <a:off x="2651760" y="4800600"/>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3,23</a:t>
            </a:r>
            <a:endParaRPr lang="es-CL" sz="1400" dirty="0"/>
          </a:p>
        </p:txBody>
      </p:sp>
      <p:sp>
        <p:nvSpPr>
          <p:cNvPr id="32" name="Text 30"/>
          <p:cNvSpPr txBox="1"/>
          <p:nvPr/>
        </p:nvSpPr>
        <p:spPr>
          <a:xfrm>
            <a:off x="3383280" y="4800600"/>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3,38</a:t>
            </a:r>
            <a:endParaRPr lang="es-CL" sz="1400" dirty="0"/>
          </a:p>
        </p:txBody>
      </p:sp>
      <p:sp>
        <p:nvSpPr>
          <p:cNvPr id="33" name="Text 31"/>
          <p:cNvSpPr txBox="1"/>
          <p:nvPr/>
        </p:nvSpPr>
        <p:spPr>
          <a:xfrm>
            <a:off x="4297680" y="4800600"/>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Componentes maduros y estandarizados</a:t>
            </a:r>
            <a:endParaRPr lang="es-CL" sz="1400" dirty="0"/>
          </a:p>
        </p:txBody>
      </p:sp>
      <p:sp>
        <p:nvSpPr>
          <p:cNvPr id="34" name="Text 32"/>
          <p:cNvSpPr txBox="1"/>
          <p:nvPr/>
        </p:nvSpPr>
        <p:spPr>
          <a:xfrm>
            <a:off x="7909560" y="4800600"/>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Sin proveedor local de baterías</a:t>
            </a:r>
            <a:endParaRPr lang="es-CL" sz="1400" dirty="0"/>
          </a:p>
        </p:txBody>
      </p:sp>
      <p:sp>
        <p:nvSpPr>
          <p:cNvPr id="35" name="Shape 33"/>
          <p:cNvSpPr/>
          <p:nvPr/>
        </p:nvSpPr>
        <p:spPr>
          <a:xfrm>
            <a:off x="548640" y="5513832"/>
            <a:ext cx="11094415" cy="0"/>
          </a:xfrm>
          <a:prstGeom prst="line">
            <a:avLst/>
          </a:prstGeom>
          <a:noFill/>
          <a:ln w="9525">
            <a:solidFill>
              <a:schemeClr val="accent5"/>
            </a:solidFill>
            <a:prstDash val="solid"/>
          </a:ln>
        </p:spPr>
      </p:sp>
      <p:sp>
        <p:nvSpPr>
          <p:cNvPr id="36" name="Text 34"/>
          <p:cNvSpPr txBox="1"/>
          <p:nvPr/>
        </p:nvSpPr>
        <p:spPr>
          <a:xfrm>
            <a:off x="548640" y="5513832"/>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Global</a:t>
            </a:r>
            <a:endParaRPr lang="es-CL" sz="1400" dirty="0"/>
          </a:p>
        </p:txBody>
      </p:sp>
      <p:sp>
        <p:nvSpPr>
          <p:cNvPr id="37" name="Text 35"/>
          <p:cNvSpPr txBox="1"/>
          <p:nvPr/>
        </p:nvSpPr>
        <p:spPr>
          <a:xfrm>
            <a:off x="2651760" y="5513832"/>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2,82</a:t>
            </a:r>
            <a:endParaRPr lang="es-CL" sz="1400" dirty="0"/>
          </a:p>
        </p:txBody>
      </p:sp>
      <p:sp>
        <p:nvSpPr>
          <p:cNvPr id="38" name="Text 36"/>
          <p:cNvSpPr txBox="1"/>
          <p:nvPr/>
        </p:nvSpPr>
        <p:spPr>
          <a:xfrm>
            <a:off x="3383280" y="5513832"/>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2,99</a:t>
            </a:r>
            <a:endParaRPr lang="es-CL" sz="1400" dirty="0"/>
          </a:p>
        </p:txBody>
      </p:sp>
      <p:sp>
        <p:nvSpPr>
          <p:cNvPr id="39" name="Text 37"/>
          <p:cNvSpPr txBox="1"/>
          <p:nvPr/>
        </p:nvSpPr>
        <p:spPr>
          <a:xfrm>
            <a:off x="4297680" y="5513832"/>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13 oportunidades</a:t>
            </a:r>
            <a:endParaRPr lang="es-CL" sz="1400" dirty="0"/>
          </a:p>
        </p:txBody>
      </p:sp>
      <p:sp>
        <p:nvSpPr>
          <p:cNvPr id="40" name="Text 38"/>
          <p:cNvSpPr txBox="1"/>
          <p:nvPr/>
        </p:nvSpPr>
        <p:spPr>
          <a:xfrm>
            <a:off x="7909560" y="5513832"/>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20 amenazas · 18 neutros</a:t>
            </a:r>
            <a:endParaRPr lang="es-CL" sz="1400" dirty="0"/>
          </a:p>
        </p:txBody>
      </p:sp>
      <p:sp>
        <p:nvSpPr>
          <p:cNvPr id="41" name="Shape 39"/>
          <p:cNvSpPr/>
          <p:nvPr/>
        </p:nvSpPr>
        <p:spPr>
          <a:xfrm>
            <a:off x="548640" y="6227064"/>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CINCO FUERZAS · INSTRUMENTO 02</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3,49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es peso por intensidad.</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02 del equipo. La ponderación es un supuesto del modelo, no una medición del mercado.</a:t>
            </a:r>
            <a:endParaRPr lang="es-CL" sz="1100" dirty="0"/>
          </a:p>
        </p:txBody>
      </p:sp>
      <p:sp>
        <p:nvSpPr>
          <p:cNvPr id="6" name="Text 4"/>
          <p:cNvSpPr txBox="1"/>
          <p:nvPr/>
        </p:nvSpPr>
        <p:spPr>
          <a:xfrm>
            <a:off x="548640" y="2350008"/>
            <a:ext cx="23774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FUERZA</a:t>
            </a:r>
            <a:endParaRPr lang="es-CL" sz="1200" dirty="0"/>
          </a:p>
        </p:txBody>
      </p:sp>
      <p:sp>
        <p:nvSpPr>
          <p:cNvPr id="7" name="Text 5"/>
          <p:cNvSpPr txBox="1"/>
          <p:nvPr/>
        </p:nvSpPr>
        <p:spPr>
          <a:xfrm>
            <a:off x="2926080" y="235000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PESO</a:t>
            </a:r>
            <a:endParaRPr lang="es-CL" sz="1200" dirty="0"/>
          </a:p>
        </p:txBody>
      </p:sp>
      <p:sp>
        <p:nvSpPr>
          <p:cNvPr id="8" name="Text 6"/>
          <p:cNvSpPr txBox="1"/>
          <p:nvPr/>
        </p:nvSpPr>
        <p:spPr>
          <a:xfrm>
            <a:off x="3840480" y="2350008"/>
            <a:ext cx="13716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INTENSIDAD</a:t>
            </a:r>
            <a:endParaRPr lang="es-CL" sz="1200" dirty="0"/>
          </a:p>
        </p:txBody>
      </p:sp>
      <p:sp>
        <p:nvSpPr>
          <p:cNvPr id="9" name="Text 7"/>
          <p:cNvSpPr txBox="1"/>
          <p:nvPr/>
        </p:nvSpPr>
        <p:spPr>
          <a:xfrm>
            <a:off x="5212080" y="2350008"/>
            <a:ext cx="20116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PESO × INTENSIDAD</a:t>
            </a:r>
            <a:endParaRPr lang="es-CL" sz="1200" dirty="0"/>
          </a:p>
        </p:txBody>
      </p:sp>
      <p:sp>
        <p:nvSpPr>
          <p:cNvPr id="10" name="Text 8"/>
          <p:cNvSpPr txBox="1"/>
          <p:nvPr/>
        </p:nvSpPr>
        <p:spPr>
          <a:xfrm>
            <a:off x="7223760" y="2350008"/>
            <a:ext cx="44192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LECTURA</a:t>
            </a:r>
            <a:endParaRPr lang="es-CL" sz="1200" dirty="0"/>
          </a:p>
        </p:txBody>
      </p:sp>
      <p:sp>
        <p:nvSpPr>
          <p:cNvPr id="11" name="Shape 9"/>
          <p:cNvSpPr/>
          <p:nvPr/>
        </p:nvSpPr>
        <p:spPr>
          <a:xfrm>
            <a:off x="548640" y="2660904"/>
            <a:ext cx="11094415" cy="0"/>
          </a:xfrm>
          <a:prstGeom prst="line">
            <a:avLst/>
          </a:prstGeom>
          <a:noFill/>
          <a:ln w="9525">
            <a:solidFill>
              <a:schemeClr val="accent1"/>
            </a:solidFill>
            <a:prstDash val="solid"/>
          </a:ln>
        </p:spPr>
      </p:sp>
      <p:sp>
        <p:nvSpPr>
          <p:cNvPr id="12" name="Text 10"/>
          <p:cNvSpPr txBox="1"/>
          <p:nvPr/>
        </p:nvSpPr>
        <p:spPr>
          <a:xfrm>
            <a:off x="548640" y="2660904"/>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Sustitutos</a:t>
            </a:r>
            <a:endParaRPr lang="es-CL" sz="1600" dirty="0"/>
          </a:p>
        </p:txBody>
      </p:sp>
      <p:sp>
        <p:nvSpPr>
          <p:cNvPr id="13" name="Text 11"/>
          <p:cNvSpPr txBox="1"/>
          <p:nvPr/>
        </p:nvSpPr>
        <p:spPr>
          <a:xfrm>
            <a:off x="2926080" y="2660904"/>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30%</a:t>
            </a:r>
            <a:endParaRPr lang="es-CL" sz="1600" dirty="0"/>
          </a:p>
        </p:txBody>
      </p:sp>
      <p:sp>
        <p:nvSpPr>
          <p:cNvPr id="14" name="Text 12"/>
          <p:cNvSpPr txBox="1"/>
          <p:nvPr/>
        </p:nvSpPr>
        <p:spPr>
          <a:xfrm>
            <a:off x="3840480" y="2660904"/>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5,00</a:t>
            </a:r>
            <a:endParaRPr lang="es-CL" sz="1600" dirty="0"/>
          </a:p>
        </p:txBody>
      </p:sp>
      <p:sp>
        <p:nvSpPr>
          <p:cNvPr id="15" name="Text 13"/>
          <p:cNvSpPr txBox="1"/>
          <p:nvPr/>
        </p:nvSpPr>
        <p:spPr>
          <a:xfrm>
            <a:off x="5212080" y="2660904"/>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1,50</a:t>
            </a:r>
            <a:endParaRPr lang="es-CL" sz="1600" dirty="0"/>
          </a:p>
        </p:txBody>
      </p:sp>
      <p:sp>
        <p:nvSpPr>
          <p:cNvPr id="16" name="Text 14"/>
          <p:cNvSpPr txBox="1"/>
          <p:nvPr/>
        </p:nvSpPr>
        <p:spPr>
          <a:xfrm>
            <a:off x="7223760" y="2660904"/>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Posponer la inversión; híbrido usado</a:t>
            </a:r>
            <a:endParaRPr lang="es-CL" sz="1600" dirty="0"/>
          </a:p>
        </p:txBody>
      </p:sp>
      <p:sp>
        <p:nvSpPr>
          <p:cNvPr id="17" name="Shape 15"/>
          <p:cNvSpPr/>
          <p:nvPr/>
        </p:nvSpPr>
        <p:spPr>
          <a:xfrm>
            <a:off x="548640" y="3227832"/>
            <a:ext cx="11094415" cy="0"/>
          </a:xfrm>
          <a:prstGeom prst="line">
            <a:avLst/>
          </a:prstGeom>
          <a:noFill/>
          <a:ln w="9525">
            <a:solidFill>
              <a:schemeClr val="accent5"/>
            </a:solidFill>
            <a:prstDash val="solid"/>
          </a:ln>
        </p:spPr>
      </p:sp>
      <p:sp>
        <p:nvSpPr>
          <p:cNvPr id="18" name="Text 16"/>
          <p:cNvSpPr txBox="1"/>
          <p:nvPr/>
        </p:nvSpPr>
        <p:spPr>
          <a:xfrm>
            <a:off x="548640" y="3227832"/>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Nuevos entrantes</a:t>
            </a:r>
            <a:endParaRPr lang="es-CL" sz="1600" dirty="0"/>
          </a:p>
        </p:txBody>
      </p:sp>
      <p:sp>
        <p:nvSpPr>
          <p:cNvPr id="19" name="Text 17"/>
          <p:cNvSpPr txBox="1"/>
          <p:nvPr/>
        </p:nvSpPr>
        <p:spPr>
          <a:xfrm>
            <a:off x="2926080" y="3227832"/>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20%</a:t>
            </a:r>
            <a:endParaRPr lang="es-CL" sz="1600" dirty="0"/>
          </a:p>
        </p:txBody>
      </p:sp>
      <p:sp>
        <p:nvSpPr>
          <p:cNvPr id="20" name="Text 18"/>
          <p:cNvSpPr txBox="1"/>
          <p:nvPr/>
        </p:nvSpPr>
        <p:spPr>
          <a:xfrm>
            <a:off x="3840480" y="3227832"/>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3,75</a:t>
            </a:r>
            <a:endParaRPr lang="es-CL" sz="1600" dirty="0"/>
          </a:p>
        </p:txBody>
      </p:sp>
      <p:sp>
        <p:nvSpPr>
          <p:cNvPr id="21" name="Text 19"/>
          <p:cNvSpPr txBox="1"/>
          <p:nvPr/>
        </p:nvSpPr>
        <p:spPr>
          <a:xfrm>
            <a:off x="5212080" y="3227832"/>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0,75</a:t>
            </a:r>
            <a:endParaRPr lang="es-CL" sz="1600" dirty="0"/>
          </a:p>
        </p:txBody>
      </p:sp>
      <p:sp>
        <p:nvSpPr>
          <p:cNvPr id="22" name="Text 20"/>
          <p:cNvSpPr txBox="1"/>
          <p:nvPr/>
        </p:nvSpPr>
        <p:spPr>
          <a:xfrm>
            <a:off x="7223760" y="3227832"/>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La barrera regulatoria hoy bloquea a todos por igual</a:t>
            </a:r>
            <a:endParaRPr lang="es-CL" sz="1600" dirty="0"/>
          </a:p>
        </p:txBody>
      </p:sp>
      <p:sp>
        <p:nvSpPr>
          <p:cNvPr id="23" name="Shape 21"/>
          <p:cNvSpPr/>
          <p:nvPr/>
        </p:nvSpPr>
        <p:spPr>
          <a:xfrm>
            <a:off x="548640" y="3794760"/>
            <a:ext cx="11094415" cy="0"/>
          </a:xfrm>
          <a:prstGeom prst="line">
            <a:avLst/>
          </a:prstGeom>
          <a:noFill/>
          <a:ln w="9525">
            <a:solidFill>
              <a:schemeClr val="accent5"/>
            </a:solidFill>
            <a:prstDash val="solid"/>
          </a:ln>
        </p:spPr>
      </p:sp>
      <p:sp>
        <p:nvSpPr>
          <p:cNvPr id="24" name="Text 22"/>
          <p:cNvSpPr txBox="1"/>
          <p:nvPr/>
        </p:nvSpPr>
        <p:spPr>
          <a:xfrm>
            <a:off x="548640" y="3794760"/>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Clientes</a:t>
            </a:r>
            <a:endParaRPr lang="es-CL" sz="1600" dirty="0"/>
          </a:p>
        </p:txBody>
      </p:sp>
      <p:sp>
        <p:nvSpPr>
          <p:cNvPr id="25" name="Text 23"/>
          <p:cNvSpPr txBox="1"/>
          <p:nvPr/>
        </p:nvSpPr>
        <p:spPr>
          <a:xfrm>
            <a:off x="2926080" y="3794760"/>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25%</a:t>
            </a:r>
            <a:endParaRPr lang="es-CL" sz="1600" dirty="0"/>
          </a:p>
        </p:txBody>
      </p:sp>
      <p:sp>
        <p:nvSpPr>
          <p:cNvPr id="26" name="Text 24"/>
          <p:cNvSpPr txBox="1"/>
          <p:nvPr/>
        </p:nvSpPr>
        <p:spPr>
          <a:xfrm>
            <a:off x="3840480" y="3794760"/>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2,64</a:t>
            </a:r>
            <a:endParaRPr lang="es-CL" sz="1600" dirty="0"/>
          </a:p>
        </p:txBody>
      </p:sp>
      <p:sp>
        <p:nvSpPr>
          <p:cNvPr id="27" name="Text 25"/>
          <p:cNvSpPr txBox="1"/>
          <p:nvPr/>
        </p:nvSpPr>
        <p:spPr>
          <a:xfrm>
            <a:off x="5212080" y="3794760"/>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0,66</a:t>
            </a:r>
            <a:endParaRPr lang="es-CL" sz="1600" dirty="0"/>
          </a:p>
        </p:txBody>
      </p:sp>
      <p:sp>
        <p:nvSpPr>
          <p:cNvPr id="28" name="Text 26"/>
          <p:cNvSpPr txBox="1"/>
          <p:nvPr/>
        </p:nvSpPr>
        <p:spPr>
          <a:xfrm>
            <a:off x="7223760" y="3794760"/>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Sensibles al precio por falta de liquidez</a:t>
            </a:r>
            <a:endParaRPr lang="es-CL" sz="1600" dirty="0"/>
          </a:p>
        </p:txBody>
      </p:sp>
      <p:sp>
        <p:nvSpPr>
          <p:cNvPr id="29" name="Shape 27"/>
          <p:cNvSpPr/>
          <p:nvPr/>
        </p:nvSpPr>
        <p:spPr>
          <a:xfrm>
            <a:off x="548640" y="4361688"/>
            <a:ext cx="11094415" cy="0"/>
          </a:xfrm>
          <a:prstGeom prst="line">
            <a:avLst/>
          </a:prstGeom>
          <a:noFill/>
          <a:ln w="9525">
            <a:solidFill>
              <a:schemeClr val="accent5"/>
            </a:solidFill>
            <a:prstDash val="solid"/>
          </a:ln>
        </p:spPr>
      </p:sp>
      <p:sp>
        <p:nvSpPr>
          <p:cNvPr id="30" name="Text 28"/>
          <p:cNvSpPr txBox="1"/>
          <p:nvPr/>
        </p:nvSpPr>
        <p:spPr>
          <a:xfrm>
            <a:off x="548640" y="4361688"/>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Proveedores</a:t>
            </a:r>
            <a:endParaRPr lang="es-CL" sz="1600" dirty="0"/>
          </a:p>
        </p:txBody>
      </p:sp>
      <p:sp>
        <p:nvSpPr>
          <p:cNvPr id="31" name="Text 29"/>
          <p:cNvSpPr txBox="1"/>
          <p:nvPr/>
        </p:nvSpPr>
        <p:spPr>
          <a:xfrm>
            <a:off x="2926080" y="4361688"/>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15%</a:t>
            </a:r>
            <a:endParaRPr lang="es-CL" sz="1600" dirty="0"/>
          </a:p>
        </p:txBody>
      </p:sp>
      <p:sp>
        <p:nvSpPr>
          <p:cNvPr id="32" name="Text 30"/>
          <p:cNvSpPr txBox="1"/>
          <p:nvPr/>
        </p:nvSpPr>
        <p:spPr>
          <a:xfrm>
            <a:off x="3840480" y="4361688"/>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2,67</a:t>
            </a:r>
            <a:endParaRPr lang="es-CL" sz="1600" dirty="0"/>
          </a:p>
        </p:txBody>
      </p:sp>
      <p:sp>
        <p:nvSpPr>
          <p:cNvPr id="33" name="Text 31"/>
          <p:cNvSpPr txBox="1"/>
          <p:nvPr/>
        </p:nvSpPr>
        <p:spPr>
          <a:xfrm>
            <a:off x="5212080" y="4361688"/>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0,40</a:t>
            </a:r>
            <a:endParaRPr lang="es-CL" sz="1600" dirty="0"/>
          </a:p>
        </p:txBody>
      </p:sp>
      <p:sp>
        <p:nvSpPr>
          <p:cNvPr id="34" name="Text 32"/>
          <p:cNvSpPr txBox="1"/>
          <p:nvPr/>
        </p:nvSpPr>
        <p:spPr>
          <a:xfrm>
            <a:off x="7223760" y="4361688"/>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Componentes estandarizados e importados</a:t>
            </a:r>
            <a:endParaRPr lang="es-CL" sz="1600" dirty="0"/>
          </a:p>
        </p:txBody>
      </p:sp>
      <p:sp>
        <p:nvSpPr>
          <p:cNvPr id="35" name="Shape 33"/>
          <p:cNvSpPr/>
          <p:nvPr/>
        </p:nvSpPr>
        <p:spPr>
          <a:xfrm>
            <a:off x="548640" y="4928616"/>
            <a:ext cx="11094415" cy="0"/>
          </a:xfrm>
          <a:prstGeom prst="line">
            <a:avLst/>
          </a:prstGeom>
          <a:noFill/>
          <a:ln w="9525">
            <a:solidFill>
              <a:schemeClr val="accent5"/>
            </a:solidFill>
            <a:prstDash val="solid"/>
          </a:ln>
        </p:spPr>
      </p:sp>
      <p:sp>
        <p:nvSpPr>
          <p:cNvPr id="36" name="Text 34"/>
          <p:cNvSpPr txBox="1"/>
          <p:nvPr/>
        </p:nvSpPr>
        <p:spPr>
          <a:xfrm>
            <a:off x="548640" y="4928616"/>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Rivalidad</a:t>
            </a:r>
            <a:endParaRPr lang="es-CL" sz="1600" dirty="0"/>
          </a:p>
        </p:txBody>
      </p:sp>
      <p:sp>
        <p:nvSpPr>
          <p:cNvPr id="37" name="Text 35"/>
          <p:cNvSpPr txBox="1"/>
          <p:nvPr/>
        </p:nvSpPr>
        <p:spPr>
          <a:xfrm>
            <a:off x="2926080" y="4928616"/>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10%</a:t>
            </a:r>
            <a:endParaRPr lang="es-CL" sz="1600" dirty="0"/>
          </a:p>
        </p:txBody>
      </p:sp>
      <p:sp>
        <p:nvSpPr>
          <p:cNvPr id="38" name="Text 36"/>
          <p:cNvSpPr txBox="1"/>
          <p:nvPr/>
        </p:nvSpPr>
        <p:spPr>
          <a:xfrm>
            <a:off x="3840480" y="4928616"/>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1,83</a:t>
            </a:r>
            <a:endParaRPr lang="es-CL" sz="1600" dirty="0"/>
          </a:p>
        </p:txBody>
      </p:sp>
      <p:sp>
        <p:nvSpPr>
          <p:cNvPr id="39" name="Text 37"/>
          <p:cNvSpPr txBox="1"/>
          <p:nvPr/>
        </p:nvSpPr>
        <p:spPr>
          <a:xfrm>
            <a:off x="5212080" y="4928616"/>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0,18</a:t>
            </a:r>
            <a:endParaRPr lang="es-CL" sz="1600" dirty="0"/>
          </a:p>
        </p:txBody>
      </p:sp>
      <p:sp>
        <p:nvSpPr>
          <p:cNvPr id="40" name="Text 38"/>
          <p:cNvSpPr txBox="1"/>
          <p:nvPr/>
        </p:nvSpPr>
        <p:spPr>
          <a:xfrm>
            <a:off x="7223760" y="4928616"/>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Sin competidores directos identificados</a:t>
            </a:r>
            <a:endParaRPr lang="es-CL" sz="1600" dirty="0"/>
          </a:p>
        </p:txBody>
      </p:sp>
      <p:sp>
        <p:nvSpPr>
          <p:cNvPr id="41" name="Shape 39"/>
          <p:cNvSpPr/>
          <p:nvPr/>
        </p:nvSpPr>
        <p:spPr>
          <a:xfrm>
            <a:off x="548640" y="5495544"/>
            <a:ext cx="11094415" cy="0"/>
          </a:xfrm>
          <a:prstGeom prst="line">
            <a:avLst/>
          </a:prstGeom>
          <a:noFill/>
          <a:ln w="9525">
            <a:solidFill>
              <a:schemeClr val="accent5"/>
            </a:solidFill>
            <a:prstDash val="solid"/>
          </a:ln>
        </p:spPr>
      </p:sp>
      <p:sp>
        <p:nvSpPr>
          <p:cNvPr id="42" name="Text 40"/>
          <p:cNvSpPr txBox="1"/>
          <p:nvPr/>
        </p:nvSpPr>
        <p:spPr>
          <a:xfrm>
            <a:off x="548640" y="5495544"/>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Total</a:t>
            </a:r>
            <a:endParaRPr lang="es-CL" sz="1600" dirty="0"/>
          </a:p>
        </p:txBody>
      </p:sp>
      <p:sp>
        <p:nvSpPr>
          <p:cNvPr id="43" name="Text 41"/>
          <p:cNvSpPr txBox="1"/>
          <p:nvPr/>
        </p:nvSpPr>
        <p:spPr>
          <a:xfrm>
            <a:off x="2926080" y="5495544"/>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100%</a:t>
            </a:r>
            <a:endParaRPr lang="es-CL" sz="1600" dirty="0"/>
          </a:p>
        </p:txBody>
      </p:sp>
      <p:sp>
        <p:nvSpPr>
          <p:cNvPr id="44" name="Text 42"/>
          <p:cNvSpPr txBox="1"/>
          <p:nvPr/>
        </p:nvSpPr>
        <p:spPr>
          <a:xfrm>
            <a:off x="3840480" y="5495544"/>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a:t>
            </a:r>
            <a:endParaRPr lang="es-CL" sz="1600" dirty="0"/>
          </a:p>
        </p:txBody>
      </p:sp>
      <p:sp>
        <p:nvSpPr>
          <p:cNvPr id="45" name="Text 43"/>
          <p:cNvSpPr txBox="1"/>
          <p:nvPr/>
        </p:nvSpPr>
        <p:spPr>
          <a:xfrm>
            <a:off x="5212080" y="5495544"/>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3,49</a:t>
            </a:r>
            <a:endParaRPr lang="es-CL" sz="1600" dirty="0"/>
          </a:p>
        </p:txBody>
      </p:sp>
      <p:sp>
        <p:nvSpPr>
          <p:cNvPr id="46" name="Text 44"/>
          <p:cNvSpPr txBox="1"/>
          <p:nvPr/>
        </p:nvSpPr>
        <p:spPr>
          <a:xfrm>
            <a:off x="7223760" y="5495544"/>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Industria moderadamente poco atractiva</a:t>
            </a:r>
            <a:endParaRPr lang="es-CL" sz="1600" dirty="0"/>
          </a:p>
        </p:txBody>
      </p:sp>
      <p:sp>
        <p:nvSpPr>
          <p:cNvPr id="47" name="Shape 45"/>
          <p:cNvSpPr/>
          <p:nvPr/>
        </p:nvSpPr>
        <p:spPr>
          <a:xfrm>
            <a:off x="548640" y="6062472"/>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RECURSOS Y CAPACIDADES · INSTRUMENTO 05</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QUINCE RECURSOS Y CAPACIDADES,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cuatro filtros.</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05 del equipo (recursos y capacidades; criterios valioso, raro, costoso de imitar e insustituible).</a:t>
            </a:r>
            <a:endParaRPr lang="es-CL" sz="1100" dirty="0"/>
          </a:p>
        </p:txBody>
      </p:sp>
      <p:sp>
        <p:nvSpPr>
          <p:cNvPr id="6" name="Text 4"/>
          <p:cNvSpPr txBox="1"/>
          <p:nvPr/>
        </p:nvSpPr>
        <p:spPr>
          <a:xfrm>
            <a:off x="548640" y="2304288"/>
            <a:ext cx="59436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RECURSO O CAPACIDAD</a:t>
            </a:r>
            <a:endParaRPr lang="es-CL" sz="1200" dirty="0"/>
          </a:p>
        </p:txBody>
      </p:sp>
      <p:sp>
        <p:nvSpPr>
          <p:cNvPr id="7" name="Text 5"/>
          <p:cNvSpPr txBox="1"/>
          <p:nvPr/>
        </p:nvSpPr>
        <p:spPr>
          <a:xfrm>
            <a:off x="6492240" y="2304288"/>
            <a:ext cx="20116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TIPO</a:t>
            </a:r>
            <a:endParaRPr lang="es-CL" sz="1200" dirty="0"/>
          </a:p>
        </p:txBody>
      </p:sp>
      <p:sp>
        <p:nvSpPr>
          <p:cNvPr id="8" name="Text 6"/>
          <p:cNvSpPr txBox="1"/>
          <p:nvPr/>
        </p:nvSpPr>
        <p:spPr>
          <a:xfrm>
            <a:off x="8503920" y="2304288"/>
            <a:ext cx="31391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CONSECUENCIA</a:t>
            </a:r>
            <a:endParaRPr lang="es-CL" sz="1200" dirty="0"/>
          </a:p>
        </p:txBody>
      </p:sp>
      <p:sp>
        <p:nvSpPr>
          <p:cNvPr id="9" name="Shape 7"/>
          <p:cNvSpPr/>
          <p:nvPr/>
        </p:nvSpPr>
        <p:spPr>
          <a:xfrm>
            <a:off x="548640" y="2615184"/>
            <a:ext cx="11094415" cy="0"/>
          </a:xfrm>
          <a:prstGeom prst="line">
            <a:avLst/>
          </a:prstGeom>
          <a:noFill/>
          <a:ln w="9525">
            <a:solidFill>
              <a:schemeClr val="accent1"/>
            </a:solidFill>
            <a:prstDash val="solid"/>
          </a:ln>
        </p:spPr>
      </p:sp>
      <p:sp>
        <p:nvSpPr>
          <p:cNvPr id="10" name="Text 8"/>
          <p:cNvSpPr txBox="1"/>
          <p:nvPr/>
        </p:nvSpPr>
        <p:spPr>
          <a:xfrm>
            <a:off x="548640" y="2615184"/>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Biblioteca de calibraciones por marca y modelo</a:t>
            </a:r>
            <a:endParaRPr lang="es-CL" sz="1500" dirty="0"/>
          </a:p>
        </p:txBody>
      </p:sp>
      <p:sp>
        <p:nvSpPr>
          <p:cNvPr id="11" name="Text 9"/>
          <p:cNvSpPr txBox="1"/>
          <p:nvPr/>
        </p:nvSpPr>
        <p:spPr>
          <a:xfrm>
            <a:off x="6492240" y="2615184"/>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 intangible</a:t>
            </a:r>
            <a:endParaRPr lang="es-CL" sz="1500" dirty="0"/>
          </a:p>
        </p:txBody>
      </p:sp>
      <p:sp>
        <p:nvSpPr>
          <p:cNvPr id="12" name="Text 10"/>
          <p:cNvSpPr txBox="1"/>
          <p:nvPr/>
        </p:nvSpPr>
        <p:spPr>
          <a:xfrm>
            <a:off x="8503920" y="2615184"/>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Sostenible (potencial)</a:t>
            </a:r>
            <a:endParaRPr lang="es-CL" sz="1500" dirty="0"/>
          </a:p>
        </p:txBody>
      </p:sp>
      <p:sp>
        <p:nvSpPr>
          <p:cNvPr id="13" name="Shape 11"/>
          <p:cNvSpPr/>
          <p:nvPr/>
        </p:nvSpPr>
        <p:spPr>
          <a:xfrm>
            <a:off x="548640" y="3017520"/>
            <a:ext cx="11094415" cy="0"/>
          </a:xfrm>
          <a:prstGeom prst="line">
            <a:avLst/>
          </a:prstGeom>
          <a:noFill/>
          <a:ln w="9525">
            <a:solidFill>
              <a:schemeClr val="accent5"/>
            </a:solidFill>
            <a:prstDash val="solid"/>
          </a:ln>
        </p:spPr>
      </p:sp>
      <p:sp>
        <p:nvSpPr>
          <p:cNvPr id="14" name="Text 12"/>
          <p:cNvSpPr txBox="1"/>
          <p:nvPr/>
        </p:nvSpPr>
        <p:spPr>
          <a:xfrm>
            <a:off x="548640" y="3017520"/>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Ingeniería de integración y calibración</a:t>
            </a:r>
            <a:endParaRPr lang="es-CL" sz="1500" dirty="0"/>
          </a:p>
        </p:txBody>
      </p:sp>
      <p:sp>
        <p:nvSpPr>
          <p:cNvPr id="15" name="Text 13"/>
          <p:cNvSpPr txBox="1"/>
          <p:nvPr/>
        </p:nvSpPr>
        <p:spPr>
          <a:xfrm>
            <a:off x="6492240" y="3017520"/>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16" name="Text 14"/>
          <p:cNvSpPr txBox="1"/>
          <p:nvPr/>
        </p:nvSpPr>
        <p:spPr>
          <a:xfrm>
            <a:off x="8503920" y="3017520"/>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Sostenible (potencial)</a:t>
            </a:r>
            <a:endParaRPr lang="es-CL" sz="1500" dirty="0"/>
          </a:p>
        </p:txBody>
      </p:sp>
      <p:sp>
        <p:nvSpPr>
          <p:cNvPr id="17" name="Shape 15"/>
          <p:cNvSpPr/>
          <p:nvPr/>
        </p:nvSpPr>
        <p:spPr>
          <a:xfrm>
            <a:off x="548640" y="3419856"/>
            <a:ext cx="11094415" cy="0"/>
          </a:xfrm>
          <a:prstGeom prst="line">
            <a:avLst/>
          </a:prstGeom>
          <a:noFill/>
          <a:ln w="9525">
            <a:solidFill>
              <a:schemeClr val="accent5"/>
            </a:solidFill>
            <a:prstDash val="solid"/>
          </a:ln>
        </p:spPr>
      </p:sp>
      <p:sp>
        <p:nvSpPr>
          <p:cNvPr id="18" name="Text 16"/>
          <p:cNvSpPr txBox="1"/>
          <p:nvPr/>
        </p:nvSpPr>
        <p:spPr>
          <a:xfrm>
            <a:off x="548640" y="3419856"/>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Formación interna en proceso y calibración</a:t>
            </a:r>
            <a:endParaRPr lang="es-CL" sz="1500" dirty="0"/>
          </a:p>
        </p:txBody>
      </p:sp>
      <p:sp>
        <p:nvSpPr>
          <p:cNvPr id="19" name="Text 17"/>
          <p:cNvSpPr txBox="1"/>
          <p:nvPr/>
        </p:nvSpPr>
        <p:spPr>
          <a:xfrm>
            <a:off x="6492240" y="3419856"/>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20" name="Text 18"/>
          <p:cNvSpPr txBox="1"/>
          <p:nvPr/>
        </p:nvSpPr>
        <p:spPr>
          <a:xfrm>
            <a:off x="8503920" y="3419856"/>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21" name="Shape 19"/>
          <p:cNvSpPr/>
          <p:nvPr/>
        </p:nvSpPr>
        <p:spPr>
          <a:xfrm>
            <a:off x="548640" y="3822192"/>
            <a:ext cx="11094415" cy="0"/>
          </a:xfrm>
          <a:prstGeom prst="line">
            <a:avLst/>
          </a:prstGeom>
          <a:noFill/>
          <a:ln w="9525">
            <a:solidFill>
              <a:schemeClr val="accent5"/>
            </a:solidFill>
            <a:prstDash val="solid"/>
          </a:ln>
        </p:spPr>
      </p:sp>
      <p:sp>
        <p:nvSpPr>
          <p:cNvPr id="22" name="Text 20"/>
          <p:cNvSpPr txBox="1"/>
          <p:nvPr/>
        </p:nvSpPr>
        <p:spPr>
          <a:xfrm>
            <a:off x="548640" y="3822192"/>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Homologación por par modelo-kit</a:t>
            </a:r>
            <a:endParaRPr lang="es-CL" sz="1500" dirty="0"/>
          </a:p>
        </p:txBody>
      </p:sp>
      <p:sp>
        <p:nvSpPr>
          <p:cNvPr id="23" name="Text 21"/>
          <p:cNvSpPr txBox="1"/>
          <p:nvPr/>
        </p:nvSpPr>
        <p:spPr>
          <a:xfrm>
            <a:off x="6492240" y="3822192"/>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a:t>
            </a:r>
            <a:endParaRPr lang="es-CL" sz="1500" dirty="0"/>
          </a:p>
        </p:txBody>
      </p:sp>
      <p:sp>
        <p:nvSpPr>
          <p:cNvPr id="24" name="Text 22"/>
          <p:cNvSpPr txBox="1"/>
          <p:nvPr/>
        </p:nvSpPr>
        <p:spPr>
          <a:xfrm>
            <a:off x="8503920" y="3822192"/>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25" name="Shape 23"/>
          <p:cNvSpPr/>
          <p:nvPr/>
        </p:nvSpPr>
        <p:spPr>
          <a:xfrm>
            <a:off x="548640" y="4224528"/>
            <a:ext cx="11094415" cy="0"/>
          </a:xfrm>
          <a:prstGeom prst="line">
            <a:avLst/>
          </a:prstGeom>
          <a:noFill/>
          <a:ln w="9525">
            <a:solidFill>
              <a:schemeClr val="accent5"/>
            </a:solidFill>
            <a:prstDash val="solid"/>
          </a:ln>
        </p:spPr>
      </p:sp>
      <p:sp>
        <p:nvSpPr>
          <p:cNvPr id="26" name="Text 24"/>
          <p:cNvSpPr txBox="1"/>
          <p:nvPr/>
        </p:nvSpPr>
        <p:spPr>
          <a:xfrm>
            <a:off x="548640" y="4224528"/>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Autorización del taller</a:t>
            </a:r>
            <a:endParaRPr lang="es-CL" sz="1500" dirty="0"/>
          </a:p>
        </p:txBody>
      </p:sp>
      <p:sp>
        <p:nvSpPr>
          <p:cNvPr id="27" name="Text 25"/>
          <p:cNvSpPr txBox="1"/>
          <p:nvPr/>
        </p:nvSpPr>
        <p:spPr>
          <a:xfrm>
            <a:off x="6492240" y="4224528"/>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a:t>
            </a:r>
            <a:endParaRPr lang="es-CL" sz="1500" dirty="0"/>
          </a:p>
        </p:txBody>
      </p:sp>
      <p:sp>
        <p:nvSpPr>
          <p:cNvPr id="28" name="Text 26"/>
          <p:cNvSpPr txBox="1"/>
          <p:nvPr/>
        </p:nvSpPr>
        <p:spPr>
          <a:xfrm>
            <a:off x="8503920" y="4224528"/>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29" name="Shape 27"/>
          <p:cNvSpPr/>
          <p:nvPr/>
        </p:nvSpPr>
        <p:spPr>
          <a:xfrm>
            <a:off x="548640" y="4626864"/>
            <a:ext cx="11094415" cy="0"/>
          </a:xfrm>
          <a:prstGeom prst="line">
            <a:avLst/>
          </a:prstGeom>
          <a:noFill/>
          <a:ln w="9525">
            <a:solidFill>
              <a:schemeClr val="accent5"/>
            </a:solidFill>
            <a:prstDash val="solid"/>
          </a:ln>
        </p:spPr>
      </p:sp>
      <p:sp>
        <p:nvSpPr>
          <p:cNvPr id="30" name="Text 28"/>
          <p:cNvSpPr txBox="1"/>
          <p:nvPr/>
        </p:nvSpPr>
        <p:spPr>
          <a:xfrm>
            <a:off x="548640" y="4626864"/>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Técnicos con licencia SEC</a:t>
            </a:r>
            <a:endParaRPr lang="es-CL" sz="1500" dirty="0"/>
          </a:p>
        </p:txBody>
      </p:sp>
      <p:sp>
        <p:nvSpPr>
          <p:cNvPr id="31" name="Text 29"/>
          <p:cNvSpPr txBox="1"/>
          <p:nvPr/>
        </p:nvSpPr>
        <p:spPr>
          <a:xfrm>
            <a:off x="6492240" y="4626864"/>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a:t>
            </a:r>
            <a:endParaRPr lang="es-CL" sz="1500" dirty="0"/>
          </a:p>
        </p:txBody>
      </p:sp>
      <p:sp>
        <p:nvSpPr>
          <p:cNvPr id="32" name="Text 30"/>
          <p:cNvSpPr txBox="1"/>
          <p:nvPr/>
        </p:nvSpPr>
        <p:spPr>
          <a:xfrm>
            <a:off x="8503920" y="4626864"/>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33" name="Shape 31"/>
          <p:cNvSpPr/>
          <p:nvPr/>
        </p:nvSpPr>
        <p:spPr>
          <a:xfrm>
            <a:off x="548640" y="5029200"/>
            <a:ext cx="11094415" cy="0"/>
          </a:xfrm>
          <a:prstGeom prst="line">
            <a:avLst/>
          </a:prstGeom>
          <a:noFill/>
          <a:ln w="9525">
            <a:solidFill>
              <a:schemeClr val="accent5"/>
            </a:solidFill>
            <a:prstDash val="solid"/>
          </a:ln>
        </p:spPr>
      </p:sp>
      <p:sp>
        <p:nvSpPr>
          <p:cNvPr id="34" name="Text 32"/>
          <p:cNvSpPr txBox="1"/>
          <p:nvPr/>
        </p:nvSpPr>
        <p:spPr>
          <a:xfrm>
            <a:off x="548640" y="5029200"/>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Gestión regulatoria e institucional</a:t>
            </a:r>
            <a:endParaRPr lang="es-CL" sz="1500" dirty="0"/>
          </a:p>
        </p:txBody>
      </p:sp>
      <p:sp>
        <p:nvSpPr>
          <p:cNvPr id="35" name="Text 33"/>
          <p:cNvSpPr txBox="1"/>
          <p:nvPr/>
        </p:nvSpPr>
        <p:spPr>
          <a:xfrm>
            <a:off x="6492240" y="5029200"/>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36" name="Text 34"/>
          <p:cNvSpPr txBox="1"/>
          <p:nvPr/>
        </p:nvSpPr>
        <p:spPr>
          <a:xfrm>
            <a:off x="8503920" y="5029200"/>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37" name="Shape 35"/>
          <p:cNvSpPr/>
          <p:nvPr/>
        </p:nvSpPr>
        <p:spPr>
          <a:xfrm>
            <a:off x="548640" y="5431536"/>
            <a:ext cx="11094415" cy="0"/>
          </a:xfrm>
          <a:prstGeom prst="line">
            <a:avLst/>
          </a:prstGeom>
          <a:noFill/>
          <a:ln w="9525">
            <a:solidFill>
              <a:schemeClr val="accent5"/>
            </a:solidFill>
            <a:prstDash val="solid"/>
          </a:ln>
        </p:spPr>
      </p:sp>
      <p:sp>
        <p:nvSpPr>
          <p:cNvPr id="38" name="Text 36"/>
          <p:cNvSpPr txBox="1"/>
          <p:nvPr/>
        </p:nvSpPr>
        <p:spPr>
          <a:xfrm>
            <a:off x="548640" y="5431536"/>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Diagnóstico previo y posventa</a:t>
            </a:r>
            <a:endParaRPr lang="es-CL" sz="1500" dirty="0"/>
          </a:p>
        </p:txBody>
      </p:sp>
      <p:sp>
        <p:nvSpPr>
          <p:cNvPr id="39" name="Text 37"/>
          <p:cNvSpPr txBox="1"/>
          <p:nvPr/>
        </p:nvSpPr>
        <p:spPr>
          <a:xfrm>
            <a:off x="6492240" y="5431536"/>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40" name="Text 38"/>
          <p:cNvSpPr txBox="1"/>
          <p:nvPr/>
        </p:nvSpPr>
        <p:spPr>
          <a:xfrm>
            <a:off x="8503920" y="5431536"/>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41" name="Shape 39"/>
          <p:cNvSpPr/>
          <p:nvPr/>
        </p:nvSpPr>
        <p:spPr>
          <a:xfrm>
            <a:off x="548640" y="5833872"/>
            <a:ext cx="11094415" cy="0"/>
          </a:xfrm>
          <a:prstGeom prst="line">
            <a:avLst/>
          </a:prstGeom>
          <a:noFill/>
          <a:ln w="9525">
            <a:solidFill>
              <a:schemeClr val="accent5"/>
            </a:solidFill>
            <a:prstDash val="solid"/>
          </a:ln>
        </p:spPr>
      </p:sp>
      <p:sp>
        <p:nvSpPr>
          <p:cNvPr id="42" name="Text 40"/>
          <p:cNvSpPr txBox="1"/>
          <p:nvPr/>
        </p:nvSpPr>
        <p:spPr>
          <a:xfrm>
            <a:off x="548640" y="5833872"/>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Taller, kit, convenio financiero y cuatro más</a:t>
            </a:r>
            <a:endParaRPr lang="es-CL" sz="1500" dirty="0"/>
          </a:p>
        </p:txBody>
      </p:sp>
      <p:sp>
        <p:nvSpPr>
          <p:cNvPr id="43" name="Text 41"/>
          <p:cNvSpPr txBox="1"/>
          <p:nvPr/>
        </p:nvSpPr>
        <p:spPr>
          <a:xfrm>
            <a:off x="6492240" y="5833872"/>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7 elementos</a:t>
            </a:r>
            <a:endParaRPr lang="es-CL" sz="1500" dirty="0"/>
          </a:p>
        </p:txBody>
      </p:sp>
      <p:sp>
        <p:nvSpPr>
          <p:cNvPr id="44" name="Text 42"/>
          <p:cNvSpPr txBox="1"/>
          <p:nvPr/>
        </p:nvSpPr>
        <p:spPr>
          <a:xfrm>
            <a:off x="8503920" y="5833872"/>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Igualdad</a:t>
            </a:r>
            <a:endParaRPr lang="es-CL" sz="1500" dirty="0"/>
          </a:p>
        </p:txBody>
      </p:sp>
      <p:sp>
        <p:nvSpPr>
          <p:cNvPr id="45" name="Shape 43"/>
          <p:cNvSpPr/>
          <p:nvPr/>
        </p:nvSpPr>
        <p:spPr>
          <a:xfrm>
            <a:off x="548640" y="6236208"/>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A4</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FACTORES CRÍTICOS DE ÉXITO · INSTRUMENTO 06</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SEIS FACTORES CRÍTICOS,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uno es condición de entrada.</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06 del equipo, factores críticos de éxito. Escala de 1 (gran debilidad) a 5 (gran fortaleza); en riesgo, un número bajo es riesgo alto.</a:t>
            </a:r>
            <a:endParaRPr lang="es-CL" sz="1100" dirty="0"/>
          </a:p>
        </p:txBody>
      </p:sp>
      <p:sp>
        <p:nvSpPr>
          <p:cNvPr id="6" name="Text 4"/>
          <p:cNvSpPr txBox="1"/>
          <p:nvPr/>
        </p:nvSpPr>
        <p:spPr>
          <a:xfrm>
            <a:off x="548640" y="2350008"/>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FACTOR · LÍNEA DEL 06</a:t>
            </a:r>
            <a:endParaRPr lang="es-CL" sz="1200" dirty="0"/>
          </a:p>
        </p:txBody>
      </p:sp>
      <p:sp>
        <p:nvSpPr>
          <p:cNvPr id="7" name="Text 5"/>
          <p:cNvSpPr txBox="1"/>
          <p:nvPr/>
        </p:nvSpPr>
        <p:spPr>
          <a:xfrm>
            <a:off x="4754880" y="235000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HAB.</a:t>
            </a:r>
            <a:endParaRPr lang="es-CL" sz="1200" dirty="0"/>
          </a:p>
        </p:txBody>
      </p:sp>
      <p:sp>
        <p:nvSpPr>
          <p:cNvPr id="8" name="Text 6"/>
          <p:cNvSpPr txBox="1"/>
          <p:nvPr/>
        </p:nvSpPr>
        <p:spPr>
          <a:xfrm>
            <a:off x="5486400" y="235000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RIESGO</a:t>
            </a:r>
            <a:endParaRPr lang="es-CL" sz="1200" dirty="0"/>
          </a:p>
        </p:txBody>
      </p:sp>
      <p:sp>
        <p:nvSpPr>
          <p:cNvPr id="9" name="Text 7"/>
          <p:cNvSpPr txBox="1"/>
          <p:nvPr/>
        </p:nvSpPr>
        <p:spPr>
          <a:xfrm>
            <a:off x="6400800" y="2350008"/>
            <a:ext cx="52422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ESTADO</a:t>
            </a:r>
            <a:endParaRPr lang="es-CL" sz="1200" dirty="0"/>
          </a:p>
        </p:txBody>
      </p:sp>
      <p:sp>
        <p:nvSpPr>
          <p:cNvPr id="10" name="Shape 8"/>
          <p:cNvSpPr/>
          <p:nvPr/>
        </p:nvSpPr>
        <p:spPr>
          <a:xfrm>
            <a:off x="548640" y="2660904"/>
            <a:ext cx="11094415" cy="0"/>
          </a:xfrm>
          <a:prstGeom prst="line">
            <a:avLst/>
          </a:prstGeom>
          <a:noFill/>
          <a:ln w="9525">
            <a:solidFill>
              <a:schemeClr val="accent1"/>
            </a:solidFill>
            <a:prstDash val="solid"/>
          </a:ln>
        </p:spPr>
      </p:sp>
      <p:sp>
        <p:nvSpPr>
          <p:cNvPr id="11" name="Text 9"/>
          <p:cNvSpPr txBox="1"/>
          <p:nvPr/>
        </p:nvSpPr>
        <p:spPr>
          <a:xfrm>
            <a:off x="548640" y="2660904"/>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Gestión regulatoria e institucional · infraestructura</a:t>
            </a:r>
            <a:endParaRPr lang="es-CL" sz="1500" dirty="0"/>
          </a:p>
        </p:txBody>
      </p:sp>
      <p:sp>
        <p:nvSpPr>
          <p:cNvPr id="12" name="Text 10"/>
          <p:cNvSpPr txBox="1"/>
          <p:nvPr/>
        </p:nvSpPr>
        <p:spPr>
          <a:xfrm>
            <a:off x="4754880" y="2660904"/>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13" name="Text 11"/>
          <p:cNvSpPr txBox="1"/>
          <p:nvPr/>
        </p:nvSpPr>
        <p:spPr>
          <a:xfrm>
            <a:off x="5486400" y="2660904"/>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14" name="Text 12"/>
          <p:cNvSpPr txBox="1"/>
          <p:nvPr/>
        </p:nvSpPr>
        <p:spPr>
          <a:xfrm>
            <a:off x="6400800" y="2660904"/>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Sin interlocución formal con la autoridad · condición de entrada</a:t>
            </a:r>
            <a:endParaRPr lang="es-CL" sz="1500" dirty="0"/>
          </a:p>
        </p:txBody>
      </p:sp>
      <p:sp>
        <p:nvSpPr>
          <p:cNvPr id="15" name="Shape 13"/>
          <p:cNvSpPr/>
          <p:nvPr/>
        </p:nvSpPr>
        <p:spPr>
          <a:xfrm>
            <a:off x="548640" y="3246120"/>
            <a:ext cx="11094415" cy="0"/>
          </a:xfrm>
          <a:prstGeom prst="line">
            <a:avLst/>
          </a:prstGeom>
          <a:noFill/>
          <a:ln w="9525">
            <a:solidFill>
              <a:schemeClr val="accent5"/>
            </a:solidFill>
            <a:prstDash val="solid"/>
          </a:ln>
        </p:spPr>
      </p:sp>
      <p:sp>
        <p:nvSpPr>
          <p:cNvPr id="16" name="Text 14"/>
          <p:cNvSpPr txBox="1"/>
          <p:nvPr/>
        </p:nvSpPr>
        <p:spPr>
          <a:xfrm>
            <a:off x="548640" y="3246120"/>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Financiamiento en el punto de venta · finanzas</a:t>
            </a:r>
            <a:endParaRPr lang="es-CL" sz="1500" dirty="0"/>
          </a:p>
        </p:txBody>
      </p:sp>
      <p:sp>
        <p:nvSpPr>
          <p:cNvPr id="17" name="Text 15"/>
          <p:cNvSpPr txBox="1"/>
          <p:nvPr/>
        </p:nvSpPr>
        <p:spPr>
          <a:xfrm>
            <a:off x="4754880" y="3246120"/>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a:t>
            </a:r>
            <a:endParaRPr lang="es-CL" sz="1500" dirty="0"/>
          </a:p>
        </p:txBody>
      </p:sp>
      <p:sp>
        <p:nvSpPr>
          <p:cNvPr id="18" name="Text 16"/>
          <p:cNvSpPr txBox="1"/>
          <p:nvPr/>
        </p:nvSpPr>
        <p:spPr>
          <a:xfrm>
            <a:off x="5486400" y="3246120"/>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19" name="Text 17"/>
          <p:cNvSpPr txBox="1"/>
          <p:nvPr/>
        </p:nvSpPr>
        <p:spPr>
          <a:xfrm>
            <a:off x="6400800" y="3246120"/>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Sin convenio · facilitador clave de la compra</a:t>
            </a:r>
            <a:endParaRPr lang="es-CL" sz="1500" dirty="0"/>
          </a:p>
        </p:txBody>
      </p:sp>
      <p:sp>
        <p:nvSpPr>
          <p:cNvPr id="20" name="Shape 18"/>
          <p:cNvSpPr/>
          <p:nvPr/>
        </p:nvSpPr>
        <p:spPr>
          <a:xfrm>
            <a:off x="548640" y="3831336"/>
            <a:ext cx="11094415" cy="0"/>
          </a:xfrm>
          <a:prstGeom prst="line">
            <a:avLst/>
          </a:prstGeom>
          <a:noFill/>
          <a:ln w="9525">
            <a:solidFill>
              <a:schemeClr val="accent5"/>
            </a:solidFill>
            <a:prstDash val="solid"/>
          </a:ln>
        </p:spPr>
      </p:sp>
      <p:sp>
        <p:nvSpPr>
          <p:cNvPr id="21" name="Text 19"/>
          <p:cNvSpPr txBox="1"/>
          <p:nvPr/>
        </p:nvSpPr>
        <p:spPr>
          <a:xfrm>
            <a:off x="548640" y="3831336"/>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Ingeniería de integración y calibración · fabricación</a:t>
            </a:r>
            <a:endParaRPr lang="es-CL" sz="1500" dirty="0"/>
          </a:p>
        </p:txBody>
      </p:sp>
      <p:sp>
        <p:nvSpPr>
          <p:cNvPr id="22" name="Text 20"/>
          <p:cNvSpPr txBox="1"/>
          <p:nvPr/>
        </p:nvSpPr>
        <p:spPr>
          <a:xfrm>
            <a:off x="4754880" y="3831336"/>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4</a:t>
            </a:r>
            <a:endParaRPr lang="es-CL" sz="1500" dirty="0"/>
          </a:p>
        </p:txBody>
      </p:sp>
      <p:sp>
        <p:nvSpPr>
          <p:cNvPr id="23" name="Text 21"/>
          <p:cNvSpPr txBox="1"/>
          <p:nvPr/>
        </p:nvSpPr>
        <p:spPr>
          <a:xfrm>
            <a:off x="5486400" y="3831336"/>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24" name="Text 22"/>
          <p:cNvSpPr txBox="1"/>
          <p:nvPr/>
        </p:nvSpPr>
        <p:spPr>
          <a:xfrm>
            <a:off x="6400800" y="3831336"/>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Diseñada; riesgo de incompatibilidad con la electrónica original</a:t>
            </a:r>
            <a:endParaRPr lang="es-CL" sz="1500" dirty="0"/>
          </a:p>
        </p:txBody>
      </p:sp>
      <p:sp>
        <p:nvSpPr>
          <p:cNvPr id="25" name="Shape 23"/>
          <p:cNvSpPr/>
          <p:nvPr/>
        </p:nvSpPr>
        <p:spPr>
          <a:xfrm>
            <a:off x="548640" y="4416552"/>
            <a:ext cx="11094415" cy="0"/>
          </a:xfrm>
          <a:prstGeom prst="line">
            <a:avLst/>
          </a:prstGeom>
          <a:noFill/>
          <a:ln w="9525">
            <a:solidFill>
              <a:schemeClr val="accent5"/>
            </a:solidFill>
            <a:prstDash val="solid"/>
          </a:ln>
        </p:spPr>
      </p:sp>
      <p:sp>
        <p:nvSpPr>
          <p:cNvPr id="26" name="Text 24"/>
          <p:cNvSpPr txBox="1"/>
          <p:nvPr/>
        </p:nvSpPr>
        <p:spPr>
          <a:xfrm>
            <a:off x="548640" y="4416552"/>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Talento certificado en alta tensión · RR. HH.</a:t>
            </a:r>
            <a:endParaRPr lang="es-CL" sz="1500" dirty="0"/>
          </a:p>
        </p:txBody>
      </p:sp>
      <p:sp>
        <p:nvSpPr>
          <p:cNvPr id="27" name="Text 25"/>
          <p:cNvSpPr txBox="1"/>
          <p:nvPr/>
        </p:nvSpPr>
        <p:spPr>
          <a:xfrm>
            <a:off x="4754880" y="4416552"/>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28" name="Text 26"/>
          <p:cNvSpPr txBox="1"/>
          <p:nvPr/>
        </p:nvSpPr>
        <p:spPr>
          <a:xfrm>
            <a:off x="5486400" y="4416552"/>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29" name="Text 27"/>
          <p:cNvSpPr txBox="1"/>
          <p:nvPr/>
        </p:nvSpPr>
        <p:spPr>
          <a:xfrm>
            <a:off x="6400800" y="4416552"/>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Perfil escaso; sin esquema de retención</a:t>
            </a:r>
            <a:endParaRPr lang="es-CL" sz="1500" dirty="0"/>
          </a:p>
        </p:txBody>
      </p:sp>
      <p:sp>
        <p:nvSpPr>
          <p:cNvPr id="30" name="Shape 28"/>
          <p:cNvSpPr/>
          <p:nvPr/>
        </p:nvSpPr>
        <p:spPr>
          <a:xfrm>
            <a:off x="548640" y="5001768"/>
            <a:ext cx="11094415" cy="0"/>
          </a:xfrm>
          <a:prstGeom prst="line">
            <a:avLst/>
          </a:prstGeom>
          <a:noFill/>
          <a:ln w="9525">
            <a:solidFill>
              <a:schemeClr val="accent5"/>
            </a:solidFill>
            <a:prstDash val="solid"/>
          </a:ln>
        </p:spPr>
      </p:sp>
      <p:sp>
        <p:nvSpPr>
          <p:cNvPr id="31" name="Text 29"/>
          <p:cNvSpPr txBox="1"/>
          <p:nvPr/>
        </p:nvSpPr>
        <p:spPr>
          <a:xfrm>
            <a:off x="548640" y="5001768"/>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Logística de insumos críticos · adquisiciones</a:t>
            </a:r>
            <a:endParaRPr lang="es-CL" sz="1500" dirty="0"/>
          </a:p>
        </p:txBody>
      </p:sp>
      <p:sp>
        <p:nvSpPr>
          <p:cNvPr id="32" name="Text 30"/>
          <p:cNvSpPr txBox="1"/>
          <p:nvPr/>
        </p:nvSpPr>
        <p:spPr>
          <a:xfrm>
            <a:off x="4754880" y="5001768"/>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a:t>
            </a:r>
            <a:endParaRPr lang="es-CL" sz="1500" dirty="0"/>
          </a:p>
        </p:txBody>
      </p:sp>
      <p:sp>
        <p:nvSpPr>
          <p:cNvPr id="33" name="Text 31"/>
          <p:cNvSpPr txBox="1"/>
          <p:nvPr/>
        </p:nvSpPr>
        <p:spPr>
          <a:xfrm>
            <a:off x="5486400" y="5001768"/>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34" name="Text 32"/>
          <p:cNvSpPr txBox="1"/>
          <p:nvPr/>
        </p:nvSpPr>
        <p:spPr>
          <a:xfrm>
            <a:off x="6400800" y="5001768"/>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Protocolo definido; Clase 9 con plazos largos</a:t>
            </a:r>
            <a:endParaRPr lang="es-CL" sz="1500" dirty="0"/>
          </a:p>
        </p:txBody>
      </p:sp>
      <p:sp>
        <p:nvSpPr>
          <p:cNvPr id="35" name="Shape 33"/>
          <p:cNvSpPr/>
          <p:nvPr/>
        </p:nvSpPr>
        <p:spPr>
          <a:xfrm>
            <a:off x="548640" y="5586984"/>
            <a:ext cx="11094415" cy="0"/>
          </a:xfrm>
          <a:prstGeom prst="line">
            <a:avLst/>
          </a:prstGeom>
          <a:noFill/>
          <a:ln w="9525">
            <a:solidFill>
              <a:schemeClr val="accent5"/>
            </a:solidFill>
            <a:prstDash val="solid"/>
          </a:ln>
        </p:spPr>
      </p:sp>
      <p:sp>
        <p:nvSpPr>
          <p:cNvPr id="36" name="Text 34"/>
          <p:cNvSpPr txBox="1"/>
          <p:nvPr/>
        </p:nvSpPr>
        <p:spPr>
          <a:xfrm>
            <a:off x="548640" y="5586984"/>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Estandarización y tiempo de taller · procesos</a:t>
            </a:r>
            <a:endParaRPr lang="es-CL" sz="1500" dirty="0"/>
          </a:p>
        </p:txBody>
      </p:sp>
      <p:sp>
        <p:nvSpPr>
          <p:cNvPr id="37" name="Text 35"/>
          <p:cNvSpPr txBox="1"/>
          <p:nvPr/>
        </p:nvSpPr>
        <p:spPr>
          <a:xfrm>
            <a:off x="4754880" y="5586984"/>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4</a:t>
            </a:r>
            <a:endParaRPr lang="es-CL" sz="1500" dirty="0"/>
          </a:p>
        </p:txBody>
      </p:sp>
      <p:sp>
        <p:nvSpPr>
          <p:cNvPr id="38" name="Text 36"/>
          <p:cNvSpPr txBox="1"/>
          <p:nvPr/>
        </p:nvSpPr>
        <p:spPr>
          <a:xfrm>
            <a:off x="5486400" y="5586984"/>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a:t>
            </a:r>
            <a:endParaRPr lang="es-CL" sz="1500" dirty="0"/>
          </a:p>
        </p:txBody>
      </p:sp>
      <p:sp>
        <p:nvSpPr>
          <p:cNvPr id="39" name="Text 37"/>
          <p:cNvSpPr txBox="1"/>
          <p:nvPr/>
        </p:nvSpPr>
        <p:spPr>
          <a:xfrm>
            <a:off x="6400800" y="5586984"/>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Cinco etapas definidas; no probadas</a:t>
            </a:r>
            <a:endParaRPr lang="es-CL" sz="1500" dirty="0"/>
          </a:p>
        </p:txBody>
      </p:sp>
      <p:sp>
        <p:nvSpPr>
          <p:cNvPr id="40" name="Shape 38"/>
          <p:cNvSpPr/>
          <p:nvPr/>
        </p:nvSpPr>
        <p:spPr>
          <a:xfrm>
            <a:off x="548640" y="6172200"/>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A5</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COMPARACIÓN COMPETITIVA · INSTRUMENTO 06</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FRENTE A COMPETIDORES EN OPERACIÓN,</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todo sale debilidad.</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06 del equipo. Los puntajes de los competidores son estimaciones del equipo; las marcadas con * operan fuera del segmento liviano y son referencia.</a:t>
            </a:r>
            <a:endParaRPr lang="es-CL" sz="1100" dirty="0"/>
          </a:p>
        </p:txBody>
      </p:sp>
      <p:graphicFrame>
        <p:nvGraphicFramePr>
          <p:cNvPr id="6" name="Chart 0" descr=""/>
          <p:cNvGraphicFramePr/>
          <p:nvPr/>
        </p:nvGraphicFramePr>
        <p:xfrm>
          <a:off x="457200" y="2670048"/>
          <a:ext cx="7680960" cy="3566160"/>
        </p:xfrm>
        <a:graphic xmlns:a="http://schemas.openxmlformats.org/drawingml/2006/main">
          <a:graphicData uri="http://schemas.openxmlformats.org/drawingml/2006/chart">
            <c:chart xmlns:c="http://schemas.openxmlformats.org/drawingml/2006/chart" r:id="rId2"/>
          </a:graphicData>
        </a:graphic>
      </p:graphicFrame>
      <p:sp>
        <p:nvSpPr>
          <p:cNvPr id="7" name="Shape 4"/>
          <p:cNvSpPr/>
          <p:nvPr/>
        </p:nvSpPr>
        <p:spPr>
          <a:xfrm>
            <a:off x="8412480" y="2578608"/>
            <a:ext cx="3230575" cy="0"/>
          </a:xfrm>
          <a:prstGeom prst="line">
            <a:avLst/>
          </a:prstGeom>
          <a:noFill/>
          <a:ln w="9525">
            <a:solidFill>
              <a:schemeClr val="accent1"/>
            </a:solidFill>
            <a:prstDash val="solid"/>
          </a:ln>
        </p:spPr>
      </p:sp>
      <p:sp>
        <p:nvSpPr>
          <p:cNvPr id="8" name="Text 5"/>
          <p:cNvSpPr txBox="1"/>
          <p:nvPr/>
        </p:nvSpPr>
        <p:spPr>
          <a:xfrm>
            <a:off x="8412480" y="2670048"/>
            <a:ext cx="3230575" cy="274320"/>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POR QUÉ TODO SALE DEBILIDAD</a:t>
            </a:r>
            <a:endParaRPr lang="es-CL" sz="1100" dirty="0"/>
          </a:p>
        </p:txBody>
      </p:sp>
      <p:sp>
        <p:nvSpPr>
          <p:cNvPr id="9" name="Text 6"/>
          <p:cNvSpPr txBox="1"/>
          <p:nvPr/>
        </p:nvSpPr>
        <p:spPr>
          <a:xfrm>
            <a:off x="8412480" y="2962656"/>
            <a:ext cx="3230575" cy="731520"/>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Se compara una empresa preoperativa con actores en operación.</a:t>
            </a:r>
            <a:endParaRPr lang="es-CL" sz="1500" dirty="0"/>
          </a:p>
        </p:txBody>
      </p:sp>
      <p:sp>
        <p:nvSpPr>
          <p:cNvPr id="10" name="Shape 7"/>
          <p:cNvSpPr/>
          <p:nvPr/>
        </p:nvSpPr>
        <p:spPr>
          <a:xfrm>
            <a:off x="8412480" y="3767328"/>
            <a:ext cx="3230575" cy="0"/>
          </a:xfrm>
          <a:prstGeom prst="line">
            <a:avLst/>
          </a:prstGeom>
          <a:noFill/>
          <a:ln w="9525">
            <a:solidFill>
              <a:schemeClr val="accent5"/>
            </a:solidFill>
            <a:prstDash val="solid"/>
          </a:ln>
        </p:spPr>
      </p:sp>
      <p:sp>
        <p:nvSpPr>
          <p:cNvPr id="11" name="Text 8"/>
          <p:cNvSpPr txBox="1"/>
          <p:nvPr/>
        </p:nvSpPr>
        <p:spPr>
          <a:xfrm>
            <a:off x="8412480" y="3858768"/>
            <a:ext cx="3230575" cy="274320"/>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EL LÍDER NO ES REAL</a:t>
            </a:r>
            <a:endParaRPr lang="es-CL" sz="1100" dirty="0"/>
          </a:p>
        </p:txBody>
      </p:sp>
      <p:sp>
        <p:nvSpPr>
          <p:cNvPr id="12" name="Text 9"/>
          <p:cNvSpPr txBox="1"/>
          <p:nvPr/>
        </p:nvSpPr>
        <p:spPr>
          <a:xfrm>
            <a:off x="8412480" y="4151376"/>
            <a:ext cx="3230575" cy="731520"/>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Es el máximo de cada área entre los competidores.</a:t>
            </a:r>
            <a:endParaRPr lang="es-CL" sz="1500" dirty="0"/>
          </a:p>
        </p:txBody>
      </p:sp>
      <p:sp>
        <p:nvSpPr>
          <p:cNvPr id="13" name="Shape 10"/>
          <p:cNvSpPr/>
          <p:nvPr/>
        </p:nvSpPr>
        <p:spPr>
          <a:xfrm>
            <a:off x="8412480" y="4956048"/>
            <a:ext cx="3230575" cy="0"/>
          </a:xfrm>
          <a:prstGeom prst="line">
            <a:avLst/>
          </a:prstGeom>
          <a:noFill/>
          <a:ln w="9525">
            <a:solidFill>
              <a:schemeClr val="accent5"/>
            </a:solidFill>
            <a:prstDash val="solid"/>
          </a:ln>
        </p:spPr>
      </p:sp>
      <p:sp>
        <p:nvSpPr>
          <p:cNvPr id="14" name="Text 11"/>
          <p:cNvSpPr txBox="1"/>
          <p:nvPr/>
        </p:nvSpPr>
        <p:spPr>
          <a:xfrm>
            <a:off x="8412480" y="5047488"/>
            <a:ext cx="3230575" cy="274320"/>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QUÉ SE USA EN EL FODA</a:t>
            </a:r>
            <a:endParaRPr lang="es-CL" sz="1100" dirty="0"/>
          </a:p>
        </p:txBody>
      </p:sp>
      <p:sp>
        <p:nvSpPr>
          <p:cNvPr id="15" name="Text 12"/>
          <p:cNvSpPr txBox="1"/>
          <p:nvPr/>
        </p:nvSpPr>
        <p:spPr>
          <a:xfrm>
            <a:off x="8412480" y="5340096"/>
            <a:ext cx="3230575" cy="731520"/>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Las fortalezas puntuales (puntaje 4 o más), no el promedio.</a:t>
            </a:r>
            <a:endParaRPr lang="es-CL" sz="15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A6</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FODA · CON SU EVIDENCIA</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FODA COMPLETO,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factor por factor.</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instrumentos 02, 03, 05 y 06 del equipo y las fuentes públicas del anexo A8.</a:t>
            </a:r>
            <a:endParaRPr lang="es-CL" sz="1100" dirty="0"/>
          </a:p>
        </p:txBody>
      </p:sp>
      <p:sp>
        <p:nvSpPr>
          <p:cNvPr id="6" name="Shape 4"/>
          <p:cNvSpPr/>
          <p:nvPr/>
        </p:nvSpPr>
        <p:spPr>
          <a:xfrm>
            <a:off x="548640" y="2395728"/>
            <a:ext cx="5432908" cy="1805940"/>
          </a:xfrm>
          <a:prstGeom prst="rect">
            <a:avLst/>
          </a:prstGeom>
          <a:solidFill>
            <a:schemeClr val="bg2"/>
          </a:solidFill>
          <a:ln w="9525">
            <a:solidFill>
              <a:schemeClr val="accent1"/>
            </a:solidFill>
            <a:prstDash val="solid"/>
          </a:ln>
        </p:spPr>
      </p:sp>
      <p:sp>
        <p:nvSpPr>
          <p:cNvPr id="7" name="Text 5"/>
          <p:cNvSpPr txBox="1"/>
          <p:nvPr/>
        </p:nvSpPr>
        <p:spPr>
          <a:xfrm>
            <a:off x="731520" y="248716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FORTALEZAS</a:t>
            </a:r>
            <a:endParaRPr lang="es-CL" sz="1200" dirty="0"/>
          </a:p>
        </p:txBody>
      </p:sp>
      <p:sp>
        <p:nvSpPr>
          <p:cNvPr id="8" name="Text 6"/>
          <p:cNvSpPr txBox="1"/>
          <p:nvPr/>
        </p:nvSpPr>
        <p:spPr>
          <a:xfrm>
            <a:off x="731520" y="277977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Arquitectura en el eje trasero que conserva el motor (diseño)</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Proceso de taller en cinco etapas (definido, no probado)</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Segmento delimitado y estrategia de producto única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Riesgos identificados con protocolo de contención</a:t>
            </a:r>
            <a:endParaRPr lang="es-CL" sz="1400" dirty="0"/>
          </a:p>
        </p:txBody>
      </p:sp>
      <p:sp>
        <p:nvSpPr>
          <p:cNvPr id="9" name="Shape 7"/>
          <p:cNvSpPr/>
          <p:nvPr/>
        </p:nvSpPr>
        <p:spPr>
          <a:xfrm>
            <a:off x="6210148" y="2395728"/>
            <a:ext cx="5432908" cy="1805940"/>
          </a:xfrm>
          <a:prstGeom prst="rect">
            <a:avLst/>
          </a:prstGeom>
          <a:solidFill>
            <a:schemeClr val="bg2"/>
          </a:solidFill>
          <a:ln w="9525">
            <a:solidFill>
              <a:schemeClr val="tx2"/>
            </a:solidFill>
            <a:prstDash val="solid"/>
          </a:ln>
        </p:spPr>
      </p:sp>
      <p:sp>
        <p:nvSpPr>
          <p:cNvPr id="10" name="Text 8"/>
          <p:cNvSpPr txBox="1"/>
          <p:nvPr/>
        </p:nvSpPr>
        <p:spPr>
          <a:xfrm>
            <a:off x="6393028" y="248716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DEBILIDADES</a:t>
            </a:r>
            <a:endParaRPr lang="es-CL" sz="1200" dirty="0"/>
          </a:p>
        </p:txBody>
      </p:sp>
      <p:sp>
        <p:nvSpPr>
          <p:cNvPr id="11" name="Text 9"/>
          <p:cNvSpPr txBox="1"/>
          <p:nvPr/>
        </p:nvSpPr>
        <p:spPr>
          <a:xfrm>
            <a:off x="6393028" y="277977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Sin ensayo ni homologación; biblioteca de calibraciones vacía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Sin técnicos habilitados ni esquema de retención</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Patrimonio reducido; compras en dólares sin cobertura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Marca sin casos; validación cualitativa con n = 3</a:t>
            </a:r>
            <a:endParaRPr lang="es-CL" sz="1400" dirty="0"/>
          </a:p>
        </p:txBody>
      </p:sp>
      <p:sp>
        <p:nvSpPr>
          <p:cNvPr id="12" name="Shape 10"/>
          <p:cNvSpPr/>
          <p:nvPr/>
        </p:nvSpPr>
        <p:spPr>
          <a:xfrm>
            <a:off x="548640" y="4430268"/>
            <a:ext cx="5432908" cy="1805940"/>
          </a:xfrm>
          <a:prstGeom prst="rect">
            <a:avLst/>
          </a:prstGeom>
          <a:solidFill>
            <a:schemeClr val="bg2"/>
          </a:solidFill>
          <a:ln w="9525">
            <a:solidFill>
              <a:schemeClr val="accent1"/>
            </a:solidFill>
            <a:prstDash val="solid"/>
          </a:ln>
        </p:spPr>
      </p:sp>
      <p:sp>
        <p:nvSpPr>
          <p:cNvPr id="13" name="Text 11"/>
          <p:cNvSpPr txBox="1"/>
          <p:nvPr/>
        </p:nvSpPr>
        <p:spPr>
          <a:xfrm>
            <a:off x="731520" y="452170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OPORTUNIDADES</a:t>
            </a:r>
            <a:endParaRPr lang="es-CL" sz="1200" dirty="0"/>
          </a:p>
        </p:txBody>
      </p:sp>
      <p:sp>
        <p:nvSpPr>
          <p:cNvPr id="14" name="Text 12"/>
          <p:cNvSpPr txBox="1"/>
          <p:nvPr/>
        </p:nvSpPr>
        <p:spPr>
          <a:xfrm>
            <a:off x="731520" y="481431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3,5 usados transferidos por cada nuevo (CAVEM, ene-ago 2026)</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Bencina 93 en la RM de $1.169 a $1.539 (CNE, marzo de 2026)</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Packs LFP a US$81/kWh, promedio mundial (BloombergNEF, 2025)</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Ocupación informal en transporte +8,6% en 12 meses (INE)</a:t>
            </a:r>
            <a:endParaRPr lang="es-CL" sz="1400" dirty="0"/>
          </a:p>
        </p:txBody>
      </p:sp>
      <p:sp>
        <p:nvSpPr>
          <p:cNvPr id="15" name="Shape 13"/>
          <p:cNvSpPr/>
          <p:nvPr/>
        </p:nvSpPr>
        <p:spPr>
          <a:xfrm>
            <a:off x="6210148" y="4430268"/>
            <a:ext cx="5432908" cy="1805940"/>
          </a:xfrm>
          <a:prstGeom prst="rect">
            <a:avLst/>
          </a:prstGeom>
          <a:solidFill>
            <a:schemeClr val="bg2"/>
          </a:solidFill>
          <a:ln w="9525">
            <a:solidFill>
              <a:schemeClr val="tx2"/>
            </a:solidFill>
            <a:prstDash val="solid"/>
          </a:ln>
        </p:spPr>
      </p:sp>
      <p:sp>
        <p:nvSpPr>
          <p:cNvPr id="16" name="Text 14"/>
          <p:cNvSpPr txBox="1"/>
          <p:nvPr/>
        </p:nvSpPr>
        <p:spPr>
          <a:xfrm>
            <a:off x="6393028" y="452170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AMENAZAS</a:t>
            </a:r>
            <a:endParaRPr lang="es-CL" sz="1200" dirty="0"/>
          </a:p>
        </p:txBody>
      </p:sp>
      <p:sp>
        <p:nvSpPr>
          <p:cNvPr id="17" name="Text 15"/>
          <p:cNvSpPr txBox="1"/>
          <p:nvPr/>
        </p:nvSpPr>
        <p:spPr>
          <a:xfrm>
            <a:off x="6393028" y="481431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Ley N° 21.793 sin reglamento; borrador de 2021 sin vía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Dólar observado sobre $970 con kit importado (Banco Central)</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PIB 2026 de 0,25% a 0,75%; desempleo 9,6% (BCCh, INE)</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Posponer la inversión; posibles exclusiones de seguros</a:t>
            </a:r>
            <a:endParaRPr lang="es-CL" sz="1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A7</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DECLARACIONES · TEXTOS LITERALES</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MISIÓN, VISIÓN Y VALORES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completos.</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declaraciones estratégicas del proyecto (presentación «Análisis estratégico», octubre de 2026).</a:t>
            </a:r>
            <a:endParaRPr lang="es-CL" sz="1100" dirty="0"/>
          </a:p>
        </p:txBody>
      </p:sp>
      <p:sp>
        <p:nvSpPr>
          <p:cNvPr id="6" name="Text 4"/>
          <p:cNvSpPr txBox="1"/>
          <p:nvPr/>
        </p:nvSpPr>
        <p:spPr>
          <a:xfrm>
            <a:off x="548640" y="2395728"/>
            <a:ext cx="11094415" cy="868680"/>
          </a:xfrm>
          <a:prstGeom prst="rect">
            <a:avLst/>
          </a:prstGeom>
          <a:noFill/>
          <a:ln/>
        </p:spPr>
        <p:txBody>
          <a:bodyPr wrap="square" lIns="0" tIns="0" rIns="0" bIns="0" rtlCol="0" anchor="t"/>
          <a:lstStyle/>
          <a:p>
            <a:pPr indent="0" marL="0">
              <a:buNone/>
            </a:pPr>
            <a:r>
              <a:rPr lang="es-CL" altLang="en-US" sz="1200" dirty="0">
                <a:solidFill>
                  <a:schemeClr val="accent1"/>
                </a:solidFill>
                <a:latin typeface="IBM Plex Mono" pitchFamily="34" charset="0"/>
                <a:ea typeface="IBM Plex Mono" pitchFamily="34" charset="-122"/>
                <a:cs typeface="IBM Plex Mono" pitchFamily="34" charset="-120"/>
              </a:rPr>
              <a:t>MISIÓN  </a:t>
            </a:r>
            <a:pPr indent="0" marL="0">
              <a:buNone/>
            </a:pPr>
            <a:r>
              <a:rPr lang="es-CL" altLang="en-US" sz="1600" dirty="0">
                <a:solidFill>
                  <a:schemeClr val="tx1"/>
                </a:solidFill>
                <a:latin typeface="Figtree" pitchFamily="34" charset="0"/>
                <a:ea typeface="Figtree" pitchFamily="34" charset="-122"/>
                <a:cs typeface="Figtree" pitchFamily="34" charset="-120"/>
              </a:rPr>
              <a:t>«Reducir el combustible que un vehículo liviano a combustión necesita por kilómetro, mediante la instalación certificada de un sistema de hibridación aditiva sobre el automóvil que el cliente ya tiene, sin reemplazarlo y sin intervenir su motor.»</a:t>
            </a:r>
            <a:endParaRPr lang="es-CL" sz="1600" dirty="0"/>
          </a:p>
        </p:txBody>
      </p:sp>
      <p:sp>
        <p:nvSpPr>
          <p:cNvPr id="7" name="Text 5"/>
          <p:cNvSpPr txBox="1"/>
          <p:nvPr/>
        </p:nvSpPr>
        <p:spPr>
          <a:xfrm>
            <a:off x="548640" y="3310128"/>
            <a:ext cx="11094415" cy="685800"/>
          </a:xfrm>
          <a:prstGeom prst="rect">
            <a:avLst/>
          </a:prstGeom>
          <a:noFill/>
          <a:ln/>
        </p:spPr>
        <p:txBody>
          <a:bodyPr wrap="square" lIns="0" tIns="0" rIns="0" bIns="0" rtlCol="0" anchor="t"/>
          <a:lstStyle/>
          <a:p>
            <a:pPr indent="0" marL="0">
              <a:buNone/>
            </a:pPr>
            <a:r>
              <a:rPr lang="es-CL" altLang="en-US" sz="1200" dirty="0">
                <a:solidFill>
                  <a:schemeClr val="accent1"/>
                </a:solidFill>
                <a:latin typeface="IBM Plex Mono" pitchFamily="34" charset="0"/>
                <a:ea typeface="IBM Plex Mono" pitchFamily="34" charset="-122"/>
                <a:cs typeface="IBM Plex Mono" pitchFamily="34" charset="-120"/>
              </a:rPr>
              <a:t>VISIÓN  </a:t>
            </a:r>
            <a:pPr indent="0" marL="0">
              <a:buNone/>
            </a:pPr>
            <a:r>
              <a:rPr lang="es-CL" altLang="en-US" sz="1600" dirty="0">
                <a:solidFill>
                  <a:schemeClr val="tx1"/>
                </a:solidFill>
                <a:latin typeface="Figtree" pitchFamily="34" charset="0"/>
                <a:ea typeface="Figtree" pitchFamily="34" charset="-122"/>
                <a:cs typeface="Figtree" pitchFamily="34" charset="-120"/>
              </a:rPr>
              <a:t>«Ser hacia 2031 el taller de referencia en hibridación de vehículos en uso en Chile, con un procedimiento reconocido por la autoridad, las plantas de revisión técnica y las compañías de seguros.»</a:t>
            </a:r>
            <a:endParaRPr lang="es-CL" sz="1600" dirty="0"/>
          </a:p>
        </p:txBody>
      </p:sp>
      <p:sp>
        <p:nvSpPr>
          <p:cNvPr id="8" name="Shape 6"/>
          <p:cNvSpPr/>
          <p:nvPr/>
        </p:nvSpPr>
        <p:spPr>
          <a:xfrm>
            <a:off x="548640" y="4133088"/>
            <a:ext cx="5364328" cy="0"/>
          </a:xfrm>
          <a:prstGeom prst="line">
            <a:avLst/>
          </a:prstGeom>
          <a:noFill/>
          <a:ln w="9525">
            <a:solidFill>
              <a:schemeClr val="accent1"/>
            </a:solidFill>
            <a:prstDash val="solid"/>
          </a:ln>
        </p:spPr>
      </p:sp>
      <p:sp>
        <p:nvSpPr>
          <p:cNvPr id="9" name="Text 7"/>
          <p:cNvSpPr txBox="1"/>
          <p:nvPr/>
        </p:nvSpPr>
        <p:spPr>
          <a:xfrm>
            <a:off x="548640" y="4206240"/>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ORGANIZACIONALES</a:t>
            </a:r>
            <a:endParaRPr lang="es-CL" sz="1200" dirty="0"/>
          </a:p>
        </p:txBody>
      </p:sp>
      <p:sp>
        <p:nvSpPr>
          <p:cNvPr id="10" name="Text 8"/>
          <p:cNvSpPr txBox="1"/>
          <p:nvPr/>
        </p:nvSpPr>
        <p:spPr>
          <a:xfrm>
            <a:off x="548640" y="4544568"/>
            <a:ext cx="5364328" cy="1828800"/>
          </a:xfrm>
          <a:prstGeom prst="rect">
            <a:avLst/>
          </a:prstGeom>
          <a:noFill/>
          <a:ln/>
        </p:spPr>
        <p:txBody>
          <a:bodyPr wrap="square" lIns="0" tIns="0" rIns="0" bIns="0" rtlCol="0" anchor="t"/>
          <a:lstStyle/>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Verificabilidad antes que afirmación</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Formalidad como condición de operación</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Trazabilidad del conocimiento técnico</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Responsabilidad sobre el ciclo completo del componente</a:t>
            </a:r>
            <a:endParaRPr lang="es-CL" sz="1600" dirty="0"/>
          </a:p>
        </p:txBody>
      </p:sp>
      <p:sp>
        <p:nvSpPr>
          <p:cNvPr id="11" name="Shape 9"/>
          <p:cNvSpPr/>
          <p:nvPr/>
        </p:nvSpPr>
        <p:spPr>
          <a:xfrm>
            <a:off x="6278728" y="4133088"/>
            <a:ext cx="5364328" cy="0"/>
          </a:xfrm>
          <a:prstGeom prst="line">
            <a:avLst/>
          </a:prstGeom>
          <a:noFill/>
          <a:ln w="9525">
            <a:solidFill>
              <a:schemeClr val="accent1"/>
            </a:solidFill>
            <a:prstDash val="solid"/>
          </a:ln>
        </p:spPr>
      </p:sp>
      <p:sp>
        <p:nvSpPr>
          <p:cNvPr id="12" name="Text 10"/>
          <p:cNvSpPr txBox="1"/>
          <p:nvPr/>
        </p:nvSpPr>
        <p:spPr>
          <a:xfrm>
            <a:off x="6278728" y="4206240"/>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HUMANOS</a:t>
            </a:r>
            <a:endParaRPr lang="es-CL" sz="1200" dirty="0"/>
          </a:p>
        </p:txBody>
      </p:sp>
      <p:sp>
        <p:nvSpPr>
          <p:cNvPr id="13" name="Text 11"/>
          <p:cNvSpPr txBox="1"/>
          <p:nvPr/>
        </p:nvSpPr>
        <p:spPr>
          <a:xfrm>
            <a:off x="6278728" y="4544568"/>
            <a:ext cx="5364328" cy="1828800"/>
          </a:xfrm>
          <a:prstGeom prst="rect">
            <a:avLst/>
          </a:prstGeom>
          <a:noFill/>
          <a:ln/>
        </p:spPr>
        <p:txBody>
          <a:bodyPr wrap="square" lIns="0" tIns="0" rIns="0" bIns="0" rtlCol="0" anchor="t"/>
          <a:lstStyle/>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Honestidad técnica en el diagnóstico</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Seguridad de quien instala y de quien conduce</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Responsabilidad individual sobre la instalación ejecutada</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Reconocimiento del oficio técnico</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A8</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FUENTES PÚBLICAS · APA</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DE DÓNDE SALE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cada cifra pública.</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Verificación realizada el 22-10-2026. Las cifras de los instrumentos que no tienen fuente pública identificable no se usan en las láminas.</a:t>
            </a:r>
            <a:endParaRPr lang="es-CL" sz="1100" dirty="0"/>
          </a:p>
        </p:txBody>
      </p:sp>
      <p:sp>
        <p:nvSpPr>
          <p:cNvPr id="6" name="Text 4"/>
          <p:cNvSpPr txBox="1"/>
          <p:nvPr/>
        </p:nvSpPr>
        <p:spPr>
          <a:xfrm>
            <a:off x="548640" y="2350008"/>
            <a:ext cx="11094415" cy="3291840"/>
          </a:xfrm>
          <a:prstGeom prst="rect">
            <a:avLst/>
          </a:prstGeom>
          <a:noFill/>
          <a:ln/>
        </p:spPr>
        <p:txBody>
          <a:bodyPr wrap="square" lIns="0" tIns="0" rIns="0" bIns="0" rtlCol="0" anchor="t"/>
          <a:lstStyle/>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Banco Central de Chile. (2026, 9 de septiembre). Informe de Política Monetaria, septiembre 2026. https://www.bcentral.cl</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Banco Central de Chile. (2026). Dólar observado, serie diaria (30-09-2026: $970,46). Base de Datos Estadísticos.</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BloombergNEF. (2025, 9 de diciembre). Lithium-ion battery pack prices fall to $108 per kilowatt-hour. https://about.bnef.com</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Cámara de Comercio Automotriz de Chile [CAVEM]. (2026). Informe del mercado automotor, enero a agosto de 2026 (citado en Redimin).</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Comisión Nacional de Energía [CNE]. (2026). Bencina en Línea. Citado en «Combustibles se disparan…», Emol, 24 de marzo de 2026.</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Instituto Nacional de Estadísticas [INE]. (2026, 30 de septiembre). Boletín estadístico: empleo trimestral, n.º 335 (junio-agosto 2026).</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Ley N° 21.793. (2026, 14 de enero). Diario Oficial de la República de Chile.</a:t>
            </a:r>
            <a:endParaRPr lang="es-CL" sz="1400" dirty="0"/>
          </a:p>
        </p:txBody>
      </p:sp>
      <p:sp>
        <p:nvSpPr>
          <p:cNvPr id="7" name="Shape 5"/>
          <p:cNvSpPr/>
          <p:nvPr/>
        </p:nvSpPr>
        <p:spPr>
          <a:xfrm>
            <a:off x="548640" y="5852160"/>
            <a:ext cx="7260336" cy="329184"/>
          </a:xfrm>
          <a:prstGeom prst="rect">
            <a:avLst/>
          </a:prstGeom>
          <a:solidFill>
            <a:schemeClr val="bg1">
              <a:alpha val="0"/>
            </a:schemeClr>
          </a:solidFill>
          <a:ln w="12700">
            <a:solidFill>
              <a:schemeClr val="tx1"/>
            </a:solidFill>
            <a:prstDash val="dash"/>
          </a:ln>
        </p:spPr>
      </p:sp>
      <p:sp>
        <p:nvSpPr>
          <p:cNvPr id="8" name="Text 6"/>
          <p:cNvSpPr txBox="1"/>
          <p:nvPr/>
        </p:nvSpPr>
        <p:spPr>
          <a:xfrm>
            <a:off x="658368" y="5852160"/>
            <a:ext cx="7040880" cy="329184"/>
          </a:xfrm>
          <a:prstGeom prst="rect">
            <a:avLst/>
          </a:prstGeom>
          <a:noFill/>
          <a:ln/>
        </p:spPr>
        <p:txBody>
          <a:bodyPr wrap="square" lIns="0" tIns="0" rIns="0" bIns="0" rtlCol="0" anchor="ctr"/>
          <a:lstStyle/>
          <a:p>
            <a:pPr algn="ctr" indent="0" marL="0">
              <a:buNone/>
            </a:pPr>
            <a:r>
              <a:rPr lang="es-CL" altLang="en-US" sz="1100" spc="100" kern="0" dirty="0">
                <a:solidFill>
                  <a:schemeClr val="tx1"/>
                </a:solidFill>
                <a:latin typeface="IBM Plex Mono" pitchFamily="34" charset="0"/>
                <a:ea typeface="IBM Plex Mono" pitchFamily="34" charset="-122"/>
                <a:cs typeface="IBM Plex Mono" pitchFamily="34" charset="-120"/>
              </a:rPr>
              <a:t>NO SE USA: «EMPLEO EN TRANSPORTE +9,7%» · SIN FUENTE CHILENA VERIFICABLE</a:t>
            </a:r>
            <a:endParaRPr lang="es-CL" sz="11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A9</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TRANSPARENCIA · NATURALEZA DE CADA AFIRMACIÓN</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DATO, INSTRUMENTO, ESTIMACIÓN</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o por confirmar.</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a:t>
            </a:r>
            <a:endParaRPr lang="es-CL" sz="1100" dirty="0"/>
          </a:p>
        </p:txBody>
      </p:sp>
      <p:sp>
        <p:nvSpPr>
          <p:cNvPr id="6" name="Shape 4"/>
          <p:cNvSpPr/>
          <p:nvPr/>
        </p:nvSpPr>
        <p:spPr>
          <a:xfrm>
            <a:off x="548640" y="2395728"/>
            <a:ext cx="2602154" cy="3785616"/>
          </a:xfrm>
          <a:prstGeom prst="rect">
            <a:avLst/>
          </a:prstGeom>
          <a:solidFill>
            <a:schemeClr val="bg2"/>
          </a:solidFill>
          <a:ln w="15875">
            <a:solidFill>
              <a:schemeClr val="accent1"/>
            </a:solidFill>
            <a:prstDash val="solid"/>
          </a:ln>
        </p:spPr>
      </p:sp>
      <p:sp>
        <p:nvSpPr>
          <p:cNvPr id="7" name="Text 5"/>
          <p:cNvSpPr txBox="1"/>
          <p:nvPr/>
        </p:nvSpPr>
        <p:spPr>
          <a:xfrm>
            <a:off x="731520"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accent1"/>
                </a:solidFill>
                <a:latin typeface="IBM Plex Mono" pitchFamily="34" charset="0"/>
                <a:ea typeface="IBM Plex Mono" pitchFamily="34" charset="-122"/>
                <a:cs typeface="IBM Plex Mono" pitchFamily="34" charset="-120"/>
              </a:rPr>
              <a:t>DATO PÚBLICO</a:t>
            </a:r>
            <a:endParaRPr lang="es-CL" sz="1200" dirty="0"/>
          </a:p>
        </p:txBody>
      </p:sp>
      <p:sp>
        <p:nvSpPr>
          <p:cNvPr id="8" name="Shape 6"/>
          <p:cNvSpPr/>
          <p:nvPr/>
        </p:nvSpPr>
        <p:spPr>
          <a:xfrm>
            <a:off x="731520" y="3172968"/>
            <a:ext cx="2236394" cy="0"/>
          </a:xfrm>
          <a:prstGeom prst="line">
            <a:avLst/>
          </a:prstGeom>
          <a:noFill/>
          <a:ln w="9525">
            <a:solidFill>
              <a:schemeClr val="accent5"/>
            </a:solidFill>
            <a:prstDash val="solid"/>
          </a:ln>
        </p:spPr>
      </p:sp>
      <p:sp>
        <p:nvSpPr>
          <p:cNvPr id="9" name="Text 7"/>
          <p:cNvSpPr txBox="1"/>
          <p:nvPr/>
        </p:nvSpPr>
        <p:spPr>
          <a:xfrm>
            <a:off x="731520"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Usados por cada nuevo</a:t>
            </a:r>
            <a:endParaRPr lang="es-CL" sz="1600" dirty="0"/>
          </a:p>
        </p:txBody>
      </p:sp>
      <p:sp>
        <p:nvSpPr>
          <p:cNvPr id="10" name="Shape 8"/>
          <p:cNvSpPr/>
          <p:nvPr/>
        </p:nvSpPr>
        <p:spPr>
          <a:xfrm>
            <a:off x="731520" y="3904488"/>
            <a:ext cx="2236394" cy="0"/>
          </a:xfrm>
          <a:prstGeom prst="line">
            <a:avLst/>
          </a:prstGeom>
          <a:noFill/>
          <a:ln w="9525">
            <a:solidFill>
              <a:schemeClr val="accent5"/>
            </a:solidFill>
            <a:prstDash val="solid"/>
          </a:ln>
        </p:spPr>
      </p:sp>
      <p:sp>
        <p:nvSpPr>
          <p:cNvPr id="11" name="Text 9"/>
          <p:cNvSpPr txBox="1"/>
          <p:nvPr/>
        </p:nvSpPr>
        <p:spPr>
          <a:xfrm>
            <a:off x="731520"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de la bencina</a:t>
            </a:r>
            <a:endParaRPr lang="es-CL" sz="1600" dirty="0"/>
          </a:p>
        </p:txBody>
      </p:sp>
      <p:sp>
        <p:nvSpPr>
          <p:cNvPr id="12" name="Shape 10"/>
          <p:cNvSpPr/>
          <p:nvPr/>
        </p:nvSpPr>
        <p:spPr>
          <a:xfrm>
            <a:off x="731520" y="4636008"/>
            <a:ext cx="2236394" cy="0"/>
          </a:xfrm>
          <a:prstGeom prst="line">
            <a:avLst/>
          </a:prstGeom>
          <a:noFill/>
          <a:ln w="9525">
            <a:solidFill>
              <a:schemeClr val="accent5"/>
            </a:solidFill>
            <a:prstDash val="solid"/>
          </a:ln>
        </p:spPr>
      </p:sp>
      <p:sp>
        <p:nvSpPr>
          <p:cNvPr id="13" name="Text 11"/>
          <p:cNvSpPr txBox="1"/>
          <p:nvPr/>
        </p:nvSpPr>
        <p:spPr>
          <a:xfrm>
            <a:off x="731520"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Dólar, PIB y desempleo</a:t>
            </a:r>
            <a:endParaRPr lang="es-CL" sz="1600" dirty="0"/>
          </a:p>
        </p:txBody>
      </p:sp>
      <p:sp>
        <p:nvSpPr>
          <p:cNvPr id="14" name="Shape 12"/>
          <p:cNvSpPr/>
          <p:nvPr/>
        </p:nvSpPr>
        <p:spPr>
          <a:xfrm>
            <a:off x="731520" y="5367528"/>
            <a:ext cx="2236394" cy="0"/>
          </a:xfrm>
          <a:prstGeom prst="line">
            <a:avLst/>
          </a:prstGeom>
          <a:noFill/>
          <a:ln w="9525">
            <a:solidFill>
              <a:schemeClr val="accent5"/>
            </a:solidFill>
            <a:prstDash val="solid"/>
          </a:ln>
        </p:spPr>
      </p:sp>
      <p:sp>
        <p:nvSpPr>
          <p:cNvPr id="15" name="Text 13"/>
          <p:cNvSpPr txBox="1"/>
          <p:nvPr/>
        </p:nvSpPr>
        <p:spPr>
          <a:xfrm>
            <a:off x="731520" y="541324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Ley N° 21.793 sin reglamento</a:t>
            </a:r>
            <a:endParaRPr lang="es-CL" sz="1600" dirty="0"/>
          </a:p>
        </p:txBody>
      </p:sp>
      <p:sp>
        <p:nvSpPr>
          <p:cNvPr id="16" name="Shape 14"/>
          <p:cNvSpPr/>
          <p:nvPr/>
        </p:nvSpPr>
        <p:spPr>
          <a:xfrm>
            <a:off x="3379394" y="2395728"/>
            <a:ext cx="2602154" cy="3785616"/>
          </a:xfrm>
          <a:prstGeom prst="rect">
            <a:avLst/>
          </a:prstGeom>
          <a:solidFill>
            <a:schemeClr val="bg2"/>
          </a:solidFill>
          <a:ln w="12700">
            <a:solidFill>
              <a:schemeClr val="tx1"/>
            </a:solidFill>
            <a:prstDash val="sysDot"/>
          </a:ln>
        </p:spPr>
      </p:sp>
      <p:sp>
        <p:nvSpPr>
          <p:cNvPr id="17" name="Text 15"/>
          <p:cNvSpPr txBox="1"/>
          <p:nvPr/>
        </p:nvSpPr>
        <p:spPr>
          <a:xfrm>
            <a:off x="3562274"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INSTRUMENTO DEL EQUIPO</a:t>
            </a:r>
            <a:endParaRPr lang="es-CL" sz="1200" dirty="0"/>
          </a:p>
        </p:txBody>
      </p:sp>
      <p:sp>
        <p:nvSpPr>
          <p:cNvPr id="18" name="Shape 16"/>
          <p:cNvSpPr/>
          <p:nvPr/>
        </p:nvSpPr>
        <p:spPr>
          <a:xfrm>
            <a:off x="3562274" y="3172968"/>
            <a:ext cx="2236394" cy="0"/>
          </a:xfrm>
          <a:prstGeom prst="line">
            <a:avLst/>
          </a:prstGeom>
          <a:noFill/>
          <a:ln w="9525">
            <a:solidFill>
              <a:schemeClr val="accent5"/>
            </a:solidFill>
            <a:prstDash val="solid"/>
          </a:ln>
        </p:spPr>
      </p:sp>
      <p:sp>
        <p:nvSpPr>
          <p:cNvPr id="19" name="Text 17"/>
          <p:cNvSpPr txBox="1"/>
          <p:nvPr/>
        </p:nvSpPr>
        <p:spPr>
          <a:xfrm>
            <a:off x="3562274"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PEST 2,82 y Porter 3,49</a:t>
            </a:r>
            <a:endParaRPr lang="es-CL" sz="1600" dirty="0"/>
          </a:p>
        </p:txBody>
      </p:sp>
      <p:sp>
        <p:nvSpPr>
          <p:cNvPr id="20" name="Shape 18"/>
          <p:cNvSpPr/>
          <p:nvPr/>
        </p:nvSpPr>
        <p:spPr>
          <a:xfrm>
            <a:off x="3562274" y="3904488"/>
            <a:ext cx="2236394" cy="0"/>
          </a:xfrm>
          <a:prstGeom prst="line">
            <a:avLst/>
          </a:prstGeom>
          <a:noFill/>
          <a:ln w="9525">
            <a:solidFill>
              <a:schemeClr val="accent5"/>
            </a:solidFill>
            <a:prstDash val="solid"/>
          </a:ln>
        </p:spPr>
      </p:sp>
      <p:sp>
        <p:nvSpPr>
          <p:cNvPr id="21" name="Text 19"/>
          <p:cNvSpPr txBox="1"/>
          <p:nvPr/>
        </p:nvSpPr>
        <p:spPr>
          <a:xfrm>
            <a:off x="3562274"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Recursos: 2 de 15; FCE</a:t>
            </a:r>
            <a:endParaRPr lang="es-CL" sz="1600" dirty="0"/>
          </a:p>
        </p:txBody>
      </p:sp>
      <p:sp>
        <p:nvSpPr>
          <p:cNvPr id="22" name="Shape 20"/>
          <p:cNvSpPr/>
          <p:nvPr/>
        </p:nvSpPr>
        <p:spPr>
          <a:xfrm>
            <a:off x="3562274" y="4636008"/>
            <a:ext cx="2236394" cy="0"/>
          </a:xfrm>
          <a:prstGeom prst="line">
            <a:avLst/>
          </a:prstGeom>
          <a:noFill/>
          <a:ln w="9525">
            <a:solidFill>
              <a:schemeClr val="accent5"/>
            </a:solidFill>
            <a:prstDash val="solid"/>
          </a:ln>
        </p:spPr>
      </p:sp>
      <p:sp>
        <p:nvSpPr>
          <p:cNvPr id="23" name="Text 21"/>
          <p:cNvSpPr txBox="1"/>
          <p:nvPr/>
        </p:nvSpPr>
        <p:spPr>
          <a:xfrm>
            <a:off x="3562274"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Cadena de valor 3,00 / 2,71</a:t>
            </a:r>
            <a:endParaRPr lang="es-CL" sz="1600" dirty="0"/>
          </a:p>
        </p:txBody>
      </p:sp>
      <p:sp>
        <p:nvSpPr>
          <p:cNvPr id="24" name="Shape 22"/>
          <p:cNvSpPr/>
          <p:nvPr/>
        </p:nvSpPr>
        <p:spPr>
          <a:xfrm>
            <a:off x="3562274" y="5367528"/>
            <a:ext cx="2236394" cy="0"/>
          </a:xfrm>
          <a:prstGeom prst="line">
            <a:avLst/>
          </a:prstGeom>
          <a:noFill/>
          <a:ln w="9525">
            <a:solidFill>
              <a:schemeClr val="accent5"/>
            </a:solidFill>
            <a:prstDash val="solid"/>
          </a:ln>
        </p:spPr>
      </p:sp>
      <p:sp>
        <p:nvSpPr>
          <p:cNvPr id="25" name="Text 23"/>
          <p:cNvSpPr txBox="1"/>
          <p:nvPr/>
        </p:nvSpPr>
        <p:spPr>
          <a:xfrm>
            <a:off x="3562274" y="541324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Escenarios E1 a E4</a:t>
            </a:r>
            <a:endParaRPr lang="es-CL" sz="1600" dirty="0"/>
          </a:p>
        </p:txBody>
      </p:sp>
      <p:sp>
        <p:nvSpPr>
          <p:cNvPr id="26" name="Shape 24"/>
          <p:cNvSpPr/>
          <p:nvPr/>
        </p:nvSpPr>
        <p:spPr>
          <a:xfrm>
            <a:off x="6210148" y="2395728"/>
            <a:ext cx="2602154" cy="3785616"/>
          </a:xfrm>
          <a:prstGeom prst="rect">
            <a:avLst/>
          </a:prstGeom>
          <a:solidFill>
            <a:schemeClr val="bg2"/>
          </a:solidFill>
          <a:ln w="12700">
            <a:solidFill>
              <a:srgbClr val="8B9598"/>
            </a:solidFill>
            <a:prstDash val="dash"/>
          </a:ln>
        </p:spPr>
      </p:sp>
      <p:sp>
        <p:nvSpPr>
          <p:cNvPr id="27" name="Text 25"/>
          <p:cNvSpPr txBox="1"/>
          <p:nvPr/>
        </p:nvSpPr>
        <p:spPr>
          <a:xfrm>
            <a:off x="6393028"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ESTIMACIÓN O INDICIO</a:t>
            </a:r>
            <a:endParaRPr lang="es-CL" sz="1200" dirty="0"/>
          </a:p>
        </p:txBody>
      </p:sp>
      <p:sp>
        <p:nvSpPr>
          <p:cNvPr id="28" name="Shape 26"/>
          <p:cNvSpPr/>
          <p:nvPr/>
        </p:nvSpPr>
        <p:spPr>
          <a:xfrm>
            <a:off x="6393028" y="3172968"/>
            <a:ext cx="2236394" cy="0"/>
          </a:xfrm>
          <a:prstGeom prst="line">
            <a:avLst/>
          </a:prstGeom>
          <a:noFill/>
          <a:ln w="9525">
            <a:solidFill>
              <a:schemeClr val="accent5"/>
            </a:solidFill>
            <a:prstDash val="solid"/>
          </a:ln>
        </p:spPr>
      </p:sp>
      <p:sp>
        <p:nvSpPr>
          <p:cNvPr id="29" name="Text 27"/>
          <p:cNvSpPr txBox="1"/>
          <p:nvPr/>
        </p:nvSpPr>
        <p:spPr>
          <a:xfrm>
            <a:off x="6393028"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Hasta 20% menos bencina en ciudad</a:t>
            </a:r>
            <a:endParaRPr lang="es-CL" sz="1600" dirty="0"/>
          </a:p>
        </p:txBody>
      </p:sp>
      <p:sp>
        <p:nvSpPr>
          <p:cNvPr id="30" name="Shape 28"/>
          <p:cNvSpPr/>
          <p:nvPr/>
        </p:nvSpPr>
        <p:spPr>
          <a:xfrm>
            <a:off x="6393028" y="3904488"/>
            <a:ext cx="2236394" cy="0"/>
          </a:xfrm>
          <a:prstGeom prst="line">
            <a:avLst/>
          </a:prstGeom>
          <a:noFill/>
          <a:ln w="9525">
            <a:solidFill>
              <a:schemeClr val="accent5"/>
            </a:solidFill>
            <a:prstDash val="solid"/>
          </a:ln>
        </p:spPr>
      </p:sp>
      <p:sp>
        <p:nvSpPr>
          <p:cNvPr id="31" name="Text 29"/>
          <p:cNvSpPr txBox="1"/>
          <p:nvPr/>
        </p:nvSpPr>
        <p:spPr>
          <a:xfrm>
            <a:off x="6393028"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decide, confianza atreve (n = 3)</a:t>
            </a:r>
            <a:endParaRPr lang="es-CL" sz="1600" dirty="0"/>
          </a:p>
        </p:txBody>
      </p:sp>
      <p:sp>
        <p:nvSpPr>
          <p:cNvPr id="32" name="Shape 30"/>
          <p:cNvSpPr/>
          <p:nvPr/>
        </p:nvSpPr>
        <p:spPr>
          <a:xfrm>
            <a:off x="9040901" y="2395728"/>
            <a:ext cx="2602154" cy="3785616"/>
          </a:xfrm>
          <a:prstGeom prst="rect">
            <a:avLst/>
          </a:prstGeom>
          <a:solidFill>
            <a:schemeClr val="bg2"/>
          </a:solidFill>
          <a:ln w="15875">
            <a:solidFill>
              <a:schemeClr val="tx1"/>
            </a:solidFill>
            <a:prstDash val="dash"/>
          </a:ln>
        </p:spPr>
      </p:sp>
      <p:sp>
        <p:nvSpPr>
          <p:cNvPr id="33" name="Text 31"/>
          <p:cNvSpPr txBox="1"/>
          <p:nvPr/>
        </p:nvSpPr>
        <p:spPr>
          <a:xfrm>
            <a:off x="9223781"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POR CONFIRMAR</a:t>
            </a:r>
            <a:endParaRPr lang="es-CL" sz="1200" dirty="0"/>
          </a:p>
        </p:txBody>
      </p:sp>
      <p:sp>
        <p:nvSpPr>
          <p:cNvPr id="34" name="Shape 32"/>
          <p:cNvSpPr/>
          <p:nvPr/>
        </p:nvSpPr>
        <p:spPr>
          <a:xfrm>
            <a:off x="9223781" y="3172968"/>
            <a:ext cx="2236394" cy="0"/>
          </a:xfrm>
          <a:prstGeom prst="line">
            <a:avLst/>
          </a:prstGeom>
          <a:noFill/>
          <a:ln w="9525">
            <a:solidFill>
              <a:schemeClr val="accent5"/>
            </a:solidFill>
            <a:prstDash val="solid"/>
          </a:ln>
        </p:spPr>
      </p:sp>
      <p:sp>
        <p:nvSpPr>
          <p:cNvPr id="35" name="Text 33"/>
          <p:cNvSpPr txBox="1"/>
          <p:nvPr/>
        </p:nvSpPr>
        <p:spPr>
          <a:xfrm>
            <a:off x="9223781"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Convenios de financiamiento y seguros</a:t>
            </a:r>
            <a:endParaRPr lang="es-CL" sz="1600" dirty="0"/>
          </a:p>
        </p:txBody>
      </p:sp>
      <p:sp>
        <p:nvSpPr>
          <p:cNvPr id="36" name="Shape 34"/>
          <p:cNvSpPr/>
          <p:nvPr/>
        </p:nvSpPr>
        <p:spPr>
          <a:xfrm>
            <a:off x="9223781" y="3904488"/>
            <a:ext cx="2236394" cy="0"/>
          </a:xfrm>
          <a:prstGeom prst="line">
            <a:avLst/>
          </a:prstGeom>
          <a:noFill/>
          <a:ln w="9525">
            <a:solidFill>
              <a:schemeClr val="accent5"/>
            </a:solidFill>
            <a:prstDash val="solid"/>
          </a:ln>
        </p:spPr>
      </p:sp>
      <p:sp>
        <p:nvSpPr>
          <p:cNvPr id="37" name="Text 35"/>
          <p:cNvSpPr txBox="1"/>
          <p:nvPr/>
        </p:nvSpPr>
        <p:spPr>
          <a:xfrm>
            <a:off x="9223781"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Homologación y autorización</a:t>
            </a:r>
            <a:endParaRPr lang="es-CL" sz="1600" dirty="0"/>
          </a:p>
        </p:txBody>
      </p:sp>
      <p:sp>
        <p:nvSpPr>
          <p:cNvPr id="38" name="Shape 36"/>
          <p:cNvSpPr/>
          <p:nvPr/>
        </p:nvSpPr>
        <p:spPr>
          <a:xfrm>
            <a:off x="9223781" y="4636008"/>
            <a:ext cx="2236394" cy="0"/>
          </a:xfrm>
          <a:prstGeom prst="line">
            <a:avLst/>
          </a:prstGeom>
          <a:noFill/>
          <a:ln w="9525">
            <a:solidFill>
              <a:schemeClr val="accent5"/>
            </a:solidFill>
            <a:prstDash val="solid"/>
          </a:ln>
        </p:spPr>
      </p:sp>
      <p:sp>
        <p:nvSpPr>
          <p:cNvPr id="39" name="Text 37"/>
          <p:cNvSpPr txBox="1"/>
          <p:nvPr/>
        </p:nvSpPr>
        <p:spPr>
          <a:xfrm>
            <a:off x="9223781"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y costos unitarios</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A10</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COHERENCIA CON EL INFORME</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CADA LÁMINA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tiene su apartado en el Word.</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informe «Avance 1 · Control 3» (borrador del equipo).</a:t>
            </a:r>
            <a:endParaRPr lang="es-CL" sz="1100" dirty="0"/>
          </a:p>
        </p:txBody>
      </p:sp>
      <p:sp>
        <p:nvSpPr>
          <p:cNvPr id="6" name="Text 4"/>
          <p:cNvSpPr txBox="1"/>
          <p:nvPr/>
        </p:nvSpPr>
        <p:spPr>
          <a:xfrm>
            <a:off x="548640" y="2322576"/>
            <a:ext cx="40233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LÁMINA</a:t>
            </a:r>
            <a:endParaRPr lang="es-CL" sz="1200" dirty="0"/>
          </a:p>
        </p:txBody>
      </p:sp>
      <p:sp>
        <p:nvSpPr>
          <p:cNvPr id="7" name="Text 5"/>
          <p:cNvSpPr txBox="1"/>
          <p:nvPr/>
        </p:nvSpPr>
        <p:spPr>
          <a:xfrm>
            <a:off x="4572000" y="2322576"/>
            <a:ext cx="3017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APARTADO DEL WORD</a:t>
            </a:r>
            <a:endParaRPr lang="es-CL" sz="1200" dirty="0"/>
          </a:p>
        </p:txBody>
      </p:sp>
      <p:sp>
        <p:nvSpPr>
          <p:cNvPr id="8" name="Text 6"/>
          <p:cNvSpPr txBox="1"/>
          <p:nvPr/>
        </p:nvSpPr>
        <p:spPr>
          <a:xfrm>
            <a:off x="7589520" y="2322576"/>
            <a:ext cx="40535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EVIDENCIA O ANEXO</a:t>
            </a:r>
            <a:endParaRPr lang="es-CL" sz="1200" dirty="0"/>
          </a:p>
        </p:txBody>
      </p:sp>
      <p:sp>
        <p:nvSpPr>
          <p:cNvPr id="9" name="Shape 7"/>
          <p:cNvSpPr/>
          <p:nvPr/>
        </p:nvSpPr>
        <p:spPr>
          <a:xfrm>
            <a:off x="548640" y="2633472"/>
            <a:ext cx="11094415" cy="0"/>
          </a:xfrm>
          <a:prstGeom prst="line">
            <a:avLst/>
          </a:prstGeom>
          <a:noFill/>
          <a:ln w="9525">
            <a:solidFill>
              <a:schemeClr val="accent1"/>
            </a:solidFill>
            <a:prstDash val="solid"/>
          </a:ln>
        </p:spPr>
      </p:sp>
      <p:sp>
        <p:nvSpPr>
          <p:cNvPr id="10" name="Text 8"/>
          <p:cNvSpPr txBox="1"/>
          <p:nvPr/>
        </p:nvSpPr>
        <p:spPr>
          <a:xfrm>
            <a:off x="548640" y="2633472"/>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 · Contexto y problema</a:t>
            </a:r>
            <a:endParaRPr lang="es-CL" sz="1500" dirty="0"/>
          </a:p>
        </p:txBody>
      </p:sp>
      <p:sp>
        <p:nvSpPr>
          <p:cNvPr id="11" name="Text 9"/>
          <p:cNvSpPr txBox="1"/>
          <p:nvPr/>
        </p:nvSpPr>
        <p:spPr>
          <a:xfrm>
            <a:off x="4572000" y="2633472"/>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 Introducción</a:t>
            </a:r>
            <a:endParaRPr lang="es-CL" sz="1500" dirty="0"/>
          </a:p>
        </p:txBody>
      </p:sp>
      <p:sp>
        <p:nvSpPr>
          <p:cNvPr id="12" name="Text 10"/>
          <p:cNvSpPr txBox="1"/>
          <p:nvPr/>
        </p:nvSpPr>
        <p:spPr>
          <a:xfrm>
            <a:off x="7589520" y="2633472"/>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A8 · fuentes públicas</a:t>
            </a:r>
            <a:endParaRPr lang="es-CL" sz="1500" dirty="0"/>
          </a:p>
        </p:txBody>
      </p:sp>
      <p:sp>
        <p:nvSpPr>
          <p:cNvPr id="13" name="Shape 11"/>
          <p:cNvSpPr/>
          <p:nvPr/>
        </p:nvSpPr>
        <p:spPr>
          <a:xfrm>
            <a:off x="548640" y="3063240"/>
            <a:ext cx="11094415" cy="0"/>
          </a:xfrm>
          <a:prstGeom prst="line">
            <a:avLst/>
          </a:prstGeom>
          <a:noFill/>
          <a:ln w="9525">
            <a:solidFill>
              <a:schemeClr val="accent5"/>
            </a:solidFill>
            <a:prstDash val="solid"/>
          </a:ln>
        </p:spPr>
      </p:sp>
      <p:sp>
        <p:nvSpPr>
          <p:cNvPr id="14" name="Text 12"/>
          <p:cNvSpPr txBox="1"/>
          <p:nvPr/>
        </p:nvSpPr>
        <p:spPr>
          <a:xfrm>
            <a:off x="548640" y="3063240"/>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 y 4 · Kit, cliente y modelo</a:t>
            </a:r>
            <a:endParaRPr lang="es-CL" sz="1500" dirty="0"/>
          </a:p>
        </p:txBody>
      </p:sp>
      <p:sp>
        <p:nvSpPr>
          <p:cNvPr id="15" name="Text 13"/>
          <p:cNvSpPr txBox="1"/>
          <p:nvPr/>
        </p:nvSpPr>
        <p:spPr>
          <a:xfrm>
            <a:off x="4572000" y="3063240"/>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4.1 a 4.3</a:t>
            </a:r>
            <a:endParaRPr lang="es-CL" sz="1500" dirty="0"/>
          </a:p>
        </p:txBody>
      </p:sp>
      <p:sp>
        <p:nvSpPr>
          <p:cNvPr id="16" name="Text 14"/>
          <p:cNvSpPr txBox="1"/>
          <p:nvPr/>
        </p:nvSpPr>
        <p:spPr>
          <a:xfrm>
            <a:off x="7589520" y="3063240"/>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A9 · supuestos</a:t>
            </a:r>
            <a:endParaRPr lang="es-CL" sz="1500" dirty="0"/>
          </a:p>
        </p:txBody>
      </p:sp>
      <p:sp>
        <p:nvSpPr>
          <p:cNvPr id="17" name="Shape 15"/>
          <p:cNvSpPr/>
          <p:nvPr/>
        </p:nvSpPr>
        <p:spPr>
          <a:xfrm>
            <a:off x="548640" y="3493008"/>
            <a:ext cx="11094415" cy="0"/>
          </a:xfrm>
          <a:prstGeom prst="line">
            <a:avLst/>
          </a:prstGeom>
          <a:noFill/>
          <a:ln w="9525">
            <a:solidFill>
              <a:schemeClr val="accent5"/>
            </a:solidFill>
            <a:prstDash val="solid"/>
          </a:ln>
        </p:spPr>
      </p:sp>
      <p:sp>
        <p:nvSpPr>
          <p:cNvPr id="18" name="Text 16"/>
          <p:cNvSpPr txBox="1"/>
          <p:nvPr/>
        </p:nvSpPr>
        <p:spPr>
          <a:xfrm>
            <a:off x="548640" y="3493008"/>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5 · Misión, visión y valores</a:t>
            </a:r>
            <a:endParaRPr lang="es-CL" sz="1500" dirty="0"/>
          </a:p>
        </p:txBody>
      </p:sp>
      <p:sp>
        <p:nvSpPr>
          <p:cNvPr id="19" name="Text 17"/>
          <p:cNvSpPr txBox="1"/>
          <p:nvPr/>
        </p:nvSpPr>
        <p:spPr>
          <a:xfrm>
            <a:off x="4572000" y="3493008"/>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5.1 a 5.3</a:t>
            </a:r>
            <a:endParaRPr lang="es-CL" sz="1500" dirty="0"/>
          </a:p>
        </p:txBody>
      </p:sp>
      <p:sp>
        <p:nvSpPr>
          <p:cNvPr id="20" name="Text 18"/>
          <p:cNvSpPr txBox="1"/>
          <p:nvPr/>
        </p:nvSpPr>
        <p:spPr>
          <a:xfrm>
            <a:off x="7589520" y="3493008"/>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A7 · textos literales</a:t>
            </a:r>
            <a:endParaRPr lang="es-CL" sz="1500" dirty="0"/>
          </a:p>
        </p:txBody>
      </p:sp>
      <p:sp>
        <p:nvSpPr>
          <p:cNvPr id="21" name="Shape 19"/>
          <p:cNvSpPr/>
          <p:nvPr/>
        </p:nvSpPr>
        <p:spPr>
          <a:xfrm>
            <a:off x="548640" y="3922776"/>
            <a:ext cx="11094415" cy="0"/>
          </a:xfrm>
          <a:prstGeom prst="line">
            <a:avLst/>
          </a:prstGeom>
          <a:noFill/>
          <a:ln w="9525">
            <a:solidFill>
              <a:schemeClr val="accent5"/>
            </a:solidFill>
            <a:prstDash val="solid"/>
          </a:ln>
        </p:spPr>
      </p:sp>
      <p:sp>
        <p:nvSpPr>
          <p:cNvPr id="22" name="Text 20"/>
          <p:cNvSpPr txBox="1"/>
          <p:nvPr/>
        </p:nvSpPr>
        <p:spPr>
          <a:xfrm>
            <a:off x="548640" y="3922776"/>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6 y 7 · PEST y regulación</a:t>
            </a:r>
            <a:endParaRPr lang="es-CL" sz="1500" dirty="0"/>
          </a:p>
        </p:txBody>
      </p:sp>
      <p:sp>
        <p:nvSpPr>
          <p:cNvPr id="23" name="Text 21"/>
          <p:cNvSpPr txBox="1"/>
          <p:nvPr/>
        </p:nvSpPr>
        <p:spPr>
          <a:xfrm>
            <a:off x="4572000" y="3922776"/>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6.2 Entorno general</a:t>
            </a:r>
            <a:endParaRPr lang="es-CL" sz="1500" dirty="0"/>
          </a:p>
        </p:txBody>
      </p:sp>
      <p:sp>
        <p:nvSpPr>
          <p:cNvPr id="24" name="Text 22"/>
          <p:cNvSpPr txBox="1"/>
          <p:nvPr/>
        </p:nvSpPr>
        <p:spPr>
          <a:xfrm>
            <a:off x="7589520" y="3922776"/>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A1 · PEST</a:t>
            </a:r>
            <a:endParaRPr lang="es-CL" sz="1500" dirty="0"/>
          </a:p>
        </p:txBody>
      </p:sp>
      <p:sp>
        <p:nvSpPr>
          <p:cNvPr id="25" name="Shape 23"/>
          <p:cNvSpPr/>
          <p:nvPr/>
        </p:nvSpPr>
        <p:spPr>
          <a:xfrm>
            <a:off x="548640" y="4352544"/>
            <a:ext cx="11094415" cy="0"/>
          </a:xfrm>
          <a:prstGeom prst="line">
            <a:avLst/>
          </a:prstGeom>
          <a:noFill/>
          <a:ln w="9525">
            <a:solidFill>
              <a:schemeClr val="accent5"/>
            </a:solidFill>
            <a:prstDash val="solid"/>
          </a:ln>
        </p:spPr>
      </p:sp>
      <p:sp>
        <p:nvSpPr>
          <p:cNvPr id="26" name="Text 24"/>
          <p:cNvSpPr txBox="1"/>
          <p:nvPr/>
        </p:nvSpPr>
        <p:spPr>
          <a:xfrm>
            <a:off x="548640" y="4352544"/>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8 · Cinco fuerzas</a:t>
            </a:r>
            <a:endParaRPr lang="es-CL" sz="1500" dirty="0"/>
          </a:p>
        </p:txBody>
      </p:sp>
      <p:sp>
        <p:nvSpPr>
          <p:cNvPr id="27" name="Text 25"/>
          <p:cNvSpPr txBox="1"/>
          <p:nvPr/>
        </p:nvSpPr>
        <p:spPr>
          <a:xfrm>
            <a:off x="4572000" y="4352544"/>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6.3 Industria</a:t>
            </a:r>
            <a:endParaRPr lang="es-CL" sz="1500" dirty="0"/>
          </a:p>
        </p:txBody>
      </p:sp>
      <p:sp>
        <p:nvSpPr>
          <p:cNvPr id="28" name="Text 26"/>
          <p:cNvSpPr txBox="1"/>
          <p:nvPr/>
        </p:nvSpPr>
        <p:spPr>
          <a:xfrm>
            <a:off x="7589520" y="4352544"/>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A2 · cálculo</a:t>
            </a:r>
            <a:endParaRPr lang="es-CL" sz="1500" dirty="0"/>
          </a:p>
        </p:txBody>
      </p:sp>
      <p:sp>
        <p:nvSpPr>
          <p:cNvPr id="29" name="Shape 27"/>
          <p:cNvSpPr/>
          <p:nvPr/>
        </p:nvSpPr>
        <p:spPr>
          <a:xfrm>
            <a:off x="548640" y="4782312"/>
            <a:ext cx="11094415" cy="0"/>
          </a:xfrm>
          <a:prstGeom prst="line">
            <a:avLst/>
          </a:prstGeom>
          <a:noFill/>
          <a:ln w="9525">
            <a:solidFill>
              <a:schemeClr val="accent5"/>
            </a:solidFill>
            <a:prstDash val="solid"/>
          </a:ln>
        </p:spPr>
      </p:sp>
      <p:sp>
        <p:nvSpPr>
          <p:cNvPr id="30" name="Text 28"/>
          <p:cNvSpPr txBox="1"/>
          <p:nvPr/>
        </p:nvSpPr>
        <p:spPr>
          <a:xfrm>
            <a:off x="548640" y="4782312"/>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9 · Recursos y FCE</a:t>
            </a:r>
            <a:endParaRPr lang="es-CL" sz="1500" dirty="0"/>
          </a:p>
        </p:txBody>
      </p:sp>
      <p:sp>
        <p:nvSpPr>
          <p:cNvPr id="31" name="Text 29"/>
          <p:cNvSpPr txBox="1"/>
          <p:nvPr/>
        </p:nvSpPr>
        <p:spPr>
          <a:xfrm>
            <a:off x="4572000" y="4782312"/>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6.4 Capacidades</a:t>
            </a:r>
            <a:endParaRPr lang="es-CL" sz="1500" dirty="0"/>
          </a:p>
        </p:txBody>
      </p:sp>
      <p:sp>
        <p:nvSpPr>
          <p:cNvPr id="32" name="Text 30"/>
          <p:cNvSpPr txBox="1"/>
          <p:nvPr/>
        </p:nvSpPr>
        <p:spPr>
          <a:xfrm>
            <a:off x="7589520" y="4782312"/>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A3 · recursos · A4 · FCE</a:t>
            </a:r>
            <a:endParaRPr lang="es-CL" sz="1500" dirty="0"/>
          </a:p>
        </p:txBody>
      </p:sp>
      <p:sp>
        <p:nvSpPr>
          <p:cNvPr id="33" name="Shape 31"/>
          <p:cNvSpPr/>
          <p:nvPr/>
        </p:nvSpPr>
        <p:spPr>
          <a:xfrm>
            <a:off x="548640" y="5212080"/>
            <a:ext cx="11094415" cy="0"/>
          </a:xfrm>
          <a:prstGeom prst="line">
            <a:avLst/>
          </a:prstGeom>
          <a:noFill/>
          <a:ln w="9525">
            <a:solidFill>
              <a:schemeClr val="accent5"/>
            </a:solidFill>
            <a:prstDash val="solid"/>
          </a:ln>
        </p:spPr>
      </p:sp>
      <p:sp>
        <p:nvSpPr>
          <p:cNvPr id="34" name="Text 32"/>
          <p:cNvSpPr txBox="1"/>
          <p:nvPr/>
        </p:nvSpPr>
        <p:spPr>
          <a:xfrm>
            <a:off x="548640" y="5212080"/>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10 · Cadena de valor</a:t>
            </a:r>
            <a:endParaRPr lang="es-CL" sz="1500" dirty="0"/>
          </a:p>
        </p:txBody>
      </p:sp>
      <p:sp>
        <p:nvSpPr>
          <p:cNvPr id="35" name="Text 33"/>
          <p:cNvSpPr txBox="1"/>
          <p:nvPr/>
        </p:nvSpPr>
        <p:spPr>
          <a:xfrm>
            <a:off x="4572000" y="5212080"/>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6.4 Cadena de valor</a:t>
            </a:r>
            <a:endParaRPr lang="es-CL" sz="1500" dirty="0"/>
          </a:p>
        </p:txBody>
      </p:sp>
      <p:sp>
        <p:nvSpPr>
          <p:cNvPr id="36" name="Text 34"/>
          <p:cNvSpPr txBox="1"/>
          <p:nvPr/>
        </p:nvSpPr>
        <p:spPr>
          <a:xfrm>
            <a:off x="7589520" y="5212080"/>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A5 · competidores</a:t>
            </a:r>
            <a:endParaRPr lang="es-CL" sz="1500" dirty="0"/>
          </a:p>
        </p:txBody>
      </p:sp>
      <p:sp>
        <p:nvSpPr>
          <p:cNvPr id="37" name="Shape 35"/>
          <p:cNvSpPr/>
          <p:nvPr/>
        </p:nvSpPr>
        <p:spPr>
          <a:xfrm>
            <a:off x="548640" y="5641848"/>
            <a:ext cx="11094415" cy="0"/>
          </a:xfrm>
          <a:prstGeom prst="line">
            <a:avLst/>
          </a:prstGeom>
          <a:noFill/>
          <a:ln w="9525">
            <a:solidFill>
              <a:schemeClr val="accent5"/>
            </a:solidFill>
            <a:prstDash val="solid"/>
          </a:ln>
        </p:spPr>
      </p:sp>
      <p:sp>
        <p:nvSpPr>
          <p:cNvPr id="38" name="Text 36"/>
          <p:cNvSpPr txBox="1"/>
          <p:nvPr/>
        </p:nvSpPr>
        <p:spPr>
          <a:xfrm>
            <a:off x="548640" y="5641848"/>
            <a:ext cx="388620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11 y 12 · FODA y brechas</a:t>
            </a:r>
            <a:endParaRPr lang="es-CL" sz="1500" dirty="0"/>
          </a:p>
        </p:txBody>
      </p:sp>
      <p:sp>
        <p:nvSpPr>
          <p:cNvPr id="39" name="Text 37"/>
          <p:cNvSpPr txBox="1"/>
          <p:nvPr/>
        </p:nvSpPr>
        <p:spPr>
          <a:xfrm>
            <a:off x="4572000" y="5641848"/>
            <a:ext cx="2880360"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6.5 y 6.6</a:t>
            </a:r>
            <a:endParaRPr lang="es-CL" sz="1500" dirty="0"/>
          </a:p>
        </p:txBody>
      </p:sp>
      <p:sp>
        <p:nvSpPr>
          <p:cNvPr id="40" name="Text 38"/>
          <p:cNvSpPr txBox="1"/>
          <p:nvPr/>
        </p:nvSpPr>
        <p:spPr>
          <a:xfrm>
            <a:off x="7589520" y="5641848"/>
            <a:ext cx="3916375" cy="429768"/>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A6 · FODA con evidencia</a:t>
            </a:r>
            <a:endParaRPr lang="es-CL" sz="1500" dirty="0"/>
          </a:p>
        </p:txBody>
      </p:sp>
      <p:sp>
        <p:nvSpPr>
          <p:cNvPr id="41" name="Shape 39"/>
          <p:cNvSpPr/>
          <p:nvPr/>
        </p:nvSpPr>
        <p:spPr>
          <a:xfrm>
            <a:off x="548640" y="6071616"/>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RESPALDO AVANCE 2</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MAPA ESTRATÉGICO PRELIMINAR,</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se expone en el Avance 1.</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Respaldo del siguiente avance: propuesta preliminar del equipo, no forma parte de la evaluación del Avance 1.</a:t>
            </a:r>
            <a:endParaRPr lang="es-CL" sz="1100" dirty="0"/>
          </a:p>
        </p:txBody>
      </p:sp>
      <p:sp>
        <p:nvSpPr>
          <p:cNvPr id="6" name="Text 4"/>
          <p:cNvSpPr txBox="1"/>
          <p:nvPr/>
        </p:nvSpPr>
        <p:spPr>
          <a:xfrm>
            <a:off x="10671505" y="841248"/>
            <a:ext cx="97155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HIPÓTESIS</a:t>
            </a:r>
            <a:endParaRPr lang="es-CL" sz="1200" dirty="0"/>
          </a:p>
        </p:txBody>
      </p:sp>
      <p:sp>
        <p:nvSpPr>
          <p:cNvPr id="7" name="Shape 5"/>
          <p:cNvSpPr/>
          <p:nvPr/>
        </p:nvSpPr>
        <p:spPr>
          <a:xfrm>
            <a:off x="10168585" y="978408"/>
            <a:ext cx="384048" cy="0"/>
          </a:xfrm>
          <a:prstGeom prst="line">
            <a:avLst/>
          </a:prstGeom>
          <a:noFill/>
          <a:ln w="19050">
            <a:solidFill>
              <a:schemeClr val="accent1"/>
            </a:solidFill>
            <a:prstDash val="dash"/>
          </a:ln>
        </p:spPr>
      </p:sp>
      <p:sp>
        <p:nvSpPr>
          <p:cNvPr id="8" name="Text 6"/>
          <p:cNvSpPr txBox="1"/>
          <p:nvPr/>
        </p:nvSpPr>
        <p:spPr>
          <a:xfrm>
            <a:off x="8140395" y="841248"/>
            <a:ext cx="175387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CONDICIÓN EXTERNA</a:t>
            </a:r>
            <a:endParaRPr lang="es-CL" sz="1200" dirty="0"/>
          </a:p>
        </p:txBody>
      </p:sp>
      <p:sp>
        <p:nvSpPr>
          <p:cNvPr id="9" name="Shape 7"/>
          <p:cNvSpPr/>
          <p:nvPr/>
        </p:nvSpPr>
        <p:spPr>
          <a:xfrm>
            <a:off x="7637475" y="978408"/>
            <a:ext cx="384048" cy="0"/>
          </a:xfrm>
          <a:prstGeom prst="line">
            <a:avLst/>
          </a:prstGeom>
          <a:noFill/>
          <a:ln w="41275">
            <a:solidFill>
              <a:schemeClr val="tx1"/>
            </a:solidFill>
            <a:prstDash val="solid"/>
          </a:ln>
        </p:spPr>
      </p:sp>
      <p:sp>
        <p:nvSpPr>
          <p:cNvPr id="10" name="Text 8"/>
          <p:cNvSpPr txBox="1"/>
          <p:nvPr/>
        </p:nvSpPr>
        <p:spPr>
          <a:xfrm>
            <a:off x="6196025" y="841248"/>
            <a:ext cx="116713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HABILITANTE</a:t>
            </a:r>
            <a:endParaRPr lang="es-CL" sz="1200" dirty="0"/>
          </a:p>
        </p:txBody>
      </p:sp>
      <p:sp>
        <p:nvSpPr>
          <p:cNvPr id="11" name="Shape 9"/>
          <p:cNvSpPr/>
          <p:nvPr/>
        </p:nvSpPr>
        <p:spPr>
          <a:xfrm>
            <a:off x="5693105" y="978408"/>
            <a:ext cx="384048" cy="0"/>
          </a:xfrm>
          <a:prstGeom prst="line">
            <a:avLst/>
          </a:prstGeom>
          <a:noFill/>
          <a:ln w="25400">
            <a:solidFill>
              <a:schemeClr val="accent1"/>
            </a:solidFill>
            <a:prstDash val="solid"/>
          </a:ln>
        </p:spPr>
      </p:sp>
      <p:sp>
        <p:nvSpPr>
          <p:cNvPr id="12" name="Shape 10"/>
          <p:cNvSpPr/>
          <p:nvPr/>
        </p:nvSpPr>
        <p:spPr>
          <a:xfrm>
            <a:off x="548640" y="2331720"/>
            <a:ext cx="0" cy="566928"/>
          </a:xfrm>
          <a:prstGeom prst="line">
            <a:avLst/>
          </a:prstGeom>
          <a:noFill/>
          <a:ln w="25400">
            <a:solidFill>
              <a:schemeClr val="accent1"/>
            </a:solidFill>
            <a:prstDash val="solid"/>
          </a:ln>
        </p:spPr>
      </p:sp>
      <p:sp>
        <p:nvSpPr>
          <p:cNvPr id="13" name="Text 11"/>
          <p:cNvSpPr txBox="1"/>
          <p:nvPr/>
        </p:nvSpPr>
        <p:spPr>
          <a:xfrm>
            <a:off x="658368" y="2331720"/>
            <a:ext cx="1188720" cy="566928"/>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FINANCIERA</a:t>
            </a:r>
            <a:endParaRPr lang="es-CL" sz="1200" dirty="0"/>
          </a:p>
        </p:txBody>
      </p:sp>
      <p:sp>
        <p:nvSpPr>
          <p:cNvPr id="14" name="Shape 12"/>
          <p:cNvSpPr/>
          <p:nvPr/>
        </p:nvSpPr>
        <p:spPr>
          <a:xfrm>
            <a:off x="548640" y="3163824"/>
            <a:ext cx="0" cy="1399032"/>
          </a:xfrm>
          <a:prstGeom prst="line">
            <a:avLst/>
          </a:prstGeom>
          <a:noFill/>
          <a:ln w="25400">
            <a:solidFill>
              <a:schemeClr val="accent1"/>
            </a:solidFill>
            <a:prstDash val="solid"/>
          </a:ln>
        </p:spPr>
      </p:sp>
      <p:sp>
        <p:nvSpPr>
          <p:cNvPr id="15" name="Text 13"/>
          <p:cNvSpPr txBox="1"/>
          <p:nvPr/>
        </p:nvSpPr>
        <p:spPr>
          <a:xfrm>
            <a:off x="658368" y="3163824"/>
            <a:ext cx="1188720" cy="1399032"/>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CLIENTES</a:t>
            </a:r>
            <a:endParaRPr lang="es-CL" sz="1200" dirty="0"/>
          </a:p>
        </p:txBody>
      </p:sp>
      <p:sp>
        <p:nvSpPr>
          <p:cNvPr id="16" name="Shape 14"/>
          <p:cNvSpPr/>
          <p:nvPr/>
        </p:nvSpPr>
        <p:spPr>
          <a:xfrm>
            <a:off x="548640" y="4828032"/>
            <a:ext cx="0" cy="566928"/>
          </a:xfrm>
          <a:prstGeom prst="line">
            <a:avLst/>
          </a:prstGeom>
          <a:noFill/>
          <a:ln w="25400">
            <a:solidFill>
              <a:schemeClr val="accent1"/>
            </a:solidFill>
            <a:prstDash val="solid"/>
          </a:ln>
        </p:spPr>
      </p:sp>
      <p:sp>
        <p:nvSpPr>
          <p:cNvPr id="17" name="Text 15"/>
          <p:cNvSpPr txBox="1"/>
          <p:nvPr/>
        </p:nvSpPr>
        <p:spPr>
          <a:xfrm>
            <a:off x="658368" y="4828032"/>
            <a:ext cx="1188720" cy="566928"/>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PROCESOS</a:t>
            </a:r>
            <a:endParaRPr lang="es-CL" sz="1200" dirty="0"/>
          </a:p>
        </p:txBody>
      </p:sp>
      <p:sp>
        <p:nvSpPr>
          <p:cNvPr id="18" name="Shape 16"/>
          <p:cNvSpPr/>
          <p:nvPr/>
        </p:nvSpPr>
        <p:spPr>
          <a:xfrm>
            <a:off x="548640" y="5660136"/>
            <a:ext cx="0" cy="566928"/>
          </a:xfrm>
          <a:prstGeom prst="line">
            <a:avLst/>
          </a:prstGeom>
          <a:noFill/>
          <a:ln w="25400">
            <a:solidFill>
              <a:schemeClr val="accent1"/>
            </a:solidFill>
            <a:prstDash val="solid"/>
          </a:ln>
        </p:spPr>
      </p:sp>
      <p:sp>
        <p:nvSpPr>
          <p:cNvPr id="19" name="Text 17"/>
          <p:cNvSpPr txBox="1"/>
          <p:nvPr/>
        </p:nvSpPr>
        <p:spPr>
          <a:xfrm>
            <a:off x="658368" y="5660136"/>
            <a:ext cx="1188720" cy="566928"/>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APRENDIZAJE</a:t>
            </a:r>
            <a:endParaRPr lang="es-CL" sz="1200" dirty="0"/>
          </a:p>
        </p:txBody>
      </p:sp>
      <p:sp>
        <p:nvSpPr>
          <p:cNvPr id="20" name="Text 18"/>
          <p:cNvSpPr txBox="1"/>
          <p:nvPr/>
        </p:nvSpPr>
        <p:spPr>
          <a:xfrm>
            <a:off x="658368" y="3493008"/>
            <a:ext cx="1188720" cy="237744"/>
          </a:xfrm>
          <a:prstGeom prst="rect">
            <a:avLst/>
          </a:prstGeom>
          <a:noFill/>
          <a:ln/>
        </p:spPr>
        <p:txBody>
          <a:bodyPr wrap="square" lIns="0" tIns="0" rIns="0" bIns="0" rtlCol="0" anchor="t"/>
          <a:lstStyle/>
          <a:p>
            <a:pPr indent="0" marL="0">
              <a:buNone/>
            </a:pPr>
            <a:r>
              <a:rPr lang="es-CL" altLang="en-US" sz="1300" i="1" dirty="0">
                <a:solidFill>
                  <a:schemeClr val="tx2"/>
                </a:solidFill>
                <a:latin typeface="Instrument Serif" pitchFamily="34" charset="0"/>
                <a:ea typeface="Instrument Serif" pitchFamily="34" charset="-122"/>
                <a:cs typeface="Instrument Serif" pitchFamily="34" charset="-120"/>
              </a:rPr>
              <a:t>resultado</a:t>
            </a:r>
            <a:endParaRPr lang="es-CL" sz="1300" dirty="0"/>
          </a:p>
        </p:txBody>
      </p:sp>
      <p:sp>
        <p:nvSpPr>
          <p:cNvPr id="21" name="Text 19"/>
          <p:cNvSpPr txBox="1"/>
          <p:nvPr/>
        </p:nvSpPr>
        <p:spPr>
          <a:xfrm>
            <a:off x="658368" y="4325112"/>
            <a:ext cx="1188720" cy="237744"/>
          </a:xfrm>
          <a:prstGeom prst="rect">
            <a:avLst/>
          </a:prstGeom>
          <a:noFill/>
          <a:ln/>
        </p:spPr>
        <p:txBody>
          <a:bodyPr wrap="square" lIns="0" tIns="0" rIns="0" bIns="0" rtlCol="0" anchor="t"/>
          <a:lstStyle/>
          <a:p>
            <a:pPr indent="0" marL="0">
              <a:buNone/>
            </a:pPr>
            <a:r>
              <a:rPr lang="es-CL" altLang="en-US" sz="1300" i="1" dirty="0">
                <a:solidFill>
                  <a:schemeClr val="tx2"/>
                </a:solidFill>
                <a:latin typeface="Instrument Serif" pitchFamily="34" charset="0"/>
                <a:ea typeface="Instrument Serif" pitchFamily="34" charset="-122"/>
                <a:cs typeface="Instrument Serif" pitchFamily="34" charset="-120"/>
              </a:rPr>
              <a:t>propuesta de valor</a:t>
            </a:r>
            <a:endParaRPr lang="es-CL" sz="1300" dirty="0"/>
          </a:p>
        </p:txBody>
      </p:sp>
      <p:sp>
        <p:nvSpPr>
          <p:cNvPr id="22" name="Shape 20"/>
          <p:cNvSpPr/>
          <p:nvPr/>
        </p:nvSpPr>
        <p:spPr>
          <a:xfrm>
            <a:off x="5863133" y="5660136"/>
            <a:ext cx="0" cy="-265176"/>
          </a:xfrm>
          <a:prstGeom prst="line">
            <a:avLst/>
          </a:prstGeom>
          <a:noFill/>
          <a:ln w="25400">
            <a:solidFill>
              <a:schemeClr val="accent1"/>
            </a:solidFill>
            <a:prstDash val="solid"/>
            <a:tailEnd type="triangle"/>
          </a:ln>
        </p:spPr>
      </p:sp>
      <p:sp>
        <p:nvSpPr>
          <p:cNvPr id="23" name="Shape 21"/>
          <p:cNvSpPr/>
          <p:nvPr/>
        </p:nvSpPr>
        <p:spPr>
          <a:xfrm>
            <a:off x="4851806" y="5111496"/>
            <a:ext cx="325526" cy="0"/>
          </a:xfrm>
          <a:prstGeom prst="line">
            <a:avLst/>
          </a:prstGeom>
          <a:noFill/>
          <a:ln w="41275">
            <a:solidFill>
              <a:schemeClr val="tx1"/>
            </a:solidFill>
            <a:prstDash val="solid"/>
            <a:tailEnd type="triangle"/>
          </a:ln>
        </p:spPr>
      </p:sp>
      <p:sp>
        <p:nvSpPr>
          <p:cNvPr id="24" name="Shape 22"/>
          <p:cNvSpPr/>
          <p:nvPr/>
        </p:nvSpPr>
        <p:spPr>
          <a:xfrm>
            <a:off x="6548933" y="5111496"/>
            <a:ext cx="325526" cy="0"/>
          </a:xfrm>
          <a:prstGeom prst="line">
            <a:avLst/>
          </a:prstGeom>
          <a:noFill/>
          <a:ln w="25400">
            <a:solidFill>
              <a:schemeClr val="accent1"/>
            </a:solidFill>
            <a:prstDash val="solid"/>
            <a:tailEnd type="triangle"/>
          </a:ln>
        </p:spPr>
      </p:sp>
      <p:sp>
        <p:nvSpPr>
          <p:cNvPr id="25" name="Shape 23"/>
          <p:cNvSpPr/>
          <p:nvPr/>
        </p:nvSpPr>
        <p:spPr>
          <a:xfrm>
            <a:off x="7560259" y="5660136"/>
            <a:ext cx="0" cy="-265176"/>
          </a:xfrm>
          <a:prstGeom prst="line">
            <a:avLst/>
          </a:prstGeom>
          <a:noFill/>
          <a:ln w="25400">
            <a:solidFill>
              <a:schemeClr val="accent1"/>
            </a:solidFill>
            <a:prstDash val="solid"/>
            <a:tailEnd type="triangle"/>
          </a:ln>
        </p:spPr>
      </p:sp>
      <p:sp>
        <p:nvSpPr>
          <p:cNvPr id="26" name="Shape 24"/>
          <p:cNvSpPr/>
          <p:nvPr/>
        </p:nvSpPr>
        <p:spPr>
          <a:xfrm>
            <a:off x="7772400" y="4828032"/>
            <a:ext cx="0" cy="-265176"/>
          </a:xfrm>
          <a:prstGeom prst="line">
            <a:avLst/>
          </a:prstGeom>
          <a:noFill/>
          <a:ln w="25400">
            <a:solidFill>
              <a:schemeClr val="accent1"/>
            </a:solidFill>
            <a:prstDash val="solid"/>
            <a:tailEnd type="triangle"/>
          </a:ln>
        </p:spPr>
      </p:sp>
      <p:sp>
        <p:nvSpPr>
          <p:cNvPr id="27" name="Shape 25"/>
          <p:cNvSpPr/>
          <p:nvPr/>
        </p:nvSpPr>
        <p:spPr>
          <a:xfrm>
            <a:off x="3480206" y="5111496"/>
            <a:ext cx="-325526" cy="0"/>
          </a:xfrm>
          <a:prstGeom prst="line">
            <a:avLst/>
          </a:prstGeom>
          <a:noFill/>
          <a:ln w="41275">
            <a:solidFill>
              <a:schemeClr val="tx1"/>
            </a:solidFill>
            <a:prstDash val="solid"/>
            <a:tailEnd type="triangle"/>
          </a:ln>
        </p:spPr>
      </p:sp>
      <p:sp>
        <p:nvSpPr>
          <p:cNvPr id="28" name="Shape 26"/>
          <p:cNvSpPr/>
          <p:nvPr/>
        </p:nvSpPr>
        <p:spPr>
          <a:xfrm>
            <a:off x="9257386" y="5660136"/>
            <a:ext cx="0" cy="-265176"/>
          </a:xfrm>
          <a:prstGeom prst="line">
            <a:avLst/>
          </a:prstGeom>
          <a:noFill/>
          <a:ln w="25400">
            <a:solidFill>
              <a:schemeClr val="accent1"/>
            </a:solidFill>
            <a:prstDash val="solid"/>
            <a:tailEnd type="triangle"/>
          </a:ln>
        </p:spPr>
      </p:sp>
      <p:sp>
        <p:nvSpPr>
          <p:cNvPr id="29" name="Shape 27"/>
          <p:cNvSpPr/>
          <p:nvPr/>
        </p:nvSpPr>
        <p:spPr>
          <a:xfrm>
            <a:off x="8246059" y="5111496"/>
            <a:ext cx="325526" cy="0"/>
          </a:xfrm>
          <a:prstGeom prst="line">
            <a:avLst/>
          </a:prstGeom>
          <a:noFill/>
          <a:ln w="19050">
            <a:solidFill>
              <a:schemeClr val="accent1"/>
            </a:solidFill>
            <a:prstDash val="dash"/>
            <a:tailEnd type="triangle"/>
          </a:ln>
        </p:spPr>
      </p:sp>
      <p:sp>
        <p:nvSpPr>
          <p:cNvPr id="30" name="Shape 28"/>
          <p:cNvSpPr/>
          <p:nvPr/>
        </p:nvSpPr>
        <p:spPr>
          <a:xfrm>
            <a:off x="9326880" y="4828032"/>
            <a:ext cx="0" cy="-265176"/>
          </a:xfrm>
          <a:prstGeom prst="line">
            <a:avLst/>
          </a:prstGeom>
          <a:noFill/>
          <a:ln w="25400">
            <a:solidFill>
              <a:schemeClr val="accent1"/>
            </a:solidFill>
            <a:prstDash val="solid"/>
            <a:tailEnd type="triangle"/>
          </a:ln>
        </p:spPr>
      </p:sp>
      <p:sp>
        <p:nvSpPr>
          <p:cNvPr id="31" name="Shape 29"/>
          <p:cNvSpPr/>
          <p:nvPr/>
        </p:nvSpPr>
        <p:spPr>
          <a:xfrm>
            <a:off x="8275320" y="3995928"/>
            <a:ext cx="0" cy="-265176"/>
          </a:xfrm>
          <a:prstGeom prst="line">
            <a:avLst/>
          </a:prstGeom>
          <a:noFill/>
          <a:ln w="19050">
            <a:solidFill>
              <a:schemeClr val="accent1"/>
            </a:solidFill>
            <a:prstDash val="dash"/>
            <a:tailEnd type="triangle"/>
          </a:ln>
        </p:spPr>
      </p:sp>
      <p:sp>
        <p:nvSpPr>
          <p:cNvPr id="32" name="Shape 30"/>
          <p:cNvSpPr/>
          <p:nvPr/>
        </p:nvSpPr>
        <p:spPr>
          <a:xfrm>
            <a:off x="9052560" y="3995928"/>
            <a:ext cx="0" cy="-265176"/>
          </a:xfrm>
          <a:prstGeom prst="line">
            <a:avLst/>
          </a:prstGeom>
          <a:noFill/>
          <a:ln w="19050">
            <a:solidFill>
              <a:schemeClr val="accent1"/>
            </a:solidFill>
            <a:prstDash val="dash"/>
            <a:tailEnd type="triangle"/>
          </a:ln>
        </p:spPr>
      </p:sp>
      <p:sp>
        <p:nvSpPr>
          <p:cNvPr id="33" name="Shape 31"/>
          <p:cNvSpPr/>
          <p:nvPr/>
        </p:nvSpPr>
        <p:spPr>
          <a:xfrm>
            <a:off x="10469880" y="4828032"/>
            <a:ext cx="0" cy="-964692"/>
          </a:xfrm>
          <a:prstGeom prst="line">
            <a:avLst/>
          </a:prstGeom>
          <a:noFill/>
          <a:ln w="19050">
            <a:solidFill>
              <a:schemeClr val="accent1"/>
            </a:solidFill>
            <a:prstDash val="dash"/>
          </a:ln>
        </p:spPr>
      </p:sp>
      <p:sp>
        <p:nvSpPr>
          <p:cNvPr id="34" name="Shape 32"/>
          <p:cNvSpPr/>
          <p:nvPr/>
        </p:nvSpPr>
        <p:spPr>
          <a:xfrm>
            <a:off x="10469880" y="3863340"/>
            <a:ext cx="-1234440" cy="0"/>
          </a:xfrm>
          <a:prstGeom prst="line">
            <a:avLst/>
          </a:prstGeom>
          <a:noFill/>
          <a:ln w="19050">
            <a:solidFill>
              <a:schemeClr val="accent1"/>
            </a:solidFill>
            <a:prstDash val="dash"/>
          </a:ln>
        </p:spPr>
      </p:sp>
      <p:sp>
        <p:nvSpPr>
          <p:cNvPr id="35" name="Shape 33"/>
          <p:cNvSpPr/>
          <p:nvPr/>
        </p:nvSpPr>
        <p:spPr>
          <a:xfrm>
            <a:off x="9235440" y="3863340"/>
            <a:ext cx="0" cy="-132588"/>
          </a:xfrm>
          <a:prstGeom prst="line">
            <a:avLst/>
          </a:prstGeom>
          <a:noFill/>
          <a:ln w="19050">
            <a:solidFill>
              <a:schemeClr val="accent1"/>
            </a:solidFill>
            <a:prstDash val="dash"/>
            <a:tailEnd type="triangle"/>
          </a:ln>
        </p:spPr>
      </p:sp>
      <p:sp>
        <p:nvSpPr>
          <p:cNvPr id="36" name="Shape 34"/>
          <p:cNvSpPr/>
          <p:nvPr/>
        </p:nvSpPr>
        <p:spPr>
          <a:xfrm>
            <a:off x="9372600" y="3447288"/>
            <a:ext cx="320040" cy="0"/>
          </a:xfrm>
          <a:prstGeom prst="line">
            <a:avLst/>
          </a:prstGeom>
          <a:noFill/>
          <a:ln w="19050">
            <a:solidFill>
              <a:schemeClr val="accent1"/>
            </a:solidFill>
            <a:prstDash val="dash"/>
            <a:tailEnd type="triangle"/>
          </a:ln>
        </p:spPr>
      </p:sp>
      <p:sp>
        <p:nvSpPr>
          <p:cNvPr id="37" name="Shape 35"/>
          <p:cNvSpPr/>
          <p:nvPr/>
        </p:nvSpPr>
        <p:spPr>
          <a:xfrm>
            <a:off x="10835640" y="4828032"/>
            <a:ext cx="0" cy="-1097280"/>
          </a:xfrm>
          <a:prstGeom prst="line">
            <a:avLst/>
          </a:prstGeom>
          <a:noFill/>
          <a:ln w="19050">
            <a:solidFill>
              <a:schemeClr val="accent1"/>
            </a:solidFill>
            <a:prstDash val="dash"/>
            <a:tailEnd type="triangle"/>
          </a:ln>
        </p:spPr>
      </p:sp>
      <p:sp>
        <p:nvSpPr>
          <p:cNvPr id="38" name="Shape 36"/>
          <p:cNvSpPr/>
          <p:nvPr/>
        </p:nvSpPr>
        <p:spPr>
          <a:xfrm>
            <a:off x="10332720" y="3163824"/>
            <a:ext cx="0" cy="-265176"/>
          </a:xfrm>
          <a:prstGeom prst="line">
            <a:avLst/>
          </a:prstGeom>
          <a:noFill/>
          <a:ln w="19050">
            <a:solidFill>
              <a:schemeClr val="accent1"/>
            </a:solidFill>
            <a:prstDash val="dash"/>
            <a:tailEnd type="triangle"/>
          </a:ln>
        </p:spPr>
      </p:sp>
      <p:sp>
        <p:nvSpPr>
          <p:cNvPr id="39" name="Shape 37"/>
          <p:cNvSpPr/>
          <p:nvPr/>
        </p:nvSpPr>
        <p:spPr>
          <a:xfrm>
            <a:off x="6967728" y="4828032"/>
            <a:ext cx="0" cy="-1796796"/>
          </a:xfrm>
          <a:prstGeom prst="line">
            <a:avLst/>
          </a:prstGeom>
          <a:noFill/>
          <a:ln w="19050">
            <a:solidFill>
              <a:schemeClr val="accent1"/>
            </a:solidFill>
            <a:prstDash val="dash"/>
          </a:ln>
        </p:spPr>
      </p:sp>
      <p:sp>
        <p:nvSpPr>
          <p:cNvPr id="40" name="Shape 38"/>
          <p:cNvSpPr/>
          <p:nvPr/>
        </p:nvSpPr>
        <p:spPr>
          <a:xfrm>
            <a:off x="6967728" y="3031236"/>
            <a:ext cx="2816352" cy="0"/>
          </a:xfrm>
          <a:prstGeom prst="line">
            <a:avLst/>
          </a:prstGeom>
          <a:noFill/>
          <a:ln w="19050">
            <a:solidFill>
              <a:schemeClr val="accent1"/>
            </a:solidFill>
            <a:prstDash val="dash"/>
          </a:ln>
        </p:spPr>
      </p:sp>
      <p:sp>
        <p:nvSpPr>
          <p:cNvPr id="41" name="Shape 39"/>
          <p:cNvSpPr/>
          <p:nvPr/>
        </p:nvSpPr>
        <p:spPr>
          <a:xfrm>
            <a:off x="9784080" y="3031236"/>
            <a:ext cx="0" cy="-132588"/>
          </a:xfrm>
          <a:prstGeom prst="line">
            <a:avLst/>
          </a:prstGeom>
          <a:noFill/>
          <a:ln w="19050">
            <a:solidFill>
              <a:schemeClr val="accent1"/>
            </a:solidFill>
            <a:prstDash val="dash"/>
            <a:tailEnd type="triangle"/>
          </a:ln>
        </p:spPr>
      </p:sp>
      <p:sp>
        <p:nvSpPr>
          <p:cNvPr id="42" name="Shape 40"/>
          <p:cNvSpPr/>
          <p:nvPr/>
        </p:nvSpPr>
        <p:spPr>
          <a:xfrm>
            <a:off x="9509760" y="2615184"/>
            <a:ext cx="-2286000" cy="0"/>
          </a:xfrm>
          <a:prstGeom prst="line">
            <a:avLst/>
          </a:prstGeom>
          <a:noFill/>
          <a:ln w="19050">
            <a:solidFill>
              <a:schemeClr val="accent1"/>
            </a:solidFill>
            <a:prstDash val="dash"/>
            <a:tailEnd type="triangle"/>
          </a:ln>
        </p:spPr>
      </p:sp>
      <p:sp>
        <p:nvSpPr>
          <p:cNvPr id="43" name="Shape 41"/>
          <p:cNvSpPr/>
          <p:nvPr/>
        </p:nvSpPr>
        <p:spPr>
          <a:xfrm>
            <a:off x="2468880" y="5660136"/>
            <a:ext cx="0" cy="-265176"/>
          </a:xfrm>
          <a:prstGeom prst="line">
            <a:avLst/>
          </a:prstGeom>
          <a:noFill/>
          <a:ln w="19050">
            <a:solidFill>
              <a:schemeClr val="accent1"/>
            </a:solidFill>
            <a:prstDash val="dash"/>
            <a:tailEnd type="triangle"/>
          </a:ln>
        </p:spPr>
      </p:sp>
      <p:sp>
        <p:nvSpPr>
          <p:cNvPr id="44" name="Shape 42"/>
          <p:cNvSpPr/>
          <p:nvPr/>
        </p:nvSpPr>
        <p:spPr>
          <a:xfrm>
            <a:off x="2468880" y="4828032"/>
            <a:ext cx="0" cy="-1929384"/>
          </a:xfrm>
          <a:prstGeom prst="line">
            <a:avLst/>
          </a:prstGeom>
          <a:noFill/>
          <a:ln w="19050">
            <a:solidFill>
              <a:schemeClr val="accent1"/>
            </a:solidFill>
            <a:prstDash val="dash"/>
            <a:tailEnd type="triangle"/>
          </a:ln>
        </p:spPr>
      </p:sp>
      <p:sp>
        <p:nvSpPr>
          <p:cNvPr id="45" name="Shape 43"/>
          <p:cNvSpPr/>
          <p:nvPr/>
        </p:nvSpPr>
        <p:spPr>
          <a:xfrm>
            <a:off x="3154680" y="2615184"/>
            <a:ext cx="1874520" cy="0"/>
          </a:xfrm>
          <a:prstGeom prst="line">
            <a:avLst/>
          </a:prstGeom>
          <a:noFill/>
          <a:ln w="19050">
            <a:solidFill>
              <a:schemeClr val="accent1"/>
            </a:solidFill>
            <a:prstDash val="dash"/>
            <a:tailEnd type="triangle"/>
          </a:ln>
        </p:spPr>
      </p:sp>
      <p:sp>
        <p:nvSpPr>
          <p:cNvPr id="46" name="Shape 44"/>
          <p:cNvSpPr/>
          <p:nvPr/>
        </p:nvSpPr>
        <p:spPr>
          <a:xfrm>
            <a:off x="1783080" y="4828032"/>
            <a:ext cx="1371600" cy="566928"/>
          </a:xfrm>
          <a:prstGeom prst="rect">
            <a:avLst/>
          </a:prstGeom>
          <a:solidFill>
            <a:schemeClr val="bg2"/>
          </a:solidFill>
          <a:ln w="9525">
            <a:solidFill>
              <a:schemeClr val="tx2"/>
            </a:solidFill>
            <a:prstDash val="solid"/>
          </a:ln>
        </p:spPr>
      </p:sp>
      <p:sp>
        <p:nvSpPr>
          <p:cNvPr id="47" name="Shape 45"/>
          <p:cNvSpPr/>
          <p:nvPr/>
        </p:nvSpPr>
        <p:spPr>
          <a:xfrm>
            <a:off x="1783080" y="4828032"/>
            <a:ext cx="1371600" cy="64008"/>
          </a:xfrm>
          <a:prstGeom prst="rect">
            <a:avLst/>
          </a:prstGeom>
          <a:solidFill>
            <a:srgbClr val="0A6F9E"/>
          </a:solidFill>
          <a:ln/>
        </p:spPr>
      </p:sp>
      <p:sp>
        <p:nvSpPr>
          <p:cNvPr id="48" name="Text 46"/>
          <p:cNvSpPr txBox="1"/>
          <p:nvPr/>
        </p:nvSpPr>
        <p:spPr>
          <a:xfrm>
            <a:off x="1874520"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P5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Réplica en talleres</a:t>
            </a:r>
            <a:endParaRPr lang="es-CL" sz="1400" dirty="0"/>
          </a:p>
        </p:txBody>
      </p:sp>
      <p:sp>
        <p:nvSpPr>
          <p:cNvPr id="49" name="Shape 47"/>
          <p:cNvSpPr/>
          <p:nvPr/>
        </p:nvSpPr>
        <p:spPr>
          <a:xfrm>
            <a:off x="3480206" y="4828032"/>
            <a:ext cx="1371600" cy="566928"/>
          </a:xfrm>
          <a:prstGeom prst="rect">
            <a:avLst/>
          </a:prstGeom>
          <a:solidFill>
            <a:schemeClr val="bg2"/>
          </a:solidFill>
          <a:ln w="9525">
            <a:solidFill>
              <a:schemeClr val="tx2"/>
            </a:solidFill>
            <a:prstDash val="solid"/>
          </a:ln>
        </p:spPr>
      </p:sp>
      <p:sp>
        <p:nvSpPr>
          <p:cNvPr id="50" name="Shape 48"/>
          <p:cNvSpPr/>
          <p:nvPr/>
        </p:nvSpPr>
        <p:spPr>
          <a:xfrm>
            <a:off x="3480206" y="4828032"/>
            <a:ext cx="1371600" cy="64008"/>
          </a:xfrm>
          <a:prstGeom prst="rect">
            <a:avLst/>
          </a:prstGeom>
          <a:solidFill>
            <a:srgbClr val="ECECEC"/>
          </a:solidFill>
          <a:ln/>
        </p:spPr>
      </p:sp>
      <p:sp>
        <p:nvSpPr>
          <p:cNvPr id="51" name="Text 49"/>
          <p:cNvSpPr txBox="1"/>
          <p:nvPr/>
        </p:nvSpPr>
        <p:spPr>
          <a:xfrm>
            <a:off x="3571646"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P1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Vía legal</a:t>
            </a:r>
            <a:endParaRPr lang="es-CL" sz="1400" dirty="0"/>
          </a:p>
        </p:txBody>
      </p:sp>
      <p:sp>
        <p:nvSpPr>
          <p:cNvPr id="52" name="Shape 50"/>
          <p:cNvSpPr/>
          <p:nvPr/>
        </p:nvSpPr>
        <p:spPr>
          <a:xfrm>
            <a:off x="5177333" y="4828032"/>
            <a:ext cx="1371600" cy="566928"/>
          </a:xfrm>
          <a:prstGeom prst="rect">
            <a:avLst/>
          </a:prstGeom>
          <a:solidFill>
            <a:schemeClr val="bg2"/>
          </a:solidFill>
          <a:ln w="9525">
            <a:solidFill>
              <a:schemeClr val="tx2"/>
            </a:solidFill>
            <a:prstDash val="solid"/>
          </a:ln>
        </p:spPr>
      </p:sp>
      <p:sp>
        <p:nvSpPr>
          <p:cNvPr id="53" name="Shape 51"/>
          <p:cNvSpPr/>
          <p:nvPr/>
        </p:nvSpPr>
        <p:spPr>
          <a:xfrm>
            <a:off x="5177333" y="4828032"/>
            <a:ext cx="1371600" cy="64008"/>
          </a:xfrm>
          <a:prstGeom prst="rect">
            <a:avLst/>
          </a:prstGeom>
          <a:solidFill>
            <a:srgbClr val="ECECEC"/>
          </a:solidFill>
          <a:ln/>
        </p:spPr>
      </p:sp>
      <p:sp>
        <p:nvSpPr>
          <p:cNvPr id="54" name="Text 52"/>
          <p:cNvSpPr txBox="1"/>
          <p:nvPr/>
        </p:nvSpPr>
        <p:spPr>
          <a:xfrm>
            <a:off x="5268773"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Par aprobado</a:t>
            </a:r>
            <a:endParaRPr lang="es-CL" sz="1400" dirty="0"/>
          </a:p>
        </p:txBody>
      </p:sp>
      <p:sp>
        <p:nvSpPr>
          <p:cNvPr id="55" name="Shape 53"/>
          <p:cNvSpPr/>
          <p:nvPr/>
        </p:nvSpPr>
        <p:spPr>
          <a:xfrm>
            <a:off x="6874459" y="4828032"/>
            <a:ext cx="1371600" cy="566928"/>
          </a:xfrm>
          <a:prstGeom prst="rect">
            <a:avLst/>
          </a:prstGeom>
          <a:solidFill>
            <a:schemeClr val="bg2"/>
          </a:solidFill>
          <a:ln w="9525">
            <a:solidFill>
              <a:schemeClr val="tx2"/>
            </a:solidFill>
            <a:prstDash val="solid"/>
          </a:ln>
        </p:spPr>
      </p:sp>
      <p:sp>
        <p:nvSpPr>
          <p:cNvPr id="56" name="Text 54"/>
          <p:cNvSpPr txBox="1"/>
          <p:nvPr/>
        </p:nvSpPr>
        <p:spPr>
          <a:xfrm>
            <a:off x="6965899"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Instalación segura</a:t>
            </a:r>
            <a:endParaRPr lang="es-CL" sz="1400" dirty="0"/>
          </a:p>
        </p:txBody>
      </p:sp>
      <p:sp>
        <p:nvSpPr>
          <p:cNvPr id="57" name="Shape 55"/>
          <p:cNvSpPr/>
          <p:nvPr/>
        </p:nvSpPr>
        <p:spPr>
          <a:xfrm>
            <a:off x="8571586" y="4828032"/>
            <a:ext cx="1371600" cy="566928"/>
          </a:xfrm>
          <a:prstGeom prst="rect">
            <a:avLst/>
          </a:prstGeom>
          <a:solidFill>
            <a:schemeClr val="bg2"/>
          </a:solidFill>
          <a:ln w="9525">
            <a:solidFill>
              <a:schemeClr val="tx2"/>
            </a:solidFill>
            <a:prstDash val="solid"/>
          </a:ln>
        </p:spPr>
      </p:sp>
      <p:sp>
        <p:nvSpPr>
          <p:cNvPr id="58" name="Shape 56"/>
          <p:cNvSpPr/>
          <p:nvPr/>
        </p:nvSpPr>
        <p:spPr>
          <a:xfrm>
            <a:off x="8571586" y="4828032"/>
            <a:ext cx="1371600" cy="64008"/>
          </a:xfrm>
          <a:prstGeom prst="rect">
            <a:avLst/>
          </a:prstGeom>
          <a:solidFill>
            <a:srgbClr val="0A6F9E"/>
          </a:solidFill>
          <a:ln/>
        </p:spPr>
      </p:sp>
      <p:sp>
        <p:nvSpPr>
          <p:cNvPr id="59" name="Text 57"/>
          <p:cNvSpPr txBox="1"/>
          <p:nvPr/>
        </p:nvSpPr>
        <p:spPr>
          <a:xfrm>
            <a:off x="8663026"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P4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Medición y posventa</a:t>
            </a:r>
            <a:endParaRPr lang="es-CL" sz="1400" dirty="0"/>
          </a:p>
        </p:txBody>
      </p:sp>
      <p:sp>
        <p:nvSpPr>
          <p:cNvPr id="60" name="Shape 58"/>
          <p:cNvSpPr/>
          <p:nvPr/>
        </p:nvSpPr>
        <p:spPr>
          <a:xfrm>
            <a:off x="10268712" y="4828032"/>
            <a:ext cx="1371600" cy="566928"/>
          </a:xfrm>
          <a:prstGeom prst="rect">
            <a:avLst/>
          </a:prstGeom>
          <a:solidFill>
            <a:schemeClr val="bg2"/>
          </a:solidFill>
          <a:ln w="9525">
            <a:solidFill>
              <a:schemeClr val="tx2"/>
            </a:solidFill>
            <a:prstDash val="solid"/>
          </a:ln>
        </p:spPr>
      </p:sp>
      <p:sp>
        <p:nvSpPr>
          <p:cNvPr id="61" name="Shape 59"/>
          <p:cNvSpPr/>
          <p:nvPr/>
        </p:nvSpPr>
        <p:spPr>
          <a:xfrm>
            <a:off x="10268712" y="4828032"/>
            <a:ext cx="685800" cy="64008"/>
          </a:xfrm>
          <a:prstGeom prst="rect">
            <a:avLst/>
          </a:prstGeom>
          <a:solidFill>
            <a:srgbClr val="ECECEC"/>
          </a:solidFill>
          <a:ln/>
        </p:spPr>
      </p:sp>
      <p:sp>
        <p:nvSpPr>
          <p:cNvPr id="62" name="Shape 60"/>
          <p:cNvSpPr/>
          <p:nvPr/>
        </p:nvSpPr>
        <p:spPr>
          <a:xfrm>
            <a:off x="10954512" y="4828032"/>
            <a:ext cx="685800" cy="64008"/>
          </a:xfrm>
          <a:prstGeom prst="rect">
            <a:avLst/>
          </a:prstGeom>
          <a:solidFill>
            <a:srgbClr val="22B8F0"/>
          </a:solidFill>
          <a:ln/>
        </p:spPr>
      </p:sp>
      <p:sp>
        <p:nvSpPr>
          <p:cNvPr id="63" name="Text 61"/>
          <p:cNvSpPr txBox="1"/>
          <p:nvPr/>
        </p:nvSpPr>
        <p:spPr>
          <a:xfrm>
            <a:off x="10360152"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P6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Alianzas que destraban</a:t>
            </a:r>
            <a:endParaRPr lang="es-CL" sz="1400" dirty="0"/>
          </a:p>
        </p:txBody>
      </p:sp>
      <p:sp>
        <p:nvSpPr>
          <p:cNvPr id="64" name="Shape 62"/>
          <p:cNvSpPr/>
          <p:nvPr/>
        </p:nvSpPr>
        <p:spPr>
          <a:xfrm>
            <a:off x="1783080" y="5660136"/>
            <a:ext cx="1371600" cy="566928"/>
          </a:xfrm>
          <a:prstGeom prst="rect">
            <a:avLst/>
          </a:prstGeom>
          <a:solidFill>
            <a:schemeClr val="bg2"/>
          </a:solidFill>
          <a:ln w="9525">
            <a:solidFill>
              <a:schemeClr val="tx2"/>
            </a:solidFill>
            <a:prstDash val="solid"/>
          </a:ln>
        </p:spPr>
      </p:sp>
      <p:sp>
        <p:nvSpPr>
          <p:cNvPr id="65" name="Shape 63"/>
          <p:cNvSpPr/>
          <p:nvPr/>
        </p:nvSpPr>
        <p:spPr>
          <a:xfrm>
            <a:off x="1783080" y="5660136"/>
            <a:ext cx="1371600" cy="64008"/>
          </a:xfrm>
          <a:prstGeom prst="rect">
            <a:avLst/>
          </a:prstGeom>
          <a:solidFill>
            <a:srgbClr val="0A6F9E"/>
          </a:solidFill>
          <a:ln/>
        </p:spPr>
      </p:sp>
      <p:sp>
        <p:nvSpPr>
          <p:cNvPr id="66" name="Text 64"/>
          <p:cNvSpPr txBox="1"/>
          <p:nvPr/>
        </p:nvSpPr>
        <p:spPr>
          <a:xfrm>
            <a:off x="1874520"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A4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Lumine Habilita</a:t>
            </a:r>
            <a:endParaRPr lang="es-CL" sz="1400" dirty="0"/>
          </a:p>
        </p:txBody>
      </p:sp>
      <p:sp>
        <p:nvSpPr>
          <p:cNvPr id="67" name="Shape 65"/>
          <p:cNvSpPr/>
          <p:nvPr/>
        </p:nvSpPr>
        <p:spPr>
          <a:xfrm>
            <a:off x="5177333" y="5660136"/>
            <a:ext cx="1371600" cy="566928"/>
          </a:xfrm>
          <a:prstGeom prst="rect">
            <a:avLst/>
          </a:prstGeom>
          <a:solidFill>
            <a:schemeClr val="bg2"/>
          </a:solidFill>
          <a:ln w="9525">
            <a:solidFill>
              <a:schemeClr val="tx2"/>
            </a:solidFill>
            <a:prstDash val="solid"/>
          </a:ln>
        </p:spPr>
      </p:sp>
      <p:sp>
        <p:nvSpPr>
          <p:cNvPr id="68" name="Shape 66"/>
          <p:cNvSpPr/>
          <p:nvPr/>
        </p:nvSpPr>
        <p:spPr>
          <a:xfrm>
            <a:off x="5177333" y="5660136"/>
            <a:ext cx="1371600" cy="64008"/>
          </a:xfrm>
          <a:prstGeom prst="rect">
            <a:avLst/>
          </a:prstGeom>
          <a:solidFill>
            <a:srgbClr val="0A6F9E"/>
          </a:solidFill>
          <a:ln/>
        </p:spPr>
      </p:sp>
      <p:sp>
        <p:nvSpPr>
          <p:cNvPr id="69" name="Text 67"/>
          <p:cNvSpPr txBox="1"/>
          <p:nvPr/>
        </p:nvSpPr>
        <p:spPr>
          <a:xfrm>
            <a:off x="5268773"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A1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Biblioteca</a:t>
            </a:r>
            <a:endParaRPr lang="es-CL" sz="1400" dirty="0"/>
          </a:p>
        </p:txBody>
      </p:sp>
      <p:sp>
        <p:nvSpPr>
          <p:cNvPr id="70" name="Shape 68"/>
          <p:cNvSpPr/>
          <p:nvPr/>
        </p:nvSpPr>
        <p:spPr>
          <a:xfrm>
            <a:off x="6874459" y="5660136"/>
            <a:ext cx="1371600" cy="566928"/>
          </a:xfrm>
          <a:prstGeom prst="rect">
            <a:avLst/>
          </a:prstGeom>
          <a:solidFill>
            <a:schemeClr val="bg2"/>
          </a:solidFill>
          <a:ln w="9525">
            <a:solidFill>
              <a:schemeClr val="tx2"/>
            </a:solidFill>
            <a:prstDash val="solid"/>
          </a:ln>
        </p:spPr>
      </p:sp>
      <p:sp>
        <p:nvSpPr>
          <p:cNvPr id="71" name="Shape 69"/>
          <p:cNvSpPr/>
          <p:nvPr/>
        </p:nvSpPr>
        <p:spPr>
          <a:xfrm>
            <a:off x="6874459" y="5660136"/>
            <a:ext cx="1371600" cy="64008"/>
          </a:xfrm>
          <a:prstGeom prst="rect">
            <a:avLst/>
          </a:prstGeom>
          <a:solidFill>
            <a:srgbClr val="0A6F9E"/>
          </a:solidFill>
          <a:ln/>
        </p:spPr>
      </p:sp>
      <p:sp>
        <p:nvSpPr>
          <p:cNvPr id="72" name="Text 70"/>
          <p:cNvSpPr txBox="1"/>
          <p:nvPr/>
        </p:nvSpPr>
        <p:spPr>
          <a:xfrm>
            <a:off x="6965899"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Técnicos habilitados</a:t>
            </a:r>
            <a:endParaRPr lang="es-CL" sz="1400" dirty="0"/>
          </a:p>
        </p:txBody>
      </p:sp>
      <p:sp>
        <p:nvSpPr>
          <p:cNvPr id="73" name="Shape 71"/>
          <p:cNvSpPr/>
          <p:nvPr/>
        </p:nvSpPr>
        <p:spPr>
          <a:xfrm>
            <a:off x="8571586" y="5660136"/>
            <a:ext cx="1371600" cy="566928"/>
          </a:xfrm>
          <a:prstGeom prst="rect">
            <a:avLst/>
          </a:prstGeom>
          <a:solidFill>
            <a:schemeClr val="bg2"/>
          </a:solidFill>
          <a:ln w="9525">
            <a:solidFill>
              <a:schemeClr val="tx2"/>
            </a:solidFill>
            <a:prstDash val="solid"/>
          </a:ln>
        </p:spPr>
      </p:sp>
      <p:sp>
        <p:nvSpPr>
          <p:cNvPr id="74" name="Shape 72"/>
          <p:cNvSpPr/>
          <p:nvPr/>
        </p:nvSpPr>
        <p:spPr>
          <a:xfrm>
            <a:off x="8571586" y="5660136"/>
            <a:ext cx="1371600" cy="64008"/>
          </a:xfrm>
          <a:prstGeom prst="rect">
            <a:avLst/>
          </a:prstGeom>
          <a:solidFill>
            <a:srgbClr val="0A6F9E"/>
          </a:solidFill>
          <a:ln/>
        </p:spPr>
      </p:sp>
      <p:sp>
        <p:nvSpPr>
          <p:cNvPr id="75" name="Text 73"/>
          <p:cNvSpPr txBox="1"/>
          <p:nvPr/>
        </p:nvSpPr>
        <p:spPr>
          <a:xfrm>
            <a:off x="8663026"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Protocolo de medición</a:t>
            </a:r>
            <a:endParaRPr lang="es-CL" sz="1400" dirty="0"/>
          </a:p>
        </p:txBody>
      </p:sp>
      <p:sp>
        <p:nvSpPr>
          <p:cNvPr id="76" name="Shape 74"/>
          <p:cNvSpPr/>
          <p:nvPr/>
        </p:nvSpPr>
        <p:spPr>
          <a:xfrm>
            <a:off x="7178040" y="3995928"/>
            <a:ext cx="1371600" cy="566928"/>
          </a:xfrm>
          <a:prstGeom prst="rect">
            <a:avLst/>
          </a:prstGeom>
          <a:solidFill>
            <a:schemeClr val="bg2"/>
          </a:solidFill>
          <a:ln w="9525">
            <a:solidFill>
              <a:schemeClr val="tx2"/>
            </a:solidFill>
            <a:prstDash val="solid"/>
          </a:ln>
        </p:spPr>
      </p:sp>
      <p:sp>
        <p:nvSpPr>
          <p:cNvPr id="77" name="Text 75"/>
          <p:cNvSpPr txBox="1"/>
          <p:nvPr/>
        </p:nvSpPr>
        <p:spPr>
          <a:xfrm>
            <a:off x="7269480" y="4050792"/>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C1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Promesa cumplida</a:t>
            </a:r>
            <a:endParaRPr lang="es-CL" sz="1400" dirty="0"/>
          </a:p>
        </p:txBody>
      </p:sp>
      <p:sp>
        <p:nvSpPr>
          <p:cNvPr id="78" name="Shape 76"/>
          <p:cNvSpPr/>
          <p:nvPr/>
        </p:nvSpPr>
        <p:spPr>
          <a:xfrm>
            <a:off x="8778240" y="3995928"/>
            <a:ext cx="1371600" cy="566928"/>
          </a:xfrm>
          <a:prstGeom prst="rect">
            <a:avLst/>
          </a:prstGeom>
          <a:solidFill>
            <a:schemeClr val="bg2"/>
          </a:solidFill>
          <a:ln w="9525">
            <a:solidFill>
              <a:schemeClr val="tx2"/>
            </a:solidFill>
            <a:prstDash val="solid"/>
          </a:ln>
        </p:spPr>
      </p:sp>
      <p:sp>
        <p:nvSpPr>
          <p:cNvPr id="79" name="Shape 77"/>
          <p:cNvSpPr/>
          <p:nvPr/>
        </p:nvSpPr>
        <p:spPr>
          <a:xfrm>
            <a:off x="8778240" y="3995928"/>
            <a:ext cx="1371600" cy="64008"/>
          </a:xfrm>
          <a:prstGeom prst="rect">
            <a:avLst/>
          </a:prstGeom>
          <a:solidFill>
            <a:srgbClr val="0A6F9E"/>
          </a:solidFill>
          <a:ln/>
        </p:spPr>
      </p:sp>
      <p:sp>
        <p:nvSpPr>
          <p:cNvPr id="80" name="Text 78"/>
          <p:cNvSpPr txBox="1"/>
          <p:nvPr/>
        </p:nvSpPr>
        <p:spPr>
          <a:xfrm>
            <a:off x="8869680" y="4050792"/>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Ahorro acreditado</a:t>
            </a:r>
            <a:endParaRPr lang="es-CL" sz="1400" dirty="0"/>
          </a:p>
        </p:txBody>
      </p:sp>
      <p:sp>
        <p:nvSpPr>
          <p:cNvPr id="81" name="Shape 79"/>
          <p:cNvSpPr/>
          <p:nvPr/>
        </p:nvSpPr>
        <p:spPr>
          <a:xfrm>
            <a:off x="8001000" y="3163824"/>
            <a:ext cx="1371600" cy="566928"/>
          </a:xfrm>
          <a:prstGeom prst="rect">
            <a:avLst/>
          </a:prstGeom>
          <a:solidFill>
            <a:schemeClr val="bg2"/>
          </a:solidFill>
          <a:ln w="9525">
            <a:solidFill>
              <a:schemeClr val="tx2"/>
            </a:solidFill>
            <a:prstDash val="solid"/>
          </a:ln>
        </p:spPr>
      </p:sp>
      <p:sp>
        <p:nvSpPr>
          <p:cNvPr id="82" name="Text 80"/>
          <p:cNvSpPr txBox="1"/>
          <p:nvPr/>
        </p:nvSpPr>
        <p:spPr>
          <a:xfrm>
            <a:off x="8092440" y="3218688"/>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Confianza del cliente</a:t>
            </a:r>
            <a:endParaRPr lang="es-CL" sz="1400" dirty="0"/>
          </a:p>
        </p:txBody>
      </p:sp>
      <p:sp>
        <p:nvSpPr>
          <p:cNvPr id="83" name="Shape 81"/>
          <p:cNvSpPr/>
          <p:nvPr/>
        </p:nvSpPr>
        <p:spPr>
          <a:xfrm>
            <a:off x="9692640" y="3163824"/>
            <a:ext cx="1371600" cy="566928"/>
          </a:xfrm>
          <a:prstGeom prst="rect">
            <a:avLst/>
          </a:prstGeom>
          <a:solidFill>
            <a:schemeClr val="bg2"/>
          </a:solidFill>
          <a:ln w="9525">
            <a:solidFill>
              <a:schemeClr val="tx2"/>
            </a:solidFill>
            <a:prstDash val="solid"/>
          </a:ln>
        </p:spPr>
      </p:sp>
      <p:sp>
        <p:nvSpPr>
          <p:cNvPr id="84" name="Shape 82"/>
          <p:cNvSpPr/>
          <p:nvPr/>
        </p:nvSpPr>
        <p:spPr>
          <a:xfrm>
            <a:off x="9692640" y="3163824"/>
            <a:ext cx="1371600" cy="64008"/>
          </a:xfrm>
          <a:prstGeom prst="rect">
            <a:avLst/>
          </a:prstGeom>
          <a:solidFill>
            <a:srgbClr val="22B8F0"/>
          </a:solidFill>
          <a:ln/>
        </p:spPr>
      </p:sp>
      <p:sp>
        <p:nvSpPr>
          <p:cNvPr id="85" name="Text 83"/>
          <p:cNvSpPr txBox="1"/>
          <p:nvPr/>
        </p:nvSpPr>
        <p:spPr>
          <a:xfrm>
            <a:off x="9784080" y="3218688"/>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C4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Segmento captado</a:t>
            </a:r>
            <a:endParaRPr lang="es-CL" sz="1400" dirty="0"/>
          </a:p>
        </p:txBody>
      </p:sp>
      <p:sp>
        <p:nvSpPr>
          <p:cNvPr id="86" name="Shape 84"/>
          <p:cNvSpPr/>
          <p:nvPr/>
        </p:nvSpPr>
        <p:spPr>
          <a:xfrm>
            <a:off x="1783080" y="2331720"/>
            <a:ext cx="1371600" cy="566928"/>
          </a:xfrm>
          <a:prstGeom prst="rect">
            <a:avLst/>
          </a:prstGeom>
          <a:solidFill>
            <a:schemeClr val="bg2"/>
          </a:solidFill>
          <a:ln w="9525">
            <a:solidFill>
              <a:schemeClr val="tx2"/>
            </a:solidFill>
            <a:prstDash val="solid"/>
          </a:ln>
        </p:spPr>
      </p:sp>
      <p:sp>
        <p:nvSpPr>
          <p:cNvPr id="87" name="Shape 85"/>
          <p:cNvSpPr/>
          <p:nvPr/>
        </p:nvSpPr>
        <p:spPr>
          <a:xfrm>
            <a:off x="1783080" y="2331720"/>
            <a:ext cx="1371600" cy="64008"/>
          </a:xfrm>
          <a:prstGeom prst="rect">
            <a:avLst/>
          </a:prstGeom>
          <a:solidFill>
            <a:srgbClr val="0A6F9E"/>
          </a:solidFill>
          <a:ln/>
        </p:spPr>
      </p:sp>
      <p:sp>
        <p:nvSpPr>
          <p:cNvPr id="88" name="Text 86"/>
          <p:cNvSpPr txBox="1"/>
          <p:nvPr/>
        </p:nvSpPr>
        <p:spPr>
          <a:xfrm>
            <a:off x="1874520" y="2386584"/>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F3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Expansión y licencias</a:t>
            </a:r>
            <a:endParaRPr lang="es-CL" sz="1400" dirty="0"/>
          </a:p>
        </p:txBody>
      </p:sp>
      <p:pic>
        <p:nvPicPr>
          <p:cNvPr id="89" name="Image 0" descr="C:\Users\Usuario\Documents\GitHub\lumine\control-3\generador\assets\brillo.png">    </p:cNvPr>
          <p:cNvPicPr>
            <a:picLocks noChangeAspect="1"/>
          </p:cNvPicPr>
          <p:nvPr/>
        </p:nvPicPr>
        <p:blipFill>
          <a:blip r:embed="rId2"/>
          <a:stretch>
            <a:fillRect/>
          </a:stretch>
        </p:blipFill>
        <p:spPr>
          <a:xfrm>
            <a:off x="4663440" y="2075688"/>
            <a:ext cx="2926080" cy="1078992"/>
          </a:xfrm>
          <a:prstGeom prst="rect">
            <a:avLst/>
          </a:prstGeom>
        </p:spPr>
      </p:pic>
      <p:sp>
        <p:nvSpPr>
          <p:cNvPr id="90" name="Shape 87"/>
          <p:cNvSpPr/>
          <p:nvPr/>
        </p:nvSpPr>
        <p:spPr>
          <a:xfrm>
            <a:off x="5029200" y="2331720"/>
            <a:ext cx="2194560" cy="566928"/>
          </a:xfrm>
          <a:prstGeom prst="rect">
            <a:avLst/>
          </a:prstGeom>
          <a:solidFill>
            <a:srgbClr val="0B1A22"/>
          </a:solidFill>
          <a:ln w="15875">
            <a:solidFill>
              <a:schemeClr val="accent1"/>
            </a:solidFill>
            <a:prstDash val="solid"/>
          </a:ln>
        </p:spPr>
      </p:sp>
      <p:sp>
        <p:nvSpPr>
          <p:cNvPr id="91" name="Shape 88"/>
          <p:cNvSpPr/>
          <p:nvPr/>
        </p:nvSpPr>
        <p:spPr>
          <a:xfrm>
            <a:off x="4974336" y="2276856"/>
            <a:ext cx="155448" cy="0"/>
          </a:xfrm>
          <a:prstGeom prst="line">
            <a:avLst/>
          </a:prstGeom>
          <a:noFill/>
          <a:ln w="15875">
            <a:solidFill>
              <a:schemeClr val="accent1"/>
            </a:solidFill>
            <a:prstDash val="solid"/>
          </a:ln>
        </p:spPr>
      </p:sp>
      <p:sp>
        <p:nvSpPr>
          <p:cNvPr id="92" name="Shape 89"/>
          <p:cNvSpPr/>
          <p:nvPr/>
        </p:nvSpPr>
        <p:spPr>
          <a:xfrm>
            <a:off x="4974336" y="2276856"/>
            <a:ext cx="0" cy="155448"/>
          </a:xfrm>
          <a:prstGeom prst="line">
            <a:avLst/>
          </a:prstGeom>
          <a:noFill/>
          <a:ln w="15875">
            <a:solidFill>
              <a:schemeClr val="accent1"/>
            </a:solidFill>
            <a:prstDash val="solid"/>
          </a:ln>
        </p:spPr>
      </p:sp>
      <p:sp>
        <p:nvSpPr>
          <p:cNvPr id="93" name="Shape 90"/>
          <p:cNvSpPr/>
          <p:nvPr/>
        </p:nvSpPr>
        <p:spPr>
          <a:xfrm>
            <a:off x="7123176" y="2276856"/>
            <a:ext cx="155448" cy="0"/>
          </a:xfrm>
          <a:prstGeom prst="line">
            <a:avLst/>
          </a:prstGeom>
          <a:noFill/>
          <a:ln w="15875">
            <a:solidFill>
              <a:schemeClr val="accent1"/>
            </a:solidFill>
            <a:prstDash val="solid"/>
          </a:ln>
        </p:spPr>
      </p:sp>
      <p:sp>
        <p:nvSpPr>
          <p:cNvPr id="94" name="Shape 91"/>
          <p:cNvSpPr/>
          <p:nvPr/>
        </p:nvSpPr>
        <p:spPr>
          <a:xfrm>
            <a:off x="7278624" y="2276856"/>
            <a:ext cx="0" cy="155448"/>
          </a:xfrm>
          <a:prstGeom prst="line">
            <a:avLst/>
          </a:prstGeom>
          <a:noFill/>
          <a:ln w="15875">
            <a:solidFill>
              <a:schemeClr val="accent1"/>
            </a:solidFill>
            <a:prstDash val="solid"/>
          </a:ln>
        </p:spPr>
      </p:sp>
      <p:sp>
        <p:nvSpPr>
          <p:cNvPr id="95" name="Shape 92"/>
          <p:cNvSpPr/>
          <p:nvPr/>
        </p:nvSpPr>
        <p:spPr>
          <a:xfrm>
            <a:off x="4974336" y="2953512"/>
            <a:ext cx="155448" cy="0"/>
          </a:xfrm>
          <a:prstGeom prst="line">
            <a:avLst/>
          </a:prstGeom>
          <a:noFill/>
          <a:ln w="15875">
            <a:solidFill>
              <a:schemeClr val="accent1"/>
            </a:solidFill>
            <a:prstDash val="solid"/>
          </a:ln>
        </p:spPr>
      </p:sp>
      <p:sp>
        <p:nvSpPr>
          <p:cNvPr id="96" name="Shape 93"/>
          <p:cNvSpPr/>
          <p:nvPr/>
        </p:nvSpPr>
        <p:spPr>
          <a:xfrm>
            <a:off x="4974336" y="2798064"/>
            <a:ext cx="0" cy="155448"/>
          </a:xfrm>
          <a:prstGeom prst="line">
            <a:avLst/>
          </a:prstGeom>
          <a:noFill/>
          <a:ln w="15875">
            <a:solidFill>
              <a:schemeClr val="accent1"/>
            </a:solidFill>
            <a:prstDash val="solid"/>
          </a:ln>
        </p:spPr>
      </p:sp>
      <p:sp>
        <p:nvSpPr>
          <p:cNvPr id="97" name="Shape 94"/>
          <p:cNvSpPr/>
          <p:nvPr/>
        </p:nvSpPr>
        <p:spPr>
          <a:xfrm>
            <a:off x="7123176" y="2953512"/>
            <a:ext cx="155448" cy="0"/>
          </a:xfrm>
          <a:prstGeom prst="line">
            <a:avLst/>
          </a:prstGeom>
          <a:noFill/>
          <a:ln w="15875">
            <a:solidFill>
              <a:schemeClr val="accent1"/>
            </a:solidFill>
            <a:prstDash val="solid"/>
          </a:ln>
        </p:spPr>
      </p:sp>
      <p:sp>
        <p:nvSpPr>
          <p:cNvPr id="98" name="Shape 95"/>
          <p:cNvSpPr/>
          <p:nvPr/>
        </p:nvSpPr>
        <p:spPr>
          <a:xfrm>
            <a:off x="7278624" y="2798064"/>
            <a:ext cx="0" cy="155448"/>
          </a:xfrm>
          <a:prstGeom prst="line">
            <a:avLst/>
          </a:prstGeom>
          <a:noFill/>
          <a:ln w="15875">
            <a:solidFill>
              <a:schemeClr val="accent1"/>
            </a:solidFill>
            <a:prstDash val="solid"/>
          </a:ln>
        </p:spPr>
      </p:sp>
      <p:sp>
        <p:nvSpPr>
          <p:cNvPr id="99" name="Text 96"/>
          <p:cNvSpPr txBox="1"/>
          <p:nvPr/>
        </p:nvSpPr>
        <p:spPr>
          <a:xfrm>
            <a:off x="5120640" y="2386584"/>
            <a:ext cx="204825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F1  </a:t>
            </a:r>
            <a:pPr indent="0" marL="0">
              <a:lnSpc>
                <a:spcPct val="88000"/>
              </a:lnSpc>
              <a:buNone/>
            </a:pPr>
            <a:r>
              <a:rPr lang="es-CL" altLang="en-US" sz="1400" b="1" dirty="0">
                <a:solidFill>
                  <a:schemeClr val="tx1"/>
                </a:solidFill>
                <a:latin typeface="Figtree" pitchFamily="34" charset="0"/>
                <a:ea typeface="Figtree" pitchFamily="34" charset="-122"/>
                <a:cs typeface="Figtree" pitchFamily="34" charset="-120"/>
              </a:rPr>
              <a:t>Rentabilidad sobre el costo de capital</a:t>
            </a:r>
            <a:endParaRPr lang="es-CL" sz="1400" dirty="0"/>
          </a:p>
        </p:txBody>
      </p:sp>
      <p:sp>
        <p:nvSpPr>
          <p:cNvPr id="100" name="Shape 97"/>
          <p:cNvSpPr/>
          <p:nvPr/>
        </p:nvSpPr>
        <p:spPr>
          <a:xfrm>
            <a:off x="9509760" y="2331720"/>
            <a:ext cx="1371600" cy="566928"/>
          </a:xfrm>
          <a:prstGeom prst="rect">
            <a:avLst/>
          </a:prstGeom>
          <a:solidFill>
            <a:schemeClr val="bg2"/>
          </a:solidFill>
          <a:ln w="9525">
            <a:solidFill>
              <a:schemeClr val="tx2"/>
            </a:solidFill>
            <a:prstDash val="solid"/>
          </a:ln>
        </p:spPr>
      </p:sp>
      <p:sp>
        <p:nvSpPr>
          <p:cNvPr id="101" name="Text 98"/>
          <p:cNvSpPr txBox="1"/>
          <p:nvPr/>
        </p:nvSpPr>
        <p:spPr>
          <a:xfrm>
            <a:off x="9601200" y="2386584"/>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F2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Margen por servicio</a:t>
            </a:r>
            <a:endParaRPr lang="es-CL" sz="1400" dirty="0"/>
          </a:p>
        </p:txBody>
      </p:sp>
      <p:sp>
        <p:nvSpPr>
          <p:cNvPr id="102" name="Text 99"/>
          <p:cNvSpPr txBox="1"/>
          <p:nvPr/>
        </p:nvSpPr>
        <p:spPr>
          <a:xfrm>
            <a:off x="3388766" y="5660136"/>
            <a:ext cx="1325880" cy="566928"/>
          </a:xfrm>
          <a:prstGeom prst="rect">
            <a:avLst/>
          </a:prstGeom>
          <a:noFill/>
          <a:ln/>
        </p:spPr>
        <p:txBody>
          <a:bodyPr wrap="square" lIns="0" tIns="0" rIns="0" bIns="0" rtlCol="0" anchor="ctr"/>
          <a:lstStyle/>
          <a:p>
            <a:pPr algn="r" indent="0" marL="0">
              <a:buNone/>
            </a:pPr>
            <a:r>
              <a:rPr lang="es-CL" altLang="en-US" sz="1400" i="1" dirty="0">
                <a:solidFill>
                  <a:schemeClr val="accent1"/>
                </a:solidFill>
                <a:latin typeface="Instrument Serif" pitchFamily="34" charset="0"/>
                <a:ea typeface="Instrument Serif" pitchFamily="34" charset="-122"/>
                <a:cs typeface="Instrument Serif" pitchFamily="34" charset="-120"/>
              </a:rPr>
              <a:t>ventaja sostenible (potencial)</a:t>
            </a:r>
            <a:endParaRPr lang="es-CL" sz="1400" dirty="0"/>
          </a:p>
        </p:txBody>
      </p:sp>
      <p:sp>
        <p:nvSpPr>
          <p:cNvPr id="103" name="Shape 100"/>
          <p:cNvSpPr/>
          <p:nvPr/>
        </p:nvSpPr>
        <p:spPr>
          <a:xfrm>
            <a:off x="4742078" y="5943600"/>
            <a:ext cx="389534" cy="0"/>
          </a:xfrm>
          <a:prstGeom prst="line">
            <a:avLst/>
          </a:prstGeom>
          <a:noFill/>
          <a:ln w="12700">
            <a:solidFill>
              <a:schemeClr val="accent1"/>
            </a:solidFill>
            <a:prstDash val="solid"/>
            <a:tailEnd type="triangle"/>
          </a:ln>
        </p:spPr>
      </p:sp>
      <p:sp>
        <p:nvSpPr>
          <p:cNvPr id="104" name="Shape 101"/>
          <p:cNvSpPr/>
          <p:nvPr/>
        </p:nvSpPr>
        <p:spPr>
          <a:xfrm>
            <a:off x="10268712" y="5724144"/>
            <a:ext cx="201168" cy="64008"/>
          </a:xfrm>
          <a:prstGeom prst="rect">
            <a:avLst/>
          </a:prstGeom>
          <a:solidFill>
            <a:srgbClr val="ECECEC"/>
          </a:solidFill>
          <a:ln/>
        </p:spPr>
      </p:sp>
      <p:sp>
        <p:nvSpPr>
          <p:cNvPr id="105" name="Text 102"/>
          <p:cNvSpPr txBox="1"/>
          <p:nvPr/>
        </p:nvSpPr>
        <p:spPr>
          <a:xfrm>
            <a:off x="10543032" y="5660136"/>
            <a:ext cx="1097280" cy="182880"/>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eje 1</a:t>
            </a:r>
            <a:endParaRPr lang="es-CL" sz="1100" dirty="0"/>
          </a:p>
        </p:txBody>
      </p:sp>
      <p:sp>
        <p:nvSpPr>
          <p:cNvPr id="106" name="Shape 103"/>
          <p:cNvSpPr/>
          <p:nvPr/>
        </p:nvSpPr>
        <p:spPr>
          <a:xfrm>
            <a:off x="10268712" y="5897880"/>
            <a:ext cx="201168" cy="64008"/>
          </a:xfrm>
          <a:prstGeom prst="rect">
            <a:avLst/>
          </a:prstGeom>
          <a:solidFill>
            <a:srgbClr val="22B8F0"/>
          </a:solidFill>
          <a:ln/>
        </p:spPr>
      </p:sp>
      <p:sp>
        <p:nvSpPr>
          <p:cNvPr id="107" name="Text 104"/>
          <p:cNvSpPr txBox="1"/>
          <p:nvPr/>
        </p:nvSpPr>
        <p:spPr>
          <a:xfrm>
            <a:off x="10543032" y="5833872"/>
            <a:ext cx="1097280" cy="182880"/>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eje 2</a:t>
            </a:r>
            <a:endParaRPr lang="es-CL" sz="1100" dirty="0"/>
          </a:p>
        </p:txBody>
      </p:sp>
      <p:sp>
        <p:nvSpPr>
          <p:cNvPr id="108" name="Shape 105"/>
          <p:cNvSpPr/>
          <p:nvPr/>
        </p:nvSpPr>
        <p:spPr>
          <a:xfrm>
            <a:off x="10268712" y="6071616"/>
            <a:ext cx="201168" cy="64008"/>
          </a:xfrm>
          <a:prstGeom prst="rect">
            <a:avLst/>
          </a:prstGeom>
          <a:solidFill>
            <a:srgbClr val="0A6F9E"/>
          </a:solidFill>
          <a:ln/>
        </p:spPr>
      </p:sp>
      <p:sp>
        <p:nvSpPr>
          <p:cNvPr id="109" name="Text 106"/>
          <p:cNvSpPr txBox="1"/>
          <p:nvPr/>
        </p:nvSpPr>
        <p:spPr>
          <a:xfrm>
            <a:off x="10543032" y="6007608"/>
            <a:ext cx="1097280" cy="182880"/>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eje 3</a:t>
            </a:r>
            <a:endParaRPr lang="es-CL" sz="11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Lumine">
  <a:themeElements>
    <a:clrScheme name="Lumine">
      <a:dk1>
        <a:srgbClr val="ECECEC"/>
      </a:dk1>
      <a:lt1>
        <a:srgbClr val="020304"/>
      </a:lt1>
      <a:dk2>
        <a:srgbClr val="8B9598"/>
      </a:dk2>
      <a:lt2>
        <a:srgbClr val="0A0D0F"/>
      </a:lt2>
      <a:accent1>
        <a:srgbClr val="22B8F0"/>
      </a:accent1>
      <a:accent2>
        <a:srgbClr val="8B9598"/>
      </a:accent2>
      <a:accent3>
        <a:srgbClr val="4A5257"/>
      </a:accent3>
      <a:accent4>
        <a:srgbClr val="ECECEC"/>
      </a:accent4>
      <a:accent5>
        <a:srgbClr val="2E3438"/>
      </a:accent5>
      <a:accent6>
        <a:srgbClr val="101417"/>
      </a:accent6>
      <a:hlink>
        <a:srgbClr val="22B8F0"/>
      </a:hlink>
      <a:folHlink>
        <a:srgbClr val="0A6F9E"/>
      </a:folHlink>
    </a:clrScheme>
    <a:fontScheme name="Lumine">
      <a:majorFont>
        <a:latin typeface="Archivo SemiExpanded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Lumine Motors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3 · Avance 1 del TIG · Lumine Motors</dc:title>
  <dc:subject>Control de Gestión · ICMA901 · Sección 500 · NRC 4118 · UNAB</dc:subject>
  <dc:creator>Diego Alarcón, Benjamín Torres y Lukas Verdugo</dc:creator>
  <cp:lastModifiedBy>Diego Alarcón, Benjamín Torres y Lukas Verdugo</cp:lastModifiedBy>
  <cp:revision>1</cp:revision>
  <dcterms:created xsi:type="dcterms:W3CDTF">2026-10-23T01:57:38Z</dcterms:created>
  <dcterms:modified xsi:type="dcterms:W3CDTF">2026-10-23T01:57:38Z</dcterms:modified>
</cp:coreProperties>
</file>