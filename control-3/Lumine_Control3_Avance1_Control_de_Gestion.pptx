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Archivo SemiExpanded ExtraBold" charset="0"/>
      <p:regular r:id="rIdFuente1"/>
    </p:embeddedFont>
    <p:embeddedFont>
      <p:font typeface="Archivo Condensed" charset="0"/>
      <p:regular r:id="rIdFuente2"/>
      <p:bold r:id="rIdFuente3"/>
    </p:embeddedFont>
    <p:embeddedFont>
      <p:font typeface="Figtree" charset="0"/>
      <p:regular r:id="rIdFuente4"/>
      <p:bold r:id="rIdFuente5"/>
    </p:embeddedFont>
    <p:embeddedFont>
      <p:font typeface="IBM Plex Mono" charset="0"/>
      <p:regular r:id="rIdFuente6"/>
      <p:bold r:id="rIdFuente7"/>
    </p:embeddedFont>
    <p:embeddedFont>
      <p:font typeface="Instrument Serif" charset="0"/>
      <p:regular r:id="rIdFuente8"/>
      <p:italic r:id="rIdFuente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Diego Alarcón" id="{79d98ac9-0431-1d6d-fec5-b4fdabe36162}">
          <p14:sldIdLst>
            <p14:sldId id="256"/>
            <p14:sldId id="257"/>
            <p14:sldId id="258"/>
            <p14:sldId id="259"/>
            <p14:sldId id="260"/>
          </p14:sldIdLst>
        </p14:section>
        <p14:section name="2 · Benjamín Torres" id="{5d052318-8da0-7dd7-20f5-7daecce8222c}">
          <p14:sldIdLst>
            <p14:sldId id="261"/>
            <p14:sldId id="262"/>
            <p14:sldId id="263"/>
          </p14:sldIdLst>
        </p14:section>
        <p14:section name="3 · Lukas Verdugo" id="{eef89593-c0b4-0bd2-25e7-3ee25b80d05c}">
          <p14:sldIdLst>
            <p14:sldId id="264"/>
            <p14:sldId id="265"/>
            <p14:sldId id="266"/>
            <p14:sldId id="267"/>
          </p14:sldIdLst>
        </p14:section>
        <p14:section name="4 · Diego Alarcón" id="{5c05a897-9f45-3000-a586-50b77f0ebfe7}">
          <p14:sldIdLst>
            <p14:sldId id="268"/>
          </p14:sldIdLst>
        </p14:section>
        <p14:section name="Anexo · no se expone" id="{19cbc260-1c63-7465-f8a7-60c4f7c1bf79}">
          <p14:sldIdLst>
            <p14:sldId id="269"/>
            <p14:sldId id="270"/>
            <p14:sldId id="271"/>
            <p14:sldId id="272"/>
            <p14:sldId id="273"/>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Fuente1" Type="http://schemas.openxmlformats.org/officeDocument/2006/relationships/font" Target="fonts/font1.fntdata"/><Relationship Id="rIdFuente2" Type="http://schemas.openxmlformats.org/officeDocument/2006/relationships/font" Target="fonts/font2.fntdata"/><Relationship Id="rIdFuente3" Type="http://schemas.openxmlformats.org/officeDocument/2006/relationships/font" Target="fonts/font3.fntdata"/><Relationship Id="rIdFuente4" Type="http://schemas.openxmlformats.org/officeDocument/2006/relationships/font" Target="fonts/font4.fntdata"/><Relationship Id="rIdFuente5" Type="http://schemas.openxmlformats.org/officeDocument/2006/relationships/font" Target="fonts/font5.fntdata"/><Relationship Id="rIdFuente6" Type="http://schemas.openxmlformats.org/officeDocument/2006/relationships/font" Target="fonts/font6.fntdata"/><Relationship Id="rIdFuente7" Type="http://schemas.openxmlformats.org/officeDocument/2006/relationships/font" Target="fonts/font7.fntdata"/><Relationship Id="rIdFuente8" Type="http://schemas.openxmlformats.org/officeDocument/2006/relationships/font" Target="fonts/font8.fntdata"/><Relationship Id="rIdFuente9" Type="http://schemas.openxmlformats.org/officeDocument/2006/relationships/font" Target="fonts/font9.fntdata"/></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Oportunidades</c:v>
                </c:pt>
              </c:strCache>
            </c:strRef>
          </c:tx>
          <c:spPr>
            <a:solidFill>
              <a:srgbClr val="12AAE9"/>
            </a:solidFill>
            <a:effectLst/>
          </c:spPr>
          <c:invertIfNegative val="0"/>
          <c:dLbls>
            <c:numFmt formatCode="#,##0" sourceLinked="0"/>
            <c:txPr>
              <a:bodyPr/>
              <a:lstStyle/>
              <a:p>
                <a:pPr>
                  <a:defRPr b="1" i="0" strike="noStrike" sz="1600" u="none">
                    <a:solidFill>
                      <a:srgbClr val="000000"/>
                    </a:solidFill>
                    <a:latin typeface="Archivo Condensed"/>
                  </a:defRPr>
                </a:pPr>
              </a:p>
            </c:txPr>
            <c:dLblPos val="ctr"/>
            <c:showLegendKey val="0"/>
            <c:showVal val="1"/>
            <c:showCatName val="0"/>
            <c:showSerName val="0"/>
            <c:showPercent val="0"/>
            <c:showBubbleSize val="0"/>
            <c:showLeaderLines val="0"/>
          </c:dLbls>
          <c:cat>
            <c:multiLvlStrRef>
              <c:f>Sheet1!$A$2:$A$5</c:f>
              <c:multiLvlStrCache>
                <c:ptCount val="4"/>
                <c:lvl>
                  <c:pt idx="0">
                    <c:v>Político-jurídico</c:v>
                  </c:pt>
                  <c:pt idx="1">
                    <c:v>Económico</c:v>
                  </c:pt>
                  <c:pt idx="2">
                    <c:v>Sociocultural</c:v>
                  </c:pt>
                  <c:pt idx="3">
                    <c:v>Tecnológico</c:v>
                  </c:pt>
                </c:lvl>
              </c:multiLvlStrCache>
            </c:multiLvlStrRef>
          </c:cat>
          <c:val>
            <c:numRef>
              <c:f>Sheet1!$B$2:$B$5</c:f>
              <c:numCache>
                <c:formatCode>General</c:formatCode>
                <c:ptCount val="4"/>
                <c:pt idx="0">
                  <c:v>2</c:v>
                </c:pt>
                <c:pt idx="1">
                  <c:v>2</c:v>
                </c:pt>
                <c:pt idx="2">
                  <c:v>2</c:v>
                </c:pt>
                <c:pt idx="3">
                  <c:v>7</c:v>
                </c:pt>
              </c:numCache>
            </c:numRef>
          </c:val>
        </c:ser>
        <c:ser>
          <c:idx val="1"/>
          <c:order val="1"/>
          <c:tx>
            <c:strRef>
              <c:f>Sheet1!$C$1</c:f>
              <c:strCache>
                <c:ptCount val="1"/>
                <c:pt idx="0">
                  <c:v>Neutros</c:v>
                </c:pt>
              </c:strCache>
            </c:strRef>
          </c:tx>
          <c:spPr>
            <a:solidFill>
              <a:srgbClr val="4A5D72"/>
            </a:solidFill>
            <a:effectLst/>
          </c:spPr>
          <c:invertIfNegative val="0"/>
          <c:dLbls>
            <c:numFmt formatCode="#,##0" sourceLinked="0"/>
            <c:txPr>
              <a:bodyPr/>
              <a:lstStyle/>
              <a:p>
                <a:pPr>
                  <a:defRPr b="1" i="0" strike="noStrike" sz="1600" u="none">
                    <a:solidFill>
                      <a:srgbClr val="000000"/>
                    </a:solidFill>
                    <a:latin typeface="Archivo Condensed"/>
                  </a:defRPr>
                </a:pPr>
              </a:p>
            </c:txPr>
            <c:dLblPos val="ctr"/>
            <c:showLegendKey val="0"/>
            <c:showVal val="1"/>
            <c:showCatName val="0"/>
            <c:showSerName val="0"/>
            <c:showPercent val="0"/>
            <c:showBubbleSize val="0"/>
            <c:showLeaderLines val="0"/>
          </c:dLbls>
          <c:cat>
            <c:multiLvlStrRef>
              <c:f>Sheet1!$A$2:$A$5</c:f>
              <c:multiLvlStrCache>
                <c:ptCount val="4"/>
                <c:lvl>
                  <c:pt idx="0">
                    <c:v>Político-jurídico</c:v>
                  </c:pt>
                  <c:pt idx="1">
                    <c:v>Económico</c:v>
                  </c:pt>
                  <c:pt idx="2">
                    <c:v>Sociocultural</c:v>
                  </c:pt>
                  <c:pt idx="3">
                    <c:v>Tecnológico</c:v>
                  </c:pt>
                </c:lvl>
              </c:multiLvlStrCache>
            </c:multiLvlStrRef>
          </c:cat>
          <c:val>
            <c:numRef>
              <c:f>Sheet1!$C$2:$C$5</c:f>
              <c:numCache>
                <c:formatCode>General</c:formatCode>
                <c:ptCount val="4"/>
                <c:pt idx="0">
                  <c:v>3</c:v>
                </c:pt>
                <c:pt idx="1">
                  <c:v>6</c:v>
                </c:pt>
                <c:pt idx="2">
                  <c:v>7</c:v>
                </c:pt>
                <c:pt idx="3">
                  <c:v>2</c:v>
                </c:pt>
              </c:numCache>
            </c:numRef>
          </c:val>
        </c:ser>
        <c:ser>
          <c:idx val="2"/>
          <c:order val="2"/>
          <c:tx>
            <c:strRef>
              <c:f>Sheet1!$D$1</c:f>
              <c:strCache>
                <c:ptCount val="1"/>
                <c:pt idx="0">
                  <c:v>Amenazas</c:v>
                </c:pt>
              </c:strCache>
            </c:strRef>
          </c:tx>
          <c:spPr>
            <a:solidFill>
              <a:srgbClr val="FFFFFF"/>
            </a:solidFill>
            <a:effectLst/>
          </c:spPr>
          <c:invertIfNegative val="0"/>
          <c:dLbls>
            <c:numFmt formatCode="#,##0" sourceLinked="0"/>
            <c:txPr>
              <a:bodyPr/>
              <a:lstStyle/>
              <a:p>
                <a:pPr>
                  <a:defRPr b="1" i="0" strike="noStrike" sz="1600" u="none">
                    <a:solidFill>
                      <a:srgbClr val="000000"/>
                    </a:solidFill>
                    <a:latin typeface="Archivo Condensed"/>
                  </a:defRPr>
                </a:pPr>
              </a:p>
            </c:txPr>
            <c:dLblPos val="ctr"/>
            <c:showLegendKey val="0"/>
            <c:showVal val="1"/>
            <c:showCatName val="0"/>
            <c:showSerName val="0"/>
            <c:showPercent val="0"/>
            <c:showBubbleSize val="0"/>
            <c:showLeaderLines val="0"/>
          </c:dLbls>
          <c:cat>
            <c:multiLvlStrRef>
              <c:f>Sheet1!$A$2:$A$5</c:f>
              <c:multiLvlStrCache>
                <c:ptCount val="4"/>
                <c:lvl>
                  <c:pt idx="0">
                    <c:v>Político-jurídico</c:v>
                  </c:pt>
                  <c:pt idx="1">
                    <c:v>Económico</c:v>
                  </c:pt>
                  <c:pt idx="2">
                    <c:v>Sociocultural</c:v>
                  </c:pt>
                  <c:pt idx="3">
                    <c:v>Tecnológico</c:v>
                  </c:pt>
                </c:lvl>
              </c:multiLvlStrCache>
            </c:multiLvlStrRef>
          </c:cat>
          <c:val>
            <c:numRef>
              <c:f>Sheet1!$D$2:$D$5</c:f>
              <c:numCache>
                <c:formatCode>General</c:formatCode>
                <c:ptCount val="4"/>
                <c:pt idx="0">
                  <c:v>4</c:v>
                </c:pt>
                <c:pt idx="1">
                  <c:v>8</c:v>
                </c:pt>
                <c:pt idx="2">
                  <c:v>4</c:v>
                </c:pt>
                <c:pt idx="3">
                  <c:v>4</c:v>
                </c:pt>
              </c:numCache>
            </c:numRef>
          </c:val>
        </c:ser>
        <c:dLbls>
          <c:numFmt formatCode="#,##0" sourceLinked="0"/>
          <c:txPr>
            <a:bodyPr/>
            <a:lstStyle/>
            <a:p>
              <a:pPr>
                <a:defRPr b="1" i="0" strike="noStrike" sz="1600" u="none">
                  <a:solidFill>
                    <a:srgbClr val="000000"/>
                  </a:solidFill>
                  <a:latin typeface="Archivo Condensed"/>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FFFFFF"/>
                </a:solidFill>
                <a:latin typeface="Figtree"/>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9AA8B6"/>
                </a:solidFill>
                <a:latin typeface="Figtree"/>
              </a:defRPr>
            </a:pPr>
            <a:endParaRPr lang="en-US"/>
          </a:p>
        </c:txPr>
        <c:crossAx val="2094734554"/>
        <c:crosses val="autoZero"/>
        <c:crossBetween val="between"/>
      </c:valAx>
      <c:spPr>
        <a:solidFill>
          <a:srgbClr val="000000">
            <a:alpha val="0"/>
          </a:srgbClr>
        </a:solidFill>
        <a:ln>
          <a:noFill/>
        </a:ln>
        <a:effectLst/>
      </c:spPr>
    </c:plotArea>
    <c:legend>
      <c:legendPos val="b"/>
      <c:overlay val="0"/>
      <c:txPr>
        <a:bodyPr/>
        <a:lstStyle/>
        <a:p>
          <a:pPr>
            <a:defRPr sz="1600">
              <a:solidFill>
                <a:srgbClr val="FFFFFF"/>
              </a:solidFill>
              <a:latin typeface="Figtree"/>
              <a:cs typeface="Figtree"/>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Intensidad</c:v>
                </c:pt>
              </c:strCache>
            </c:strRef>
          </c:tx>
          <c:spPr>
            <a:solidFill>
              <a:srgbClr val="12AAE9"/>
            </a:solidFill>
            <a:effectLst/>
          </c:spPr>
          <c:invertIfNegative val="0"/>
          <c:dLbls>
            <c:numFmt formatCode="0.00" sourceLinked="0"/>
            <c:txPr>
              <a:bodyPr/>
              <a:lstStyle/>
              <a:p>
                <a:pPr>
                  <a:defRPr b="1" i="0" strike="noStrike" sz="1800" u="none">
                    <a:solidFill>
                      <a:srgbClr val="FFFFFF"/>
                    </a:solidFill>
                    <a:latin typeface="Archivo Condensed"/>
                  </a:defRPr>
                </a:pPr>
              </a:p>
            </c:txPr>
            <c:showLegendKey val="0"/>
            <c:showVal val="1"/>
            <c:showCatName val="0"/>
            <c:showSerName val="0"/>
            <c:showPercent val="0"/>
            <c:showBubbleSize val="0"/>
            <c:showLeaderLines val="0"/>
          </c:dLbls>
          <c:dPt>
            <c:idx val="0"/>
            <c:invertIfNegative val="0"/>
            <c:bubble3D val="0"/>
            <c:spPr>
              <a:solidFill>
                <a:srgbClr val="12AAE9"/>
              </a:solidFill>
              <a:effectLst/>
            </c:spPr>
          </c:dPt>
          <c:dPt>
            <c:idx val="1"/>
            <c:invertIfNegative val="0"/>
            <c:bubble3D val="0"/>
            <c:spPr>
              <a:solidFill>
                <a:srgbClr val="4A5D72"/>
              </a:solidFill>
              <a:effectLst/>
            </c:spPr>
          </c:dPt>
          <c:dPt>
            <c:idx val="2"/>
            <c:invertIfNegative val="0"/>
            <c:bubble3D val="0"/>
            <c:spPr>
              <a:solidFill>
                <a:srgbClr val="4A5D72"/>
              </a:solidFill>
              <a:effectLst/>
            </c:spPr>
          </c:dPt>
          <c:dPt>
            <c:idx val="3"/>
            <c:invertIfNegative val="0"/>
            <c:bubble3D val="0"/>
            <c:spPr>
              <a:solidFill>
                <a:srgbClr val="4A5D72"/>
              </a:solidFill>
              <a:effectLst/>
            </c:spPr>
          </c:dPt>
          <c:dPt>
            <c:idx val="4"/>
            <c:invertIfNegative val="0"/>
            <c:bubble3D val="0"/>
            <c:spPr>
              <a:solidFill>
                <a:srgbClr val="4A5D72"/>
              </a:solidFill>
              <a:effectLst/>
            </c:spPr>
          </c:dPt>
          <c:cat>
            <c:multiLvlStrRef>
              <c:f>Sheet1!$A$2:$A$6</c:f>
              <c:multiLvlStrCache>
                <c:ptCount val="5"/>
                <c:lvl>
                  <c:pt idx="0">
                    <c:v>Sustitutos · 30%</c:v>
                  </c:pt>
                  <c:pt idx="1">
                    <c:v>Nuevos entrantes · 20%</c:v>
                  </c:pt>
                  <c:pt idx="2">
                    <c:v>Proveedores · 15%</c:v>
                  </c:pt>
                  <c:pt idx="3">
                    <c:v>Clientes · 25%</c:v>
                  </c:pt>
                  <c:pt idx="4">
                    <c:v>Rivalidad · 10%</c:v>
                  </c:pt>
                </c:lvl>
              </c:multiLvlStrCache>
            </c:multiLvlStrRef>
          </c:cat>
          <c:val>
            <c:numRef>
              <c:f>Sheet1!$B$2:$B$6</c:f>
              <c:numCache>
                <c:formatCode>General</c:formatCode>
                <c:ptCount val="5"/>
                <c:pt idx="0">
                  <c:v>5</c:v>
                </c:pt>
                <c:pt idx="1">
                  <c:v>3.75</c:v>
                </c:pt>
                <c:pt idx="2">
                  <c:v>2.67</c:v>
                </c:pt>
                <c:pt idx="3">
                  <c:v>2.64</c:v>
                </c:pt>
                <c:pt idx="4">
                  <c:v>1.83</c:v>
                </c:pt>
              </c:numCache>
            </c:numRef>
          </c:val>
        </c:ser>
        <c:dLbls>
          <c:numFmt formatCode="0.00" sourceLinked="0"/>
          <c:txPr>
            <a:bodyPr/>
            <a:lstStyle/>
            <a:p>
              <a:pPr>
                <a:defRPr b="1" i="0" strike="noStrike" sz="1800" u="none">
                  <a:solidFill>
                    <a:srgbClr val="FFFFFF"/>
                  </a:solidFill>
                  <a:latin typeface="Archivo Condensed"/>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FFFFFF"/>
                </a:solidFill>
                <a:latin typeface="Figtree"/>
              </a:defRPr>
            </a:pPr>
            <a:endParaRPr lang="en-US"/>
          </a:p>
        </c:txPr>
        <c:crossAx val="2094734552"/>
        <c:crosses val="autoZero"/>
        <c:auto val="1"/>
        <c:lblAlgn val="ctr"/>
        <c:noMultiLvlLbl val="1"/>
      </c:catAx>
      <c:valAx>
        <c:axId val="2094734552"/>
        <c:scaling>
          <c:orientation val="minMax"/>
          <c:max val="5.6"/>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9AA8B6"/>
                </a:solidFill>
                <a:latin typeface="Figtree"/>
              </a:defRPr>
            </a:pPr>
            <a:endParaRPr lang="en-US"/>
          </a:p>
        </c:txPr>
        <c:crossAx val="2094734554"/>
        <c:crosses val="autoZero"/>
        <c:crossBetween val="between"/>
        <c:majorUnit val="1"/>
      </c:valAx>
      <c:spPr>
        <a:solidFill>
          <a:srgbClr val="000000">
            <a:alpha val="0"/>
          </a:srgbClr>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0:15 a 130 palabras por minuto (31 palabras; asignado 0:15)
Buenas tardes, profesor. Somos Diego Alarcón, Benjamín Torres y Lukas Verdugo, y presentamos el Avance 1 de nuestro trabajo: el análisis estratégico de Lumine Motors, un proyecto que todavía no opera.
— Mensaje: Quiénes somos y qué se evalúa hoy.
— Evidencia: Datos del curso y del equipo.
— Por qué importa: Ubica al profesor: Avance 1 del TIG, empresa preoperativa.
— Transición: Del saludo al contexto.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0:55 a 130 palabras por minuto (124 palabras; asignado 0:55)
Partamos por el contexto. En el mundo, la transición a cero emisiones avanza sobre todo con la venta de autos nuevos. Chile sigue esa línea: la Estrategia Nacional de Electromovilidad apunta a que, desde 2035, los vehículos livianos que se vendan sean de cero emisiones. Pero el parque que ya circula cambia mucho más lento: en nuestro análisis del entorno, por cada auto nuevo se transfieren unos tres coma cinco usados. Y la bencina noventa y tres en la Región Metropolitana pasó de mil ciento cuarenta y nueve a mil quinientos cuarenta y un pesos por litro. El problema es concreto: muchos autos a combustión seguirán circulando años, y su dueño solo puede seguir pagando la bencina o cambiar de auto. Ahí aparece Lumine.
— Mensaje: Existe un problema concreto: los autos a combustión seguirán circulando años y su dueño solo puede pagar la bencina o cambiar de auto.
— Evidencia: Meta 2035 de la Estrategia Nacional de Electromovilidad (ventas nuevas); 3,5 usados transferidos por cada auto nuevo; bencina 93 de $1.149 a $1.541 por litro (instrumento PEST 03).
— Por qué importa: Justifica el negocio desde el entorno y no desde la tecnología (observación recibida en otra presentación).
— Transición: Ahí aparece Lumine.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1:00 a 130 palabras por minuto (125 palabras; asignado 1:00)
Lumine Motors Chile es un proyecto que todavía no opera: no tiene taller, personal, clientes ni ventas. Lo que contemplaría es un taller que instala un kit de hibridación aditiva, no enchufable, en autos a combustión de tracción delantera. El motor original, la transmisión y la alimentación quedan intactos. El kit suma tres cosas: una unidad de control, que decide cuándo asistir; un banco de baterías, que guarda la energía del frenado; y un motor eléctrico en el eje trasero. El freno, el ABS y el control de estabilidad originales siempre mandan sobre el kit. La promesa de hasta veinte por ciento menos bencina en ciudad es una estimación de ingeniería: no está medida en autos chilenos, y el diseño todavía requiere pruebas y habilitaciones.
— Mensaje: Lumine contemplaría instalar un kit de hibridación aditiva que conserva el motor original; hoy es un proyecto sin operación.
— Evidencia: Plano del kit y contexto vigente del proyecto. El 20% es una estimación de ingeniería.
— Por qué importa: Todo el análisis se lee desde una empresa preoperativa: nada está medido, habilitado ni vendido.
— Transición: ¿Quién compraría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1:05 a 130 palabras por minuto (145 palabras; asignado 1:10)
¿Quién sería el cliente? El kit está pensado para vehículos livianos elegibles, y la prioridad comercial está en quienes manejan mucho: conductores de aplicación, taxis y colectivos, y particulares con trayectos largos, porque mientras más kilómetros, antes se recupera la inversión. Es una prioridad, no una exclusión. La propuesta de valor, que todavía debemos comprobar, tiene cuatro partes: ahorrar combustible sin comprar un auto nuevo, seguir usando el mismo vehículo, contar con un respaldo técnico verificable y tener transparencia sobre compatibilidad y costos. En tres entrevistas en profundidad apareció una pista: antes que el precio, preocupa quién responde si algo falla. Es una señal indicativa, no un resultado representativo. El modelo de negocio parte con un taller propio y contempla, más adelante, licenciar a otros talleres la biblioteca de calibraciones, el procedimiento y la plataforma de formación Lumine Habilita. Hoy eso está diseñado, no validado.
— Mensaje: Público amplio con prioridad en uso intensivo; propuesta de valor por comprobar; modelo con taller propio y licencias potenciales.
— Evidencia: Contexto vigente; entrevistas en profundidad (n = 3, indicativas).
— Por qué importa: Define qué tendrá que demostrar la estrategia: ahorro, continuidad de uso, respaldo técnico y transparencia.
— Transición: De qué compra el cliente a para qué existimos.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0:55 a 130 palabras por minuto (118 palabras; asignado 0:52)
La misión dice para qué existimos: reducir el combustible que un vehículo liviano necesita por kilómetro, sobre el auto que el cliente ya tiene, sin reemplazarlo y sin intervenir su motor. Cuando dice instalación certificada, es una exigencia que nos ponemos, no una certificación que ya tengamos. La visión es ser hacia 2031 el taller de referencia en hibridación de vehículos en uso en Chile, reconocido por la autoridad, las plantas de revisión técnica y las aseguradoras. Y los valores sirven al control de gestión porque se pueden verificar: primero verificar y después afirmar, operar dentro de la formalidad, dejar trazado el conocimiento técnico y responder por todo el ciclo del componente. Benjamín sigue con el análisis externo.
— Mensaje: Las declaraciones estratégicas compartidas fijan el propósito y criterios verificables.
— Evidencia: Misión y visión literales; ocho valores (cuatro organizacionales y cuatro humanos).
— Por qué importa: Los valores se pueden convertir después en reglas de control; la misión no afirma una certificación obtenida.
— Transición: Traspaso a Benjamín: el análisis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1:30 a 130 palabras por minuto (190 palabras; asignado 1:30)
Gracias, Diego. Partimos por el entorno, con la matriz PEST del curso. Evaluamos cincuenta y un factores en una escala de uno a cinco, donde tres es neutro. El resultado global es dos coma ochenta y dos: un entorno levemente desfavorable. Pero lo más claro es el conteo: veinte amenazas, dieciocho factores neutros y solo trece oportunidades. Por dimensión, lo económico es lo más débil, con dos coma treinta y ocho. Ahí están el bajo crecimiento esperado, el desempleo, un dólar alto que encarece un kit importado y un crédito caro que dificulta financiar la compra. Lo político y jurídico obtiene dos coma sesenta y siete, porque la ley existe, pero todavía no tiene reglamento. Lo sociocultural queda en el neutro. Y lo tecnológico es la única dimensión sobre el neutro, con tres coma veintitrés: los componentes de electrificación están maduros y estandarizados a nivel internacional, y el precio de las baterías viene bajando. La lectura para Lumine es que la tecnología no es el problema. Los riesgos decisivos son dos: la regulación y la capacidad de pago del cliente. Por eso miramos ahora la industria y la vía legal.
— Mensaje: Entorno levemente desfavorable (2,82); la tecnología no es el problema; lo decisivo es la regulación y la capacidad de pago.
— Evidencia: Instrumento PEST (03): 51 factores, escala 1 a 5, neutro 3; 13 / 18 / 20; dimensiones 2,67 · 2,38 · 3,00 · 3,23.
— Por qué importa: Dirige el análisis hacia la industria y la vía legal.
— Transición: Por eso las dos láminas siguientes.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1:30 a 130 palabras por minuto (200 palabras; asignado 1:30)
Ahora la industria, con las cinco fuerzas de Porter. Cada fuerza se califica de cero a cinco según su intensidad, y luego se pondera según su importancia para este negocio. El promedio ponderado da tres coma cuarenta y nueve: una presión moderadamente alta: una industria poco atractiva. La fuerza más intensa son los sustitutos, con cinco de cinco. El sustituto principal no es otro taller: es que el cliente posponga la decisión y siga con su auto tal como está. Eso no es gratis: no paga el kit, pero sigue pagando toda su bencina. También compite la compra de un híbrido usado. Después vienen los nuevos entrantes, con tres coma setenta y cinco, porque si se abre una vía legal, otros talleres con capital podrían homologar. Los clientes y los proveedores quedan en un nivel medio, y la rivalidad es baja, uno coma ochenta y tres, porque hoy no identificamos una oferta directa de hibridación de autos en uso. Una precisión: el treinta y el veinticinco por ciento son pesos del modelo, no porcentajes de amenaza. La conclusión es que Lumine compite contra la inercia, y para vencerla tiene que demostrar que el ahorro supera lo que cuesta el kit.
— Mensaje: Industria poco atractiva (3,49 de 5); el sustituto dominante es seguir con el auto actual, que no paga el kit pero sigue pagando la bencina.
— Evidencia: Instrumento de cinco fuerzas (02): pesos e intensidades; 0,30 × 5,00 + 0,20 × 3,75 + 0,25 × 2,64 + 0,15 × 2,67 + 0,10 × 1,83 = 3,49.
— Por qué importa: La propuesta debe demostrar que el ahorro supera el costo del kit; el rival es la inercia.
— Transición: La regulación decide si se compite.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1:30 a 130 palabras por minuto (197 palabras; asignado 1:30)
La regulación merece una lámina propia, porque decide si el negocio opera. La Ley veintiún mil setecientos noventa y tres se publicó el catorce de enero de este año, pero todavía no tiene reglamento. La única referencia es un borrador que el Ministerio de Transportes sometió a consulta en 2021, antes de la ley. Con eso armamos cuatro escenarios. La primera pregunta es si el reglamento admitirá una transformación que conserva el motor original. Si la respuesta es sí, queda una segunda pregunta: si se excluyen los autos con ABS, airbag o control de estabilidad. Sin exclusión tenemos el escenario uno, una vía amplia, donde la exigencia de homologar protege a quien lo haga primero. Con exclusión, el escenario dos: una vía acotada a un parque más antiguo. Si la respuesta a la primera pregunta es no, quedan dos caminos: el escenario tres, inscribir el cambio como una alteración de características, o el escenario cuatro, sin vía legal, donde el negocio no opera. El borrador de 2021 entendía la transformación como cambiar el motor por uno eléctrico. Por eso hoy no podemos afirmar ni que estamos habilitados ni que estamos prohibidos. Lukas sigue con el análisis interno.
— Mensaje: Sin reglamento, Lumine no puede afirmar que está habilitada ni prohibida; cuatro escenarios ordenan la incertidumbre.
— Evidencia: Ley N° 21.793 (Diario Oficial, 14-01-2026); borrador del MTT sometido a consulta en 2021, anterior a la ley; árbol del análisis original.
— Por qué importa: Es la primera brecha del diagnóstico y condiciona todas las demás.
— Transición: Traspaso a Lukas: el análisis interno.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1:10 a 130 palabras por minuto (147 palabras; asignado 1:10)
Gracias, Benjamín. Mirando hacia adentro, evaluamos quince recursos y capacidades con los cuatro criterios de Hitt: si son valiosos, raros, costosos de imitar e insustituibles. Solo dos cumplen los cuatro: la biblioteca de calibraciones por marca y modelo, que es un recurso, y la ingeniería de integración, que es la capacidad de construirla. En el fondo son una sola competencia: saber calibrar el kit para cada auto. Pero hay que decirlo con precisión: la biblioteca hoy está vacía. Por eso no hablamos de dos ventajas sostenibles, sino de un potencial de diferenciación que depende de desarrollarla y protegerla, por ejemplo, como secreto empresarial. Otros seis recursos, como la homologación de cada modelo o los técnicos con licencia, darían solo una ventaja temporal, porque un competidor con tiempo y capital podría conseguirlos. Los siete restantes son igualdad competitiva: el taller, el kit o el equipamiento no nos distinguen.
— Mensaje: Solo la competencia de calibración cumple los cuatro criterios, y es potencial: la biblioteca está vacía.
— Evidencia: Instrumento de competencias (05), criterios de Hitt: 2 sostenibles en potencia, 6 temporales, 7 de igualdad, 0 desventajas.
— Por qué importa: Evita proclamar una ventaja que no existe; define qué construir y proteger.
— Transición: Dónde se crea y se pierde valor: la cadena.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1:15 a 130 palabras por minuto (167 palabras; asignado 1:15)
En la cadena de valor, Lumine obtiene tres en habilidades y dos coma setenta y uno en factores de riesgo, en una escala de uno a cinco. Frente a un líder de referencia, armado con lo mejor de cada alternativa, la brecha es de uno coma veintinueve y uno coma cuarenta y tres puntos. Es esperable: comparamos un proyecto con empresas que ya operan. El costo se concentra en la logística de entrada: un kit importado, en dólares, con baterías que viajan como carga peligrosa. La diferenciación nace en el desarrollo tecnológico, que es la calibración. Y operaciones es el cuello de botella, porque ahí se juntan la homologación por modelo, los plazos de importación y la escasez de técnicos. En los factores críticos de éxito, los más fuertes, con cuatro, son la integración y la estandarización del taller, pero están diseñados, no probados. Los más débiles, con dos, son la gestión regulatoria y el talento en alta tensión. Es una fortaleza de diseño, no de ejecución.
— Mensaje: El costo nace en la logística de entrada, la diferenciación en el desarrollo tecnológico y el cuello de botella está en operaciones; los factores críticos más fuertes están diseñados, no probados.
— Evidencia: Instrumento de cadena de valor (06): 3,00 en habilidades y 2,71 en riesgo (1 a 5); brecha −1,29 y −1,43 con un líder de referencia; seis factores críticos de éxito.
— Por qué importa: Señala dónde está el riesgo de ejecución, sin inventar costos ni capacidades.
— Transición: El FODA ordena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1:10 a 130 palabras por minuto (156 palabras; asignado 1:15)
El FODA ordena lo anterior, separando lo interno de lo externo. Las fortalezas son internas, pero de diseño: una arquitectura que conserva el motor, un proceso de instalación y verificación definido y un segmento delimitado. Ninguna se ha probado en un auto real. Las debilidades son las de un proyecto que no opera: no hay taller ni casos medidos, la biblioteca de calibraciones está vacía, el talento en alta tensión es escaso y no hay convenios firmados. Afuera, las oportunidades son un parque que se conserva, una bencina cara y una tecnología madura, con baterías cada vez más baratas. Y las amenazas son la regulación pendiente, la capacidad de pago del cliente, un dólar alto para un kit importado y la opción de posponer la compra. La lectura es clara: sabemos qué hacer técnicamente, pero falta demostrarlo. Y lo que decide el negocio está afuera: la vía legal y que el cliente pueda y quiera pagar.
— Mensaje: Las fortalezas son de diseño; lo que decide el negocio está afuera: la vía legal y la capacidad de pago.
— Evidencia: Síntesis de los instrumentos 02, 03, 05 y 06; internos y externos separados.
— Por qué importa: Prepara las tres brechas sin abrir todavía la formulación.
— Transición: Juntando todo, tres brechas.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1:00 a 130 palabras por minuto (130 palabras; asignado 0:58)
Juntando todo, el diagnóstico deja tres brechas, y las tres se pueden comprobar. La primera es habilitar: conseguir una vía legal y técnica para instalar, porque sin ella no hay negocio; viene del PEST, de los escenarios y de la infraestructura. La segunda es demostrar: convertir una promesa de ahorro en una prestación medible, con una medición antes y después en el mismo auto; viene de Porter, porque solo así se vence la opción de posponer la compra. La tercera es acumular: construir y proteger el conocimiento de calibración, nuestro único potencial de diferenciación; viene del análisis de competencias y de la cadena de valor. Ninguna de las tres se resuelve con publicidad: se resuelven con evidencia. Estas brechas son la entrada del Avance 2. Diego, te devuelvo la palabra.
— Mensaje: El diagnóstico se resume en habilitar, demostrar y acumular; cada brecha tiene una evidencia que la cerraría.
— Evidencia: Cruce de PEST, escenarios, Porter, competencias y cadena de valor (sección 6.6 del informe).
— Por qué importa: Son la entrada del Avance 2 (formulación, objetivos y CMI).
— Transición: Traspaso a Diego para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0:30 a 130 palabras por minuto (68 palabras; asignado 0:30)
Lumine responde a un problema real: autos que seguirán circulando y una bencina cada vez más cara. Pero hoy su fortaleza es de diseño, el entorno pesa en contra y la vía legal sigue pendiente. Por eso no compite con otros talleres: compite con la decisión de esperar. En el próximo avance convertiremos estas tres brechas en estrategia, objetivos e indicadores. Muchas gracias; quedamos atentos a sus preguntas.
— Mensaje: Problema real, fortaleza de diseño, entorno en contra y vía legal pendiente: el rival es la espera.
— Evidencia: Síntesis de las láminas 2 a 12.
— Por qué importa: Cierra con una idea defendible y conecta con el Avance 2.
— Transición: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presenta. Cada pregunta tiene un enlace a su respuesta; cada lámina del anexo tiene un enlace de vuelta a este índice.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 · Solo si preguntan.
PEST 1 a 5 (3 neutro); cinco fuerzas 0 a 5 ponderado (5 = fuerza más intensa); Hitt, cuatro criterios; cadena de valor y factores críticos 1 a 5. Escalas del curso, no comparables con las del Integrador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 Solo si preguntan.
51 factores: 13 oportunidades, 18 neutros, 20 amenazas. Hoy 2,82 y a futuro 2,99. Las cifras de entorno vienen del instrumento 03; verificar la fuente primaria antes de citarlas.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A3 · Solo si preguntan.
Suma de peso × intensidad. Los pesos son ponderaciones del modelo, no porcentajes de amenaza.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A4 · Solo si preguntan.
Matriz de impacto e incertidumbre del instrumento 03 (Francés): cinco factores críticos, todos inciertos.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A5 · Solo si preguntan.
Criterios de Hitt. «Sostenible» es potencial: la biblioteca está vacía.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A6 · Solo si preguntan.
Habilidad y riesgo de 1 a 5; en riesgo, un número bajo es riesgo alto.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A7 · Solo si preguntan.
Cruces FO, DO, FA y DA como insumo de la formulación, no como estrategia aprobada.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A8 · Solo si preguntan.
Derivación aritmética sobre una estimación de ingeniería, no una medición. Entrevistas n = 3, indicativas.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A9 · Solo si preguntan.
Textos del informe del Avance 1 (sección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A10 · Solo si preguntan.
Cada cifra dice qué es y de dónde 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A11 · Solo si preguntan.
Lámina → sección del Word → evidencia o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A12 · Solo si preguntan.
Referencias públicas y teóricas citadas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A13 · Solo si preguntan.
No se expone en el Control 3. Propuesta de trabajo del equipo; se desarrollará en el Avance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IDO-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5313" cy="20116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5313" cy="201168"/>
          </a:xfrm>
          <a:prstGeom prst="rect">
            <a:avLst/>
          </a:prstGeom>
        </p:spPr>
      </p:pic>
      <p:sp>
        <p:nvSpPr>
          <p:cNvPr id="3" name="Text 0"/>
          <p:cNvSpPr/>
          <p:nvPr/>
        </p:nvSpPr>
        <p:spPr>
          <a:xfrm>
            <a:off x="5120640" y="365760"/>
            <a:ext cx="6522415" cy="237744"/>
          </a:xfrm>
          <a:prstGeom prst="rect">
            <a:avLst/>
          </a:prstGeom>
          <a:noFill/>
          <a:ln/>
        </p:spPr>
        <p:txBody>
          <a:bodyPr wrap="square" lIns="0" tIns="0" rIns="0" bIns="0" rtlCol="0" anchor="ctr"/>
          <a:lstStyle/>
          <a:p>
            <a:pPr algn="r" indent="0" marL="0">
              <a:buNone/>
            </a:pPr>
            <a:r>
              <a:rPr lang="en-US" sz="1200" spc="150" kern="0" dirty="0">
                <a:solidFill>
                  <a:srgbClr val="9AA8B6"/>
                </a:solidFill>
                <a:latin typeface="IBM Plex Mono" pitchFamily="34" charset="0"/>
                <a:ea typeface="IBM Plex Mono" pitchFamily="34" charset="-122"/>
                <a:cs typeface="IBM Plex Mono" pitchFamily="34" charset="-120"/>
              </a:rPr>
              <a:t>CONTROL DE GESTIÓN · ICMA901 · CONTROL 3 · AVANCE 1 DEL TIG</a:t>
            </a:r>
            <a:endParaRPr lang="en-US" sz="1200" dirty="0"/>
          </a:p>
        </p:txBody>
      </p:sp>
      <p:sp>
        <p:nvSpPr>
          <p:cNvPr id="4" name="Text 1"/>
          <p:cNvSpPr/>
          <p:nvPr>
            <p:ph idx="102" type="body" hasCustomPrompt="1"/>
          </p:nvPr>
        </p:nvSpPr>
        <p:spPr>
          <a:xfrm>
            <a:off x="548640" y="841248"/>
            <a:ext cx="7863840" cy="274320"/>
          </a:xfrm>
          <a:prstGeom prst="rect">
            <a:avLst/>
          </a:prstGeom>
          <a:noFill/>
          <a:ln/>
        </p:spPr>
        <p:txBody>
          <a:bodyPr wrap="square" rtlCol="0"/>
          <a:lstStyle>
            <a:lvl1pPr indent="0" marL="0">
              <a:buNone/>
              <a:defRPr lang="en-US" sz="1300" spc="150" kern="0" dirty="0">
                <a:solidFill>
                  <a:srgbClr val="9AA8B6"/>
                </a:solidFill>
                <a:latin typeface="IBM Plex Mono" pitchFamily="34" charset="0"/>
                <a:ea typeface="IBM Plex Mono" pitchFamily="34" charset="-122"/>
                <a:cs typeface="IBM Plex Mono" pitchFamily="34" charset="-120"/>
              </a:defRPr>
            </a:lvl1pPr>
          </a:lstStyle>
          <a:p>
            <a:pPr indent="0" marL="0">
              <a:buNone/>
            </a:pPr>
            <a:endParaRPr lang="en-US" sz="1300" dirty="0"/>
          </a:p>
        </p:txBody>
      </p:sp>
      <p:sp>
        <p:nvSpPr>
          <p:cNvPr id="5" name="Text 1"/>
          <p:cNvSpPr/>
          <p:nvPr>
            <p:ph idx="103" type="title" hasCustomPrompt="1"/>
          </p:nvPr>
        </p:nvSpPr>
        <p:spPr>
          <a:xfrm>
            <a:off x="548640" y="1243584"/>
            <a:ext cx="11094415" cy="1097280"/>
          </a:xfrm>
          <a:prstGeom prst="rect">
            <a:avLst/>
          </a:prstGeom>
          <a:noFill/>
          <a:ln/>
        </p:spPr>
        <p:txBody>
          <a:bodyPr wrap="square" rtlCol="0"/>
          <a:lstStyle>
            <a:lvl1pPr algn="l" indent="0" marL="0">
              <a:lnSpc>
                <a:spcPct val="86000"/>
              </a:lnSpc>
              <a:buNone/>
              <a:defRPr lang="en-US" sz="3400" dirty="0">
                <a:solidFill>
                  <a:srgbClr val="FFFFFF"/>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86000"/>
              </a:lnSpc>
              <a:buNone/>
            </a:pPr>
            <a:endParaRPr lang="en-US" sz="34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EXO">
    <p:bg>
      <p:bgPr>
        <a:solidFill>
          <a:srgbClr val="000000"/>
        </a:solidFill>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5313" cy="201168"/>
          </a:xfrm>
          <a:prstGeom prst="rect">
            <a:avLst/>
          </a:prstGeom>
        </p:spPr>
      </p:pic>
      <p:sp>
        <p:nvSpPr>
          <p:cNvPr id="3" name="Text 0"/>
          <p:cNvSpPr/>
          <p:nvPr/>
        </p:nvSpPr>
        <p:spPr>
          <a:xfrm>
            <a:off x="5120640" y="365760"/>
            <a:ext cx="6522415" cy="237744"/>
          </a:xfrm>
          <a:prstGeom prst="rect">
            <a:avLst/>
          </a:prstGeom>
          <a:noFill/>
          <a:ln/>
        </p:spPr>
        <p:txBody>
          <a:bodyPr wrap="square" lIns="0" tIns="0" rIns="0" bIns="0" rtlCol="0" anchor="ctr"/>
          <a:lstStyle/>
          <a:p>
            <a:pPr algn="r" indent="0" marL="0">
              <a:buNone/>
            </a:pPr>
            <a:r>
              <a:rPr lang="en-US" sz="1200" spc="150" kern="0" dirty="0">
                <a:solidFill>
                  <a:srgbClr val="9AA8B6"/>
                </a:solidFill>
                <a:latin typeface="IBM Plex Mono" pitchFamily="34" charset="0"/>
                <a:ea typeface="IBM Plex Mono" pitchFamily="34" charset="-122"/>
                <a:cs typeface="IBM Plex Mono" pitchFamily="34" charset="-120"/>
              </a:rPr>
              <a:t>CONTROL DE GESTIÓN · ICMA901 · CONTROL 3 · AVANCE 1 DEL TIG</a:t>
            </a:r>
            <a:endParaRPr lang="en-US" sz="1200" dirty="0"/>
          </a:p>
        </p:txBody>
      </p:sp>
      <p:sp>
        <p:nvSpPr>
          <p:cNvPr id="4" name="Text 1"/>
          <p:cNvSpPr/>
          <p:nvPr>
            <p:ph idx="102" type="body" hasCustomPrompt="1"/>
          </p:nvPr>
        </p:nvSpPr>
        <p:spPr>
          <a:xfrm>
            <a:off x="548640" y="841248"/>
            <a:ext cx="7863840" cy="274320"/>
          </a:xfrm>
          <a:prstGeom prst="rect">
            <a:avLst/>
          </a:prstGeom>
          <a:noFill/>
          <a:ln/>
        </p:spPr>
        <p:txBody>
          <a:bodyPr wrap="square" rtlCol="0"/>
          <a:lstStyle>
            <a:lvl1pPr indent="0" marL="0">
              <a:buNone/>
              <a:defRPr lang="en-US" sz="1300" spc="150" kern="0" dirty="0">
                <a:solidFill>
                  <a:srgbClr val="9AA8B6"/>
                </a:solidFill>
                <a:latin typeface="IBM Plex Mono" pitchFamily="34" charset="0"/>
                <a:ea typeface="IBM Plex Mono" pitchFamily="34" charset="-122"/>
                <a:cs typeface="IBM Plex Mono" pitchFamily="34" charset="-120"/>
              </a:defRPr>
            </a:lvl1pPr>
          </a:lstStyle>
          <a:p>
            <a:pPr indent="0" marL="0">
              <a:buNone/>
            </a:pPr>
            <a:endParaRPr lang="en-US" sz="1300" dirty="0"/>
          </a:p>
        </p:txBody>
      </p:sp>
      <p:sp>
        <p:nvSpPr>
          <p:cNvPr id="5" name="Text 1"/>
          <p:cNvSpPr/>
          <p:nvPr>
            <p:ph idx="103" type="title" hasCustomPrompt="1"/>
          </p:nvPr>
        </p:nvSpPr>
        <p:spPr>
          <a:xfrm>
            <a:off x="548640" y="1243584"/>
            <a:ext cx="11094415" cy="1097280"/>
          </a:xfrm>
          <a:prstGeom prst="rect">
            <a:avLst/>
          </a:prstGeom>
          <a:noFill/>
          <a:ln/>
        </p:spPr>
        <p:txBody>
          <a:bodyPr wrap="square" rtlCol="0"/>
          <a:lstStyle>
            <a:lvl1pPr algn="l" indent="0" marL="0">
              <a:lnSpc>
                <a:spcPct val="86000"/>
              </a:lnSpc>
              <a:buNone/>
              <a:defRPr lang="en-US" sz="3400" dirty="0">
                <a:solidFill>
                  <a:srgbClr val="FFFFFF"/>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86000"/>
              </a:lnSpc>
              <a:buNone/>
            </a:pPr>
            <a:endParaRPr lang="en-US" sz="34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 Target="slide17.xml"/><Relationship Id="rId6" Type="http://schemas.openxmlformats.org/officeDocument/2006/relationships/slide" Target="slide17.xml"/><Relationship Id="rId7" Type="http://schemas.openxmlformats.org/officeDocument/2006/relationships/slide" Target="slide18.xml"/><Relationship Id="rId8" Type="http://schemas.openxmlformats.org/officeDocument/2006/relationships/slide" Target="slide18.xml"/><Relationship Id="rId9" Type="http://schemas.openxmlformats.org/officeDocument/2006/relationships/slide" Target="slide19.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0.xml"/><Relationship Id="rId13" Type="http://schemas.openxmlformats.org/officeDocument/2006/relationships/slide" Target="slide21.xml"/><Relationship Id="rId14" Type="http://schemas.openxmlformats.org/officeDocument/2006/relationships/slide" Target="slide21.xml"/><Relationship Id="rId15" Type="http://schemas.openxmlformats.org/officeDocument/2006/relationships/slide" Target="slide22.xml"/><Relationship Id="rId16" Type="http://schemas.openxmlformats.org/officeDocument/2006/relationships/slide" Target="slide22.xml"/><Relationship Id="rId17" Type="http://schemas.openxmlformats.org/officeDocument/2006/relationships/slide" Target="slide23.xml"/><Relationship Id="rId18" Type="http://schemas.openxmlformats.org/officeDocument/2006/relationships/slide" Target="slide23.xml"/><Relationship Id="rId19" Type="http://schemas.openxmlformats.org/officeDocument/2006/relationships/slide" Target="slide24.xml"/><Relationship Id="rId20" Type="http://schemas.openxmlformats.org/officeDocument/2006/relationships/slide" Target="slide24.xml"/><Relationship Id="rId21" Type="http://schemas.openxmlformats.org/officeDocument/2006/relationships/slide" Target="slide25.xml"/><Relationship Id="rId22" Type="http://schemas.openxmlformats.org/officeDocument/2006/relationships/slide" Target="slide25.xml"/><Relationship Id="rId23" Type="http://schemas.openxmlformats.org/officeDocument/2006/relationships/slide" Target="slide26.xml"/><Relationship Id="rId24" Type="http://schemas.openxmlformats.org/officeDocument/2006/relationships/slide" Target="slide26.xml"/><Relationship Id="rId25" Type="http://schemas.openxmlformats.org/officeDocument/2006/relationships/slide" Target="slide27.xml"/><Relationship Id="rId26" Type="http://schemas.openxmlformats.org/officeDocument/2006/relationships/slide" Target="slide27.xml"/><Relationship Id="rId27" Type="http://schemas.openxmlformats.org/officeDocument/2006/relationships/slideLayout" Target="../slideLayouts/slideLayout4.xml"/><Relationship Id="rId2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120640" y="365760"/>
            <a:ext cx="6522415" cy="237744"/>
          </a:xfrm>
          <a:prstGeom prst="rect">
            <a:avLst/>
          </a:prstGeom>
          <a:noFill/>
          <a:ln/>
        </p:spPr>
        <p:txBody>
          <a:bodyPr wrap="square" lIns="0" tIns="0" rIns="0" bIns="0" rtlCol="0" anchor="ctr"/>
          <a:lstStyle/>
          <a:p>
            <a:pPr algn="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UNAB · FACULTAD DE ECONOMÍA Y NEGOCIOS · OCTUBRE 2026</a:t>
            </a:r>
            <a:endParaRPr lang="es-CL" sz="1200" dirty="0"/>
          </a:p>
        </p:txBody>
      </p:sp>
      <p:sp>
        <p:nvSpPr>
          <p:cNvPr id="3" name="Text 1"/>
          <p:cNvSpPr txBox="1"/>
          <p:nvPr/>
        </p:nvSpPr>
        <p:spPr>
          <a:xfrm>
            <a:off x="548640" y="914400"/>
            <a:ext cx="11094415" cy="292608"/>
          </a:xfrm>
          <a:prstGeom prst="rect">
            <a:avLst/>
          </a:prstGeom>
          <a:noFill/>
          <a:ln/>
        </p:spPr>
        <p:txBody>
          <a:bodyPr wrap="square" lIns="0" tIns="0" rIns="0" bIns="0" rtlCol="0" anchor="ctr"/>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CONTROL 3</a:t>
            </a:r>
            <a:pPr indent="0" marL="0">
              <a:buNone/>
            </a:pPr>
            <a:r>
              <a:rPr lang="es-CL" altLang="en-US" sz="1400" spc="100" kern="0" dirty="0">
                <a:solidFill>
                  <a:schemeClr val="tx2"/>
                </a:solidFill>
                <a:latin typeface="IBM Plex Mono" pitchFamily="34" charset="0"/>
                <a:ea typeface="IBM Plex Mono" pitchFamily="34" charset="-122"/>
                <a:cs typeface="IBM Plex Mono" pitchFamily="34" charset="-120"/>
              </a:rPr>
              <a:t>  ·  AVANCE 1 DEL TRABAJO DE INVESTIGACIÓN GRUPAL</a:t>
            </a:r>
            <a:endParaRPr lang="es-CL" sz="1400" dirty="0"/>
          </a:p>
        </p:txBody>
      </p:sp>
      <p:sp>
        <p:nvSpPr>
          <p:cNvPr id="4" name="Text 2"/>
          <p:cNvSpPr txBox="1"/>
          <p:nvPr/>
        </p:nvSpPr>
        <p:spPr>
          <a:xfrm>
            <a:off x="548640" y="1325880"/>
            <a:ext cx="8961120" cy="1463040"/>
          </a:xfrm>
          <a:prstGeom prst="rect">
            <a:avLst/>
          </a:prstGeom>
          <a:noFill/>
          <a:ln/>
        </p:spPr>
        <p:txBody>
          <a:bodyPr wrap="square" lIns="0" tIns="0" rIns="0" bIns="0" rtlCol="0" anchor="t"/>
          <a:lstStyle/>
          <a:p>
            <a:pPr indent="0" marL="0">
              <a:lnSpc>
                <a:spcPct val="90000"/>
              </a:lnSpc>
              <a:buNone/>
            </a:pPr>
            <a:r>
              <a:rPr lang="es-CL" altLang="en-US" sz="5400" dirty="0">
                <a:solidFill>
                  <a:schemeClr val="tx1"/>
                </a:solidFill>
                <a:latin typeface="Archivo SemiExpanded ExtraBold" pitchFamily="34" charset="0"/>
                <a:ea typeface="Archivo SemiExpanded ExtraBold" pitchFamily="34" charset="-122"/>
                <a:cs typeface="Archivo SemiExpanded ExtraBold" pitchFamily="34" charset="-120"/>
              </a:rPr>
              <a:t>LUMINE MOTORS</a:t>
            </a:r>
            <a:endParaRPr lang="es-CL" sz="2000" dirty="0"/>
          </a:p>
          <a:p>
            <a:pPr indent="0" marL="0">
              <a:lnSpc>
                <a:spcPct val="90000"/>
              </a:lnSpc>
              <a:buNone/>
            </a:pPr>
            <a:r>
              <a:rPr lang="es-CL" altLang="en-US" sz="4000" i="1" dirty="0">
                <a:solidFill>
                  <a:schemeClr val="accent1"/>
                </a:solidFill>
                <a:latin typeface="Instrument Serif" pitchFamily="34" charset="0"/>
                <a:ea typeface="Instrument Serif" pitchFamily="34" charset="-122"/>
                <a:cs typeface="Instrument Serif" pitchFamily="34" charset="-120"/>
              </a:rPr>
              <a:t>análisis estratégico de un proyecto preoperativo.</a:t>
            </a:r>
            <a:endParaRPr lang="es-CL" sz="2000" dirty="0"/>
          </a:p>
        </p:txBody>
      </p:sp>
      <p:sp>
        <p:nvSpPr>
          <p:cNvPr id="5" name="Shape 3"/>
          <p:cNvSpPr/>
          <p:nvPr/>
        </p:nvSpPr>
        <p:spPr>
          <a:xfrm>
            <a:off x="548640" y="2697480"/>
            <a:ext cx="54864" cy="749808"/>
          </a:xfrm>
          <a:prstGeom prst="line">
            <a:avLst/>
          </a:prstGeom>
          <a:noFill/>
          <a:ln w="38100">
            <a:solidFill>
              <a:schemeClr val="accent1"/>
            </a:solidFill>
            <a:prstDash val="solid"/>
          </a:ln>
        </p:spPr>
      </p:sp>
      <p:sp>
        <p:nvSpPr>
          <p:cNvPr id="6" name="Text 4"/>
          <p:cNvSpPr txBox="1"/>
          <p:nvPr/>
        </p:nvSpPr>
        <p:spPr>
          <a:xfrm>
            <a:off x="822960" y="2670048"/>
            <a:ext cx="4206240" cy="804672"/>
          </a:xfrm>
          <a:prstGeom prst="rect">
            <a:avLst/>
          </a:prstGeom>
          <a:noFill/>
          <a:ln/>
        </p:spPr>
        <p:txBody>
          <a:bodyPr wrap="square" lIns="0" tIns="0" rIns="0" bIns="0" rtlCol="0" anchor="ctr"/>
          <a:lstStyle/>
          <a:p>
            <a:pPr indent="0" marL="0">
              <a:lnSpc>
                <a:spcPct val="105000"/>
              </a:lnSpc>
              <a:buNone/>
            </a:pPr>
            <a:r>
              <a:rPr lang="es-CL" altLang="en-US" sz="1700" dirty="0">
                <a:solidFill>
                  <a:schemeClr val="tx1"/>
                </a:solidFill>
                <a:latin typeface="Figtree" pitchFamily="34" charset="0"/>
                <a:ea typeface="Figtree" pitchFamily="34" charset="-122"/>
                <a:cs typeface="Figtree" pitchFamily="34" charset="-120"/>
              </a:rPr>
              <a:t>Introducción, comprensión del negocio, </a:t>
            </a:r>
            <a:pPr indent="0" marL="0">
              <a:lnSpc>
                <a:spcPct val="105000"/>
              </a:lnSpc>
              <a:buNone/>
            </a:pPr>
            <a:r>
              <a:rPr lang="es-CL" altLang="en-US" sz="1700" dirty="0">
                <a:solidFill>
                  <a:schemeClr val="tx2"/>
                </a:solidFill>
                <a:latin typeface="Figtree" pitchFamily="34" charset="0"/>
                <a:ea typeface="Figtree" pitchFamily="34" charset="-122"/>
                <a:cs typeface="Figtree" pitchFamily="34" charset="-120"/>
              </a:rPr>
              <a:t>declaraciones estratégicas y análisis estratégico.</a:t>
            </a:r>
            <a:endParaRPr lang="es-CL" sz="1700" dirty="0"/>
          </a:p>
        </p:txBody>
      </p:sp>
      <p:sp>
        <p:nvSpPr>
          <p:cNvPr id="7" name="Shape 5"/>
          <p:cNvSpPr/>
          <p:nvPr/>
        </p:nvSpPr>
        <p:spPr>
          <a:xfrm>
            <a:off x="548640" y="4526280"/>
            <a:ext cx="1097280" cy="0"/>
          </a:xfrm>
          <a:prstGeom prst="line">
            <a:avLst/>
          </a:prstGeom>
          <a:noFill/>
          <a:ln w="15875">
            <a:solidFill>
              <a:schemeClr val="accent1"/>
            </a:solidFill>
            <a:prstDash val="solid"/>
          </a:ln>
        </p:spPr>
      </p:sp>
      <p:sp>
        <p:nvSpPr>
          <p:cNvPr id="8" name="Text 6"/>
          <p:cNvSpPr txBox="1"/>
          <p:nvPr/>
        </p:nvSpPr>
        <p:spPr>
          <a:xfrm>
            <a:off x="548640" y="4672584"/>
            <a:ext cx="3200400" cy="1828800"/>
          </a:xfrm>
          <a:prstGeom prst="rect">
            <a:avLst/>
          </a:prstGeom>
          <a:noFill/>
          <a:ln/>
        </p:spPr>
        <p:txBody>
          <a:bodyPr wrap="square" lIns="0" tIns="0" rIns="0" bIns="0" rtlCol="0" anchor="t"/>
          <a:lstStyle/>
          <a:p>
            <a:pPr indent="0" marL="0">
              <a:lnSpc>
                <a:spcPct val="112000"/>
              </a:lnSpc>
              <a:buNone/>
            </a:pPr>
            <a:r>
              <a:rPr lang="es-CL" altLang="en-US" sz="1400" b="1" dirty="0">
                <a:solidFill>
                  <a:schemeClr val="tx1"/>
                </a:solidFill>
                <a:latin typeface="Figtree" pitchFamily="34" charset="0"/>
                <a:ea typeface="Figtree" pitchFamily="34" charset="-122"/>
                <a:cs typeface="Figtree" pitchFamily="34" charset="-120"/>
              </a:rPr>
              <a:t>Control de Gestión · ICMA901</a:t>
            </a:r>
            <a:endParaRPr lang="es-CL" sz="1400" dirty="0"/>
          </a:p>
          <a:p>
            <a:pPr indent="0" marL="0">
              <a:lnSpc>
                <a:spcPct val="112000"/>
              </a:lnSpc>
              <a:buNone/>
            </a:pPr>
            <a:r>
              <a:rPr lang="es-CL" altLang="en-US" sz="1400" dirty="0">
                <a:solidFill>
                  <a:schemeClr val="tx2"/>
                </a:solidFill>
                <a:latin typeface="Figtree" pitchFamily="34" charset="0"/>
                <a:ea typeface="Figtree" pitchFamily="34" charset="-122"/>
                <a:cs typeface="Figtree" pitchFamily="34" charset="-120"/>
              </a:rPr>
              <a:t>Sección 500 · NRC 4118</a:t>
            </a:r>
            <a:endParaRPr lang="es-CL" sz="1400" dirty="0"/>
          </a:p>
          <a:p>
            <a:pPr indent="0" marL="0">
              <a:lnSpc>
                <a:spcPct val="112000"/>
              </a:lnSpc>
              <a:buNone/>
            </a:pPr>
            <a:r>
              <a:rPr lang="es-CL" altLang="en-US" sz="1400" dirty="0">
                <a:solidFill>
                  <a:schemeClr val="tx2"/>
                </a:solidFill>
                <a:latin typeface="Figtree" pitchFamily="34" charset="0"/>
                <a:ea typeface="Figtree" pitchFamily="34" charset="-122"/>
                <a:cs typeface="Figtree" pitchFamily="34" charset="-120"/>
              </a:rPr>
              <a:t>Profesor Leonardo Lizana Contreras</a:t>
            </a:r>
            <a:endParaRPr lang="es-CL" sz="1400" dirty="0"/>
          </a:p>
          <a:p>
            <a:pPr indent="0" marL="0">
              <a:lnSpc>
                <a:spcPct val="112000"/>
              </a:lnSpc>
              <a:buNone/>
            </a:pPr>
            <a:r>
              <a:rPr lang="es-CL" altLang="en-US" sz="1400" dirty="0">
                <a:solidFill>
                  <a:schemeClr val="tx2"/>
                </a:solidFill>
                <a:latin typeface="Figtree" pitchFamily="34" charset="0"/>
                <a:ea typeface="Figtree" pitchFamily="34" charset="-122"/>
                <a:cs typeface="Figtree" pitchFamily="34" charset="-120"/>
              </a:rPr>
              <a:t>Diego Alarcón · Benjamín Torres</a:t>
            </a:r>
            <a:endParaRPr lang="es-CL" sz="1400" dirty="0"/>
          </a:p>
          <a:p>
            <a:pPr indent="0" marL="0">
              <a:lnSpc>
                <a:spcPct val="112000"/>
              </a:lnSpc>
              <a:buNone/>
            </a:pPr>
            <a:r>
              <a:rPr lang="es-CL" altLang="en-US" sz="1400" dirty="0">
                <a:solidFill>
                  <a:schemeClr val="tx2"/>
                </a:solidFill>
                <a:latin typeface="Figtree" pitchFamily="34" charset="0"/>
                <a:ea typeface="Figtree" pitchFamily="34" charset="-122"/>
                <a:cs typeface="Figtree" pitchFamily="34" charset="-120"/>
              </a:rPr>
              <a:t>Lukas Verdugo</a:t>
            </a:r>
            <a:endParaRPr lang="es-CL" sz="1400" dirty="0"/>
          </a:p>
          <a:p>
            <a:pPr indent="0" marL="0">
              <a:lnSpc>
                <a:spcPct val="112000"/>
              </a:lnSpc>
              <a:buNone/>
            </a:pPr>
            <a:r>
              <a:rPr lang="es-CL" altLang="en-US" sz="1400" dirty="0">
                <a:solidFill>
                  <a:schemeClr val="tx2"/>
                </a:solidFill>
                <a:latin typeface="Figtree" pitchFamily="34" charset="0"/>
                <a:ea typeface="Figtree" pitchFamily="34" charset="-122"/>
                <a:cs typeface="Figtree" pitchFamily="34" charset="-120"/>
              </a:rPr>
              <a:t>Santiago, 27 de octubre de 2026</a:t>
            </a:r>
            <a:endParaRPr lang="es-CL" sz="1400" dirty="0"/>
          </a:p>
        </p:txBody>
      </p:sp>
      <p:sp>
        <p:nvSpPr>
          <p:cNvPr id="9" name="Text 7"/>
          <p:cNvSpPr txBox="1"/>
          <p:nvPr/>
        </p:nvSpPr>
        <p:spPr>
          <a:xfrm>
            <a:off x="7985455" y="6355080"/>
            <a:ext cx="3657600" cy="237744"/>
          </a:xfrm>
          <a:prstGeom prst="rect">
            <a:avLst/>
          </a:prstGeom>
          <a:noFill/>
          <a:ln/>
        </p:spPr>
        <p:txBody>
          <a:bodyPr wrap="square" lIns="0" tIns="0" rIns="0" bIns="0" rtlCol="0" anchor="t"/>
          <a:lstStyle/>
          <a:p>
            <a:pPr algn="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ILUSTRACIÓN CONCEPTUAL DEL KIT</a:t>
            </a:r>
            <a:endParaRPr lang="es-CL"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02</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INTRODUCCIÓN · CONTEXTO GLOBAL Y NACIONAL</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EL PARQUE SE CONSERVA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y la bencina pesa cada vez más.</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Fuentes: Ministerio de Energía (2021), Estrategia Nacional de Electromovilidad; instrumento PEST (03) del análisis estratégico del equipo (Control de Gestión, 2026), que cita las fuentes primarias de transferencias y precios.</a:t>
            </a:r>
            <a:endParaRPr lang="es-CL" sz="1200" dirty="0"/>
          </a:p>
        </p:txBody>
      </p:sp>
      <p:sp>
        <p:nvSpPr>
          <p:cNvPr id="5" name="Shape 3"/>
          <p:cNvSpPr/>
          <p:nvPr/>
        </p:nvSpPr>
        <p:spPr>
          <a:xfrm>
            <a:off x="548640" y="2441448"/>
            <a:ext cx="3423818" cy="0"/>
          </a:xfrm>
          <a:prstGeom prst="line">
            <a:avLst/>
          </a:prstGeom>
          <a:noFill/>
          <a:ln w="9525">
            <a:solidFill>
              <a:schemeClr val="accent5"/>
            </a:solidFill>
            <a:prstDash val="solid"/>
          </a:ln>
        </p:spPr>
      </p:sp>
      <p:sp>
        <p:nvSpPr>
          <p:cNvPr id="6" name="Text 4"/>
          <p:cNvSpPr txBox="1"/>
          <p:nvPr/>
        </p:nvSpPr>
        <p:spPr>
          <a:xfrm>
            <a:off x="548640" y="2551176"/>
            <a:ext cx="3423818"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EL MUNDO Y CHILE</a:t>
            </a:r>
            <a:endParaRPr lang="es-CL" sz="1300" dirty="0"/>
          </a:p>
        </p:txBody>
      </p:sp>
      <p:sp>
        <p:nvSpPr>
          <p:cNvPr id="7" name="Text 5"/>
          <p:cNvSpPr txBox="1"/>
          <p:nvPr/>
        </p:nvSpPr>
        <p:spPr>
          <a:xfrm>
            <a:off x="548640" y="2807208"/>
            <a:ext cx="3423818" cy="1005840"/>
          </a:xfrm>
          <a:prstGeom prst="rect">
            <a:avLst/>
          </a:prstGeom>
          <a:noFill/>
          <a:ln/>
        </p:spPr>
        <p:txBody>
          <a:bodyPr wrap="square" lIns="0" tIns="0" rIns="0" bIns="0" rtlCol="0" anchor="ctr"/>
          <a:lstStyle/>
          <a:p>
            <a:pPr indent="0" marL="0">
              <a:buNone/>
            </a:pPr>
            <a:r>
              <a:rPr lang="es-CL" altLang="en-US" sz="7200" b="1" dirty="0">
                <a:solidFill>
                  <a:schemeClr val="tx1"/>
                </a:solidFill>
                <a:latin typeface="Archivo Condensed" pitchFamily="34" charset="0"/>
                <a:ea typeface="Archivo Condensed" pitchFamily="34" charset="-122"/>
                <a:cs typeface="Archivo Condensed" pitchFamily="34" charset="-120"/>
              </a:rPr>
              <a:t>2035</a:t>
            </a:r>
            <a:endParaRPr lang="es-CL" sz="7200" dirty="0"/>
          </a:p>
        </p:txBody>
      </p:sp>
      <p:sp>
        <p:nvSpPr>
          <p:cNvPr id="8" name="Text 6"/>
          <p:cNvSpPr txBox="1"/>
          <p:nvPr/>
        </p:nvSpPr>
        <p:spPr>
          <a:xfrm>
            <a:off x="548640" y="3858768"/>
            <a:ext cx="3332378" cy="86868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Desde ese año, los livianos nuevos que se vendan en Chile serían de cero emisiones.</a:t>
            </a:r>
            <a:endParaRPr lang="es-CL" sz="1800" dirty="0"/>
          </a:p>
        </p:txBody>
      </p:sp>
      <p:sp>
        <p:nvSpPr>
          <p:cNvPr id="9" name="Shape 7"/>
          <p:cNvSpPr/>
          <p:nvPr/>
        </p:nvSpPr>
        <p:spPr>
          <a:xfrm>
            <a:off x="4045610" y="3310128"/>
            <a:ext cx="265176" cy="0"/>
          </a:xfrm>
          <a:prstGeom prst="line">
            <a:avLst/>
          </a:prstGeom>
          <a:noFill/>
          <a:ln w="19050">
            <a:solidFill>
              <a:schemeClr val="accent3"/>
            </a:solidFill>
            <a:prstDash val="solid"/>
            <a:tailEnd type="triangle"/>
          </a:ln>
        </p:spPr>
      </p:sp>
      <p:sp>
        <p:nvSpPr>
          <p:cNvPr id="10" name="Shape 8"/>
          <p:cNvSpPr/>
          <p:nvPr/>
        </p:nvSpPr>
        <p:spPr>
          <a:xfrm>
            <a:off x="4383938" y="2441448"/>
            <a:ext cx="3423818" cy="0"/>
          </a:xfrm>
          <a:prstGeom prst="line">
            <a:avLst/>
          </a:prstGeom>
          <a:noFill/>
          <a:ln w="9525">
            <a:solidFill>
              <a:schemeClr val="accent5"/>
            </a:solidFill>
            <a:prstDash val="solid"/>
          </a:ln>
        </p:spPr>
      </p:sp>
      <p:sp>
        <p:nvSpPr>
          <p:cNvPr id="11" name="Text 9"/>
          <p:cNvSpPr txBox="1"/>
          <p:nvPr/>
        </p:nvSpPr>
        <p:spPr>
          <a:xfrm>
            <a:off x="4383938" y="2551176"/>
            <a:ext cx="3423818"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EL PARQUE SE CONSERVA</a:t>
            </a:r>
            <a:endParaRPr lang="es-CL" sz="1300" dirty="0"/>
          </a:p>
        </p:txBody>
      </p:sp>
      <p:sp>
        <p:nvSpPr>
          <p:cNvPr id="12" name="Text 10"/>
          <p:cNvSpPr txBox="1"/>
          <p:nvPr/>
        </p:nvSpPr>
        <p:spPr>
          <a:xfrm>
            <a:off x="4383938" y="2807208"/>
            <a:ext cx="3423818" cy="1005840"/>
          </a:xfrm>
          <a:prstGeom prst="rect">
            <a:avLst/>
          </a:prstGeom>
          <a:noFill/>
          <a:ln/>
        </p:spPr>
        <p:txBody>
          <a:bodyPr wrap="square" lIns="0" tIns="0" rIns="0" bIns="0" rtlCol="0" anchor="ctr"/>
          <a:lstStyle/>
          <a:p>
            <a:pPr indent="0" marL="0">
              <a:buNone/>
            </a:pPr>
            <a:r>
              <a:rPr lang="es-CL" altLang="en-US" sz="7200" b="1" dirty="0">
                <a:solidFill>
                  <a:schemeClr val="tx1"/>
                </a:solidFill>
                <a:latin typeface="Archivo Condensed" pitchFamily="34" charset="0"/>
                <a:ea typeface="Archivo Condensed" pitchFamily="34" charset="-122"/>
                <a:cs typeface="Archivo Condensed" pitchFamily="34" charset="-120"/>
              </a:rPr>
              <a:t>3,5</a:t>
            </a:r>
            <a:endParaRPr lang="es-CL" sz="7200" dirty="0"/>
          </a:p>
        </p:txBody>
      </p:sp>
      <p:sp>
        <p:nvSpPr>
          <p:cNvPr id="13" name="Text 11"/>
          <p:cNvSpPr txBox="1"/>
          <p:nvPr/>
        </p:nvSpPr>
        <p:spPr>
          <a:xfrm>
            <a:off x="4383938" y="3858768"/>
            <a:ext cx="3332378" cy="86868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autos usados transferidos por cada auto nuevo (2026).</a:t>
            </a:r>
            <a:endParaRPr lang="es-CL" sz="1800" dirty="0"/>
          </a:p>
        </p:txBody>
      </p:sp>
      <p:sp>
        <p:nvSpPr>
          <p:cNvPr id="14" name="Shape 12"/>
          <p:cNvSpPr/>
          <p:nvPr/>
        </p:nvSpPr>
        <p:spPr>
          <a:xfrm>
            <a:off x="7880909" y="3310128"/>
            <a:ext cx="265176" cy="0"/>
          </a:xfrm>
          <a:prstGeom prst="line">
            <a:avLst/>
          </a:prstGeom>
          <a:noFill/>
          <a:ln w="19050">
            <a:solidFill>
              <a:schemeClr val="accent3"/>
            </a:solidFill>
            <a:prstDash val="solid"/>
            <a:tailEnd type="triangle"/>
          </a:ln>
        </p:spPr>
      </p:sp>
      <p:sp>
        <p:nvSpPr>
          <p:cNvPr id="15" name="Shape 13"/>
          <p:cNvSpPr/>
          <p:nvPr/>
        </p:nvSpPr>
        <p:spPr>
          <a:xfrm>
            <a:off x="8219237" y="2441448"/>
            <a:ext cx="3423818" cy="0"/>
          </a:xfrm>
          <a:prstGeom prst="line">
            <a:avLst/>
          </a:prstGeom>
          <a:noFill/>
          <a:ln w="9525">
            <a:solidFill>
              <a:schemeClr val="accent1"/>
            </a:solidFill>
            <a:prstDash val="solid"/>
          </a:ln>
        </p:spPr>
      </p:sp>
      <p:sp>
        <p:nvSpPr>
          <p:cNvPr id="16" name="Text 14"/>
          <p:cNvSpPr txBox="1"/>
          <p:nvPr/>
        </p:nvSpPr>
        <p:spPr>
          <a:xfrm>
            <a:off x="8219237" y="2551176"/>
            <a:ext cx="342381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EL USO SE ENCARECE</a:t>
            </a:r>
            <a:endParaRPr lang="es-CL" sz="1300" dirty="0"/>
          </a:p>
        </p:txBody>
      </p:sp>
      <p:pic>
        <p:nvPicPr>
          <p:cNvPr id="17" name="Image 0" descr="/home/user/lumine/control-3/generador/assets/brillo.png">    </p:cNvPr>
          <p:cNvPicPr>
            <a:picLocks noChangeAspect="1"/>
          </p:cNvPicPr>
          <p:nvPr/>
        </p:nvPicPr>
        <p:blipFill>
          <a:blip r:embed="rId1"/>
          <a:stretch>
            <a:fillRect/>
          </a:stretch>
        </p:blipFill>
        <p:spPr>
          <a:xfrm>
            <a:off x="7762037" y="2578608"/>
            <a:ext cx="3291840" cy="1645920"/>
          </a:xfrm>
          <a:prstGeom prst="rect">
            <a:avLst/>
          </a:prstGeom>
        </p:spPr>
      </p:pic>
      <p:sp>
        <p:nvSpPr>
          <p:cNvPr id="18" name="Text 15"/>
          <p:cNvSpPr txBox="1"/>
          <p:nvPr/>
        </p:nvSpPr>
        <p:spPr>
          <a:xfrm>
            <a:off x="8219237" y="2807208"/>
            <a:ext cx="3423818" cy="1005840"/>
          </a:xfrm>
          <a:prstGeom prst="rect">
            <a:avLst/>
          </a:prstGeom>
          <a:noFill/>
          <a:ln/>
        </p:spPr>
        <p:txBody>
          <a:bodyPr wrap="square" lIns="0" tIns="0" rIns="0" bIns="0" rtlCol="0" anchor="ctr"/>
          <a:lstStyle/>
          <a:p>
            <a:pPr indent="0" marL="0">
              <a:buNone/>
            </a:pPr>
            <a:r>
              <a:rPr lang="es-CL" altLang="en-US" sz="7200" b="1" dirty="0">
                <a:solidFill>
                  <a:schemeClr val="accent1"/>
                </a:solidFill>
                <a:latin typeface="Archivo Condensed" pitchFamily="34" charset="0"/>
                <a:ea typeface="Archivo Condensed" pitchFamily="34" charset="-122"/>
                <a:cs typeface="Archivo Condensed" pitchFamily="34" charset="-120"/>
              </a:rPr>
              <a:t>$1.541</a:t>
            </a:r>
            <a:endParaRPr lang="es-CL" sz="7200" dirty="0"/>
          </a:p>
        </p:txBody>
      </p:sp>
      <p:sp>
        <p:nvSpPr>
          <p:cNvPr id="19" name="Text 16"/>
          <p:cNvSpPr txBox="1"/>
          <p:nvPr/>
        </p:nvSpPr>
        <p:spPr>
          <a:xfrm>
            <a:off x="8219237" y="3858768"/>
            <a:ext cx="3332378" cy="868680"/>
          </a:xfrm>
          <a:prstGeom prst="rect">
            <a:avLst/>
          </a:prstGeom>
          <a:noFill/>
          <a:ln/>
        </p:spPr>
        <p:txBody>
          <a:bodyPr wrap="square" lIns="0" tIns="0" rIns="0" bIns="0" rtlCol="0" anchor="t"/>
          <a:lstStyle/>
          <a:p>
            <a:pPr indent="0" marL="0">
              <a:buNone/>
            </a:pPr>
            <a:r>
              <a:rPr lang="es-CL" altLang="en-US" sz="1800" dirty="0">
                <a:solidFill>
                  <a:schemeClr val="tx2"/>
                </a:solidFill>
                <a:latin typeface="Figtree" pitchFamily="34" charset="0"/>
                <a:ea typeface="Figtree" pitchFamily="34" charset="-122"/>
                <a:cs typeface="Figtree" pitchFamily="34" charset="-120"/>
              </a:rPr>
              <a:t>por litro de bencina 93 en la RM, desde $1.149.</a:t>
            </a:r>
            <a:endParaRPr lang="es-CL" sz="1800" dirty="0"/>
          </a:p>
        </p:txBody>
      </p:sp>
      <p:sp>
        <p:nvSpPr>
          <p:cNvPr id="20" name="Shape 17"/>
          <p:cNvSpPr/>
          <p:nvPr/>
        </p:nvSpPr>
        <p:spPr>
          <a:xfrm>
            <a:off x="548640" y="4910328"/>
            <a:ext cx="11094415" cy="1243584"/>
          </a:xfrm>
          <a:prstGeom prst="rect">
            <a:avLst/>
          </a:prstGeom>
          <a:solidFill>
            <a:srgbClr val="062A45"/>
          </a:solidFill>
          <a:ln w="15875">
            <a:solidFill>
              <a:schemeClr val="accent1"/>
            </a:solidFill>
            <a:prstDash val="solid"/>
          </a:ln>
        </p:spPr>
      </p:sp>
      <p:sp>
        <p:nvSpPr>
          <p:cNvPr id="21" name="Shape 18"/>
          <p:cNvSpPr/>
          <p:nvPr/>
        </p:nvSpPr>
        <p:spPr>
          <a:xfrm>
            <a:off x="493776" y="4855464"/>
            <a:ext cx="155448" cy="0"/>
          </a:xfrm>
          <a:prstGeom prst="line">
            <a:avLst/>
          </a:prstGeom>
          <a:noFill/>
          <a:ln w="15875">
            <a:solidFill>
              <a:schemeClr val="accent1"/>
            </a:solidFill>
            <a:prstDash val="solid"/>
          </a:ln>
        </p:spPr>
      </p:sp>
      <p:sp>
        <p:nvSpPr>
          <p:cNvPr id="22" name="Shape 19"/>
          <p:cNvSpPr/>
          <p:nvPr/>
        </p:nvSpPr>
        <p:spPr>
          <a:xfrm>
            <a:off x="493776" y="4855464"/>
            <a:ext cx="0" cy="155448"/>
          </a:xfrm>
          <a:prstGeom prst="line">
            <a:avLst/>
          </a:prstGeom>
          <a:noFill/>
          <a:ln w="15875">
            <a:solidFill>
              <a:schemeClr val="accent1"/>
            </a:solidFill>
            <a:prstDash val="solid"/>
          </a:ln>
        </p:spPr>
      </p:sp>
      <p:sp>
        <p:nvSpPr>
          <p:cNvPr id="23" name="Shape 20"/>
          <p:cNvSpPr/>
          <p:nvPr/>
        </p:nvSpPr>
        <p:spPr>
          <a:xfrm>
            <a:off x="11542471" y="4855464"/>
            <a:ext cx="155448" cy="0"/>
          </a:xfrm>
          <a:prstGeom prst="line">
            <a:avLst/>
          </a:prstGeom>
          <a:noFill/>
          <a:ln w="15875">
            <a:solidFill>
              <a:schemeClr val="accent1"/>
            </a:solidFill>
            <a:prstDash val="solid"/>
          </a:ln>
        </p:spPr>
      </p:sp>
      <p:sp>
        <p:nvSpPr>
          <p:cNvPr id="24" name="Shape 21"/>
          <p:cNvSpPr/>
          <p:nvPr/>
        </p:nvSpPr>
        <p:spPr>
          <a:xfrm>
            <a:off x="11697919" y="4855464"/>
            <a:ext cx="0" cy="155448"/>
          </a:xfrm>
          <a:prstGeom prst="line">
            <a:avLst/>
          </a:prstGeom>
          <a:noFill/>
          <a:ln w="15875">
            <a:solidFill>
              <a:schemeClr val="accent1"/>
            </a:solidFill>
            <a:prstDash val="solid"/>
          </a:ln>
        </p:spPr>
      </p:sp>
      <p:sp>
        <p:nvSpPr>
          <p:cNvPr id="25" name="Shape 22"/>
          <p:cNvSpPr/>
          <p:nvPr/>
        </p:nvSpPr>
        <p:spPr>
          <a:xfrm>
            <a:off x="493776" y="6208776"/>
            <a:ext cx="155448" cy="0"/>
          </a:xfrm>
          <a:prstGeom prst="line">
            <a:avLst/>
          </a:prstGeom>
          <a:noFill/>
          <a:ln w="15875">
            <a:solidFill>
              <a:schemeClr val="accent1"/>
            </a:solidFill>
            <a:prstDash val="solid"/>
          </a:ln>
        </p:spPr>
      </p:sp>
      <p:sp>
        <p:nvSpPr>
          <p:cNvPr id="26" name="Shape 23"/>
          <p:cNvSpPr/>
          <p:nvPr/>
        </p:nvSpPr>
        <p:spPr>
          <a:xfrm>
            <a:off x="493776" y="6053328"/>
            <a:ext cx="0" cy="155448"/>
          </a:xfrm>
          <a:prstGeom prst="line">
            <a:avLst/>
          </a:prstGeom>
          <a:noFill/>
          <a:ln w="15875">
            <a:solidFill>
              <a:schemeClr val="accent1"/>
            </a:solidFill>
            <a:prstDash val="solid"/>
          </a:ln>
        </p:spPr>
      </p:sp>
      <p:sp>
        <p:nvSpPr>
          <p:cNvPr id="27" name="Shape 24"/>
          <p:cNvSpPr/>
          <p:nvPr/>
        </p:nvSpPr>
        <p:spPr>
          <a:xfrm>
            <a:off x="11542471" y="6208776"/>
            <a:ext cx="155448" cy="0"/>
          </a:xfrm>
          <a:prstGeom prst="line">
            <a:avLst/>
          </a:prstGeom>
          <a:noFill/>
          <a:ln w="15875">
            <a:solidFill>
              <a:schemeClr val="accent1"/>
            </a:solidFill>
            <a:prstDash val="solid"/>
          </a:ln>
        </p:spPr>
      </p:sp>
      <p:sp>
        <p:nvSpPr>
          <p:cNvPr id="28" name="Shape 25"/>
          <p:cNvSpPr/>
          <p:nvPr/>
        </p:nvSpPr>
        <p:spPr>
          <a:xfrm>
            <a:off x="11697919" y="6053328"/>
            <a:ext cx="0" cy="155448"/>
          </a:xfrm>
          <a:prstGeom prst="line">
            <a:avLst/>
          </a:prstGeom>
          <a:noFill/>
          <a:ln w="15875">
            <a:solidFill>
              <a:schemeClr val="accent1"/>
            </a:solidFill>
            <a:prstDash val="solid"/>
          </a:ln>
        </p:spPr>
      </p:sp>
      <p:sp>
        <p:nvSpPr>
          <p:cNvPr id="29" name="Text 26"/>
          <p:cNvSpPr txBox="1"/>
          <p:nvPr/>
        </p:nvSpPr>
        <p:spPr>
          <a:xfrm>
            <a:off x="822960" y="5074920"/>
            <a:ext cx="27432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EL PROBLEMA</a:t>
            </a:r>
            <a:endParaRPr lang="es-CL" sz="1300" dirty="0"/>
          </a:p>
        </p:txBody>
      </p:sp>
      <p:sp>
        <p:nvSpPr>
          <p:cNvPr id="30" name="Text 27"/>
          <p:cNvSpPr txBox="1"/>
          <p:nvPr/>
        </p:nvSpPr>
        <p:spPr>
          <a:xfrm>
            <a:off x="822960" y="5349240"/>
            <a:ext cx="10545775" cy="713232"/>
          </a:xfrm>
          <a:prstGeom prst="rect">
            <a:avLst/>
          </a:prstGeom>
          <a:noFill/>
          <a:ln/>
        </p:spPr>
        <p:txBody>
          <a:bodyPr wrap="square" lIns="0" tIns="0" rIns="0" bIns="0" rtlCol="0" anchor="ctr"/>
          <a:lstStyle/>
          <a:p>
            <a:pPr indent="0" marL="0">
              <a:buNone/>
            </a:pPr>
            <a:r>
              <a:rPr lang="es-CL" altLang="en-US" sz="2200" dirty="0">
                <a:solidFill>
                  <a:schemeClr val="tx1"/>
                </a:solidFill>
                <a:latin typeface="Figtree" pitchFamily="34" charset="0"/>
                <a:ea typeface="Figtree" pitchFamily="34" charset="-122"/>
                <a:cs typeface="Figtree" pitchFamily="34" charset="-120"/>
              </a:rPr>
              <a:t>Quien conserva su auto a combustión solo puede </a:t>
            </a:r>
            <a:pPr indent="0" marL="0">
              <a:buNone/>
            </a:pPr>
            <a:r>
              <a:rPr lang="es-CL" altLang="en-US" sz="2200" b="1" dirty="0">
                <a:solidFill>
                  <a:schemeClr val="accent1"/>
                </a:solidFill>
                <a:latin typeface="Figtree" pitchFamily="34" charset="0"/>
                <a:ea typeface="Figtree" pitchFamily="34" charset="-122"/>
                <a:cs typeface="Figtree" pitchFamily="34" charset="-120"/>
              </a:rPr>
              <a:t>seguir pagando la bencina o cambiar de auto.</a:t>
            </a:r>
            <a:endParaRPr lang="es-CL" sz="2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03</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COMPRENSIÓN DEL NEGOCIO · LA SOLUCIÓN</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UN KIT QUE SE SUMA,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no reemplaza.</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contexto vigente del proyecto Lumine Motors. Ilustración del kit, no plano de fabricación. El ahorro es una estimación de ingeniería, no medida en autos chilenos.</a:t>
            </a:r>
            <a:endParaRPr lang="es-CL" sz="1200" dirty="0"/>
          </a:p>
        </p:txBody>
      </p:sp>
      <p:pic>
        <p:nvPicPr>
          <p:cNvPr id="5" name="Image 0" descr="Ilustración del kit: motor original adelante, unidad de control, banco de baterías y motor eléctrico en el eje trasero">    </p:cNvPr>
          <p:cNvPicPr>
            <a:picLocks noChangeAspect="1"/>
          </p:cNvPicPr>
          <p:nvPr/>
        </p:nvPicPr>
        <p:blipFill>
          <a:blip r:embed="rId1"/>
          <a:stretch>
            <a:fillRect/>
          </a:stretch>
        </p:blipFill>
        <p:spPr>
          <a:xfrm>
            <a:off x="640080" y="2350008"/>
            <a:ext cx="7040880" cy="2170938"/>
          </a:xfrm>
          <a:prstGeom prst="rect">
            <a:avLst/>
          </a:prstGeom>
        </p:spPr>
      </p:pic>
      <p:sp>
        <p:nvSpPr>
          <p:cNvPr id="6" name="Shape 3"/>
          <p:cNvSpPr/>
          <p:nvPr/>
        </p:nvSpPr>
        <p:spPr>
          <a:xfrm>
            <a:off x="548640" y="4639818"/>
            <a:ext cx="7223760" cy="0"/>
          </a:xfrm>
          <a:prstGeom prst="line">
            <a:avLst/>
          </a:prstGeom>
          <a:noFill/>
          <a:ln w="9525">
            <a:solidFill>
              <a:schemeClr val="accent5"/>
            </a:solidFill>
            <a:prstDash val="solid"/>
          </a:ln>
        </p:spPr>
      </p:sp>
      <p:sp>
        <p:nvSpPr>
          <p:cNvPr id="7" name="Shape 4"/>
          <p:cNvSpPr/>
          <p:nvPr/>
        </p:nvSpPr>
        <p:spPr>
          <a:xfrm>
            <a:off x="548640" y="4786122"/>
            <a:ext cx="457200" cy="310896"/>
          </a:xfrm>
          <a:prstGeom prst="rect">
            <a:avLst/>
          </a:prstGeom>
          <a:solidFill>
            <a:schemeClr val="accent5"/>
          </a:solidFill>
          <a:ln/>
        </p:spPr>
      </p:sp>
      <p:sp>
        <p:nvSpPr>
          <p:cNvPr id="8" name="Text 5"/>
          <p:cNvSpPr txBox="1"/>
          <p:nvPr/>
        </p:nvSpPr>
        <p:spPr>
          <a:xfrm>
            <a:off x="548640" y="4786122"/>
            <a:ext cx="457200"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01</a:t>
            </a:r>
            <a:endParaRPr lang="es-CL" sz="1400" dirty="0"/>
          </a:p>
        </p:txBody>
      </p:sp>
      <p:sp>
        <p:nvSpPr>
          <p:cNvPr id="9" name="Text 6"/>
          <p:cNvSpPr txBox="1"/>
          <p:nvPr/>
        </p:nvSpPr>
        <p:spPr>
          <a:xfrm>
            <a:off x="1097280" y="4786122"/>
            <a:ext cx="1239012" cy="310896"/>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MOTOR ORIGINAL</a:t>
            </a:r>
            <a:endParaRPr lang="es-CL" sz="1200" dirty="0"/>
          </a:p>
        </p:txBody>
      </p:sp>
      <p:sp>
        <p:nvSpPr>
          <p:cNvPr id="10" name="Text 7"/>
          <p:cNvSpPr txBox="1"/>
          <p:nvPr/>
        </p:nvSpPr>
        <p:spPr>
          <a:xfrm>
            <a:off x="548640" y="5188458"/>
            <a:ext cx="1668780" cy="50292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Intacto, con su tracción</a:t>
            </a:r>
            <a:endParaRPr lang="es-CL" sz="1600" dirty="0"/>
          </a:p>
        </p:txBody>
      </p:sp>
      <p:sp>
        <p:nvSpPr>
          <p:cNvPr id="11" name="Shape 8"/>
          <p:cNvSpPr/>
          <p:nvPr/>
        </p:nvSpPr>
        <p:spPr>
          <a:xfrm>
            <a:off x="2354580" y="4786122"/>
            <a:ext cx="457200" cy="310896"/>
          </a:xfrm>
          <a:prstGeom prst="rect">
            <a:avLst/>
          </a:prstGeom>
          <a:solidFill>
            <a:schemeClr val="accent1"/>
          </a:solidFill>
          <a:ln/>
        </p:spPr>
      </p:sp>
      <p:sp>
        <p:nvSpPr>
          <p:cNvPr id="12" name="Text 9"/>
          <p:cNvSpPr txBox="1"/>
          <p:nvPr/>
        </p:nvSpPr>
        <p:spPr>
          <a:xfrm>
            <a:off x="2354580" y="4786122"/>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02</a:t>
            </a:r>
            <a:endParaRPr lang="es-CL" sz="1400" dirty="0"/>
          </a:p>
        </p:txBody>
      </p:sp>
      <p:sp>
        <p:nvSpPr>
          <p:cNvPr id="13" name="Text 10"/>
          <p:cNvSpPr txBox="1"/>
          <p:nvPr/>
        </p:nvSpPr>
        <p:spPr>
          <a:xfrm>
            <a:off x="2903220" y="4786122"/>
            <a:ext cx="1239012" cy="310896"/>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UNIDAD DE CONTROL</a:t>
            </a:r>
            <a:endParaRPr lang="es-CL" sz="1200" dirty="0"/>
          </a:p>
        </p:txBody>
      </p:sp>
      <p:sp>
        <p:nvSpPr>
          <p:cNvPr id="14" name="Text 11"/>
          <p:cNvSpPr txBox="1"/>
          <p:nvPr/>
        </p:nvSpPr>
        <p:spPr>
          <a:xfrm>
            <a:off x="2354580" y="5188458"/>
            <a:ext cx="1668780" cy="50292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Decide cuándo asistir</a:t>
            </a:r>
            <a:endParaRPr lang="es-CL" sz="1600" dirty="0"/>
          </a:p>
        </p:txBody>
      </p:sp>
      <p:sp>
        <p:nvSpPr>
          <p:cNvPr id="15" name="Shape 12"/>
          <p:cNvSpPr/>
          <p:nvPr/>
        </p:nvSpPr>
        <p:spPr>
          <a:xfrm>
            <a:off x="4160520" y="4786122"/>
            <a:ext cx="457200" cy="310896"/>
          </a:xfrm>
          <a:prstGeom prst="rect">
            <a:avLst/>
          </a:prstGeom>
          <a:solidFill>
            <a:schemeClr val="accent1"/>
          </a:solidFill>
          <a:ln/>
        </p:spPr>
      </p:sp>
      <p:sp>
        <p:nvSpPr>
          <p:cNvPr id="16" name="Text 13"/>
          <p:cNvSpPr txBox="1"/>
          <p:nvPr/>
        </p:nvSpPr>
        <p:spPr>
          <a:xfrm>
            <a:off x="4160520" y="4786122"/>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03</a:t>
            </a:r>
            <a:endParaRPr lang="es-CL" sz="1400" dirty="0"/>
          </a:p>
        </p:txBody>
      </p:sp>
      <p:sp>
        <p:nvSpPr>
          <p:cNvPr id="17" name="Text 14"/>
          <p:cNvSpPr txBox="1"/>
          <p:nvPr/>
        </p:nvSpPr>
        <p:spPr>
          <a:xfrm>
            <a:off x="4709160" y="4786122"/>
            <a:ext cx="1239012" cy="310896"/>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BATERÍAS</a:t>
            </a:r>
            <a:endParaRPr lang="es-CL" sz="1200" dirty="0"/>
          </a:p>
        </p:txBody>
      </p:sp>
      <p:sp>
        <p:nvSpPr>
          <p:cNvPr id="18" name="Text 15"/>
          <p:cNvSpPr txBox="1"/>
          <p:nvPr/>
        </p:nvSpPr>
        <p:spPr>
          <a:xfrm>
            <a:off x="4160520" y="5188458"/>
            <a:ext cx="1668780" cy="50292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Guardan energía al frenar</a:t>
            </a:r>
            <a:endParaRPr lang="es-CL" sz="1600" dirty="0"/>
          </a:p>
        </p:txBody>
      </p:sp>
      <p:sp>
        <p:nvSpPr>
          <p:cNvPr id="19" name="Shape 16"/>
          <p:cNvSpPr/>
          <p:nvPr/>
        </p:nvSpPr>
        <p:spPr>
          <a:xfrm>
            <a:off x="5966460" y="4786122"/>
            <a:ext cx="457200" cy="310896"/>
          </a:xfrm>
          <a:prstGeom prst="rect">
            <a:avLst/>
          </a:prstGeom>
          <a:solidFill>
            <a:schemeClr val="accent1"/>
          </a:solidFill>
          <a:ln/>
        </p:spPr>
      </p:sp>
      <p:sp>
        <p:nvSpPr>
          <p:cNvPr id="20" name="Text 17"/>
          <p:cNvSpPr txBox="1"/>
          <p:nvPr/>
        </p:nvSpPr>
        <p:spPr>
          <a:xfrm>
            <a:off x="5966460" y="4786122"/>
            <a:ext cx="457200"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04</a:t>
            </a:r>
            <a:endParaRPr lang="es-CL" sz="1400" dirty="0"/>
          </a:p>
        </p:txBody>
      </p:sp>
      <p:sp>
        <p:nvSpPr>
          <p:cNvPr id="21" name="Text 18"/>
          <p:cNvSpPr txBox="1"/>
          <p:nvPr/>
        </p:nvSpPr>
        <p:spPr>
          <a:xfrm>
            <a:off x="6515100" y="4786122"/>
            <a:ext cx="1239012" cy="310896"/>
          </a:xfrm>
          <a:prstGeom prst="rect">
            <a:avLst/>
          </a:prstGeom>
          <a:noFill/>
          <a:ln/>
        </p:spPr>
        <p:txBody>
          <a:bodyPr wrap="square" lIns="0" tIns="0" rIns="0" bIns="0" rtlCol="0" anchor="ctr"/>
          <a:lstStyle/>
          <a:p>
            <a:pPr indent="0" marL="0">
              <a:buNone/>
            </a:pPr>
            <a:r>
              <a:rPr lang="es-CL" altLang="en-US" sz="1200" spc="50" kern="0" dirty="0">
                <a:solidFill>
                  <a:schemeClr val="tx1"/>
                </a:solidFill>
                <a:latin typeface="IBM Plex Mono" pitchFamily="34" charset="0"/>
                <a:ea typeface="IBM Plex Mono" pitchFamily="34" charset="-122"/>
                <a:cs typeface="IBM Plex Mono" pitchFamily="34" charset="-120"/>
              </a:rPr>
              <a:t>MOTOR ELÉCTRICO</a:t>
            </a:r>
            <a:endParaRPr lang="es-CL" sz="1200" dirty="0"/>
          </a:p>
        </p:txBody>
      </p:sp>
      <p:sp>
        <p:nvSpPr>
          <p:cNvPr id="22" name="Text 19"/>
          <p:cNvSpPr txBox="1"/>
          <p:nvPr/>
        </p:nvSpPr>
        <p:spPr>
          <a:xfrm>
            <a:off x="5966460" y="5188458"/>
            <a:ext cx="1668780" cy="50292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Asiste desde el eje trasero</a:t>
            </a:r>
            <a:endParaRPr lang="es-CL" sz="1600" dirty="0"/>
          </a:p>
        </p:txBody>
      </p:sp>
      <p:sp>
        <p:nvSpPr>
          <p:cNvPr id="23" name="Text 20"/>
          <p:cNvSpPr txBox="1"/>
          <p:nvPr/>
        </p:nvSpPr>
        <p:spPr>
          <a:xfrm>
            <a:off x="548640" y="5870448"/>
            <a:ext cx="7589520" cy="36576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Freno, ABS y control de estabilidad originales: </a:t>
            </a:r>
            <a:pPr indent="0" marL="0">
              <a:buNone/>
            </a:pPr>
            <a:r>
              <a:rPr lang="es-CL" altLang="en-US" sz="1600" dirty="0">
                <a:solidFill>
                  <a:schemeClr val="accent1"/>
                </a:solidFill>
                <a:latin typeface="Figtree" pitchFamily="34" charset="0"/>
                <a:ea typeface="Figtree" pitchFamily="34" charset="-122"/>
                <a:cs typeface="Figtree" pitchFamily="34" charset="-120"/>
              </a:rPr>
              <a:t>siempre mandan sobre el kit.</a:t>
            </a:r>
            <a:endParaRPr lang="es-CL" sz="1600" dirty="0"/>
          </a:p>
        </p:txBody>
      </p:sp>
      <p:sp>
        <p:nvSpPr>
          <p:cNvPr id="24" name="Shape 21"/>
          <p:cNvSpPr/>
          <p:nvPr/>
        </p:nvSpPr>
        <p:spPr>
          <a:xfrm>
            <a:off x="8183880" y="2395728"/>
            <a:ext cx="3459175" cy="0"/>
          </a:xfrm>
          <a:prstGeom prst="line">
            <a:avLst/>
          </a:prstGeom>
          <a:noFill/>
          <a:ln w="9525">
            <a:solidFill>
              <a:schemeClr val="accent1"/>
            </a:solidFill>
            <a:prstDash val="solid"/>
          </a:ln>
        </p:spPr>
      </p:sp>
      <p:sp>
        <p:nvSpPr>
          <p:cNvPr id="25" name="Text 22"/>
          <p:cNvSpPr txBox="1"/>
          <p:nvPr/>
        </p:nvSpPr>
        <p:spPr>
          <a:xfrm>
            <a:off x="8183880" y="2487168"/>
            <a:ext cx="345917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PREOPERATIVA</a:t>
            </a:r>
            <a:endParaRPr lang="es-CL" sz="1300" dirty="0"/>
          </a:p>
        </p:txBody>
      </p:sp>
      <p:sp>
        <p:nvSpPr>
          <p:cNvPr id="26" name="Text 23"/>
          <p:cNvSpPr txBox="1"/>
          <p:nvPr/>
        </p:nvSpPr>
        <p:spPr>
          <a:xfrm>
            <a:off x="8183880" y="2807208"/>
            <a:ext cx="3459175" cy="777240"/>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Sin taller, personal, clientes ni ventas</a:t>
            </a:r>
            <a:endParaRPr lang="es-CL" sz="1800" dirty="0"/>
          </a:p>
        </p:txBody>
      </p:sp>
      <p:sp>
        <p:nvSpPr>
          <p:cNvPr id="27" name="Shape 24"/>
          <p:cNvSpPr/>
          <p:nvPr/>
        </p:nvSpPr>
        <p:spPr>
          <a:xfrm>
            <a:off x="8183880" y="3657600"/>
            <a:ext cx="3459175" cy="0"/>
          </a:xfrm>
          <a:prstGeom prst="line">
            <a:avLst/>
          </a:prstGeom>
          <a:noFill/>
          <a:ln w="9525">
            <a:solidFill>
              <a:schemeClr val="accent5"/>
            </a:solidFill>
            <a:prstDash val="solid"/>
          </a:ln>
        </p:spPr>
      </p:sp>
      <p:sp>
        <p:nvSpPr>
          <p:cNvPr id="28" name="Text 25"/>
          <p:cNvSpPr txBox="1"/>
          <p:nvPr/>
        </p:nvSpPr>
        <p:spPr>
          <a:xfrm>
            <a:off x="8183880" y="3749040"/>
            <a:ext cx="3459175"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CONTEMPLARÍA</a:t>
            </a:r>
            <a:endParaRPr lang="es-CL" sz="1300" dirty="0"/>
          </a:p>
        </p:txBody>
      </p:sp>
      <p:sp>
        <p:nvSpPr>
          <p:cNvPr id="29" name="Text 26"/>
          <p:cNvSpPr txBox="1"/>
          <p:nvPr/>
        </p:nvSpPr>
        <p:spPr>
          <a:xfrm>
            <a:off x="8183880" y="4069080"/>
            <a:ext cx="3459175" cy="777240"/>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Un taller que instala hibridación aditiva no enchufable</a:t>
            </a:r>
            <a:endParaRPr lang="es-CL" sz="1800" dirty="0"/>
          </a:p>
        </p:txBody>
      </p:sp>
      <p:sp>
        <p:nvSpPr>
          <p:cNvPr id="30" name="Shape 27"/>
          <p:cNvSpPr/>
          <p:nvPr/>
        </p:nvSpPr>
        <p:spPr>
          <a:xfrm>
            <a:off x="8183880" y="4919472"/>
            <a:ext cx="3459175" cy="0"/>
          </a:xfrm>
          <a:prstGeom prst="line">
            <a:avLst/>
          </a:prstGeom>
          <a:noFill/>
          <a:ln w="9525">
            <a:solidFill>
              <a:schemeClr val="accent5"/>
            </a:solidFill>
            <a:prstDash val="solid"/>
          </a:ln>
        </p:spPr>
      </p:sp>
      <p:sp>
        <p:nvSpPr>
          <p:cNvPr id="31" name="Text 28"/>
          <p:cNvSpPr txBox="1"/>
          <p:nvPr/>
        </p:nvSpPr>
        <p:spPr>
          <a:xfrm>
            <a:off x="8183880" y="5010912"/>
            <a:ext cx="3459175"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AHORRO POR COMPROBAR</a:t>
            </a:r>
            <a:endParaRPr lang="es-CL" sz="1300" dirty="0"/>
          </a:p>
        </p:txBody>
      </p:sp>
      <p:sp>
        <p:nvSpPr>
          <p:cNvPr id="32" name="Text 29"/>
          <p:cNvSpPr txBox="1"/>
          <p:nvPr/>
        </p:nvSpPr>
        <p:spPr>
          <a:xfrm>
            <a:off x="8183880" y="5330952"/>
            <a:ext cx="3459175" cy="777240"/>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Hasta 20% menos bencina en ciudad</a:t>
            </a:r>
            <a:endParaRPr lang="es-CL" sz="1800" dirty="0"/>
          </a:p>
        </p:txBody>
      </p:sp>
      <p:sp>
        <p:nvSpPr>
          <p:cNvPr id="33" name="Shape 30"/>
          <p:cNvSpPr/>
          <p:nvPr/>
        </p:nvSpPr>
        <p:spPr>
          <a:xfrm>
            <a:off x="8183880" y="6016752"/>
            <a:ext cx="1352296" cy="292608"/>
          </a:xfrm>
          <a:prstGeom prst="rect">
            <a:avLst/>
          </a:prstGeom>
          <a:solidFill>
            <a:schemeClr val="bg1">
              <a:alpha val="0"/>
            </a:schemeClr>
          </a:solidFill>
          <a:ln w="12700">
            <a:solidFill>
              <a:schemeClr val="tx2"/>
            </a:solidFill>
            <a:prstDash val="dash"/>
          </a:ln>
        </p:spPr>
      </p:sp>
      <p:sp>
        <p:nvSpPr>
          <p:cNvPr id="34" name="Text 31"/>
          <p:cNvSpPr txBox="1"/>
          <p:nvPr/>
        </p:nvSpPr>
        <p:spPr>
          <a:xfrm>
            <a:off x="8293608" y="6016752"/>
            <a:ext cx="1132840" cy="292608"/>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ESTIMACIÓN</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04</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COMPRENSIÓN DEL NEGOCIO · CLIENTE, PROPUESTA Y MODELO</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EL CLIENTE COMPRARÍA AHORRO</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sin cambiar de auto.</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Fuentes: contexto vigente del proyecto; entrevistas en profundidad del equipo (n = 3): resultado indicativo, no representativo.</a:t>
            </a:r>
            <a:endParaRPr lang="es-CL" sz="1200" dirty="0"/>
          </a:p>
        </p:txBody>
      </p:sp>
      <p:sp>
        <p:nvSpPr>
          <p:cNvPr id="5" name="Shape 3"/>
          <p:cNvSpPr/>
          <p:nvPr/>
        </p:nvSpPr>
        <p:spPr>
          <a:xfrm>
            <a:off x="548640" y="2395728"/>
            <a:ext cx="3154680" cy="0"/>
          </a:xfrm>
          <a:prstGeom prst="line">
            <a:avLst/>
          </a:prstGeom>
          <a:noFill/>
          <a:ln w="9525">
            <a:solidFill>
              <a:schemeClr val="accent1"/>
            </a:solidFill>
            <a:prstDash val="solid"/>
          </a:ln>
        </p:spPr>
      </p:sp>
      <p:sp>
        <p:nvSpPr>
          <p:cNvPr id="6" name="Text 4"/>
          <p:cNvSpPr txBox="1"/>
          <p:nvPr/>
        </p:nvSpPr>
        <p:spPr>
          <a:xfrm>
            <a:off x="548640" y="2487168"/>
            <a:ext cx="315468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CLIENTE</a:t>
            </a:r>
            <a:endParaRPr lang="es-CL" sz="1300" dirty="0"/>
          </a:p>
        </p:txBody>
      </p:sp>
      <p:sp>
        <p:nvSpPr>
          <p:cNvPr id="7" name="Text 5"/>
          <p:cNvSpPr txBox="1"/>
          <p:nvPr/>
        </p:nvSpPr>
        <p:spPr>
          <a:xfrm>
            <a:off x="548640" y="2807208"/>
            <a:ext cx="3154680" cy="365760"/>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Vehículos livianos</a:t>
            </a:r>
            <a:endParaRPr lang="es-CL" sz="2000" dirty="0"/>
          </a:p>
        </p:txBody>
      </p:sp>
      <p:sp>
        <p:nvSpPr>
          <p:cNvPr id="8" name="Text 6"/>
          <p:cNvSpPr txBox="1"/>
          <p:nvPr/>
        </p:nvSpPr>
        <p:spPr>
          <a:xfrm>
            <a:off x="548640" y="3200400"/>
            <a:ext cx="3154680" cy="320040"/>
          </a:xfrm>
          <a:prstGeom prst="rect">
            <a:avLst/>
          </a:prstGeom>
          <a:noFill/>
          <a:ln/>
        </p:spPr>
        <p:txBody>
          <a:bodyPr wrap="square" lIns="0" tIns="0" rIns="0" bIns="0" rtlCol="0" anchor="ctr"/>
          <a:lstStyle/>
          <a:p>
            <a:pPr indent="0" marL="0">
              <a:buNone/>
            </a:pPr>
            <a:r>
              <a:rPr lang="es-CL" altLang="en-US" sz="1700" dirty="0">
                <a:solidFill>
                  <a:schemeClr val="tx2"/>
                </a:solidFill>
                <a:latin typeface="Figtree" pitchFamily="34" charset="0"/>
                <a:ea typeface="Figtree" pitchFamily="34" charset="-122"/>
                <a:cs typeface="Figtree" pitchFamily="34" charset="-120"/>
              </a:rPr>
              <a:t>Prioridad: uso intensivo</a:t>
            </a:r>
            <a:endParaRPr lang="es-CL" sz="1700" dirty="0"/>
          </a:p>
        </p:txBody>
      </p:sp>
      <p:sp>
        <p:nvSpPr>
          <p:cNvPr id="9" name="Shape 7"/>
          <p:cNvSpPr/>
          <p:nvPr/>
        </p:nvSpPr>
        <p:spPr>
          <a:xfrm>
            <a:off x="548640" y="3720719"/>
            <a:ext cx="82296" cy="82296"/>
          </a:xfrm>
          <a:prstGeom prst="rect">
            <a:avLst/>
          </a:prstGeom>
          <a:solidFill>
            <a:schemeClr val="accent1"/>
          </a:solidFill>
          <a:ln/>
        </p:spPr>
      </p:sp>
      <p:sp>
        <p:nvSpPr>
          <p:cNvPr id="10" name="Text 8"/>
          <p:cNvSpPr txBox="1"/>
          <p:nvPr/>
        </p:nvSpPr>
        <p:spPr>
          <a:xfrm>
            <a:off x="749808" y="3630168"/>
            <a:ext cx="2953512" cy="263398"/>
          </a:xfrm>
          <a:prstGeom prst="rect">
            <a:avLst/>
          </a:prstGeom>
          <a:noFill/>
          <a:ln/>
        </p:spPr>
        <p:txBody>
          <a:bodyPr wrap="square" lIns="0" tIns="0" rIns="0" bIns="0" rtlCol="0" anchor="t"/>
          <a:lstStyle/>
          <a:p>
            <a:pPr indent="0" marL="0">
              <a:lnSpc>
                <a:spcPct val="100000"/>
              </a:lnSpc>
              <a:buNone/>
            </a:pPr>
            <a:r>
              <a:rPr lang="es-CL" altLang="en-US" sz="1700" dirty="0">
                <a:solidFill>
                  <a:schemeClr val="tx1"/>
                </a:solidFill>
                <a:latin typeface="Figtree" pitchFamily="34" charset="0"/>
                <a:ea typeface="Figtree" pitchFamily="34" charset="-122"/>
                <a:cs typeface="Figtree" pitchFamily="34" charset="-120"/>
              </a:rPr>
              <a:t>Conductores de aplicación</a:t>
            </a:r>
            <a:endParaRPr lang="es-CL" sz="1700" dirty="0"/>
          </a:p>
        </p:txBody>
      </p:sp>
      <p:sp>
        <p:nvSpPr>
          <p:cNvPr id="11" name="Shape 9"/>
          <p:cNvSpPr/>
          <p:nvPr/>
        </p:nvSpPr>
        <p:spPr>
          <a:xfrm>
            <a:off x="548640" y="4112133"/>
            <a:ext cx="82296" cy="82296"/>
          </a:xfrm>
          <a:prstGeom prst="rect">
            <a:avLst/>
          </a:prstGeom>
          <a:solidFill>
            <a:schemeClr val="accent1"/>
          </a:solidFill>
          <a:ln/>
        </p:spPr>
      </p:sp>
      <p:sp>
        <p:nvSpPr>
          <p:cNvPr id="12" name="Text 10"/>
          <p:cNvSpPr txBox="1"/>
          <p:nvPr/>
        </p:nvSpPr>
        <p:spPr>
          <a:xfrm>
            <a:off x="749808" y="4021582"/>
            <a:ext cx="2953512" cy="263398"/>
          </a:xfrm>
          <a:prstGeom prst="rect">
            <a:avLst/>
          </a:prstGeom>
          <a:noFill/>
          <a:ln/>
        </p:spPr>
        <p:txBody>
          <a:bodyPr wrap="square" lIns="0" tIns="0" rIns="0" bIns="0" rtlCol="0" anchor="t"/>
          <a:lstStyle/>
          <a:p>
            <a:pPr indent="0" marL="0">
              <a:lnSpc>
                <a:spcPct val="100000"/>
              </a:lnSpc>
              <a:buNone/>
            </a:pPr>
            <a:r>
              <a:rPr lang="es-CL" altLang="en-US" sz="1700" dirty="0">
                <a:solidFill>
                  <a:schemeClr val="tx1"/>
                </a:solidFill>
                <a:latin typeface="Figtree" pitchFamily="34" charset="0"/>
                <a:ea typeface="Figtree" pitchFamily="34" charset="-122"/>
                <a:cs typeface="Figtree" pitchFamily="34" charset="-120"/>
              </a:rPr>
              <a:t>Taxis y colectivos</a:t>
            </a:r>
            <a:endParaRPr lang="es-CL" sz="1700" dirty="0"/>
          </a:p>
        </p:txBody>
      </p:sp>
      <p:sp>
        <p:nvSpPr>
          <p:cNvPr id="13" name="Shape 11"/>
          <p:cNvSpPr/>
          <p:nvPr/>
        </p:nvSpPr>
        <p:spPr>
          <a:xfrm>
            <a:off x="548640" y="4503547"/>
            <a:ext cx="82296" cy="82296"/>
          </a:xfrm>
          <a:prstGeom prst="rect">
            <a:avLst/>
          </a:prstGeom>
          <a:solidFill>
            <a:schemeClr val="accent1"/>
          </a:solidFill>
          <a:ln/>
        </p:spPr>
      </p:sp>
      <p:sp>
        <p:nvSpPr>
          <p:cNvPr id="14" name="Text 12"/>
          <p:cNvSpPr txBox="1"/>
          <p:nvPr/>
        </p:nvSpPr>
        <p:spPr>
          <a:xfrm>
            <a:off x="749808" y="4412996"/>
            <a:ext cx="2953512" cy="526796"/>
          </a:xfrm>
          <a:prstGeom prst="rect">
            <a:avLst/>
          </a:prstGeom>
          <a:noFill/>
          <a:ln/>
        </p:spPr>
        <p:txBody>
          <a:bodyPr wrap="square" lIns="0" tIns="0" rIns="0" bIns="0" rtlCol="0" anchor="t"/>
          <a:lstStyle/>
          <a:p>
            <a:pPr indent="0" marL="0">
              <a:lnSpc>
                <a:spcPct val="100000"/>
              </a:lnSpc>
              <a:buNone/>
            </a:pPr>
            <a:r>
              <a:rPr lang="es-CL" altLang="en-US" sz="1700" dirty="0">
                <a:solidFill>
                  <a:schemeClr val="tx1"/>
                </a:solidFill>
                <a:latin typeface="Figtree" pitchFamily="34" charset="0"/>
                <a:ea typeface="Figtree" pitchFamily="34" charset="-122"/>
                <a:cs typeface="Figtree" pitchFamily="34" charset="-120"/>
              </a:rPr>
              <a:t>Particulares de trayecto largo</a:t>
            </a:r>
            <a:endParaRPr lang="es-CL" sz="1700" dirty="0"/>
          </a:p>
        </p:txBody>
      </p:sp>
      <p:sp>
        <p:nvSpPr>
          <p:cNvPr id="15" name="Shape 13"/>
          <p:cNvSpPr/>
          <p:nvPr/>
        </p:nvSpPr>
        <p:spPr>
          <a:xfrm>
            <a:off x="548640" y="5113528"/>
            <a:ext cx="2706116" cy="310896"/>
          </a:xfrm>
          <a:prstGeom prst="rect">
            <a:avLst/>
          </a:prstGeom>
          <a:solidFill>
            <a:schemeClr val="bg1">
              <a:alpha val="0"/>
            </a:schemeClr>
          </a:solidFill>
          <a:ln w="12700">
            <a:solidFill>
              <a:schemeClr val="tx2"/>
            </a:solidFill>
            <a:prstDash val="sysDot"/>
          </a:ln>
        </p:spPr>
      </p:sp>
      <p:sp>
        <p:nvSpPr>
          <p:cNvPr id="16" name="Text 14"/>
          <p:cNvSpPr txBox="1"/>
          <p:nvPr/>
        </p:nvSpPr>
        <p:spPr>
          <a:xfrm>
            <a:off x="658368" y="5113528"/>
            <a:ext cx="248666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PRIORIDAD, NO EXCLUSIÓN</a:t>
            </a:r>
            <a:endParaRPr lang="es-CL" sz="1200" dirty="0"/>
          </a:p>
        </p:txBody>
      </p:sp>
      <p:pic>
        <p:nvPicPr>
          <p:cNvPr id="17" name="Image 0" descr="/home/user/lumine/control-3/generador/assets/brillo.png">    </p:cNvPr>
          <p:cNvPicPr>
            <a:picLocks noChangeAspect="1"/>
          </p:cNvPicPr>
          <p:nvPr/>
        </p:nvPicPr>
        <p:blipFill>
          <a:blip r:embed="rId1"/>
          <a:stretch>
            <a:fillRect/>
          </a:stretch>
        </p:blipFill>
        <p:spPr>
          <a:xfrm>
            <a:off x="3611880" y="2107692"/>
            <a:ext cx="5074920" cy="3593592"/>
          </a:xfrm>
          <a:prstGeom prst="rect">
            <a:avLst/>
          </a:prstGeom>
        </p:spPr>
      </p:pic>
      <p:sp>
        <p:nvSpPr>
          <p:cNvPr id="18" name="Shape 15"/>
          <p:cNvSpPr/>
          <p:nvPr/>
        </p:nvSpPr>
        <p:spPr>
          <a:xfrm>
            <a:off x="4023360" y="2395728"/>
            <a:ext cx="4251960" cy="3017520"/>
          </a:xfrm>
          <a:prstGeom prst="rect">
            <a:avLst/>
          </a:prstGeom>
          <a:solidFill>
            <a:srgbClr val="062A45"/>
          </a:solidFill>
          <a:ln w="15875">
            <a:solidFill>
              <a:schemeClr val="accent1"/>
            </a:solidFill>
            <a:prstDash val="solid"/>
          </a:ln>
        </p:spPr>
      </p:sp>
      <p:sp>
        <p:nvSpPr>
          <p:cNvPr id="19" name="Shape 16"/>
          <p:cNvSpPr/>
          <p:nvPr/>
        </p:nvSpPr>
        <p:spPr>
          <a:xfrm>
            <a:off x="3968496" y="2340864"/>
            <a:ext cx="155448" cy="0"/>
          </a:xfrm>
          <a:prstGeom prst="line">
            <a:avLst/>
          </a:prstGeom>
          <a:noFill/>
          <a:ln w="15875">
            <a:solidFill>
              <a:schemeClr val="accent1"/>
            </a:solidFill>
            <a:prstDash val="solid"/>
          </a:ln>
        </p:spPr>
      </p:sp>
      <p:sp>
        <p:nvSpPr>
          <p:cNvPr id="20" name="Shape 17"/>
          <p:cNvSpPr/>
          <p:nvPr/>
        </p:nvSpPr>
        <p:spPr>
          <a:xfrm>
            <a:off x="3968496" y="2340864"/>
            <a:ext cx="0" cy="155448"/>
          </a:xfrm>
          <a:prstGeom prst="line">
            <a:avLst/>
          </a:prstGeom>
          <a:noFill/>
          <a:ln w="15875">
            <a:solidFill>
              <a:schemeClr val="accent1"/>
            </a:solidFill>
            <a:prstDash val="solid"/>
          </a:ln>
        </p:spPr>
      </p:sp>
      <p:sp>
        <p:nvSpPr>
          <p:cNvPr id="21" name="Shape 18"/>
          <p:cNvSpPr/>
          <p:nvPr/>
        </p:nvSpPr>
        <p:spPr>
          <a:xfrm>
            <a:off x="8174736" y="2340864"/>
            <a:ext cx="155448" cy="0"/>
          </a:xfrm>
          <a:prstGeom prst="line">
            <a:avLst/>
          </a:prstGeom>
          <a:noFill/>
          <a:ln w="15875">
            <a:solidFill>
              <a:schemeClr val="accent1"/>
            </a:solidFill>
            <a:prstDash val="solid"/>
          </a:ln>
        </p:spPr>
      </p:sp>
      <p:sp>
        <p:nvSpPr>
          <p:cNvPr id="22" name="Shape 19"/>
          <p:cNvSpPr/>
          <p:nvPr/>
        </p:nvSpPr>
        <p:spPr>
          <a:xfrm>
            <a:off x="8330184" y="2340864"/>
            <a:ext cx="0" cy="155448"/>
          </a:xfrm>
          <a:prstGeom prst="line">
            <a:avLst/>
          </a:prstGeom>
          <a:noFill/>
          <a:ln w="15875">
            <a:solidFill>
              <a:schemeClr val="accent1"/>
            </a:solidFill>
            <a:prstDash val="solid"/>
          </a:ln>
        </p:spPr>
      </p:sp>
      <p:sp>
        <p:nvSpPr>
          <p:cNvPr id="23" name="Shape 20"/>
          <p:cNvSpPr/>
          <p:nvPr/>
        </p:nvSpPr>
        <p:spPr>
          <a:xfrm>
            <a:off x="3968496" y="5468112"/>
            <a:ext cx="155448" cy="0"/>
          </a:xfrm>
          <a:prstGeom prst="line">
            <a:avLst/>
          </a:prstGeom>
          <a:noFill/>
          <a:ln w="15875">
            <a:solidFill>
              <a:schemeClr val="accent1"/>
            </a:solidFill>
            <a:prstDash val="solid"/>
          </a:ln>
        </p:spPr>
      </p:sp>
      <p:sp>
        <p:nvSpPr>
          <p:cNvPr id="24" name="Shape 21"/>
          <p:cNvSpPr/>
          <p:nvPr/>
        </p:nvSpPr>
        <p:spPr>
          <a:xfrm>
            <a:off x="3968496" y="5312664"/>
            <a:ext cx="0" cy="155448"/>
          </a:xfrm>
          <a:prstGeom prst="line">
            <a:avLst/>
          </a:prstGeom>
          <a:noFill/>
          <a:ln w="15875">
            <a:solidFill>
              <a:schemeClr val="accent1"/>
            </a:solidFill>
            <a:prstDash val="solid"/>
          </a:ln>
        </p:spPr>
      </p:sp>
      <p:sp>
        <p:nvSpPr>
          <p:cNvPr id="25" name="Shape 22"/>
          <p:cNvSpPr/>
          <p:nvPr/>
        </p:nvSpPr>
        <p:spPr>
          <a:xfrm>
            <a:off x="8174736" y="5468112"/>
            <a:ext cx="155448" cy="0"/>
          </a:xfrm>
          <a:prstGeom prst="line">
            <a:avLst/>
          </a:prstGeom>
          <a:noFill/>
          <a:ln w="15875">
            <a:solidFill>
              <a:schemeClr val="accent1"/>
            </a:solidFill>
            <a:prstDash val="solid"/>
          </a:ln>
        </p:spPr>
      </p:sp>
      <p:sp>
        <p:nvSpPr>
          <p:cNvPr id="26" name="Shape 23"/>
          <p:cNvSpPr/>
          <p:nvPr/>
        </p:nvSpPr>
        <p:spPr>
          <a:xfrm>
            <a:off x="8330184" y="5312664"/>
            <a:ext cx="0" cy="155448"/>
          </a:xfrm>
          <a:prstGeom prst="line">
            <a:avLst/>
          </a:prstGeom>
          <a:noFill/>
          <a:ln w="15875">
            <a:solidFill>
              <a:schemeClr val="accent1"/>
            </a:solidFill>
            <a:prstDash val="solid"/>
          </a:ln>
        </p:spPr>
      </p:sp>
      <p:sp>
        <p:nvSpPr>
          <p:cNvPr id="27" name="Text 24"/>
          <p:cNvSpPr txBox="1"/>
          <p:nvPr/>
        </p:nvSpPr>
        <p:spPr>
          <a:xfrm>
            <a:off x="4251960" y="2560320"/>
            <a:ext cx="379476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PROPUESTA DE VALOR</a:t>
            </a:r>
            <a:endParaRPr lang="es-CL" sz="1300" dirty="0"/>
          </a:p>
        </p:txBody>
      </p:sp>
      <p:sp>
        <p:nvSpPr>
          <p:cNvPr id="28" name="Shape 25"/>
          <p:cNvSpPr/>
          <p:nvPr/>
        </p:nvSpPr>
        <p:spPr>
          <a:xfrm>
            <a:off x="6382004" y="2542032"/>
            <a:ext cx="1664716" cy="292608"/>
          </a:xfrm>
          <a:prstGeom prst="rect">
            <a:avLst/>
          </a:prstGeom>
          <a:solidFill>
            <a:schemeClr val="bg1">
              <a:alpha val="0"/>
            </a:schemeClr>
          </a:solidFill>
          <a:ln w="12700">
            <a:solidFill>
              <a:schemeClr val="tx2"/>
            </a:solidFill>
            <a:prstDash val="solid"/>
          </a:ln>
        </p:spPr>
      </p:sp>
      <p:sp>
        <p:nvSpPr>
          <p:cNvPr id="29" name="Text 26"/>
          <p:cNvSpPr txBox="1"/>
          <p:nvPr/>
        </p:nvSpPr>
        <p:spPr>
          <a:xfrm>
            <a:off x="6491732" y="2542032"/>
            <a:ext cx="1445260" cy="292608"/>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POR COMPROBAR</a:t>
            </a:r>
            <a:endParaRPr lang="es-CL" sz="1200" dirty="0"/>
          </a:p>
        </p:txBody>
      </p:sp>
      <p:sp>
        <p:nvSpPr>
          <p:cNvPr id="30" name="Shape 27"/>
          <p:cNvSpPr/>
          <p:nvPr/>
        </p:nvSpPr>
        <p:spPr>
          <a:xfrm>
            <a:off x="4251960" y="3035808"/>
            <a:ext cx="3794760" cy="0"/>
          </a:xfrm>
          <a:prstGeom prst="line">
            <a:avLst/>
          </a:prstGeom>
          <a:noFill/>
          <a:ln w="9525">
            <a:solidFill>
              <a:schemeClr val="accent5"/>
            </a:solidFill>
            <a:prstDash val="solid"/>
          </a:ln>
        </p:spPr>
      </p:sp>
      <p:sp>
        <p:nvSpPr>
          <p:cNvPr id="31" name="Text 28"/>
          <p:cNvSpPr txBox="1"/>
          <p:nvPr/>
        </p:nvSpPr>
        <p:spPr>
          <a:xfrm>
            <a:off x="4251960" y="3035808"/>
            <a:ext cx="411480" cy="566928"/>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01</a:t>
            </a:r>
            <a:endParaRPr lang="es-CL" sz="1300" dirty="0"/>
          </a:p>
        </p:txBody>
      </p:sp>
      <p:sp>
        <p:nvSpPr>
          <p:cNvPr id="32" name="Text 29"/>
          <p:cNvSpPr txBox="1"/>
          <p:nvPr/>
        </p:nvSpPr>
        <p:spPr>
          <a:xfrm>
            <a:off x="4681728" y="3035808"/>
            <a:ext cx="3383280" cy="566928"/>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Ahorrar sin comprar otro auto</a:t>
            </a:r>
            <a:endParaRPr lang="es-CL" sz="1800" dirty="0"/>
          </a:p>
        </p:txBody>
      </p:sp>
      <p:sp>
        <p:nvSpPr>
          <p:cNvPr id="33" name="Shape 30"/>
          <p:cNvSpPr/>
          <p:nvPr/>
        </p:nvSpPr>
        <p:spPr>
          <a:xfrm>
            <a:off x="4251960" y="3602736"/>
            <a:ext cx="3794760" cy="0"/>
          </a:xfrm>
          <a:prstGeom prst="line">
            <a:avLst/>
          </a:prstGeom>
          <a:noFill/>
          <a:ln w="9525">
            <a:solidFill>
              <a:schemeClr val="accent5"/>
            </a:solidFill>
            <a:prstDash val="solid"/>
          </a:ln>
        </p:spPr>
      </p:sp>
      <p:sp>
        <p:nvSpPr>
          <p:cNvPr id="34" name="Text 31"/>
          <p:cNvSpPr txBox="1"/>
          <p:nvPr/>
        </p:nvSpPr>
        <p:spPr>
          <a:xfrm>
            <a:off x="4251960" y="3602736"/>
            <a:ext cx="411480" cy="566928"/>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02</a:t>
            </a:r>
            <a:endParaRPr lang="es-CL" sz="1300" dirty="0"/>
          </a:p>
        </p:txBody>
      </p:sp>
      <p:sp>
        <p:nvSpPr>
          <p:cNvPr id="35" name="Text 32"/>
          <p:cNvSpPr txBox="1"/>
          <p:nvPr/>
        </p:nvSpPr>
        <p:spPr>
          <a:xfrm>
            <a:off x="4681728" y="3602736"/>
            <a:ext cx="3383280" cy="566928"/>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Seguir con el mismo vehículo</a:t>
            </a:r>
            <a:endParaRPr lang="es-CL" sz="1800" dirty="0"/>
          </a:p>
        </p:txBody>
      </p:sp>
      <p:sp>
        <p:nvSpPr>
          <p:cNvPr id="36" name="Shape 33"/>
          <p:cNvSpPr/>
          <p:nvPr/>
        </p:nvSpPr>
        <p:spPr>
          <a:xfrm>
            <a:off x="4251960" y="4169664"/>
            <a:ext cx="3794760" cy="0"/>
          </a:xfrm>
          <a:prstGeom prst="line">
            <a:avLst/>
          </a:prstGeom>
          <a:noFill/>
          <a:ln w="9525">
            <a:solidFill>
              <a:schemeClr val="accent5"/>
            </a:solidFill>
            <a:prstDash val="solid"/>
          </a:ln>
        </p:spPr>
      </p:sp>
      <p:sp>
        <p:nvSpPr>
          <p:cNvPr id="37" name="Text 34"/>
          <p:cNvSpPr txBox="1"/>
          <p:nvPr/>
        </p:nvSpPr>
        <p:spPr>
          <a:xfrm>
            <a:off x="4251960" y="4169664"/>
            <a:ext cx="411480" cy="566928"/>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03</a:t>
            </a:r>
            <a:endParaRPr lang="es-CL" sz="1300" dirty="0"/>
          </a:p>
        </p:txBody>
      </p:sp>
      <p:sp>
        <p:nvSpPr>
          <p:cNvPr id="38" name="Text 35"/>
          <p:cNvSpPr txBox="1"/>
          <p:nvPr/>
        </p:nvSpPr>
        <p:spPr>
          <a:xfrm>
            <a:off x="4681728" y="4169664"/>
            <a:ext cx="3383280" cy="566928"/>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Respaldo técnico verificable</a:t>
            </a:r>
            <a:endParaRPr lang="es-CL" sz="1800" dirty="0"/>
          </a:p>
        </p:txBody>
      </p:sp>
      <p:sp>
        <p:nvSpPr>
          <p:cNvPr id="39" name="Shape 36"/>
          <p:cNvSpPr/>
          <p:nvPr/>
        </p:nvSpPr>
        <p:spPr>
          <a:xfrm>
            <a:off x="4251960" y="4736592"/>
            <a:ext cx="3794760" cy="0"/>
          </a:xfrm>
          <a:prstGeom prst="line">
            <a:avLst/>
          </a:prstGeom>
          <a:noFill/>
          <a:ln w="9525">
            <a:solidFill>
              <a:schemeClr val="accent5"/>
            </a:solidFill>
            <a:prstDash val="solid"/>
          </a:ln>
        </p:spPr>
      </p:sp>
      <p:sp>
        <p:nvSpPr>
          <p:cNvPr id="40" name="Text 37"/>
          <p:cNvSpPr txBox="1"/>
          <p:nvPr/>
        </p:nvSpPr>
        <p:spPr>
          <a:xfrm>
            <a:off x="4251960" y="4736592"/>
            <a:ext cx="411480" cy="566928"/>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04</a:t>
            </a:r>
            <a:endParaRPr lang="es-CL" sz="1300" dirty="0"/>
          </a:p>
        </p:txBody>
      </p:sp>
      <p:sp>
        <p:nvSpPr>
          <p:cNvPr id="41" name="Text 38"/>
          <p:cNvSpPr txBox="1"/>
          <p:nvPr/>
        </p:nvSpPr>
        <p:spPr>
          <a:xfrm>
            <a:off x="4681728" y="4736592"/>
            <a:ext cx="3383280" cy="566928"/>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Compatibilidad y costos claros</a:t>
            </a:r>
            <a:endParaRPr lang="es-CL" sz="1800" dirty="0"/>
          </a:p>
        </p:txBody>
      </p:sp>
      <p:sp>
        <p:nvSpPr>
          <p:cNvPr id="42" name="Shape 39"/>
          <p:cNvSpPr/>
          <p:nvPr/>
        </p:nvSpPr>
        <p:spPr>
          <a:xfrm>
            <a:off x="8595360" y="2395728"/>
            <a:ext cx="3047695" cy="0"/>
          </a:xfrm>
          <a:prstGeom prst="line">
            <a:avLst/>
          </a:prstGeom>
          <a:noFill/>
          <a:ln w="9525">
            <a:solidFill>
              <a:schemeClr val="accent1"/>
            </a:solidFill>
            <a:prstDash val="solid"/>
          </a:ln>
        </p:spPr>
      </p:sp>
      <p:sp>
        <p:nvSpPr>
          <p:cNvPr id="43" name="Text 40"/>
          <p:cNvSpPr txBox="1"/>
          <p:nvPr/>
        </p:nvSpPr>
        <p:spPr>
          <a:xfrm>
            <a:off x="8595360" y="2487168"/>
            <a:ext cx="304769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MODELO DE NEGOCIO</a:t>
            </a:r>
            <a:endParaRPr lang="es-CL" sz="1300" dirty="0"/>
          </a:p>
        </p:txBody>
      </p:sp>
      <p:sp>
        <p:nvSpPr>
          <p:cNvPr id="44" name="Text 41"/>
          <p:cNvSpPr txBox="1"/>
          <p:nvPr/>
        </p:nvSpPr>
        <p:spPr>
          <a:xfrm>
            <a:off x="8595360" y="2807208"/>
            <a:ext cx="3047695" cy="365760"/>
          </a:xfrm>
          <a:prstGeom prst="rect">
            <a:avLst/>
          </a:prstGeom>
          <a:noFill/>
          <a:ln/>
        </p:spPr>
        <p:txBody>
          <a:bodyPr wrap="square" lIns="0" tIns="0" rIns="0" bIns="0" rtlCol="0" anchor="ctr"/>
          <a:lstStyle/>
          <a:p>
            <a:pPr indent="0" marL="0">
              <a:buNone/>
            </a:pPr>
            <a:r>
              <a:rPr lang="es-CL" altLang="en-US" sz="1900" b="1" dirty="0">
                <a:solidFill>
                  <a:schemeClr val="tx1"/>
                </a:solidFill>
                <a:latin typeface="Figtree" pitchFamily="34" charset="0"/>
                <a:ea typeface="Figtree" pitchFamily="34" charset="-122"/>
                <a:cs typeface="Figtree" pitchFamily="34" charset="-120"/>
              </a:rPr>
              <a:t>Taller propio</a:t>
            </a:r>
            <a:endParaRPr lang="es-CL" sz="1900" dirty="0"/>
          </a:p>
        </p:txBody>
      </p:sp>
      <p:sp>
        <p:nvSpPr>
          <p:cNvPr id="45" name="Shape 42"/>
          <p:cNvSpPr/>
          <p:nvPr/>
        </p:nvSpPr>
        <p:spPr>
          <a:xfrm>
            <a:off x="8595360" y="3218688"/>
            <a:ext cx="1144016" cy="274320"/>
          </a:xfrm>
          <a:prstGeom prst="rect">
            <a:avLst/>
          </a:prstGeom>
          <a:solidFill>
            <a:schemeClr val="bg1">
              <a:alpha val="0"/>
            </a:schemeClr>
          </a:solidFill>
          <a:ln w="12700">
            <a:solidFill>
              <a:schemeClr val="tx2"/>
            </a:solidFill>
            <a:prstDash val="sysDot"/>
          </a:ln>
        </p:spPr>
      </p:sp>
      <p:sp>
        <p:nvSpPr>
          <p:cNvPr id="46" name="Text 43"/>
          <p:cNvSpPr txBox="1"/>
          <p:nvPr/>
        </p:nvSpPr>
        <p:spPr>
          <a:xfrm>
            <a:off x="8705088" y="3218688"/>
            <a:ext cx="924560" cy="274320"/>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DISEÑADO</a:t>
            </a:r>
            <a:endParaRPr lang="es-CL" sz="1200" dirty="0"/>
          </a:p>
        </p:txBody>
      </p:sp>
      <p:sp>
        <p:nvSpPr>
          <p:cNvPr id="47" name="Text 44"/>
          <p:cNvSpPr txBox="1"/>
          <p:nvPr/>
        </p:nvSpPr>
        <p:spPr>
          <a:xfrm>
            <a:off x="8595360" y="3538728"/>
            <a:ext cx="3047695" cy="54864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Diagnóstico, instalación, verificación y posventa</a:t>
            </a:r>
            <a:endParaRPr lang="es-CL" sz="1600" dirty="0"/>
          </a:p>
        </p:txBody>
      </p:sp>
      <p:sp>
        <p:nvSpPr>
          <p:cNvPr id="48" name="Text 45"/>
          <p:cNvSpPr txBox="1"/>
          <p:nvPr/>
        </p:nvSpPr>
        <p:spPr>
          <a:xfrm>
            <a:off x="8595360" y="4178808"/>
            <a:ext cx="3047695" cy="365760"/>
          </a:xfrm>
          <a:prstGeom prst="rect">
            <a:avLst/>
          </a:prstGeom>
          <a:noFill/>
          <a:ln/>
        </p:spPr>
        <p:txBody>
          <a:bodyPr wrap="square" lIns="0" tIns="0" rIns="0" bIns="0" rtlCol="0" anchor="ctr"/>
          <a:lstStyle/>
          <a:p>
            <a:pPr indent="0" marL="0">
              <a:buNone/>
            </a:pPr>
            <a:r>
              <a:rPr lang="es-CL" altLang="en-US" sz="1900" b="1" dirty="0">
                <a:solidFill>
                  <a:schemeClr val="tx1"/>
                </a:solidFill>
                <a:latin typeface="Figtree" pitchFamily="34" charset="0"/>
                <a:ea typeface="Figtree" pitchFamily="34" charset="-122"/>
                <a:cs typeface="Figtree" pitchFamily="34" charset="-120"/>
              </a:rPr>
              <a:t>Licencias a talleres</a:t>
            </a:r>
            <a:endParaRPr lang="es-CL" sz="1900" dirty="0"/>
          </a:p>
        </p:txBody>
      </p:sp>
      <p:sp>
        <p:nvSpPr>
          <p:cNvPr id="49" name="Shape 46"/>
          <p:cNvSpPr/>
          <p:nvPr/>
        </p:nvSpPr>
        <p:spPr>
          <a:xfrm>
            <a:off x="8595360" y="4590288"/>
            <a:ext cx="1248156" cy="274320"/>
          </a:xfrm>
          <a:prstGeom prst="rect">
            <a:avLst/>
          </a:prstGeom>
          <a:solidFill>
            <a:schemeClr val="bg1">
              <a:alpha val="0"/>
            </a:schemeClr>
          </a:solidFill>
          <a:ln w="12700">
            <a:solidFill>
              <a:schemeClr val="tx2"/>
            </a:solidFill>
            <a:prstDash val="dash"/>
          </a:ln>
        </p:spPr>
      </p:sp>
      <p:sp>
        <p:nvSpPr>
          <p:cNvPr id="50" name="Text 47"/>
          <p:cNvSpPr txBox="1"/>
          <p:nvPr/>
        </p:nvSpPr>
        <p:spPr>
          <a:xfrm>
            <a:off x="8705088" y="4590288"/>
            <a:ext cx="1028700" cy="274320"/>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POTENCIAL</a:t>
            </a:r>
            <a:endParaRPr lang="es-CL" sz="1200" dirty="0"/>
          </a:p>
        </p:txBody>
      </p:sp>
      <p:sp>
        <p:nvSpPr>
          <p:cNvPr id="51" name="Text 48"/>
          <p:cNvSpPr txBox="1"/>
          <p:nvPr/>
        </p:nvSpPr>
        <p:spPr>
          <a:xfrm>
            <a:off x="8595360" y="4910328"/>
            <a:ext cx="3047695" cy="54864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Calibraciones, procedimiento y Lumine Habilita</a:t>
            </a:r>
            <a:endParaRPr lang="es-CL" sz="1600" dirty="0"/>
          </a:p>
        </p:txBody>
      </p:sp>
      <p:sp>
        <p:nvSpPr>
          <p:cNvPr id="52" name="Shape 49"/>
          <p:cNvSpPr/>
          <p:nvPr/>
        </p:nvSpPr>
        <p:spPr>
          <a:xfrm>
            <a:off x="548640" y="5687568"/>
            <a:ext cx="11094415" cy="0"/>
          </a:xfrm>
          <a:prstGeom prst="line">
            <a:avLst/>
          </a:prstGeom>
          <a:noFill/>
          <a:ln w="9525">
            <a:solidFill>
              <a:schemeClr val="accent5"/>
            </a:solidFill>
            <a:prstDash val="solid"/>
          </a:ln>
        </p:spPr>
      </p:sp>
      <p:sp>
        <p:nvSpPr>
          <p:cNvPr id="53" name="Text 50"/>
          <p:cNvSpPr txBox="1"/>
          <p:nvPr/>
        </p:nvSpPr>
        <p:spPr>
          <a:xfrm>
            <a:off x="548640" y="5824728"/>
            <a:ext cx="2377440" cy="457200"/>
          </a:xfrm>
          <a:prstGeom prst="rect">
            <a:avLst/>
          </a:prstGeom>
          <a:noFill/>
          <a:ln/>
        </p:spPr>
        <p:txBody>
          <a:bodyPr wrap="square" lIns="0" tIns="0" rIns="0" bIns="0" rtlCol="0" anchor="ctr"/>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ENTREVISTAS · n = 3</a:t>
            </a:r>
            <a:endParaRPr lang="es-CL" sz="1300" dirty="0"/>
          </a:p>
        </p:txBody>
      </p:sp>
      <p:sp>
        <p:nvSpPr>
          <p:cNvPr id="54" name="Text 51"/>
          <p:cNvSpPr txBox="1"/>
          <p:nvPr/>
        </p:nvSpPr>
        <p:spPr>
          <a:xfrm>
            <a:off x="2926080" y="5824728"/>
            <a:ext cx="6522415" cy="457200"/>
          </a:xfrm>
          <a:prstGeom prst="rect">
            <a:avLst/>
          </a:prstGeom>
          <a:noFill/>
          <a:ln/>
        </p:spPr>
        <p:txBody>
          <a:bodyPr wrap="square" lIns="0" tIns="0" rIns="0" bIns="0" rtlCol="0" anchor="ctr"/>
          <a:lstStyle/>
          <a:p>
            <a:pPr indent="0" marL="0">
              <a:buNone/>
            </a:pPr>
            <a:r>
              <a:rPr lang="es-CL" altLang="en-US" sz="2000" i="1" dirty="0">
                <a:solidFill>
                  <a:schemeClr val="tx1"/>
                </a:solidFill>
                <a:latin typeface="Instrument Serif" pitchFamily="34" charset="0"/>
                <a:ea typeface="Instrument Serif" pitchFamily="34" charset="-122"/>
                <a:cs typeface="Instrument Serif" pitchFamily="34" charset="-120"/>
              </a:rPr>
              <a:t>Antes que el precio, preocupa </a:t>
            </a:r>
            <a:pPr indent="0" marL="0">
              <a:buNone/>
            </a:pPr>
            <a:r>
              <a:rPr lang="es-CL" altLang="en-US" sz="2000" b="1" i="1" dirty="0">
                <a:solidFill>
                  <a:schemeClr val="tx1"/>
                </a:solidFill>
                <a:latin typeface="Instrument Serif" pitchFamily="34" charset="0"/>
                <a:ea typeface="Instrument Serif" pitchFamily="34" charset="-122"/>
                <a:cs typeface="Instrument Serif" pitchFamily="34" charset="-120"/>
              </a:rPr>
              <a:t>quién responde si algo falla.</a:t>
            </a:r>
            <a:endParaRPr lang="es-CL" sz="2000" dirty="0"/>
          </a:p>
        </p:txBody>
      </p:sp>
      <p:sp>
        <p:nvSpPr>
          <p:cNvPr id="55" name="Shape 52"/>
          <p:cNvSpPr/>
          <p:nvPr/>
        </p:nvSpPr>
        <p:spPr>
          <a:xfrm>
            <a:off x="10290759" y="5897880"/>
            <a:ext cx="1352296" cy="310896"/>
          </a:xfrm>
          <a:prstGeom prst="rect">
            <a:avLst/>
          </a:prstGeom>
          <a:solidFill>
            <a:schemeClr val="bg1">
              <a:alpha val="0"/>
            </a:schemeClr>
          </a:solidFill>
          <a:ln w="12700">
            <a:solidFill>
              <a:schemeClr val="tx2"/>
            </a:solidFill>
            <a:prstDash val="dash"/>
          </a:ln>
        </p:spPr>
      </p:sp>
      <p:sp>
        <p:nvSpPr>
          <p:cNvPr id="56" name="Text 53"/>
          <p:cNvSpPr txBox="1"/>
          <p:nvPr/>
        </p:nvSpPr>
        <p:spPr>
          <a:xfrm>
            <a:off x="10400487" y="5897880"/>
            <a:ext cx="113284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INDICATIVO</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05</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DECLARACIONES ESTRATÉGICAS COMPARTIDAS</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MISIÓN, VISIÓN Y VALORES</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que se pueden verificar.</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informe del Avance 1, sección 5 (declaraciones estratégicas compartidas). Textos literales en el anexo A9.</a:t>
            </a:r>
            <a:endParaRPr lang="es-CL" sz="1200" dirty="0"/>
          </a:p>
        </p:txBody>
      </p:sp>
      <p:sp>
        <p:nvSpPr>
          <p:cNvPr id="5" name="Shape 3"/>
          <p:cNvSpPr/>
          <p:nvPr/>
        </p:nvSpPr>
        <p:spPr>
          <a:xfrm>
            <a:off x="548640" y="2395728"/>
            <a:ext cx="5029200" cy="0"/>
          </a:xfrm>
          <a:prstGeom prst="line">
            <a:avLst/>
          </a:prstGeom>
          <a:noFill/>
          <a:ln w="9525">
            <a:solidFill>
              <a:schemeClr val="accent1"/>
            </a:solidFill>
            <a:prstDash val="solid"/>
          </a:ln>
        </p:spPr>
      </p:sp>
      <p:sp>
        <p:nvSpPr>
          <p:cNvPr id="6" name="Text 4"/>
          <p:cNvSpPr txBox="1"/>
          <p:nvPr/>
        </p:nvSpPr>
        <p:spPr>
          <a:xfrm>
            <a:off x="548640" y="2487168"/>
            <a:ext cx="50292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MISIÓN</a:t>
            </a:r>
            <a:endParaRPr lang="es-CL" sz="1300" dirty="0"/>
          </a:p>
        </p:txBody>
      </p:sp>
      <p:sp>
        <p:nvSpPr>
          <p:cNvPr id="7" name="Text 5"/>
          <p:cNvSpPr txBox="1"/>
          <p:nvPr/>
        </p:nvSpPr>
        <p:spPr>
          <a:xfrm>
            <a:off x="548640" y="2779776"/>
            <a:ext cx="5029200" cy="1481328"/>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«Reducir el combustible que un vehículo liviano a combustión necesita por kilómetro, mediante la instalación certificada de un sistema de hibridación aditiva sobre el automóvil que el cliente ya tiene, sin reemplazarlo y sin intervenir su motor.»</a:t>
            </a:r>
            <a:endParaRPr lang="es-CL" sz="1600" dirty="0"/>
          </a:p>
        </p:txBody>
      </p:sp>
      <p:sp>
        <p:nvSpPr>
          <p:cNvPr id="8" name="Shape 6"/>
          <p:cNvSpPr/>
          <p:nvPr/>
        </p:nvSpPr>
        <p:spPr>
          <a:xfrm>
            <a:off x="548640" y="4224528"/>
            <a:ext cx="5029200" cy="0"/>
          </a:xfrm>
          <a:prstGeom prst="line">
            <a:avLst/>
          </a:prstGeom>
          <a:noFill/>
          <a:ln w="9525">
            <a:solidFill>
              <a:schemeClr val="accent1"/>
            </a:solidFill>
            <a:prstDash val="solid"/>
          </a:ln>
        </p:spPr>
      </p:sp>
      <p:sp>
        <p:nvSpPr>
          <p:cNvPr id="9" name="Text 7"/>
          <p:cNvSpPr txBox="1"/>
          <p:nvPr/>
        </p:nvSpPr>
        <p:spPr>
          <a:xfrm>
            <a:off x="548640" y="4315968"/>
            <a:ext cx="50292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VISIÓN</a:t>
            </a:r>
            <a:endParaRPr lang="es-CL" sz="1300" dirty="0"/>
          </a:p>
        </p:txBody>
      </p:sp>
      <p:sp>
        <p:nvSpPr>
          <p:cNvPr id="10" name="Text 8"/>
          <p:cNvSpPr txBox="1"/>
          <p:nvPr/>
        </p:nvSpPr>
        <p:spPr>
          <a:xfrm>
            <a:off x="548640" y="4608576"/>
            <a:ext cx="5029200" cy="1188720"/>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«Ser hacia 2031 el taller de referencia en hibridación de vehículos en uso en Chile, con un procedimiento reconocido por la autoridad, las plantas de revisión técnica y las compañías de seguros.»</a:t>
            </a:r>
            <a:endParaRPr lang="es-CL" sz="1600" dirty="0"/>
          </a:p>
        </p:txBody>
      </p:sp>
      <p:sp>
        <p:nvSpPr>
          <p:cNvPr id="11" name="Shape 9"/>
          <p:cNvSpPr/>
          <p:nvPr/>
        </p:nvSpPr>
        <p:spPr>
          <a:xfrm>
            <a:off x="548640" y="5888736"/>
            <a:ext cx="4372356" cy="310896"/>
          </a:xfrm>
          <a:prstGeom prst="rect">
            <a:avLst/>
          </a:prstGeom>
          <a:solidFill>
            <a:schemeClr val="bg1">
              <a:alpha val="0"/>
            </a:schemeClr>
          </a:solidFill>
          <a:ln w="12700">
            <a:solidFill>
              <a:schemeClr val="tx1"/>
            </a:solidFill>
            <a:prstDash val="dash"/>
          </a:ln>
        </p:spPr>
      </p:sp>
      <p:sp>
        <p:nvSpPr>
          <p:cNvPr id="12" name="Text 10"/>
          <p:cNvSpPr txBox="1"/>
          <p:nvPr/>
        </p:nvSpPr>
        <p:spPr>
          <a:xfrm>
            <a:off x="658368" y="5888736"/>
            <a:ext cx="4152900" cy="310896"/>
          </a:xfrm>
          <a:prstGeom prst="rect">
            <a:avLst/>
          </a:prstGeom>
          <a:noFill/>
          <a:ln/>
        </p:spPr>
        <p:txBody>
          <a:bodyPr wrap="square" lIns="0" tIns="0" rIns="0" bIns="0" rtlCol="0" anchor="ctr"/>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PROYECTO · NO ES CERTIFICACIÓN OBTENIDA</a:t>
            </a:r>
            <a:endParaRPr lang="es-CL" sz="1200" dirty="0"/>
          </a:p>
        </p:txBody>
      </p:sp>
      <p:sp>
        <p:nvSpPr>
          <p:cNvPr id="13" name="Shape 11"/>
          <p:cNvSpPr/>
          <p:nvPr/>
        </p:nvSpPr>
        <p:spPr>
          <a:xfrm>
            <a:off x="6035040" y="2395728"/>
            <a:ext cx="5608015" cy="0"/>
          </a:xfrm>
          <a:prstGeom prst="line">
            <a:avLst/>
          </a:prstGeom>
          <a:noFill/>
          <a:ln w="9525">
            <a:solidFill>
              <a:schemeClr val="accent1"/>
            </a:solidFill>
            <a:prstDash val="solid"/>
          </a:ln>
        </p:spPr>
      </p:sp>
      <p:sp>
        <p:nvSpPr>
          <p:cNvPr id="14" name="Text 12"/>
          <p:cNvSpPr txBox="1"/>
          <p:nvPr/>
        </p:nvSpPr>
        <p:spPr>
          <a:xfrm>
            <a:off x="6035040" y="2487168"/>
            <a:ext cx="560801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VALORES ORGANIZACIONALES</a:t>
            </a:r>
            <a:endParaRPr lang="es-CL" sz="1300" dirty="0"/>
          </a:p>
        </p:txBody>
      </p:sp>
      <p:sp>
        <p:nvSpPr>
          <p:cNvPr id="15" name="Shape 13"/>
          <p:cNvSpPr/>
          <p:nvPr/>
        </p:nvSpPr>
        <p:spPr>
          <a:xfrm>
            <a:off x="6035040" y="2917444"/>
            <a:ext cx="82296" cy="82296"/>
          </a:xfrm>
          <a:prstGeom prst="rect">
            <a:avLst/>
          </a:prstGeom>
          <a:solidFill>
            <a:schemeClr val="accent1"/>
          </a:solidFill>
          <a:ln/>
        </p:spPr>
      </p:sp>
      <p:sp>
        <p:nvSpPr>
          <p:cNvPr id="16" name="Text 14"/>
          <p:cNvSpPr txBox="1"/>
          <p:nvPr/>
        </p:nvSpPr>
        <p:spPr>
          <a:xfrm>
            <a:off x="6236208" y="2834640"/>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Verificabilidad antes que afirmación</a:t>
            </a:r>
            <a:endParaRPr lang="es-CL" sz="1600" dirty="0"/>
          </a:p>
        </p:txBody>
      </p:sp>
      <p:sp>
        <p:nvSpPr>
          <p:cNvPr id="17" name="Shape 15"/>
          <p:cNvSpPr/>
          <p:nvPr/>
        </p:nvSpPr>
        <p:spPr>
          <a:xfrm>
            <a:off x="6035040" y="3256788"/>
            <a:ext cx="82296" cy="82296"/>
          </a:xfrm>
          <a:prstGeom prst="rect">
            <a:avLst/>
          </a:prstGeom>
          <a:solidFill>
            <a:schemeClr val="accent1"/>
          </a:solidFill>
          <a:ln/>
        </p:spPr>
      </p:sp>
      <p:sp>
        <p:nvSpPr>
          <p:cNvPr id="18" name="Text 16"/>
          <p:cNvSpPr txBox="1"/>
          <p:nvPr/>
        </p:nvSpPr>
        <p:spPr>
          <a:xfrm>
            <a:off x="6236208" y="3173984"/>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Formalidad como condición de operación</a:t>
            </a:r>
            <a:endParaRPr lang="es-CL" sz="1600" dirty="0"/>
          </a:p>
        </p:txBody>
      </p:sp>
      <p:sp>
        <p:nvSpPr>
          <p:cNvPr id="19" name="Shape 17"/>
          <p:cNvSpPr/>
          <p:nvPr/>
        </p:nvSpPr>
        <p:spPr>
          <a:xfrm>
            <a:off x="6035040" y="3596132"/>
            <a:ext cx="82296" cy="82296"/>
          </a:xfrm>
          <a:prstGeom prst="rect">
            <a:avLst/>
          </a:prstGeom>
          <a:solidFill>
            <a:schemeClr val="accent1"/>
          </a:solidFill>
          <a:ln/>
        </p:spPr>
      </p:sp>
      <p:sp>
        <p:nvSpPr>
          <p:cNvPr id="20" name="Text 18"/>
          <p:cNvSpPr txBox="1"/>
          <p:nvPr/>
        </p:nvSpPr>
        <p:spPr>
          <a:xfrm>
            <a:off x="6236208" y="3513328"/>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Trazabilidad del conocimiento técnico</a:t>
            </a:r>
            <a:endParaRPr lang="es-CL" sz="1600" dirty="0"/>
          </a:p>
        </p:txBody>
      </p:sp>
      <p:sp>
        <p:nvSpPr>
          <p:cNvPr id="21" name="Shape 19"/>
          <p:cNvSpPr/>
          <p:nvPr/>
        </p:nvSpPr>
        <p:spPr>
          <a:xfrm>
            <a:off x="6035040" y="3935476"/>
            <a:ext cx="82296" cy="82296"/>
          </a:xfrm>
          <a:prstGeom prst="rect">
            <a:avLst/>
          </a:prstGeom>
          <a:solidFill>
            <a:schemeClr val="accent1"/>
          </a:solidFill>
          <a:ln/>
        </p:spPr>
      </p:sp>
      <p:sp>
        <p:nvSpPr>
          <p:cNvPr id="22" name="Text 20"/>
          <p:cNvSpPr txBox="1"/>
          <p:nvPr/>
        </p:nvSpPr>
        <p:spPr>
          <a:xfrm>
            <a:off x="6236208" y="3852672"/>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Responsabilidad sobre el ciclo completo del componente</a:t>
            </a:r>
            <a:endParaRPr lang="es-CL" sz="1600" dirty="0"/>
          </a:p>
        </p:txBody>
      </p:sp>
      <p:sp>
        <p:nvSpPr>
          <p:cNvPr id="23" name="Shape 21"/>
          <p:cNvSpPr/>
          <p:nvPr/>
        </p:nvSpPr>
        <p:spPr>
          <a:xfrm>
            <a:off x="6035040" y="4329176"/>
            <a:ext cx="5608015" cy="0"/>
          </a:xfrm>
          <a:prstGeom prst="line">
            <a:avLst/>
          </a:prstGeom>
          <a:noFill/>
          <a:ln w="9525">
            <a:solidFill>
              <a:schemeClr val="accent1"/>
            </a:solidFill>
            <a:prstDash val="solid"/>
          </a:ln>
        </p:spPr>
      </p:sp>
      <p:sp>
        <p:nvSpPr>
          <p:cNvPr id="24" name="Text 22"/>
          <p:cNvSpPr txBox="1"/>
          <p:nvPr/>
        </p:nvSpPr>
        <p:spPr>
          <a:xfrm>
            <a:off x="6035040" y="4420616"/>
            <a:ext cx="560801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VALORES HUMANOS</a:t>
            </a:r>
            <a:endParaRPr lang="es-CL" sz="1300" dirty="0"/>
          </a:p>
        </p:txBody>
      </p:sp>
      <p:sp>
        <p:nvSpPr>
          <p:cNvPr id="25" name="Shape 23"/>
          <p:cNvSpPr/>
          <p:nvPr/>
        </p:nvSpPr>
        <p:spPr>
          <a:xfrm>
            <a:off x="6035040" y="4850892"/>
            <a:ext cx="82296" cy="82296"/>
          </a:xfrm>
          <a:prstGeom prst="rect">
            <a:avLst/>
          </a:prstGeom>
          <a:solidFill>
            <a:schemeClr val="tx2"/>
          </a:solidFill>
          <a:ln/>
        </p:spPr>
      </p:sp>
      <p:sp>
        <p:nvSpPr>
          <p:cNvPr id="26" name="Text 24"/>
          <p:cNvSpPr txBox="1"/>
          <p:nvPr/>
        </p:nvSpPr>
        <p:spPr>
          <a:xfrm>
            <a:off x="6236208" y="4768088"/>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Honestidad técnica en el diagnóstico</a:t>
            </a:r>
            <a:endParaRPr lang="es-CL" sz="1600" dirty="0"/>
          </a:p>
        </p:txBody>
      </p:sp>
      <p:sp>
        <p:nvSpPr>
          <p:cNvPr id="27" name="Shape 25"/>
          <p:cNvSpPr/>
          <p:nvPr/>
        </p:nvSpPr>
        <p:spPr>
          <a:xfrm>
            <a:off x="6035040" y="5190236"/>
            <a:ext cx="82296" cy="82296"/>
          </a:xfrm>
          <a:prstGeom prst="rect">
            <a:avLst/>
          </a:prstGeom>
          <a:solidFill>
            <a:schemeClr val="tx2"/>
          </a:solidFill>
          <a:ln/>
        </p:spPr>
      </p:sp>
      <p:sp>
        <p:nvSpPr>
          <p:cNvPr id="28" name="Text 26"/>
          <p:cNvSpPr txBox="1"/>
          <p:nvPr/>
        </p:nvSpPr>
        <p:spPr>
          <a:xfrm>
            <a:off x="6236208" y="5107432"/>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Seguridad de quien instala y de quien conduce</a:t>
            </a:r>
            <a:endParaRPr lang="es-CL" sz="1600" dirty="0"/>
          </a:p>
        </p:txBody>
      </p:sp>
      <p:sp>
        <p:nvSpPr>
          <p:cNvPr id="29" name="Shape 27"/>
          <p:cNvSpPr/>
          <p:nvPr/>
        </p:nvSpPr>
        <p:spPr>
          <a:xfrm>
            <a:off x="6035040" y="5529580"/>
            <a:ext cx="82296" cy="82296"/>
          </a:xfrm>
          <a:prstGeom prst="rect">
            <a:avLst/>
          </a:prstGeom>
          <a:solidFill>
            <a:schemeClr val="tx2"/>
          </a:solidFill>
          <a:ln/>
        </p:spPr>
      </p:sp>
      <p:sp>
        <p:nvSpPr>
          <p:cNvPr id="30" name="Text 28"/>
          <p:cNvSpPr txBox="1"/>
          <p:nvPr/>
        </p:nvSpPr>
        <p:spPr>
          <a:xfrm>
            <a:off x="6236208" y="5446776"/>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Responsabilidad individual sobre la instalación ejecutada</a:t>
            </a:r>
            <a:endParaRPr lang="es-CL" sz="1600" dirty="0"/>
          </a:p>
        </p:txBody>
      </p:sp>
      <p:sp>
        <p:nvSpPr>
          <p:cNvPr id="31" name="Shape 29"/>
          <p:cNvSpPr/>
          <p:nvPr/>
        </p:nvSpPr>
        <p:spPr>
          <a:xfrm>
            <a:off x="6035040" y="5868924"/>
            <a:ext cx="82296" cy="82296"/>
          </a:xfrm>
          <a:prstGeom prst="rect">
            <a:avLst/>
          </a:prstGeom>
          <a:solidFill>
            <a:schemeClr val="tx2"/>
          </a:solidFill>
          <a:ln/>
        </p:spPr>
      </p:sp>
      <p:sp>
        <p:nvSpPr>
          <p:cNvPr id="32" name="Text 30"/>
          <p:cNvSpPr txBox="1"/>
          <p:nvPr/>
        </p:nvSpPr>
        <p:spPr>
          <a:xfrm>
            <a:off x="6236208" y="5786120"/>
            <a:ext cx="5406847"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Reconocimiento del oficio técnico</a:t>
            </a:r>
            <a:endParaRPr lang="es-CL" sz="16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06</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ANÁLISIS ESTRATÉGICO · ENTORNO GENERAL · PEST</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EL ENTORNO PESA EN CONTRA: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20 amenazas frente a 13 oportunidades.</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PEST (03) del análisis estratégico del equipo (Control de Gestión, 2026), según Francés (2006). Escala 1 a 5, 3 = neutro. Detalle en los anexos A1, A2 y A4.</a:t>
            </a:r>
            <a:endParaRPr lang="es-CL" sz="1200" dirty="0"/>
          </a:p>
        </p:txBody>
      </p:sp>
      <p:sp>
        <p:nvSpPr>
          <p:cNvPr id="5" name="Text 3"/>
          <p:cNvSpPr txBox="1"/>
          <p:nvPr/>
        </p:nvSpPr>
        <p:spPr>
          <a:xfrm>
            <a:off x="548640" y="2395728"/>
            <a:ext cx="6400800"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FACTORES POR DIMENSIÓN · 51 EN TOTAL</a:t>
            </a:r>
            <a:endParaRPr lang="es-CL" sz="1300" dirty="0"/>
          </a:p>
        </p:txBody>
      </p:sp>
      <p:graphicFrame>
        <p:nvGraphicFramePr>
          <p:cNvPr id="6" name="Gráfico PEST por dimensión" descr=""/>
          <p:cNvGraphicFramePr/>
          <p:nvPr/>
        </p:nvGraphicFramePr>
        <p:xfrm>
          <a:off x="457200" y="2715768"/>
          <a:ext cx="6492240" cy="3483864"/>
        </p:xfrm>
        <a:graphic xmlns:a="http://schemas.openxmlformats.org/drawingml/2006/main">
          <a:graphicData uri="http://schemas.openxmlformats.org/drawingml/2006/chart">
            <c:chart xmlns:c="http://schemas.openxmlformats.org/drawingml/2006/chart" r:id="rId1"/>
          </a:graphicData>
        </a:graphic>
      </p:graphicFrame>
      <p:pic>
        <p:nvPicPr>
          <p:cNvPr id="7" name="Image 0" descr="/home/user/lumine/control-3/generador/assets/brillo.png">    </p:cNvPr>
          <p:cNvPicPr>
            <a:picLocks noChangeAspect="1"/>
          </p:cNvPicPr>
          <p:nvPr/>
        </p:nvPicPr>
        <p:blipFill>
          <a:blip r:embed="rId2"/>
          <a:stretch>
            <a:fillRect/>
          </a:stretch>
        </p:blipFill>
        <p:spPr>
          <a:xfrm>
            <a:off x="6949440" y="2121408"/>
            <a:ext cx="2743200" cy="1645920"/>
          </a:xfrm>
          <a:prstGeom prst="rect">
            <a:avLst/>
          </a:prstGeom>
        </p:spPr>
      </p:pic>
      <p:sp>
        <p:nvSpPr>
          <p:cNvPr id="8" name="Text 4"/>
          <p:cNvSpPr txBox="1"/>
          <p:nvPr/>
        </p:nvSpPr>
        <p:spPr>
          <a:xfrm>
            <a:off x="7406640" y="2304288"/>
            <a:ext cx="2377440" cy="1188720"/>
          </a:xfrm>
          <a:prstGeom prst="rect">
            <a:avLst/>
          </a:prstGeom>
          <a:noFill/>
          <a:ln/>
        </p:spPr>
        <p:txBody>
          <a:bodyPr wrap="square" lIns="0" tIns="0" rIns="0" bIns="0" rtlCol="0" anchor="ctr"/>
          <a:lstStyle/>
          <a:p>
            <a:pPr indent="0" marL="0">
              <a:buNone/>
            </a:pPr>
            <a:r>
              <a:rPr lang="es-CL" altLang="en-US" sz="8000" b="1" dirty="0">
                <a:solidFill>
                  <a:schemeClr val="accent1"/>
                </a:solidFill>
                <a:latin typeface="Archivo Condensed" pitchFamily="34" charset="0"/>
                <a:ea typeface="Archivo Condensed" pitchFamily="34" charset="-122"/>
                <a:cs typeface="Archivo Condensed" pitchFamily="34" charset="-120"/>
              </a:rPr>
              <a:t>2,82</a:t>
            </a:r>
            <a:endParaRPr lang="es-CL" sz="8000" dirty="0"/>
          </a:p>
        </p:txBody>
      </p:sp>
      <p:sp>
        <p:nvSpPr>
          <p:cNvPr id="9" name="Text 5"/>
          <p:cNvSpPr txBox="1"/>
          <p:nvPr/>
        </p:nvSpPr>
        <p:spPr>
          <a:xfrm>
            <a:off x="9784080" y="2624328"/>
            <a:ext cx="1858975" cy="640080"/>
          </a:xfrm>
          <a:prstGeom prst="rect">
            <a:avLst/>
          </a:prstGeom>
          <a:noFill/>
          <a:ln/>
        </p:spPr>
        <p:txBody>
          <a:bodyPr wrap="square" lIns="0" tIns="0" rIns="0" bIns="0" rtlCol="0" anchor="t"/>
          <a:lstStyle/>
          <a:p>
            <a:pPr indent="0" marL="0">
              <a:buNone/>
            </a:pPr>
            <a:r>
              <a:rPr lang="es-CL" altLang="en-US" sz="1300" dirty="0">
                <a:solidFill>
                  <a:schemeClr val="accent1"/>
                </a:solidFill>
                <a:latin typeface="IBM Plex Mono" pitchFamily="34" charset="0"/>
                <a:ea typeface="IBM Plex Mono" pitchFamily="34" charset="-122"/>
                <a:cs typeface="IBM Plex Mono" pitchFamily="34" charset="-120"/>
              </a:rPr>
              <a:t>GLOBAL HOY</a:t>
            </a:r>
            <a:endParaRPr lang="es-CL" sz="1600" dirty="0"/>
          </a:p>
          <a:p>
            <a:pPr indent="0" marL="0">
              <a:buNone/>
            </a:pPr>
            <a:r>
              <a:rPr lang="es-CL" altLang="en-US" sz="1600" dirty="0">
                <a:solidFill>
                  <a:schemeClr val="tx2"/>
                </a:solidFill>
                <a:latin typeface="Figtree" pitchFamily="34" charset="0"/>
                <a:ea typeface="Figtree" pitchFamily="34" charset="-122"/>
                <a:cs typeface="Figtree" pitchFamily="34" charset="-120"/>
              </a:rPr>
              <a:t>escala 1 a 5 · 3 = neutro</a:t>
            </a:r>
            <a:endParaRPr lang="es-CL" sz="1600" dirty="0"/>
          </a:p>
        </p:txBody>
      </p:sp>
      <p:sp>
        <p:nvSpPr>
          <p:cNvPr id="10" name="Shape 6"/>
          <p:cNvSpPr/>
          <p:nvPr/>
        </p:nvSpPr>
        <p:spPr>
          <a:xfrm>
            <a:off x="7406640" y="3675888"/>
            <a:ext cx="4236415" cy="0"/>
          </a:xfrm>
          <a:prstGeom prst="line">
            <a:avLst/>
          </a:prstGeom>
          <a:noFill/>
          <a:ln w="9525">
            <a:solidFill>
              <a:schemeClr val="accent5"/>
            </a:solidFill>
            <a:prstDash val="solid"/>
          </a:ln>
        </p:spPr>
      </p:sp>
      <p:sp>
        <p:nvSpPr>
          <p:cNvPr id="11" name="Text 7"/>
          <p:cNvSpPr txBox="1"/>
          <p:nvPr/>
        </p:nvSpPr>
        <p:spPr>
          <a:xfrm>
            <a:off x="7406640" y="3712464"/>
            <a:ext cx="3139135" cy="292608"/>
          </a:xfrm>
          <a:prstGeom prst="rect">
            <a:avLst/>
          </a:prstGeom>
          <a:noFill/>
          <a:ln/>
        </p:spPr>
        <p:txBody>
          <a:bodyPr wrap="square" lIns="0" tIns="0" rIns="0" bIns="0" rtlCol="0" anchor="ctr"/>
          <a:lstStyle/>
          <a:p>
            <a:pPr indent="0" marL="0">
              <a:buNone/>
            </a:pPr>
            <a:r>
              <a:rPr lang="es-CL" altLang="en-US" sz="1700" b="1" dirty="0">
                <a:solidFill>
                  <a:schemeClr val="tx1"/>
                </a:solidFill>
                <a:latin typeface="Figtree" pitchFamily="34" charset="0"/>
                <a:ea typeface="Figtree" pitchFamily="34" charset="-122"/>
                <a:cs typeface="Figtree" pitchFamily="34" charset="-120"/>
              </a:rPr>
              <a:t>Político-jurídico</a:t>
            </a:r>
            <a:endParaRPr lang="es-CL" sz="1700" dirty="0"/>
          </a:p>
        </p:txBody>
      </p:sp>
      <p:sp>
        <p:nvSpPr>
          <p:cNvPr id="12" name="Text 8"/>
          <p:cNvSpPr txBox="1"/>
          <p:nvPr/>
        </p:nvSpPr>
        <p:spPr>
          <a:xfrm>
            <a:off x="7406640" y="3986784"/>
            <a:ext cx="3139135" cy="274320"/>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Ley sin reglamento</a:t>
            </a:r>
            <a:endParaRPr lang="es-CL" sz="1600" dirty="0"/>
          </a:p>
        </p:txBody>
      </p:sp>
      <p:sp>
        <p:nvSpPr>
          <p:cNvPr id="13" name="Text 9"/>
          <p:cNvSpPr txBox="1"/>
          <p:nvPr/>
        </p:nvSpPr>
        <p:spPr>
          <a:xfrm>
            <a:off x="10545775" y="3675888"/>
            <a:ext cx="1097280" cy="603504"/>
          </a:xfrm>
          <a:prstGeom prst="rect">
            <a:avLst/>
          </a:prstGeom>
          <a:noFill/>
          <a:ln/>
        </p:spPr>
        <p:txBody>
          <a:bodyPr wrap="square" lIns="0" tIns="0" rIns="0" bIns="0" rtlCol="0" anchor="ctr"/>
          <a:lstStyle/>
          <a:p>
            <a:pPr algn="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2,67</a:t>
            </a:r>
            <a:endParaRPr lang="es-CL" sz="3000" dirty="0"/>
          </a:p>
        </p:txBody>
      </p:sp>
      <p:sp>
        <p:nvSpPr>
          <p:cNvPr id="14" name="Shape 10"/>
          <p:cNvSpPr/>
          <p:nvPr/>
        </p:nvSpPr>
        <p:spPr>
          <a:xfrm>
            <a:off x="7406640" y="4279392"/>
            <a:ext cx="4236415" cy="0"/>
          </a:xfrm>
          <a:prstGeom prst="line">
            <a:avLst/>
          </a:prstGeom>
          <a:noFill/>
          <a:ln w="9525">
            <a:solidFill>
              <a:schemeClr val="accent5"/>
            </a:solidFill>
            <a:prstDash val="solid"/>
          </a:ln>
        </p:spPr>
      </p:sp>
      <p:sp>
        <p:nvSpPr>
          <p:cNvPr id="15" name="Text 11"/>
          <p:cNvSpPr txBox="1"/>
          <p:nvPr/>
        </p:nvSpPr>
        <p:spPr>
          <a:xfrm>
            <a:off x="7406640" y="4315968"/>
            <a:ext cx="3139135" cy="292608"/>
          </a:xfrm>
          <a:prstGeom prst="rect">
            <a:avLst/>
          </a:prstGeom>
          <a:noFill/>
          <a:ln/>
        </p:spPr>
        <p:txBody>
          <a:bodyPr wrap="square" lIns="0" tIns="0" rIns="0" bIns="0" rtlCol="0" anchor="ctr"/>
          <a:lstStyle/>
          <a:p>
            <a:pPr indent="0" marL="0">
              <a:buNone/>
            </a:pPr>
            <a:r>
              <a:rPr lang="es-CL" altLang="en-US" sz="1700" b="1" dirty="0">
                <a:solidFill>
                  <a:schemeClr val="tx1"/>
                </a:solidFill>
                <a:latin typeface="Figtree" pitchFamily="34" charset="0"/>
                <a:ea typeface="Figtree" pitchFamily="34" charset="-122"/>
                <a:cs typeface="Figtree" pitchFamily="34" charset="-120"/>
              </a:rPr>
              <a:t>Económico</a:t>
            </a:r>
            <a:endParaRPr lang="es-CL" sz="1700" dirty="0"/>
          </a:p>
        </p:txBody>
      </p:sp>
      <p:sp>
        <p:nvSpPr>
          <p:cNvPr id="16" name="Text 12"/>
          <p:cNvSpPr txBox="1"/>
          <p:nvPr/>
        </p:nvSpPr>
        <p:spPr>
          <a:xfrm>
            <a:off x="7406640" y="4590288"/>
            <a:ext cx="3139135" cy="274320"/>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Pago y costos importados</a:t>
            </a:r>
            <a:endParaRPr lang="es-CL" sz="1600" dirty="0"/>
          </a:p>
        </p:txBody>
      </p:sp>
      <p:sp>
        <p:nvSpPr>
          <p:cNvPr id="17" name="Text 13"/>
          <p:cNvSpPr txBox="1"/>
          <p:nvPr/>
        </p:nvSpPr>
        <p:spPr>
          <a:xfrm>
            <a:off x="10545775" y="4279392"/>
            <a:ext cx="1097280" cy="603504"/>
          </a:xfrm>
          <a:prstGeom prst="rect">
            <a:avLst/>
          </a:prstGeom>
          <a:noFill/>
          <a:ln/>
        </p:spPr>
        <p:txBody>
          <a:bodyPr wrap="square" lIns="0" tIns="0" rIns="0" bIns="0" rtlCol="0" anchor="ctr"/>
          <a:lstStyle/>
          <a:p>
            <a:pPr algn="r" indent="0" marL="0">
              <a:buNone/>
            </a:pPr>
            <a:r>
              <a:rPr lang="es-CL" altLang="en-US" sz="3000" b="1" dirty="0">
                <a:solidFill>
                  <a:schemeClr val="tx1"/>
                </a:solidFill>
                <a:latin typeface="Archivo Condensed" pitchFamily="34" charset="0"/>
                <a:ea typeface="Archivo Condensed" pitchFamily="34" charset="-122"/>
                <a:cs typeface="Archivo Condensed" pitchFamily="34" charset="-120"/>
              </a:rPr>
              <a:t>2,38</a:t>
            </a:r>
            <a:endParaRPr lang="es-CL" sz="3000" dirty="0"/>
          </a:p>
        </p:txBody>
      </p:sp>
      <p:sp>
        <p:nvSpPr>
          <p:cNvPr id="18" name="Shape 14"/>
          <p:cNvSpPr/>
          <p:nvPr/>
        </p:nvSpPr>
        <p:spPr>
          <a:xfrm>
            <a:off x="7406640" y="4882896"/>
            <a:ext cx="4236415" cy="0"/>
          </a:xfrm>
          <a:prstGeom prst="line">
            <a:avLst/>
          </a:prstGeom>
          <a:noFill/>
          <a:ln w="9525">
            <a:solidFill>
              <a:schemeClr val="accent5"/>
            </a:solidFill>
            <a:prstDash val="solid"/>
          </a:ln>
        </p:spPr>
      </p:sp>
      <p:sp>
        <p:nvSpPr>
          <p:cNvPr id="19" name="Text 15"/>
          <p:cNvSpPr txBox="1"/>
          <p:nvPr/>
        </p:nvSpPr>
        <p:spPr>
          <a:xfrm>
            <a:off x="7406640" y="4919472"/>
            <a:ext cx="3139135" cy="292608"/>
          </a:xfrm>
          <a:prstGeom prst="rect">
            <a:avLst/>
          </a:prstGeom>
          <a:noFill/>
          <a:ln/>
        </p:spPr>
        <p:txBody>
          <a:bodyPr wrap="square" lIns="0" tIns="0" rIns="0" bIns="0" rtlCol="0" anchor="ctr"/>
          <a:lstStyle/>
          <a:p>
            <a:pPr indent="0" marL="0">
              <a:buNone/>
            </a:pPr>
            <a:r>
              <a:rPr lang="es-CL" altLang="en-US" sz="1700" b="1" dirty="0">
                <a:solidFill>
                  <a:schemeClr val="tx1"/>
                </a:solidFill>
                <a:latin typeface="Figtree" pitchFamily="34" charset="0"/>
                <a:ea typeface="Figtree" pitchFamily="34" charset="-122"/>
                <a:cs typeface="Figtree" pitchFamily="34" charset="-120"/>
              </a:rPr>
              <a:t>Sociocultural</a:t>
            </a:r>
            <a:endParaRPr lang="es-CL" sz="1700" dirty="0"/>
          </a:p>
        </p:txBody>
      </p:sp>
      <p:sp>
        <p:nvSpPr>
          <p:cNvPr id="20" name="Text 16"/>
          <p:cNvSpPr txBox="1"/>
          <p:nvPr/>
        </p:nvSpPr>
        <p:spPr>
          <a:xfrm>
            <a:off x="7406640" y="5193792"/>
            <a:ext cx="3139135" cy="274320"/>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Neutro</a:t>
            </a:r>
            <a:endParaRPr lang="es-CL" sz="1600" dirty="0"/>
          </a:p>
        </p:txBody>
      </p:sp>
      <p:sp>
        <p:nvSpPr>
          <p:cNvPr id="21" name="Text 17"/>
          <p:cNvSpPr txBox="1"/>
          <p:nvPr/>
        </p:nvSpPr>
        <p:spPr>
          <a:xfrm>
            <a:off x="10545775" y="4882896"/>
            <a:ext cx="1097280" cy="603504"/>
          </a:xfrm>
          <a:prstGeom prst="rect">
            <a:avLst/>
          </a:prstGeom>
          <a:noFill/>
          <a:ln/>
        </p:spPr>
        <p:txBody>
          <a:bodyPr wrap="square" lIns="0" tIns="0" rIns="0" bIns="0" rtlCol="0" anchor="ctr"/>
          <a:lstStyle/>
          <a:p>
            <a:pPr algn="r" indent="0" marL="0">
              <a:buNone/>
            </a:pPr>
            <a:r>
              <a:rPr lang="es-CL" altLang="en-US" sz="3000" b="1" dirty="0">
                <a:solidFill>
                  <a:schemeClr val="tx2"/>
                </a:solidFill>
                <a:latin typeface="Archivo Condensed" pitchFamily="34" charset="0"/>
                <a:ea typeface="Archivo Condensed" pitchFamily="34" charset="-122"/>
                <a:cs typeface="Archivo Condensed" pitchFamily="34" charset="-120"/>
              </a:rPr>
              <a:t>3,00</a:t>
            </a:r>
            <a:endParaRPr lang="es-CL" sz="3000" dirty="0"/>
          </a:p>
        </p:txBody>
      </p:sp>
      <p:sp>
        <p:nvSpPr>
          <p:cNvPr id="22" name="Shape 18"/>
          <p:cNvSpPr/>
          <p:nvPr/>
        </p:nvSpPr>
        <p:spPr>
          <a:xfrm>
            <a:off x="7406640" y="5486400"/>
            <a:ext cx="4236415" cy="0"/>
          </a:xfrm>
          <a:prstGeom prst="line">
            <a:avLst/>
          </a:prstGeom>
          <a:noFill/>
          <a:ln w="9525">
            <a:solidFill>
              <a:schemeClr val="accent5"/>
            </a:solidFill>
            <a:prstDash val="solid"/>
          </a:ln>
        </p:spPr>
      </p:sp>
      <p:sp>
        <p:nvSpPr>
          <p:cNvPr id="23" name="Text 19"/>
          <p:cNvSpPr txBox="1"/>
          <p:nvPr/>
        </p:nvSpPr>
        <p:spPr>
          <a:xfrm>
            <a:off x="7406640" y="5522976"/>
            <a:ext cx="3139135" cy="292608"/>
          </a:xfrm>
          <a:prstGeom prst="rect">
            <a:avLst/>
          </a:prstGeom>
          <a:noFill/>
          <a:ln/>
        </p:spPr>
        <p:txBody>
          <a:bodyPr wrap="square" lIns="0" tIns="0" rIns="0" bIns="0" rtlCol="0" anchor="ctr"/>
          <a:lstStyle/>
          <a:p>
            <a:pPr indent="0" marL="0">
              <a:buNone/>
            </a:pPr>
            <a:r>
              <a:rPr lang="es-CL" altLang="en-US" sz="1700" b="1" dirty="0">
                <a:solidFill>
                  <a:schemeClr val="tx1"/>
                </a:solidFill>
                <a:latin typeface="Figtree" pitchFamily="34" charset="0"/>
                <a:ea typeface="Figtree" pitchFamily="34" charset="-122"/>
                <a:cs typeface="Figtree" pitchFamily="34" charset="-120"/>
              </a:rPr>
              <a:t>Tecnológico</a:t>
            </a:r>
            <a:endParaRPr lang="es-CL" sz="1700" dirty="0"/>
          </a:p>
        </p:txBody>
      </p:sp>
      <p:sp>
        <p:nvSpPr>
          <p:cNvPr id="24" name="Text 20"/>
          <p:cNvSpPr txBox="1"/>
          <p:nvPr/>
        </p:nvSpPr>
        <p:spPr>
          <a:xfrm>
            <a:off x="7406640" y="5797296"/>
            <a:ext cx="3139135" cy="274320"/>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Única sobre el neutro</a:t>
            </a:r>
            <a:endParaRPr lang="es-CL" sz="1600" dirty="0"/>
          </a:p>
        </p:txBody>
      </p:sp>
      <p:sp>
        <p:nvSpPr>
          <p:cNvPr id="25" name="Text 21"/>
          <p:cNvSpPr txBox="1"/>
          <p:nvPr/>
        </p:nvSpPr>
        <p:spPr>
          <a:xfrm>
            <a:off x="10545775" y="5486400"/>
            <a:ext cx="1097280" cy="603504"/>
          </a:xfrm>
          <a:prstGeom prst="rect">
            <a:avLst/>
          </a:prstGeom>
          <a:noFill/>
          <a:ln/>
        </p:spPr>
        <p:txBody>
          <a:bodyPr wrap="square" lIns="0" tIns="0" rIns="0" bIns="0" rtlCol="0" anchor="ctr"/>
          <a:lstStyle/>
          <a:p>
            <a:pPr algn="r" indent="0" marL="0">
              <a:buNone/>
            </a:pPr>
            <a:r>
              <a:rPr lang="es-CL" altLang="en-US" sz="3000" b="1" dirty="0">
                <a:solidFill>
                  <a:schemeClr val="accent1"/>
                </a:solidFill>
                <a:latin typeface="Archivo Condensed" pitchFamily="34" charset="0"/>
                <a:ea typeface="Archivo Condensed" pitchFamily="34" charset="-122"/>
                <a:cs typeface="Archivo Condensed" pitchFamily="34" charset="-120"/>
              </a:rPr>
              <a:t>3,23</a:t>
            </a:r>
            <a:endParaRPr lang="es-CL" sz="3000" dirty="0"/>
          </a:p>
        </p:txBody>
      </p:sp>
      <p:sp>
        <p:nvSpPr>
          <p:cNvPr id="26" name="Shape 22"/>
          <p:cNvSpPr/>
          <p:nvPr/>
        </p:nvSpPr>
        <p:spPr>
          <a:xfrm>
            <a:off x="7406640" y="6089904"/>
            <a:ext cx="4236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07</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ANÁLISIS ESTRATÉGICO · INDUSTRIA · CINCO FUERZAS</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EL RIVAL ES POSPONER LA COMPRA,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no otro taller.</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de cinco fuerzas (02) del análisis estratégico del equipo (Control de Gestión, 2026), según Porter (2008). Intensidad 0 a 5, ponderada. Cálculo en el anexo A3.</a:t>
            </a:r>
            <a:endParaRPr lang="es-CL" sz="1200" dirty="0"/>
          </a:p>
        </p:txBody>
      </p:sp>
      <p:sp>
        <p:nvSpPr>
          <p:cNvPr id="5" name="Text 3"/>
          <p:cNvSpPr txBox="1"/>
          <p:nvPr/>
        </p:nvSpPr>
        <p:spPr>
          <a:xfrm>
            <a:off x="548640" y="2395728"/>
            <a:ext cx="6583680"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INTENSIDAD POR FUERZA · 0 A 5 · PESO DEL MODELO</a:t>
            </a:r>
            <a:endParaRPr lang="es-CL" sz="1300" dirty="0"/>
          </a:p>
        </p:txBody>
      </p:sp>
      <p:graphicFrame>
        <p:nvGraphicFramePr>
          <p:cNvPr id="6" name="Gráfico cinco fuerzas" descr=""/>
          <p:cNvGraphicFramePr/>
          <p:nvPr/>
        </p:nvGraphicFramePr>
        <p:xfrm>
          <a:off x="457200" y="2715768"/>
          <a:ext cx="6675120" cy="3483864"/>
        </p:xfrm>
        <a:graphic xmlns:a="http://schemas.openxmlformats.org/drawingml/2006/main">
          <a:graphicData uri="http://schemas.openxmlformats.org/drawingml/2006/chart">
            <c:chart xmlns:c="http://schemas.openxmlformats.org/drawingml/2006/chart" r:id="rId1"/>
          </a:graphicData>
        </a:graphic>
      </p:graphicFrame>
      <p:pic>
        <p:nvPicPr>
          <p:cNvPr id="7" name="Image 0" descr="/home/user/lumine/control-3/generador/assets/brillo.png">    </p:cNvPr>
          <p:cNvPicPr>
            <a:picLocks noChangeAspect="1"/>
          </p:cNvPicPr>
          <p:nvPr/>
        </p:nvPicPr>
        <p:blipFill>
          <a:blip r:embed="rId2"/>
          <a:stretch>
            <a:fillRect/>
          </a:stretch>
        </p:blipFill>
        <p:spPr>
          <a:xfrm>
            <a:off x="7132320" y="2121408"/>
            <a:ext cx="2743200" cy="1645920"/>
          </a:xfrm>
          <a:prstGeom prst="rect">
            <a:avLst/>
          </a:prstGeom>
        </p:spPr>
      </p:pic>
      <p:sp>
        <p:nvSpPr>
          <p:cNvPr id="8" name="Text 4"/>
          <p:cNvSpPr txBox="1"/>
          <p:nvPr/>
        </p:nvSpPr>
        <p:spPr>
          <a:xfrm>
            <a:off x="7589520" y="2304288"/>
            <a:ext cx="2377440" cy="1188720"/>
          </a:xfrm>
          <a:prstGeom prst="rect">
            <a:avLst/>
          </a:prstGeom>
          <a:noFill/>
          <a:ln/>
        </p:spPr>
        <p:txBody>
          <a:bodyPr wrap="square" lIns="0" tIns="0" rIns="0" bIns="0" rtlCol="0" anchor="ctr"/>
          <a:lstStyle/>
          <a:p>
            <a:pPr indent="0" marL="0">
              <a:buNone/>
            </a:pPr>
            <a:r>
              <a:rPr lang="es-CL" altLang="en-US" sz="8000" b="1" dirty="0">
                <a:solidFill>
                  <a:schemeClr val="accent1"/>
                </a:solidFill>
                <a:latin typeface="Archivo Condensed" pitchFamily="34" charset="0"/>
                <a:ea typeface="Archivo Condensed" pitchFamily="34" charset="-122"/>
                <a:cs typeface="Archivo Condensed" pitchFamily="34" charset="-120"/>
              </a:rPr>
              <a:t>3,49</a:t>
            </a:r>
            <a:endParaRPr lang="es-CL" sz="8000" dirty="0"/>
          </a:p>
        </p:txBody>
      </p:sp>
      <p:sp>
        <p:nvSpPr>
          <p:cNvPr id="9" name="Text 5"/>
          <p:cNvSpPr txBox="1"/>
          <p:nvPr/>
        </p:nvSpPr>
        <p:spPr>
          <a:xfrm>
            <a:off x="9966960" y="2624328"/>
            <a:ext cx="1676095" cy="640080"/>
          </a:xfrm>
          <a:prstGeom prst="rect">
            <a:avLst/>
          </a:prstGeom>
          <a:noFill/>
          <a:ln/>
        </p:spPr>
        <p:txBody>
          <a:bodyPr wrap="square" lIns="0" tIns="0" rIns="0" bIns="0" rtlCol="0" anchor="t"/>
          <a:lstStyle/>
          <a:p>
            <a:pPr indent="0" marL="0">
              <a:buNone/>
            </a:pPr>
            <a:r>
              <a:rPr lang="es-CL" altLang="en-US" sz="1300" dirty="0">
                <a:solidFill>
                  <a:schemeClr val="accent1"/>
                </a:solidFill>
                <a:latin typeface="IBM Plex Mono" pitchFamily="34" charset="0"/>
                <a:ea typeface="IBM Plex Mono" pitchFamily="34" charset="-122"/>
                <a:cs typeface="IBM Plex Mono" pitchFamily="34" charset="-120"/>
              </a:rPr>
              <a:t>PROMEDIO PONDERADO</a:t>
            </a:r>
            <a:endParaRPr lang="es-CL" sz="1600" dirty="0"/>
          </a:p>
          <a:p>
            <a:pPr indent="0" marL="0">
              <a:buNone/>
            </a:pPr>
            <a:r>
              <a:rPr lang="es-CL" altLang="en-US" sz="1600" dirty="0">
                <a:solidFill>
                  <a:schemeClr val="tx2"/>
                </a:solidFill>
                <a:latin typeface="Figtree" pitchFamily="34" charset="0"/>
                <a:ea typeface="Figtree" pitchFamily="34" charset="-122"/>
                <a:cs typeface="Figtree" pitchFamily="34" charset="-120"/>
              </a:rPr>
              <a:t>industria poco atractiva</a:t>
            </a:r>
            <a:endParaRPr lang="es-CL" sz="1600" dirty="0"/>
          </a:p>
        </p:txBody>
      </p:sp>
      <p:sp>
        <p:nvSpPr>
          <p:cNvPr id="10" name="Shape 6"/>
          <p:cNvSpPr/>
          <p:nvPr/>
        </p:nvSpPr>
        <p:spPr>
          <a:xfrm>
            <a:off x="7589520" y="3675888"/>
            <a:ext cx="4053535" cy="1874520"/>
          </a:xfrm>
          <a:prstGeom prst="rect">
            <a:avLst/>
          </a:prstGeom>
          <a:solidFill>
            <a:srgbClr val="062A45"/>
          </a:solidFill>
          <a:ln w="15875">
            <a:solidFill>
              <a:schemeClr val="accent1"/>
            </a:solidFill>
            <a:prstDash val="solid"/>
          </a:ln>
        </p:spPr>
      </p:sp>
      <p:sp>
        <p:nvSpPr>
          <p:cNvPr id="11" name="Shape 7"/>
          <p:cNvSpPr/>
          <p:nvPr/>
        </p:nvSpPr>
        <p:spPr>
          <a:xfrm>
            <a:off x="7534656" y="3621024"/>
            <a:ext cx="155448" cy="0"/>
          </a:xfrm>
          <a:prstGeom prst="line">
            <a:avLst/>
          </a:prstGeom>
          <a:noFill/>
          <a:ln w="15875">
            <a:solidFill>
              <a:schemeClr val="accent1"/>
            </a:solidFill>
            <a:prstDash val="solid"/>
          </a:ln>
        </p:spPr>
      </p:sp>
      <p:sp>
        <p:nvSpPr>
          <p:cNvPr id="12" name="Shape 8"/>
          <p:cNvSpPr/>
          <p:nvPr/>
        </p:nvSpPr>
        <p:spPr>
          <a:xfrm>
            <a:off x="7534656" y="3621024"/>
            <a:ext cx="0" cy="155448"/>
          </a:xfrm>
          <a:prstGeom prst="line">
            <a:avLst/>
          </a:prstGeom>
          <a:noFill/>
          <a:ln w="15875">
            <a:solidFill>
              <a:schemeClr val="accent1"/>
            </a:solidFill>
            <a:prstDash val="solid"/>
          </a:ln>
        </p:spPr>
      </p:sp>
      <p:sp>
        <p:nvSpPr>
          <p:cNvPr id="13" name="Shape 9"/>
          <p:cNvSpPr/>
          <p:nvPr/>
        </p:nvSpPr>
        <p:spPr>
          <a:xfrm>
            <a:off x="11542471" y="3621024"/>
            <a:ext cx="155448" cy="0"/>
          </a:xfrm>
          <a:prstGeom prst="line">
            <a:avLst/>
          </a:prstGeom>
          <a:noFill/>
          <a:ln w="15875">
            <a:solidFill>
              <a:schemeClr val="accent1"/>
            </a:solidFill>
            <a:prstDash val="solid"/>
          </a:ln>
        </p:spPr>
      </p:sp>
      <p:sp>
        <p:nvSpPr>
          <p:cNvPr id="14" name="Shape 10"/>
          <p:cNvSpPr/>
          <p:nvPr/>
        </p:nvSpPr>
        <p:spPr>
          <a:xfrm>
            <a:off x="11697919" y="3621024"/>
            <a:ext cx="0" cy="155448"/>
          </a:xfrm>
          <a:prstGeom prst="line">
            <a:avLst/>
          </a:prstGeom>
          <a:noFill/>
          <a:ln w="15875">
            <a:solidFill>
              <a:schemeClr val="accent1"/>
            </a:solidFill>
            <a:prstDash val="solid"/>
          </a:ln>
        </p:spPr>
      </p:sp>
      <p:sp>
        <p:nvSpPr>
          <p:cNvPr id="15" name="Shape 11"/>
          <p:cNvSpPr/>
          <p:nvPr/>
        </p:nvSpPr>
        <p:spPr>
          <a:xfrm>
            <a:off x="7534656" y="5605272"/>
            <a:ext cx="155448" cy="0"/>
          </a:xfrm>
          <a:prstGeom prst="line">
            <a:avLst/>
          </a:prstGeom>
          <a:noFill/>
          <a:ln w="15875">
            <a:solidFill>
              <a:schemeClr val="accent1"/>
            </a:solidFill>
            <a:prstDash val="solid"/>
          </a:ln>
        </p:spPr>
      </p:sp>
      <p:sp>
        <p:nvSpPr>
          <p:cNvPr id="16" name="Shape 12"/>
          <p:cNvSpPr/>
          <p:nvPr/>
        </p:nvSpPr>
        <p:spPr>
          <a:xfrm>
            <a:off x="7534656" y="5449824"/>
            <a:ext cx="0" cy="155448"/>
          </a:xfrm>
          <a:prstGeom prst="line">
            <a:avLst/>
          </a:prstGeom>
          <a:noFill/>
          <a:ln w="15875">
            <a:solidFill>
              <a:schemeClr val="accent1"/>
            </a:solidFill>
            <a:prstDash val="solid"/>
          </a:ln>
        </p:spPr>
      </p:sp>
      <p:sp>
        <p:nvSpPr>
          <p:cNvPr id="17" name="Shape 13"/>
          <p:cNvSpPr/>
          <p:nvPr/>
        </p:nvSpPr>
        <p:spPr>
          <a:xfrm>
            <a:off x="11542471" y="5605272"/>
            <a:ext cx="155448" cy="0"/>
          </a:xfrm>
          <a:prstGeom prst="line">
            <a:avLst/>
          </a:prstGeom>
          <a:noFill/>
          <a:ln w="15875">
            <a:solidFill>
              <a:schemeClr val="accent1"/>
            </a:solidFill>
            <a:prstDash val="solid"/>
          </a:ln>
        </p:spPr>
      </p:sp>
      <p:sp>
        <p:nvSpPr>
          <p:cNvPr id="18" name="Shape 14"/>
          <p:cNvSpPr/>
          <p:nvPr/>
        </p:nvSpPr>
        <p:spPr>
          <a:xfrm>
            <a:off x="11697919" y="5449824"/>
            <a:ext cx="0" cy="155448"/>
          </a:xfrm>
          <a:prstGeom prst="line">
            <a:avLst/>
          </a:prstGeom>
          <a:noFill/>
          <a:ln w="15875">
            <a:solidFill>
              <a:schemeClr val="accent1"/>
            </a:solidFill>
            <a:prstDash val="solid"/>
          </a:ln>
        </p:spPr>
      </p:sp>
      <p:sp>
        <p:nvSpPr>
          <p:cNvPr id="19" name="Text 15"/>
          <p:cNvSpPr txBox="1"/>
          <p:nvPr/>
        </p:nvSpPr>
        <p:spPr>
          <a:xfrm>
            <a:off x="7818120" y="3840480"/>
            <a:ext cx="3596335"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SUSTITUTO PRINCIPAL</a:t>
            </a:r>
            <a:endParaRPr lang="es-CL" sz="1300" dirty="0"/>
          </a:p>
        </p:txBody>
      </p:sp>
      <p:sp>
        <p:nvSpPr>
          <p:cNvPr id="20" name="Text 16"/>
          <p:cNvSpPr txBox="1"/>
          <p:nvPr/>
        </p:nvSpPr>
        <p:spPr>
          <a:xfrm>
            <a:off x="7818120" y="4133088"/>
            <a:ext cx="3596335" cy="411480"/>
          </a:xfrm>
          <a:prstGeom prst="rect">
            <a:avLst/>
          </a:prstGeom>
          <a:noFill/>
          <a:ln/>
        </p:spPr>
        <p:txBody>
          <a:bodyPr wrap="square" lIns="0" tIns="0" rIns="0" bIns="0" rtlCol="0" anchor="ctr"/>
          <a:lstStyle/>
          <a:p>
            <a:pPr indent="0" marL="0">
              <a:buNone/>
            </a:pPr>
            <a:r>
              <a:rPr lang="es-CL" altLang="en-US" sz="2100" b="1" dirty="0">
                <a:solidFill>
                  <a:schemeClr val="tx1"/>
                </a:solidFill>
                <a:latin typeface="Figtree" pitchFamily="34" charset="0"/>
                <a:ea typeface="Figtree" pitchFamily="34" charset="-122"/>
                <a:cs typeface="Figtree" pitchFamily="34" charset="-120"/>
              </a:rPr>
              <a:t>Seguir con el auto actual</a:t>
            </a:r>
            <a:endParaRPr lang="es-CL" sz="2100" dirty="0"/>
          </a:p>
        </p:txBody>
      </p:sp>
      <p:sp>
        <p:nvSpPr>
          <p:cNvPr id="21" name="Text 17"/>
          <p:cNvSpPr txBox="1"/>
          <p:nvPr/>
        </p:nvSpPr>
        <p:spPr>
          <a:xfrm>
            <a:off x="7818120" y="4590288"/>
            <a:ext cx="3596335" cy="868680"/>
          </a:xfrm>
          <a:prstGeom prst="rect">
            <a:avLst/>
          </a:prstGeom>
          <a:noFill/>
          <a:ln/>
        </p:spPr>
        <p:txBody>
          <a:bodyPr wrap="square" lIns="0" tIns="0" rIns="0" bIns="0" rtlCol="0" anchor="t"/>
          <a:lstStyle/>
          <a:p>
            <a:pPr indent="0" marL="0">
              <a:buNone/>
            </a:pPr>
            <a:r>
              <a:rPr lang="es-CL" altLang="en-US" sz="1700" dirty="0">
                <a:solidFill>
                  <a:schemeClr val="tx2"/>
                </a:solidFill>
                <a:latin typeface="Figtree" pitchFamily="34" charset="0"/>
                <a:ea typeface="Figtree" pitchFamily="34" charset="-122"/>
                <a:cs typeface="Figtree" pitchFamily="34" charset="-120"/>
              </a:rPr>
              <a:t>No paga el kit, pero sigue pagando toda su bencina. También compite el híbrido usado.</a:t>
            </a:r>
            <a:endParaRPr lang="es-CL" sz="1700" dirty="0"/>
          </a:p>
        </p:txBody>
      </p:sp>
      <p:sp>
        <p:nvSpPr>
          <p:cNvPr id="22" name="Shape 18"/>
          <p:cNvSpPr/>
          <p:nvPr/>
        </p:nvSpPr>
        <p:spPr>
          <a:xfrm>
            <a:off x="7589520" y="5870448"/>
            <a:ext cx="3330956" cy="310896"/>
          </a:xfrm>
          <a:prstGeom prst="rect">
            <a:avLst/>
          </a:prstGeom>
          <a:solidFill>
            <a:schemeClr val="bg1">
              <a:alpha val="0"/>
            </a:schemeClr>
          </a:solidFill>
          <a:ln w="12700">
            <a:solidFill>
              <a:schemeClr val="tx1"/>
            </a:solidFill>
            <a:prstDash val="dash"/>
          </a:ln>
        </p:spPr>
      </p:sp>
      <p:sp>
        <p:nvSpPr>
          <p:cNvPr id="23" name="Text 19"/>
          <p:cNvSpPr txBox="1"/>
          <p:nvPr/>
        </p:nvSpPr>
        <p:spPr>
          <a:xfrm>
            <a:off x="7699248" y="5870448"/>
            <a:ext cx="3111500" cy="310896"/>
          </a:xfrm>
          <a:prstGeom prst="rect">
            <a:avLst/>
          </a:prstGeom>
          <a:noFill/>
          <a:ln/>
        </p:spPr>
        <p:txBody>
          <a:bodyPr wrap="square" lIns="0" tIns="0" rIns="0" bIns="0" rtlCol="0" anchor="ctr"/>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LOS PESOS NO SON % DE AMENAZA</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08</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ANÁLISIS ESTRATÉGICO · ENTORNO REGULATORIO</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LA VÍA LEGAL DECIDE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si el negocio opera.</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Fuentes: Ley N° 21.793, Diario Oficial (14-01-2026); borrador de reglamento del MTT sometido a consulta en 2021, anterior a la ley. Árbol elaborado por el equipo.</a:t>
            </a:r>
            <a:endParaRPr lang="es-CL" sz="1200" dirty="0"/>
          </a:p>
        </p:txBody>
      </p:sp>
      <p:sp>
        <p:nvSpPr>
          <p:cNvPr id="5" name="Shape 3"/>
          <p:cNvSpPr/>
          <p:nvPr/>
        </p:nvSpPr>
        <p:spPr>
          <a:xfrm>
            <a:off x="7726680" y="2121408"/>
            <a:ext cx="3916375" cy="713232"/>
          </a:xfrm>
          <a:prstGeom prst="rect">
            <a:avLst/>
          </a:prstGeom>
          <a:solidFill>
            <a:schemeClr val="bg2">
              <a:alpha val="85000"/>
            </a:schemeClr>
          </a:solidFill>
          <a:ln w="9525">
            <a:solidFill>
              <a:schemeClr val="accent5"/>
            </a:solidFill>
            <a:prstDash val="solid"/>
          </a:ln>
        </p:spPr>
      </p:sp>
      <p:sp>
        <p:nvSpPr>
          <p:cNvPr id="6" name="Shape 4"/>
          <p:cNvSpPr/>
          <p:nvPr/>
        </p:nvSpPr>
        <p:spPr>
          <a:xfrm>
            <a:off x="7863840" y="2313432"/>
            <a:ext cx="502920" cy="329184"/>
          </a:xfrm>
          <a:prstGeom prst="rect">
            <a:avLst/>
          </a:prstGeom>
          <a:solidFill>
            <a:schemeClr val="accent1"/>
          </a:solidFill>
          <a:ln/>
        </p:spPr>
      </p:sp>
      <p:sp>
        <p:nvSpPr>
          <p:cNvPr id="7" name="Text 5"/>
          <p:cNvSpPr txBox="1"/>
          <p:nvPr/>
        </p:nvSpPr>
        <p:spPr>
          <a:xfrm>
            <a:off x="7863840" y="2313432"/>
            <a:ext cx="502920" cy="329184"/>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E1</a:t>
            </a:r>
            <a:endParaRPr lang="es-CL" sz="1400" dirty="0"/>
          </a:p>
        </p:txBody>
      </p:sp>
      <p:sp>
        <p:nvSpPr>
          <p:cNvPr id="8" name="Text 6"/>
          <p:cNvSpPr txBox="1"/>
          <p:nvPr/>
        </p:nvSpPr>
        <p:spPr>
          <a:xfrm>
            <a:off x="8503920" y="2167128"/>
            <a:ext cx="3001975" cy="329184"/>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Vía legal amplia</a:t>
            </a:r>
            <a:endParaRPr lang="es-CL" sz="1800" dirty="0"/>
          </a:p>
        </p:txBody>
      </p:sp>
      <p:sp>
        <p:nvSpPr>
          <p:cNvPr id="9" name="Text 7"/>
          <p:cNvSpPr txBox="1"/>
          <p:nvPr/>
        </p:nvSpPr>
        <p:spPr>
          <a:xfrm>
            <a:off x="8503920" y="2487168"/>
            <a:ext cx="3001975" cy="310896"/>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Premia al primero que homologa</a:t>
            </a:r>
            <a:endParaRPr lang="es-CL" sz="1600" dirty="0"/>
          </a:p>
        </p:txBody>
      </p:sp>
      <p:sp>
        <p:nvSpPr>
          <p:cNvPr id="10" name="Shape 8"/>
          <p:cNvSpPr/>
          <p:nvPr/>
        </p:nvSpPr>
        <p:spPr>
          <a:xfrm>
            <a:off x="7726680" y="2962656"/>
            <a:ext cx="3916375" cy="713232"/>
          </a:xfrm>
          <a:prstGeom prst="rect">
            <a:avLst/>
          </a:prstGeom>
          <a:solidFill>
            <a:schemeClr val="bg2">
              <a:alpha val="85000"/>
            </a:schemeClr>
          </a:solidFill>
          <a:ln w="9525">
            <a:solidFill>
              <a:schemeClr val="accent5"/>
            </a:solidFill>
            <a:prstDash val="solid"/>
          </a:ln>
        </p:spPr>
      </p:sp>
      <p:sp>
        <p:nvSpPr>
          <p:cNvPr id="11" name="Shape 9"/>
          <p:cNvSpPr/>
          <p:nvPr/>
        </p:nvSpPr>
        <p:spPr>
          <a:xfrm>
            <a:off x="7863840" y="3154680"/>
            <a:ext cx="502920" cy="329184"/>
          </a:xfrm>
          <a:prstGeom prst="rect">
            <a:avLst/>
          </a:prstGeom>
          <a:solidFill>
            <a:schemeClr val="accent5"/>
          </a:solidFill>
          <a:ln/>
        </p:spPr>
      </p:sp>
      <p:sp>
        <p:nvSpPr>
          <p:cNvPr id="12" name="Text 10"/>
          <p:cNvSpPr txBox="1"/>
          <p:nvPr/>
        </p:nvSpPr>
        <p:spPr>
          <a:xfrm>
            <a:off x="7863840" y="3154680"/>
            <a:ext cx="502920"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E2</a:t>
            </a:r>
            <a:endParaRPr lang="es-CL" sz="1400" dirty="0"/>
          </a:p>
        </p:txBody>
      </p:sp>
      <p:sp>
        <p:nvSpPr>
          <p:cNvPr id="13" name="Text 11"/>
          <p:cNvSpPr txBox="1"/>
          <p:nvPr/>
        </p:nvSpPr>
        <p:spPr>
          <a:xfrm>
            <a:off x="8503920" y="3008376"/>
            <a:ext cx="3001975" cy="329184"/>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Vía acotada</a:t>
            </a:r>
            <a:endParaRPr lang="es-CL" sz="1800" dirty="0"/>
          </a:p>
        </p:txBody>
      </p:sp>
      <p:sp>
        <p:nvSpPr>
          <p:cNvPr id="14" name="Text 12"/>
          <p:cNvSpPr txBox="1"/>
          <p:nvPr/>
        </p:nvSpPr>
        <p:spPr>
          <a:xfrm>
            <a:off x="8503920" y="3328416"/>
            <a:ext cx="3001975" cy="310896"/>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Solo parque sin ABS ni airbag</a:t>
            </a:r>
            <a:endParaRPr lang="es-CL" sz="1600" dirty="0"/>
          </a:p>
        </p:txBody>
      </p:sp>
      <p:sp>
        <p:nvSpPr>
          <p:cNvPr id="15" name="Shape 13"/>
          <p:cNvSpPr/>
          <p:nvPr/>
        </p:nvSpPr>
        <p:spPr>
          <a:xfrm>
            <a:off x="7726680" y="4059936"/>
            <a:ext cx="3916375" cy="713232"/>
          </a:xfrm>
          <a:prstGeom prst="rect">
            <a:avLst/>
          </a:prstGeom>
          <a:solidFill>
            <a:schemeClr val="bg2">
              <a:alpha val="85000"/>
            </a:schemeClr>
          </a:solidFill>
          <a:ln w="9525">
            <a:solidFill>
              <a:schemeClr val="accent5"/>
            </a:solidFill>
            <a:prstDash val="solid"/>
          </a:ln>
        </p:spPr>
      </p:sp>
      <p:sp>
        <p:nvSpPr>
          <p:cNvPr id="16" name="Shape 14"/>
          <p:cNvSpPr/>
          <p:nvPr/>
        </p:nvSpPr>
        <p:spPr>
          <a:xfrm>
            <a:off x="7863840" y="4251960"/>
            <a:ext cx="502920" cy="329184"/>
          </a:xfrm>
          <a:prstGeom prst="rect">
            <a:avLst/>
          </a:prstGeom>
          <a:solidFill>
            <a:schemeClr val="accent5"/>
          </a:solidFill>
          <a:ln/>
        </p:spPr>
      </p:sp>
      <p:sp>
        <p:nvSpPr>
          <p:cNvPr id="17" name="Text 15"/>
          <p:cNvSpPr txBox="1"/>
          <p:nvPr/>
        </p:nvSpPr>
        <p:spPr>
          <a:xfrm>
            <a:off x="7863840" y="4251960"/>
            <a:ext cx="502920"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E3</a:t>
            </a:r>
            <a:endParaRPr lang="es-CL" sz="1400" dirty="0"/>
          </a:p>
        </p:txBody>
      </p:sp>
      <p:sp>
        <p:nvSpPr>
          <p:cNvPr id="18" name="Text 16"/>
          <p:cNvSpPr txBox="1"/>
          <p:nvPr/>
        </p:nvSpPr>
        <p:spPr>
          <a:xfrm>
            <a:off x="8503920" y="4105656"/>
            <a:ext cx="3001975" cy="329184"/>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Vía alternativa</a:t>
            </a:r>
            <a:endParaRPr lang="es-CL" sz="1800" dirty="0"/>
          </a:p>
        </p:txBody>
      </p:sp>
      <p:sp>
        <p:nvSpPr>
          <p:cNvPr id="19" name="Text 17"/>
          <p:cNvSpPr txBox="1"/>
          <p:nvPr/>
        </p:nvSpPr>
        <p:spPr>
          <a:xfrm>
            <a:off x="8503920" y="4425696"/>
            <a:ext cx="3001975" cy="310896"/>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Alteración de características</a:t>
            </a:r>
            <a:endParaRPr lang="es-CL" sz="1600" dirty="0"/>
          </a:p>
        </p:txBody>
      </p:sp>
      <p:sp>
        <p:nvSpPr>
          <p:cNvPr id="20" name="Shape 18"/>
          <p:cNvSpPr/>
          <p:nvPr/>
        </p:nvSpPr>
        <p:spPr>
          <a:xfrm>
            <a:off x="7726680" y="4901184"/>
            <a:ext cx="3916375" cy="713232"/>
          </a:xfrm>
          <a:prstGeom prst="rect">
            <a:avLst/>
          </a:prstGeom>
          <a:solidFill>
            <a:schemeClr val="bg2">
              <a:alpha val="85000"/>
            </a:schemeClr>
          </a:solidFill>
          <a:ln w="15875">
            <a:solidFill>
              <a:schemeClr val="tx1"/>
            </a:solidFill>
            <a:prstDash val="dash"/>
          </a:ln>
        </p:spPr>
      </p:sp>
      <p:sp>
        <p:nvSpPr>
          <p:cNvPr id="21" name="Shape 19"/>
          <p:cNvSpPr/>
          <p:nvPr/>
        </p:nvSpPr>
        <p:spPr>
          <a:xfrm>
            <a:off x="7863840" y="5093208"/>
            <a:ext cx="502920" cy="329184"/>
          </a:xfrm>
          <a:prstGeom prst="rect">
            <a:avLst/>
          </a:prstGeom>
          <a:solidFill>
            <a:schemeClr val="accent5"/>
          </a:solidFill>
          <a:ln/>
        </p:spPr>
      </p:sp>
      <p:sp>
        <p:nvSpPr>
          <p:cNvPr id="22" name="Text 20"/>
          <p:cNvSpPr txBox="1"/>
          <p:nvPr/>
        </p:nvSpPr>
        <p:spPr>
          <a:xfrm>
            <a:off x="7863840" y="5093208"/>
            <a:ext cx="502920"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E4</a:t>
            </a:r>
            <a:endParaRPr lang="es-CL" sz="1400" dirty="0"/>
          </a:p>
        </p:txBody>
      </p:sp>
      <p:sp>
        <p:nvSpPr>
          <p:cNvPr id="23" name="Text 21"/>
          <p:cNvSpPr txBox="1"/>
          <p:nvPr/>
        </p:nvSpPr>
        <p:spPr>
          <a:xfrm>
            <a:off x="8503920" y="4946904"/>
            <a:ext cx="3001975" cy="329184"/>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Sin vía legal</a:t>
            </a:r>
            <a:endParaRPr lang="es-CL" sz="1800" dirty="0"/>
          </a:p>
        </p:txBody>
      </p:sp>
      <p:sp>
        <p:nvSpPr>
          <p:cNvPr id="24" name="Text 22"/>
          <p:cNvSpPr txBox="1"/>
          <p:nvPr/>
        </p:nvSpPr>
        <p:spPr>
          <a:xfrm>
            <a:off x="8503920" y="5266944"/>
            <a:ext cx="3001975" cy="310896"/>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El negocio no opera</a:t>
            </a:r>
            <a:endParaRPr lang="es-CL" sz="1600" dirty="0"/>
          </a:p>
        </p:txBody>
      </p:sp>
      <p:sp>
        <p:nvSpPr>
          <p:cNvPr id="25" name="Shape 23"/>
          <p:cNvSpPr/>
          <p:nvPr/>
        </p:nvSpPr>
        <p:spPr>
          <a:xfrm>
            <a:off x="3931920" y="2386584"/>
            <a:ext cx="2926080" cy="1024128"/>
          </a:xfrm>
          <a:prstGeom prst="rect">
            <a:avLst/>
          </a:prstGeom>
          <a:solidFill>
            <a:schemeClr val="bg2">
              <a:alpha val="85000"/>
            </a:schemeClr>
          </a:solidFill>
          <a:ln w="9525">
            <a:solidFill>
              <a:schemeClr val="tx2"/>
            </a:solidFill>
            <a:prstDash val="solid"/>
          </a:ln>
        </p:spPr>
      </p:sp>
      <p:sp>
        <p:nvSpPr>
          <p:cNvPr id="26" name="Text 24"/>
          <p:cNvSpPr txBox="1"/>
          <p:nvPr/>
        </p:nvSpPr>
        <p:spPr>
          <a:xfrm>
            <a:off x="4096512" y="2386584"/>
            <a:ext cx="2596896" cy="1024128"/>
          </a:xfrm>
          <a:prstGeom prst="rect">
            <a:avLst/>
          </a:prstGeom>
          <a:noFill/>
          <a:ln/>
        </p:spPr>
        <p:txBody>
          <a:bodyPr wrap="square" lIns="0" tIns="0" rIns="0" bIns="0" rtlCol="0" anchor="ctr"/>
          <a:lstStyle/>
          <a:p>
            <a:pPr indent="0" marL="0">
              <a:lnSpc>
                <a:spcPct val="95000"/>
              </a:lnSpc>
              <a:buNone/>
            </a:pPr>
            <a:r>
              <a:rPr lang="es-CL" altLang="en-US" sz="1600" dirty="0">
                <a:solidFill>
                  <a:schemeClr val="tx1"/>
                </a:solidFill>
                <a:latin typeface="Figtree" pitchFamily="34" charset="0"/>
                <a:ea typeface="Figtree" pitchFamily="34" charset="-122"/>
                <a:cs typeface="Figtree" pitchFamily="34" charset="-120"/>
              </a:rPr>
              <a:t>¿Se excluyen los autos con ABS, airbag o control de estabilidad?</a:t>
            </a:r>
            <a:endParaRPr lang="es-CL" sz="1600" dirty="0"/>
          </a:p>
        </p:txBody>
      </p:sp>
      <p:sp>
        <p:nvSpPr>
          <p:cNvPr id="27" name="Shape 25"/>
          <p:cNvSpPr/>
          <p:nvPr/>
        </p:nvSpPr>
        <p:spPr>
          <a:xfrm>
            <a:off x="3931920" y="4325112"/>
            <a:ext cx="2926080" cy="1024128"/>
          </a:xfrm>
          <a:prstGeom prst="rect">
            <a:avLst/>
          </a:prstGeom>
          <a:solidFill>
            <a:schemeClr val="bg2">
              <a:alpha val="85000"/>
            </a:schemeClr>
          </a:solidFill>
          <a:ln w="9525">
            <a:solidFill>
              <a:schemeClr val="tx2"/>
            </a:solidFill>
            <a:prstDash val="solid"/>
          </a:ln>
        </p:spPr>
      </p:sp>
      <p:sp>
        <p:nvSpPr>
          <p:cNvPr id="28" name="Text 26"/>
          <p:cNvSpPr txBox="1"/>
          <p:nvPr/>
        </p:nvSpPr>
        <p:spPr>
          <a:xfrm>
            <a:off x="4096512" y="4325112"/>
            <a:ext cx="2596896" cy="1024128"/>
          </a:xfrm>
          <a:prstGeom prst="rect">
            <a:avLst/>
          </a:prstGeom>
          <a:noFill/>
          <a:ln/>
        </p:spPr>
        <p:txBody>
          <a:bodyPr wrap="square" lIns="0" tIns="0" rIns="0" bIns="0" rtlCol="0" anchor="ctr"/>
          <a:lstStyle/>
          <a:p>
            <a:pPr indent="0" marL="0">
              <a:lnSpc>
                <a:spcPct val="95000"/>
              </a:lnSpc>
              <a:buNone/>
            </a:pPr>
            <a:r>
              <a:rPr lang="es-CL" altLang="en-US" sz="1600" dirty="0">
                <a:solidFill>
                  <a:schemeClr val="tx1"/>
                </a:solidFill>
                <a:latin typeface="Figtree" pitchFamily="34" charset="0"/>
                <a:ea typeface="Figtree" pitchFamily="34" charset="-122"/>
                <a:cs typeface="Figtree" pitchFamily="34" charset="-120"/>
              </a:rPr>
              <a:t>¿Procede inscribirlo como alteración de características?</a:t>
            </a:r>
            <a:endParaRPr lang="es-CL" sz="1600" dirty="0"/>
          </a:p>
        </p:txBody>
      </p:sp>
      <p:sp>
        <p:nvSpPr>
          <p:cNvPr id="29" name="Shape 27"/>
          <p:cNvSpPr/>
          <p:nvPr/>
        </p:nvSpPr>
        <p:spPr>
          <a:xfrm>
            <a:off x="548640" y="3273552"/>
            <a:ext cx="3017520" cy="1188720"/>
          </a:xfrm>
          <a:prstGeom prst="rect">
            <a:avLst/>
          </a:prstGeom>
          <a:solidFill>
            <a:srgbClr val="062A45"/>
          </a:solidFill>
          <a:ln w="15875">
            <a:solidFill>
              <a:schemeClr val="accent1"/>
            </a:solidFill>
            <a:prstDash val="solid"/>
          </a:ln>
        </p:spPr>
      </p:sp>
      <p:sp>
        <p:nvSpPr>
          <p:cNvPr id="30" name="Text 28"/>
          <p:cNvSpPr txBox="1"/>
          <p:nvPr/>
        </p:nvSpPr>
        <p:spPr>
          <a:xfrm>
            <a:off x="713232" y="3273552"/>
            <a:ext cx="2688336" cy="1188720"/>
          </a:xfrm>
          <a:prstGeom prst="rect">
            <a:avLst/>
          </a:prstGeom>
          <a:noFill/>
          <a:ln/>
        </p:spPr>
        <p:txBody>
          <a:bodyPr wrap="square" lIns="0" tIns="0" rIns="0" bIns="0" rtlCol="0" anchor="ctr"/>
          <a:lstStyle/>
          <a:p>
            <a:pPr indent="0" marL="0">
              <a:lnSpc>
                <a:spcPct val="95000"/>
              </a:lnSpc>
              <a:buNone/>
            </a:pPr>
            <a:r>
              <a:rPr lang="es-CL" altLang="en-US" sz="1600" dirty="0">
                <a:solidFill>
                  <a:schemeClr val="tx1"/>
                </a:solidFill>
                <a:latin typeface="Figtree" pitchFamily="34" charset="0"/>
                <a:ea typeface="Figtree" pitchFamily="34" charset="-122"/>
                <a:cs typeface="Figtree" pitchFamily="34" charset="-120"/>
              </a:rPr>
              <a:t>¿El reglamento admitirá una transformación que conserva el motor?</a:t>
            </a:r>
            <a:endParaRPr lang="es-CL" sz="1600" dirty="0"/>
          </a:p>
        </p:txBody>
      </p:sp>
      <p:sp>
        <p:nvSpPr>
          <p:cNvPr id="31" name="Shape 29"/>
          <p:cNvSpPr/>
          <p:nvPr/>
        </p:nvSpPr>
        <p:spPr>
          <a:xfrm>
            <a:off x="3566160" y="3867912"/>
            <a:ext cx="182880" cy="0"/>
          </a:xfrm>
          <a:prstGeom prst="line">
            <a:avLst/>
          </a:prstGeom>
          <a:noFill/>
          <a:ln w="15875">
            <a:solidFill>
              <a:schemeClr val="tx2"/>
            </a:solidFill>
            <a:prstDash val="solid"/>
          </a:ln>
        </p:spPr>
      </p:sp>
      <p:sp>
        <p:nvSpPr>
          <p:cNvPr id="32" name="Shape 30"/>
          <p:cNvSpPr/>
          <p:nvPr/>
        </p:nvSpPr>
        <p:spPr>
          <a:xfrm>
            <a:off x="3749040" y="2898648"/>
            <a:ext cx="0" cy="969264"/>
          </a:xfrm>
          <a:prstGeom prst="line">
            <a:avLst/>
          </a:prstGeom>
          <a:noFill/>
          <a:ln w="15875">
            <a:solidFill>
              <a:schemeClr val="tx2"/>
            </a:solidFill>
            <a:prstDash val="solid"/>
          </a:ln>
        </p:spPr>
      </p:sp>
      <p:sp>
        <p:nvSpPr>
          <p:cNvPr id="33" name="Shape 31"/>
          <p:cNvSpPr/>
          <p:nvPr/>
        </p:nvSpPr>
        <p:spPr>
          <a:xfrm>
            <a:off x="3749040" y="2898648"/>
            <a:ext cx="182880" cy="0"/>
          </a:xfrm>
          <a:prstGeom prst="line">
            <a:avLst/>
          </a:prstGeom>
          <a:noFill/>
          <a:ln w="15875">
            <a:solidFill>
              <a:schemeClr val="tx2"/>
            </a:solidFill>
            <a:prstDash val="solid"/>
            <a:tailEnd type="triangle"/>
          </a:ln>
        </p:spPr>
      </p:sp>
      <p:sp>
        <p:nvSpPr>
          <p:cNvPr id="34" name="Shape 32"/>
          <p:cNvSpPr/>
          <p:nvPr/>
        </p:nvSpPr>
        <p:spPr>
          <a:xfrm>
            <a:off x="3566160" y="3867912"/>
            <a:ext cx="182880" cy="0"/>
          </a:xfrm>
          <a:prstGeom prst="line">
            <a:avLst/>
          </a:prstGeom>
          <a:noFill/>
          <a:ln w="15875">
            <a:solidFill>
              <a:schemeClr val="tx2"/>
            </a:solidFill>
            <a:prstDash val="solid"/>
          </a:ln>
        </p:spPr>
      </p:sp>
      <p:sp>
        <p:nvSpPr>
          <p:cNvPr id="35" name="Shape 33"/>
          <p:cNvSpPr/>
          <p:nvPr/>
        </p:nvSpPr>
        <p:spPr>
          <a:xfrm>
            <a:off x="3749040" y="3867912"/>
            <a:ext cx="0" cy="969264"/>
          </a:xfrm>
          <a:prstGeom prst="line">
            <a:avLst/>
          </a:prstGeom>
          <a:noFill/>
          <a:ln w="15875">
            <a:solidFill>
              <a:schemeClr val="tx2"/>
            </a:solidFill>
            <a:prstDash val="solid"/>
          </a:ln>
        </p:spPr>
      </p:sp>
      <p:sp>
        <p:nvSpPr>
          <p:cNvPr id="36" name="Shape 34"/>
          <p:cNvSpPr/>
          <p:nvPr/>
        </p:nvSpPr>
        <p:spPr>
          <a:xfrm>
            <a:off x="3749040" y="4837176"/>
            <a:ext cx="182880" cy="0"/>
          </a:xfrm>
          <a:prstGeom prst="line">
            <a:avLst/>
          </a:prstGeom>
          <a:noFill/>
          <a:ln w="15875">
            <a:solidFill>
              <a:schemeClr val="tx2"/>
            </a:solidFill>
            <a:prstDash val="solid"/>
            <a:tailEnd type="triangle"/>
          </a:ln>
        </p:spPr>
      </p:sp>
      <p:sp>
        <p:nvSpPr>
          <p:cNvPr id="37" name="Text 35"/>
          <p:cNvSpPr txBox="1"/>
          <p:nvPr/>
        </p:nvSpPr>
        <p:spPr>
          <a:xfrm>
            <a:off x="3291840" y="2944368"/>
            <a:ext cx="384048" cy="274320"/>
          </a:xfrm>
          <a:prstGeom prst="rect">
            <a:avLst/>
          </a:prstGeom>
          <a:noFill/>
          <a:ln/>
        </p:spPr>
        <p:txBody>
          <a:bodyPr wrap="square" lIns="0" tIns="0" rIns="0" bIns="0" rtlCol="0" anchor="t"/>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SÍ</a:t>
            </a:r>
            <a:endParaRPr lang="es-CL" sz="1300" dirty="0"/>
          </a:p>
        </p:txBody>
      </p:sp>
      <p:sp>
        <p:nvSpPr>
          <p:cNvPr id="38" name="Text 36"/>
          <p:cNvSpPr txBox="1"/>
          <p:nvPr/>
        </p:nvSpPr>
        <p:spPr>
          <a:xfrm>
            <a:off x="3291840" y="4507992"/>
            <a:ext cx="384048" cy="274320"/>
          </a:xfrm>
          <a:prstGeom prst="rect">
            <a:avLst/>
          </a:prstGeom>
          <a:noFill/>
          <a:ln/>
        </p:spPr>
        <p:txBody>
          <a:bodyPr wrap="square" lIns="0" tIns="0" rIns="0" bIns="0" rtlCol="0" anchor="t"/>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NO</a:t>
            </a:r>
            <a:endParaRPr lang="es-CL" sz="1300" dirty="0"/>
          </a:p>
        </p:txBody>
      </p:sp>
      <p:sp>
        <p:nvSpPr>
          <p:cNvPr id="39" name="Shape 37"/>
          <p:cNvSpPr/>
          <p:nvPr/>
        </p:nvSpPr>
        <p:spPr>
          <a:xfrm>
            <a:off x="6858000" y="2898648"/>
            <a:ext cx="434340" cy="0"/>
          </a:xfrm>
          <a:prstGeom prst="line">
            <a:avLst/>
          </a:prstGeom>
          <a:noFill/>
          <a:ln w="15875">
            <a:solidFill>
              <a:schemeClr val="tx2"/>
            </a:solidFill>
            <a:prstDash val="solid"/>
          </a:ln>
        </p:spPr>
      </p:sp>
      <p:sp>
        <p:nvSpPr>
          <p:cNvPr id="40" name="Shape 38"/>
          <p:cNvSpPr/>
          <p:nvPr/>
        </p:nvSpPr>
        <p:spPr>
          <a:xfrm>
            <a:off x="7292340" y="2478024"/>
            <a:ext cx="0" cy="420624"/>
          </a:xfrm>
          <a:prstGeom prst="line">
            <a:avLst/>
          </a:prstGeom>
          <a:noFill/>
          <a:ln w="15875">
            <a:solidFill>
              <a:schemeClr val="tx2"/>
            </a:solidFill>
            <a:prstDash val="solid"/>
          </a:ln>
        </p:spPr>
      </p:sp>
      <p:sp>
        <p:nvSpPr>
          <p:cNvPr id="41" name="Shape 39"/>
          <p:cNvSpPr/>
          <p:nvPr/>
        </p:nvSpPr>
        <p:spPr>
          <a:xfrm>
            <a:off x="7292340" y="2478024"/>
            <a:ext cx="434340" cy="0"/>
          </a:xfrm>
          <a:prstGeom prst="line">
            <a:avLst/>
          </a:prstGeom>
          <a:noFill/>
          <a:ln w="15875">
            <a:solidFill>
              <a:schemeClr val="tx2"/>
            </a:solidFill>
            <a:prstDash val="solid"/>
            <a:tailEnd type="triangle"/>
          </a:ln>
        </p:spPr>
      </p:sp>
      <p:sp>
        <p:nvSpPr>
          <p:cNvPr id="42" name="Text 40"/>
          <p:cNvSpPr txBox="1"/>
          <p:nvPr/>
        </p:nvSpPr>
        <p:spPr>
          <a:xfrm>
            <a:off x="7383780" y="2514600"/>
            <a:ext cx="457200"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NO</a:t>
            </a:r>
            <a:endParaRPr lang="es-CL" sz="1300" dirty="0"/>
          </a:p>
        </p:txBody>
      </p:sp>
      <p:sp>
        <p:nvSpPr>
          <p:cNvPr id="43" name="Shape 41"/>
          <p:cNvSpPr/>
          <p:nvPr/>
        </p:nvSpPr>
        <p:spPr>
          <a:xfrm>
            <a:off x="6858000" y="2898648"/>
            <a:ext cx="434340" cy="0"/>
          </a:xfrm>
          <a:prstGeom prst="line">
            <a:avLst/>
          </a:prstGeom>
          <a:noFill/>
          <a:ln w="15875">
            <a:solidFill>
              <a:schemeClr val="tx2"/>
            </a:solidFill>
            <a:prstDash val="solid"/>
          </a:ln>
        </p:spPr>
      </p:sp>
      <p:sp>
        <p:nvSpPr>
          <p:cNvPr id="44" name="Shape 42"/>
          <p:cNvSpPr/>
          <p:nvPr/>
        </p:nvSpPr>
        <p:spPr>
          <a:xfrm>
            <a:off x="7292340" y="2898648"/>
            <a:ext cx="0" cy="420624"/>
          </a:xfrm>
          <a:prstGeom prst="line">
            <a:avLst/>
          </a:prstGeom>
          <a:noFill/>
          <a:ln w="15875">
            <a:solidFill>
              <a:schemeClr val="tx2"/>
            </a:solidFill>
            <a:prstDash val="solid"/>
          </a:ln>
        </p:spPr>
      </p:sp>
      <p:sp>
        <p:nvSpPr>
          <p:cNvPr id="45" name="Shape 43"/>
          <p:cNvSpPr/>
          <p:nvPr/>
        </p:nvSpPr>
        <p:spPr>
          <a:xfrm>
            <a:off x="7292340" y="3319272"/>
            <a:ext cx="434340" cy="0"/>
          </a:xfrm>
          <a:prstGeom prst="line">
            <a:avLst/>
          </a:prstGeom>
          <a:noFill/>
          <a:ln w="15875">
            <a:solidFill>
              <a:schemeClr val="tx2"/>
            </a:solidFill>
            <a:prstDash val="solid"/>
            <a:tailEnd type="triangle"/>
          </a:ln>
        </p:spPr>
      </p:sp>
      <p:sp>
        <p:nvSpPr>
          <p:cNvPr id="46" name="Text 44"/>
          <p:cNvSpPr txBox="1"/>
          <p:nvPr/>
        </p:nvSpPr>
        <p:spPr>
          <a:xfrm>
            <a:off x="7383780" y="3008376"/>
            <a:ext cx="457200"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SÍ</a:t>
            </a:r>
            <a:endParaRPr lang="es-CL" sz="1300" dirty="0"/>
          </a:p>
        </p:txBody>
      </p:sp>
      <p:sp>
        <p:nvSpPr>
          <p:cNvPr id="47" name="Shape 45"/>
          <p:cNvSpPr/>
          <p:nvPr/>
        </p:nvSpPr>
        <p:spPr>
          <a:xfrm>
            <a:off x="6858000" y="4837176"/>
            <a:ext cx="434340" cy="0"/>
          </a:xfrm>
          <a:prstGeom prst="line">
            <a:avLst/>
          </a:prstGeom>
          <a:noFill/>
          <a:ln w="15875">
            <a:solidFill>
              <a:schemeClr val="tx2"/>
            </a:solidFill>
            <a:prstDash val="solid"/>
          </a:ln>
        </p:spPr>
      </p:sp>
      <p:sp>
        <p:nvSpPr>
          <p:cNvPr id="48" name="Shape 46"/>
          <p:cNvSpPr/>
          <p:nvPr/>
        </p:nvSpPr>
        <p:spPr>
          <a:xfrm>
            <a:off x="7292340" y="4416552"/>
            <a:ext cx="0" cy="420624"/>
          </a:xfrm>
          <a:prstGeom prst="line">
            <a:avLst/>
          </a:prstGeom>
          <a:noFill/>
          <a:ln w="15875">
            <a:solidFill>
              <a:schemeClr val="tx2"/>
            </a:solidFill>
            <a:prstDash val="solid"/>
          </a:ln>
        </p:spPr>
      </p:sp>
      <p:sp>
        <p:nvSpPr>
          <p:cNvPr id="49" name="Shape 47"/>
          <p:cNvSpPr/>
          <p:nvPr/>
        </p:nvSpPr>
        <p:spPr>
          <a:xfrm>
            <a:off x="7292340" y="4416552"/>
            <a:ext cx="434340" cy="0"/>
          </a:xfrm>
          <a:prstGeom prst="line">
            <a:avLst/>
          </a:prstGeom>
          <a:noFill/>
          <a:ln w="15875">
            <a:solidFill>
              <a:schemeClr val="tx2"/>
            </a:solidFill>
            <a:prstDash val="solid"/>
            <a:tailEnd type="triangle"/>
          </a:ln>
        </p:spPr>
      </p:sp>
      <p:sp>
        <p:nvSpPr>
          <p:cNvPr id="50" name="Text 48"/>
          <p:cNvSpPr txBox="1"/>
          <p:nvPr/>
        </p:nvSpPr>
        <p:spPr>
          <a:xfrm>
            <a:off x="7383780" y="4453128"/>
            <a:ext cx="457200"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SÍ</a:t>
            </a:r>
            <a:endParaRPr lang="es-CL" sz="1300" dirty="0"/>
          </a:p>
        </p:txBody>
      </p:sp>
      <p:sp>
        <p:nvSpPr>
          <p:cNvPr id="51" name="Shape 49"/>
          <p:cNvSpPr/>
          <p:nvPr/>
        </p:nvSpPr>
        <p:spPr>
          <a:xfrm>
            <a:off x="6858000" y="4837176"/>
            <a:ext cx="434340" cy="0"/>
          </a:xfrm>
          <a:prstGeom prst="line">
            <a:avLst/>
          </a:prstGeom>
          <a:noFill/>
          <a:ln w="15875">
            <a:solidFill>
              <a:schemeClr val="tx2"/>
            </a:solidFill>
            <a:prstDash val="solid"/>
          </a:ln>
        </p:spPr>
      </p:sp>
      <p:sp>
        <p:nvSpPr>
          <p:cNvPr id="52" name="Shape 50"/>
          <p:cNvSpPr/>
          <p:nvPr/>
        </p:nvSpPr>
        <p:spPr>
          <a:xfrm>
            <a:off x="7292340" y="4837176"/>
            <a:ext cx="0" cy="420624"/>
          </a:xfrm>
          <a:prstGeom prst="line">
            <a:avLst/>
          </a:prstGeom>
          <a:noFill/>
          <a:ln w="15875">
            <a:solidFill>
              <a:schemeClr val="tx2"/>
            </a:solidFill>
            <a:prstDash val="solid"/>
          </a:ln>
        </p:spPr>
      </p:sp>
      <p:sp>
        <p:nvSpPr>
          <p:cNvPr id="53" name="Shape 51"/>
          <p:cNvSpPr/>
          <p:nvPr/>
        </p:nvSpPr>
        <p:spPr>
          <a:xfrm>
            <a:off x="7292340" y="5257800"/>
            <a:ext cx="434340" cy="0"/>
          </a:xfrm>
          <a:prstGeom prst="line">
            <a:avLst/>
          </a:prstGeom>
          <a:noFill/>
          <a:ln w="15875">
            <a:solidFill>
              <a:schemeClr val="tx2"/>
            </a:solidFill>
            <a:prstDash val="solid"/>
            <a:tailEnd type="triangle"/>
          </a:ln>
        </p:spPr>
      </p:sp>
      <p:sp>
        <p:nvSpPr>
          <p:cNvPr id="54" name="Text 52"/>
          <p:cNvSpPr txBox="1"/>
          <p:nvPr/>
        </p:nvSpPr>
        <p:spPr>
          <a:xfrm>
            <a:off x="7383780" y="4946904"/>
            <a:ext cx="457200"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NO</a:t>
            </a:r>
            <a:endParaRPr lang="es-CL" sz="1300" dirty="0"/>
          </a:p>
        </p:txBody>
      </p:sp>
      <p:sp>
        <p:nvSpPr>
          <p:cNvPr id="55" name="Shape 53"/>
          <p:cNvSpPr/>
          <p:nvPr/>
        </p:nvSpPr>
        <p:spPr>
          <a:xfrm>
            <a:off x="548640" y="4690872"/>
            <a:ext cx="3017520" cy="0"/>
          </a:xfrm>
          <a:prstGeom prst="line">
            <a:avLst/>
          </a:prstGeom>
          <a:noFill/>
          <a:ln w="9525">
            <a:solidFill>
              <a:schemeClr val="accent1"/>
            </a:solidFill>
            <a:prstDash val="solid"/>
          </a:ln>
        </p:spPr>
      </p:sp>
      <p:sp>
        <p:nvSpPr>
          <p:cNvPr id="56" name="Text 54"/>
          <p:cNvSpPr txBox="1"/>
          <p:nvPr/>
        </p:nvSpPr>
        <p:spPr>
          <a:xfrm>
            <a:off x="548640" y="4782312"/>
            <a:ext cx="301752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SITUACIÓN VIGENTE</a:t>
            </a:r>
            <a:endParaRPr lang="es-CL" sz="1300" dirty="0"/>
          </a:p>
        </p:txBody>
      </p:sp>
      <p:sp>
        <p:nvSpPr>
          <p:cNvPr id="57" name="Text 55"/>
          <p:cNvSpPr txBox="1"/>
          <p:nvPr/>
        </p:nvSpPr>
        <p:spPr>
          <a:xfrm>
            <a:off x="548640" y="5074920"/>
            <a:ext cx="3017520" cy="50292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Ley N° 21.793 (14-01-2026), sin reglamento.</a:t>
            </a:r>
            <a:endParaRPr lang="es-CL" sz="1600" dirty="0"/>
          </a:p>
        </p:txBody>
      </p:sp>
      <p:sp>
        <p:nvSpPr>
          <p:cNvPr id="58" name="Text 56"/>
          <p:cNvSpPr txBox="1"/>
          <p:nvPr/>
        </p:nvSpPr>
        <p:spPr>
          <a:xfrm>
            <a:off x="548640" y="5586984"/>
            <a:ext cx="3017520" cy="50292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Borrador de 2021: transformar era cambiar el motor.</a:t>
            </a:r>
            <a:endParaRPr lang="es-CL" sz="1600" dirty="0"/>
          </a:p>
        </p:txBody>
      </p:sp>
      <p:sp>
        <p:nvSpPr>
          <p:cNvPr id="59" name="Shape 57"/>
          <p:cNvSpPr/>
          <p:nvPr/>
        </p:nvSpPr>
        <p:spPr>
          <a:xfrm>
            <a:off x="5916879" y="5888736"/>
            <a:ext cx="5726176" cy="310896"/>
          </a:xfrm>
          <a:prstGeom prst="rect">
            <a:avLst/>
          </a:prstGeom>
          <a:solidFill>
            <a:schemeClr val="bg1">
              <a:alpha val="0"/>
            </a:schemeClr>
          </a:solidFill>
          <a:ln w="12700">
            <a:solidFill>
              <a:schemeClr val="tx2"/>
            </a:solidFill>
            <a:prstDash val="solid"/>
          </a:ln>
        </p:spPr>
      </p:sp>
      <p:sp>
        <p:nvSpPr>
          <p:cNvPr id="60" name="Text 58"/>
          <p:cNvSpPr txBox="1"/>
          <p:nvPr/>
        </p:nvSpPr>
        <p:spPr>
          <a:xfrm>
            <a:off x="6026607" y="5888736"/>
            <a:ext cx="550672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NI HABILITADOS NI PROHIBIDOS: DEPENDE DEL REGLAMENTO</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09</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ANÁLISIS ESTRATÉGICO · RECURSOS Y CAPACIDADES</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LA VENTAJA ES POTENCIAL:</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2 de 15 podrían sostenerla.</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de competencias (05) del análisis estratégico del equipo (Control de Gestión, 2026), criterios de Hitt, Ireland y Hoskisson. Detalle en el anexo A5.</a:t>
            </a:r>
            <a:endParaRPr lang="es-CL" sz="1200" dirty="0"/>
          </a:p>
        </p:txBody>
      </p:sp>
      <p:sp>
        <p:nvSpPr>
          <p:cNvPr id="5" name="Shape 3"/>
          <p:cNvSpPr/>
          <p:nvPr/>
        </p:nvSpPr>
        <p:spPr>
          <a:xfrm>
            <a:off x="548640" y="2395728"/>
            <a:ext cx="1691640" cy="0"/>
          </a:xfrm>
          <a:prstGeom prst="line">
            <a:avLst/>
          </a:prstGeom>
          <a:noFill/>
          <a:ln w="9525">
            <a:solidFill>
              <a:schemeClr val="accent1"/>
            </a:solidFill>
            <a:prstDash val="solid"/>
          </a:ln>
        </p:spPr>
      </p:sp>
      <p:sp>
        <p:nvSpPr>
          <p:cNvPr id="6" name="Text 4"/>
          <p:cNvSpPr txBox="1"/>
          <p:nvPr/>
        </p:nvSpPr>
        <p:spPr>
          <a:xfrm>
            <a:off x="548640" y="2441448"/>
            <a:ext cx="1691640" cy="822960"/>
          </a:xfrm>
          <a:prstGeom prst="rect">
            <a:avLst/>
          </a:prstGeom>
          <a:noFill/>
          <a:ln/>
        </p:spPr>
        <p:txBody>
          <a:bodyPr wrap="square" lIns="0" tIns="0" rIns="0" bIns="0" rtlCol="0" anchor="t"/>
          <a:lstStyle/>
          <a:p>
            <a:pPr indent="0" marL="0">
              <a:buNone/>
            </a:pPr>
            <a:r>
              <a:rPr lang="es-CL" altLang="en-US" sz="6000" b="1" dirty="0">
                <a:solidFill>
                  <a:schemeClr val="accent1"/>
                </a:solidFill>
                <a:latin typeface="Archivo Condensed" pitchFamily="34" charset="0"/>
                <a:ea typeface="Archivo Condensed" pitchFamily="34" charset="-122"/>
                <a:cs typeface="Archivo Condensed" pitchFamily="34" charset="-120"/>
              </a:rPr>
              <a:t>2</a:t>
            </a:r>
            <a:endParaRPr lang="es-CL" sz="6000" dirty="0"/>
          </a:p>
        </p:txBody>
      </p:sp>
      <p:sp>
        <p:nvSpPr>
          <p:cNvPr id="7" name="Text 5"/>
          <p:cNvSpPr txBox="1"/>
          <p:nvPr/>
        </p:nvSpPr>
        <p:spPr>
          <a:xfrm>
            <a:off x="548640" y="3264408"/>
            <a:ext cx="18745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SOSTENIBLES EN POTENCIA</a:t>
            </a:r>
            <a:endParaRPr lang="es-CL" sz="1200" dirty="0"/>
          </a:p>
        </p:txBody>
      </p:sp>
      <p:sp>
        <p:nvSpPr>
          <p:cNvPr id="8" name="Shape 6"/>
          <p:cNvSpPr/>
          <p:nvPr/>
        </p:nvSpPr>
        <p:spPr>
          <a:xfrm>
            <a:off x="2468880" y="2395728"/>
            <a:ext cx="1691640" cy="0"/>
          </a:xfrm>
          <a:prstGeom prst="line">
            <a:avLst/>
          </a:prstGeom>
          <a:noFill/>
          <a:ln w="9525">
            <a:solidFill>
              <a:schemeClr val="accent5"/>
            </a:solidFill>
            <a:prstDash val="solid"/>
          </a:ln>
        </p:spPr>
      </p:sp>
      <p:sp>
        <p:nvSpPr>
          <p:cNvPr id="9" name="Text 7"/>
          <p:cNvSpPr txBox="1"/>
          <p:nvPr/>
        </p:nvSpPr>
        <p:spPr>
          <a:xfrm>
            <a:off x="2468880" y="2441448"/>
            <a:ext cx="1691640" cy="822960"/>
          </a:xfrm>
          <a:prstGeom prst="rect">
            <a:avLst/>
          </a:prstGeom>
          <a:noFill/>
          <a:ln/>
        </p:spPr>
        <p:txBody>
          <a:bodyPr wrap="square" lIns="0" tIns="0" rIns="0" bIns="0" rtlCol="0" anchor="t"/>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6</a:t>
            </a:r>
            <a:endParaRPr lang="es-CL" sz="6000" dirty="0"/>
          </a:p>
        </p:txBody>
      </p:sp>
      <p:sp>
        <p:nvSpPr>
          <p:cNvPr id="10" name="Text 8"/>
          <p:cNvSpPr txBox="1"/>
          <p:nvPr/>
        </p:nvSpPr>
        <p:spPr>
          <a:xfrm>
            <a:off x="2468880" y="3264408"/>
            <a:ext cx="187452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TEMPORALES</a:t>
            </a:r>
            <a:endParaRPr lang="es-CL" sz="1200" dirty="0"/>
          </a:p>
        </p:txBody>
      </p:sp>
      <p:sp>
        <p:nvSpPr>
          <p:cNvPr id="11" name="Shape 9"/>
          <p:cNvSpPr/>
          <p:nvPr/>
        </p:nvSpPr>
        <p:spPr>
          <a:xfrm>
            <a:off x="548640" y="3630168"/>
            <a:ext cx="1691640" cy="0"/>
          </a:xfrm>
          <a:prstGeom prst="line">
            <a:avLst/>
          </a:prstGeom>
          <a:noFill/>
          <a:ln w="9525">
            <a:solidFill>
              <a:schemeClr val="accent5"/>
            </a:solidFill>
            <a:prstDash val="solid"/>
          </a:ln>
        </p:spPr>
      </p:sp>
      <p:sp>
        <p:nvSpPr>
          <p:cNvPr id="12" name="Text 10"/>
          <p:cNvSpPr txBox="1"/>
          <p:nvPr/>
        </p:nvSpPr>
        <p:spPr>
          <a:xfrm>
            <a:off x="548640" y="3675888"/>
            <a:ext cx="1691640" cy="822960"/>
          </a:xfrm>
          <a:prstGeom prst="rect">
            <a:avLst/>
          </a:prstGeom>
          <a:noFill/>
          <a:ln/>
        </p:spPr>
        <p:txBody>
          <a:bodyPr wrap="square" lIns="0" tIns="0" rIns="0" bIns="0" rtlCol="0" anchor="t"/>
          <a:lstStyle/>
          <a:p>
            <a:pPr indent="0" marL="0">
              <a:buNone/>
            </a:pPr>
            <a:r>
              <a:rPr lang="es-CL" altLang="en-US" sz="6000" b="1" dirty="0">
                <a:solidFill>
                  <a:schemeClr val="tx2"/>
                </a:solidFill>
                <a:latin typeface="Archivo Condensed" pitchFamily="34" charset="0"/>
                <a:ea typeface="Archivo Condensed" pitchFamily="34" charset="-122"/>
                <a:cs typeface="Archivo Condensed" pitchFamily="34" charset="-120"/>
              </a:rPr>
              <a:t>7</a:t>
            </a:r>
            <a:endParaRPr lang="es-CL" sz="6000" dirty="0"/>
          </a:p>
        </p:txBody>
      </p:sp>
      <p:sp>
        <p:nvSpPr>
          <p:cNvPr id="13" name="Text 11"/>
          <p:cNvSpPr txBox="1"/>
          <p:nvPr/>
        </p:nvSpPr>
        <p:spPr>
          <a:xfrm>
            <a:off x="548640" y="4498848"/>
            <a:ext cx="187452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IGUALDAD</a:t>
            </a:r>
            <a:endParaRPr lang="es-CL" sz="1200" dirty="0"/>
          </a:p>
        </p:txBody>
      </p:sp>
      <p:sp>
        <p:nvSpPr>
          <p:cNvPr id="14" name="Shape 12"/>
          <p:cNvSpPr/>
          <p:nvPr/>
        </p:nvSpPr>
        <p:spPr>
          <a:xfrm>
            <a:off x="2468880" y="3630168"/>
            <a:ext cx="1691640" cy="0"/>
          </a:xfrm>
          <a:prstGeom prst="line">
            <a:avLst/>
          </a:prstGeom>
          <a:noFill/>
          <a:ln w="9525">
            <a:solidFill>
              <a:schemeClr val="accent5"/>
            </a:solidFill>
            <a:prstDash val="solid"/>
          </a:ln>
        </p:spPr>
      </p:sp>
      <p:sp>
        <p:nvSpPr>
          <p:cNvPr id="15" name="Text 13"/>
          <p:cNvSpPr txBox="1"/>
          <p:nvPr/>
        </p:nvSpPr>
        <p:spPr>
          <a:xfrm>
            <a:off x="2468880" y="3675888"/>
            <a:ext cx="1691640" cy="822960"/>
          </a:xfrm>
          <a:prstGeom prst="rect">
            <a:avLst/>
          </a:prstGeom>
          <a:noFill/>
          <a:ln/>
        </p:spPr>
        <p:txBody>
          <a:bodyPr wrap="square" lIns="0" tIns="0" rIns="0" bIns="0" rtlCol="0" anchor="t"/>
          <a:lstStyle/>
          <a:p>
            <a:pPr indent="0" marL="0">
              <a:buNone/>
            </a:pPr>
            <a:r>
              <a:rPr lang="es-CL" altLang="en-US" sz="6000" b="1" dirty="0">
                <a:solidFill>
                  <a:schemeClr val="tx2"/>
                </a:solidFill>
                <a:latin typeface="Archivo Condensed" pitchFamily="34" charset="0"/>
                <a:ea typeface="Archivo Condensed" pitchFamily="34" charset="-122"/>
                <a:cs typeface="Archivo Condensed" pitchFamily="34" charset="-120"/>
              </a:rPr>
              <a:t>0</a:t>
            </a:r>
            <a:endParaRPr lang="es-CL" sz="6000" dirty="0"/>
          </a:p>
        </p:txBody>
      </p:sp>
      <p:sp>
        <p:nvSpPr>
          <p:cNvPr id="16" name="Text 14"/>
          <p:cNvSpPr txBox="1"/>
          <p:nvPr/>
        </p:nvSpPr>
        <p:spPr>
          <a:xfrm>
            <a:off x="2468880" y="4498848"/>
            <a:ext cx="187452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DESVENTAJAS</a:t>
            </a:r>
            <a:endParaRPr lang="es-CL" sz="1200" dirty="0"/>
          </a:p>
        </p:txBody>
      </p:sp>
      <p:sp>
        <p:nvSpPr>
          <p:cNvPr id="17" name="Text 15"/>
          <p:cNvSpPr txBox="1"/>
          <p:nvPr/>
        </p:nvSpPr>
        <p:spPr>
          <a:xfrm>
            <a:off x="548640" y="5001768"/>
            <a:ext cx="3611880" cy="868680"/>
          </a:xfrm>
          <a:prstGeom prst="rect">
            <a:avLst/>
          </a:prstGeom>
          <a:noFill/>
          <a:ln/>
        </p:spPr>
        <p:txBody>
          <a:bodyPr wrap="square" lIns="0" tIns="0" rIns="0" bIns="0" rtlCol="0" anchor="t"/>
          <a:lstStyle/>
          <a:p>
            <a:pPr indent="0" marL="0">
              <a:buNone/>
            </a:pPr>
            <a:r>
              <a:rPr lang="es-CL" altLang="en-US" sz="1700" b="1" dirty="0">
                <a:solidFill>
                  <a:schemeClr val="tx1"/>
                </a:solidFill>
                <a:latin typeface="Figtree" pitchFamily="34" charset="0"/>
                <a:ea typeface="Figtree" pitchFamily="34" charset="-122"/>
                <a:cs typeface="Figtree" pitchFamily="34" charset="-120"/>
              </a:rPr>
              <a:t>Biblioteca hoy vacía: </a:t>
            </a:r>
            <a:pPr indent="0" marL="0">
              <a:buNone/>
            </a:pPr>
            <a:r>
              <a:rPr lang="es-CL" altLang="en-US" sz="1700" dirty="0">
                <a:solidFill>
                  <a:schemeClr val="tx2"/>
                </a:solidFill>
                <a:latin typeface="Figtree" pitchFamily="34" charset="0"/>
                <a:ea typeface="Figtree" pitchFamily="34" charset="-122"/>
                <a:cs typeface="Figtree" pitchFamily="34" charset="-120"/>
              </a:rPr>
              <a:t>potencial de diferenciación sujeto a desarrollo y protección.</a:t>
            </a:r>
            <a:endParaRPr lang="es-CL" sz="1700" dirty="0"/>
          </a:p>
        </p:txBody>
      </p:sp>
      <p:sp>
        <p:nvSpPr>
          <p:cNvPr id="18" name="Shape 16"/>
          <p:cNvSpPr/>
          <p:nvPr/>
        </p:nvSpPr>
        <p:spPr>
          <a:xfrm>
            <a:off x="548640" y="5870448"/>
            <a:ext cx="2601976" cy="310896"/>
          </a:xfrm>
          <a:prstGeom prst="rect">
            <a:avLst/>
          </a:prstGeom>
          <a:solidFill>
            <a:schemeClr val="bg1">
              <a:alpha val="0"/>
            </a:schemeClr>
          </a:solidFill>
          <a:ln w="12700">
            <a:solidFill>
              <a:schemeClr val="tx2"/>
            </a:solidFill>
            <a:prstDash val="dash"/>
          </a:ln>
        </p:spPr>
      </p:sp>
      <p:sp>
        <p:nvSpPr>
          <p:cNvPr id="19" name="Text 17"/>
          <p:cNvSpPr txBox="1"/>
          <p:nvPr/>
        </p:nvSpPr>
        <p:spPr>
          <a:xfrm>
            <a:off x="658368" y="5870448"/>
            <a:ext cx="238252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POTENCIAL, NO EFECTIVA</a:t>
            </a:r>
            <a:endParaRPr lang="es-CL" sz="1200" dirty="0"/>
          </a:p>
        </p:txBody>
      </p:sp>
      <p:sp>
        <p:nvSpPr>
          <p:cNvPr id="20" name="Text 18"/>
          <p:cNvSpPr txBox="1"/>
          <p:nvPr/>
        </p:nvSpPr>
        <p:spPr>
          <a:xfrm>
            <a:off x="4663440" y="2395728"/>
            <a:ext cx="365760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RECURSO O CAPACIDAD</a:t>
            </a:r>
            <a:endParaRPr lang="es-CL" sz="1200" dirty="0"/>
          </a:p>
        </p:txBody>
      </p:sp>
      <p:sp>
        <p:nvSpPr>
          <p:cNvPr id="21" name="Text 19"/>
          <p:cNvSpPr txBox="1"/>
          <p:nvPr/>
        </p:nvSpPr>
        <p:spPr>
          <a:xfrm>
            <a:off x="8854135" y="239572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V</a:t>
            </a:r>
            <a:endParaRPr lang="es-CL" sz="1200" dirty="0"/>
          </a:p>
        </p:txBody>
      </p:sp>
      <p:sp>
        <p:nvSpPr>
          <p:cNvPr id="22" name="Text 20"/>
          <p:cNvSpPr txBox="1"/>
          <p:nvPr/>
        </p:nvSpPr>
        <p:spPr>
          <a:xfrm>
            <a:off x="9183319" y="239572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R</a:t>
            </a:r>
            <a:endParaRPr lang="es-CL" sz="1200" dirty="0"/>
          </a:p>
        </p:txBody>
      </p:sp>
      <p:sp>
        <p:nvSpPr>
          <p:cNvPr id="23" name="Text 21"/>
          <p:cNvSpPr txBox="1"/>
          <p:nvPr/>
        </p:nvSpPr>
        <p:spPr>
          <a:xfrm>
            <a:off x="9512503" y="239572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C</a:t>
            </a:r>
            <a:endParaRPr lang="es-CL" sz="1200" dirty="0"/>
          </a:p>
        </p:txBody>
      </p:sp>
      <p:sp>
        <p:nvSpPr>
          <p:cNvPr id="24" name="Text 22"/>
          <p:cNvSpPr txBox="1"/>
          <p:nvPr/>
        </p:nvSpPr>
        <p:spPr>
          <a:xfrm>
            <a:off x="9841687" y="239572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I</a:t>
            </a:r>
            <a:endParaRPr lang="es-CL" sz="1200" dirty="0"/>
          </a:p>
        </p:txBody>
      </p:sp>
      <p:sp>
        <p:nvSpPr>
          <p:cNvPr id="25" name="Text 23"/>
          <p:cNvSpPr txBox="1"/>
          <p:nvPr/>
        </p:nvSpPr>
        <p:spPr>
          <a:xfrm>
            <a:off x="10225735" y="2395728"/>
            <a:ext cx="1417320" cy="274320"/>
          </a:xfrm>
          <a:prstGeom prst="rect">
            <a:avLst/>
          </a:prstGeom>
          <a:noFill/>
          <a:ln/>
        </p:spPr>
        <p:txBody>
          <a:bodyPr wrap="square" lIns="0" tIns="0" rIns="0" bIns="0" rtlCol="0" anchor="t"/>
          <a:lstStyle/>
          <a:p>
            <a:pPr algn="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RESULTADO</a:t>
            </a:r>
            <a:endParaRPr lang="es-CL" sz="1200" dirty="0"/>
          </a:p>
        </p:txBody>
      </p:sp>
      <p:sp>
        <p:nvSpPr>
          <p:cNvPr id="26" name="Shape 24"/>
          <p:cNvSpPr/>
          <p:nvPr/>
        </p:nvSpPr>
        <p:spPr>
          <a:xfrm>
            <a:off x="4663440" y="2706624"/>
            <a:ext cx="6979615" cy="0"/>
          </a:xfrm>
          <a:prstGeom prst="line">
            <a:avLst/>
          </a:prstGeom>
          <a:noFill/>
          <a:ln w="9525">
            <a:solidFill>
              <a:schemeClr val="accent1"/>
            </a:solidFill>
            <a:prstDash val="solid"/>
          </a:ln>
        </p:spPr>
      </p:sp>
      <p:sp>
        <p:nvSpPr>
          <p:cNvPr id="27" name="Text 25"/>
          <p:cNvSpPr txBox="1"/>
          <p:nvPr/>
        </p:nvSpPr>
        <p:spPr>
          <a:xfrm>
            <a:off x="4663440" y="2706624"/>
            <a:ext cx="4099255" cy="347472"/>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Biblioteca de calibraciones</a:t>
            </a:r>
            <a:endParaRPr lang="es-CL" sz="1600" dirty="0"/>
          </a:p>
        </p:txBody>
      </p:sp>
      <p:sp>
        <p:nvSpPr>
          <p:cNvPr id="28" name="Shape 26"/>
          <p:cNvSpPr/>
          <p:nvPr/>
        </p:nvSpPr>
        <p:spPr>
          <a:xfrm>
            <a:off x="8927287" y="2807208"/>
            <a:ext cx="146304" cy="146304"/>
          </a:xfrm>
          <a:prstGeom prst="rect">
            <a:avLst/>
          </a:prstGeom>
          <a:solidFill>
            <a:schemeClr val="accent1"/>
          </a:solidFill>
          <a:ln w="9525">
            <a:solidFill>
              <a:schemeClr val="accent1"/>
            </a:solidFill>
            <a:prstDash val="solid"/>
          </a:ln>
        </p:spPr>
      </p:sp>
      <p:sp>
        <p:nvSpPr>
          <p:cNvPr id="29" name="Shape 27"/>
          <p:cNvSpPr/>
          <p:nvPr/>
        </p:nvSpPr>
        <p:spPr>
          <a:xfrm>
            <a:off x="9256471" y="2807208"/>
            <a:ext cx="146304" cy="146304"/>
          </a:xfrm>
          <a:prstGeom prst="rect">
            <a:avLst/>
          </a:prstGeom>
          <a:solidFill>
            <a:schemeClr val="accent1"/>
          </a:solidFill>
          <a:ln w="9525">
            <a:solidFill>
              <a:schemeClr val="accent1"/>
            </a:solidFill>
            <a:prstDash val="solid"/>
          </a:ln>
        </p:spPr>
      </p:sp>
      <p:sp>
        <p:nvSpPr>
          <p:cNvPr id="30" name="Shape 28"/>
          <p:cNvSpPr/>
          <p:nvPr/>
        </p:nvSpPr>
        <p:spPr>
          <a:xfrm>
            <a:off x="9585655" y="2807208"/>
            <a:ext cx="146304" cy="146304"/>
          </a:xfrm>
          <a:prstGeom prst="rect">
            <a:avLst/>
          </a:prstGeom>
          <a:solidFill>
            <a:schemeClr val="accent1"/>
          </a:solidFill>
          <a:ln w="9525">
            <a:solidFill>
              <a:schemeClr val="accent1"/>
            </a:solidFill>
            <a:prstDash val="solid"/>
          </a:ln>
        </p:spPr>
      </p:sp>
      <p:sp>
        <p:nvSpPr>
          <p:cNvPr id="31" name="Shape 29"/>
          <p:cNvSpPr/>
          <p:nvPr/>
        </p:nvSpPr>
        <p:spPr>
          <a:xfrm>
            <a:off x="9914839" y="2807208"/>
            <a:ext cx="146304" cy="146304"/>
          </a:xfrm>
          <a:prstGeom prst="rect">
            <a:avLst/>
          </a:prstGeom>
          <a:solidFill>
            <a:schemeClr val="accent1"/>
          </a:solidFill>
          <a:ln w="9525">
            <a:solidFill>
              <a:schemeClr val="accent1"/>
            </a:solidFill>
            <a:prstDash val="solid"/>
          </a:ln>
        </p:spPr>
      </p:sp>
      <p:sp>
        <p:nvSpPr>
          <p:cNvPr id="32" name="Text 30"/>
          <p:cNvSpPr txBox="1"/>
          <p:nvPr/>
        </p:nvSpPr>
        <p:spPr>
          <a:xfrm>
            <a:off x="10225735" y="2706624"/>
            <a:ext cx="1417320" cy="347472"/>
          </a:xfrm>
          <a:prstGeom prst="rect">
            <a:avLst/>
          </a:prstGeom>
          <a:noFill/>
          <a:ln/>
        </p:spPr>
        <p:txBody>
          <a:bodyPr wrap="square" lIns="0" tIns="0" rIns="0" bIns="0" rtlCol="0" anchor="ctr"/>
          <a:lstStyle/>
          <a:p>
            <a:pPr algn="r" indent="0" marL="0">
              <a:buNone/>
            </a:pPr>
            <a:r>
              <a:rPr lang="es-CL" altLang="en-US" sz="1300" b="1" spc="100" kern="0" dirty="0">
                <a:solidFill>
                  <a:schemeClr val="accent1"/>
                </a:solidFill>
                <a:latin typeface="IBM Plex Mono" pitchFamily="34" charset="0"/>
                <a:ea typeface="IBM Plex Mono" pitchFamily="34" charset="-122"/>
                <a:cs typeface="IBM Plex Mono" pitchFamily="34" charset="-120"/>
              </a:rPr>
              <a:t>POTENCIAL</a:t>
            </a:r>
            <a:endParaRPr lang="es-CL" sz="1300" dirty="0"/>
          </a:p>
        </p:txBody>
      </p:sp>
      <p:sp>
        <p:nvSpPr>
          <p:cNvPr id="33" name="Shape 31"/>
          <p:cNvSpPr/>
          <p:nvPr/>
        </p:nvSpPr>
        <p:spPr>
          <a:xfrm>
            <a:off x="4663440" y="3054096"/>
            <a:ext cx="6979615" cy="0"/>
          </a:xfrm>
          <a:prstGeom prst="line">
            <a:avLst/>
          </a:prstGeom>
          <a:noFill/>
          <a:ln w="9525">
            <a:solidFill>
              <a:schemeClr val="accent5"/>
            </a:solidFill>
            <a:prstDash val="solid"/>
          </a:ln>
        </p:spPr>
      </p:sp>
      <p:sp>
        <p:nvSpPr>
          <p:cNvPr id="34" name="Text 32"/>
          <p:cNvSpPr txBox="1"/>
          <p:nvPr/>
        </p:nvSpPr>
        <p:spPr>
          <a:xfrm>
            <a:off x="4663440" y="3054096"/>
            <a:ext cx="4099255" cy="347472"/>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Ingeniería de integración y calibración</a:t>
            </a:r>
            <a:endParaRPr lang="es-CL" sz="1600" dirty="0"/>
          </a:p>
        </p:txBody>
      </p:sp>
      <p:sp>
        <p:nvSpPr>
          <p:cNvPr id="35" name="Shape 33"/>
          <p:cNvSpPr/>
          <p:nvPr/>
        </p:nvSpPr>
        <p:spPr>
          <a:xfrm>
            <a:off x="8927287" y="3154680"/>
            <a:ext cx="146304" cy="146304"/>
          </a:xfrm>
          <a:prstGeom prst="rect">
            <a:avLst/>
          </a:prstGeom>
          <a:solidFill>
            <a:schemeClr val="accent1"/>
          </a:solidFill>
          <a:ln w="9525">
            <a:solidFill>
              <a:schemeClr val="accent1"/>
            </a:solidFill>
            <a:prstDash val="solid"/>
          </a:ln>
        </p:spPr>
      </p:sp>
      <p:sp>
        <p:nvSpPr>
          <p:cNvPr id="36" name="Shape 34"/>
          <p:cNvSpPr/>
          <p:nvPr/>
        </p:nvSpPr>
        <p:spPr>
          <a:xfrm>
            <a:off x="9256471" y="3154680"/>
            <a:ext cx="146304" cy="146304"/>
          </a:xfrm>
          <a:prstGeom prst="rect">
            <a:avLst/>
          </a:prstGeom>
          <a:solidFill>
            <a:schemeClr val="accent1"/>
          </a:solidFill>
          <a:ln w="9525">
            <a:solidFill>
              <a:schemeClr val="accent1"/>
            </a:solidFill>
            <a:prstDash val="solid"/>
          </a:ln>
        </p:spPr>
      </p:sp>
      <p:sp>
        <p:nvSpPr>
          <p:cNvPr id="37" name="Shape 35"/>
          <p:cNvSpPr/>
          <p:nvPr/>
        </p:nvSpPr>
        <p:spPr>
          <a:xfrm>
            <a:off x="9585655" y="3154680"/>
            <a:ext cx="146304" cy="146304"/>
          </a:xfrm>
          <a:prstGeom prst="rect">
            <a:avLst/>
          </a:prstGeom>
          <a:solidFill>
            <a:schemeClr val="accent1"/>
          </a:solidFill>
          <a:ln w="9525">
            <a:solidFill>
              <a:schemeClr val="accent1"/>
            </a:solidFill>
            <a:prstDash val="solid"/>
          </a:ln>
        </p:spPr>
      </p:sp>
      <p:sp>
        <p:nvSpPr>
          <p:cNvPr id="38" name="Shape 36"/>
          <p:cNvSpPr/>
          <p:nvPr/>
        </p:nvSpPr>
        <p:spPr>
          <a:xfrm>
            <a:off x="9914839" y="3154680"/>
            <a:ext cx="146304" cy="146304"/>
          </a:xfrm>
          <a:prstGeom prst="rect">
            <a:avLst/>
          </a:prstGeom>
          <a:solidFill>
            <a:schemeClr val="accent1"/>
          </a:solidFill>
          <a:ln w="9525">
            <a:solidFill>
              <a:schemeClr val="accent1"/>
            </a:solidFill>
            <a:prstDash val="solid"/>
          </a:ln>
        </p:spPr>
      </p:sp>
      <p:sp>
        <p:nvSpPr>
          <p:cNvPr id="39" name="Text 37"/>
          <p:cNvSpPr txBox="1"/>
          <p:nvPr/>
        </p:nvSpPr>
        <p:spPr>
          <a:xfrm>
            <a:off x="10225735" y="3054096"/>
            <a:ext cx="1417320" cy="347472"/>
          </a:xfrm>
          <a:prstGeom prst="rect">
            <a:avLst/>
          </a:prstGeom>
          <a:noFill/>
          <a:ln/>
        </p:spPr>
        <p:txBody>
          <a:bodyPr wrap="square" lIns="0" tIns="0" rIns="0" bIns="0" rtlCol="0" anchor="ctr"/>
          <a:lstStyle/>
          <a:p>
            <a:pPr algn="r" indent="0" marL="0">
              <a:buNone/>
            </a:pPr>
            <a:r>
              <a:rPr lang="es-CL" altLang="en-US" sz="1300" b="1" spc="100" kern="0" dirty="0">
                <a:solidFill>
                  <a:schemeClr val="accent1"/>
                </a:solidFill>
                <a:latin typeface="IBM Plex Mono" pitchFamily="34" charset="0"/>
                <a:ea typeface="IBM Plex Mono" pitchFamily="34" charset="-122"/>
                <a:cs typeface="IBM Plex Mono" pitchFamily="34" charset="-120"/>
              </a:rPr>
              <a:t>POTENCIAL</a:t>
            </a:r>
            <a:endParaRPr lang="es-CL" sz="1300" dirty="0"/>
          </a:p>
        </p:txBody>
      </p:sp>
      <p:sp>
        <p:nvSpPr>
          <p:cNvPr id="40" name="Shape 38"/>
          <p:cNvSpPr/>
          <p:nvPr/>
        </p:nvSpPr>
        <p:spPr>
          <a:xfrm>
            <a:off x="4663440" y="3401568"/>
            <a:ext cx="6979615" cy="0"/>
          </a:xfrm>
          <a:prstGeom prst="line">
            <a:avLst/>
          </a:prstGeom>
          <a:noFill/>
          <a:ln w="9525">
            <a:solidFill>
              <a:schemeClr val="accent5"/>
            </a:solidFill>
            <a:prstDash val="solid"/>
          </a:ln>
        </p:spPr>
      </p:sp>
      <p:sp>
        <p:nvSpPr>
          <p:cNvPr id="41" name="Text 39"/>
          <p:cNvSpPr txBox="1"/>
          <p:nvPr/>
        </p:nvSpPr>
        <p:spPr>
          <a:xfrm>
            <a:off x="4663440" y="3401568"/>
            <a:ext cx="409925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Formación interna en proceso y calibración</a:t>
            </a:r>
            <a:endParaRPr lang="es-CL" sz="1600" dirty="0"/>
          </a:p>
        </p:txBody>
      </p:sp>
      <p:sp>
        <p:nvSpPr>
          <p:cNvPr id="42" name="Shape 40"/>
          <p:cNvSpPr/>
          <p:nvPr/>
        </p:nvSpPr>
        <p:spPr>
          <a:xfrm>
            <a:off x="8927287" y="3502152"/>
            <a:ext cx="146304" cy="146304"/>
          </a:xfrm>
          <a:prstGeom prst="rect">
            <a:avLst/>
          </a:prstGeom>
          <a:solidFill>
            <a:schemeClr val="tx2"/>
          </a:solidFill>
          <a:ln w="9525">
            <a:solidFill>
              <a:schemeClr val="tx2"/>
            </a:solidFill>
            <a:prstDash val="solid"/>
          </a:ln>
        </p:spPr>
      </p:sp>
      <p:sp>
        <p:nvSpPr>
          <p:cNvPr id="43" name="Shape 41"/>
          <p:cNvSpPr/>
          <p:nvPr/>
        </p:nvSpPr>
        <p:spPr>
          <a:xfrm>
            <a:off x="9256471" y="3502152"/>
            <a:ext cx="146304" cy="146304"/>
          </a:xfrm>
          <a:prstGeom prst="rect">
            <a:avLst/>
          </a:prstGeom>
          <a:solidFill>
            <a:schemeClr val="tx2"/>
          </a:solidFill>
          <a:ln w="9525">
            <a:solidFill>
              <a:schemeClr val="tx2"/>
            </a:solidFill>
            <a:prstDash val="solid"/>
          </a:ln>
        </p:spPr>
      </p:sp>
      <p:sp>
        <p:nvSpPr>
          <p:cNvPr id="44" name="Shape 42"/>
          <p:cNvSpPr/>
          <p:nvPr/>
        </p:nvSpPr>
        <p:spPr>
          <a:xfrm>
            <a:off x="9585655" y="3502152"/>
            <a:ext cx="146304" cy="146304"/>
          </a:xfrm>
          <a:prstGeom prst="rect">
            <a:avLst/>
          </a:prstGeom>
          <a:solidFill>
            <a:schemeClr val="tx2"/>
          </a:solidFill>
          <a:ln w="9525">
            <a:solidFill>
              <a:schemeClr val="tx2"/>
            </a:solidFill>
            <a:prstDash val="solid"/>
          </a:ln>
        </p:spPr>
      </p:sp>
      <p:sp>
        <p:nvSpPr>
          <p:cNvPr id="45" name="Shape 43"/>
          <p:cNvSpPr/>
          <p:nvPr/>
        </p:nvSpPr>
        <p:spPr>
          <a:xfrm>
            <a:off x="9914839" y="3502152"/>
            <a:ext cx="146304" cy="146304"/>
          </a:xfrm>
          <a:prstGeom prst="rect">
            <a:avLst/>
          </a:prstGeom>
          <a:solidFill>
            <a:schemeClr val="bg1">
              <a:alpha val="0"/>
            </a:schemeClr>
          </a:solidFill>
          <a:ln w="9525">
            <a:solidFill>
              <a:schemeClr val="accent3"/>
            </a:solidFill>
            <a:prstDash val="solid"/>
          </a:ln>
        </p:spPr>
      </p:sp>
      <p:sp>
        <p:nvSpPr>
          <p:cNvPr id="46" name="Text 44"/>
          <p:cNvSpPr txBox="1"/>
          <p:nvPr/>
        </p:nvSpPr>
        <p:spPr>
          <a:xfrm>
            <a:off x="10225735" y="3401568"/>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47" name="Shape 45"/>
          <p:cNvSpPr/>
          <p:nvPr/>
        </p:nvSpPr>
        <p:spPr>
          <a:xfrm>
            <a:off x="4663440" y="3749040"/>
            <a:ext cx="6979615" cy="0"/>
          </a:xfrm>
          <a:prstGeom prst="line">
            <a:avLst/>
          </a:prstGeom>
          <a:noFill/>
          <a:ln w="9525">
            <a:solidFill>
              <a:schemeClr val="accent5"/>
            </a:solidFill>
            <a:prstDash val="solid"/>
          </a:ln>
        </p:spPr>
      </p:sp>
      <p:sp>
        <p:nvSpPr>
          <p:cNvPr id="48" name="Text 46"/>
          <p:cNvSpPr txBox="1"/>
          <p:nvPr/>
        </p:nvSpPr>
        <p:spPr>
          <a:xfrm>
            <a:off x="4663440" y="3749040"/>
            <a:ext cx="409925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Homologación por par modelo-kit</a:t>
            </a:r>
            <a:endParaRPr lang="es-CL" sz="1600" dirty="0"/>
          </a:p>
        </p:txBody>
      </p:sp>
      <p:sp>
        <p:nvSpPr>
          <p:cNvPr id="49" name="Shape 47"/>
          <p:cNvSpPr/>
          <p:nvPr/>
        </p:nvSpPr>
        <p:spPr>
          <a:xfrm>
            <a:off x="8927287" y="3849624"/>
            <a:ext cx="146304" cy="146304"/>
          </a:xfrm>
          <a:prstGeom prst="rect">
            <a:avLst/>
          </a:prstGeom>
          <a:solidFill>
            <a:schemeClr val="tx2"/>
          </a:solidFill>
          <a:ln w="9525">
            <a:solidFill>
              <a:schemeClr val="tx2"/>
            </a:solidFill>
            <a:prstDash val="solid"/>
          </a:ln>
        </p:spPr>
      </p:sp>
      <p:sp>
        <p:nvSpPr>
          <p:cNvPr id="50" name="Shape 48"/>
          <p:cNvSpPr/>
          <p:nvPr/>
        </p:nvSpPr>
        <p:spPr>
          <a:xfrm>
            <a:off x="9256471" y="3849624"/>
            <a:ext cx="146304" cy="146304"/>
          </a:xfrm>
          <a:prstGeom prst="rect">
            <a:avLst/>
          </a:prstGeom>
          <a:solidFill>
            <a:schemeClr val="tx2"/>
          </a:solidFill>
          <a:ln w="9525">
            <a:solidFill>
              <a:schemeClr val="tx2"/>
            </a:solidFill>
            <a:prstDash val="solid"/>
          </a:ln>
        </p:spPr>
      </p:sp>
      <p:sp>
        <p:nvSpPr>
          <p:cNvPr id="51" name="Shape 49"/>
          <p:cNvSpPr/>
          <p:nvPr/>
        </p:nvSpPr>
        <p:spPr>
          <a:xfrm>
            <a:off x="9585655" y="3849624"/>
            <a:ext cx="146304" cy="146304"/>
          </a:xfrm>
          <a:prstGeom prst="rect">
            <a:avLst/>
          </a:prstGeom>
          <a:solidFill>
            <a:schemeClr val="bg1">
              <a:alpha val="0"/>
            </a:schemeClr>
          </a:solidFill>
          <a:ln w="9525">
            <a:solidFill>
              <a:schemeClr val="accent3"/>
            </a:solidFill>
            <a:prstDash val="solid"/>
          </a:ln>
        </p:spPr>
      </p:sp>
      <p:sp>
        <p:nvSpPr>
          <p:cNvPr id="52" name="Shape 50"/>
          <p:cNvSpPr/>
          <p:nvPr/>
        </p:nvSpPr>
        <p:spPr>
          <a:xfrm>
            <a:off x="9914839" y="3849624"/>
            <a:ext cx="146304" cy="146304"/>
          </a:xfrm>
          <a:prstGeom prst="rect">
            <a:avLst/>
          </a:prstGeom>
          <a:solidFill>
            <a:schemeClr val="bg1">
              <a:alpha val="0"/>
            </a:schemeClr>
          </a:solidFill>
          <a:ln w="9525">
            <a:solidFill>
              <a:schemeClr val="accent3"/>
            </a:solidFill>
            <a:prstDash val="solid"/>
          </a:ln>
        </p:spPr>
      </p:sp>
      <p:sp>
        <p:nvSpPr>
          <p:cNvPr id="53" name="Text 51"/>
          <p:cNvSpPr txBox="1"/>
          <p:nvPr/>
        </p:nvSpPr>
        <p:spPr>
          <a:xfrm>
            <a:off x="10225735" y="3749040"/>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54" name="Shape 52"/>
          <p:cNvSpPr/>
          <p:nvPr/>
        </p:nvSpPr>
        <p:spPr>
          <a:xfrm>
            <a:off x="4663440" y="4096512"/>
            <a:ext cx="6979615" cy="0"/>
          </a:xfrm>
          <a:prstGeom prst="line">
            <a:avLst/>
          </a:prstGeom>
          <a:noFill/>
          <a:ln w="9525">
            <a:solidFill>
              <a:schemeClr val="accent5"/>
            </a:solidFill>
            <a:prstDash val="solid"/>
          </a:ln>
        </p:spPr>
      </p:sp>
      <p:sp>
        <p:nvSpPr>
          <p:cNvPr id="55" name="Text 53"/>
          <p:cNvSpPr txBox="1"/>
          <p:nvPr/>
        </p:nvSpPr>
        <p:spPr>
          <a:xfrm>
            <a:off x="4663440" y="4096512"/>
            <a:ext cx="409925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Autorización del taller</a:t>
            </a:r>
            <a:endParaRPr lang="es-CL" sz="1600" dirty="0"/>
          </a:p>
        </p:txBody>
      </p:sp>
      <p:sp>
        <p:nvSpPr>
          <p:cNvPr id="56" name="Shape 54"/>
          <p:cNvSpPr/>
          <p:nvPr/>
        </p:nvSpPr>
        <p:spPr>
          <a:xfrm>
            <a:off x="8927287" y="4197096"/>
            <a:ext cx="146304" cy="146304"/>
          </a:xfrm>
          <a:prstGeom prst="rect">
            <a:avLst/>
          </a:prstGeom>
          <a:solidFill>
            <a:schemeClr val="tx2"/>
          </a:solidFill>
          <a:ln w="9525">
            <a:solidFill>
              <a:schemeClr val="tx2"/>
            </a:solidFill>
            <a:prstDash val="solid"/>
          </a:ln>
        </p:spPr>
      </p:sp>
      <p:sp>
        <p:nvSpPr>
          <p:cNvPr id="57" name="Shape 55"/>
          <p:cNvSpPr/>
          <p:nvPr/>
        </p:nvSpPr>
        <p:spPr>
          <a:xfrm>
            <a:off x="9256471" y="4197096"/>
            <a:ext cx="146304" cy="146304"/>
          </a:xfrm>
          <a:prstGeom prst="rect">
            <a:avLst/>
          </a:prstGeom>
          <a:solidFill>
            <a:schemeClr val="tx2"/>
          </a:solidFill>
          <a:ln w="9525">
            <a:solidFill>
              <a:schemeClr val="tx2"/>
            </a:solidFill>
            <a:prstDash val="solid"/>
          </a:ln>
        </p:spPr>
      </p:sp>
      <p:sp>
        <p:nvSpPr>
          <p:cNvPr id="58" name="Shape 56"/>
          <p:cNvSpPr/>
          <p:nvPr/>
        </p:nvSpPr>
        <p:spPr>
          <a:xfrm>
            <a:off x="9585655" y="4197096"/>
            <a:ext cx="146304" cy="146304"/>
          </a:xfrm>
          <a:prstGeom prst="rect">
            <a:avLst/>
          </a:prstGeom>
          <a:solidFill>
            <a:schemeClr val="bg1">
              <a:alpha val="0"/>
            </a:schemeClr>
          </a:solidFill>
          <a:ln w="9525">
            <a:solidFill>
              <a:schemeClr val="accent3"/>
            </a:solidFill>
            <a:prstDash val="solid"/>
          </a:ln>
        </p:spPr>
      </p:sp>
      <p:sp>
        <p:nvSpPr>
          <p:cNvPr id="59" name="Shape 57"/>
          <p:cNvSpPr/>
          <p:nvPr/>
        </p:nvSpPr>
        <p:spPr>
          <a:xfrm>
            <a:off x="9914839" y="4197096"/>
            <a:ext cx="146304" cy="146304"/>
          </a:xfrm>
          <a:prstGeom prst="rect">
            <a:avLst/>
          </a:prstGeom>
          <a:solidFill>
            <a:schemeClr val="bg1">
              <a:alpha val="0"/>
            </a:schemeClr>
          </a:solidFill>
          <a:ln w="9525">
            <a:solidFill>
              <a:schemeClr val="accent3"/>
            </a:solidFill>
            <a:prstDash val="solid"/>
          </a:ln>
        </p:spPr>
      </p:sp>
      <p:sp>
        <p:nvSpPr>
          <p:cNvPr id="60" name="Text 58"/>
          <p:cNvSpPr txBox="1"/>
          <p:nvPr/>
        </p:nvSpPr>
        <p:spPr>
          <a:xfrm>
            <a:off x="10225735" y="4096512"/>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61" name="Shape 59"/>
          <p:cNvSpPr/>
          <p:nvPr/>
        </p:nvSpPr>
        <p:spPr>
          <a:xfrm>
            <a:off x="4663440" y="4443984"/>
            <a:ext cx="6979615" cy="0"/>
          </a:xfrm>
          <a:prstGeom prst="line">
            <a:avLst/>
          </a:prstGeom>
          <a:noFill/>
          <a:ln w="9525">
            <a:solidFill>
              <a:schemeClr val="accent5"/>
            </a:solidFill>
            <a:prstDash val="solid"/>
          </a:ln>
        </p:spPr>
      </p:sp>
      <p:sp>
        <p:nvSpPr>
          <p:cNvPr id="62" name="Text 60"/>
          <p:cNvSpPr txBox="1"/>
          <p:nvPr/>
        </p:nvSpPr>
        <p:spPr>
          <a:xfrm>
            <a:off x="4663440" y="4443984"/>
            <a:ext cx="409925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Técnicos con licencia SEC</a:t>
            </a:r>
            <a:endParaRPr lang="es-CL" sz="1600" dirty="0"/>
          </a:p>
        </p:txBody>
      </p:sp>
      <p:sp>
        <p:nvSpPr>
          <p:cNvPr id="63" name="Shape 61"/>
          <p:cNvSpPr/>
          <p:nvPr/>
        </p:nvSpPr>
        <p:spPr>
          <a:xfrm>
            <a:off x="8927287" y="4544568"/>
            <a:ext cx="146304" cy="146304"/>
          </a:xfrm>
          <a:prstGeom prst="rect">
            <a:avLst/>
          </a:prstGeom>
          <a:solidFill>
            <a:schemeClr val="tx2"/>
          </a:solidFill>
          <a:ln w="9525">
            <a:solidFill>
              <a:schemeClr val="tx2"/>
            </a:solidFill>
            <a:prstDash val="solid"/>
          </a:ln>
        </p:spPr>
      </p:sp>
      <p:sp>
        <p:nvSpPr>
          <p:cNvPr id="64" name="Shape 62"/>
          <p:cNvSpPr/>
          <p:nvPr/>
        </p:nvSpPr>
        <p:spPr>
          <a:xfrm>
            <a:off x="9256471" y="4544568"/>
            <a:ext cx="146304" cy="146304"/>
          </a:xfrm>
          <a:prstGeom prst="rect">
            <a:avLst/>
          </a:prstGeom>
          <a:solidFill>
            <a:schemeClr val="tx2"/>
          </a:solidFill>
          <a:ln w="9525">
            <a:solidFill>
              <a:schemeClr val="tx2"/>
            </a:solidFill>
            <a:prstDash val="solid"/>
          </a:ln>
        </p:spPr>
      </p:sp>
      <p:sp>
        <p:nvSpPr>
          <p:cNvPr id="65" name="Shape 63"/>
          <p:cNvSpPr/>
          <p:nvPr/>
        </p:nvSpPr>
        <p:spPr>
          <a:xfrm>
            <a:off x="9585655" y="4544568"/>
            <a:ext cx="146304" cy="146304"/>
          </a:xfrm>
          <a:prstGeom prst="rect">
            <a:avLst/>
          </a:prstGeom>
          <a:solidFill>
            <a:schemeClr val="bg1">
              <a:alpha val="0"/>
            </a:schemeClr>
          </a:solidFill>
          <a:ln w="9525">
            <a:solidFill>
              <a:schemeClr val="accent3"/>
            </a:solidFill>
            <a:prstDash val="solid"/>
          </a:ln>
        </p:spPr>
      </p:sp>
      <p:sp>
        <p:nvSpPr>
          <p:cNvPr id="66" name="Shape 64"/>
          <p:cNvSpPr/>
          <p:nvPr/>
        </p:nvSpPr>
        <p:spPr>
          <a:xfrm>
            <a:off x="9914839" y="4544568"/>
            <a:ext cx="146304" cy="146304"/>
          </a:xfrm>
          <a:prstGeom prst="rect">
            <a:avLst/>
          </a:prstGeom>
          <a:solidFill>
            <a:schemeClr val="bg1">
              <a:alpha val="0"/>
            </a:schemeClr>
          </a:solidFill>
          <a:ln w="9525">
            <a:solidFill>
              <a:schemeClr val="accent3"/>
            </a:solidFill>
            <a:prstDash val="solid"/>
          </a:ln>
        </p:spPr>
      </p:sp>
      <p:sp>
        <p:nvSpPr>
          <p:cNvPr id="67" name="Text 65"/>
          <p:cNvSpPr txBox="1"/>
          <p:nvPr/>
        </p:nvSpPr>
        <p:spPr>
          <a:xfrm>
            <a:off x="10225735" y="4443984"/>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68" name="Shape 66"/>
          <p:cNvSpPr/>
          <p:nvPr/>
        </p:nvSpPr>
        <p:spPr>
          <a:xfrm>
            <a:off x="4663440" y="4791456"/>
            <a:ext cx="6979615" cy="0"/>
          </a:xfrm>
          <a:prstGeom prst="line">
            <a:avLst/>
          </a:prstGeom>
          <a:noFill/>
          <a:ln w="9525">
            <a:solidFill>
              <a:schemeClr val="accent5"/>
            </a:solidFill>
            <a:prstDash val="solid"/>
          </a:ln>
        </p:spPr>
      </p:sp>
      <p:sp>
        <p:nvSpPr>
          <p:cNvPr id="69" name="Text 67"/>
          <p:cNvSpPr txBox="1"/>
          <p:nvPr/>
        </p:nvSpPr>
        <p:spPr>
          <a:xfrm>
            <a:off x="4663440" y="4791456"/>
            <a:ext cx="409925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Gestión regulatoria e institucional</a:t>
            </a:r>
            <a:endParaRPr lang="es-CL" sz="1600" dirty="0"/>
          </a:p>
        </p:txBody>
      </p:sp>
      <p:sp>
        <p:nvSpPr>
          <p:cNvPr id="70" name="Shape 68"/>
          <p:cNvSpPr/>
          <p:nvPr/>
        </p:nvSpPr>
        <p:spPr>
          <a:xfrm>
            <a:off x="8927287" y="4892040"/>
            <a:ext cx="146304" cy="146304"/>
          </a:xfrm>
          <a:prstGeom prst="rect">
            <a:avLst/>
          </a:prstGeom>
          <a:solidFill>
            <a:schemeClr val="tx2"/>
          </a:solidFill>
          <a:ln w="9525">
            <a:solidFill>
              <a:schemeClr val="tx2"/>
            </a:solidFill>
            <a:prstDash val="solid"/>
          </a:ln>
        </p:spPr>
      </p:sp>
      <p:sp>
        <p:nvSpPr>
          <p:cNvPr id="71" name="Shape 69"/>
          <p:cNvSpPr/>
          <p:nvPr/>
        </p:nvSpPr>
        <p:spPr>
          <a:xfrm>
            <a:off x="9256471" y="4892040"/>
            <a:ext cx="146304" cy="146304"/>
          </a:xfrm>
          <a:prstGeom prst="rect">
            <a:avLst/>
          </a:prstGeom>
          <a:solidFill>
            <a:schemeClr val="tx2"/>
          </a:solidFill>
          <a:ln w="9525">
            <a:solidFill>
              <a:schemeClr val="tx2"/>
            </a:solidFill>
            <a:prstDash val="solid"/>
          </a:ln>
        </p:spPr>
      </p:sp>
      <p:sp>
        <p:nvSpPr>
          <p:cNvPr id="72" name="Shape 70"/>
          <p:cNvSpPr/>
          <p:nvPr/>
        </p:nvSpPr>
        <p:spPr>
          <a:xfrm>
            <a:off x="9585655" y="4892040"/>
            <a:ext cx="146304" cy="146304"/>
          </a:xfrm>
          <a:prstGeom prst="rect">
            <a:avLst/>
          </a:prstGeom>
          <a:solidFill>
            <a:schemeClr val="bg1">
              <a:alpha val="0"/>
            </a:schemeClr>
          </a:solidFill>
          <a:ln w="9525">
            <a:solidFill>
              <a:schemeClr val="accent3"/>
            </a:solidFill>
            <a:prstDash val="solid"/>
          </a:ln>
        </p:spPr>
      </p:sp>
      <p:sp>
        <p:nvSpPr>
          <p:cNvPr id="73" name="Shape 71"/>
          <p:cNvSpPr/>
          <p:nvPr/>
        </p:nvSpPr>
        <p:spPr>
          <a:xfrm>
            <a:off x="9914839" y="4892040"/>
            <a:ext cx="146304" cy="146304"/>
          </a:xfrm>
          <a:prstGeom prst="rect">
            <a:avLst/>
          </a:prstGeom>
          <a:solidFill>
            <a:schemeClr val="bg1">
              <a:alpha val="0"/>
            </a:schemeClr>
          </a:solidFill>
          <a:ln w="9525">
            <a:solidFill>
              <a:schemeClr val="accent3"/>
            </a:solidFill>
            <a:prstDash val="solid"/>
          </a:ln>
        </p:spPr>
      </p:sp>
      <p:sp>
        <p:nvSpPr>
          <p:cNvPr id="74" name="Text 72"/>
          <p:cNvSpPr txBox="1"/>
          <p:nvPr/>
        </p:nvSpPr>
        <p:spPr>
          <a:xfrm>
            <a:off x="10225735" y="4791456"/>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75" name="Shape 73"/>
          <p:cNvSpPr/>
          <p:nvPr/>
        </p:nvSpPr>
        <p:spPr>
          <a:xfrm>
            <a:off x="4663440" y="5138928"/>
            <a:ext cx="6979615" cy="0"/>
          </a:xfrm>
          <a:prstGeom prst="line">
            <a:avLst/>
          </a:prstGeom>
          <a:noFill/>
          <a:ln w="9525">
            <a:solidFill>
              <a:schemeClr val="accent5"/>
            </a:solidFill>
            <a:prstDash val="solid"/>
          </a:ln>
        </p:spPr>
      </p:sp>
      <p:sp>
        <p:nvSpPr>
          <p:cNvPr id="76" name="Text 74"/>
          <p:cNvSpPr txBox="1"/>
          <p:nvPr/>
        </p:nvSpPr>
        <p:spPr>
          <a:xfrm>
            <a:off x="4663440" y="5138928"/>
            <a:ext cx="409925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Diagnóstico previo y posventa</a:t>
            </a:r>
            <a:endParaRPr lang="es-CL" sz="1600" dirty="0"/>
          </a:p>
        </p:txBody>
      </p:sp>
      <p:sp>
        <p:nvSpPr>
          <p:cNvPr id="77" name="Shape 75"/>
          <p:cNvSpPr/>
          <p:nvPr/>
        </p:nvSpPr>
        <p:spPr>
          <a:xfrm>
            <a:off x="8927287" y="5239512"/>
            <a:ext cx="146304" cy="146304"/>
          </a:xfrm>
          <a:prstGeom prst="rect">
            <a:avLst/>
          </a:prstGeom>
          <a:solidFill>
            <a:schemeClr val="tx2"/>
          </a:solidFill>
          <a:ln w="9525">
            <a:solidFill>
              <a:schemeClr val="tx2"/>
            </a:solidFill>
            <a:prstDash val="solid"/>
          </a:ln>
        </p:spPr>
      </p:sp>
      <p:sp>
        <p:nvSpPr>
          <p:cNvPr id="78" name="Shape 76"/>
          <p:cNvSpPr/>
          <p:nvPr/>
        </p:nvSpPr>
        <p:spPr>
          <a:xfrm>
            <a:off x="9256471" y="5239512"/>
            <a:ext cx="146304" cy="146304"/>
          </a:xfrm>
          <a:prstGeom prst="rect">
            <a:avLst/>
          </a:prstGeom>
          <a:solidFill>
            <a:schemeClr val="tx2"/>
          </a:solidFill>
          <a:ln w="9525">
            <a:solidFill>
              <a:schemeClr val="tx2"/>
            </a:solidFill>
            <a:prstDash val="solid"/>
          </a:ln>
        </p:spPr>
      </p:sp>
      <p:sp>
        <p:nvSpPr>
          <p:cNvPr id="79" name="Shape 77"/>
          <p:cNvSpPr/>
          <p:nvPr/>
        </p:nvSpPr>
        <p:spPr>
          <a:xfrm>
            <a:off x="9585655" y="5239512"/>
            <a:ext cx="146304" cy="146304"/>
          </a:xfrm>
          <a:prstGeom prst="rect">
            <a:avLst/>
          </a:prstGeom>
          <a:solidFill>
            <a:schemeClr val="bg1">
              <a:alpha val="0"/>
            </a:schemeClr>
          </a:solidFill>
          <a:ln w="9525">
            <a:solidFill>
              <a:schemeClr val="accent3"/>
            </a:solidFill>
            <a:prstDash val="solid"/>
          </a:ln>
        </p:spPr>
      </p:sp>
      <p:sp>
        <p:nvSpPr>
          <p:cNvPr id="80" name="Shape 78"/>
          <p:cNvSpPr/>
          <p:nvPr/>
        </p:nvSpPr>
        <p:spPr>
          <a:xfrm>
            <a:off x="9914839" y="5239512"/>
            <a:ext cx="146304" cy="146304"/>
          </a:xfrm>
          <a:prstGeom prst="rect">
            <a:avLst/>
          </a:prstGeom>
          <a:solidFill>
            <a:schemeClr val="bg1">
              <a:alpha val="0"/>
            </a:schemeClr>
          </a:solidFill>
          <a:ln w="9525">
            <a:solidFill>
              <a:schemeClr val="accent3"/>
            </a:solidFill>
            <a:prstDash val="solid"/>
          </a:ln>
        </p:spPr>
      </p:sp>
      <p:sp>
        <p:nvSpPr>
          <p:cNvPr id="81" name="Text 79"/>
          <p:cNvSpPr txBox="1"/>
          <p:nvPr/>
        </p:nvSpPr>
        <p:spPr>
          <a:xfrm>
            <a:off x="10225735" y="5138928"/>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82" name="Shape 80"/>
          <p:cNvSpPr/>
          <p:nvPr/>
        </p:nvSpPr>
        <p:spPr>
          <a:xfrm>
            <a:off x="4663440" y="5486400"/>
            <a:ext cx="6979615" cy="0"/>
          </a:xfrm>
          <a:prstGeom prst="line">
            <a:avLst/>
          </a:prstGeom>
          <a:noFill/>
          <a:ln w="9525">
            <a:solidFill>
              <a:schemeClr val="accent5"/>
            </a:solidFill>
            <a:prstDash val="solid"/>
          </a:ln>
        </p:spPr>
      </p:sp>
      <p:sp>
        <p:nvSpPr>
          <p:cNvPr id="83" name="Text 81"/>
          <p:cNvSpPr txBox="1"/>
          <p:nvPr/>
        </p:nvSpPr>
        <p:spPr>
          <a:xfrm>
            <a:off x="4663440" y="5486400"/>
            <a:ext cx="409925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Taller, kit, equipamiento y otros 4</a:t>
            </a:r>
            <a:endParaRPr lang="es-CL" sz="1600" dirty="0"/>
          </a:p>
        </p:txBody>
      </p:sp>
      <p:sp>
        <p:nvSpPr>
          <p:cNvPr id="84" name="Shape 82"/>
          <p:cNvSpPr/>
          <p:nvPr/>
        </p:nvSpPr>
        <p:spPr>
          <a:xfrm>
            <a:off x="8927287" y="5586984"/>
            <a:ext cx="146304" cy="146304"/>
          </a:xfrm>
          <a:prstGeom prst="rect">
            <a:avLst/>
          </a:prstGeom>
          <a:solidFill>
            <a:schemeClr val="tx2"/>
          </a:solidFill>
          <a:ln w="9525">
            <a:solidFill>
              <a:schemeClr val="tx2"/>
            </a:solidFill>
            <a:prstDash val="solid"/>
          </a:ln>
        </p:spPr>
      </p:sp>
      <p:sp>
        <p:nvSpPr>
          <p:cNvPr id="85" name="Shape 83"/>
          <p:cNvSpPr/>
          <p:nvPr/>
        </p:nvSpPr>
        <p:spPr>
          <a:xfrm>
            <a:off x="9256471" y="5586984"/>
            <a:ext cx="146304" cy="146304"/>
          </a:xfrm>
          <a:prstGeom prst="rect">
            <a:avLst/>
          </a:prstGeom>
          <a:solidFill>
            <a:schemeClr val="bg1">
              <a:alpha val="0"/>
            </a:schemeClr>
          </a:solidFill>
          <a:ln w="9525">
            <a:solidFill>
              <a:schemeClr val="accent3"/>
            </a:solidFill>
            <a:prstDash val="solid"/>
          </a:ln>
        </p:spPr>
      </p:sp>
      <p:sp>
        <p:nvSpPr>
          <p:cNvPr id="86" name="Shape 84"/>
          <p:cNvSpPr/>
          <p:nvPr/>
        </p:nvSpPr>
        <p:spPr>
          <a:xfrm>
            <a:off x="9585655" y="5586984"/>
            <a:ext cx="146304" cy="146304"/>
          </a:xfrm>
          <a:prstGeom prst="rect">
            <a:avLst/>
          </a:prstGeom>
          <a:solidFill>
            <a:schemeClr val="bg1">
              <a:alpha val="0"/>
            </a:schemeClr>
          </a:solidFill>
          <a:ln w="9525">
            <a:solidFill>
              <a:schemeClr val="accent3"/>
            </a:solidFill>
            <a:prstDash val="solid"/>
          </a:ln>
        </p:spPr>
      </p:sp>
      <p:sp>
        <p:nvSpPr>
          <p:cNvPr id="87" name="Shape 85"/>
          <p:cNvSpPr/>
          <p:nvPr/>
        </p:nvSpPr>
        <p:spPr>
          <a:xfrm>
            <a:off x="9914839" y="5586984"/>
            <a:ext cx="146304" cy="146304"/>
          </a:xfrm>
          <a:prstGeom prst="rect">
            <a:avLst/>
          </a:prstGeom>
          <a:solidFill>
            <a:schemeClr val="bg1">
              <a:alpha val="0"/>
            </a:schemeClr>
          </a:solidFill>
          <a:ln w="9525">
            <a:solidFill>
              <a:schemeClr val="accent3"/>
            </a:solidFill>
            <a:prstDash val="solid"/>
          </a:ln>
        </p:spPr>
      </p:sp>
      <p:sp>
        <p:nvSpPr>
          <p:cNvPr id="88" name="Text 86"/>
          <p:cNvSpPr txBox="1"/>
          <p:nvPr/>
        </p:nvSpPr>
        <p:spPr>
          <a:xfrm>
            <a:off x="10225735" y="5486400"/>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IGUALDAD</a:t>
            </a:r>
            <a:endParaRPr lang="es-CL" sz="1300" dirty="0"/>
          </a:p>
        </p:txBody>
      </p:sp>
      <p:sp>
        <p:nvSpPr>
          <p:cNvPr id="89" name="Shape 87"/>
          <p:cNvSpPr/>
          <p:nvPr/>
        </p:nvSpPr>
        <p:spPr>
          <a:xfrm>
            <a:off x="4663440" y="5833872"/>
            <a:ext cx="6979615" cy="0"/>
          </a:xfrm>
          <a:prstGeom prst="line">
            <a:avLst/>
          </a:prstGeom>
          <a:noFill/>
          <a:ln w="9525">
            <a:solidFill>
              <a:schemeClr val="accent5"/>
            </a:solidFill>
            <a:prstDash val="solid"/>
          </a:ln>
        </p:spPr>
      </p:sp>
      <p:sp>
        <p:nvSpPr>
          <p:cNvPr id="90" name="Text 88"/>
          <p:cNvSpPr txBox="1"/>
          <p:nvPr/>
        </p:nvSpPr>
        <p:spPr>
          <a:xfrm>
            <a:off x="4663440" y="5907024"/>
            <a:ext cx="6979615"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V VALIOSO · R RARO · C COSTOSO DE IMITAR · I INSUSTITUIBLE</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10</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ANÁLISIS ESTRATÉGICO · CADENA DE VALOR Y FACTORES CRÍTICOS</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FORTALEZA DE DISEÑO, NO DE EJECUCIÓN:</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operaciones es el cuello de botella.</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de cadena de valor (06) del análisis estratégico del equipo (Control de Gestión, 2026), según Porter (1985) y Francés (2006). Detalle en el anexo A6.</a:t>
            </a:r>
            <a:endParaRPr lang="es-CL" sz="1200" dirty="0"/>
          </a:p>
        </p:txBody>
      </p:sp>
      <p:sp>
        <p:nvSpPr>
          <p:cNvPr id="5" name="Shape 3"/>
          <p:cNvSpPr/>
          <p:nvPr/>
        </p:nvSpPr>
        <p:spPr>
          <a:xfrm>
            <a:off x="548640" y="2395728"/>
            <a:ext cx="7068312" cy="365760"/>
          </a:xfrm>
          <a:prstGeom prst="rect">
            <a:avLst/>
          </a:prstGeom>
          <a:solidFill>
            <a:schemeClr val="bg2">
              <a:alpha val="85000"/>
            </a:schemeClr>
          </a:solidFill>
          <a:ln w="9525">
            <a:solidFill>
              <a:schemeClr val="tx2"/>
            </a:solidFill>
            <a:prstDash val="solid"/>
          </a:ln>
        </p:spPr>
      </p:sp>
      <p:sp>
        <p:nvSpPr>
          <p:cNvPr id="6" name="Text 4"/>
          <p:cNvSpPr txBox="1"/>
          <p:nvPr/>
        </p:nvSpPr>
        <p:spPr>
          <a:xfrm>
            <a:off x="685800" y="2395728"/>
            <a:ext cx="3291840" cy="365760"/>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INFRAESTRUCTURA</a:t>
            </a:r>
            <a:endParaRPr lang="es-CL" sz="1200" dirty="0"/>
          </a:p>
        </p:txBody>
      </p:sp>
      <p:sp>
        <p:nvSpPr>
          <p:cNvPr id="7" name="Text 5"/>
          <p:cNvSpPr txBox="1"/>
          <p:nvPr/>
        </p:nvSpPr>
        <p:spPr>
          <a:xfrm>
            <a:off x="4187952" y="2395728"/>
            <a:ext cx="3291840" cy="365760"/>
          </a:xfrm>
          <a:prstGeom prst="rect">
            <a:avLst/>
          </a:prstGeom>
          <a:noFill/>
          <a:ln/>
        </p:spPr>
        <p:txBody>
          <a:bodyPr wrap="square" lIns="0" tIns="0" rIns="0" bIns="0" rtlCol="0" anchor="ctr"/>
          <a:lstStyle/>
          <a:p>
            <a:pPr algn="r" indent="0" marL="0">
              <a:buNone/>
            </a:pPr>
            <a:r>
              <a:rPr lang="es-CL" altLang="en-US" sz="1200" b="1" spc="100" kern="0" dirty="0">
                <a:solidFill>
                  <a:schemeClr val="tx1"/>
                </a:solidFill>
                <a:latin typeface="IBM Plex Mono" pitchFamily="34" charset="0"/>
                <a:ea typeface="IBM Plex Mono" pitchFamily="34" charset="-122"/>
                <a:cs typeface="IBM Plex Mono" pitchFamily="34" charset="-120"/>
              </a:rPr>
              <a:t>CONDICIÓN DE ENTRADA</a:t>
            </a:r>
            <a:endParaRPr lang="es-CL" sz="1200" dirty="0"/>
          </a:p>
        </p:txBody>
      </p:sp>
      <p:sp>
        <p:nvSpPr>
          <p:cNvPr id="8" name="Shape 6"/>
          <p:cNvSpPr/>
          <p:nvPr/>
        </p:nvSpPr>
        <p:spPr>
          <a:xfrm>
            <a:off x="548640" y="2816352"/>
            <a:ext cx="7068312" cy="365760"/>
          </a:xfrm>
          <a:prstGeom prst="rect">
            <a:avLst/>
          </a:prstGeom>
          <a:solidFill>
            <a:schemeClr val="bg2">
              <a:alpha val="85000"/>
            </a:schemeClr>
          </a:solidFill>
          <a:ln w="9525">
            <a:solidFill>
              <a:schemeClr val="accent5"/>
            </a:solidFill>
            <a:prstDash val="solid"/>
          </a:ln>
        </p:spPr>
      </p:sp>
      <p:sp>
        <p:nvSpPr>
          <p:cNvPr id="9" name="Text 7"/>
          <p:cNvSpPr txBox="1"/>
          <p:nvPr/>
        </p:nvSpPr>
        <p:spPr>
          <a:xfrm>
            <a:off x="685800" y="2816352"/>
            <a:ext cx="3291840" cy="365760"/>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RECURSOS HUMANOS</a:t>
            </a:r>
            <a:endParaRPr lang="es-CL" sz="1200" dirty="0"/>
          </a:p>
        </p:txBody>
      </p:sp>
      <p:sp>
        <p:nvSpPr>
          <p:cNvPr id="10" name="Shape 8"/>
          <p:cNvSpPr/>
          <p:nvPr/>
        </p:nvSpPr>
        <p:spPr>
          <a:xfrm>
            <a:off x="548640" y="3236976"/>
            <a:ext cx="7068312" cy="365760"/>
          </a:xfrm>
          <a:prstGeom prst="rect">
            <a:avLst/>
          </a:prstGeom>
          <a:solidFill>
            <a:srgbClr val="062A45"/>
          </a:solidFill>
          <a:ln w="15875">
            <a:solidFill>
              <a:schemeClr val="accent1"/>
            </a:solidFill>
            <a:prstDash val="solid"/>
          </a:ln>
        </p:spPr>
      </p:sp>
      <p:sp>
        <p:nvSpPr>
          <p:cNvPr id="11" name="Text 9"/>
          <p:cNvSpPr txBox="1"/>
          <p:nvPr/>
        </p:nvSpPr>
        <p:spPr>
          <a:xfrm>
            <a:off x="685800" y="3236976"/>
            <a:ext cx="3291840" cy="365760"/>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DESARROLLO TECNOLÓGICO</a:t>
            </a:r>
            <a:endParaRPr lang="es-CL" sz="1200" dirty="0"/>
          </a:p>
        </p:txBody>
      </p:sp>
      <p:sp>
        <p:nvSpPr>
          <p:cNvPr id="12" name="Text 10"/>
          <p:cNvSpPr txBox="1"/>
          <p:nvPr/>
        </p:nvSpPr>
        <p:spPr>
          <a:xfrm>
            <a:off x="4187952" y="3236976"/>
            <a:ext cx="3291840" cy="365760"/>
          </a:xfrm>
          <a:prstGeom prst="rect">
            <a:avLst/>
          </a:prstGeom>
          <a:noFill/>
          <a:ln/>
        </p:spPr>
        <p:txBody>
          <a:bodyPr wrap="square" lIns="0" tIns="0" rIns="0" bIns="0" rtlCol="0" anchor="ctr"/>
          <a:lstStyle/>
          <a:p>
            <a:pPr algn="r" indent="0" marL="0">
              <a:buNone/>
            </a:pPr>
            <a:r>
              <a:rPr lang="es-CL" altLang="en-US" sz="1200" b="1" spc="100" kern="0" dirty="0">
                <a:solidFill>
                  <a:schemeClr val="accent1"/>
                </a:solidFill>
                <a:latin typeface="IBM Plex Mono" pitchFamily="34" charset="0"/>
                <a:ea typeface="IBM Plex Mono" pitchFamily="34" charset="-122"/>
                <a:cs typeface="IBM Plex Mono" pitchFamily="34" charset="-120"/>
              </a:rPr>
              <a:t>FUENTE DE DIFERENCIACIÓN</a:t>
            </a:r>
            <a:endParaRPr lang="es-CL" sz="1200" dirty="0"/>
          </a:p>
        </p:txBody>
      </p:sp>
      <p:sp>
        <p:nvSpPr>
          <p:cNvPr id="13" name="Shape 11"/>
          <p:cNvSpPr/>
          <p:nvPr/>
        </p:nvSpPr>
        <p:spPr>
          <a:xfrm>
            <a:off x="548640" y="3657600"/>
            <a:ext cx="7068312" cy="365760"/>
          </a:xfrm>
          <a:prstGeom prst="rect">
            <a:avLst/>
          </a:prstGeom>
          <a:solidFill>
            <a:schemeClr val="bg2">
              <a:alpha val="85000"/>
            </a:schemeClr>
          </a:solidFill>
          <a:ln w="9525">
            <a:solidFill>
              <a:schemeClr val="accent5"/>
            </a:solidFill>
            <a:prstDash val="solid"/>
          </a:ln>
        </p:spPr>
      </p:sp>
      <p:sp>
        <p:nvSpPr>
          <p:cNvPr id="14" name="Text 12"/>
          <p:cNvSpPr txBox="1"/>
          <p:nvPr/>
        </p:nvSpPr>
        <p:spPr>
          <a:xfrm>
            <a:off x="685800" y="3657600"/>
            <a:ext cx="3291840" cy="365760"/>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ADQUISICIONES</a:t>
            </a:r>
            <a:endParaRPr lang="es-CL" sz="1200" dirty="0"/>
          </a:p>
        </p:txBody>
      </p:sp>
      <p:sp>
        <p:nvSpPr>
          <p:cNvPr id="15" name="Shape 13"/>
          <p:cNvSpPr/>
          <p:nvPr/>
        </p:nvSpPr>
        <p:spPr>
          <a:xfrm>
            <a:off x="548640" y="4123944"/>
            <a:ext cx="1362456" cy="1188720"/>
          </a:xfrm>
          <a:prstGeom prst="rect">
            <a:avLst/>
          </a:prstGeom>
          <a:solidFill>
            <a:schemeClr val="bg2">
              <a:alpha val="85000"/>
            </a:schemeClr>
          </a:solidFill>
          <a:ln w="9525">
            <a:solidFill>
              <a:schemeClr val="tx2"/>
            </a:solidFill>
            <a:prstDash val="solid"/>
          </a:ln>
        </p:spPr>
      </p:sp>
      <p:sp>
        <p:nvSpPr>
          <p:cNvPr id="16" name="Text 14"/>
          <p:cNvSpPr txBox="1"/>
          <p:nvPr/>
        </p:nvSpPr>
        <p:spPr>
          <a:xfrm>
            <a:off x="612648" y="4215384"/>
            <a:ext cx="1252728" cy="5029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Logística de entrada</a:t>
            </a:r>
            <a:endParaRPr lang="es-CL" sz="1500" dirty="0"/>
          </a:p>
        </p:txBody>
      </p:sp>
      <p:sp>
        <p:nvSpPr>
          <p:cNvPr id="17" name="Text 15"/>
          <p:cNvSpPr txBox="1"/>
          <p:nvPr/>
        </p:nvSpPr>
        <p:spPr>
          <a:xfrm>
            <a:off x="640080" y="4782312"/>
            <a:ext cx="1179576" cy="457200"/>
          </a:xfrm>
          <a:prstGeom prst="rect">
            <a:avLst/>
          </a:prstGeom>
          <a:noFill/>
          <a:ln/>
        </p:spPr>
        <p:txBody>
          <a:bodyPr wrap="square" lIns="0" tIns="0" rIns="0" bIns="0" rtlCol="0" anchor="t"/>
          <a:lstStyle/>
          <a:p>
            <a:pPr indent="0" marL="0">
              <a:buNone/>
            </a:pPr>
            <a:r>
              <a:rPr lang="es-CL" altLang="en-US" sz="1200" b="1" dirty="0">
                <a:solidFill>
                  <a:schemeClr val="tx1"/>
                </a:solidFill>
                <a:latin typeface="IBM Plex Mono" pitchFamily="34" charset="0"/>
                <a:ea typeface="IBM Plex Mono" pitchFamily="34" charset="-122"/>
                <a:cs typeface="IBM Plex Mono" pitchFamily="34" charset="-120"/>
              </a:rPr>
              <a:t>COSTO</a:t>
            </a:r>
            <a:endParaRPr lang="es-CL" sz="1200" dirty="0"/>
          </a:p>
        </p:txBody>
      </p:sp>
      <p:sp>
        <p:nvSpPr>
          <p:cNvPr id="18" name="Shape 16"/>
          <p:cNvSpPr/>
          <p:nvPr/>
        </p:nvSpPr>
        <p:spPr>
          <a:xfrm>
            <a:off x="1975104" y="4123944"/>
            <a:ext cx="1362456" cy="1188720"/>
          </a:xfrm>
          <a:prstGeom prst="rect">
            <a:avLst/>
          </a:prstGeom>
          <a:solidFill>
            <a:srgbClr val="062A45"/>
          </a:solidFill>
          <a:ln w="15875">
            <a:solidFill>
              <a:schemeClr val="accent1"/>
            </a:solidFill>
            <a:prstDash val="solid"/>
          </a:ln>
        </p:spPr>
      </p:sp>
      <p:sp>
        <p:nvSpPr>
          <p:cNvPr id="19" name="Text 17"/>
          <p:cNvSpPr txBox="1"/>
          <p:nvPr/>
        </p:nvSpPr>
        <p:spPr>
          <a:xfrm>
            <a:off x="2039112" y="4215384"/>
            <a:ext cx="1252728" cy="5029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Operaciones</a:t>
            </a:r>
            <a:endParaRPr lang="es-CL" sz="1500" dirty="0"/>
          </a:p>
        </p:txBody>
      </p:sp>
      <p:sp>
        <p:nvSpPr>
          <p:cNvPr id="20" name="Text 18"/>
          <p:cNvSpPr txBox="1"/>
          <p:nvPr/>
        </p:nvSpPr>
        <p:spPr>
          <a:xfrm>
            <a:off x="2066544" y="4782312"/>
            <a:ext cx="1179576" cy="457200"/>
          </a:xfrm>
          <a:prstGeom prst="rect">
            <a:avLst/>
          </a:prstGeom>
          <a:noFill/>
          <a:ln/>
        </p:spPr>
        <p:txBody>
          <a:bodyPr wrap="square" lIns="0" tIns="0" rIns="0" bIns="0" rtlCol="0" anchor="t"/>
          <a:lstStyle/>
          <a:p>
            <a:pPr indent="0" marL="0">
              <a:buNone/>
            </a:pPr>
            <a:r>
              <a:rPr lang="es-CL" altLang="en-US" sz="1200" b="1" dirty="0">
                <a:solidFill>
                  <a:schemeClr val="accent1"/>
                </a:solidFill>
                <a:latin typeface="IBM Plex Mono" pitchFamily="34" charset="0"/>
                <a:ea typeface="IBM Plex Mono" pitchFamily="34" charset="-122"/>
                <a:cs typeface="IBM Plex Mono" pitchFamily="34" charset="-120"/>
              </a:rPr>
              <a:t>CUELLO DE BOTELLA</a:t>
            </a:r>
            <a:endParaRPr lang="es-CL" sz="1200" dirty="0"/>
          </a:p>
        </p:txBody>
      </p:sp>
      <p:sp>
        <p:nvSpPr>
          <p:cNvPr id="21" name="Shape 19"/>
          <p:cNvSpPr/>
          <p:nvPr/>
        </p:nvSpPr>
        <p:spPr>
          <a:xfrm>
            <a:off x="3401568" y="4123944"/>
            <a:ext cx="1362456" cy="1188720"/>
          </a:xfrm>
          <a:prstGeom prst="rect">
            <a:avLst/>
          </a:prstGeom>
          <a:solidFill>
            <a:schemeClr val="bg2">
              <a:alpha val="85000"/>
            </a:schemeClr>
          </a:solidFill>
          <a:ln w="9525">
            <a:solidFill>
              <a:schemeClr val="accent5"/>
            </a:solidFill>
            <a:prstDash val="solid"/>
          </a:ln>
        </p:spPr>
      </p:sp>
      <p:sp>
        <p:nvSpPr>
          <p:cNvPr id="22" name="Text 20"/>
          <p:cNvSpPr txBox="1"/>
          <p:nvPr/>
        </p:nvSpPr>
        <p:spPr>
          <a:xfrm>
            <a:off x="3465576" y="4215384"/>
            <a:ext cx="1252728" cy="5029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Logística de salida</a:t>
            </a:r>
            <a:endParaRPr lang="es-CL" sz="1500" dirty="0"/>
          </a:p>
        </p:txBody>
      </p:sp>
      <p:sp>
        <p:nvSpPr>
          <p:cNvPr id="23" name="Shape 21"/>
          <p:cNvSpPr/>
          <p:nvPr/>
        </p:nvSpPr>
        <p:spPr>
          <a:xfrm>
            <a:off x="4828032" y="4123944"/>
            <a:ext cx="1362456" cy="1188720"/>
          </a:xfrm>
          <a:prstGeom prst="rect">
            <a:avLst/>
          </a:prstGeom>
          <a:solidFill>
            <a:schemeClr val="bg2">
              <a:alpha val="85000"/>
            </a:schemeClr>
          </a:solidFill>
          <a:ln w="9525">
            <a:solidFill>
              <a:schemeClr val="accent5"/>
            </a:solidFill>
            <a:prstDash val="solid"/>
          </a:ln>
        </p:spPr>
      </p:sp>
      <p:sp>
        <p:nvSpPr>
          <p:cNvPr id="24" name="Text 22"/>
          <p:cNvSpPr txBox="1"/>
          <p:nvPr/>
        </p:nvSpPr>
        <p:spPr>
          <a:xfrm>
            <a:off x="4892040" y="4215384"/>
            <a:ext cx="1252728" cy="5029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Marketing y ventas</a:t>
            </a:r>
            <a:endParaRPr lang="es-CL" sz="1500" dirty="0"/>
          </a:p>
        </p:txBody>
      </p:sp>
      <p:sp>
        <p:nvSpPr>
          <p:cNvPr id="25" name="Shape 23"/>
          <p:cNvSpPr/>
          <p:nvPr/>
        </p:nvSpPr>
        <p:spPr>
          <a:xfrm>
            <a:off x="6254496" y="4123944"/>
            <a:ext cx="1362456" cy="1188720"/>
          </a:xfrm>
          <a:prstGeom prst="rect">
            <a:avLst/>
          </a:prstGeom>
          <a:solidFill>
            <a:schemeClr val="bg2">
              <a:alpha val="85000"/>
            </a:schemeClr>
          </a:solidFill>
          <a:ln w="9525">
            <a:solidFill>
              <a:schemeClr val="accent5"/>
            </a:solidFill>
            <a:prstDash val="solid"/>
          </a:ln>
        </p:spPr>
      </p:sp>
      <p:sp>
        <p:nvSpPr>
          <p:cNvPr id="26" name="Text 24"/>
          <p:cNvSpPr txBox="1"/>
          <p:nvPr/>
        </p:nvSpPr>
        <p:spPr>
          <a:xfrm>
            <a:off x="6318504" y="4215384"/>
            <a:ext cx="1252728" cy="5029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Posventa</a:t>
            </a:r>
            <a:endParaRPr lang="es-CL" sz="1500" dirty="0"/>
          </a:p>
        </p:txBody>
      </p:sp>
      <p:sp>
        <p:nvSpPr>
          <p:cNvPr id="27" name="Shape 25"/>
          <p:cNvSpPr/>
          <p:nvPr/>
        </p:nvSpPr>
        <p:spPr>
          <a:xfrm>
            <a:off x="7680960" y="2395728"/>
            <a:ext cx="320040" cy="2916936"/>
          </a:xfrm>
          <a:prstGeom prst="rect">
            <a:avLst/>
          </a:prstGeom>
          <a:solidFill>
            <a:schemeClr val="accent6"/>
          </a:solidFill>
          <a:ln w="9525">
            <a:solidFill>
              <a:schemeClr val="accent5"/>
            </a:solidFill>
            <a:prstDash val="solid"/>
          </a:ln>
        </p:spPr>
      </p:sp>
      <p:sp>
        <p:nvSpPr>
          <p:cNvPr id="28" name="Text 26"/>
          <p:cNvSpPr txBox="1"/>
          <p:nvPr/>
        </p:nvSpPr>
        <p:spPr>
          <a:xfrm rot="16200000">
            <a:off x="6382512" y="3694176"/>
            <a:ext cx="2916936" cy="320040"/>
          </a:xfrm>
          <a:prstGeom prst="rect">
            <a:avLst/>
          </a:prstGeom>
          <a:noFill/>
          <a:ln/>
        </p:spPr>
        <p:txBody>
          <a:bodyPr wrap="square" lIns="0" tIns="0" rIns="0" bIns="0" rtlCol="0" anchor="ctr"/>
          <a:lstStyle/>
          <a:p>
            <a:pPr algn="ctr" indent="0" marL="0">
              <a:buNone/>
            </a:pPr>
            <a:r>
              <a:rPr lang="es-CL" altLang="en-US" sz="1200" spc="300" kern="0" dirty="0">
                <a:solidFill>
                  <a:schemeClr val="tx2"/>
                </a:solidFill>
                <a:latin typeface="IBM Plex Mono" pitchFamily="34" charset="0"/>
                <a:ea typeface="IBM Plex Mono" pitchFamily="34" charset="-122"/>
                <a:cs typeface="IBM Plex Mono" pitchFamily="34" charset="-120"/>
              </a:rPr>
              <a:t>MARGEN</a:t>
            </a:r>
            <a:endParaRPr lang="es-CL" sz="1200" dirty="0"/>
          </a:p>
        </p:txBody>
      </p:sp>
      <p:sp>
        <p:nvSpPr>
          <p:cNvPr id="29" name="Text 27"/>
          <p:cNvSpPr txBox="1"/>
          <p:nvPr/>
        </p:nvSpPr>
        <p:spPr>
          <a:xfrm>
            <a:off x="548640" y="5431536"/>
            <a:ext cx="1554480" cy="502920"/>
          </a:xfrm>
          <a:prstGeom prst="rect">
            <a:avLst/>
          </a:prstGeom>
          <a:noFill/>
          <a:ln/>
        </p:spPr>
        <p:txBody>
          <a:bodyPr wrap="square" lIns="0" tIns="0" rIns="0" bIns="0" rtlCol="0" anchor="ctr"/>
          <a:lstStyle/>
          <a:p>
            <a:pPr indent="0" marL="0">
              <a:buNone/>
            </a:pPr>
            <a:r>
              <a:rPr lang="es-CL" altLang="en-US" sz="3200" b="1" dirty="0">
                <a:solidFill>
                  <a:schemeClr val="tx1"/>
                </a:solidFill>
                <a:latin typeface="Archivo Condensed" pitchFamily="34" charset="0"/>
                <a:ea typeface="Archivo Condensed" pitchFamily="34" charset="-122"/>
                <a:cs typeface="Archivo Condensed" pitchFamily="34" charset="-120"/>
              </a:rPr>
              <a:t>3,00</a:t>
            </a:r>
            <a:endParaRPr lang="es-CL" sz="3200" dirty="0"/>
          </a:p>
        </p:txBody>
      </p:sp>
      <p:sp>
        <p:nvSpPr>
          <p:cNvPr id="30" name="Text 28"/>
          <p:cNvSpPr txBox="1"/>
          <p:nvPr/>
        </p:nvSpPr>
        <p:spPr>
          <a:xfrm>
            <a:off x="548640" y="5934456"/>
            <a:ext cx="1554480"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HABILIDAD 1–5</a:t>
            </a:r>
            <a:endParaRPr lang="es-CL" sz="1200" dirty="0"/>
          </a:p>
        </p:txBody>
      </p:sp>
      <p:sp>
        <p:nvSpPr>
          <p:cNvPr id="31" name="Text 29"/>
          <p:cNvSpPr txBox="1"/>
          <p:nvPr/>
        </p:nvSpPr>
        <p:spPr>
          <a:xfrm>
            <a:off x="2194560" y="5431536"/>
            <a:ext cx="1554480" cy="502920"/>
          </a:xfrm>
          <a:prstGeom prst="rect">
            <a:avLst/>
          </a:prstGeom>
          <a:noFill/>
          <a:ln/>
        </p:spPr>
        <p:txBody>
          <a:bodyPr wrap="square" lIns="0" tIns="0" rIns="0" bIns="0" rtlCol="0" anchor="ctr"/>
          <a:lstStyle/>
          <a:p>
            <a:pPr indent="0" marL="0">
              <a:buNone/>
            </a:pPr>
            <a:r>
              <a:rPr lang="es-CL" altLang="en-US" sz="3200" b="1" dirty="0">
                <a:solidFill>
                  <a:schemeClr val="tx1"/>
                </a:solidFill>
                <a:latin typeface="Archivo Condensed" pitchFamily="34" charset="0"/>
                <a:ea typeface="Archivo Condensed" pitchFamily="34" charset="-122"/>
                <a:cs typeface="Archivo Condensed" pitchFamily="34" charset="-120"/>
              </a:rPr>
              <a:t>2,71</a:t>
            </a:r>
            <a:endParaRPr lang="es-CL" sz="3200" dirty="0"/>
          </a:p>
        </p:txBody>
      </p:sp>
      <p:sp>
        <p:nvSpPr>
          <p:cNvPr id="32" name="Text 30"/>
          <p:cNvSpPr txBox="1"/>
          <p:nvPr/>
        </p:nvSpPr>
        <p:spPr>
          <a:xfrm>
            <a:off x="2194560" y="5934456"/>
            <a:ext cx="1554480"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RIESGO 1–5</a:t>
            </a:r>
            <a:endParaRPr lang="es-CL" sz="1200" dirty="0"/>
          </a:p>
        </p:txBody>
      </p:sp>
      <p:sp>
        <p:nvSpPr>
          <p:cNvPr id="33" name="Text 31"/>
          <p:cNvSpPr txBox="1"/>
          <p:nvPr/>
        </p:nvSpPr>
        <p:spPr>
          <a:xfrm>
            <a:off x="3840480" y="5431536"/>
            <a:ext cx="4023360" cy="502920"/>
          </a:xfrm>
          <a:prstGeom prst="rect">
            <a:avLst/>
          </a:prstGeom>
          <a:noFill/>
          <a:ln/>
        </p:spPr>
        <p:txBody>
          <a:bodyPr wrap="square" lIns="0" tIns="0" rIns="0" bIns="0" rtlCol="0" anchor="ctr"/>
          <a:lstStyle/>
          <a:p>
            <a:pPr indent="0" marL="0">
              <a:buNone/>
            </a:pPr>
            <a:r>
              <a:rPr lang="es-CL" altLang="en-US" sz="3200" b="1" dirty="0">
                <a:solidFill>
                  <a:schemeClr val="tx2"/>
                </a:solidFill>
                <a:latin typeface="Archivo Condensed" pitchFamily="34" charset="0"/>
                <a:ea typeface="Archivo Condensed" pitchFamily="34" charset="-122"/>
                <a:cs typeface="Archivo Condensed" pitchFamily="34" charset="-120"/>
              </a:rPr>
              <a:t>−1,29 / −1,43</a:t>
            </a:r>
            <a:endParaRPr lang="es-CL" sz="3200" dirty="0"/>
          </a:p>
        </p:txBody>
      </p:sp>
      <p:sp>
        <p:nvSpPr>
          <p:cNvPr id="34" name="Text 32"/>
          <p:cNvSpPr txBox="1"/>
          <p:nvPr/>
        </p:nvSpPr>
        <p:spPr>
          <a:xfrm>
            <a:off x="3840480" y="5934456"/>
            <a:ext cx="4023360"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BRECHA CON UN LÍDER DE REFERENCIA</a:t>
            </a:r>
            <a:endParaRPr lang="es-CL" sz="1200" dirty="0"/>
          </a:p>
        </p:txBody>
      </p:sp>
      <p:sp>
        <p:nvSpPr>
          <p:cNvPr id="35" name="Text 33"/>
          <p:cNvSpPr txBox="1"/>
          <p:nvPr/>
        </p:nvSpPr>
        <p:spPr>
          <a:xfrm>
            <a:off x="8412480" y="2395728"/>
            <a:ext cx="3230575"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FACTORES CRÍTICOS · 1 A 5</a:t>
            </a:r>
            <a:endParaRPr lang="es-CL" sz="1300" dirty="0"/>
          </a:p>
        </p:txBody>
      </p:sp>
      <p:sp>
        <p:nvSpPr>
          <p:cNvPr id="36" name="Shape 34"/>
          <p:cNvSpPr/>
          <p:nvPr/>
        </p:nvSpPr>
        <p:spPr>
          <a:xfrm>
            <a:off x="8412480" y="2743200"/>
            <a:ext cx="3230575" cy="0"/>
          </a:xfrm>
          <a:prstGeom prst="line">
            <a:avLst/>
          </a:prstGeom>
          <a:noFill/>
          <a:ln w="9525">
            <a:solidFill>
              <a:schemeClr val="accent1"/>
            </a:solidFill>
            <a:prstDash val="solid"/>
          </a:ln>
        </p:spPr>
      </p:sp>
      <p:sp>
        <p:nvSpPr>
          <p:cNvPr id="37" name="Text 35"/>
          <p:cNvSpPr txBox="1"/>
          <p:nvPr/>
        </p:nvSpPr>
        <p:spPr>
          <a:xfrm>
            <a:off x="8412480" y="2743200"/>
            <a:ext cx="1721815" cy="50292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Regulación</a:t>
            </a:r>
            <a:endParaRPr lang="es-CL" sz="1600" dirty="0"/>
          </a:p>
        </p:txBody>
      </p:sp>
      <p:sp>
        <p:nvSpPr>
          <p:cNvPr id="38" name="Shape 36"/>
          <p:cNvSpPr/>
          <p:nvPr/>
        </p:nvSpPr>
        <p:spPr>
          <a:xfrm>
            <a:off x="10161727" y="2921508"/>
            <a:ext cx="146304" cy="146304"/>
          </a:xfrm>
          <a:prstGeom prst="rect">
            <a:avLst/>
          </a:prstGeom>
          <a:solidFill>
            <a:schemeClr val="tx2"/>
          </a:solidFill>
          <a:ln w="9525">
            <a:solidFill>
              <a:schemeClr val="tx2"/>
            </a:solidFill>
            <a:prstDash val="solid"/>
          </a:ln>
        </p:spPr>
      </p:sp>
      <p:sp>
        <p:nvSpPr>
          <p:cNvPr id="39" name="Shape 37"/>
          <p:cNvSpPr/>
          <p:nvPr/>
        </p:nvSpPr>
        <p:spPr>
          <a:xfrm>
            <a:off x="10362895" y="2921508"/>
            <a:ext cx="146304" cy="146304"/>
          </a:xfrm>
          <a:prstGeom prst="rect">
            <a:avLst/>
          </a:prstGeom>
          <a:solidFill>
            <a:schemeClr val="tx2"/>
          </a:solidFill>
          <a:ln w="9525">
            <a:solidFill>
              <a:schemeClr val="tx2"/>
            </a:solidFill>
            <a:prstDash val="solid"/>
          </a:ln>
        </p:spPr>
      </p:sp>
      <p:sp>
        <p:nvSpPr>
          <p:cNvPr id="40" name="Shape 38"/>
          <p:cNvSpPr/>
          <p:nvPr/>
        </p:nvSpPr>
        <p:spPr>
          <a:xfrm>
            <a:off x="10564063" y="2921508"/>
            <a:ext cx="146304" cy="146304"/>
          </a:xfrm>
          <a:prstGeom prst="rect">
            <a:avLst/>
          </a:prstGeom>
          <a:solidFill>
            <a:schemeClr val="bg1">
              <a:alpha val="0"/>
            </a:schemeClr>
          </a:solidFill>
          <a:ln w="9525">
            <a:solidFill>
              <a:schemeClr val="accent3"/>
            </a:solidFill>
            <a:prstDash val="solid"/>
          </a:ln>
        </p:spPr>
      </p:sp>
      <p:sp>
        <p:nvSpPr>
          <p:cNvPr id="41" name="Shape 39"/>
          <p:cNvSpPr/>
          <p:nvPr/>
        </p:nvSpPr>
        <p:spPr>
          <a:xfrm>
            <a:off x="10765231" y="2921508"/>
            <a:ext cx="146304" cy="146304"/>
          </a:xfrm>
          <a:prstGeom prst="rect">
            <a:avLst/>
          </a:prstGeom>
          <a:solidFill>
            <a:schemeClr val="bg1">
              <a:alpha val="0"/>
            </a:schemeClr>
          </a:solidFill>
          <a:ln w="9525">
            <a:solidFill>
              <a:schemeClr val="accent3"/>
            </a:solidFill>
            <a:prstDash val="solid"/>
          </a:ln>
        </p:spPr>
      </p:sp>
      <p:sp>
        <p:nvSpPr>
          <p:cNvPr id="42" name="Shape 40"/>
          <p:cNvSpPr/>
          <p:nvPr/>
        </p:nvSpPr>
        <p:spPr>
          <a:xfrm>
            <a:off x="10966399" y="2921508"/>
            <a:ext cx="146304" cy="146304"/>
          </a:xfrm>
          <a:prstGeom prst="rect">
            <a:avLst/>
          </a:prstGeom>
          <a:solidFill>
            <a:schemeClr val="bg1">
              <a:alpha val="0"/>
            </a:schemeClr>
          </a:solidFill>
          <a:ln w="9525">
            <a:solidFill>
              <a:schemeClr val="accent3"/>
            </a:solidFill>
            <a:prstDash val="solid"/>
          </a:ln>
        </p:spPr>
      </p:sp>
      <p:sp>
        <p:nvSpPr>
          <p:cNvPr id="43" name="Text 41"/>
          <p:cNvSpPr txBox="1"/>
          <p:nvPr/>
        </p:nvSpPr>
        <p:spPr>
          <a:xfrm>
            <a:off x="11323015" y="2743200"/>
            <a:ext cx="320040" cy="502920"/>
          </a:xfrm>
          <a:prstGeom prst="rect">
            <a:avLst/>
          </a:prstGeom>
          <a:noFill/>
          <a:ln/>
        </p:spPr>
        <p:txBody>
          <a:bodyPr wrap="square" lIns="0" tIns="0" rIns="0" bIns="0" rtlCol="0" anchor="ctr"/>
          <a:lstStyle/>
          <a:p>
            <a:pPr algn="r" indent="0" marL="0">
              <a:buNone/>
            </a:pPr>
            <a:r>
              <a:rPr lang="es-CL" altLang="en-US" sz="2400" b="1" dirty="0">
                <a:solidFill>
                  <a:schemeClr val="tx1"/>
                </a:solidFill>
                <a:latin typeface="Archivo Condensed" pitchFamily="34" charset="0"/>
                <a:ea typeface="Archivo Condensed" pitchFamily="34" charset="-122"/>
                <a:cs typeface="Archivo Condensed" pitchFamily="34" charset="-120"/>
              </a:rPr>
              <a:t>2</a:t>
            </a:r>
            <a:endParaRPr lang="es-CL" sz="2400" dirty="0"/>
          </a:p>
        </p:txBody>
      </p:sp>
      <p:sp>
        <p:nvSpPr>
          <p:cNvPr id="44" name="Shape 42"/>
          <p:cNvSpPr/>
          <p:nvPr/>
        </p:nvSpPr>
        <p:spPr>
          <a:xfrm>
            <a:off x="8412480" y="3246120"/>
            <a:ext cx="3230575" cy="0"/>
          </a:xfrm>
          <a:prstGeom prst="line">
            <a:avLst/>
          </a:prstGeom>
          <a:noFill/>
          <a:ln w="9525">
            <a:solidFill>
              <a:schemeClr val="accent5"/>
            </a:solidFill>
            <a:prstDash val="solid"/>
          </a:ln>
        </p:spPr>
      </p:sp>
      <p:sp>
        <p:nvSpPr>
          <p:cNvPr id="45" name="Text 43"/>
          <p:cNvSpPr txBox="1"/>
          <p:nvPr/>
        </p:nvSpPr>
        <p:spPr>
          <a:xfrm>
            <a:off x="8412480" y="3246120"/>
            <a:ext cx="1721815" cy="50292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Financiamiento</a:t>
            </a:r>
            <a:endParaRPr lang="es-CL" sz="1600" dirty="0"/>
          </a:p>
        </p:txBody>
      </p:sp>
      <p:sp>
        <p:nvSpPr>
          <p:cNvPr id="46" name="Shape 44"/>
          <p:cNvSpPr/>
          <p:nvPr/>
        </p:nvSpPr>
        <p:spPr>
          <a:xfrm>
            <a:off x="10161727" y="3424428"/>
            <a:ext cx="146304" cy="146304"/>
          </a:xfrm>
          <a:prstGeom prst="rect">
            <a:avLst/>
          </a:prstGeom>
          <a:solidFill>
            <a:schemeClr val="tx2"/>
          </a:solidFill>
          <a:ln w="9525">
            <a:solidFill>
              <a:schemeClr val="tx2"/>
            </a:solidFill>
            <a:prstDash val="solid"/>
          </a:ln>
        </p:spPr>
      </p:sp>
      <p:sp>
        <p:nvSpPr>
          <p:cNvPr id="47" name="Shape 45"/>
          <p:cNvSpPr/>
          <p:nvPr/>
        </p:nvSpPr>
        <p:spPr>
          <a:xfrm>
            <a:off x="10362895" y="3424428"/>
            <a:ext cx="146304" cy="146304"/>
          </a:xfrm>
          <a:prstGeom prst="rect">
            <a:avLst/>
          </a:prstGeom>
          <a:solidFill>
            <a:schemeClr val="tx2"/>
          </a:solidFill>
          <a:ln w="9525">
            <a:solidFill>
              <a:schemeClr val="tx2"/>
            </a:solidFill>
            <a:prstDash val="solid"/>
          </a:ln>
        </p:spPr>
      </p:sp>
      <p:sp>
        <p:nvSpPr>
          <p:cNvPr id="48" name="Shape 46"/>
          <p:cNvSpPr/>
          <p:nvPr/>
        </p:nvSpPr>
        <p:spPr>
          <a:xfrm>
            <a:off x="10564063" y="3424428"/>
            <a:ext cx="146304" cy="146304"/>
          </a:xfrm>
          <a:prstGeom prst="rect">
            <a:avLst/>
          </a:prstGeom>
          <a:solidFill>
            <a:schemeClr val="tx2"/>
          </a:solidFill>
          <a:ln w="9525">
            <a:solidFill>
              <a:schemeClr val="tx2"/>
            </a:solidFill>
            <a:prstDash val="solid"/>
          </a:ln>
        </p:spPr>
      </p:sp>
      <p:sp>
        <p:nvSpPr>
          <p:cNvPr id="49" name="Shape 47"/>
          <p:cNvSpPr/>
          <p:nvPr/>
        </p:nvSpPr>
        <p:spPr>
          <a:xfrm>
            <a:off x="10765231" y="3424428"/>
            <a:ext cx="146304" cy="146304"/>
          </a:xfrm>
          <a:prstGeom prst="rect">
            <a:avLst/>
          </a:prstGeom>
          <a:solidFill>
            <a:schemeClr val="bg1">
              <a:alpha val="0"/>
            </a:schemeClr>
          </a:solidFill>
          <a:ln w="9525">
            <a:solidFill>
              <a:schemeClr val="accent3"/>
            </a:solidFill>
            <a:prstDash val="solid"/>
          </a:ln>
        </p:spPr>
      </p:sp>
      <p:sp>
        <p:nvSpPr>
          <p:cNvPr id="50" name="Shape 48"/>
          <p:cNvSpPr/>
          <p:nvPr/>
        </p:nvSpPr>
        <p:spPr>
          <a:xfrm>
            <a:off x="10966399" y="3424428"/>
            <a:ext cx="146304" cy="146304"/>
          </a:xfrm>
          <a:prstGeom prst="rect">
            <a:avLst/>
          </a:prstGeom>
          <a:solidFill>
            <a:schemeClr val="bg1">
              <a:alpha val="0"/>
            </a:schemeClr>
          </a:solidFill>
          <a:ln w="9525">
            <a:solidFill>
              <a:schemeClr val="accent3"/>
            </a:solidFill>
            <a:prstDash val="solid"/>
          </a:ln>
        </p:spPr>
      </p:sp>
      <p:sp>
        <p:nvSpPr>
          <p:cNvPr id="51" name="Text 49"/>
          <p:cNvSpPr txBox="1"/>
          <p:nvPr/>
        </p:nvSpPr>
        <p:spPr>
          <a:xfrm>
            <a:off x="11323015" y="3246120"/>
            <a:ext cx="320040" cy="502920"/>
          </a:xfrm>
          <a:prstGeom prst="rect">
            <a:avLst/>
          </a:prstGeom>
          <a:noFill/>
          <a:ln/>
        </p:spPr>
        <p:txBody>
          <a:bodyPr wrap="square" lIns="0" tIns="0" rIns="0" bIns="0" rtlCol="0" anchor="ctr"/>
          <a:lstStyle/>
          <a:p>
            <a:pPr algn="r" indent="0" marL="0">
              <a:buNone/>
            </a:pPr>
            <a:r>
              <a:rPr lang="es-CL" altLang="en-US" sz="2400" b="1" dirty="0">
                <a:solidFill>
                  <a:schemeClr val="tx1"/>
                </a:solidFill>
                <a:latin typeface="Archivo Condensed" pitchFamily="34" charset="0"/>
                <a:ea typeface="Archivo Condensed" pitchFamily="34" charset="-122"/>
                <a:cs typeface="Archivo Condensed" pitchFamily="34" charset="-120"/>
              </a:rPr>
              <a:t>3</a:t>
            </a:r>
            <a:endParaRPr lang="es-CL" sz="2400" dirty="0"/>
          </a:p>
        </p:txBody>
      </p:sp>
      <p:sp>
        <p:nvSpPr>
          <p:cNvPr id="52" name="Shape 50"/>
          <p:cNvSpPr/>
          <p:nvPr/>
        </p:nvSpPr>
        <p:spPr>
          <a:xfrm>
            <a:off x="8412480" y="3749040"/>
            <a:ext cx="3230575" cy="0"/>
          </a:xfrm>
          <a:prstGeom prst="line">
            <a:avLst/>
          </a:prstGeom>
          <a:noFill/>
          <a:ln w="9525">
            <a:solidFill>
              <a:schemeClr val="accent5"/>
            </a:solidFill>
            <a:prstDash val="solid"/>
          </a:ln>
        </p:spPr>
      </p:sp>
      <p:sp>
        <p:nvSpPr>
          <p:cNvPr id="53" name="Text 51"/>
          <p:cNvSpPr txBox="1"/>
          <p:nvPr/>
        </p:nvSpPr>
        <p:spPr>
          <a:xfrm>
            <a:off x="8412480" y="3749040"/>
            <a:ext cx="1721815" cy="502920"/>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Integración</a:t>
            </a:r>
            <a:endParaRPr lang="es-CL" sz="1600" dirty="0"/>
          </a:p>
        </p:txBody>
      </p:sp>
      <p:sp>
        <p:nvSpPr>
          <p:cNvPr id="54" name="Shape 52"/>
          <p:cNvSpPr/>
          <p:nvPr/>
        </p:nvSpPr>
        <p:spPr>
          <a:xfrm>
            <a:off x="10161727" y="3927348"/>
            <a:ext cx="146304" cy="146304"/>
          </a:xfrm>
          <a:prstGeom prst="rect">
            <a:avLst/>
          </a:prstGeom>
          <a:solidFill>
            <a:schemeClr val="accent1"/>
          </a:solidFill>
          <a:ln w="9525">
            <a:solidFill>
              <a:schemeClr val="accent1"/>
            </a:solidFill>
            <a:prstDash val="solid"/>
          </a:ln>
        </p:spPr>
      </p:sp>
      <p:sp>
        <p:nvSpPr>
          <p:cNvPr id="55" name="Shape 53"/>
          <p:cNvSpPr/>
          <p:nvPr/>
        </p:nvSpPr>
        <p:spPr>
          <a:xfrm>
            <a:off x="10362895" y="3927348"/>
            <a:ext cx="146304" cy="146304"/>
          </a:xfrm>
          <a:prstGeom prst="rect">
            <a:avLst/>
          </a:prstGeom>
          <a:solidFill>
            <a:schemeClr val="accent1"/>
          </a:solidFill>
          <a:ln w="9525">
            <a:solidFill>
              <a:schemeClr val="accent1"/>
            </a:solidFill>
            <a:prstDash val="solid"/>
          </a:ln>
        </p:spPr>
      </p:sp>
      <p:sp>
        <p:nvSpPr>
          <p:cNvPr id="56" name="Shape 54"/>
          <p:cNvSpPr/>
          <p:nvPr/>
        </p:nvSpPr>
        <p:spPr>
          <a:xfrm>
            <a:off x="10564063" y="3927348"/>
            <a:ext cx="146304" cy="146304"/>
          </a:xfrm>
          <a:prstGeom prst="rect">
            <a:avLst/>
          </a:prstGeom>
          <a:solidFill>
            <a:schemeClr val="accent1"/>
          </a:solidFill>
          <a:ln w="9525">
            <a:solidFill>
              <a:schemeClr val="accent1"/>
            </a:solidFill>
            <a:prstDash val="solid"/>
          </a:ln>
        </p:spPr>
      </p:sp>
      <p:sp>
        <p:nvSpPr>
          <p:cNvPr id="57" name="Shape 55"/>
          <p:cNvSpPr/>
          <p:nvPr/>
        </p:nvSpPr>
        <p:spPr>
          <a:xfrm>
            <a:off x="10765231" y="3927348"/>
            <a:ext cx="146304" cy="146304"/>
          </a:xfrm>
          <a:prstGeom prst="rect">
            <a:avLst/>
          </a:prstGeom>
          <a:solidFill>
            <a:schemeClr val="accent1"/>
          </a:solidFill>
          <a:ln w="9525">
            <a:solidFill>
              <a:schemeClr val="accent1"/>
            </a:solidFill>
            <a:prstDash val="solid"/>
          </a:ln>
        </p:spPr>
      </p:sp>
      <p:sp>
        <p:nvSpPr>
          <p:cNvPr id="58" name="Shape 56"/>
          <p:cNvSpPr/>
          <p:nvPr/>
        </p:nvSpPr>
        <p:spPr>
          <a:xfrm>
            <a:off x="10966399" y="3927348"/>
            <a:ext cx="146304" cy="146304"/>
          </a:xfrm>
          <a:prstGeom prst="rect">
            <a:avLst/>
          </a:prstGeom>
          <a:solidFill>
            <a:schemeClr val="bg1">
              <a:alpha val="0"/>
            </a:schemeClr>
          </a:solidFill>
          <a:ln w="9525">
            <a:solidFill>
              <a:schemeClr val="accent3"/>
            </a:solidFill>
            <a:prstDash val="solid"/>
          </a:ln>
        </p:spPr>
      </p:sp>
      <p:sp>
        <p:nvSpPr>
          <p:cNvPr id="59" name="Text 57"/>
          <p:cNvSpPr txBox="1"/>
          <p:nvPr/>
        </p:nvSpPr>
        <p:spPr>
          <a:xfrm>
            <a:off x="11323015" y="3749040"/>
            <a:ext cx="320040" cy="502920"/>
          </a:xfrm>
          <a:prstGeom prst="rect">
            <a:avLst/>
          </a:prstGeom>
          <a:noFill/>
          <a:ln/>
        </p:spPr>
        <p:txBody>
          <a:bodyPr wrap="square" lIns="0" tIns="0" rIns="0" bIns="0" rtlCol="0" anchor="ctr"/>
          <a:lstStyle/>
          <a:p>
            <a:pPr algn="r" indent="0" marL="0">
              <a:buNone/>
            </a:pPr>
            <a:r>
              <a:rPr lang="es-CL" altLang="en-US" sz="2400" b="1" dirty="0">
                <a:solidFill>
                  <a:schemeClr val="accent1"/>
                </a:solidFill>
                <a:latin typeface="Archivo Condensed" pitchFamily="34" charset="0"/>
                <a:ea typeface="Archivo Condensed" pitchFamily="34" charset="-122"/>
                <a:cs typeface="Archivo Condensed" pitchFamily="34" charset="-120"/>
              </a:rPr>
              <a:t>4</a:t>
            </a:r>
            <a:endParaRPr lang="es-CL" sz="2400" dirty="0"/>
          </a:p>
        </p:txBody>
      </p:sp>
      <p:sp>
        <p:nvSpPr>
          <p:cNvPr id="60" name="Shape 58"/>
          <p:cNvSpPr/>
          <p:nvPr/>
        </p:nvSpPr>
        <p:spPr>
          <a:xfrm>
            <a:off x="8412480" y="4251960"/>
            <a:ext cx="3230575" cy="0"/>
          </a:xfrm>
          <a:prstGeom prst="line">
            <a:avLst/>
          </a:prstGeom>
          <a:noFill/>
          <a:ln w="9525">
            <a:solidFill>
              <a:schemeClr val="accent5"/>
            </a:solidFill>
            <a:prstDash val="solid"/>
          </a:ln>
        </p:spPr>
      </p:sp>
      <p:sp>
        <p:nvSpPr>
          <p:cNvPr id="61" name="Text 59"/>
          <p:cNvSpPr txBox="1"/>
          <p:nvPr/>
        </p:nvSpPr>
        <p:spPr>
          <a:xfrm>
            <a:off x="8412480" y="4251960"/>
            <a:ext cx="1721815" cy="50292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Alta tensión</a:t>
            </a:r>
            <a:endParaRPr lang="es-CL" sz="1600" dirty="0"/>
          </a:p>
        </p:txBody>
      </p:sp>
      <p:sp>
        <p:nvSpPr>
          <p:cNvPr id="62" name="Shape 60"/>
          <p:cNvSpPr/>
          <p:nvPr/>
        </p:nvSpPr>
        <p:spPr>
          <a:xfrm>
            <a:off x="10161727" y="4430268"/>
            <a:ext cx="146304" cy="146304"/>
          </a:xfrm>
          <a:prstGeom prst="rect">
            <a:avLst/>
          </a:prstGeom>
          <a:solidFill>
            <a:schemeClr val="tx2"/>
          </a:solidFill>
          <a:ln w="9525">
            <a:solidFill>
              <a:schemeClr val="tx2"/>
            </a:solidFill>
            <a:prstDash val="solid"/>
          </a:ln>
        </p:spPr>
      </p:sp>
      <p:sp>
        <p:nvSpPr>
          <p:cNvPr id="63" name="Shape 61"/>
          <p:cNvSpPr/>
          <p:nvPr/>
        </p:nvSpPr>
        <p:spPr>
          <a:xfrm>
            <a:off x="10362895" y="4430268"/>
            <a:ext cx="146304" cy="146304"/>
          </a:xfrm>
          <a:prstGeom prst="rect">
            <a:avLst/>
          </a:prstGeom>
          <a:solidFill>
            <a:schemeClr val="tx2"/>
          </a:solidFill>
          <a:ln w="9525">
            <a:solidFill>
              <a:schemeClr val="tx2"/>
            </a:solidFill>
            <a:prstDash val="solid"/>
          </a:ln>
        </p:spPr>
      </p:sp>
      <p:sp>
        <p:nvSpPr>
          <p:cNvPr id="64" name="Shape 62"/>
          <p:cNvSpPr/>
          <p:nvPr/>
        </p:nvSpPr>
        <p:spPr>
          <a:xfrm>
            <a:off x="10564063" y="4430268"/>
            <a:ext cx="146304" cy="146304"/>
          </a:xfrm>
          <a:prstGeom prst="rect">
            <a:avLst/>
          </a:prstGeom>
          <a:solidFill>
            <a:schemeClr val="bg1">
              <a:alpha val="0"/>
            </a:schemeClr>
          </a:solidFill>
          <a:ln w="9525">
            <a:solidFill>
              <a:schemeClr val="accent3"/>
            </a:solidFill>
            <a:prstDash val="solid"/>
          </a:ln>
        </p:spPr>
      </p:sp>
      <p:sp>
        <p:nvSpPr>
          <p:cNvPr id="65" name="Shape 63"/>
          <p:cNvSpPr/>
          <p:nvPr/>
        </p:nvSpPr>
        <p:spPr>
          <a:xfrm>
            <a:off x="10765231" y="4430268"/>
            <a:ext cx="146304" cy="146304"/>
          </a:xfrm>
          <a:prstGeom prst="rect">
            <a:avLst/>
          </a:prstGeom>
          <a:solidFill>
            <a:schemeClr val="bg1">
              <a:alpha val="0"/>
            </a:schemeClr>
          </a:solidFill>
          <a:ln w="9525">
            <a:solidFill>
              <a:schemeClr val="accent3"/>
            </a:solidFill>
            <a:prstDash val="solid"/>
          </a:ln>
        </p:spPr>
      </p:sp>
      <p:sp>
        <p:nvSpPr>
          <p:cNvPr id="66" name="Shape 64"/>
          <p:cNvSpPr/>
          <p:nvPr/>
        </p:nvSpPr>
        <p:spPr>
          <a:xfrm>
            <a:off x="10966399" y="4430268"/>
            <a:ext cx="146304" cy="146304"/>
          </a:xfrm>
          <a:prstGeom prst="rect">
            <a:avLst/>
          </a:prstGeom>
          <a:solidFill>
            <a:schemeClr val="bg1">
              <a:alpha val="0"/>
            </a:schemeClr>
          </a:solidFill>
          <a:ln w="9525">
            <a:solidFill>
              <a:schemeClr val="accent3"/>
            </a:solidFill>
            <a:prstDash val="solid"/>
          </a:ln>
        </p:spPr>
      </p:sp>
      <p:sp>
        <p:nvSpPr>
          <p:cNvPr id="67" name="Text 65"/>
          <p:cNvSpPr txBox="1"/>
          <p:nvPr/>
        </p:nvSpPr>
        <p:spPr>
          <a:xfrm>
            <a:off x="11323015" y="4251960"/>
            <a:ext cx="320040" cy="502920"/>
          </a:xfrm>
          <a:prstGeom prst="rect">
            <a:avLst/>
          </a:prstGeom>
          <a:noFill/>
          <a:ln/>
        </p:spPr>
        <p:txBody>
          <a:bodyPr wrap="square" lIns="0" tIns="0" rIns="0" bIns="0" rtlCol="0" anchor="ctr"/>
          <a:lstStyle/>
          <a:p>
            <a:pPr algn="r" indent="0" marL="0">
              <a:buNone/>
            </a:pPr>
            <a:r>
              <a:rPr lang="es-CL" altLang="en-US" sz="2400" b="1" dirty="0">
                <a:solidFill>
                  <a:schemeClr val="tx1"/>
                </a:solidFill>
                <a:latin typeface="Archivo Condensed" pitchFamily="34" charset="0"/>
                <a:ea typeface="Archivo Condensed" pitchFamily="34" charset="-122"/>
                <a:cs typeface="Archivo Condensed" pitchFamily="34" charset="-120"/>
              </a:rPr>
              <a:t>2</a:t>
            </a:r>
            <a:endParaRPr lang="es-CL" sz="2400" dirty="0"/>
          </a:p>
        </p:txBody>
      </p:sp>
      <p:sp>
        <p:nvSpPr>
          <p:cNvPr id="68" name="Shape 66"/>
          <p:cNvSpPr/>
          <p:nvPr/>
        </p:nvSpPr>
        <p:spPr>
          <a:xfrm>
            <a:off x="8412480" y="4754880"/>
            <a:ext cx="3230575" cy="0"/>
          </a:xfrm>
          <a:prstGeom prst="line">
            <a:avLst/>
          </a:prstGeom>
          <a:noFill/>
          <a:ln w="9525">
            <a:solidFill>
              <a:schemeClr val="accent5"/>
            </a:solidFill>
            <a:prstDash val="solid"/>
          </a:ln>
        </p:spPr>
      </p:sp>
      <p:sp>
        <p:nvSpPr>
          <p:cNvPr id="69" name="Text 67"/>
          <p:cNvSpPr txBox="1"/>
          <p:nvPr/>
        </p:nvSpPr>
        <p:spPr>
          <a:xfrm>
            <a:off x="8412480" y="4754880"/>
            <a:ext cx="1721815" cy="50292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Insumos críticos</a:t>
            </a:r>
            <a:endParaRPr lang="es-CL" sz="1600" dirty="0"/>
          </a:p>
        </p:txBody>
      </p:sp>
      <p:sp>
        <p:nvSpPr>
          <p:cNvPr id="70" name="Shape 68"/>
          <p:cNvSpPr/>
          <p:nvPr/>
        </p:nvSpPr>
        <p:spPr>
          <a:xfrm>
            <a:off x="10161727" y="4933188"/>
            <a:ext cx="146304" cy="146304"/>
          </a:xfrm>
          <a:prstGeom prst="rect">
            <a:avLst/>
          </a:prstGeom>
          <a:solidFill>
            <a:schemeClr val="tx2"/>
          </a:solidFill>
          <a:ln w="9525">
            <a:solidFill>
              <a:schemeClr val="tx2"/>
            </a:solidFill>
            <a:prstDash val="solid"/>
          </a:ln>
        </p:spPr>
      </p:sp>
      <p:sp>
        <p:nvSpPr>
          <p:cNvPr id="71" name="Shape 69"/>
          <p:cNvSpPr/>
          <p:nvPr/>
        </p:nvSpPr>
        <p:spPr>
          <a:xfrm>
            <a:off x="10362895" y="4933188"/>
            <a:ext cx="146304" cy="146304"/>
          </a:xfrm>
          <a:prstGeom prst="rect">
            <a:avLst/>
          </a:prstGeom>
          <a:solidFill>
            <a:schemeClr val="tx2"/>
          </a:solidFill>
          <a:ln w="9525">
            <a:solidFill>
              <a:schemeClr val="tx2"/>
            </a:solidFill>
            <a:prstDash val="solid"/>
          </a:ln>
        </p:spPr>
      </p:sp>
      <p:sp>
        <p:nvSpPr>
          <p:cNvPr id="72" name="Shape 70"/>
          <p:cNvSpPr/>
          <p:nvPr/>
        </p:nvSpPr>
        <p:spPr>
          <a:xfrm>
            <a:off x="10564063" y="4933188"/>
            <a:ext cx="146304" cy="146304"/>
          </a:xfrm>
          <a:prstGeom prst="rect">
            <a:avLst/>
          </a:prstGeom>
          <a:solidFill>
            <a:schemeClr val="tx2"/>
          </a:solidFill>
          <a:ln w="9525">
            <a:solidFill>
              <a:schemeClr val="tx2"/>
            </a:solidFill>
            <a:prstDash val="solid"/>
          </a:ln>
        </p:spPr>
      </p:sp>
      <p:sp>
        <p:nvSpPr>
          <p:cNvPr id="73" name="Shape 71"/>
          <p:cNvSpPr/>
          <p:nvPr/>
        </p:nvSpPr>
        <p:spPr>
          <a:xfrm>
            <a:off x="10765231" y="4933188"/>
            <a:ext cx="146304" cy="146304"/>
          </a:xfrm>
          <a:prstGeom prst="rect">
            <a:avLst/>
          </a:prstGeom>
          <a:solidFill>
            <a:schemeClr val="bg1">
              <a:alpha val="0"/>
            </a:schemeClr>
          </a:solidFill>
          <a:ln w="9525">
            <a:solidFill>
              <a:schemeClr val="accent3"/>
            </a:solidFill>
            <a:prstDash val="solid"/>
          </a:ln>
        </p:spPr>
      </p:sp>
      <p:sp>
        <p:nvSpPr>
          <p:cNvPr id="74" name="Shape 72"/>
          <p:cNvSpPr/>
          <p:nvPr/>
        </p:nvSpPr>
        <p:spPr>
          <a:xfrm>
            <a:off x="10966399" y="4933188"/>
            <a:ext cx="146304" cy="146304"/>
          </a:xfrm>
          <a:prstGeom prst="rect">
            <a:avLst/>
          </a:prstGeom>
          <a:solidFill>
            <a:schemeClr val="bg1">
              <a:alpha val="0"/>
            </a:schemeClr>
          </a:solidFill>
          <a:ln w="9525">
            <a:solidFill>
              <a:schemeClr val="accent3"/>
            </a:solidFill>
            <a:prstDash val="solid"/>
          </a:ln>
        </p:spPr>
      </p:sp>
      <p:sp>
        <p:nvSpPr>
          <p:cNvPr id="75" name="Text 73"/>
          <p:cNvSpPr txBox="1"/>
          <p:nvPr/>
        </p:nvSpPr>
        <p:spPr>
          <a:xfrm>
            <a:off x="11323015" y="4754880"/>
            <a:ext cx="320040" cy="502920"/>
          </a:xfrm>
          <a:prstGeom prst="rect">
            <a:avLst/>
          </a:prstGeom>
          <a:noFill/>
          <a:ln/>
        </p:spPr>
        <p:txBody>
          <a:bodyPr wrap="square" lIns="0" tIns="0" rIns="0" bIns="0" rtlCol="0" anchor="ctr"/>
          <a:lstStyle/>
          <a:p>
            <a:pPr algn="r" indent="0" marL="0">
              <a:buNone/>
            </a:pPr>
            <a:r>
              <a:rPr lang="es-CL" altLang="en-US" sz="2400" b="1" dirty="0">
                <a:solidFill>
                  <a:schemeClr val="tx1"/>
                </a:solidFill>
                <a:latin typeface="Archivo Condensed" pitchFamily="34" charset="0"/>
                <a:ea typeface="Archivo Condensed" pitchFamily="34" charset="-122"/>
                <a:cs typeface="Archivo Condensed" pitchFamily="34" charset="-120"/>
              </a:rPr>
              <a:t>3</a:t>
            </a:r>
            <a:endParaRPr lang="es-CL" sz="2400" dirty="0"/>
          </a:p>
        </p:txBody>
      </p:sp>
      <p:sp>
        <p:nvSpPr>
          <p:cNvPr id="76" name="Shape 74"/>
          <p:cNvSpPr/>
          <p:nvPr/>
        </p:nvSpPr>
        <p:spPr>
          <a:xfrm>
            <a:off x="8412480" y="5257800"/>
            <a:ext cx="3230575" cy="0"/>
          </a:xfrm>
          <a:prstGeom prst="line">
            <a:avLst/>
          </a:prstGeom>
          <a:noFill/>
          <a:ln w="9525">
            <a:solidFill>
              <a:schemeClr val="accent5"/>
            </a:solidFill>
            <a:prstDash val="solid"/>
          </a:ln>
        </p:spPr>
      </p:sp>
      <p:sp>
        <p:nvSpPr>
          <p:cNvPr id="77" name="Text 75"/>
          <p:cNvSpPr txBox="1"/>
          <p:nvPr/>
        </p:nvSpPr>
        <p:spPr>
          <a:xfrm>
            <a:off x="8412480" y="5257800"/>
            <a:ext cx="1721815" cy="502920"/>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Estandarización</a:t>
            </a:r>
            <a:endParaRPr lang="es-CL" sz="1600" dirty="0"/>
          </a:p>
        </p:txBody>
      </p:sp>
      <p:sp>
        <p:nvSpPr>
          <p:cNvPr id="78" name="Shape 76"/>
          <p:cNvSpPr/>
          <p:nvPr/>
        </p:nvSpPr>
        <p:spPr>
          <a:xfrm>
            <a:off x="10161727" y="5436108"/>
            <a:ext cx="146304" cy="146304"/>
          </a:xfrm>
          <a:prstGeom prst="rect">
            <a:avLst/>
          </a:prstGeom>
          <a:solidFill>
            <a:schemeClr val="accent1"/>
          </a:solidFill>
          <a:ln w="9525">
            <a:solidFill>
              <a:schemeClr val="accent1"/>
            </a:solidFill>
            <a:prstDash val="solid"/>
          </a:ln>
        </p:spPr>
      </p:sp>
      <p:sp>
        <p:nvSpPr>
          <p:cNvPr id="79" name="Shape 77"/>
          <p:cNvSpPr/>
          <p:nvPr/>
        </p:nvSpPr>
        <p:spPr>
          <a:xfrm>
            <a:off x="10362895" y="5436108"/>
            <a:ext cx="146304" cy="146304"/>
          </a:xfrm>
          <a:prstGeom prst="rect">
            <a:avLst/>
          </a:prstGeom>
          <a:solidFill>
            <a:schemeClr val="accent1"/>
          </a:solidFill>
          <a:ln w="9525">
            <a:solidFill>
              <a:schemeClr val="accent1"/>
            </a:solidFill>
            <a:prstDash val="solid"/>
          </a:ln>
        </p:spPr>
      </p:sp>
      <p:sp>
        <p:nvSpPr>
          <p:cNvPr id="80" name="Shape 78"/>
          <p:cNvSpPr/>
          <p:nvPr/>
        </p:nvSpPr>
        <p:spPr>
          <a:xfrm>
            <a:off x="10564063" y="5436108"/>
            <a:ext cx="146304" cy="146304"/>
          </a:xfrm>
          <a:prstGeom prst="rect">
            <a:avLst/>
          </a:prstGeom>
          <a:solidFill>
            <a:schemeClr val="accent1"/>
          </a:solidFill>
          <a:ln w="9525">
            <a:solidFill>
              <a:schemeClr val="accent1"/>
            </a:solidFill>
            <a:prstDash val="solid"/>
          </a:ln>
        </p:spPr>
      </p:sp>
      <p:sp>
        <p:nvSpPr>
          <p:cNvPr id="81" name="Shape 79"/>
          <p:cNvSpPr/>
          <p:nvPr/>
        </p:nvSpPr>
        <p:spPr>
          <a:xfrm>
            <a:off x="10765231" y="5436108"/>
            <a:ext cx="146304" cy="146304"/>
          </a:xfrm>
          <a:prstGeom prst="rect">
            <a:avLst/>
          </a:prstGeom>
          <a:solidFill>
            <a:schemeClr val="accent1"/>
          </a:solidFill>
          <a:ln w="9525">
            <a:solidFill>
              <a:schemeClr val="accent1"/>
            </a:solidFill>
            <a:prstDash val="solid"/>
          </a:ln>
        </p:spPr>
      </p:sp>
      <p:sp>
        <p:nvSpPr>
          <p:cNvPr id="82" name="Shape 80"/>
          <p:cNvSpPr/>
          <p:nvPr/>
        </p:nvSpPr>
        <p:spPr>
          <a:xfrm>
            <a:off x="10966399" y="5436108"/>
            <a:ext cx="146304" cy="146304"/>
          </a:xfrm>
          <a:prstGeom prst="rect">
            <a:avLst/>
          </a:prstGeom>
          <a:solidFill>
            <a:schemeClr val="bg1">
              <a:alpha val="0"/>
            </a:schemeClr>
          </a:solidFill>
          <a:ln w="9525">
            <a:solidFill>
              <a:schemeClr val="accent3"/>
            </a:solidFill>
            <a:prstDash val="solid"/>
          </a:ln>
        </p:spPr>
      </p:sp>
      <p:sp>
        <p:nvSpPr>
          <p:cNvPr id="83" name="Text 81"/>
          <p:cNvSpPr txBox="1"/>
          <p:nvPr/>
        </p:nvSpPr>
        <p:spPr>
          <a:xfrm>
            <a:off x="11323015" y="5257800"/>
            <a:ext cx="320040" cy="502920"/>
          </a:xfrm>
          <a:prstGeom prst="rect">
            <a:avLst/>
          </a:prstGeom>
          <a:noFill/>
          <a:ln/>
        </p:spPr>
        <p:txBody>
          <a:bodyPr wrap="square" lIns="0" tIns="0" rIns="0" bIns="0" rtlCol="0" anchor="ctr"/>
          <a:lstStyle/>
          <a:p>
            <a:pPr algn="r" indent="0" marL="0">
              <a:buNone/>
            </a:pPr>
            <a:r>
              <a:rPr lang="es-CL" altLang="en-US" sz="2400" b="1" dirty="0">
                <a:solidFill>
                  <a:schemeClr val="accent1"/>
                </a:solidFill>
                <a:latin typeface="Archivo Condensed" pitchFamily="34" charset="0"/>
                <a:ea typeface="Archivo Condensed" pitchFamily="34" charset="-122"/>
                <a:cs typeface="Archivo Condensed" pitchFamily="34" charset="-120"/>
              </a:rPr>
              <a:t>4</a:t>
            </a:r>
            <a:endParaRPr lang="es-CL" sz="2400" dirty="0"/>
          </a:p>
        </p:txBody>
      </p:sp>
      <p:sp>
        <p:nvSpPr>
          <p:cNvPr id="84" name="Shape 82"/>
          <p:cNvSpPr/>
          <p:nvPr/>
        </p:nvSpPr>
        <p:spPr>
          <a:xfrm>
            <a:off x="8412480" y="5760720"/>
            <a:ext cx="3230575" cy="0"/>
          </a:xfrm>
          <a:prstGeom prst="line">
            <a:avLst/>
          </a:prstGeom>
          <a:noFill/>
          <a:ln w="9525">
            <a:solidFill>
              <a:schemeClr val="accent5"/>
            </a:solidFill>
            <a:prstDash val="solid"/>
          </a:ln>
        </p:spPr>
      </p:sp>
      <p:sp>
        <p:nvSpPr>
          <p:cNvPr id="85" name="Shape 83"/>
          <p:cNvSpPr/>
          <p:nvPr/>
        </p:nvSpPr>
        <p:spPr>
          <a:xfrm>
            <a:off x="8412480" y="5888736"/>
            <a:ext cx="2393696" cy="310896"/>
          </a:xfrm>
          <a:prstGeom prst="rect">
            <a:avLst/>
          </a:prstGeom>
          <a:solidFill>
            <a:schemeClr val="bg1">
              <a:alpha val="0"/>
            </a:schemeClr>
          </a:solidFill>
          <a:ln w="12700">
            <a:solidFill>
              <a:schemeClr val="tx2"/>
            </a:solidFill>
            <a:prstDash val="dash"/>
          </a:ln>
        </p:spPr>
      </p:sp>
      <p:sp>
        <p:nvSpPr>
          <p:cNvPr id="86" name="Text 84"/>
          <p:cNvSpPr txBox="1"/>
          <p:nvPr/>
        </p:nvSpPr>
        <p:spPr>
          <a:xfrm>
            <a:off x="8522208" y="5888736"/>
            <a:ext cx="217424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LOS DE 4: SIN PROBAR</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11</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ANÁLISIS ESTRATÉGICO · SÍNTESIS FODA</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FODA: SABEMOS QUÉ HACER;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falta demostrarlo.</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síntesis del equipo a partir de los instrumentos 02, 03, 05 y 06. Cruces para el Avance 2 en el anexo A7.</a:t>
            </a:r>
            <a:endParaRPr lang="es-CL" sz="1200" dirty="0"/>
          </a:p>
        </p:txBody>
      </p:sp>
      <p:sp>
        <p:nvSpPr>
          <p:cNvPr id="5" name="Text 3"/>
          <p:cNvSpPr txBox="1"/>
          <p:nvPr/>
        </p:nvSpPr>
        <p:spPr>
          <a:xfrm>
            <a:off x="1005840" y="2103120"/>
            <a:ext cx="5218024" cy="274320"/>
          </a:xfrm>
          <a:prstGeom prst="rect">
            <a:avLst/>
          </a:prstGeom>
          <a:noFill/>
          <a:ln/>
        </p:spPr>
        <p:txBody>
          <a:bodyPr wrap="square" lIns="0" tIns="0" rIns="0" bIns="0" rtlCol="0" anchor="t"/>
          <a:lstStyle/>
          <a:p>
            <a:pPr algn="ct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POSITIVO</a:t>
            </a:r>
            <a:endParaRPr lang="es-CL" sz="1300" dirty="0"/>
          </a:p>
        </p:txBody>
      </p:sp>
      <p:sp>
        <p:nvSpPr>
          <p:cNvPr id="6" name="Text 4"/>
          <p:cNvSpPr txBox="1"/>
          <p:nvPr/>
        </p:nvSpPr>
        <p:spPr>
          <a:xfrm>
            <a:off x="6425032" y="2103120"/>
            <a:ext cx="5218024" cy="274320"/>
          </a:xfrm>
          <a:prstGeom prst="rect">
            <a:avLst/>
          </a:prstGeom>
          <a:noFill/>
          <a:ln/>
        </p:spPr>
        <p:txBody>
          <a:bodyPr wrap="square" lIns="0" tIns="0" rIns="0" bIns="0" rtlCol="0" anchor="t"/>
          <a:lstStyle/>
          <a:p>
            <a:pPr algn="ct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NEGATIVO</a:t>
            </a:r>
            <a:endParaRPr lang="es-CL" sz="1300" dirty="0"/>
          </a:p>
        </p:txBody>
      </p:sp>
      <p:sp>
        <p:nvSpPr>
          <p:cNvPr id="7" name="Text 5"/>
          <p:cNvSpPr txBox="1"/>
          <p:nvPr/>
        </p:nvSpPr>
        <p:spPr>
          <a:xfrm rot="16200000">
            <a:off x="-144018" y="3134106"/>
            <a:ext cx="1787652" cy="365760"/>
          </a:xfrm>
          <a:prstGeom prst="rect">
            <a:avLst/>
          </a:prstGeom>
          <a:noFill/>
          <a:ln/>
        </p:spPr>
        <p:txBody>
          <a:bodyPr wrap="square" lIns="0" tIns="0" rIns="0" bIns="0" rtlCol="0" anchor="ctr"/>
          <a:lstStyle/>
          <a:p>
            <a:pPr algn="ctr" indent="0" marL="0">
              <a:buNone/>
            </a:pPr>
            <a:r>
              <a:rPr lang="es-CL" altLang="en-US" sz="1300" spc="200" kern="0" dirty="0">
                <a:solidFill>
                  <a:schemeClr val="tx1"/>
                </a:solidFill>
                <a:latin typeface="IBM Plex Mono" pitchFamily="34" charset="0"/>
                <a:ea typeface="IBM Plex Mono" pitchFamily="34" charset="-122"/>
                <a:cs typeface="IBM Plex Mono" pitchFamily="34" charset="-120"/>
              </a:rPr>
              <a:t>INTERNO</a:t>
            </a:r>
            <a:endParaRPr lang="es-CL" sz="1300" dirty="0"/>
          </a:p>
        </p:txBody>
      </p:sp>
      <p:sp>
        <p:nvSpPr>
          <p:cNvPr id="8" name="Text 6"/>
          <p:cNvSpPr txBox="1"/>
          <p:nvPr/>
        </p:nvSpPr>
        <p:spPr>
          <a:xfrm rot="16200000">
            <a:off x="-144018" y="5122926"/>
            <a:ext cx="1787652" cy="365760"/>
          </a:xfrm>
          <a:prstGeom prst="rect">
            <a:avLst/>
          </a:prstGeom>
          <a:noFill/>
          <a:ln/>
        </p:spPr>
        <p:txBody>
          <a:bodyPr wrap="square" lIns="0" tIns="0" rIns="0" bIns="0" rtlCol="0" anchor="ctr"/>
          <a:lstStyle/>
          <a:p>
            <a:pPr algn="ctr" indent="0" marL="0">
              <a:buNone/>
            </a:pPr>
            <a:r>
              <a:rPr lang="es-CL" altLang="en-US" sz="1300" spc="200" kern="0" dirty="0">
                <a:solidFill>
                  <a:schemeClr val="tx1"/>
                </a:solidFill>
                <a:latin typeface="IBM Plex Mono" pitchFamily="34" charset="0"/>
                <a:ea typeface="IBM Plex Mono" pitchFamily="34" charset="-122"/>
                <a:cs typeface="IBM Plex Mono" pitchFamily="34" charset="-120"/>
              </a:rPr>
              <a:t>EXTERNO</a:t>
            </a:r>
            <a:endParaRPr lang="es-CL" sz="1300" dirty="0"/>
          </a:p>
        </p:txBody>
      </p:sp>
      <p:sp>
        <p:nvSpPr>
          <p:cNvPr id="9" name="Shape 7"/>
          <p:cNvSpPr/>
          <p:nvPr/>
        </p:nvSpPr>
        <p:spPr>
          <a:xfrm>
            <a:off x="1005840" y="2423160"/>
            <a:ext cx="5218024" cy="1787652"/>
          </a:xfrm>
          <a:prstGeom prst="rect">
            <a:avLst/>
          </a:prstGeom>
          <a:solidFill>
            <a:schemeClr val="bg2">
              <a:alpha val="85000"/>
            </a:schemeClr>
          </a:solidFill>
          <a:ln w="9525">
            <a:solidFill>
              <a:schemeClr val="accent1"/>
            </a:solidFill>
            <a:prstDash val="solid"/>
          </a:ln>
        </p:spPr>
      </p:sp>
      <p:sp>
        <p:nvSpPr>
          <p:cNvPr id="10" name="Shape 8"/>
          <p:cNvSpPr/>
          <p:nvPr/>
        </p:nvSpPr>
        <p:spPr>
          <a:xfrm>
            <a:off x="1188720" y="2587752"/>
            <a:ext cx="384048" cy="310896"/>
          </a:xfrm>
          <a:prstGeom prst="rect">
            <a:avLst/>
          </a:prstGeom>
          <a:solidFill>
            <a:schemeClr val="accent1"/>
          </a:solidFill>
          <a:ln/>
        </p:spPr>
      </p:sp>
      <p:sp>
        <p:nvSpPr>
          <p:cNvPr id="11" name="Text 9"/>
          <p:cNvSpPr txBox="1"/>
          <p:nvPr/>
        </p:nvSpPr>
        <p:spPr>
          <a:xfrm>
            <a:off x="1188720" y="2587752"/>
            <a:ext cx="384048"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F</a:t>
            </a:r>
            <a:endParaRPr lang="es-CL" sz="1400" dirty="0"/>
          </a:p>
        </p:txBody>
      </p:sp>
      <p:sp>
        <p:nvSpPr>
          <p:cNvPr id="12" name="Text 10"/>
          <p:cNvSpPr txBox="1"/>
          <p:nvPr/>
        </p:nvSpPr>
        <p:spPr>
          <a:xfrm>
            <a:off x="1691640" y="2587752"/>
            <a:ext cx="2743200" cy="310896"/>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FORTALEZAS</a:t>
            </a:r>
            <a:endParaRPr lang="es-CL" sz="1300" dirty="0"/>
          </a:p>
        </p:txBody>
      </p:sp>
      <p:sp>
        <p:nvSpPr>
          <p:cNvPr id="13" name="Shape 11"/>
          <p:cNvSpPr/>
          <p:nvPr/>
        </p:nvSpPr>
        <p:spPr>
          <a:xfrm>
            <a:off x="3439008" y="2587752"/>
            <a:ext cx="2601976" cy="292608"/>
          </a:xfrm>
          <a:prstGeom prst="rect">
            <a:avLst/>
          </a:prstGeom>
          <a:solidFill>
            <a:schemeClr val="bg1">
              <a:alpha val="0"/>
            </a:schemeClr>
          </a:solidFill>
          <a:ln w="12700">
            <a:solidFill>
              <a:schemeClr val="tx2"/>
            </a:solidFill>
            <a:prstDash val="dash"/>
          </a:ln>
        </p:spPr>
      </p:sp>
      <p:sp>
        <p:nvSpPr>
          <p:cNvPr id="14" name="Text 12"/>
          <p:cNvSpPr txBox="1"/>
          <p:nvPr/>
        </p:nvSpPr>
        <p:spPr>
          <a:xfrm>
            <a:off x="3548736" y="2587752"/>
            <a:ext cx="2382520" cy="292608"/>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DE DISEÑO, NO PROBADAS</a:t>
            </a:r>
            <a:endParaRPr lang="es-CL" sz="1200" dirty="0"/>
          </a:p>
        </p:txBody>
      </p:sp>
      <p:sp>
        <p:nvSpPr>
          <p:cNvPr id="15" name="Shape 13"/>
          <p:cNvSpPr/>
          <p:nvPr/>
        </p:nvSpPr>
        <p:spPr>
          <a:xfrm>
            <a:off x="1225296" y="3129534"/>
            <a:ext cx="82296" cy="82296"/>
          </a:xfrm>
          <a:prstGeom prst="rect">
            <a:avLst/>
          </a:prstGeom>
          <a:solidFill>
            <a:schemeClr val="accent1"/>
          </a:solidFill>
          <a:ln/>
        </p:spPr>
      </p:sp>
      <p:sp>
        <p:nvSpPr>
          <p:cNvPr id="16" name="Text 14"/>
          <p:cNvSpPr txBox="1"/>
          <p:nvPr/>
        </p:nvSpPr>
        <p:spPr>
          <a:xfrm>
            <a:off x="1417320" y="2971800"/>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Arquitectura que conserva el motor original</a:t>
            </a:r>
            <a:endParaRPr lang="es-CL" sz="1700" dirty="0"/>
          </a:p>
        </p:txBody>
      </p:sp>
      <p:sp>
        <p:nvSpPr>
          <p:cNvPr id="17" name="Shape 15"/>
          <p:cNvSpPr/>
          <p:nvPr/>
        </p:nvSpPr>
        <p:spPr>
          <a:xfrm>
            <a:off x="1225296" y="3527298"/>
            <a:ext cx="82296" cy="82296"/>
          </a:xfrm>
          <a:prstGeom prst="rect">
            <a:avLst/>
          </a:prstGeom>
          <a:solidFill>
            <a:schemeClr val="accent1"/>
          </a:solidFill>
          <a:ln/>
        </p:spPr>
      </p:sp>
      <p:sp>
        <p:nvSpPr>
          <p:cNvPr id="18" name="Text 16"/>
          <p:cNvSpPr txBox="1"/>
          <p:nvPr/>
        </p:nvSpPr>
        <p:spPr>
          <a:xfrm>
            <a:off x="1417320" y="3369564"/>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Proceso de instalación en cinco etapas</a:t>
            </a:r>
            <a:endParaRPr lang="es-CL" sz="1700" dirty="0"/>
          </a:p>
        </p:txBody>
      </p:sp>
      <p:sp>
        <p:nvSpPr>
          <p:cNvPr id="19" name="Shape 17"/>
          <p:cNvSpPr/>
          <p:nvPr/>
        </p:nvSpPr>
        <p:spPr>
          <a:xfrm>
            <a:off x="1225296" y="3925062"/>
            <a:ext cx="82296" cy="82296"/>
          </a:xfrm>
          <a:prstGeom prst="rect">
            <a:avLst/>
          </a:prstGeom>
          <a:solidFill>
            <a:schemeClr val="accent1"/>
          </a:solidFill>
          <a:ln/>
        </p:spPr>
      </p:sp>
      <p:sp>
        <p:nvSpPr>
          <p:cNvPr id="20" name="Text 18"/>
          <p:cNvSpPr txBox="1"/>
          <p:nvPr/>
        </p:nvSpPr>
        <p:spPr>
          <a:xfrm>
            <a:off x="1417320" y="3767328"/>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Segmento y requisitos técnicos delimitados</a:t>
            </a:r>
            <a:endParaRPr lang="es-CL" sz="1700" dirty="0"/>
          </a:p>
        </p:txBody>
      </p:sp>
      <p:sp>
        <p:nvSpPr>
          <p:cNvPr id="21" name="Shape 19"/>
          <p:cNvSpPr/>
          <p:nvPr/>
        </p:nvSpPr>
        <p:spPr>
          <a:xfrm>
            <a:off x="6425032" y="2423160"/>
            <a:ext cx="5218024" cy="1787652"/>
          </a:xfrm>
          <a:prstGeom prst="rect">
            <a:avLst/>
          </a:prstGeom>
          <a:solidFill>
            <a:schemeClr val="bg2">
              <a:alpha val="85000"/>
            </a:schemeClr>
          </a:solidFill>
          <a:ln w="9525">
            <a:solidFill>
              <a:schemeClr val="accent5"/>
            </a:solidFill>
            <a:prstDash val="solid"/>
          </a:ln>
        </p:spPr>
      </p:sp>
      <p:sp>
        <p:nvSpPr>
          <p:cNvPr id="22" name="Shape 20"/>
          <p:cNvSpPr/>
          <p:nvPr/>
        </p:nvSpPr>
        <p:spPr>
          <a:xfrm>
            <a:off x="6607912" y="2587752"/>
            <a:ext cx="384048" cy="310896"/>
          </a:xfrm>
          <a:prstGeom prst="rect">
            <a:avLst/>
          </a:prstGeom>
          <a:solidFill>
            <a:schemeClr val="accent5"/>
          </a:solidFill>
          <a:ln/>
        </p:spPr>
      </p:sp>
      <p:sp>
        <p:nvSpPr>
          <p:cNvPr id="23" name="Text 21"/>
          <p:cNvSpPr txBox="1"/>
          <p:nvPr/>
        </p:nvSpPr>
        <p:spPr>
          <a:xfrm>
            <a:off x="6607912" y="2587752"/>
            <a:ext cx="384048"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D</a:t>
            </a:r>
            <a:endParaRPr lang="es-CL" sz="1400" dirty="0"/>
          </a:p>
        </p:txBody>
      </p:sp>
      <p:sp>
        <p:nvSpPr>
          <p:cNvPr id="24" name="Text 22"/>
          <p:cNvSpPr txBox="1"/>
          <p:nvPr/>
        </p:nvSpPr>
        <p:spPr>
          <a:xfrm>
            <a:off x="7110832" y="2587752"/>
            <a:ext cx="2743200" cy="310896"/>
          </a:xfrm>
          <a:prstGeom prst="rect">
            <a:avLst/>
          </a:prstGeom>
          <a:noFill/>
          <a:ln/>
        </p:spPr>
        <p:txBody>
          <a:bodyPr wrap="square" lIns="0" tIns="0" rIns="0" bIns="0" rtlCol="0" anchor="ctr"/>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DEBILIDADES</a:t>
            </a:r>
            <a:endParaRPr lang="es-CL" sz="1300" dirty="0"/>
          </a:p>
        </p:txBody>
      </p:sp>
      <p:sp>
        <p:nvSpPr>
          <p:cNvPr id="25" name="Shape 23"/>
          <p:cNvSpPr/>
          <p:nvPr/>
        </p:nvSpPr>
        <p:spPr>
          <a:xfrm>
            <a:off x="6644488" y="3129534"/>
            <a:ext cx="82296" cy="82296"/>
          </a:xfrm>
          <a:prstGeom prst="rect">
            <a:avLst/>
          </a:prstGeom>
          <a:solidFill>
            <a:schemeClr val="tx2"/>
          </a:solidFill>
          <a:ln/>
        </p:spPr>
      </p:sp>
      <p:sp>
        <p:nvSpPr>
          <p:cNvPr id="26" name="Text 24"/>
          <p:cNvSpPr txBox="1"/>
          <p:nvPr/>
        </p:nvSpPr>
        <p:spPr>
          <a:xfrm>
            <a:off x="6836512" y="2971800"/>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Sin taller, casos medidos ni historial de marca</a:t>
            </a:r>
            <a:endParaRPr lang="es-CL" sz="1700" dirty="0"/>
          </a:p>
        </p:txBody>
      </p:sp>
      <p:sp>
        <p:nvSpPr>
          <p:cNvPr id="27" name="Shape 25"/>
          <p:cNvSpPr/>
          <p:nvPr/>
        </p:nvSpPr>
        <p:spPr>
          <a:xfrm>
            <a:off x="6644488" y="3527298"/>
            <a:ext cx="82296" cy="82296"/>
          </a:xfrm>
          <a:prstGeom prst="rect">
            <a:avLst/>
          </a:prstGeom>
          <a:solidFill>
            <a:schemeClr val="tx2"/>
          </a:solidFill>
          <a:ln/>
        </p:spPr>
      </p:sp>
      <p:sp>
        <p:nvSpPr>
          <p:cNvPr id="28" name="Text 26"/>
          <p:cNvSpPr txBox="1"/>
          <p:nvPr/>
        </p:nvSpPr>
        <p:spPr>
          <a:xfrm>
            <a:off x="6836512" y="3369564"/>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Biblioteca de calibraciones vacía</a:t>
            </a:r>
            <a:endParaRPr lang="es-CL" sz="1700" dirty="0"/>
          </a:p>
        </p:txBody>
      </p:sp>
      <p:sp>
        <p:nvSpPr>
          <p:cNvPr id="29" name="Shape 27"/>
          <p:cNvSpPr/>
          <p:nvPr/>
        </p:nvSpPr>
        <p:spPr>
          <a:xfrm>
            <a:off x="6644488" y="3925062"/>
            <a:ext cx="82296" cy="82296"/>
          </a:xfrm>
          <a:prstGeom prst="rect">
            <a:avLst/>
          </a:prstGeom>
          <a:solidFill>
            <a:schemeClr val="tx2"/>
          </a:solidFill>
          <a:ln/>
        </p:spPr>
      </p:sp>
      <p:sp>
        <p:nvSpPr>
          <p:cNvPr id="30" name="Text 28"/>
          <p:cNvSpPr txBox="1"/>
          <p:nvPr/>
        </p:nvSpPr>
        <p:spPr>
          <a:xfrm>
            <a:off x="6836512" y="3767328"/>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Talento en alta tensión escaso; sin convenios</a:t>
            </a:r>
            <a:endParaRPr lang="es-CL" sz="1700" dirty="0"/>
          </a:p>
        </p:txBody>
      </p:sp>
      <p:sp>
        <p:nvSpPr>
          <p:cNvPr id="31" name="Shape 29"/>
          <p:cNvSpPr/>
          <p:nvPr/>
        </p:nvSpPr>
        <p:spPr>
          <a:xfrm>
            <a:off x="1005840" y="4411980"/>
            <a:ext cx="5218024" cy="1787652"/>
          </a:xfrm>
          <a:prstGeom prst="rect">
            <a:avLst/>
          </a:prstGeom>
          <a:solidFill>
            <a:schemeClr val="bg2">
              <a:alpha val="85000"/>
            </a:schemeClr>
          </a:solidFill>
          <a:ln w="9525">
            <a:solidFill>
              <a:schemeClr val="accent5"/>
            </a:solidFill>
            <a:prstDash val="solid"/>
          </a:ln>
        </p:spPr>
      </p:sp>
      <p:sp>
        <p:nvSpPr>
          <p:cNvPr id="32" name="Shape 30"/>
          <p:cNvSpPr/>
          <p:nvPr/>
        </p:nvSpPr>
        <p:spPr>
          <a:xfrm>
            <a:off x="1188720" y="4576572"/>
            <a:ext cx="384048" cy="310896"/>
          </a:xfrm>
          <a:prstGeom prst="rect">
            <a:avLst/>
          </a:prstGeom>
          <a:solidFill>
            <a:schemeClr val="accent5"/>
          </a:solidFill>
          <a:ln/>
        </p:spPr>
      </p:sp>
      <p:sp>
        <p:nvSpPr>
          <p:cNvPr id="33" name="Text 31"/>
          <p:cNvSpPr txBox="1"/>
          <p:nvPr/>
        </p:nvSpPr>
        <p:spPr>
          <a:xfrm>
            <a:off x="1188720" y="4576572"/>
            <a:ext cx="384048" cy="310896"/>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O</a:t>
            </a:r>
            <a:endParaRPr lang="es-CL" sz="1400" dirty="0"/>
          </a:p>
        </p:txBody>
      </p:sp>
      <p:sp>
        <p:nvSpPr>
          <p:cNvPr id="34" name="Text 32"/>
          <p:cNvSpPr txBox="1"/>
          <p:nvPr/>
        </p:nvSpPr>
        <p:spPr>
          <a:xfrm>
            <a:off x="1691640" y="4576572"/>
            <a:ext cx="2743200" cy="310896"/>
          </a:xfrm>
          <a:prstGeom prst="rect">
            <a:avLst/>
          </a:prstGeom>
          <a:noFill/>
          <a:ln/>
        </p:spPr>
        <p:txBody>
          <a:bodyPr wrap="square" lIns="0" tIns="0" rIns="0" bIns="0" rtlCol="0" anchor="ctr"/>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OPORTUNIDADES</a:t>
            </a:r>
            <a:endParaRPr lang="es-CL" sz="1300" dirty="0"/>
          </a:p>
        </p:txBody>
      </p:sp>
      <p:sp>
        <p:nvSpPr>
          <p:cNvPr id="35" name="Shape 33"/>
          <p:cNvSpPr/>
          <p:nvPr/>
        </p:nvSpPr>
        <p:spPr>
          <a:xfrm>
            <a:off x="1225296" y="5118354"/>
            <a:ext cx="82296" cy="82296"/>
          </a:xfrm>
          <a:prstGeom prst="rect">
            <a:avLst/>
          </a:prstGeom>
          <a:solidFill>
            <a:schemeClr val="tx2"/>
          </a:solidFill>
          <a:ln/>
        </p:spPr>
      </p:sp>
      <p:sp>
        <p:nvSpPr>
          <p:cNvPr id="36" name="Text 34"/>
          <p:cNvSpPr txBox="1"/>
          <p:nvPr/>
        </p:nvSpPr>
        <p:spPr>
          <a:xfrm>
            <a:off x="1417320" y="4960620"/>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Parque que se conserva y envejece</a:t>
            </a:r>
            <a:endParaRPr lang="es-CL" sz="1700" dirty="0"/>
          </a:p>
        </p:txBody>
      </p:sp>
      <p:sp>
        <p:nvSpPr>
          <p:cNvPr id="37" name="Shape 35"/>
          <p:cNvSpPr/>
          <p:nvPr/>
        </p:nvSpPr>
        <p:spPr>
          <a:xfrm>
            <a:off x="1225296" y="5516118"/>
            <a:ext cx="82296" cy="82296"/>
          </a:xfrm>
          <a:prstGeom prst="rect">
            <a:avLst/>
          </a:prstGeom>
          <a:solidFill>
            <a:schemeClr val="tx2"/>
          </a:solidFill>
          <a:ln/>
        </p:spPr>
      </p:sp>
      <p:sp>
        <p:nvSpPr>
          <p:cNvPr id="38" name="Text 36"/>
          <p:cNvSpPr txBox="1"/>
          <p:nvPr/>
        </p:nvSpPr>
        <p:spPr>
          <a:xfrm>
            <a:off x="1417320" y="5358384"/>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Bencina al alza</a:t>
            </a:r>
            <a:endParaRPr lang="es-CL" sz="1700" dirty="0"/>
          </a:p>
        </p:txBody>
      </p:sp>
      <p:sp>
        <p:nvSpPr>
          <p:cNvPr id="39" name="Shape 37"/>
          <p:cNvSpPr/>
          <p:nvPr/>
        </p:nvSpPr>
        <p:spPr>
          <a:xfrm>
            <a:off x="1225296" y="5913882"/>
            <a:ext cx="82296" cy="82296"/>
          </a:xfrm>
          <a:prstGeom prst="rect">
            <a:avLst/>
          </a:prstGeom>
          <a:solidFill>
            <a:schemeClr val="tx2"/>
          </a:solidFill>
          <a:ln/>
        </p:spPr>
      </p:sp>
      <p:sp>
        <p:nvSpPr>
          <p:cNvPr id="40" name="Text 38"/>
          <p:cNvSpPr txBox="1"/>
          <p:nvPr/>
        </p:nvSpPr>
        <p:spPr>
          <a:xfrm>
            <a:off x="1417320" y="5756148"/>
            <a:ext cx="4623664" cy="3977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Electrificación madura y baterías más baratas</a:t>
            </a:r>
            <a:endParaRPr lang="es-CL" sz="1700" dirty="0"/>
          </a:p>
        </p:txBody>
      </p:sp>
      <p:sp>
        <p:nvSpPr>
          <p:cNvPr id="41" name="Shape 39"/>
          <p:cNvSpPr/>
          <p:nvPr/>
        </p:nvSpPr>
        <p:spPr>
          <a:xfrm>
            <a:off x="6425032" y="4411980"/>
            <a:ext cx="5218024" cy="1787652"/>
          </a:xfrm>
          <a:prstGeom prst="rect">
            <a:avLst/>
          </a:prstGeom>
          <a:solidFill>
            <a:srgbClr val="062A45"/>
          </a:solidFill>
          <a:ln w="15875">
            <a:solidFill>
              <a:schemeClr val="accent1"/>
            </a:solidFill>
            <a:prstDash val="solid"/>
          </a:ln>
        </p:spPr>
      </p:sp>
      <p:sp>
        <p:nvSpPr>
          <p:cNvPr id="42" name="Shape 40"/>
          <p:cNvSpPr/>
          <p:nvPr/>
        </p:nvSpPr>
        <p:spPr>
          <a:xfrm>
            <a:off x="6370168" y="4357116"/>
            <a:ext cx="155448" cy="0"/>
          </a:xfrm>
          <a:prstGeom prst="line">
            <a:avLst/>
          </a:prstGeom>
          <a:noFill/>
          <a:ln w="15875">
            <a:solidFill>
              <a:schemeClr val="accent1"/>
            </a:solidFill>
            <a:prstDash val="solid"/>
          </a:ln>
        </p:spPr>
      </p:sp>
      <p:sp>
        <p:nvSpPr>
          <p:cNvPr id="43" name="Shape 41"/>
          <p:cNvSpPr/>
          <p:nvPr/>
        </p:nvSpPr>
        <p:spPr>
          <a:xfrm>
            <a:off x="6370168" y="4357116"/>
            <a:ext cx="0" cy="155448"/>
          </a:xfrm>
          <a:prstGeom prst="line">
            <a:avLst/>
          </a:prstGeom>
          <a:noFill/>
          <a:ln w="15875">
            <a:solidFill>
              <a:schemeClr val="accent1"/>
            </a:solidFill>
            <a:prstDash val="solid"/>
          </a:ln>
        </p:spPr>
      </p:sp>
      <p:sp>
        <p:nvSpPr>
          <p:cNvPr id="44" name="Shape 42"/>
          <p:cNvSpPr/>
          <p:nvPr/>
        </p:nvSpPr>
        <p:spPr>
          <a:xfrm>
            <a:off x="11542471" y="4357116"/>
            <a:ext cx="155448" cy="0"/>
          </a:xfrm>
          <a:prstGeom prst="line">
            <a:avLst/>
          </a:prstGeom>
          <a:noFill/>
          <a:ln w="15875">
            <a:solidFill>
              <a:schemeClr val="accent1"/>
            </a:solidFill>
            <a:prstDash val="solid"/>
          </a:ln>
        </p:spPr>
      </p:sp>
      <p:sp>
        <p:nvSpPr>
          <p:cNvPr id="45" name="Shape 43"/>
          <p:cNvSpPr/>
          <p:nvPr/>
        </p:nvSpPr>
        <p:spPr>
          <a:xfrm>
            <a:off x="11697919" y="4357116"/>
            <a:ext cx="0" cy="155448"/>
          </a:xfrm>
          <a:prstGeom prst="line">
            <a:avLst/>
          </a:prstGeom>
          <a:noFill/>
          <a:ln w="15875">
            <a:solidFill>
              <a:schemeClr val="accent1"/>
            </a:solidFill>
            <a:prstDash val="solid"/>
          </a:ln>
        </p:spPr>
      </p:sp>
      <p:sp>
        <p:nvSpPr>
          <p:cNvPr id="46" name="Shape 44"/>
          <p:cNvSpPr/>
          <p:nvPr/>
        </p:nvSpPr>
        <p:spPr>
          <a:xfrm>
            <a:off x="6370168" y="6254496"/>
            <a:ext cx="155448" cy="0"/>
          </a:xfrm>
          <a:prstGeom prst="line">
            <a:avLst/>
          </a:prstGeom>
          <a:noFill/>
          <a:ln w="15875">
            <a:solidFill>
              <a:schemeClr val="accent1"/>
            </a:solidFill>
            <a:prstDash val="solid"/>
          </a:ln>
        </p:spPr>
      </p:sp>
      <p:sp>
        <p:nvSpPr>
          <p:cNvPr id="47" name="Shape 45"/>
          <p:cNvSpPr/>
          <p:nvPr/>
        </p:nvSpPr>
        <p:spPr>
          <a:xfrm>
            <a:off x="6370168" y="6099048"/>
            <a:ext cx="0" cy="155448"/>
          </a:xfrm>
          <a:prstGeom prst="line">
            <a:avLst/>
          </a:prstGeom>
          <a:noFill/>
          <a:ln w="15875">
            <a:solidFill>
              <a:schemeClr val="accent1"/>
            </a:solidFill>
            <a:prstDash val="solid"/>
          </a:ln>
        </p:spPr>
      </p:sp>
      <p:sp>
        <p:nvSpPr>
          <p:cNvPr id="48" name="Shape 46"/>
          <p:cNvSpPr/>
          <p:nvPr/>
        </p:nvSpPr>
        <p:spPr>
          <a:xfrm>
            <a:off x="11542471" y="6254496"/>
            <a:ext cx="155448" cy="0"/>
          </a:xfrm>
          <a:prstGeom prst="line">
            <a:avLst/>
          </a:prstGeom>
          <a:noFill/>
          <a:ln w="15875">
            <a:solidFill>
              <a:schemeClr val="accent1"/>
            </a:solidFill>
            <a:prstDash val="solid"/>
          </a:ln>
        </p:spPr>
      </p:sp>
      <p:sp>
        <p:nvSpPr>
          <p:cNvPr id="49" name="Shape 47"/>
          <p:cNvSpPr/>
          <p:nvPr/>
        </p:nvSpPr>
        <p:spPr>
          <a:xfrm>
            <a:off x="11697919" y="6099048"/>
            <a:ext cx="0" cy="155448"/>
          </a:xfrm>
          <a:prstGeom prst="line">
            <a:avLst/>
          </a:prstGeom>
          <a:noFill/>
          <a:ln w="15875">
            <a:solidFill>
              <a:schemeClr val="accent1"/>
            </a:solidFill>
            <a:prstDash val="solid"/>
          </a:ln>
        </p:spPr>
      </p:sp>
      <p:sp>
        <p:nvSpPr>
          <p:cNvPr id="50" name="Shape 48"/>
          <p:cNvSpPr/>
          <p:nvPr/>
        </p:nvSpPr>
        <p:spPr>
          <a:xfrm>
            <a:off x="6607912" y="4576572"/>
            <a:ext cx="384048" cy="310896"/>
          </a:xfrm>
          <a:prstGeom prst="rect">
            <a:avLst/>
          </a:prstGeom>
          <a:solidFill>
            <a:schemeClr val="accent1"/>
          </a:solidFill>
          <a:ln/>
        </p:spPr>
      </p:sp>
      <p:sp>
        <p:nvSpPr>
          <p:cNvPr id="51" name="Text 49"/>
          <p:cNvSpPr txBox="1"/>
          <p:nvPr/>
        </p:nvSpPr>
        <p:spPr>
          <a:xfrm>
            <a:off x="6607912" y="4576572"/>
            <a:ext cx="384048" cy="310896"/>
          </a:xfrm>
          <a:prstGeom prst="rect">
            <a:avLst/>
          </a:prstGeom>
          <a:noFill/>
          <a:ln/>
        </p:spPr>
        <p:txBody>
          <a:bodyPr wrap="square" lIns="0" tIns="0" rIns="0" bIns="0" rtlCol="0" anchor="ctr"/>
          <a:lstStyle/>
          <a:p>
            <a:pPr algn="ctr" indent="0" marL="0">
              <a:buNone/>
            </a:pPr>
            <a:r>
              <a:rPr lang="es-CL" altLang="en-US" sz="1400" b="1" dirty="0">
                <a:solidFill>
                  <a:schemeClr val="bg1"/>
                </a:solidFill>
                <a:latin typeface="IBM Plex Mono" pitchFamily="34" charset="0"/>
                <a:ea typeface="IBM Plex Mono" pitchFamily="34" charset="-122"/>
                <a:cs typeface="IBM Plex Mono" pitchFamily="34" charset="-120"/>
              </a:rPr>
              <a:t>A</a:t>
            </a:r>
            <a:endParaRPr lang="es-CL" sz="1400" dirty="0"/>
          </a:p>
        </p:txBody>
      </p:sp>
      <p:sp>
        <p:nvSpPr>
          <p:cNvPr id="52" name="Text 50"/>
          <p:cNvSpPr txBox="1"/>
          <p:nvPr/>
        </p:nvSpPr>
        <p:spPr>
          <a:xfrm>
            <a:off x="7110832" y="4576572"/>
            <a:ext cx="2743200" cy="310896"/>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AMENAZAS</a:t>
            </a:r>
            <a:endParaRPr lang="es-CL" sz="1300" dirty="0"/>
          </a:p>
        </p:txBody>
      </p:sp>
      <p:sp>
        <p:nvSpPr>
          <p:cNvPr id="53" name="Text 51"/>
          <p:cNvSpPr txBox="1"/>
          <p:nvPr/>
        </p:nvSpPr>
        <p:spPr>
          <a:xfrm>
            <a:off x="8716975" y="4576572"/>
            <a:ext cx="2743200" cy="310896"/>
          </a:xfrm>
          <a:prstGeom prst="rect">
            <a:avLst/>
          </a:prstGeom>
          <a:noFill/>
          <a:ln/>
        </p:spPr>
        <p:txBody>
          <a:bodyPr wrap="square" lIns="0" tIns="0" rIns="0" bIns="0" rtlCol="0" anchor="ctr"/>
          <a:lstStyle/>
          <a:p>
            <a:pPr algn="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DECIDEN EL NEGOCIO</a:t>
            </a:r>
            <a:endParaRPr lang="es-CL" sz="1200" dirty="0"/>
          </a:p>
        </p:txBody>
      </p:sp>
      <p:sp>
        <p:nvSpPr>
          <p:cNvPr id="54" name="Shape 52"/>
          <p:cNvSpPr/>
          <p:nvPr/>
        </p:nvSpPr>
        <p:spPr>
          <a:xfrm>
            <a:off x="6644488" y="5068634"/>
            <a:ext cx="82296" cy="82296"/>
          </a:xfrm>
          <a:prstGeom prst="rect">
            <a:avLst/>
          </a:prstGeom>
          <a:solidFill>
            <a:schemeClr val="accent1"/>
          </a:solidFill>
          <a:ln/>
        </p:spPr>
      </p:sp>
      <p:sp>
        <p:nvSpPr>
          <p:cNvPr id="55" name="Text 53"/>
          <p:cNvSpPr txBox="1"/>
          <p:nvPr/>
        </p:nvSpPr>
        <p:spPr>
          <a:xfrm>
            <a:off x="6836512" y="4960620"/>
            <a:ext cx="4623664" cy="298323"/>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Reglamento pendiente de la Ley N° 21.793</a:t>
            </a:r>
            <a:endParaRPr lang="es-CL" sz="1700" dirty="0"/>
          </a:p>
        </p:txBody>
      </p:sp>
      <p:sp>
        <p:nvSpPr>
          <p:cNvPr id="56" name="Shape 54"/>
          <p:cNvSpPr/>
          <p:nvPr/>
        </p:nvSpPr>
        <p:spPr>
          <a:xfrm>
            <a:off x="6644488" y="5366957"/>
            <a:ext cx="82296" cy="82296"/>
          </a:xfrm>
          <a:prstGeom prst="rect">
            <a:avLst/>
          </a:prstGeom>
          <a:solidFill>
            <a:schemeClr val="accent1"/>
          </a:solidFill>
          <a:ln/>
        </p:spPr>
      </p:sp>
      <p:sp>
        <p:nvSpPr>
          <p:cNvPr id="57" name="Text 55"/>
          <p:cNvSpPr txBox="1"/>
          <p:nvPr/>
        </p:nvSpPr>
        <p:spPr>
          <a:xfrm>
            <a:off x="6836512" y="5258943"/>
            <a:ext cx="4623664" cy="298323"/>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Capacidad de pago y crédito caro</a:t>
            </a:r>
            <a:endParaRPr lang="es-CL" sz="1700" dirty="0"/>
          </a:p>
        </p:txBody>
      </p:sp>
      <p:sp>
        <p:nvSpPr>
          <p:cNvPr id="58" name="Shape 56"/>
          <p:cNvSpPr/>
          <p:nvPr/>
        </p:nvSpPr>
        <p:spPr>
          <a:xfrm>
            <a:off x="6644488" y="5665280"/>
            <a:ext cx="82296" cy="82296"/>
          </a:xfrm>
          <a:prstGeom prst="rect">
            <a:avLst/>
          </a:prstGeom>
          <a:solidFill>
            <a:schemeClr val="accent1"/>
          </a:solidFill>
          <a:ln/>
        </p:spPr>
      </p:sp>
      <p:sp>
        <p:nvSpPr>
          <p:cNvPr id="59" name="Text 57"/>
          <p:cNvSpPr txBox="1"/>
          <p:nvPr/>
        </p:nvSpPr>
        <p:spPr>
          <a:xfrm>
            <a:off x="6836512" y="5557266"/>
            <a:ext cx="4623664" cy="298323"/>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Dólar alto para un kit importado</a:t>
            </a:r>
            <a:endParaRPr lang="es-CL" sz="1700" dirty="0"/>
          </a:p>
        </p:txBody>
      </p:sp>
      <p:sp>
        <p:nvSpPr>
          <p:cNvPr id="60" name="Shape 58"/>
          <p:cNvSpPr/>
          <p:nvPr/>
        </p:nvSpPr>
        <p:spPr>
          <a:xfrm>
            <a:off x="6644488" y="5963603"/>
            <a:ext cx="82296" cy="82296"/>
          </a:xfrm>
          <a:prstGeom prst="rect">
            <a:avLst/>
          </a:prstGeom>
          <a:solidFill>
            <a:schemeClr val="accent1"/>
          </a:solidFill>
          <a:ln/>
        </p:spPr>
      </p:sp>
      <p:sp>
        <p:nvSpPr>
          <p:cNvPr id="61" name="Text 59"/>
          <p:cNvSpPr txBox="1"/>
          <p:nvPr/>
        </p:nvSpPr>
        <p:spPr>
          <a:xfrm>
            <a:off x="6836512" y="5855589"/>
            <a:ext cx="4623664" cy="298323"/>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Posponer la compra</a:t>
            </a:r>
            <a:endParaRPr lang="es-CL" sz="17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12</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ANÁLISIS ESTRATÉGICO · DIAGNÓSTICO INTEGRADO</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TRES BRECHAS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que la estrategia debe cerrar.</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informe del Avance 1, sección 6.6 (diagnóstico integrado y prioridades).</a:t>
            </a:r>
            <a:endParaRPr lang="es-CL" sz="1200" dirty="0"/>
          </a:p>
        </p:txBody>
      </p:sp>
      <p:sp>
        <p:nvSpPr>
          <p:cNvPr id="5" name="Shape 3"/>
          <p:cNvSpPr/>
          <p:nvPr/>
        </p:nvSpPr>
        <p:spPr>
          <a:xfrm>
            <a:off x="548640" y="2057400"/>
            <a:ext cx="3515258" cy="3657600"/>
          </a:xfrm>
          <a:prstGeom prst="rect">
            <a:avLst/>
          </a:prstGeom>
          <a:solidFill>
            <a:schemeClr val="bg2">
              <a:alpha val="85000"/>
            </a:schemeClr>
          </a:solidFill>
          <a:ln w="9525">
            <a:solidFill>
              <a:schemeClr val="tx2"/>
            </a:solidFill>
            <a:prstDash val="solid"/>
          </a:ln>
        </p:spPr>
      </p:sp>
      <p:sp>
        <p:nvSpPr>
          <p:cNvPr id="6" name="Text 4"/>
          <p:cNvSpPr txBox="1"/>
          <p:nvPr/>
        </p:nvSpPr>
        <p:spPr>
          <a:xfrm>
            <a:off x="777240" y="2240280"/>
            <a:ext cx="548640" cy="274320"/>
          </a:xfrm>
          <a:prstGeom prst="rect">
            <a:avLst/>
          </a:prstGeom>
          <a:noFill/>
          <a:ln/>
        </p:spPr>
        <p:txBody>
          <a:bodyPr wrap="square" lIns="0" tIns="0" rIns="0" bIns="0" rtlCol="0" anchor="t"/>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01</a:t>
            </a:r>
            <a:endParaRPr lang="es-CL" sz="1400" dirty="0"/>
          </a:p>
        </p:txBody>
      </p:sp>
      <p:sp>
        <p:nvSpPr>
          <p:cNvPr id="7" name="Text 5"/>
          <p:cNvSpPr txBox="1"/>
          <p:nvPr/>
        </p:nvSpPr>
        <p:spPr>
          <a:xfrm>
            <a:off x="777240" y="2514600"/>
            <a:ext cx="3058058" cy="457200"/>
          </a:xfrm>
          <a:prstGeom prst="rect">
            <a:avLst/>
          </a:prstGeom>
          <a:noFill/>
          <a:ln/>
        </p:spPr>
        <p:txBody>
          <a:bodyPr wrap="square" lIns="0" tIns="0" rIns="0" bIns="0" rtlCol="0" anchor="ctr"/>
          <a:lstStyle/>
          <a:p>
            <a:pPr indent="0" marL="0">
              <a:buNone/>
            </a:pPr>
            <a:r>
              <a:rPr lang="es-CL" altLang="en-US" sz="2600" dirty="0">
                <a:solidFill>
                  <a:schemeClr val="tx1"/>
                </a:solidFill>
                <a:latin typeface="Archivo SemiExpanded ExtraBold" pitchFamily="34" charset="0"/>
                <a:ea typeface="Archivo SemiExpanded ExtraBold" pitchFamily="34" charset="-122"/>
                <a:cs typeface="Archivo SemiExpanded ExtraBold" pitchFamily="34" charset="-120"/>
              </a:rPr>
              <a:t>HABILITAR</a:t>
            </a:r>
            <a:endParaRPr lang="es-CL" sz="2600" dirty="0"/>
          </a:p>
        </p:txBody>
      </p:sp>
      <p:sp>
        <p:nvSpPr>
          <p:cNvPr id="8" name="Text 6"/>
          <p:cNvSpPr txBox="1"/>
          <p:nvPr/>
        </p:nvSpPr>
        <p:spPr>
          <a:xfrm>
            <a:off x="777240" y="3017520"/>
            <a:ext cx="3058058" cy="868680"/>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Una vía legal y técnica para instalar.</a:t>
            </a:r>
            <a:endParaRPr lang="es-CL" sz="1800" dirty="0"/>
          </a:p>
        </p:txBody>
      </p:sp>
      <p:sp>
        <p:nvSpPr>
          <p:cNvPr id="9" name="Shape 7"/>
          <p:cNvSpPr/>
          <p:nvPr/>
        </p:nvSpPr>
        <p:spPr>
          <a:xfrm>
            <a:off x="777240" y="3931920"/>
            <a:ext cx="3058058" cy="0"/>
          </a:xfrm>
          <a:prstGeom prst="line">
            <a:avLst/>
          </a:prstGeom>
          <a:noFill/>
          <a:ln w="9525">
            <a:solidFill>
              <a:schemeClr val="accent5"/>
            </a:solidFill>
            <a:prstDash val="solid"/>
          </a:ln>
        </p:spPr>
      </p:sp>
      <p:sp>
        <p:nvSpPr>
          <p:cNvPr id="10" name="Text 8"/>
          <p:cNvSpPr txBox="1"/>
          <p:nvPr/>
        </p:nvSpPr>
        <p:spPr>
          <a:xfrm>
            <a:off x="777240" y="4005072"/>
            <a:ext cx="3058058"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VIENE DE</a:t>
            </a:r>
            <a:endParaRPr lang="es-CL" sz="1200" dirty="0"/>
          </a:p>
        </p:txBody>
      </p:sp>
      <p:sp>
        <p:nvSpPr>
          <p:cNvPr id="11" name="Text 9"/>
          <p:cNvSpPr txBox="1"/>
          <p:nvPr/>
        </p:nvSpPr>
        <p:spPr>
          <a:xfrm>
            <a:off x="777240" y="4270248"/>
            <a:ext cx="3058058" cy="530352"/>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PEST, escenarios e infraestructura</a:t>
            </a:r>
            <a:endParaRPr lang="es-CL" sz="1600" dirty="0"/>
          </a:p>
        </p:txBody>
      </p:sp>
      <p:sp>
        <p:nvSpPr>
          <p:cNvPr id="12" name="Text 10"/>
          <p:cNvSpPr txBox="1"/>
          <p:nvPr/>
        </p:nvSpPr>
        <p:spPr>
          <a:xfrm>
            <a:off x="777240" y="4846320"/>
            <a:ext cx="305805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LA CERRARÍA</a:t>
            </a:r>
            <a:endParaRPr lang="es-CL" sz="1200" dirty="0"/>
          </a:p>
        </p:txBody>
      </p:sp>
      <p:sp>
        <p:nvSpPr>
          <p:cNvPr id="13" name="Text 11"/>
          <p:cNvSpPr txBox="1"/>
          <p:nvPr/>
        </p:nvSpPr>
        <p:spPr>
          <a:xfrm>
            <a:off x="777240" y="5111496"/>
            <a:ext cx="3058058" cy="5486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Respuesta formal de la autoridad sobre la vía aplicable</a:t>
            </a:r>
            <a:endParaRPr lang="es-CL" sz="1600" dirty="0"/>
          </a:p>
        </p:txBody>
      </p:sp>
      <p:pic>
        <p:nvPicPr>
          <p:cNvPr id="14" name="Image 0" descr="/home/user/lumine/control-3/generador/assets/brillo.png">    </p:cNvPr>
          <p:cNvPicPr>
            <a:picLocks noChangeAspect="1"/>
          </p:cNvPicPr>
          <p:nvPr/>
        </p:nvPicPr>
        <p:blipFill>
          <a:blip r:embed="rId1"/>
          <a:stretch>
            <a:fillRect/>
          </a:stretch>
        </p:blipFill>
        <p:spPr>
          <a:xfrm>
            <a:off x="3926738" y="1769364"/>
            <a:ext cx="4338218" cy="4233672"/>
          </a:xfrm>
          <a:prstGeom prst="rect">
            <a:avLst/>
          </a:prstGeom>
        </p:spPr>
      </p:pic>
      <p:sp>
        <p:nvSpPr>
          <p:cNvPr id="15" name="Shape 12"/>
          <p:cNvSpPr/>
          <p:nvPr/>
        </p:nvSpPr>
        <p:spPr>
          <a:xfrm>
            <a:off x="4338218" y="2057400"/>
            <a:ext cx="3515258" cy="3657600"/>
          </a:xfrm>
          <a:prstGeom prst="rect">
            <a:avLst/>
          </a:prstGeom>
          <a:solidFill>
            <a:srgbClr val="062A45"/>
          </a:solidFill>
          <a:ln w="15875">
            <a:solidFill>
              <a:schemeClr val="accent1"/>
            </a:solidFill>
            <a:prstDash val="solid"/>
          </a:ln>
        </p:spPr>
      </p:sp>
      <p:sp>
        <p:nvSpPr>
          <p:cNvPr id="16" name="Shape 13"/>
          <p:cNvSpPr/>
          <p:nvPr/>
        </p:nvSpPr>
        <p:spPr>
          <a:xfrm>
            <a:off x="4283354" y="2002536"/>
            <a:ext cx="155448" cy="0"/>
          </a:xfrm>
          <a:prstGeom prst="line">
            <a:avLst/>
          </a:prstGeom>
          <a:noFill/>
          <a:ln w="15875">
            <a:solidFill>
              <a:schemeClr val="accent1"/>
            </a:solidFill>
            <a:prstDash val="solid"/>
          </a:ln>
        </p:spPr>
      </p:sp>
      <p:sp>
        <p:nvSpPr>
          <p:cNvPr id="17" name="Shape 14"/>
          <p:cNvSpPr/>
          <p:nvPr/>
        </p:nvSpPr>
        <p:spPr>
          <a:xfrm>
            <a:off x="4283354" y="2002536"/>
            <a:ext cx="0" cy="155448"/>
          </a:xfrm>
          <a:prstGeom prst="line">
            <a:avLst/>
          </a:prstGeom>
          <a:noFill/>
          <a:ln w="15875">
            <a:solidFill>
              <a:schemeClr val="accent1"/>
            </a:solidFill>
            <a:prstDash val="solid"/>
          </a:ln>
        </p:spPr>
      </p:sp>
      <p:sp>
        <p:nvSpPr>
          <p:cNvPr id="18" name="Shape 15"/>
          <p:cNvSpPr/>
          <p:nvPr/>
        </p:nvSpPr>
        <p:spPr>
          <a:xfrm>
            <a:off x="7752893" y="2002536"/>
            <a:ext cx="155448" cy="0"/>
          </a:xfrm>
          <a:prstGeom prst="line">
            <a:avLst/>
          </a:prstGeom>
          <a:noFill/>
          <a:ln w="15875">
            <a:solidFill>
              <a:schemeClr val="accent1"/>
            </a:solidFill>
            <a:prstDash val="solid"/>
          </a:ln>
        </p:spPr>
      </p:sp>
      <p:sp>
        <p:nvSpPr>
          <p:cNvPr id="19" name="Shape 16"/>
          <p:cNvSpPr/>
          <p:nvPr/>
        </p:nvSpPr>
        <p:spPr>
          <a:xfrm>
            <a:off x="7908341" y="2002536"/>
            <a:ext cx="0" cy="155448"/>
          </a:xfrm>
          <a:prstGeom prst="line">
            <a:avLst/>
          </a:prstGeom>
          <a:noFill/>
          <a:ln w="15875">
            <a:solidFill>
              <a:schemeClr val="accent1"/>
            </a:solidFill>
            <a:prstDash val="solid"/>
          </a:ln>
        </p:spPr>
      </p:sp>
      <p:sp>
        <p:nvSpPr>
          <p:cNvPr id="20" name="Shape 17"/>
          <p:cNvSpPr/>
          <p:nvPr/>
        </p:nvSpPr>
        <p:spPr>
          <a:xfrm>
            <a:off x="4283354" y="5769864"/>
            <a:ext cx="155448" cy="0"/>
          </a:xfrm>
          <a:prstGeom prst="line">
            <a:avLst/>
          </a:prstGeom>
          <a:noFill/>
          <a:ln w="15875">
            <a:solidFill>
              <a:schemeClr val="accent1"/>
            </a:solidFill>
            <a:prstDash val="solid"/>
          </a:ln>
        </p:spPr>
      </p:sp>
      <p:sp>
        <p:nvSpPr>
          <p:cNvPr id="21" name="Shape 18"/>
          <p:cNvSpPr/>
          <p:nvPr/>
        </p:nvSpPr>
        <p:spPr>
          <a:xfrm>
            <a:off x="4283354" y="5614416"/>
            <a:ext cx="0" cy="155448"/>
          </a:xfrm>
          <a:prstGeom prst="line">
            <a:avLst/>
          </a:prstGeom>
          <a:noFill/>
          <a:ln w="15875">
            <a:solidFill>
              <a:schemeClr val="accent1"/>
            </a:solidFill>
            <a:prstDash val="solid"/>
          </a:ln>
        </p:spPr>
      </p:sp>
      <p:sp>
        <p:nvSpPr>
          <p:cNvPr id="22" name="Shape 19"/>
          <p:cNvSpPr/>
          <p:nvPr/>
        </p:nvSpPr>
        <p:spPr>
          <a:xfrm>
            <a:off x="7752893" y="5769864"/>
            <a:ext cx="155448" cy="0"/>
          </a:xfrm>
          <a:prstGeom prst="line">
            <a:avLst/>
          </a:prstGeom>
          <a:noFill/>
          <a:ln w="15875">
            <a:solidFill>
              <a:schemeClr val="accent1"/>
            </a:solidFill>
            <a:prstDash val="solid"/>
          </a:ln>
        </p:spPr>
      </p:sp>
      <p:sp>
        <p:nvSpPr>
          <p:cNvPr id="23" name="Shape 20"/>
          <p:cNvSpPr/>
          <p:nvPr/>
        </p:nvSpPr>
        <p:spPr>
          <a:xfrm>
            <a:off x="7908341" y="5614416"/>
            <a:ext cx="0" cy="155448"/>
          </a:xfrm>
          <a:prstGeom prst="line">
            <a:avLst/>
          </a:prstGeom>
          <a:noFill/>
          <a:ln w="15875">
            <a:solidFill>
              <a:schemeClr val="accent1"/>
            </a:solidFill>
            <a:prstDash val="solid"/>
          </a:ln>
        </p:spPr>
      </p:sp>
      <p:sp>
        <p:nvSpPr>
          <p:cNvPr id="24" name="Text 21"/>
          <p:cNvSpPr txBox="1"/>
          <p:nvPr/>
        </p:nvSpPr>
        <p:spPr>
          <a:xfrm>
            <a:off x="4566818" y="2240280"/>
            <a:ext cx="548640" cy="274320"/>
          </a:xfrm>
          <a:prstGeom prst="rect">
            <a:avLst/>
          </a:prstGeom>
          <a:noFill/>
          <a:ln/>
        </p:spPr>
        <p:txBody>
          <a:bodyPr wrap="square" lIns="0" tIns="0" rIns="0" bIns="0" rtlCol="0" anchor="t"/>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02</a:t>
            </a:r>
            <a:endParaRPr lang="es-CL" sz="1400" dirty="0"/>
          </a:p>
        </p:txBody>
      </p:sp>
      <p:sp>
        <p:nvSpPr>
          <p:cNvPr id="25" name="Text 22"/>
          <p:cNvSpPr txBox="1"/>
          <p:nvPr/>
        </p:nvSpPr>
        <p:spPr>
          <a:xfrm>
            <a:off x="4566818" y="2514600"/>
            <a:ext cx="3058058" cy="457200"/>
          </a:xfrm>
          <a:prstGeom prst="rect">
            <a:avLst/>
          </a:prstGeom>
          <a:noFill/>
          <a:ln/>
        </p:spPr>
        <p:txBody>
          <a:bodyPr wrap="square" lIns="0" tIns="0" rIns="0" bIns="0" rtlCol="0" anchor="ctr"/>
          <a:lstStyle/>
          <a:p>
            <a:pPr indent="0" marL="0">
              <a:buNone/>
            </a:pPr>
            <a:r>
              <a:rPr lang="es-CL" altLang="en-US" sz="2600" dirty="0">
                <a:solidFill>
                  <a:schemeClr val="tx1"/>
                </a:solidFill>
                <a:latin typeface="Archivo SemiExpanded ExtraBold" pitchFamily="34" charset="0"/>
                <a:ea typeface="Archivo SemiExpanded ExtraBold" pitchFamily="34" charset="-122"/>
                <a:cs typeface="Archivo SemiExpanded ExtraBold" pitchFamily="34" charset="-120"/>
              </a:rPr>
              <a:t>DEMOSTRAR</a:t>
            </a:r>
            <a:endParaRPr lang="es-CL" sz="2600" dirty="0"/>
          </a:p>
        </p:txBody>
      </p:sp>
      <p:sp>
        <p:nvSpPr>
          <p:cNvPr id="26" name="Text 23"/>
          <p:cNvSpPr txBox="1"/>
          <p:nvPr/>
        </p:nvSpPr>
        <p:spPr>
          <a:xfrm>
            <a:off x="4566818" y="3017520"/>
            <a:ext cx="3058058" cy="868680"/>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La promesa de ahorro, convertida en una prestación medible.</a:t>
            </a:r>
            <a:endParaRPr lang="es-CL" sz="1800" dirty="0"/>
          </a:p>
        </p:txBody>
      </p:sp>
      <p:sp>
        <p:nvSpPr>
          <p:cNvPr id="27" name="Shape 24"/>
          <p:cNvSpPr/>
          <p:nvPr/>
        </p:nvSpPr>
        <p:spPr>
          <a:xfrm>
            <a:off x="4566818" y="3931920"/>
            <a:ext cx="3058058" cy="0"/>
          </a:xfrm>
          <a:prstGeom prst="line">
            <a:avLst/>
          </a:prstGeom>
          <a:noFill/>
          <a:ln w="9525">
            <a:solidFill>
              <a:schemeClr val="accent5"/>
            </a:solidFill>
            <a:prstDash val="solid"/>
          </a:ln>
        </p:spPr>
      </p:sp>
      <p:sp>
        <p:nvSpPr>
          <p:cNvPr id="28" name="Text 25"/>
          <p:cNvSpPr txBox="1"/>
          <p:nvPr/>
        </p:nvSpPr>
        <p:spPr>
          <a:xfrm>
            <a:off x="4566818" y="4005072"/>
            <a:ext cx="3058058"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VIENE DE</a:t>
            </a:r>
            <a:endParaRPr lang="es-CL" sz="1200" dirty="0"/>
          </a:p>
        </p:txBody>
      </p:sp>
      <p:sp>
        <p:nvSpPr>
          <p:cNvPr id="29" name="Text 26"/>
          <p:cNvSpPr txBox="1"/>
          <p:nvPr/>
        </p:nvSpPr>
        <p:spPr>
          <a:xfrm>
            <a:off x="4566818" y="4270248"/>
            <a:ext cx="3058058" cy="530352"/>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Cinco fuerzas y entrevistas</a:t>
            </a:r>
            <a:endParaRPr lang="es-CL" sz="1600" dirty="0"/>
          </a:p>
        </p:txBody>
      </p:sp>
      <p:sp>
        <p:nvSpPr>
          <p:cNvPr id="30" name="Text 27"/>
          <p:cNvSpPr txBox="1"/>
          <p:nvPr/>
        </p:nvSpPr>
        <p:spPr>
          <a:xfrm>
            <a:off x="4566818" y="4846320"/>
            <a:ext cx="305805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LA CERRARÍA</a:t>
            </a:r>
            <a:endParaRPr lang="es-CL" sz="1200" dirty="0"/>
          </a:p>
        </p:txBody>
      </p:sp>
      <p:sp>
        <p:nvSpPr>
          <p:cNvPr id="31" name="Text 28"/>
          <p:cNvSpPr txBox="1"/>
          <p:nvPr/>
        </p:nvSpPr>
        <p:spPr>
          <a:xfrm>
            <a:off x="4566818" y="5111496"/>
            <a:ext cx="3058058" cy="5486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Medición antes y después en el mismo auto</a:t>
            </a:r>
            <a:endParaRPr lang="es-CL" sz="1600" dirty="0"/>
          </a:p>
        </p:txBody>
      </p:sp>
      <p:sp>
        <p:nvSpPr>
          <p:cNvPr id="32" name="Shape 29"/>
          <p:cNvSpPr/>
          <p:nvPr/>
        </p:nvSpPr>
        <p:spPr>
          <a:xfrm>
            <a:off x="8127797" y="2057400"/>
            <a:ext cx="3515258" cy="3657600"/>
          </a:xfrm>
          <a:prstGeom prst="rect">
            <a:avLst/>
          </a:prstGeom>
          <a:solidFill>
            <a:schemeClr val="bg2">
              <a:alpha val="85000"/>
            </a:schemeClr>
          </a:solidFill>
          <a:ln w="9525">
            <a:solidFill>
              <a:schemeClr val="tx2"/>
            </a:solidFill>
            <a:prstDash val="solid"/>
          </a:ln>
        </p:spPr>
      </p:sp>
      <p:sp>
        <p:nvSpPr>
          <p:cNvPr id="33" name="Text 30"/>
          <p:cNvSpPr txBox="1"/>
          <p:nvPr/>
        </p:nvSpPr>
        <p:spPr>
          <a:xfrm>
            <a:off x="8356397" y="2240280"/>
            <a:ext cx="548640" cy="274320"/>
          </a:xfrm>
          <a:prstGeom prst="rect">
            <a:avLst/>
          </a:prstGeom>
          <a:noFill/>
          <a:ln/>
        </p:spPr>
        <p:txBody>
          <a:bodyPr wrap="square" lIns="0" tIns="0" rIns="0" bIns="0" rtlCol="0" anchor="t"/>
          <a:lstStyle/>
          <a:p>
            <a:pPr indent="0" marL="0">
              <a:buNone/>
            </a:pPr>
            <a:r>
              <a:rPr lang="es-CL" altLang="en-US" sz="1400" spc="100" kern="0" dirty="0">
                <a:solidFill>
                  <a:schemeClr val="accent1"/>
                </a:solidFill>
                <a:latin typeface="IBM Plex Mono" pitchFamily="34" charset="0"/>
                <a:ea typeface="IBM Plex Mono" pitchFamily="34" charset="-122"/>
                <a:cs typeface="IBM Plex Mono" pitchFamily="34" charset="-120"/>
              </a:rPr>
              <a:t>03</a:t>
            </a:r>
            <a:endParaRPr lang="es-CL" sz="1400" dirty="0"/>
          </a:p>
        </p:txBody>
      </p:sp>
      <p:sp>
        <p:nvSpPr>
          <p:cNvPr id="34" name="Text 31"/>
          <p:cNvSpPr txBox="1"/>
          <p:nvPr/>
        </p:nvSpPr>
        <p:spPr>
          <a:xfrm>
            <a:off x="8356397" y="2514600"/>
            <a:ext cx="3058058" cy="457200"/>
          </a:xfrm>
          <a:prstGeom prst="rect">
            <a:avLst/>
          </a:prstGeom>
          <a:noFill/>
          <a:ln/>
        </p:spPr>
        <p:txBody>
          <a:bodyPr wrap="square" lIns="0" tIns="0" rIns="0" bIns="0" rtlCol="0" anchor="ctr"/>
          <a:lstStyle/>
          <a:p>
            <a:pPr indent="0" marL="0">
              <a:buNone/>
            </a:pPr>
            <a:r>
              <a:rPr lang="es-CL" altLang="en-US" sz="2600" dirty="0">
                <a:solidFill>
                  <a:schemeClr val="tx1"/>
                </a:solidFill>
                <a:latin typeface="Archivo SemiExpanded ExtraBold" pitchFamily="34" charset="0"/>
                <a:ea typeface="Archivo SemiExpanded ExtraBold" pitchFamily="34" charset="-122"/>
                <a:cs typeface="Archivo SemiExpanded ExtraBold" pitchFamily="34" charset="-120"/>
              </a:rPr>
              <a:t>ACUMULAR</a:t>
            </a:r>
            <a:endParaRPr lang="es-CL" sz="2600" dirty="0"/>
          </a:p>
        </p:txBody>
      </p:sp>
      <p:sp>
        <p:nvSpPr>
          <p:cNvPr id="35" name="Text 32"/>
          <p:cNvSpPr txBox="1"/>
          <p:nvPr/>
        </p:nvSpPr>
        <p:spPr>
          <a:xfrm>
            <a:off x="8356397" y="3017520"/>
            <a:ext cx="3058058" cy="868680"/>
          </a:xfrm>
          <a:prstGeom prst="rect">
            <a:avLst/>
          </a:prstGeom>
          <a:noFill/>
          <a:ln/>
        </p:spPr>
        <p:txBody>
          <a:bodyPr wrap="square" lIns="0" tIns="0" rIns="0" bIns="0" rtlCol="0" anchor="t"/>
          <a:lstStyle/>
          <a:p>
            <a:pPr indent="0" marL="0">
              <a:buNone/>
            </a:pPr>
            <a:r>
              <a:rPr lang="es-CL" altLang="en-US" sz="1800" dirty="0">
                <a:solidFill>
                  <a:schemeClr val="tx1"/>
                </a:solidFill>
                <a:latin typeface="Figtree" pitchFamily="34" charset="0"/>
                <a:ea typeface="Figtree" pitchFamily="34" charset="-122"/>
                <a:cs typeface="Figtree" pitchFamily="34" charset="-120"/>
              </a:rPr>
              <a:t>Conocimiento de calibración construido y protegido.</a:t>
            </a:r>
            <a:endParaRPr lang="es-CL" sz="1800" dirty="0"/>
          </a:p>
        </p:txBody>
      </p:sp>
      <p:sp>
        <p:nvSpPr>
          <p:cNvPr id="36" name="Shape 33"/>
          <p:cNvSpPr/>
          <p:nvPr/>
        </p:nvSpPr>
        <p:spPr>
          <a:xfrm>
            <a:off x="8356397" y="3931920"/>
            <a:ext cx="3058058" cy="0"/>
          </a:xfrm>
          <a:prstGeom prst="line">
            <a:avLst/>
          </a:prstGeom>
          <a:noFill/>
          <a:ln w="9525">
            <a:solidFill>
              <a:schemeClr val="accent5"/>
            </a:solidFill>
            <a:prstDash val="solid"/>
          </a:ln>
        </p:spPr>
      </p:sp>
      <p:sp>
        <p:nvSpPr>
          <p:cNvPr id="37" name="Text 34"/>
          <p:cNvSpPr txBox="1"/>
          <p:nvPr/>
        </p:nvSpPr>
        <p:spPr>
          <a:xfrm>
            <a:off x="8356397" y="4005072"/>
            <a:ext cx="3058058"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VIENE DE</a:t>
            </a:r>
            <a:endParaRPr lang="es-CL" sz="1200" dirty="0"/>
          </a:p>
        </p:txBody>
      </p:sp>
      <p:sp>
        <p:nvSpPr>
          <p:cNvPr id="38" name="Text 35"/>
          <p:cNvSpPr txBox="1"/>
          <p:nvPr/>
        </p:nvSpPr>
        <p:spPr>
          <a:xfrm>
            <a:off x="8356397" y="4270248"/>
            <a:ext cx="3058058" cy="530352"/>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Competencias y cadena de valor</a:t>
            </a:r>
            <a:endParaRPr lang="es-CL" sz="1600" dirty="0"/>
          </a:p>
        </p:txBody>
      </p:sp>
      <p:sp>
        <p:nvSpPr>
          <p:cNvPr id="39" name="Text 36"/>
          <p:cNvSpPr txBox="1"/>
          <p:nvPr/>
        </p:nvSpPr>
        <p:spPr>
          <a:xfrm>
            <a:off x="8356397" y="4846320"/>
            <a:ext cx="3058058" cy="256032"/>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LA CERRARÍA</a:t>
            </a:r>
            <a:endParaRPr lang="es-CL" sz="1200" dirty="0"/>
          </a:p>
        </p:txBody>
      </p:sp>
      <p:sp>
        <p:nvSpPr>
          <p:cNvPr id="40" name="Text 37"/>
          <p:cNvSpPr txBox="1"/>
          <p:nvPr/>
        </p:nvSpPr>
        <p:spPr>
          <a:xfrm>
            <a:off x="8356397" y="5111496"/>
            <a:ext cx="3058058" cy="548640"/>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Calibraciones registradas, versionadas y protegidas</a:t>
            </a:r>
            <a:endParaRPr lang="es-CL" sz="1600" dirty="0"/>
          </a:p>
        </p:txBody>
      </p:sp>
      <p:sp>
        <p:nvSpPr>
          <p:cNvPr id="41" name="Text 38"/>
          <p:cNvSpPr txBox="1"/>
          <p:nvPr/>
        </p:nvSpPr>
        <p:spPr>
          <a:xfrm>
            <a:off x="548640" y="5824728"/>
            <a:ext cx="9265615" cy="411480"/>
          </a:xfrm>
          <a:prstGeom prst="rect">
            <a:avLst/>
          </a:prstGeom>
          <a:noFill/>
          <a:ln/>
        </p:spPr>
        <p:txBody>
          <a:bodyPr wrap="square" lIns="0" tIns="0" rIns="0" bIns="0" rtlCol="0" anchor="ctr"/>
          <a:lstStyle/>
          <a:p>
            <a:pPr indent="0" marL="0">
              <a:buNone/>
            </a:pPr>
            <a:r>
              <a:rPr lang="es-CL" altLang="en-US" sz="1800" b="1" dirty="0">
                <a:solidFill>
                  <a:schemeClr val="tx1"/>
                </a:solidFill>
                <a:latin typeface="Figtree" pitchFamily="34" charset="0"/>
                <a:ea typeface="Figtree" pitchFamily="34" charset="-122"/>
                <a:cs typeface="Figtree" pitchFamily="34" charset="-120"/>
              </a:rPr>
              <a:t>Entrada del Avance 2: </a:t>
            </a:r>
            <a:pPr indent="0" marL="0">
              <a:buNone/>
            </a:pPr>
            <a:r>
              <a:rPr lang="es-CL" altLang="en-US" sz="1800" dirty="0">
                <a:solidFill>
                  <a:schemeClr val="tx2"/>
                </a:solidFill>
                <a:latin typeface="Figtree" pitchFamily="34" charset="0"/>
                <a:ea typeface="Figtree" pitchFamily="34" charset="-122"/>
                <a:cs typeface="Figtree" pitchFamily="34" charset="-120"/>
              </a:rPr>
              <a:t>estrategia, objetivos y Cuadro de Mando Integral.</a:t>
            </a:r>
            <a:endParaRPr lang="es-CL" sz="1800" dirty="0"/>
          </a:p>
        </p:txBody>
      </p:sp>
      <p:sp>
        <p:nvSpPr>
          <p:cNvPr id="42" name="Shape 39"/>
          <p:cNvSpPr/>
          <p:nvPr/>
        </p:nvSpPr>
        <p:spPr>
          <a:xfrm>
            <a:off x="10499039" y="5879592"/>
            <a:ext cx="1144016" cy="310896"/>
          </a:xfrm>
          <a:prstGeom prst="rect">
            <a:avLst/>
          </a:prstGeom>
          <a:solidFill>
            <a:schemeClr val="bg1">
              <a:alpha val="0"/>
            </a:schemeClr>
          </a:solidFill>
          <a:ln w="12700">
            <a:solidFill>
              <a:schemeClr val="tx2"/>
            </a:solidFill>
            <a:prstDash val="sysDot"/>
          </a:ln>
        </p:spPr>
      </p:sp>
      <p:sp>
        <p:nvSpPr>
          <p:cNvPr id="43" name="Text 40"/>
          <p:cNvSpPr txBox="1"/>
          <p:nvPr/>
        </p:nvSpPr>
        <p:spPr>
          <a:xfrm>
            <a:off x="10608767" y="5879592"/>
            <a:ext cx="92456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AVANCE 2</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00">
              <a:alpha val="65000"/>
            </a:srgbClr>
          </a:solidFill>
          <a:ln/>
        </p:spPr>
      </p:sp>
      <p:pic>
        <p:nvPicPr>
          <p:cNvPr id="3" name="Image 0" descr="Lumine Motors">    </p:cNvPr>
          <p:cNvPicPr>
            <a:picLocks noChangeAspect="1"/>
          </p:cNvPicPr>
          <p:nvPr/>
        </p:nvPicPr>
        <p:blipFill>
          <a:blip r:embed="rId1"/>
          <a:stretch>
            <a:fillRect/>
          </a:stretch>
        </p:blipFill>
        <p:spPr>
          <a:xfrm>
            <a:off x="548640" y="384048"/>
            <a:ext cx="985313" cy="201168"/>
          </a:xfrm>
          <a:prstGeom prst="rect">
            <a:avLst/>
          </a:prstGeom>
        </p:spPr>
      </p:pic>
      <p:sp>
        <p:nvSpPr>
          <p:cNvPr id="4" name="Text 1"/>
          <p:cNvSpPr txBox="1"/>
          <p:nvPr/>
        </p:nvSpPr>
        <p:spPr>
          <a:xfrm>
            <a:off x="548640" y="841248"/>
            <a:ext cx="5486400" cy="274320"/>
          </a:xfrm>
          <a:prstGeom prst="rect">
            <a:avLst/>
          </a:prstGeom>
          <a:noFill/>
          <a:ln/>
        </p:spPr>
        <p:txBody>
          <a:bodyPr wrap="square" lIns="0" tIns="0" rIns="0" bIns="0" rtlCol="0" anchor="ctr"/>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13</a:t>
            </a:r>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  ——  CONCLUSIÓN</a:t>
            </a:r>
            <a:endParaRPr lang="es-CL" sz="1300" dirty="0"/>
          </a:p>
        </p:txBody>
      </p:sp>
      <p:sp>
        <p:nvSpPr>
          <p:cNvPr id="5" name="Text 2"/>
          <p:cNvSpPr txBox="1"/>
          <p:nvPr/>
        </p:nvSpPr>
        <p:spPr>
          <a:xfrm>
            <a:off x="548640" y="1280160"/>
            <a:ext cx="11094415" cy="1188720"/>
          </a:xfrm>
          <a:prstGeom prst="rect">
            <a:avLst/>
          </a:prstGeom>
          <a:noFill/>
          <a:ln/>
        </p:spPr>
        <p:txBody>
          <a:bodyPr wrap="square" lIns="0" tIns="0" rIns="0" bIns="0" rtlCol="0" anchor="t"/>
          <a:lstStyle/>
          <a:p>
            <a:pPr indent="0" marL="0">
              <a:lnSpc>
                <a:spcPct val="95000"/>
              </a:lnSpc>
              <a:buNone/>
            </a:pPr>
            <a:r>
              <a:rPr lang="es-CL" altLang="en-US" sz="3000" dirty="0">
                <a:solidFill>
                  <a:schemeClr val="tx1"/>
                </a:solidFill>
                <a:latin typeface="Archivo SemiExpanded ExtraBold" pitchFamily="34" charset="0"/>
                <a:ea typeface="Archivo SemiExpanded ExtraBold" pitchFamily="34" charset="-122"/>
                <a:cs typeface="Archivo SemiExpanded ExtraBold" pitchFamily="34" charset="-120"/>
              </a:rPr>
              <a:t>LUMINE NO COMPITE CON OTROS TALLERES:</a:t>
            </a:r>
            <a:endParaRPr lang="es-CL" sz="2000" dirty="0"/>
          </a:p>
          <a:p>
            <a:pPr indent="0" marL="0">
              <a:lnSpc>
                <a:spcPct val="95000"/>
              </a:lnSpc>
              <a:buNone/>
            </a:pPr>
            <a:r>
              <a:rPr lang="es-CL" altLang="en-US" sz="4400" i="1" dirty="0">
                <a:solidFill>
                  <a:schemeClr val="accent1"/>
                </a:solidFill>
                <a:latin typeface="Instrument Serif" pitchFamily="34" charset="0"/>
                <a:ea typeface="Instrument Serif" pitchFamily="34" charset="-122"/>
                <a:cs typeface="Instrument Serif" pitchFamily="34" charset="-120"/>
              </a:rPr>
              <a:t>compite con la decisión de esperar.</a:t>
            </a:r>
            <a:endParaRPr lang="es-CL" sz="2000" dirty="0"/>
          </a:p>
        </p:txBody>
      </p:sp>
      <p:sp>
        <p:nvSpPr>
          <p:cNvPr id="6" name="Shape 3"/>
          <p:cNvSpPr/>
          <p:nvPr/>
        </p:nvSpPr>
        <p:spPr>
          <a:xfrm>
            <a:off x="548640" y="2743200"/>
            <a:ext cx="1463040" cy="0"/>
          </a:xfrm>
          <a:prstGeom prst="line">
            <a:avLst/>
          </a:prstGeom>
          <a:noFill/>
          <a:ln w="9525">
            <a:solidFill>
              <a:schemeClr val="accent1"/>
            </a:solidFill>
            <a:prstDash val="solid"/>
          </a:ln>
        </p:spPr>
      </p:sp>
      <p:sp>
        <p:nvSpPr>
          <p:cNvPr id="7" name="Text 4"/>
          <p:cNvSpPr txBox="1"/>
          <p:nvPr/>
        </p:nvSpPr>
        <p:spPr>
          <a:xfrm>
            <a:off x="548640" y="2816352"/>
            <a:ext cx="146304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PROBLEMA</a:t>
            </a:r>
            <a:endParaRPr lang="es-CL" sz="1300" dirty="0"/>
          </a:p>
        </p:txBody>
      </p:sp>
      <p:sp>
        <p:nvSpPr>
          <p:cNvPr id="8" name="Text 5"/>
          <p:cNvSpPr txBox="1"/>
          <p:nvPr/>
        </p:nvSpPr>
        <p:spPr>
          <a:xfrm>
            <a:off x="548640" y="3108960"/>
            <a:ext cx="1463040" cy="384048"/>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Real</a:t>
            </a:r>
            <a:endParaRPr lang="es-CL" sz="2000" dirty="0"/>
          </a:p>
        </p:txBody>
      </p:sp>
      <p:sp>
        <p:nvSpPr>
          <p:cNvPr id="9" name="Shape 6"/>
          <p:cNvSpPr/>
          <p:nvPr/>
        </p:nvSpPr>
        <p:spPr>
          <a:xfrm>
            <a:off x="2194560" y="2743200"/>
            <a:ext cx="1463040" cy="0"/>
          </a:xfrm>
          <a:prstGeom prst="line">
            <a:avLst/>
          </a:prstGeom>
          <a:noFill/>
          <a:ln w="9525">
            <a:solidFill>
              <a:schemeClr val="tx2"/>
            </a:solidFill>
            <a:prstDash val="solid"/>
          </a:ln>
        </p:spPr>
      </p:sp>
      <p:sp>
        <p:nvSpPr>
          <p:cNvPr id="10" name="Text 7"/>
          <p:cNvSpPr txBox="1"/>
          <p:nvPr/>
        </p:nvSpPr>
        <p:spPr>
          <a:xfrm>
            <a:off x="2194560" y="2816352"/>
            <a:ext cx="1463040"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FORTALEZA</a:t>
            </a:r>
            <a:endParaRPr lang="es-CL" sz="1300" dirty="0"/>
          </a:p>
        </p:txBody>
      </p:sp>
      <p:sp>
        <p:nvSpPr>
          <p:cNvPr id="11" name="Text 8"/>
          <p:cNvSpPr txBox="1"/>
          <p:nvPr/>
        </p:nvSpPr>
        <p:spPr>
          <a:xfrm>
            <a:off x="2194560" y="3108960"/>
            <a:ext cx="1463040" cy="384048"/>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De diseño</a:t>
            </a:r>
            <a:endParaRPr lang="es-CL" sz="2000" dirty="0"/>
          </a:p>
        </p:txBody>
      </p:sp>
      <p:sp>
        <p:nvSpPr>
          <p:cNvPr id="12" name="Shape 9"/>
          <p:cNvSpPr/>
          <p:nvPr/>
        </p:nvSpPr>
        <p:spPr>
          <a:xfrm>
            <a:off x="548640" y="3611880"/>
            <a:ext cx="1463040" cy="0"/>
          </a:xfrm>
          <a:prstGeom prst="line">
            <a:avLst/>
          </a:prstGeom>
          <a:noFill/>
          <a:ln w="9525">
            <a:solidFill>
              <a:schemeClr val="tx2"/>
            </a:solidFill>
            <a:prstDash val="solid"/>
          </a:ln>
        </p:spPr>
      </p:sp>
      <p:sp>
        <p:nvSpPr>
          <p:cNvPr id="13" name="Text 10"/>
          <p:cNvSpPr txBox="1"/>
          <p:nvPr/>
        </p:nvSpPr>
        <p:spPr>
          <a:xfrm>
            <a:off x="548640" y="3685032"/>
            <a:ext cx="1463040"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ENTORNO</a:t>
            </a:r>
            <a:endParaRPr lang="es-CL" sz="1300" dirty="0"/>
          </a:p>
        </p:txBody>
      </p:sp>
      <p:sp>
        <p:nvSpPr>
          <p:cNvPr id="14" name="Text 11"/>
          <p:cNvSpPr txBox="1"/>
          <p:nvPr/>
        </p:nvSpPr>
        <p:spPr>
          <a:xfrm>
            <a:off x="548640" y="3977640"/>
            <a:ext cx="1463040" cy="384048"/>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En contra</a:t>
            </a:r>
            <a:endParaRPr lang="es-CL" sz="2000" dirty="0"/>
          </a:p>
        </p:txBody>
      </p:sp>
      <p:sp>
        <p:nvSpPr>
          <p:cNvPr id="15" name="Shape 12"/>
          <p:cNvSpPr/>
          <p:nvPr/>
        </p:nvSpPr>
        <p:spPr>
          <a:xfrm>
            <a:off x="2194560" y="3611880"/>
            <a:ext cx="1463040" cy="0"/>
          </a:xfrm>
          <a:prstGeom prst="line">
            <a:avLst/>
          </a:prstGeom>
          <a:noFill/>
          <a:ln w="9525">
            <a:solidFill>
              <a:schemeClr val="tx2"/>
            </a:solidFill>
            <a:prstDash val="solid"/>
          </a:ln>
        </p:spPr>
      </p:sp>
      <p:sp>
        <p:nvSpPr>
          <p:cNvPr id="16" name="Text 13"/>
          <p:cNvSpPr txBox="1"/>
          <p:nvPr/>
        </p:nvSpPr>
        <p:spPr>
          <a:xfrm>
            <a:off x="2194560" y="3685032"/>
            <a:ext cx="1463040"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VÍA LEGAL</a:t>
            </a:r>
            <a:endParaRPr lang="es-CL" sz="1300" dirty="0"/>
          </a:p>
        </p:txBody>
      </p:sp>
      <p:sp>
        <p:nvSpPr>
          <p:cNvPr id="17" name="Text 14"/>
          <p:cNvSpPr txBox="1"/>
          <p:nvPr/>
        </p:nvSpPr>
        <p:spPr>
          <a:xfrm>
            <a:off x="2194560" y="3977640"/>
            <a:ext cx="1463040" cy="384048"/>
          </a:xfrm>
          <a:prstGeom prst="rect">
            <a:avLst/>
          </a:prstGeom>
          <a:noFill/>
          <a:ln/>
        </p:spPr>
        <p:txBody>
          <a:bodyPr wrap="square" lIns="0" tIns="0" rIns="0" bIns="0" rtlCol="0" anchor="ctr"/>
          <a:lstStyle/>
          <a:p>
            <a:pPr indent="0" marL="0">
              <a:buNone/>
            </a:pPr>
            <a:r>
              <a:rPr lang="es-CL" altLang="en-US" sz="2000" b="1" dirty="0">
                <a:solidFill>
                  <a:schemeClr val="tx1"/>
                </a:solidFill>
                <a:latin typeface="Figtree" pitchFamily="34" charset="0"/>
                <a:ea typeface="Figtree" pitchFamily="34" charset="-122"/>
                <a:cs typeface="Figtree" pitchFamily="34" charset="-120"/>
              </a:rPr>
              <a:t>Pendiente</a:t>
            </a:r>
            <a:endParaRPr lang="es-CL" sz="2000" dirty="0"/>
          </a:p>
        </p:txBody>
      </p:sp>
      <p:sp>
        <p:nvSpPr>
          <p:cNvPr id="18" name="Text 15"/>
          <p:cNvSpPr txBox="1"/>
          <p:nvPr/>
        </p:nvSpPr>
        <p:spPr>
          <a:xfrm>
            <a:off x="548640" y="4572000"/>
            <a:ext cx="3108960" cy="1005840"/>
          </a:xfrm>
          <a:prstGeom prst="rect">
            <a:avLst/>
          </a:prstGeom>
          <a:noFill/>
          <a:ln/>
        </p:spPr>
        <p:txBody>
          <a:bodyPr wrap="square" lIns="0" tIns="0" rIns="0" bIns="0" rtlCol="0" anchor="t"/>
          <a:lstStyle/>
          <a:p>
            <a:pPr indent="0" marL="0">
              <a:buNone/>
            </a:pPr>
            <a:r>
              <a:rPr lang="es-CL" altLang="en-US" sz="1700" b="1" dirty="0">
                <a:solidFill>
                  <a:schemeClr val="tx1"/>
                </a:solidFill>
                <a:latin typeface="Figtree" pitchFamily="34" charset="0"/>
                <a:ea typeface="Figtree" pitchFamily="34" charset="-122"/>
                <a:cs typeface="Figtree" pitchFamily="34" charset="-120"/>
              </a:rPr>
              <a:t>Avance 2: </a:t>
            </a:r>
            <a:pPr indent="0" marL="0">
              <a:buNone/>
            </a:pPr>
            <a:r>
              <a:rPr lang="es-CL" altLang="en-US" sz="1700" dirty="0">
                <a:solidFill>
                  <a:schemeClr val="tx2"/>
                </a:solidFill>
                <a:latin typeface="Figtree" pitchFamily="34" charset="0"/>
                <a:ea typeface="Figtree" pitchFamily="34" charset="-122"/>
                <a:cs typeface="Figtree" pitchFamily="34" charset="-120"/>
              </a:rPr>
              <a:t>de las tres brechas a la estrategia, los objetivos y los indicadores.</a:t>
            </a:r>
            <a:endParaRPr lang="es-CL" sz="1700" dirty="0"/>
          </a:p>
        </p:txBody>
      </p:sp>
      <p:sp>
        <p:nvSpPr>
          <p:cNvPr id="19" name="Text 16"/>
          <p:cNvSpPr txBox="1"/>
          <p:nvPr/>
        </p:nvSpPr>
        <p:spPr>
          <a:xfrm>
            <a:off x="548640" y="5806440"/>
            <a:ext cx="4572000" cy="365760"/>
          </a:xfrm>
          <a:prstGeom prst="rect">
            <a:avLst/>
          </a:prstGeom>
          <a:noFill/>
          <a:ln/>
        </p:spPr>
        <p:txBody>
          <a:bodyPr wrap="square" lIns="0" tIns="0" rIns="0" bIns="0" rtlCol="0" anchor="ctr"/>
          <a:lstStyle/>
          <a:p>
            <a:pPr indent="0" marL="0">
              <a:buNone/>
            </a:pPr>
            <a:r>
              <a:rPr lang="es-CL" altLang="en-US" sz="1800" b="1" spc="100" kern="0" dirty="0">
                <a:solidFill>
                  <a:schemeClr val="accent1"/>
                </a:solidFill>
                <a:latin typeface="IBM Plex Mono" pitchFamily="34" charset="0"/>
                <a:ea typeface="IBM Plex Mono" pitchFamily="34" charset="-122"/>
                <a:cs typeface="IBM Plex Mono" pitchFamily="34" charset="-120"/>
              </a:rPr>
              <a:t>GRACIAS · ¿PREGUNTAS?</a:t>
            </a:r>
            <a:endParaRPr lang="es-CL" sz="1800" dirty="0"/>
          </a:p>
        </p:txBody>
      </p:sp>
      <p:sp>
        <p:nvSpPr>
          <p:cNvPr id="20" name="Text 17"/>
          <p:cNvSpPr txBox="1"/>
          <p:nvPr/>
        </p:nvSpPr>
        <p:spPr>
          <a:xfrm>
            <a:off x="548640" y="6217920"/>
            <a:ext cx="640080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DIEGO ALARCÓN · BENJAMÍN TORRES · LUKAS VERDUGO</a:t>
            </a:r>
            <a:endParaRPr lang="es-CL"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MATERIAL DE APOYO · NO SE EXPONE</a:t>
            </a:r>
            <a:endParaRPr lang="en-US" sz="1300" dirty="0"/>
          </a:p>
        </p:txBody>
      </p:sp>
      <p:sp>
        <p:nvSpPr>
          <p:cNvPr id="3"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ANEXO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para preguntas.</a:t>
            </a:r>
            <a:endParaRPr lang="en-US" sz="3400" dirty="0"/>
          </a:p>
        </p:txBody>
      </p:sp>
      <p:sp>
        <p:nvSpPr>
          <p:cNvPr id="4" name="Text 2"/>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Este anexo no se expone. Cada tema enlaza a su lámina y cada lámina vuelve a este índice.</a:t>
            </a:r>
            <a:endParaRPr lang="es-CL" sz="1200" dirty="0"/>
          </a:p>
        </p:txBody>
      </p:sp>
      <p:sp>
        <p:nvSpPr>
          <p:cNvPr id="5" name="Shape 3"/>
          <p:cNvSpPr/>
          <p:nvPr/>
        </p:nvSpPr>
        <p:spPr>
          <a:xfrm>
            <a:off x="548640" y="2286000"/>
            <a:ext cx="11094415" cy="0"/>
          </a:xfrm>
          <a:prstGeom prst="line">
            <a:avLst/>
          </a:prstGeom>
          <a:noFill/>
          <a:ln w="9525">
            <a:solidFill>
              <a:schemeClr val="accent5"/>
            </a:solidFill>
            <a:prstDash val="solid"/>
          </a:ln>
        </p:spPr>
      </p:sp>
      <p:sp>
        <p:nvSpPr>
          <p:cNvPr id="6" name="Shape 4"/>
          <p:cNvSpPr/>
          <p:nvPr/>
        </p:nvSpPr>
        <p:spPr>
          <a:xfrm>
            <a:off x="548640" y="2313432"/>
            <a:ext cx="566928" cy="237744"/>
          </a:xfrm>
          <a:prstGeom prst="rect">
            <a:avLst/>
          </a:prstGeom>
          <a:solidFill>
            <a:schemeClr val="accent1"/>
          </a:solidFill>
          <a:ln/>
        </p:spPr>
      </p:sp>
      <p:sp>
        <p:nvSpPr>
          <p:cNvPr id="7" name="Text 5"/>
          <p:cNvSpPr txBox="1"/>
          <p:nvPr/>
        </p:nvSpPr>
        <p:spPr>
          <a:xfrm>
            <a:off x="548640" y="2313432"/>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a:t>
            </a:r>
            <a:endParaRPr lang="es-CL" sz="1200" dirty="0"/>
          </a:p>
        </p:txBody>
      </p:sp>
      <p:sp>
        <p:nvSpPr>
          <p:cNvPr id="8" name="Text 6">
            <a:hlinkClick r:id="rId1" tooltip="Ir a ¿Qué escala usa cada matriz y cómo se lee?" action="ppaction://hlinksldjump"/>
          </p:cNvPr>
          <p:cNvSpPr txBox="1"/>
          <p:nvPr/>
        </p:nvSpPr>
        <p:spPr>
          <a:xfrm>
            <a:off x="1280160" y="2286000"/>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1" action="ppaction://hlinksldjump" tooltip="Ir a ¿Qué escala usa cada matriz y cómo se lee?">
                  <a:extLst>
                    <a:ext uri="{A12FA001-AC4F-418D-AE19-62706E023703}">
                      <ahyp:hlinkClr xmlns:ahyp="http://schemas.microsoft.com/office/drawing/2018/hyperlinkcolor" val="tx"/>
                    </a:ext>
                  </a:extLst>
                </a:hlinkClick>
              </a:rPr>
              <a:t>¿Qué escala usa cada matriz y cómo se lee?</a:t>
            </a:r>
            <a:endParaRPr lang="en-US" sz="1600" dirty="0"/>
          </a:p>
        </p:txBody>
      </p:sp>
      <p:sp>
        <p:nvSpPr>
          <p:cNvPr id="9" name="Text 7">
            <a:hlinkClick r:id="rId2" tooltip="Ir a ¿Qué escala usa cada matriz y cómo se lee?" action="ppaction://hlinksldjump"/>
          </p:cNvPr>
          <p:cNvSpPr txBox="1"/>
          <p:nvPr/>
        </p:nvSpPr>
        <p:spPr>
          <a:xfrm>
            <a:off x="10637215" y="2286000"/>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2" action="ppaction://hlinksldjump" tooltip="Ir a ¿Qué escala usa cada matriz y cómo se lee?">
                  <a:extLst>
                    <a:ext uri="{A12FA001-AC4F-418D-AE19-62706E023703}">
                      <ahyp:hlinkClr xmlns:ahyp="http://schemas.microsoft.com/office/drawing/2018/hyperlinkcolor" val="tx"/>
                    </a:ext>
                  </a:extLst>
                </a:hlinkClick>
              </a:rPr>
              <a:t>LÁM. 15</a:t>
            </a:r>
            <a:endParaRPr lang="en-US" sz="1300" dirty="0"/>
          </a:p>
        </p:txBody>
      </p:sp>
      <p:sp>
        <p:nvSpPr>
          <p:cNvPr id="10" name="Shape 8"/>
          <p:cNvSpPr/>
          <p:nvPr/>
        </p:nvSpPr>
        <p:spPr>
          <a:xfrm>
            <a:off x="548640" y="2578608"/>
            <a:ext cx="11094415" cy="0"/>
          </a:xfrm>
          <a:prstGeom prst="line">
            <a:avLst/>
          </a:prstGeom>
          <a:noFill/>
          <a:ln w="9525">
            <a:solidFill>
              <a:schemeClr val="accent5"/>
            </a:solidFill>
            <a:prstDash val="solid"/>
          </a:ln>
        </p:spPr>
      </p:sp>
      <p:sp>
        <p:nvSpPr>
          <p:cNvPr id="11" name="Shape 9"/>
          <p:cNvSpPr/>
          <p:nvPr/>
        </p:nvSpPr>
        <p:spPr>
          <a:xfrm>
            <a:off x="548640" y="2606040"/>
            <a:ext cx="566928" cy="237744"/>
          </a:xfrm>
          <a:prstGeom prst="rect">
            <a:avLst/>
          </a:prstGeom>
          <a:solidFill>
            <a:schemeClr val="accent1"/>
          </a:solidFill>
          <a:ln/>
        </p:spPr>
      </p:sp>
      <p:sp>
        <p:nvSpPr>
          <p:cNvPr id="12" name="Text 10"/>
          <p:cNvSpPr txBox="1"/>
          <p:nvPr/>
        </p:nvSpPr>
        <p:spPr>
          <a:xfrm>
            <a:off x="548640" y="2606040"/>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A2</a:t>
            </a:r>
            <a:endParaRPr lang="es-CL" sz="1200" dirty="0"/>
          </a:p>
        </p:txBody>
      </p:sp>
      <p:sp>
        <p:nvSpPr>
          <p:cNvPr id="13" name="Text 11">
            <a:hlinkClick r:id="rId3" tooltip="Ir a ¿Qué hay detrás del 2,82 del PEST?" action="ppaction://hlinksldjump"/>
          </p:cNvPr>
          <p:cNvSpPr txBox="1"/>
          <p:nvPr/>
        </p:nvSpPr>
        <p:spPr>
          <a:xfrm>
            <a:off x="1280160" y="2578608"/>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3" action="ppaction://hlinksldjump" tooltip="Ir a ¿Qué hay detrás del 2,82 del PEST?">
                  <a:extLst>
                    <a:ext uri="{A12FA001-AC4F-418D-AE19-62706E023703}">
                      <ahyp:hlinkClr xmlns:ahyp="http://schemas.microsoft.com/office/drawing/2018/hyperlinkcolor" val="tx"/>
                    </a:ext>
                  </a:extLst>
                </a:hlinkClick>
              </a:rPr>
              <a:t>¿Qué hay detrás del 2,82 del PEST?</a:t>
            </a:r>
            <a:endParaRPr lang="en-US" sz="1600" dirty="0"/>
          </a:p>
        </p:txBody>
      </p:sp>
      <p:sp>
        <p:nvSpPr>
          <p:cNvPr id="14" name="Text 12">
            <a:hlinkClick r:id="rId4" tooltip="Ir a ¿Qué hay detrás del 2,82 del PEST?" action="ppaction://hlinksldjump"/>
          </p:cNvPr>
          <p:cNvSpPr txBox="1"/>
          <p:nvPr/>
        </p:nvSpPr>
        <p:spPr>
          <a:xfrm>
            <a:off x="10637215" y="2578608"/>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4" action="ppaction://hlinksldjump" tooltip="Ir a ¿Qué hay detrás del 2,82 del PEST?">
                  <a:extLst>
                    <a:ext uri="{A12FA001-AC4F-418D-AE19-62706E023703}">
                      <ahyp:hlinkClr xmlns:ahyp="http://schemas.microsoft.com/office/drawing/2018/hyperlinkcolor" val="tx"/>
                    </a:ext>
                  </a:extLst>
                </a:hlinkClick>
              </a:rPr>
              <a:t>LÁM. 16</a:t>
            </a:r>
            <a:endParaRPr lang="en-US" sz="1300" dirty="0"/>
          </a:p>
        </p:txBody>
      </p:sp>
      <p:sp>
        <p:nvSpPr>
          <p:cNvPr id="15" name="Shape 13"/>
          <p:cNvSpPr/>
          <p:nvPr/>
        </p:nvSpPr>
        <p:spPr>
          <a:xfrm>
            <a:off x="548640" y="2871216"/>
            <a:ext cx="11094415" cy="0"/>
          </a:xfrm>
          <a:prstGeom prst="line">
            <a:avLst/>
          </a:prstGeom>
          <a:noFill/>
          <a:ln w="9525">
            <a:solidFill>
              <a:schemeClr val="accent5"/>
            </a:solidFill>
            <a:prstDash val="solid"/>
          </a:ln>
        </p:spPr>
      </p:sp>
      <p:sp>
        <p:nvSpPr>
          <p:cNvPr id="16" name="Shape 14"/>
          <p:cNvSpPr/>
          <p:nvPr/>
        </p:nvSpPr>
        <p:spPr>
          <a:xfrm>
            <a:off x="548640" y="2898648"/>
            <a:ext cx="566928" cy="237744"/>
          </a:xfrm>
          <a:prstGeom prst="rect">
            <a:avLst/>
          </a:prstGeom>
          <a:solidFill>
            <a:schemeClr val="accent1"/>
          </a:solidFill>
          <a:ln/>
        </p:spPr>
      </p:sp>
      <p:sp>
        <p:nvSpPr>
          <p:cNvPr id="17" name="Text 15"/>
          <p:cNvSpPr txBox="1"/>
          <p:nvPr/>
        </p:nvSpPr>
        <p:spPr>
          <a:xfrm>
            <a:off x="548640" y="2898648"/>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A3</a:t>
            </a:r>
            <a:endParaRPr lang="es-CL" sz="1200" dirty="0"/>
          </a:p>
        </p:txBody>
      </p:sp>
      <p:sp>
        <p:nvSpPr>
          <p:cNvPr id="18" name="Text 16">
            <a:hlinkClick r:id="rId5" tooltip="Ir a ¿Cómo se calcula el 3,49 de Porter?" action="ppaction://hlinksldjump"/>
          </p:cNvPr>
          <p:cNvSpPr txBox="1"/>
          <p:nvPr/>
        </p:nvSpPr>
        <p:spPr>
          <a:xfrm>
            <a:off x="1280160" y="2871216"/>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5" action="ppaction://hlinksldjump" tooltip="Ir a ¿Cómo se calcula el 3,49 de Porter?">
                  <a:extLst>
                    <a:ext uri="{A12FA001-AC4F-418D-AE19-62706E023703}">
                      <ahyp:hlinkClr xmlns:ahyp="http://schemas.microsoft.com/office/drawing/2018/hyperlinkcolor" val="tx"/>
                    </a:ext>
                  </a:extLst>
                </a:hlinkClick>
              </a:rPr>
              <a:t>¿Cómo se calcula el 3,49 de Porter?</a:t>
            </a:r>
            <a:endParaRPr lang="en-US" sz="1600" dirty="0"/>
          </a:p>
        </p:txBody>
      </p:sp>
      <p:sp>
        <p:nvSpPr>
          <p:cNvPr id="19" name="Text 17">
            <a:hlinkClick r:id="rId6" tooltip="Ir a ¿Cómo se calcula el 3,49 de Porter?" action="ppaction://hlinksldjump"/>
          </p:cNvPr>
          <p:cNvSpPr txBox="1"/>
          <p:nvPr/>
        </p:nvSpPr>
        <p:spPr>
          <a:xfrm>
            <a:off x="10637215" y="2871216"/>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6" action="ppaction://hlinksldjump" tooltip="Ir a ¿Cómo se calcula el 3,49 de Porter?">
                  <a:extLst>
                    <a:ext uri="{A12FA001-AC4F-418D-AE19-62706E023703}">
                      <ahyp:hlinkClr xmlns:ahyp="http://schemas.microsoft.com/office/drawing/2018/hyperlinkcolor" val="tx"/>
                    </a:ext>
                  </a:extLst>
                </a:hlinkClick>
              </a:rPr>
              <a:t>LÁM. 17</a:t>
            </a:r>
            <a:endParaRPr lang="en-US" sz="1300" dirty="0"/>
          </a:p>
        </p:txBody>
      </p:sp>
      <p:sp>
        <p:nvSpPr>
          <p:cNvPr id="20" name="Shape 18"/>
          <p:cNvSpPr/>
          <p:nvPr/>
        </p:nvSpPr>
        <p:spPr>
          <a:xfrm>
            <a:off x="548640" y="3163824"/>
            <a:ext cx="11094415" cy="0"/>
          </a:xfrm>
          <a:prstGeom prst="line">
            <a:avLst/>
          </a:prstGeom>
          <a:noFill/>
          <a:ln w="9525">
            <a:solidFill>
              <a:schemeClr val="accent5"/>
            </a:solidFill>
            <a:prstDash val="solid"/>
          </a:ln>
        </p:spPr>
      </p:sp>
      <p:sp>
        <p:nvSpPr>
          <p:cNvPr id="21" name="Shape 19"/>
          <p:cNvSpPr/>
          <p:nvPr/>
        </p:nvSpPr>
        <p:spPr>
          <a:xfrm>
            <a:off x="548640" y="3191256"/>
            <a:ext cx="566928" cy="237744"/>
          </a:xfrm>
          <a:prstGeom prst="rect">
            <a:avLst/>
          </a:prstGeom>
          <a:solidFill>
            <a:schemeClr val="accent1"/>
          </a:solidFill>
          <a:ln/>
        </p:spPr>
      </p:sp>
      <p:sp>
        <p:nvSpPr>
          <p:cNvPr id="22" name="Text 20"/>
          <p:cNvSpPr txBox="1"/>
          <p:nvPr/>
        </p:nvSpPr>
        <p:spPr>
          <a:xfrm>
            <a:off x="548640" y="3191256"/>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A4</a:t>
            </a:r>
            <a:endParaRPr lang="es-CL" sz="1200" dirty="0"/>
          </a:p>
        </p:txBody>
      </p:sp>
      <p:sp>
        <p:nvSpPr>
          <p:cNvPr id="23" name="Text 21">
            <a:hlinkClick r:id="rId7" tooltip="Ir a ¿Cuáles son los factores críticos del entorno?" action="ppaction://hlinksldjump"/>
          </p:cNvPr>
          <p:cNvSpPr txBox="1"/>
          <p:nvPr/>
        </p:nvSpPr>
        <p:spPr>
          <a:xfrm>
            <a:off x="1280160" y="3163824"/>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7" action="ppaction://hlinksldjump" tooltip="Ir a ¿Cuáles son los factores críticos del entorno?">
                  <a:extLst>
                    <a:ext uri="{A12FA001-AC4F-418D-AE19-62706E023703}">
                      <ahyp:hlinkClr xmlns:ahyp="http://schemas.microsoft.com/office/drawing/2018/hyperlinkcolor" val="tx"/>
                    </a:ext>
                  </a:extLst>
                </a:hlinkClick>
              </a:rPr>
              <a:t>¿Cuáles son los factores críticos del entorno?</a:t>
            </a:r>
            <a:endParaRPr lang="en-US" sz="1600" dirty="0"/>
          </a:p>
        </p:txBody>
      </p:sp>
      <p:sp>
        <p:nvSpPr>
          <p:cNvPr id="24" name="Text 22">
            <a:hlinkClick r:id="rId8" tooltip="Ir a ¿Cuáles son los factores críticos del entorno?" action="ppaction://hlinksldjump"/>
          </p:cNvPr>
          <p:cNvSpPr txBox="1"/>
          <p:nvPr/>
        </p:nvSpPr>
        <p:spPr>
          <a:xfrm>
            <a:off x="10637215" y="3163824"/>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8" action="ppaction://hlinksldjump" tooltip="Ir a ¿Cuáles son los factores críticos del entorno?">
                  <a:extLst>
                    <a:ext uri="{A12FA001-AC4F-418D-AE19-62706E023703}">
                      <ahyp:hlinkClr xmlns:ahyp="http://schemas.microsoft.com/office/drawing/2018/hyperlinkcolor" val="tx"/>
                    </a:ext>
                  </a:extLst>
                </a:hlinkClick>
              </a:rPr>
              <a:t>LÁM. 18</a:t>
            </a:r>
            <a:endParaRPr lang="en-US" sz="1300" dirty="0"/>
          </a:p>
        </p:txBody>
      </p:sp>
      <p:sp>
        <p:nvSpPr>
          <p:cNvPr id="25" name="Shape 23"/>
          <p:cNvSpPr/>
          <p:nvPr/>
        </p:nvSpPr>
        <p:spPr>
          <a:xfrm>
            <a:off x="548640" y="3456432"/>
            <a:ext cx="11094415" cy="0"/>
          </a:xfrm>
          <a:prstGeom prst="line">
            <a:avLst/>
          </a:prstGeom>
          <a:noFill/>
          <a:ln w="9525">
            <a:solidFill>
              <a:schemeClr val="accent5"/>
            </a:solidFill>
            <a:prstDash val="solid"/>
          </a:ln>
        </p:spPr>
      </p:sp>
      <p:sp>
        <p:nvSpPr>
          <p:cNvPr id="26" name="Shape 24"/>
          <p:cNvSpPr/>
          <p:nvPr/>
        </p:nvSpPr>
        <p:spPr>
          <a:xfrm>
            <a:off x="548640" y="3483864"/>
            <a:ext cx="566928" cy="237744"/>
          </a:xfrm>
          <a:prstGeom prst="rect">
            <a:avLst/>
          </a:prstGeom>
          <a:solidFill>
            <a:schemeClr val="accent1"/>
          </a:solidFill>
          <a:ln/>
        </p:spPr>
      </p:sp>
      <p:sp>
        <p:nvSpPr>
          <p:cNvPr id="27" name="Text 25"/>
          <p:cNvSpPr txBox="1"/>
          <p:nvPr/>
        </p:nvSpPr>
        <p:spPr>
          <a:xfrm>
            <a:off x="548640" y="3483864"/>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A5</a:t>
            </a:r>
            <a:endParaRPr lang="es-CL" sz="1200" dirty="0"/>
          </a:p>
        </p:txBody>
      </p:sp>
      <p:sp>
        <p:nvSpPr>
          <p:cNvPr id="28" name="Text 26">
            <a:hlinkClick r:id="rId9" tooltip="Ir a ¿Cómo se clasificaron los 15 recursos y capacidades?" action="ppaction://hlinksldjump"/>
          </p:cNvPr>
          <p:cNvSpPr txBox="1"/>
          <p:nvPr/>
        </p:nvSpPr>
        <p:spPr>
          <a:xfrm>
            <a:off x="1280160" y="3456432"/>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9" action="ppaction://hlinksldjump" tooltip="Ir a ¿Cómo se clasificaron los 15 recursos y capacidades?">
                  <a:extLst>
                    <a:ext uri="{A12FA001-AC4F-418D-AE19-62706E023703}">
                      <ahyp:hlinkClr xmlns:ahyp="http://schemas.microsoft.com/office/drawing/2018/hyperlinkcolor" val="tx"/>
                    </a:ext>
                  </a:extLst>
                </a:hlinkClick>
              </a:rPr>
              <a:t>¿Cómo se clasificaron los 15 recursos y capacidades?</a:t>
            </a:r>
            <a:endParaRPr lang="en-US" sz="1600" dirty="0"/>
          </a:p>
        </p:txBody>
      </p:sp>
      <p:sp>
        <p:nvSpPr>
          <p:cNvPr id="29" name="Text 27">
            <a:hlinkClick r:id="rId10" tooltip="Ir a ¿Cómo se clasificaron los 15 recursos y capacidades?" action="ppaction://hlinksldjump"/>
          </p:cNvPr>
          <p:cNvSpPr txBox="1"/>
          <p:nvPr/>
        </p:nvSpPr>
        <p:spPr>
          <a:xfrm>
            <a:off x="10637215" y="3456432"/>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10" action="ppaction://hlinksldjump" tooltip="Ir a ¿Cómo se clasificaron los 15 recursos y capacidades?">
                  <a:extLst>
                    <a:ext uri="{A12FA001-AC4F-418D-AE19-62706E023703}">
                      <ahyp:hlinkClr xmlns:ahyp="http://schemas.microsoft.com/office/drawing/2018/hyperlinkcolor" val="tx"/>
                    </a:ext>
                  </a:extLst>
                </a:hlinkClick>
              </a:rPr>
              <a:t>LÁM. 19</a:t>
            </a:r>
            <a:endParaRPr lang="en-US" sz="1300" dirty="0"/>
          </a:p>
        </p:txBody>
      </p:sp>
      <p:sp>
        <p:nvSpPr>
          <p:cNvPr id="30" name="Shape 28"/>
          <p:cNvSpPr/>
          <p:nvPr/>
        </p:nvSpPr>
        <p:spPr>
          <a:xfrm>
            <a:off x="548640" y="3749040"/>
            <a:ext cx="11094415" cy="0"/>
          </a:xfrm>
          <a:prstGeom prst="line">
            <a:avLst/>
          </a:prstGeom>
          <a:noFill/>
          <a:ln w="9525">
            <a:solidFill>
              <a:schemeClr val="accent5"/>
            </a:solidFill>
            <a:prstDash val="solid"/>
          </a:ln>
        </p:spPr>
      </p:sp>
      <p:sp>
        <p:nvSpPr>
          <p:cNvPr id="31" name="Shape 29"/>
          <p:cNvSpPr/>
          <p:nvPr/>
        </p:nvSpPr>
        <p:spPr>
          <a:xfrm>
            <a:off x="548640" y="3776472"/>
            <a:ext cx="566928" cy="237744"/>
          </a:xfrm>
          <a:prstGeom prst="rect">
            <a:avLst/>
          </a:prstGeom>
          <a:solidFill>
            <a:schemeClr val="accent1"/>
          </a:solidFill>
          <a:ln/>
        </p:spPr>
      </p:sp>
      <p:sp>
        <p:nvSpPr>
          <p:cNvPr id="32" name="Text 30"/>
          <p:cNvSpPr txBox="1"/>
          <p:nvPr/>
        </p:nvSpPr>
        <p:spPr>
          <a:xfrm>
            <a:off x="548640" y="3776472"/>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A6</a:t>
            </a:r>
            <a:endParaRPr lang="es-CL" sz="1200" dirty="0"/>
          </a:p>
        </p:txBody>
      </p:sp>
      <p:sp>
        <p:nvSpPr>
          <p:cNvPr id="33" name="Text 31">
            <a:hlinkClick r:id="rId11" tooltip="Ir a ¿Qué factores críticos de éxito y con qué puntaje?" action="ppaction://hlinksldjump"/>
          </p:cNvPr>
          <p:cNvSpPr txBox="1"/>
          <p:nvPr/>
        </p:nvSpPr>
        <p:spPr>
          <a:xfrm>
            <a:off x="1280160" y="3749040"/>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11" action="ppaction://hlinksldjump" tooltip="Ir a ¿Qué factores críticos de éxito y con qué puntaje?">
                  <a:extLst>
                    <a:ext uri="{A12FA001-AC4F-418D-AE19-62706E023703}">
                      <ahyp:hlinkClr xmlns:ahyp="http://schemas.microsoft.com/office/drawing/2018/hyperlinkcolor" val="tx"/>
                    </a:ext>
                  </a:extLst>
                </a:hlinkClick>
              </a:rPr>
              <a:t>¿Qué factores críticos de éxito y con qué puntaje?</a:t>
            </a:r>
            <a:endParaRPr lang="en-US" sz="1600" dirty="0"/>
          </a:p>
        </p:txBody>
      </p:sp>
      <p:sp>
        <p:nvSpPr>
          <p:cNvPr id="34" name="Text 32">
            <a:hlinkClick r:id="rId12" tooltip="Ir a ¿Qué factores críticos de éxito y con qué puntaje?" action="ppaction://hlinksldjump"/>
          </p:cNvPr>
          <p:cNvSpPr txBox="1"/>
          <p:nvPr/>
        </p:nvSpPr>
        <p:spPr>
          <a:xfrm>
            <a:off x="10637215" y="3749040"/>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12" action="ppaction://hlinksldjump" tooltip="Ir a ¿Qué factores críticos de éxito y con qué puntaje?">
                  <a:extLst>
                    <a:ext uri="{A12FA001-AC4F-418D-AE19-62706E023703}">
                      <ahyp:hlinkClr xmlns:ahyp="http://schemas.microsoft.com/office/drawing/2018/hyperlinkcolor" val="tx"/>
                    </a:ext>
                  </a:extLst>
                </a:hlinkClick>
              </a:rPr>
              <a:t>LÁM. 20</a:t>
            </a:r>
            <a:endParaRPr lang="en-US" sz="1300" dirty="0"/>
          </a:p>
        </p:txBody>
      </p:sp>
      <p:sp>
        <p:nvSpPr>
          <p:cNvPr id="35" name="Shape 33"/>
          <p:cNvSpPr/>
          <p:nvPr/>
        </p:nvSpPr>
        <p:spPr>
          <a:xfrm>
            <a:off x="548640" y="4041648"/>
            <a:ext cx="11094415" cy="0"/>
          </a:xfrm>
          <a:prstGeom prst="line">
            <a:avLst/>
          </a:prstGeom>
          <a:noFill/>
          <a:ln w="9525">
            <a:solidFill>
              <a:schemeClr val="accent5"/>
            </a:solidFill>
            <a:prstDash val="solid"/>
          </a:ln>
        </p:spPr>
      </p:sp>
      <p:sp>
        <p:nvSpPr>
          <p:cNvPr id="36" name="Shape 34"/>
          <p:cNvSpPr/>
          <p:nvPr/>
        </p:nvSpPr>
        <p:spPr>
          <a:xfrm>
            <a:off x="548640" y="4069080"/>
            <a:ext cx="566928" cy="237744"/>
          </a:xfrm>
          <a:prstGeom prst="rect">
            <a:avLst/>
          </a:prstGeom>
          <a:solidFill>
            <a:schemeClr val="accent1"/>
          </a:solidFill>
          <a:ln/>
        </p:spPr>
      </p:sp>
      <p:sp>
        <p:nvSpPr>
          <p:cNvPr id="37" name="Text 35"/>
          <p:cNvSpPr txBox="1"/>
          <p:nvPr/>
        </p:nvSpPr>
        <p:spPr>
          <a:xfrm>
            <a:off x="548640" y="4069080"/>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A7</a:t>
            </a:r>
            <a:endParaRPr lang="es-CL" sz="1200" dirty="0"/>
          </a:p>
        </p:txBody>
      </p:sp>
      <p:sp>
        <p:nvSpPr>
          <p:cNvPr id="38" name="Text 36">
            <a:hlinkClick r:id="rId13" tooltip="Ir a ¿Qué cruces deja el FODA para el Avance 2?" action="ppaction://hlinksldjump"/>
          </p:cNvPr>
          <p:cNvSpPr txBox="1"/>
          <p:nvPr/>
        </p:nvSpPr>
        <p:spPr>
          <a:xfrm>
            <a:off x="1280160" y="4041648"/>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13" action="ppaction://hlinksldjump" tooltip="Ir a ¿Qué cruces deja el FODA para el Avance 2?">
                  <a:extLst>
                    <a:ext uri="{A12FA001-AC4F-418D-AE19-62706E023703}">
                      <ahyp:hlinkClr xmlns:ahyp="http://schemas.microsoft.com/office/drawing/2018/hyperlinkcolor" val="tx"/>
                    </a:ext>
                  </a:extLst>
                </a:hlinkClick>
              </a:rPr>
              <a:t>¿Qué cruces deja el FODA para el Avance 2?</a:t>
            </a:r>
            <a:endParaRPr lang="en-US" sz="1600" dirty="0"/>
          </a:p>
        </p:txBody>
      </p:sp>
      <p:sp>
        <p:nvSpPr>
          <p:cNvPr id="39" name="Text 37">
            <a:hlinkClick r:id="rId14" tooltip="Ir a ¿Qué cruces deja el FODA para el Avance 2?" action="ppaction://hlinksldjump"/>
          </p:cNvPr>
          <p:cNvSpPr txBox="1"/>
          <p:nvPr/>
        </p:nvSpPr>
        <p:spPr>
          <a:xfrm>
            <a:off x="10637215" y="4041648"/>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14" action="ppaction://hlinksldjump" tooltip="Ir a ¿Qué cruces deja el FODA para el Avance 2?">
                  <a:extLst>
                    <a:ext uri="{A12FA001-AC4F-418D-AE19-62706E023703}">
                      <ahyp:hlinkClr xmlns:ahyp="http://schemas.microsoft.com/office/drawing/2018/hyperlinkcolor" val="tx"/>
                    </a:ext>
                  </a:extLst>
                </a:hlinkClick>
              </a:rPr>
              <a:t>LÁM. 21</a:t>
            </a:r>
            <a:endParaRPr lang="en-US" sz="1300" dirty="0"/>
          </a:p>
        </p:txBody>
      </p:sp>
      <p:sp>
        <p:nvSpPr>
          <p:cNvPr id="40" name="Shape 38"/>
          <p:cNvSpPr/>
          <p:nvPr/>
        </p:nvSpPr>
        <p:spPr>
          <a:xfrm>
            <a:off x="548640" y="4334256"/>
            <a:ext cx="11094415" cy="0"/>
          </a:xfrm>
          <a:prstGeom prst="line">
            <a:avLst/>
          </a:prstGeom>
          <a:noFill/>
          <a:ln w="9525">
            <a:solidFill>
              <a:schemeClr val="accent5"/>
            </a:solidFill>
            <a:prstDash val="solid"/>
          </a:ln>
        </p:spPr>
      </p:sp>
      <p:sp>
        <p:nvSpPr>
          <p:cNvPr id="41" name="Shape 39"/>
          <p:cNvSpPr/>
          <p:nvPr/>
        </p:nvSpPr>
        <p:spPr>
          <a:xfrm>
            <a:off x="548640" y="4361688"/>
            <a:ext cx="566928" cy="237744"/>
          </a:xfrm>
          <a:prstGeom prst="rect">
            <a:avLst/>
          </a:prstGeom>
          <a:solidFill>
            <a:schemeClr val="accent1"/>
          </a:solidFill>
          <a:ln/>
        </p:spPr>
      </p:sp>
      <p:sp>
        <p:nvSpPr>
          <p:cNvPr id="42" name="Text 40"/>
          <p:cNvSpPr txBox="1"/>
          <p:nvPr/>
        </p:nvSpPr>
        <p:spPr>
          <a:xfrm>
            <a:off x="548640" y="4361688"/>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A8</a:t>
            </a:r>
            <a:endParaRPr lang="es-CL" sz="1200" dirty="0"/>
          </a:p>
        </p:txBody>
      </p:sp>
      <p:sp>
        <p:nvSpPr>
          <p:cNvPr id="43" name="Text 41">
            <a:hlinkClick r:id="rId15" tooltip="Ir a ¿Cuánto podría ahorrar un conductor y qué dicen las entrevistas?" action="ppaction://hlinksldjump"/>
          </p:cNvPr>
          <p:cNvSpPr txBox="1"/>
          <p:nvPr/>
        </p:nvSpPr>
        <p:spPr>
          <a:xfrm>
            <a:off x="1280160" y="4334256"/>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15" action="ppaction://hlinksldjump" tooltip="Ir a ¿Cuánto podría ahorrar un conductor y qué dicen las entrevistas?">
                  <a:extLst>
                    <a:ext uri="{A12FA001-AC4F-418D-AE19-62706E023703}">
                      <ahyp:hlinkClr xmlns:ahyp="http://schemas.microsoft.com/office/drawing/2018/hyperlinkcolor" val="tx"/>
                    </a:ext>
                  </a:extLst>
                </a:hlinkClick>
              </a:rPr>
              <a:t>¿Cuánto podría ahorrar un conductor y qué dicen las entrevistas?</a:t>
            </a:r>
            <a:endParaRPr lang="en-US" sz="1600" dirty="0"/>
          </a:p>
        </p:txBody>
      </p:sp>
      <p:sp>
        <p:nvSpPr>
          <p:cNvPr id="44" name="Text 42">
            <a:hlinkClick r:id="rId16" tooltip="Ir a ¿Cuánto podría ahorrar un conductor y qué dicen las entrevistas?" action="ppaction://hlinksldjump"/>
          </p:cNvPr>
          <p:cNvSpPr txBox="1"/>
          <p:nvPr/>
        </p:nvSpPr>
        <p:spPr>
          <a:xfrm>
            <a:off x="10637215" y="4334256"/>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16" action="ppaction://hlinksldjump" tooltip="Ir a ¿Cuánto podría ahorrar un conductor y qué dicen las entrevistas?">
                  <a:extLst>
                    <a:ext uri="{A12FA001-AC4F-418D-AE19-62706E023703}">
                      <ahyp:hlinkClr xmlns:ahyp="http://schemas.microsoft.com/office/drawing/2018/hyperlinkcolor" val="tx"/>
                    </a:ext>
                  </a:extLst>
                </a:hlinkClick>
              </a:rPr>
              <a:t>LÁM. 22</a:t>
            </a:r>
            <a:endParaRPr lang="en-US" sz="1300" dirty="0"/>
          </a:p>
        </p:txBody>
      </p:sp>
      <p:sp>
        <p:nvSpPr>
          <p:cNvPr id="45" name="Shape 43"/>
          <p:cNvSpPr/>
          <p:nvPr/>
        </p:nvSpPr>
        <p:spPr>
          <a:xfrm>
            <a:off x="548640" y="4626864"/>
            <a:ext cx="11094415" cy="0"/>
          </a:xfrm>
          <a:prstGeom prst="line">
            <a:avLst/>
          </a:prstGeom>
          <a:noFill/>
          <a:ln w="9525">
            <a:solidFill>
              <a:schemeClr val="accent5"/>
            </a:solidFill>
            <a:prstDash val="solid"/>
          </a:ln>
        </p:spPr>
      </p:sp>
      <p:sp>
        <p:nvSpPr>
          <p:cNvPr id="46" name="Shape 44"/>
          <p:cNvSpPr/>
          <p:nvPr/>
        </p:nvSpPr>
        <p:spPr>
          <a:xfrm>
            <a:off x="548640" y="4654296"/>
            <a:ext cx="566928" cy="237744"/>
          </a:xfrm>
          <a:prstGeom prst="rect">
            <a:avLst/>
          </a:prstGeom>
          <a:solidFill>
            <a:schemeClr val="accent1"/>
          </a:solidFill>
          <a:ln/>
        </p:spPr>
      </p:sp>
      <p:sp>
        <p:nvSpPr>
          <p:cNvPr id="47" name="Text 45"/>
          <p:cNvSpPr txBox="1"/>
          <p:nvPr/>
        </p:nvSpPr>
        <p:spPr>
          <a:xfrm>
            <a:off x="548640" y="4654296"/>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A9</a:t>
            </a:r>
            <a:endParaRPr lang="es-CL" sz="1200" dirty="0"/>
          </a:p>
        </p:txBody>
      </p:sp>
      <p:sp>
        <p:nvSpPr>
          <p:cNvPr id="48" name="Text 46">
            <a:hlinkClick r:id="rId17" tooltip="Ir a Misión, visión y valores, texto literal" action="ppaction://hlinksldjump"/>
          </p:cNvPr>
          <p:cNvSpPr txBox="1"/>
          <p:nvPr/>
        </p:nvSpPr>
        <p:spPr>
          <a:xfrm>
            <a:off x="1280160" y="4626864"/>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17" action="ppaction://hlinksldjump" tooltip="Ir a Misión, visión y valores, texto literal">
                  <a:extLst>
                    <a:ext uri="{A12FA001-AC4F-418D-AE19-62706E023703}">
                      <ahyp:hlinkClr xmlns:ahyp="http://schemas.microsoft.com/office/drawing/2018/hyperlinkcolor" val="tx"/>
                    </a:ext>
                  </a:extLst>
                </a:hlinkClick>
              </a:rPr>
              <a:t>Misión, visión y valores, texto literal</a:t>
            </a:r>
            <a:endParaRPr lang="en-US" sz="1600" dirty="0"/>
          </a:p>
        </p:txBody>
      </p:sp>
      <p:sp>
        <p:nvSpPr>
          <p:cNvPr id="49" name="Text 47">
            <a:hlinkClick r:id="rId18" tooltip="Ir a Misión, visión y valores, texto literal" action="ppaction://hlinksldjump"/>
          </p:cNvPr>
          <p:cNvSpPr txBox="1"/>
          <p:nvPr/>
        </p:nvSpPr>
        <p:spPr>
          <a:xfrm>
            <a:off x="10637215" y="4626864"/>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18" action="ppaction://hlinksldjump" tooltip="Ir a Misión, visión y valores, texto literal">
                  <a:extLst>
                    <a:ext uri="{A12FA001-AC4F-418D-AE19-62706E023703}">
                      <ahyp:hlinkClr xmlns:ahyp="http://schemas.microsoft.com/office/drawing/2018/hyperlinkcolor" val="tx"/>
                    </a:ext>
                  </a:extLst>
                </a:hlinkClick>
              </a:rPr>
              <a:t>LÁM. 23</a:t>
            </a:r>
            <a:endParaRPr lang="en-US" sz="1300" dirty="0"/>
          </a:p>
        </p:txBody>
      </p:sp>
      <p:sp>
        <p:nvSpPr>
          <p:cNvPr id="50" name="Shape 48"/>
          <p:cNvSpPr/>
          <p:nvPr/>
        </p:nvSpPr>
        <p:spPr>
          <a:xfrm>
            <a:off x="548640" y="4919472"/>
            <a:ext cx="11094415" cy="0"/>
          </a:xfrm>
          <a:prstGeom prst="line">
            <a:avLst/>
          </a:prstGeom>
          <a:noFill/>
          <a:ln w="9525">
            <a:solidFill>
              <a:schemeClr val="accent5"/>
            </a:solidFill>
            <a:prstDash val="solid"/>
          </a:ln>
        </p:spPr>
      </p:sp>
      <p:sp>
        <p:nvSpPr>
          <p:cNvPr id="51" name="Shape 49"/>
          <p:cNvSpPr/>
          <p:nvPr/>
        </p:nvSpPr>
        <p:spPr>
          <a:xfrm>
            <a:off x="548640" y="4946904"/>
            <a:ext cx="566928" cy="237744"/>
          </a:xfrm>
          <a:prstGeom prst="rect">
            <a:avLst/>
          </a:prstGeom>
          <a:solidFill>
            <a:schemeClr val="accent1"/>
          </a:solidFill>
          <a:ln/>
        </p:spPr>
      </p:sp>
      <p:sp>
        <p:nvSpPr>
          <p:cNvPr id="52" name="Text 50"/>
          <p:cNvSpPr txBox="1"/>
          <p:nvPr/>
        </p:nvSpPr>
        <p:spPr>
          <a:xfrm>
            <a:off x="548640" y="4946904"/>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A10</a:t>
            </a:r>
            <a:endParaRPr lang="es-CL" sz="1200" dirty="0"/>
          </a:p>
        </p:txBody>
      </p:sp>
      <p:sp>
        <p:nvSpPr>
          <p:cNvPr id="53" name="Text 51">
            <a:hlinkClick r:id="rId19" tooltip="Ir a ¿Qué es dato, qué es estimación y qué falta?" action="ppaction://hlinksldjump"/>
          </p:cNvPr>
          <p:cNvSpPr txBox="1"/>
          <p:nvPr/>
        </p:nvSpPr>
        <p:spPr>
          <a:xfrm>
            <a:off x="1280160" y="4919472"/>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19" action="ppaction://hlinksldjump" tooltip="Ir a ¿Qué es dato, qué es estimación y qué falta?">
                  <a:extLst>
                    <a:ext uri="{A12FA001-AC4F-418D-AE19-62706E023703}">
                      <ahyp:hlinkClr xmlns:ahyp="http://schemas.microsoft.com/office/drawing/2018/hyperlinkcolor" val="tx"/>
                    </a:ext>
                  </a:extLst>
                </a:hlinkClick>
              </a:rPr>
              <a:t>¿Qué es dato, qué es estimación y qué falta?</a:t>
            </a:r>
            <a:endParaRPr lang="en-US" sz="1600" dirty="0"/>
          </a:p>
        </p:txBody>
      </p:sp>
      <p:sp>
        <p:nvSpPr>
          <p:cNvPr id="54" name="Text 52">
            <a:hlinkClick r:id="rId20" tooltip="Ir a ¿Qué es dato, qué es estimación y qué falta?" action="ppaction://hlinksldjump"/>
          </p:cNvPr>
          <p:cNvSpPr txBox="1"/>
          <p:nvPr/>
        </p:nvSpPr>
        <p:spPr>
          <a:xfrm>
            <a:off x="10637215" y="4919472"/>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20" action="ppaction://hlinksldjump" tooltip="Ir a ¿Qué es dato, qué es estimación y qué falta?">
                  <a:extLst>
                    <a:ext uri="{A12FA001-AC4F-418D-AE19-62706E023703}">
                      <ahyp:hlinkClr xmlns:ahyp="http://schemas.microsoft.com/office/drawing/2018/hyperlinkcolor" val="tx"/>
                    </a:ext>
                  </a:extLst>
                </a:hlinkClick>
              </a:rPr>
              <a:t>LÁM. 24</a:t>
            </a:r>
            <a:endParaRPr lang="en-US" sz="1300" dirty="0"/>
          </a:p>
        </p:txBody>
      </p:sp>
      <p:sp>
        <p:nvSpPr>
          <p:cNvPr id="55" name="Shape 53"/>
          <p:cNvSpPr/>
          <p:nvPr/>
        </p:nvSpPr>
        <p:spPr>
          <a:xfrm>
            <a:off x="548640" y="5212080"/>
            <a:ext cx="11094415" cy="0"/>
          </a:xfrm>
          <a:prstGeom prst="line">
            <a:avLst/>
          </a:prstGeom>
          <a:noFill/>
          <a:ln w="9525">
            <a:solidFill>
              <a:schemeClr val="accent5"/>
            </a:solidFill>
            <a:prstDash val="solid"/>
          </a:ln>
        </p:spPr>
      </p:sp>
      <p:sp>
        <p:nvSpPr>
          <p:cNvPr id="56" name="Shape 54"/>
          <p:cNvSpPr/>
          <p:nvPr/>
        </p:nvSpPr>
        <p:spPr>
          <a:xfrm>
            <a:off x="548640" y="5239512"/>
            <a:ext cx="566928" cy="237744"/>
          </a:xfrm>
          <a:prstGeom prst="rect">
            <a:avLst/>
          </a:prstGeom>
          <a:solidFill>
            <a:schemeClr val="accent1"/>
          </a:solidFill>
          <a:ln/>
        </p:spPr>
      </p:sp>
      <p:sp>
        <p:nvSpPr>
          <p:cNvPr id="57" name="Text 55"/>
          <p:cNvSpPr txBox="1"/>
          <p:nvPr/>
        </p:nvSpPr>
        <p:spPr>
          <a:xfrm>
            <a:off x="548640" y="5239512"/>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A11</a:t>
            </a:r>
            <a:endParaRPr lang="es-CL" sz="1200" dirty="0"/>
          </a:p>
        </p:txBody>
      </p:sp>
      <p:sp>
        <p:nvSpPr>
          <p:cNvPr id="58" name="Text 56">
            <a:hlinkClick r:id="rId21" tooltip="Ir a ¿Dónde está cada lámina en el informe?" action="ppaction://hlinksldjump"/>
          </p:cNvPr>
          <p:cNvSpPr txBox="1"/>
          <p:nvPr/>
        </p:nvSpPr>
        <p:spPr>
          <a:xfrm>
            <a:off x="1280160" y="5212080"/>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21" action="ppaction://hlinksldjump" tooltip="Ir a ¿Dónde está cada lámina en el informe?">
                  <a:extLst>
                    <a:ext uri="{A12FA001-AC4F-418D-AE19-62706E023703}">
                      <ahyp:hlinkClr xmlns:ahyp="http://schemas.microsoft.com/office/drawing/2018/hyperlinkcolor" val="tx"/>
                    </a:ext>
                  </a:extLst>
                </a:hlinkClick>
              </a:rPr>
              <a:t>¿Dónde está cada lámina en el informe?</a:t>
            </a:r>
            <a:endParaRPr lang="en-US" sz="1600" dirty="0"/>
          </a:p>
        </p:txBody>
      </p:sp>
      <p:sp>
        <p:nvSpPr>
          <p:cNvPr id="59" name="Text 57">
            <a:hlinkClick r:id="rId22" tooltip="Ir a ¿Dónde está cada lámina en el informe?" action="ppaction://hlinksldjump"/>
          </p:cNvPr>
          <p:cNvSpPr txBox="1"/>
          <p:nvPr/>
        </p:nvSpPr>
        <p:spPr>
          <a:xfrm>
            <a:off x="10637215" y="5212080"/>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22" action="ppaction://hlinksldjump" tooltip="Ir a ¿Dónde está cada lámina en el informe?">
                  <a:extLst>
                    <a:ext uri="{A12FA001-AC4F-418D-AE19-62706E023703}">
                      <ahyp:hlinkClr xmlns:ahyp="http://schemas.microsoft.com/office/drawing/2018/hyperlinkcolor" val="tx"/>
                    </a:ext>
                  </a:extLst>
                </a:hlinkClick>
              </a:rPr>
              <a:t>LÁM. 25</a:t>
            </a:r>
            <a:endParaRPr lang="en-US" sz="1300" dirty="0"/>
          </a:p>
        </p:txBody>
      </p:sp>
      <p:sp>
        <p:nvSpPr>
          <p:cNvPr id="60" name="Shape 58"/>
          <p:cNvSpPr/>
          <p:nvPr/>
        </p:nvSpPr>
        <p:spPr>
          <a:xfrm>
            <a:off x="548640" y="5504688"/>
            <a:ext cx="11094415" cy="0"/>
          </a:xfrm>
          <a:prstGeom prst="line">
            <a:avLst/>
          </a:prstGeom>
          <a:noFill/>
          <a:ln w="9525">
            <a:solidFill>
              <a:schemeClr val="accent5"/>
            </a:solidFill>
            <a:prstDash val="solid"/>
          </a:ln>
        </p:spPr>
      </p:sp>
      <p:sp>
        <p:nvSpPr>
          <p:cNvPr id="61" name="Shape 59"/>
          <p:cNvSpPr/>
          <p:nvPr/>
        </p:nvSpPr>
        <p:spPr>
          <a:xfrm>
            <a:off x="548640" y="5532120"/>
            <a:ext cx="566928" cy="237744"/>
          </a:xfrm>
          <a:prstGeom prst="rect">
            <a:avLst/>
          </a:prstGeom>
          <a:solidFill>
            <a:schemeClr val="accent1"/>
          </a:solidFill>
          <a:ln/>
        </p:spPr>
      </p:sp>
      <p:sp>
        <p:nvSpPr>
          <p:cNvPr id="62" name="Text 60"/>
          <p:cNvSpPr txBox="1"/>
          <p:nvPr/>
        </p:nvSpPr>
        <p:spPr>
          <a:xfrm>
            <a:off x="548640" y="5532120"/>
            <a:ext cx="566928" cy="237744"/>
          </a:xfrm>
          <a:prstGeom prst="rect">
            <a:avLst/>
          </a:prstGeom>
          <a:noFill/>
          <a:ln/>
        </p:spPr>
        <p:txBody>
          <a:bodyPr wrap="square" lIns="0" tIns="0" rIns="0" bIns="0" rtlCol="0" anchor="ctr"/>
          <a:lstStyle/>
          <a:p>
            <a:pPr algn="ctr" indent="0" marL="0">
              <a:buNone/>
            </a:pPr>
            <a:r>
              <a:rPr lang="es-CL" altLang="en-US" sz="1200" b="1" dirty="0">
                <a:solidFill>
                  <a:schemeClr val="bg1"/>
                </a:solidFill>
                <a:latin typeface="IBM Plex Mono" pitchFamily="34" charset="0"/>
                <a:ea typeface="IBM Plex Mono" pitchFamily="34" charset="-122"/>
                <a:cs typeface="IBM Plex Mono" pitchFamily="34" charset="-120"/>
              </a:rPr>
              <a:t>A12</a:t>
            </a:r>
            <a:endParaRPr lang="es-CL" sz="1200" dirty="0"/>
          </a:p>
        </p:txBody>
      </p:sp>
      <p:sp>
        <p:nvSpPr>
          <p:cNvPr id="63" name="Text 61">
            <a:hlinkClick r:id="rId23" tooltip="Ir a Bibliografía (APA)" action="ppaction://hlinksldjump"/>
          </p:cNvPr>
          <p:cNvSpPr txBox="1"/>
          <p:nvPr/>
        </p:nvSpPr>
        <p:spPr>
          <a:xfrm>
            <a:off x="1280160" y="5504688"/>
            <a:ext cx="9265615" cy="292608"/>
          </a:xfrm>
          <a:prstGeom prst="rect">
            <a:avLst/>
          </a:prstGeom>
          <a:noFill/>
          <a:ln/>
        </p:spPr>
        <p:txBody>
          <a:bodyPr wrap="square" lIns="0" tIns="0" rIns="0" bIns="0" rtlCol="0" anchor="ctr"/>
          <a:lstStyle/>
          <a:p>
            <a:pPr indent="0" marL="0">
              <a:buNone/>
            </a:pPr>
            <a:r>
              <a:rPr lang="en-US" sz="1600" u="sng" dirty="0">
                <a:solidFill>
                  <a:srgbClr val="FFFFFF"/>
                </a:solidFill>
                <a:latin typeface="Figtree" pitchFamily="34" charset="0"/>
                <a:ea typeface="Figtree" pitchFamily="34" charset="-122"/>
                <a:cs typeface="Figtree" pitchFamily="34" charset="-120"/>
                <a:hlinkClick r:id="rId23" action="ppaction://hlinksldjump" tooltip="Ir a Bibliografía (APA)">
                  <a:extLst>
                    <a:ext uri="{A12FA001-AC4F-418D-AE19-62706E023703}">
                      <ahyp:hlinkClr xmlns:ahyp="http://schemas.microsoft.com/office/drawing/2018/hyperlinkcolor" val="tx"/>
                    </a:ext>
                  </a:extLst>
                </a:hlinkClick>
              </a:rPr>
              <a:t>Bibliografía (APA)</a:t>
            </a:r>
            <a:endParaRPr lang="en-US" sz="1600" dirty="0"/>
          </a:p>
        </p:txBody>
      </p:sp>
      <p:sp>
        <p:nvSpPr>
          <p:cNvPr id="64" name="Text 62">
            <a:hlinkClick r:id="rId24" tooltip="Ir a Bibliografía (APA)" action="ppaction://hlinksldjump"/>
          </p:cNvPr>
          <p:cNvSpPr txBox="1"/>
          <p:nvPr/>
        </p:nvSpPr>
        <p:spPr>
          <a:xfrm>
            <a:off x="10637215" y="5504688"/>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24" action="ppaction://hlinksldjump" tooltip="Ir a Bibliografía (APA)">
                  <a:extLst>
                    <a:ext uri="{A12FA001-AC4F-418D-AE19-62706E023703}">
                      <ahyp:hlinkClr xmlns:ahyp="http://schemas.microsoft.com/office/drawing/2018/hyperlinkcolor" val="tx"/>
                    </a:ext>
                  </a:extLst>
                </a:hlinkClick>
              </a:rPr>
              <a:t>LÁM. 26</a:t>
            </a:r>
            <a:endParaRPr lang="en-US" sz="1300" dirty="0"/>
          </a:p>
        </p:txBody>
      </p:sp>
      <p:sp>
        <p:nvSpPr>
          <p:cNvPr id="65" name="Shape 63"/>
          <p:cNvSpPr/>
          <p:nvPr/>
        </p:nvSpPr>
        <p:spPr>
          <a:xfrm>
            <a:off x="548640" y="5797296"/>
            <a:ext cx="11094415" cy="0"/>
          </a:xfrm>
          <a:prstGeom prst="line">
            <a:avLst/>
          </a:prstGeom>
          <a:noFill/>
          <a:ln w="9525">
            <a:solidFill>
              <a:schemeClr val="accent5"/>
            </a:solidFill>
            <a:prstDash val="solid"/>
          </a:ln>
        </p:spPr>
      </p:sp>
      <p:sp>
        <p:nvSpPr>
          <p:cNvPr id="66" name="Shape 64"/>
          <p:cNvSpPr/>
          <p:nvPr/>
        </p:nvSpPr>
        <p:spPr>
          <a:xfrm>
            <a:off x="548640" y="5824728"/>
            <a:ext cx="566928" cy="237744"/>
          </a:xfrm>
          <a:prstGeom prst="rect">
            <a:avLst/>
          </a:prstGeom>
          <a:solidFill>
            <a:schemeClr val="accent5"/>
          </a:solidFill>
          <a:ln/>
        </p:spPr>
      </p:sp>
      <p:sp>
        <p:nvSpPr>
          <p:cNvPr id="67" name="Text 65"/>
          <p:cNvSpPr txBox="1"/>
          <p:nvPr/>
        </p:nvSpPr>
        <p:spPr>
          <a:xfrm>
            <a:off x="548640" y="5824728"/>
            <a:ext cx="566928" cy="237744"/>
          </a:xfrm>
          <a:prstGeom prst="rect">
            <a:avLst/>
          </a:prstGeom>
          <a:noFill/>
          <a:ln/>
        </p:spPr>
        <p:txBody>
          <a:bodyPr wrap="square" lIns="0" tIns="0" rIns="0" bIns="0" rtlCol="0" anchor="ctr"/>
          <a:lstStyle/>
          <a:p>
            <a:pPr algn="ctr" indent="0" marL="0">
              <a:buNone/>
            </a:pPr>
            <a:r>
              <a:rPr lang="es-CL" altLang="en-US" sz="1200" b="1" dirty="0">
                <a:solidFill>
                  <a:schemeClr val="tx1"/>
                </a:solidFill>
                <a:latin typeface="IBM Plex Mono" pitchFamily="34" charset="0"/>
                <a:ea typeface="IBM Plex Mono" pitchFamily="34" charset="-122"/>
                <a:cs typeface="IBM Plex Mono" pitchFamily="34" charset="-120"/>
              </a:rPr>
              <a:t>A13</a:t>
            </a:r>
            <a:endParaRPr lang="es-CL" sz="1200" dirty="0"/>
          </a:p>
        </p:txBody>
      </p:sp>
      <p:sp>
        <p:nvSpPr>
          <p:cNvPr id="68" name="Text 66">
            <a:hlinkClick r:id="rId25" tooltip="Ir a Respaldo para el Avance 2: CMI preliminar" action="ppaction://hlinksldjump"/>
          </p:cNvPr>
          <p:cNvSpPr txBox="1"/>
          <p:nvPr/>
        </p:nvSpPr>
        <p:spPr>
          <a:xfrm>
            <a:off x="1280160" y="5797296"/>
            <a:ext cx="9265615" cy="292608"/>
          </a:xfrm>
          <a:prstGeom prst="rect">
            <a:avLst/>
          </a:prstGeom>
          <a:noFill/>
          <a:ln/>
        </p:spPr>
        <p:txBody>
          <a:bodyPr wrap="square" lIns="0" tIns="0" rIns="0" bIns="0" rtlCol="0" anchor="ctr"/>
          <a:lstStyle/>
          <a:p>
            <a:pPr indent="0" marL="0">
              <a:buNone/>
            </a:pPr>
            <a:r>
              <a:rPr lang="en-US" sz="1600" u="sng" dirty="0">
                <a:solidFill>
                  <a:srgbClr val="9AA8B6"/>
                </a:solidFill>
                <a:latin typeface="Figtree" pitchFamily="34" charset="0"/>
                <a:ea typeface="Figtree" pitchFamily="34" charset="-122"/>
                <a:cs typeface="Figtree" pitchFamily="34" charset="-120"/>
                <a:hlinkClick r:id="rId25" action="ppaction://hlinksldjump" tooltip="Ir a Respaldo para el Avance 2: CMI preliminar">
                  <a:extLst>
                    <a:ext uri="{A12FA001-AC4F-418D-AE19-62706E023703}">
                      <ahyp:hlinkClr xmlns:ahyp="http://schemas.microsoft.com/office/drawing/2018/hyperlinkcolor" val="tx"/>
                    </a:ext>
                  </a:extLst>
                </a:hlinkClick>
              </a:rPr>
              <a:t>Respaldo para el Avance 2: CMI preliminar</a:t>
            </a:r>
            <a:endParaRPr lang="en-US" sz="1600" dirty="0"/>
          </a:p>
        </p:txBody>
      </p:sp>
      <p:sp>
        <p:nvSpPr>
          <p:cNvPr id="69" name="Text 67">
            <a:hlinkClick r:id="rId26" tooltip="Ir a Respaldo para el Avance 2: CMI preliminar" action="ppaction://hlinksldjump"/>
          </p:cNvPr>
          <p:cNvSpPr txBox="1"/>
          <p:nvPr/>
        </p:nvSpPr>
        <p:spPr>
          <a:xfrm>
            <a:off x="10637215" y="5797296"/>
            <a:ext cx="1005840" cy="292608"/>
          </a:xfrm>
          <a:prstGeom prst="rect">
            <a:avLst/>
          </a:prstGeom>
          <a:noFill/>
          <a:ln/>
        </p:spPr>
        <p:txBody>
          <a:bodyPr wrap="square" lIns="0" tIns="0" rIns="0" bIns="0" rtlCol="0" anchor="ctr"/>
          <a:lstStyle/>
          <a:p>
            <a:pPr algn="r" indent="0" marL="0">
              <a:buNone/>
            </a:pPr>
            <a:r>
              <a:rPr lang="en-US" sz="1300" u="sng" spc="100" kern="0" dirty="0">
                <a:solidFill>
                  <a:srgbClr val="12AAE9"/>
                </a:solidFill>
                <a:latin typeface="IBM Plex Mono" pitchFamily="34" charset="0"/>
                <a:ea typeface="IBM Plex Mono" pitchFamily="34" charset="-122"/>
                <a:cs typeface="IBM Plex Mono" pitchFamily="34" charset="-120"/>
                <a:hlinkClick r:id="rId26" action="ppaction://hlinksldjump" tooltip="Ir a Respaldo para el Avance 2: CMI preliminar">
                  <a:extLst>
                    <a:ext uri="{A12FA001-AC4F-418D-AE19-62706E023703}">
                      <ahyp:hlinkClr xmlns:ahyp="http://schemas.microsoft.com/office/drawing/2018/hyperlinkcolor" val="tx"/>
                    </a:ext>
                  </a:extLst>
                </a:hlinkClick>
              </a:rPr>
              <a:t>LÁM. 27</a:t>
            </a:r>
            <a:endParaRPr lang="en-US" sz="1300" dirty="0"/>
          </a:p>
        </p:txBody>
      </p:sp>
      <p:sp>
        <p:nvSpPr>
          <p:cNvPr id="70" name="Shape 68"/>
          <p:cNvSpPr/>
          <p:nvPr/>
        </p:nvSpPr>
        <p:spPr>
          <a:xfrm>
            <a:off x="548640" y="6089904"/>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A1</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MÉTODO · ESCALAS DE CADA MATRIZ</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CADA MATRIZ TIENE SU ESCALA: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así se leen.</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Fuentes: instrumentos 02, 03, 05 y 06 del equipo; Francés (2006); Porter (1985, 2008); Hitt, Ireland y Hoskisson.</a:t>
            </a:r>
            <a:endParaRPr lang="es-CL" sz="1200" dirty="0"/>
          </a:p>
        </p:txBody>
      </p:sp>
      <p:sp>
        <p:nvSpPr>
          <p:cNvPr id="6" name="Text 4"/>
          <p:cNvSpPr txBox="1"/>
          <p:nvPr/>
        </p:nvSpPr>
        <p:spPr>
          <a:xfrm>
            <a:off x="548640" y="2395728"/>
            <a:ext cx="27432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INSTRUMENTO</a:t>
            </a:r>
            <a:endParaRPr lang="es-CL" sz="1200" dirty="0"/>
          </a:p>
        </p:txBody>
      </p:sp>
      <p:sp>
        <p:nvSpPr>
          <p:cNvPr id="7" name="Text 5"/>
          <p:cNvSpPr txBox="1"/>
          <p:nvPr/>
        </p:nvSpPr>
        <p:spPr>
          <a:xfrm>
            <a:off x="3291840" y="2395728"/>
            <a:ext cx="27432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ESCALA</a:t>
            </a:r>
            <a:endParaRPr lang="es-CL" sz="1200" dirty="0"/>
          </a:p>
        </p:txBody>
      </p:sp>
      <p:sp>
        <p:nvSpPr>
          <p:cNvPr id="8" name="Text 6"/>
          <p:cNvSpPr txBox="1"/>
          <p:nvPr/>
        </p:nvSpPr>
        <p:spPr>
          <a:xfrm>
            <a:off x="6035040" y="2395728"/>
            <a:ext cx="35661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CÓMO SE LEE</a:t>
            </a:r>
            <a:endParaRPr lang="es-CL" sz="1200" dirty="0"/>
          </a:p>
        </p:txBody>
      </p:sp>
      <p:sp>
        <p:nvSpPr>
          <p:cNvPr id="9" name="Text 7"/>
          <p:cNvSpPr txBox="1"/>
          <p:nvPr/>
        </p:nvSpPr>
        <p:spPr>
          <a:xfrm>
            <a:off x="9601200" y="2395728"/>
            <a:ext cx="20418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RESULTADO</a:t>
            </a:r>
            <a:endParaRPr lang="es-CL" sz="1200" dirty="0"/>
          </a:p>
        </p:txBody>
      </p:sp>
      <p:sp>
        <p:nvSpPr>
          <p:cNvPr id="10" name="Shape 8"/>
          <p:cNvSpPr/>
          <p:nvPr/>
        </p:nvSpPr>
        <p:spPr>
          <a:xfrm>
            <a:off x="548640" y="2706624"/>
            <a:ext cx="11094415" cy="0"/>
          </a:xfrm>
          <a:prstGeom prst="line">
            <a:avLst/>
          </a:prstGeom>
          <a:noFill/>
          <a:ln w="9525">
            <a:solidFill>
              <a:schemeClr val="accent1"/>
            </a:solidFill>
            <a:prstDash val="solid"/>
          </a:ln>
        </p:spPr>
      </p:sp>
      <p:sp>
        <p:nvSpPr>
          <p:cNvPr id="11" name="Text 9"/>
          <p:cNvSpPr txBox="1"/>
          <p:nvPr/>
        </p:nvSpPr>
        <p:spPr>
          <a:xfrm>
            <a:off x="548640" y="2706624"/>
            <a:ext cx="2606040" cy="62179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PEST (03) · Francés</a:t>
            </a:r>
            <a:endParaRPr lang="es-CL" sz="1600" dirty="0"/>
          </a:p>
        </p:txBody>
      </p:sp>
      <p:sp>
        <p:nvSpPr>
          <p:cNvPr id="12" name="Text 10"/>
          <p:cNvSpPr txBox="1"/>
          <p:nvPr/>
        </p:nvSpPr>
        <p:spPr>
          <a:xfrm>
            <a:off x="3291840" y="2706624"/>
            <a:ext cx="260604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 a 5 por factor; 3 = neutro</a:t>
            </a:r>
            <a:endParaRPr lang="es-CL" sz="1600" dirty="0"/>
          </a:p>
        </p:txBody>
      </p:sp>
      <p:sp>
        <p:nvSpPr>
          <p:cNvPr id="13" name="Text 11"/>
          <p:cNvSpPr txBox="1"/>
          <p:nvPr/>
        </p:nvSpPr>
        <p:spPr>
          <a:xfrm>
            <a:off x="6035040" y="2706624"/>
            <a:ext cx="342900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Bajo 3, entorno desfavorable</a:t>
            </a:r>
            <a:endParaRPr lang="es-CL" sz="1600" dirty="0"/>
          </a:p>
        </p:txBody>
      </p:sp>
      <p:sp>
        <p:nvSpPr>
          <p:cNvPr id="14" name="Text 12"/>
          <p:cNvSpPr txBox="1"/>
          <p:nvPr/>
        </p:nvSpPr>
        <p:spPr>
          <a:xfrm>
            <a:off x="9601200" y="2706624"/>
            <a:ext cx="1904695"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2,82 hoy · 2,99 futuro</a:t>
            </a:r>
            <a:endParaRPr lang="es-CL" sz="1600" dirty="0"/>
          </a:p>
        </p:txBody>
      </p:sp>
      <p:sp>
        <p:nvSpPr>
          <p:cNvPr id="15" name="Shape 13"/>
          <p:cNvSpPr/>
          <p:nvPr/>
        </p:nvSpPr>
        <p:spPr>
          <a:xfrm>
            <a:off x="548640" y="3328416"/>
            <a:ext cx="11094415" cy="0"/>
          </a:xfrm>
          <a:prstGeom prst="line">
            <a:avLst/>
          </a:prstGeom>
          <a:noFill/>
          <a:ln w="9525">
            <a:solidFill>
              <a:schemeClr val="accent5"/>
            </a:solidFill>
            <a:prstDash val="solid"/>
          </a:ln>
        </p:spPr>
      </p:sp>
      <p:sp>
        <p:nvSpPr>
          <p:cNvPr id="16" name="Text 14"/>
          <p:cNvSpPr txBox="1"/>
          <p:nvPr/>
        </p:nvSpPr>
        <p:spPr>
          <a:xfrm>
            <a:off x="548640" y="3328416"/>
            <a:ext cx="2606040" cy="62179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Cinco fuerzas (02) · Porter</a:t>
            </a:r>
            <a:endParaRPr lang="es-CL" sz="1600" dirty="0"/>
          </a:p>
        </p:txBody>
      </p:sp>
      <p:sp>
        <p:nvSpPr>
          <p:cNvPr id="17" name="Text 15"/>
          <p:cNvSpPr txBox="1"/>
          <p:nvPr/>
        </p:nvSpPr>
        <p:spPr>
          <a:xfrm>
            <a:off x="3291840" y="3328416"/>
            <a:ext cx="260604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0 a 5 por fuerza, ponderado</a:t>
            </a:r>
            <a:endParaRPr lang="es-CL" sz="1600" dirty="0"/>
          </a:p>
        </p:txBody>
      </p:sp>
      <p:sp>
        <p:nvSpPr>
          <p:cNvPr id="18" name="Text 16"/>
          <p:cNvSpPr txBox="1"/>
          <p:nvPr/>
        </p:nvSpPr>
        <p:spPr>
          <a:xfrm>
            <a:off x="6035040" y="3328416"/>
            <a:ext cx="342900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5 = fuerza más intensa: industria menos atractiva</a:t>
            </a:r>
            <a:endParaRPr lang="es-CL" sz="1600" dirty="0"/>
          </a:p>
        </p:txBody>
      </p:sp>
      <p:sp>
        <p:nvSpPr>
          <p:cNvPr id="19" name="Text 17"/>
          <p:cNvSpPr txBox="1"/>
          <p:nvPr/>
        </p:nvSpPr>
        <p:spPr>
          <a:xfrm>
            <a:off x="9601200" y="3328416"/>
            <a:ext cx="1904695"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3,49</a:t>
            </a:r>
            <a:endParaRPr lang="es-CL" sz="1600" dirty="0"/>
          </a:p>
        </p:txBody>
      </p:sp>
      <p:sp>
        <p:nvSpPr>
          <p:cNvPr id="20" name="Shape 18"/>
          <p:cNvSpPr/>
          <p:nvPr/>
        </p:nvSpPr>
        <p:spPr>
          <a:xfrm>
            <a:off x="548640" y="3950208"/>
            <a:ext cx="11094415" cy="0"/>
          </a:xfrm>
          <a:prstGeom prst="line">
            <a:avLst/>
          </a:prstGeom>
          <a:noFill/>
          <a:ln w="9525">
            <a:solidFill>
              <a:schemeClr val="accent5"/>
            </a:solidFill>
            <a:prstDash val="solid"/>
          </a:ln>
        </p:spPr>
      </p:sp>
      <p:sp>
        <p:nvSpPr>
          <p:cNvPr id="21" name="Text 19"/>
          <p:cNvSpPr txBox="1"/>
          <p:nvPr/>
        </p:nvSpPr>
        <p:spPr>
          <a:xfrm>
            <a:off x="548640" y="3950208"/>
            <a:ext cx="2606040" cy="62179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Competencias (05) · Hitt</a:t>
            </a:r>
            <a:endParaRPr lang="es-CL" sz="1600" dirty="0"/>
          </a:p>
        </p:txBody>
      </p:sp>
      <p:sp>
        <p:nvSpPr>
          <p:cNvPr id="22" name="Text 20"/>
          <p:cNvSpPr txBox="1"/>
          <p:nvPr/>
        </p:nvSpPr>
        <p:spPr>
          <a:xfrm>
            <a:off x="3291840" y="3950208"/>
            <a:ext cx="260604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Cuatro criterios: V, R, C, I</a:t>
            </a:r>
            <a:endParaRPr lang="es-CL" sz="1600" dirty="0"/>
          </a:p>
        </p:txBody>
      </p:sp>
      <p:sp>
        <p:nvSpPr>
          <p:cNvPr id="23" name="Text 21"/>
          <p:cNvSpPr txBox="1"/>
          <p:nvPr/>
        </p:nvSpPr>
        <p:spPr>
          <a:xfrm>
            <a:off x="6035040" y="3950208"/>
            <a:ext cx="342900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Los cuatro: sostenible; V y R: temporal; solo V: igualdad</a:t>
            </a:r>
            <a:endParaRPr lang="es-CL" sz="1600" dirty="0"/>
          </a:p>
        </p:txBody>
      </p:sp>
      <p:sp>
        <p:nvSpPr>
          <p:cNvPr id="24" name="Text 22"/>
          <p:cNvSpPr txBox="1"/>
          <p:nvPr/>
        </p:nvSpPr>
        <p:spPr>
          <a:xfrm>
            <a:off x="9601200" y="3950208"/>
            <a:ext cx="1904695"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2 · 6 · 7 · 0</a:t>
            </a:r>
            <a:endParaRPr lang="es-CL" sz="1600" dirty="0"/>
          </a:p>
        </p:txBody>
      </p:sp>
      <p:sp>
        <p:nvSpPr>
          <p:cNvPr id="25" name="Shape 23"/>
          <p:cNvSpPr/>
          <p:nvPr/>
        </p:nvSpPr>
        <p:spPr>
          <a:xfrm>
            <a:off x="548640" y="4572000"/>
            <a:ext cx="11094415" cy="0"/>
          </a:xfrm>
          <a:prstGeom prst="line">
            <a:avLst/>
          </a:prstGeom>
          <a:noFill/>
          <a:ln w="9525">
            <a:solidFill>
              <a:schemeClr val="accent5"/>
            </a:solidFill>
            <a:prstDash val="solid"/>
          </a:ln>
        </p:spPr>
      </p:sp>
      <p:sp>
        <p:nvSpPr>
          <p:cNvPr id="26" name="Text 24"/>
          <p:cNvSpPr txBox="1"/>
          <p:nvPr/>
        </p:nvSpPr>
        <p:spPr>
          <a:xfrm>
            <a:off x="548640" y="4572000"/>
            <a:ext cx="2606040" cy="62179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Cadena de valor (06) · Porter</a:t>
            </a:r>
            <a:endParaRPr lang="es-CL" sz="1600" dirty="0"/>
          </a:p>
        </p:txBody>
      </p:sp>
      <p:sp>
        <p:nvSpPr>
          <p:cNvPr id="27" name="Text 25"/>
          <p:cNvSpPr txBox="1"/>
          <p:nvPr/>
        </p:nvSpPr>
        <p:spPr>
          <a:xfrm>
            <a:off x="3291840" y="4572000"/>
            <a:ext cx="260604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 a 5 en habilidad y en riesgo</a:t>
            </a:r>
            <a:endParaRPr lang="es-CL" sz="1600" dirty="0"/>
          </a:p>
        </p:txBody>
      </p:sp>
      <p:sp>
        <p:nvSpPr>
          <p:cNvPr id="28" name="Text 26"/>
          <p:cNvSpPr txBox="1"/>
          <p:nvPr/>
        </p:nvSpPr>
        <p:spPr>
          <a:xfrm>
            <a:off x="6035040" y="4572000"/>
            <a:ext cx="342900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En riesgo, un número bajo es riesgo alto</a:t>
            </a:r>
            <a:endParaRPr lang="es-CL" sz="1600" dirty="0"/>
          </a:p>
        </p:txBody>
      </p:sp>
      <p:sp>
        <p:nvSpPr>
          <p:cNvPr id="29" name="Text 27"/>
          <p:cNvSpPr txBox="1"/>
          <p:nvPr/>
        </p:nvSpPr>
        <p:spPr>
          <a:xfrm>
            <a:off x="9601200" y="4572000"/>
            <a:ext cx="1904695"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3,00 · 2,71</a:t>
            </a:r>
            <a:endParaRPr lang="es-CL" sz="1600" dirty="0"/>
          </a:p>
        </p:txBody>
      </p:sp>
      <p:sp>
        <p:nvSpPr>
          <p:cNvPr id="30" name="Shape 28"/>
          <p:cNvSpPr/>
          <p:nvPr/>
        </p:nvSpPr>
        <p:spPr>
          <a:xfrm>
            <a:off x="548640" y="5193792"/>
            <a:ext cx="11094415" cy="0"/>
          </a:xfrm>
          <a:prstGeom prst="line">
            <a:avLst/>
          </a:prstGeom>
          <a:noFill/>
          <a:ln w="9525">
            <a:solidFill>
              <a:schemeClr val="accent5"/>
            </a:solidFill>
            <a:prstDash val="solid"/>
          </a:ln>
        </p:spPr>
      </p:sp>
      <p:sp>
        <p:nvSpPr>
          <p:cNvPr id="31" name="Text 29"/>
          <p:cNvSpPr txBox="1"/>
          <p:nvPr/>
        </p:nvSpPr>
        <p:spPr>
          <a:xfrm>
            <a:off x="548640" y="5193792"/>
            <a:ext cx="2606040" cy="62179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Factores críticos (06) · Francés</a:t>
            </a:r>
            <a:endParaRPr lang="es-CL" sz="1600" dirty="0"/>
          </a:p>
        </p:txBody>
      </p:sp>
      <p:sp>
        <p:nvSpPr>
          <p:cNvPr id="32" name="Text 30"/>
          <p:cNvSpPr txBox="1"/>
          <p:nvPr/>
        </p:nvSpPr>
        <p:spPr>
          <a:xfrm>
            <a:off x="3291840" y="5193792"/>
            <a:ext cx="260604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 a 5 (gran debilidad a gran fortaleza)</a:t>
            </a:r>
            <a:endParaRPr lang="es-CL" sz="1600" dirty="0"/>
          </a:p>
        </p:txBody>
      </p:sp>
      <p:sp>
        <p:nvSpPr>
          <p:cNvPr id="33" name="Text 31"/>
          <p:cNvSpPr txBox="1"/>
          <p:nvPr/>
        </p:nvSpPr>
        <p:spPr>
          <a:xfrm>
            <a:off x="6035040" y="5193792"/>
            <a:ext cx="3429000"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4 = fortaleza leve; 2 = debilidad</a:t>
            </a:r>
            <a:endParaRPr lang="es-CL" sz="1600" dirty="0"/>
          </a:p>
        </p:txBody>
      </p:sp>
      <p:sp>
        <p:nvSpPr>
          <p:cNvPr id="34" name="Text 32"/>
          <p:cNvSpPr txBox="1"/>
          <p:nvPr/>
        </p:nvSpPr>
        <p:spPr>
          <a:xfrm>
            <a:off x="9601200" y="5193792"/>
            <a:ext cx="1904695" cy="62179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de 2 a 4</a:t>
            </a:r>
            <a:endParaRPr lang="es-CL" sz="1600" dirty="0"/>
          </a:p>
        </p:txBody>
      </p:sp>
      <p:sp>
        <p:nvSpPr>
          <p:cNvPr id="35" name="Shape 33"/>
          <p:cNvSpPr/>
          <p:nvPr/>
        </p:nvSpPr>
        <p:spPr>
          <a:xfrm>
            <a:off x="548640" y="5815584"/>
            <a:ext cx="11094415" cy="0"/>
          </a:xfrm>
          <a:prstGeom prst="line">
            <a:avLst/>
          </a:prstGeom>
          <a:noFill/>
          <a:ln w="9525">
            <a:solidFill>
              <a:schemeClr val="accent5"/>
            </a:solidFill>
            <a:prstDash val="solid"/>
          </a:ln>
        </p:spPr>
      </p:sp>
      <p:sp>
        <p:nvSpPr>
          <p:cNvPr id="36" name="Shape 34"/>
          <p:cNvSpPr/>
          <p:nvPr/>
        </p:nvSpPr>
        <p:spPr>
          <a:xfrm>
            <a:off x="548640" y="5870448"/>
            <a:ext cx="6975856" cy="310896"/>
          </a:xfrm>
          <a:prstGeom prst="rect">
            <a:avLst/>
          </a:prstGeom>
          <a:solidFill>
            <a:schemeClr val="bg1">
              <a:alpha val="0"/>
            </a:schemeClr>
          </a:solidFill>
          <a:ln w="12700">
            <a:solidFill>
              <a:schemeClr val="tx1"/>
            </a:solidFill>
            <a:prstDash val="dash"/>
          </a:ln>
        </p:spPr>
      </p:sp>
      <p:sp>
        <p:nvSpPr>
          <p:cNvPr id="37" name="Text 35"/>
          <p:cNvSpPr txBox="1"/>
          <p:nvPr/>
        </p:nvSpPr>
        <p:spPr>
          <a:xfrm>
            <a:off x="658368" y="5870448"/>
            <a:ext cx="6756400" cy="310896"/>
          </a:xfrm>
          <a:prstGeom prst="rect">
            <a:avLst/>
          </a:prstGeom>
          <a:noFill/>
          <a:ln/>
        </p:spPr>
        <p:txBody>
          <a:bodyPr wrap="square" lIns="0" tIns="0" rIns="0" bIns="0" rtlCol="0" anchor="ctr"/>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ESCALAS DE CONTROL DE GESTIÓN · NO COMPARABLES CON INTEGRADOR II</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A2</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PEST · DETALLE</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EL 2,82 EN DETALLE:</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conteo, puntajes y evidencias.</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PEST (03) del análisis estratégico del equipo (Control de Gestión, 2026). Antes de citar una cifra en el informe, agregar su fuente primaria en la bibliografía.</a:t>
            </a:r>
            <a:endParaRPr lang="es-CL" sz="1200" dirty="0"/>
          </a:p>
        </p:txBody>
      </p:sp>
      <p:sp>
        <p:nvSpPr>
          <p:cNvPr id="6" name="Text 4"/>
          <p:cNvSpPr txBox="1"/>
          <p:nvPr/>
        </p:nvSpPr>
        <p:spPr>
          <a:xfrm>
            <a:off x="548640" y="2395728"/>
            <a:ext cx="21031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DIMENSIÓN</a:t>
            </a:r>
            <a:endParaRPr lang="es-CL" sz="1200" dirty="0"/>
          </a:p>
        </p:txBody>
      </p:sp>
      <p:sp>
        <p:nvSpPr>
          <p:cNvPr id="7" name="Text 5"/>
          <p:cNvSpPr txBox="1"/>
          <p:nvPr/>
        </p:nvSpPr>
        <p:spPr>
          <a:xfrm>
            <a:off x="2651760" y="239572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OPORT.</a:t>
            </a:r>
            <a:endParaRPr lang="es-CL" sz="1200" dirty="0"/>
          </a:p>
        </p:txBody>
      </p:sp>
      <p:sp>
        <p:nvSpPr>
          <p:cNvPr id="8" name="Text 6"/>
          <p:cNvSpPr txBox="1"/>
          <p:nvPr/>
        </p:nvSpPr>
        <p:spPr>
          <a:xfrm>
            <a:off x="3566160" y="2395728"/>
            <a:ext cx="10515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NEUTROS</a:t>
            </a:r>
            <a:endParaRPr lang="es-CL" sz="1200" dirty="0"/>
          </a:p>
        </p:txBody>
      </p:sp>
      <p:sp>
        <p:nvSpPr>
          <p:cNvPr id="9" name="Text 7"/>
          <p:cNvSpPr txBox="1"/>
          <p:nvPr/>
        </p:nvSpPr>
        <p:spPr>
          <a:xfrm>
            <a:off x="4617720" y="239572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AMEN.</a:t>
            </a:r>
            <a:endParaRPr lang="es-CL" sz="1200" dirty="0"/>
          </a:p>
        </p:txBody>
      </p:sp>
      <p:sp>
        <p:nvSpPr>
          <p:cNvPr id="10" name="Text 8"/>
          <p:cNvSpPr txBox="1"/>
          <p:nvPr/>
        </p:nvSpPr>
        <p:spPr>
          <a:xfrm>
            <a:off x="5532120" y="2395728"/>
            <a:ext cx="77724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HOY</a:t>
            </a:r>
            <a:endParaRPr lang="es-CL" sz="1200" dirty="0"/>
          </a:p>
        </p:txBody>
      </p:sp>
      <p:sp>
        <p:nvSpPr>
          <p:cNvPr id="11" name="Text 9"/>
          <p:cNvSpPr txBox="1"/>
          <p:nvPr/>
        </p:nvSpPr>
        <p:spPr>
          <a:xfrm>
            <a:off x="6309360" y="2395728"/>
            <a:ext cx="8686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FUTURO</a:t>
            </a:r>
            <a:endParaRPr lang="es-CL" sz="1200" dirty="0"/>
          </a:p>
        </p:txBody>
      </p:sp>
      <p:sp>
        <p:nvSpPr>
          <p:cNvPr id="12" name="Shape 10"/>
          <p:cNvSpPr/>
          <p:nvPr/>
        </p:nvSpPr>
        <p:spPr>
          <a:xfrm>
            <a:off x="548640" y="2706624"/>
            <a:ext cx="11094415" cy="0"/>
          </a:xfrm>
          <a:prstGeom prst="line">
            <a:avLst/>
          </a:prstGeom>
          <a:noFill/>
          <a:ln w="9525">
            <a:solidFill>
              <a:schemeClr val="accent1"/>
            </a:solidFill>
            <a:prstDash val="solid"/>
          </a:ln>
        </p:spPr>
      </p:sp>
      <p:sp>
        <p:nvSpPr>
          <p:cNvPr id="13" name="Text 11"/>
          <p:cNvSpPr txBox="1"/>
          <p:nvPr/>
        </p:nvSpPr>
        <p:spPr>
          <a:xfrm>
            <a:off x="548640" y="2706624"/>
            <a:ext cx="196596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Político-jurídico</a:t>
            </a:r>
            <a:endParaRPr lang="es-CL" sz="1700" dirty="0"/>
          </a:p>
        </p:txBody>
      </p:sp>
      <p:sp>
        <p:nvSpPr>
          <p:cNvPr id="14" name="Text 12"/>
          <p:cNvSpPr txBox="1"/>
          <p:nvPr/>
        </p:nvSpPr>
        <p:spPr>
          <a:xfrm>
            <a:off x="2651760" y="270662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2</a:t>
            </a:r>
            <a:endParaRPr lang="es-CL" sz="1700" dirty="0"/>
          </a:p>
        </p:txBody>
      </p:sp>
      <p:sp>
        <p:nvSpPr>
          <p:cNvPr id="15" name="Text 13"/>
          <p:cNvSpPr txBox="1"/>
          <p:nvPr/>
        </p:nvSpPr>
        <p:spPr>
          <a:xfrm>
            <a:off x="3566160" y="2706624"/>
            <a:ext cx="91440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3</a:t>
            </a:r>
            <a:endParaRPr lang="es-CL" sz="1700" dirty="0"/>
          </a:p>
        </p:txBody>
      </p:sp>
      <p:sp>
        <p:nvSpPr>
          <p:cNvPr id="16" name="Text 14"/>
          <p:cNvSpPr txBox="1"/>
          <p:nvPr/>
        </p:nvSpPr>
        <p:spPr>
          <a:xfrm>
            <a:off x="4617720" y="270662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4</a:t>
            </a:r>
            <a:endParaRPr lang="es-CL" sz="1700" dirty="0"/>
          </a:p>
        </p:txBody>
      </p:sp>
      <p:sp>
        <p:nvSpPr>
          <p:cNvPr id="17" name="Text 15"/>
          <p:cNvSpPr txBox="1"/>
          <p:nvPr/>
        </p:nvSpPr>
        <p:spPr>
          <a:xfrm>
            <a:off x="5532120" y="2706624"/>
            <a:ext cx="64008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accent1"/>
                </a:solidFill>
                <a:latin typeface="Figtree" pitchFamily="34" charset="0"/>
                <a:ea typeface="Figtree" pitchFamily="34" charset="-122"/>
                <a:cs typeface="Figtree" pitchFamily="34" charset="-120"/>
              </a:rPr>
              <a:t>2,67</a:t>
            </a:r>
            <a:endParaRPr lang="es-CL" sz="1700" dirty="0"/>
          </a:p>
        </p:txBody>
      </p:sp>
      <p:sp>
        <p:nvSpPr>
          <p:cNvPr id="18" name="Text 16"/>
          <p:cNvSpPr txBox="1"/>
          <p:nvPr/>
        </p:nvSpPr>
        <p:spPr>
          <a:xfrm>
            <a:off x="6309360" y="2706624"/>
            <a:ext cx="73152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2,78</a:t>
            </a:r>
            <a:endParaRPr lang="es-CL" sz="1700" dirty="0"/>
          </a:p>
        </p:txBody>
      </p:sp>
      <p:sp>
        <p:nvSpPr>
          <p:cNvPr id="19" name="Shape 17"/>
          <p:cNvSpPr/>
          <p:nvPr/>
        </p:nvSpPr>
        <p:spPr>
          <a:xfrm>
            <a:off x="548640" y="3255264"/>
            <a:ext cx="11094415" cy="0"/>
          </a:xfrm>
          <a:prstGeom prst="line">
            <a:avLst/>
          </a:prstGeom>
          <a:noFill/>
          <a:ln w="9525">
            <a:solidFill>
              <a:schemeClr val="accent5"/>
            </a:solidFill>
            <a:prstDash val="solid"/>
          </a:ln>
        </p:spPr>
      </p:sp>
      <p:sp>
        <p:nvSpPr>
          <p:cNvPr id="20" name="Text 18"/>
          <p:cNvSpPr txBox="1"/>
          <p:nvPr/>
        </p:nvSpPr>
        <p:spPr>
          <a:xfrm>
            <a:off x="548640" y="3255264"/>
            <a:ext cx="196596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Económico</a:t>
            </a:r>
            <a:endParaRPr lang="es-CL" sz="1700" dirty="0"/>
          </a:p>
        </p:txBody>
      </p:sp>
      <p:sp>
        <p:nvSpPr>
          <p:cNvPr id="21" name="Text 19"/>
          <p:cNvSpPr txBox="1"/>
          <p:nvPr/>
        </p:nvSpPr>
        <p:spPr>
          <a:xfrm>
            <a:off x="2651760" y="325526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2</a:t>
            </a:r>
            <a:endParaRPr lang="es-CL" sz="1700" dirty="0"/>
          </a:p>
        </p:txBody>
      </p:sp>
      <p:sp>
        <p:nvSpPr>
          <p:cNvPr id="22" name="Text 20"/>
          <p:cNvSpPr txBox="1"/>
          <p:nvPr/>
        </p:nvSpPr>
        <p:spPr>
          <a:xfrm>
            <a:off x="3566160" y="3255264"/>
            <a:ext cx="91440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6</a:t>
            </a:r>
            <a:endParaRPr lang="es-CL" sz="1700" dirty="0"/>
          </a:p>
        </p:txBody>
      </p:sp>
      <p:sp>
        <p:nvSpPr>
          <p:cNvPr id="23" name="Text 21"/>
          <p:cNvSpPr txBox="1"/>
          <p:nvPr/>
        </p:nvSpPr>
        <p:spPr>
          <a:xfrm>
            <a:off x="4617720" y="325526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8</a:t>
            </a:r>
            <a:endParaRPr lang="es-CL" sz="1700" dirty="0"/>
          </a:p>
        </p:txBody>
      </p:sp>
      <p:sp>
        <p:nvSpPr>
          <p:cNvPr id="24" name="Text 22"/>
          <p:cNvSpPr txBox="1"/>
          <p:nvPr/>
        </p:nvSpPr>
        <p:spPr>
          <a:xfrm>
            <a:off x="5532120" y="3255264"/>
            <a:ext cx="64008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accent1"/>
                </a:solidFill>
                <a:latin typeface="Figtree" pitchFamily="34" charset="0"/>
                <a:ea typeface="Figtree" pitchFamily="34" charset="-122"/>
                <a:cs typeface="Figtree" pitchFamily="34" charset="-120"/>
              </a:rPr>
              <a:t>2,38</a:t>
            </a:r>
            <a:endParaRPr lang="es-CL" sz="1700" dirty="0"/>
          </a:p>
        </p:txBody>
      </p:sp>
      <p:sp>
        <p:nvSpPr>
          <p:cNvPr id="25" name="Text 23"/>
          <p:cNvSpPr txBox="1"/>
          <p:nvPr/>
        </p:nvSpPr>
        <p:spPr>
          <a:xfrm>
            <a:off x="6309360" y="3255264"/>
            <a:ext cx="73152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2,81</a:t>
            </a:r>
            <a:endParaRPr lang="es-CL" sz="1700" dirty="0"/>
          </a:p>
        </p:txBody>
      </p:sp>
      <p:sp>
        <p:nvSpPr>
          <p:cNvPr id="26" name="Shape 24"/>
          <p:cNvSpPr/>
          <p:nvPr/>
        </p:nvSpPr>
        <p:spPr>
          <a:xfrm>
            <a:off x="548640" y="3803904"/>
            <a:ext cx="11094415" cy="0"/>
          </a:xfrm>
          <a:prstGeom prst="line">
            <a:avLst/>
          </a:prstGeom>
          <a:noFill/>
          <a:ln w="9525">
            <a:solidFill>
              <a:schemeClr val="accent5"/>
            </a:solidFill>
            <a:prstDash val="solid"/>
          </a:ln>
        </p:spPr>
      </p:sp>
      <p:sp>
        <p:nvSpPr>
          <p:cNvPr id="27" name="Text 25"/>
          <p:cNvSpPr txBox="1"/>
          <p:nvPr/>
        </p:nvSpPr>
        <p:spPr>
          <a:xfrm>
            <a:off x="548640" y="3803904"/>
            <a:ext cx="196596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Sociocultural</a:t>
            </a:r>
            <a:endParaRPr lang="es-CL" sz="1700" dirty="0"/>
          </a:p>
        </p:txBody>
      </p:sp>
      <p:sp>
        <p:nvSpPr>
          <p:cNvPr id="28" name="Text 26"/>
          <p:cNvSpPr txBox="1"/>
          <p:nvPr/>
        </p:nvSpPr>
        <p:spPr>
          <a:xfrm>
            <a:off x="2651760" y="380390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2</a:t>
            </a:r>
            <a:endParaRPr lang="es-CL" sz="1700" dirty="0"/>
          </a:p>
        </p:txBody>
      </p:sp>
      <p:sp>
        <p:nvSpPr>
          <p:cNvPr id="29" name="Text 27"/>
          <p:cNvSpPr txBox="1"/>
          <p:nvPr/>
        </p:nvSpPr>
        <p:spPr>
          <a:xfrm>
            <a:off x="3566160" y="3803904"/>
            <a:ext cx="91440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7</a:t>
            </a:r>
            <a:endParaRPr lang="es-CL" sz="1700" dirty="0"/>
          </a:p>
        </p:txBody>
      </p:sp>
      <p:sp>
        <p:nvSpPr>
          <p:cNvPr id="30" name="Text 28"/>
          <p:cNvSpPr txBox="1"/>
          <p:nvPr/>
        </p:nvSpPr>
        <p:spPr>
          <a:xfrm>
            <a:off x="4617720" y="380390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4</a:t>
            </a:r>
            <a:endParaRPr lang="es-CL" sz="1700" dirty="0"/>
          </a:p>
        </p:txBody>
      </p:sp>
      <p:sp>
        <p:nvSpPr>
          <p:cNvPr id="31" name="Text 29"/>
          <p:cNvSpPr txBox="1"/>
          <p:nvPr/>
        </p:nvSpPr>
        <p:spPr>
          <a:xfrm>
            <a:off x="5532120" y="3803904"/>
            <a:ext cx="64008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accent1"/>
                </a:solidFill>
                <a:latin typeface="Figtree" pitchFamily="34" charset="0"/>
                <a:ea typeface="Figtree" pitchFamily="34" charset="-122"/>
                <a:cs typeface="Figtree" pitchFamily="34" charset="-120"/>
              </a:rPr>
              <a:t>3,00</a:t>
            </a:r>
            <a:endParaRPr lang="es-CL" sz="1700" dirty="0"/>
          </a:p>
        </p:txBody>
      </p:sp>
      <p:sp>
        <p:nvSpPr>
          <p:cNvPr id="32" name="Text 30"/>
          <p:cNvSpPr txBox="1"/>
          <p:nvPr/>
        </p:nvSpPr>
        <p:spPr>
          <a:xfrm>
            <a:off x="6309360" y="3803904"/>
            <a:ext cx="73152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3,00</a:t>
            </a:r>
            <a:endParaRPr lang="es-CL" sz="1700" dirty="0"/>
          </a:p>
        </p:txBody>
      </p:sp>
      <p:sp>
        <p:nvSpPr>
          <p:cNvPr id="33" name="Shape 31"/>
          <p:cNvSpPr/>
          <p:nvPr/>
        </p:nvSpPr>
        <p:spPr>
          <a:xfrm>
            <a:off x="548640" y="4352544"/>
            <a:ext cx="11094415" cy="0"/>
          </a:xfrm>
          <a:prstGeom prst="line">
            <a:avLst/>
          </a:prstGeom>
          <a:noFill/>
          <a:ln w="9525">
            <a:solidFill>
              <a:schemeClr val="accent5"/>
            </a:solidFill>
            <a:prstDash val="solid"/>
          </a:ln>
        </p:spPr>
      </p:sp>
      <p:sp>
        <p:nvSpPr>
          <p:cNvPr id="34" name="Text 32"/>
          <p:cNvSpPr txBox="1"/>
          <p:nvPr/>
        </p:nvSpPr>
        <p:spPr>
          <a:xfrm>
            <a:off x="548640" y="4352544"/>
            <a:ext cx="196596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Tecnológico</a:t>
            </a:r>
            <a:endParaRPr lang="es-CL" sz="1700" dirty="0"/>
          </a:p>
        </p:txBody>
      </p:sp>
      <p:sp>
        <p:nvSpPr>
          <p:cNvPr id="35" name="Text 33"/>
          <p:cNvSpPr txBox="1"/>
          <p:nvPr/>
        </p:nvSpPr>
        <p:spPr>
          <a:xfrm>
            <a:off x="2651760" y="435254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7</a:t>
            </a:r>
            <a:endParaRPr lang="es-CL" sz="1700" dirty="0"/>
          </a:p>
        </p:txBody>
      </p:sp>
      <p:sp>
        <p:nvSpPr>
          <p:cNvPr id="36" name="Text 34"/>
          <p:cNvSpPr txBox="1"/>
          <p:nvPr/>
        </p:nvSpPr>
        <p:spPr>
          <a:xfrm>
            <a:off x="3566160" y="4352544"/>
            <a:ext cx="91440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2</a:t>
            </a:r>
            <a:endParaRPr lang="es-CL" sz="1700" dirty="0"/>
          </a:p>
        </p:txBody>
      </p:sp>
      <p:sp>
        <p:nvSpPr>
          <p:cNvPr id="37" name="Text 35"/>
          <p:cNvSpPr txBox="1"/>
          <p:nvPr/>
        </p:nvSpPr>
        <p:spPr>
          <a:xfrm>
            <a:off x="4617720" y="4352544"/>
            <a:ext cx="77724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4</a:t>
            </a:r>
            <a:endParaRPr lang="es-CL" sz="1700" dirty="0"/>
          </a:p>
        </p:txBody>
      </p:sp>
      <p:sp>
        <p:nvSpPr>
          <p:cNvPr id="38" name="Text 36"/>
          <p:cNvSpPr txBox="1"/>
          <p:nvPr/>
        </p:nvSpPr>
        <p:spPr>
          <a:xfrm>
            <a:off x="5532120" y="4352544"/>
            <a:ext cx="64008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accent1"/>
                </a:solidFill>
                <a:latin typeface="Figtree" pitchFamily="34" charset="0"/>
                <a:ea typeface="Figtree" pitchFamily="34" charset="-122"/>
                <a:cs typeface="Figtree" pitchFamily="34" charset="-120"/>
              </a:rPr>
              <a:t>3,23</a:t>
            </a:r>
            <a:endParaRPr lang="es-CL" sz="1700" dirty="0"/>
          </a:p>
        </p:txBody>
      </p:sp>
      <p:sp>
        <p:nvSpPr>
          <p:cNvPr id="39" name="Text 37"/>
          <p:cNvSpPr txBox="1"/>
          <p:nvPr/>
        </p:nvSpPr>
        <p:spPr>
          <a:xfrm>
            <a:off x="6309360" y="4352544"/>
            <a:ext cx="731520" cy="548640"/>
          </a:xfrm>
          <a:prstGeom prst="rect">
            <a:avLst/>
          </a:prstGeom>
          <a:noFill/>
          <a:ln/>
        </p:spPr>
        <p:txBody>
          <a:bodyPr wrap="square" lIns="0" tIns="0" rIns="0" bIns="0" rtlCol="0" anchor="ctr"/>
          <a:lstStyle/>
          <a:p>
            <a:pPr indent="0" marL="0">
              <a:lnSpc>
                <a:spcPct val="92000"/>
              </a:lnSpc>
              <a:buNone/>
            </a:pPr>
            <a:r>
              <a:rPr lang="es-CL" altLang="en-US" sz="1700" dirty="0">
                <a:solidFill>
                  <a:schemeClr val="tx1"/>
                </a:solidFill>
                <a:latin typeface="Figtree" pitchFamily="34" charset="0"/>
                <a:ea typeface="Figtree" pitchFamily="34" charset="-122"/>
                <a:cs typeface="Figtree" pitchFamily="34" charset="-120"/>
              </a:rPr>
              <a:t>3,38</a:t>
            </a:r>
            <a:endParaRPr lang="es-CL" sz="1700" dirty="0"/>
          </a:p>
        </p:txBody>
      </p:sp>
      <p:sp>
        <p:nvSpPr>
          <p:cNvPr id="40" name="Shape 38"/>
          <p:cNvSpPr/>
          <p:nvPr/>
        </p:nvSpPr>
        <p:spPr>
          <a:xfrm>
            <a:off x="548640" y="4901184"/>
            <a:ext cx="11094415" cy="0"/>
          </a:xfrm>
          <a:prstGeom prst="line">
            <a:avLst/>
          </a:prstGeom>
          <a:noFill/>
          <a:ln w="9525">
            <a:solidFill>
              <a:schemeClr val="accent5"/>
            </a:solidFill>
            <a:prstDash val="solid"/>
          </a:ln>
        </p:spPr>
      </p:sp>
      <p:sp>
        <p:nvSpPr>
          <p:cNvPr id="41" name="Text 39"/>
          <p:cNvSpPr txBox="1"/>
          <p:nvPr/>
        </p:nvSpPr>
        <p:spPr>
          <a:xfrm>
            <a:off x="548640" y="4901184"/>
            <a:ext cx="1965960" cy="548640"/>
          </a:xfrm>
          <a:prstGeom prst="rect">
            <a:avLst/>
          </a:prstGeom>
          <a:noFill/>
          <a:ln/>
        </p:spPr>
        <p:txBody>
          <a:bodyPr wrap="square" lIns="0" tIns="0" rIns="0" bIns="0" rtlCol="0" anchor="ctr"/>
          <a:lstStyle/>
          <a:p>
            <a:pPr indent="0" marL="0">
              <a:lnSpc>
                <a:spcPct val="92000"/>
              </a:lnSpc>
              <a:buNone/>
            </a:pPr>
            <a:r>
              <a:rPr lang="es-CL" altLang="en-US" sz="1700" b="1" dirty="0">
                <a:solidFill>
                  <a:schemeClr val="tx1"/>
                </a:solidFill>
                <a:latin typeface="Figtree" pitchFamily="34" charset="0"/>
                <a:ea typeface="Figtree" pitchFamily="34" charset="-122"/>
                <a:cs typeface="Figtree" pitchFamily="34" charset="-120"/>
              </a:rPr>
              <a:t>Global</a:t>
            </a:r>
            <a:endParaRPr lang="es-CL" sz="1700" dirty="0"/>
          </a:p>
        </p:txBody>
      </p:sp>
      <p:sp>
        <p:nvSpPr>
          <p:cNvPr id="42" name="Text 40"/>
          <p:cNvSpPr txBox="1"/>
          <p:nvPr/>
        </p:nvSpPr>
        <p:spPr>
          <a:xfrm>
            <a:off x="2651760" y="4901184"/>
            <a:ext cx="777240" cy="548640"/>
          </a:xfrm>
          <a:prstGeom prst="rect">
            <a:avLst/>
          </a:prstGeom>
          <a:noFill/>
          <a:ln/>
        </p:spPr>
        <p:txBody>
          <a:bodyPr wrap="square" lIns="0" tIns="0" rIns="0" bIns="0" rtlCol="0" anchor="ctr"/>
          <a:lstStyle/>
          <a:p>
            <a:pPr indent="0" marL="0">
              <a:lnSpc>
                <a:spcPct val="92000"/>
              </a:lnSpc>
              <a:buNone/>
            </a:pPr>
            <a:r>
              <a:rPr lang="es-CL" altLang="en-US" sz="1700" b="1" dirty="0">
                <a:solidFill>
                  <a:schemeClr val="tx1"/>
                </a:solidFill>
                <a:latin typeface="Figtree" pitchFamily="34" charset="0"/>
                <a:ea typeface="Figtree" pitchFamily="34" charset="-122"/>
                <a:cs typeface="Figtree" pitchFamily="34" charset="-120"/>
              </a:rPr>
              <a:t>13</a:t>
            </a:r>
            <a:endParaRPr lang="es-CL" sz="1700" dirty="0"/>
          </a:p>
        </p:txBody>
      </p:sp>
      <p:sp>
        <p:nvSpPr>
          <p:cNvPr id="43" name="Text 41"/>
          <p:cNvSpPr txBox="1"/>
          <p:nvPr/>
        </p:nvSpPr>
        <p:spPr>
          <a:xfrm>
            <a:off x="3566160" y="4901184"/>
            <a:ext cx="914400" cy="548640"/>
          </a:xfrm>
          <a:prstGeom prst="rect">
            <a:avLst/>
          </a:prstGeom>
          <a:noFill/>
          <a:ln/>
        </p:spPr>
        <p:txBody>
          <a:bodyPr wrap="square" lIns="0" tIns="0" rIns="0" bIns="0" rtlCol="0" anchor="ctr"/>
          <a:lstStyle/>
          <a:p>
            <a:pPr indent="0" marL="0">
              <a:lnSpc>
                <a:spcPct val="92000"/>
              </a:lnSpc>
              <a:buNone/>
            </a:pPr>
            <a:r>
              <a:rPr lang="es-CL" altLang="en-US" sz="1700" b="1" dirty="0">
                <a:solidFill>
                  <a:schemeClr val="tx1"/>
                </a:solidFill>
                <a:latin typeface="Figtree" pitchFamily="34" charset="0"/>
                <a:ea typeface="Figtree" pitchFamily="34" charset="-122"/>
                <a:cs typeface="Figtree" pitchFamily="34" charset="-120"/>
              </a:rPr>
              <a:t>18</a:t>
            </a:r>
            <a:endParaRPr lang="es-CL" sz="1700" dirty="0"/>
          </a:p>
        </p:txBody>
      </p:sp>
      <p:sp>
        <p:nvSpPr>
          <p:cNvPr id="44" name="Text 42"/>
          <p:cNvSpPr txBox="1"/>
          <p:nvPr/>
        </p:nvSpPr>
        <p:spPr>
          <a:xfrm>
            <a:off x="4617720" y="4901184"/>
            <a:ext cx="777240" cy="548640"/>
          </a:xfrm>
          <a:prstGeom prst="rect">
            <a:avLst/>
          </a:prstGeom>
          <a:noFill/>
          <a:ln/>
        </p:spPr>
        <p:txBody>
          <a:bodyPr wrap="square" lIns="0" tIns="0" rIns="0" bIns="0" rtlCol="0" anchor="ctr"/>
          <a:lstStyle/>
          <a:p>
            <a:pPr indent="0" marL="0">
              <a:lnSpc>
                <a:spcPct val="92000"/>
              </a:lnSpc>
              <a:buNone/>
            </a:pPr>
            <a:r>
              <a:rPr lang="es-CL" altLang="en-US" sz="1700" b="1" dirty="0">
                <a:solidFill>
                  <a:schemeClr val="tx1"/>
                </a:solidFill>
                <a:latin typeface="Figtree" pitchFamily="34" charset="0"/>
                <a:ea typeface="Figtree" pitchFamily="34" charset="-122"/>
                <a:cs typeface="Figtree" pitchFamily="34" charset="-120"/>
              </a:rPr>
              <a:t>20</a:t>
            </a:r>
            <a:endParaRPr lang="es-CL" sz="1700" dirty="0"/>
          </a:p>
        </p:txBody>
      </p:sp>
      <p:sp>
        <p:nvSpPr>
          <p:cNvPr id="45" name="Text 43"/>
          <p:cNvSpPr txBox="1"/>
          <p:nvPr/>
        </p:nvSpPr>
        <p:spPr>
          <a:xfrm>
            <a:off x="5532120" y="4901184"/>
            <a:ext cx="640080" cy="548640"/>
          </a:xfrm>
          <a:prstGeom prst="rect">
            <a:avLst/>
          </a:prstGeom>
          <a:noFill/>
          <a:ln/>
        </p:spPr>
        <p:txBody>
          <a:bodyPr wrap="square" lIns="0" tIns="0" rIns="0" bIns="0" rtlCol="0" anchor="ctr"/>
          <a:lstStyle/>
          <a:p>
            <a:pPr indent="0" marL="0">
              <a:lnSpc>
                <a:spcPct val="92000"/>
              </a:lnSpc>
              <a:buNone/>
            </a:pPr>
            <a:r>
              <a:rPr lang="es-CL" altLang="en-US" sz="1700" b="1" dirty="0">
                <a:solidFill>
                  <a:schemeClr val="accent1"/>
                </a:solidFill>
                <a:latin typeface="Figtree" pitchFamily="34" charset="0"/>
                <a:ea typeface="Figtree" pitchFamily="34" charset="-122"/>
                <a:cs typeface="Figtree" pitchFamily="34" charset="-120"/>
              </a:rPr>
              <a:t>2,82</a:t>
            </a:r>
            <a:endParaRPr lang="es-CL" sz="1700" dirty="0"/>
          </a:p>
        </p:txBody>
      </p:sp>
      <p:sp>
        <p:nvSpPr>
          <p:cNvPr id="46" name="Text 44"/>
          <p:cNvSpPr txBox="1"/>
          <p:nvPr/>
        </p:nvSpPr>
        <p:spPr>
          <a:xfrm>
            <a:off x="6309360" y="4901184"/>
            <a:ext cx="731520" cy="548640"/>
          </a:xfrm>
          <a:prstGeom prst="rect">
            <a:avLst/>
          </a:prstGeom>
          <a:noFill/>
          <a:ln/>
        </p:spPr>
        <p:txBody>
          <a:bodyPr wrap="square" lIns="0" tIns="0" rIns="0" bIns="0" rtlCol="0" anchor="ctr"/>
          <a:lstStyle/>
          <a:p>
            <a:pPr indent="0" marL="0">
              <a:lnSpc>
                <a:spcPct val="92000"/>
              </a:lnSpc>
              <a:buNone/>
            </a:pPr>
            <a:r>
              <a:rPr lang="es-CL" altLang="en-US" sz="1700" b="1" dirty="0">
                <a:solidFill>
                  <a:schemeClr val="tx1"/>
                </a:solidFill>
                <a:latin typeface="Figtree" pitchFamily="34" charset="0"/>
                <a:ea typeface="Figtree" pitchFamily="34" charset="-122"/>
                <a:cs typeface="Figtree" pitchFamily="34" charset="-120"/>
              </a:rPr>
              <a:t>2,99</a:t>
            </a:r>
            <a:endParaRPr lang="es-CL" sz="1700" dirty="0"/>
          </a:p>
        </p:txBody>
      </p:sp>
      <p:sp>
        <p:nvSpPr>
          <p:cNvPr id="47" name="Shape 45"/>
          <p:cNvSpPr/>
          <p:nvPr/>
        </p:nvSpPr>
        <p:spPr>
          <a:xfrm>
            <a:off x="548640" y="5449824"/>
            <a:ext cx="11094415" cy="0"/>
          </a:xfrm>
          <a:prstGeom prst="line">
            <a:avLst/>
          </a:prstGeom>
          <a:noFill/>
          <a:ln w="9525">
            <a:solidFill>
              <a:schemeClr val="accent5"/>
            </a:solidFill>
            <a:prstDash val="solid"/>
          </a:ln>
        </p:spPr>
      </p:sp>
      <p:sp>
        <p:nvSpPr>
          <p:cNvPr id="48" name="Text 46"/>
          <p:cNvSpPr txBox="1"/>
          <p:nvPr/>
        </p:nvSpPr>
        <p:spPr>
          <a:xfrm>
            <a:off x="7543800" y="2395728"/>
            <a:ext cx="40992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EVIDENCIAS DEL INSTRUMENTO 03</a:t>
            </a:r>
            <a:endParaRPr lang="es-CL" sz="1200" dirty="0"/>
          </a:p>
        </p:txBody>
      </p:sp>
      <p:sp>
        <p:nvSpPr>
          <p:cNvPr id="49" name="Shape 47"/>
          <p:cNvSpPr/>
          <p:nvPr/>
        </p:nvSpPr>
        <p:spPr>
          <a:xfrm>
            <a:off x="7543800" y="2706624"/>
            <a:ext cx="4099255" cy="0"/>
          </a:xfrm>
          <a:prstGeom prst="line">
            <a:avLst/>
          </a:prstGeom>
          <a:noFill/>
          <a:ln w="9525">
            <a:solidFill>
              <a:schemeClr val="accent1"/>
            </a:solidFill>
            <a:prstDash val="solid"/>
          </a:ln>
        </p:spPr>
      </p:sp>
      <p:sp>
        <p:nvSpPr>
          <p:cNvPr id="50" name="Text 48"/>
          <p:cNvSpPr txBox="1"/>
          <p:nvPr/>
        </p:nvSpPr>
        <p:spPr>
          <a:xfrm>
            <a:off x="7543800" y="2706624"/>
            <a:ext cx="4099255" cy="4297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PIB 2026 recortado a 0,25%–0,75%</a:t>
            </a:r>
            <a:endParaRPr lang="es-CL" sz="1600" dirty="0"/>
          </a:p>
        </p:txBody>
      </p:sp>
      <p:sp>
        <p:nvSpPr>
          <p:cNvPr id="51" name="Shape 49"/>
          <p:cNvSpPr/>
          <p:nvPr/>
        </p:nvSpPr>
        <p:spPr>
          <a:xfrm>
            <a:off x="7543800" y="3136392"/>
            <a:ext cx="4099255" cy="0"/>
          </a:xfrm>
          <a:prstGeom prst="line">
            <a:avLst/>
          </a:prstGeom>
          <a:noFill/>
          <a:ln w="9525">
            <a:solidFill>
              <a:schemeClr val="accent5"/>
            </a:solidFill>
            <a:prstDash val="solid"/>
          </a:ln>
        </p:spPr>
      </p:sp>
      <p:sp>
        <p:nvSpPr>
          <p:cNvPr id="52" name="Text 50"/>
          <p:cNvSpPr txBox="1"/>
          <p:nvPr/>
        </p:nvSpPr>
        <p:spPr>
          <a:xfrm>
            <a:off x="7543800" y="3136392"/>
            <a:ext cx="4099255" cy="4297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Desempleo 9,5%; TPM 4,5%</a:t>
            </a:r>
            <a:endParaRPr lang="es-CL" sz="1600" dirty="0"/>
          </a:p>
        </p:txBody>
      </p:sp>
      <p:sp>
        <p:nvSpPr>
          <p:cNvPr id="53" name="Shape 51"/>
          <p:cNvSpPr/>
          <p:nvPr/>
        </p:nvSpPr>
        <p:spPr>
          <a:xfrm>
            <a:off x="7543800" y="3566160"/>
            <a:ext cx="4099255" cy="0"/>
          </a:xfrm>
          <a:prstGeom prst="line">
            <a:avLst/>
          </a:prstGeom>
          <a:noFill/>
          <a:ln w="9525">
            <a:solidFill>
              <a:schemeClr val="accent5"/>
            </a:solidFill>
            <a:prstDash val="solid"/>
          </a:ln>
        </p:spPr>
      </p:sp>
      <p:sp>
        <p:nvSpPr>
          <p:cNvPr id="54" name="Text 52"/>
          <p:cNvSpPr txBox="1"/>
          <p:nvPr/>
        </p:nvSpPr>
        <p:spPr>
          <a:xfrm>
            <a:off x="7543800" y="3566160"/>
            <a:ext cx="4099255" cy="4297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Dólar cerca de $970</a:t>
            </a:r>
            <a:endParaRPr lang="es-CL" sz="1600" dirty="0"/>
          </a:p>
        </p:txBody>
      </p:sp>
      <p:sp>
        <p:nvSpPr>
          <p:cNvPr id="55" name="Shape 53"/>
          <p:cNvSpPr/>
          <p:nvPr/>
        </p:nvSpPr>
        <p:spPr>
          <a:xfrm>
            <a:off x="7543800" y="3995928"/>
            <a:ext cx="4099255" cy="0"/>
          </a:xfrm>
          <a:prstGeom prst="line">
            <a:avLst/>
          </a:prstGeom>
          <a:noFill/>
          <a:ln w="9525">
            <a:solidFill>
              <a:schemeClr val="accent5"/>
            </a:solidFill>
            <a:prstDash val="solid"/>
          </a:ln>
        </p:spPr>
      </p:sp>
      <p:sp>
        <p:nvSpPr>
          <p:cNvPr id="56" name="Text 54"/>
          <p:cNvSpPr txBox="1"/>
          <p:nvPr/>
        </p:nvSpPr>
        <p:spPr>
          <a:xfrm>
            <a:off x="7543800" y="3995928"/>
            <a:ext cx="4099255" cy="4297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Bencina 93: de $1.149 a $1.541 por litro</a:t>
            </a:r>
            <a:endParaRPr lang="es-CL" sz="1600" dirty="0"/>
          </a:p>
        </p:txBody>
      </p:sp>
      <p:sp>
        <p:nvSpPr>
          <p:cNvPr id="57" name="Shape 55"/>
          <p:cNvSpPr/>
          <p:nvPr/>
        </p:nvSpPr>
        <p:spPr>
          <a:xfrm>
            <a:off x="7543800" y="4425696"/>
            <a:ext cx="4099255" cy="0"/>
          </a:xfrm>
          <a:prstGeom prst="line">
            <a:avLst/>
          </a:prstGeom>
          <a:noFill/>
          <a:ln w="9525">
            <a:solidFill>
              <a:schemeClr val="accent5"/>
            </a:solidFill>
            <a:prstDash val="solid"/>
          </a:ln>
        </p:spPr>
      </p:sp>
      <p:sp>
        <p:nvSpPr>
          <p:cNvPr id="58" name="Text 56"/>
          <p:cNvSpPr txBox="1"/>
          <p:nvPr/>
        </p:nvSpPr>
        <p:spPr>
          <a:xfrm>
            <a:off x="7543800" y="4425696"/>
            <a:ext cx="4099255" cy="4297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Baterías LFP en US$81 por kWh</a:t>
            </a:r>
            <a:endParaRPr lang="es-CL" sz="1600" dirty="0"/>
          </a:p>
        </p:txBody>
      </p:sp>
      <p:sp>
        <p:nvSpPr>
          <p:cNvPr id="59" name="Shape 57"/>
          <p:cNvSpPr/>
          <p:nvPr/>
        </p:nvSpPr>
        <p:spPr>
          <a:xfrm>
            <a:off x="7543800" y="4855464"/>
            <a:ext cx="4099255" cy="0"/>
          </a:xfrm>
          <a:prstGeom prst="line">
            <a:avLst/>
          </a:prstGeom>
          <a:noFill/>
          <a:ln w="9525">
            <a:solidFill>
              <a:schemeClr val="accent5"/>
            </a:solidFill>
            <a:prstDash val="solid"/>
          </a:ln>
        </p:spPr>
      </p:sp>
      <p:sp>
        <p:nvSpPr>
          <p:cNvPr id="60" name="Text 58"/>
          <p:cNvSpPr txBox="1"/>
          <p:nvPr/>
        </p:nvSpPr>
        <p:spPr>
          <a:xfrm>
            <a:off x="7543800" y="4855464"/>
            <a:ext cx="4099255" cy="4297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Empleo en transporte +9,7%</a:t>
            </a:r>
            <a:endParaRPr lang="es-CL" sz="1600" dirty="0"/>
          </a:p>
        </p:txBody>
      </p:sp>
      <p:sp>
        <p:nvSpPr>
          <p:cNvPr id="61" name="Shape 59"/>
          <p:cNvSpPr/>
          <p:nvPr/>
        </p:nvSpPr>
        <p:spPr>
          <a:xfrm>
            <a:off x="7543800" y="5285232"/>
            <a:ext cx="4099255" cy="0"/>
          </a:xfrm>
          <a:prstGeom prst="line">
            <a:avLst/>
          </a:prstGeom>
          <a:noFill/>
          <a:ln w="9525">
            <a:solidFill>
              <a:schemeClr val="accent5"/>
            </a:solidFill>
            <a:prstDash val="solid"/>
          </a:ln>
        </p:spPr>
      </p:sp>
      <p:sp>
        <p:nvSpPr>
          <p:cNvPr id="62" name="Text 60"/>
          <p:cNvSpPr txBox="1"/>
          <p:nvPr/>
        </p:nvSpPr>
        <p:spPr>
          <a:xfrm>
            <a:off x="7543800" y="5285232"/>
            <a:ext cx="4099255" cy="4297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3,5 usados por cada auto nuevo</a:t>
            </a:r>
            <a:endParaRPr lang="es-CL" sz="1600" dirty="0"/>
          </a:p>
        </p:txBody>
      </p:sp>
      <p:sp>
        <p:nvSpPr>
          <p:cNvPr id="63" name="Shape 61"/>
          <p:cNvSpPr/>
          <p:nvPr/>
        </p:nvSpPr>
        <p:spPr>
          <a:xfrm>
            <a:off x="548640" y="5888736"/>
            <a:ext cx="6871716" cy="310896"/>
          </a:xfrm>
          <a:prstGeom prst="rect">
            <a:avLst/>
          </a:prstGeom>
          <a:solidFill>
            <a:schemeClr val="bg1">
              <a:alpha val="0"/>
            </a:schemeClr>
          </a:solidFill>
          <a:ln w="12700">
            <a:solidFill>
              <a:schemeClr val="tx2"/>
            </a:solidFill>
            <a:prstDash val="solid"/>
          </a:ln>
        </p:spPr>
      </p:sp>
      <p:sp>
        <p:nvSpPr>
          <p:cNvPr id="64" name="Text 62"/>
          <p:cNvSpPr txBox="1"/>
          <p:nvPr/>
        </p:nvSpPr>
        <p:spPr>
          <a:xfrm>
            <a:off x="658368" y="5888736"/>
            <a:ext cx="665226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VERIFICAR LA FUENTE PRIMARIA DE CADA EVIDENCIA ANTES DE CITARLA</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A3</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CINCO FUERZAS · CÁLCULO</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EL 3,49 ES UNA SUMA PONDERADA,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no un porcentaje de amenaza.</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de cinco fuerzas (02) del análisis estratégico del equipo (Control de Gestión, 2026).</a:t>
            </a:r>
            <a:endParaRPr lang="es-CL" sz="1200" dirty="0"/>
          </a:p>
        </p:txBody>
      </p:sp>
      <p:sp>
        <p:nvSpPr>
          <p:cNvPr id="6" name="Text 4"/>
          <p:cNvSpPr txBox="1"/>
          <p:nvPr/>
        </p:nvSpPr>
        <p:spPr>
          <a:xfrm>
            <a:off x="548640" y="2304288"/>
            <a:ext cx="22860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FUERZA</a:t>
            </a:r>
            <a:endParaRPr lang="es-CL" sz="1200" dirty="0"/>
          </a:p>
        </p:txBody>
      </p:sp>
      <p:sp>
        <p:nvSpPr>
          <p:cNvPr id="7" name="Text 5"/>
          <p:cNvSpPr txBox="1"/>
          <p:nvPr/>
        </p:nvSpPr>
        <p:spPr>
          <a:xfrm>
            <a:off x="2834640" y="2304288"/>
            <a:ext cx="9144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PESO</a:t>
            </a:r>
            <a:endParaRPr lang="es-CL" sz="1200" dirty="0"/>
          </a:p>
        </p:txBody>
      </p:sp>
      <p:sp>
        <p:nvSpPr>
          <p:cNvPr id="8" name="Text 6"/>
          <p:cNvSpPr txBox="1"/>
          <p:nvPr/>
        </p:nvSpPr>
        <p:spPr>
          <a:xfrm>
            <a:off x="3749040" y="2304288"/>
            <a:ext cx="13716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INTENSIDAD</a:t>
            </a:r>
            <a:endParaRPr lang="es-CL" sz="1200" dirty="0"/>
          </a:p>
        </p:txBody>
      </p:sp>
      <p:sp>
        <p:nvSpPr>
          <p:cNvPr id="9" name="Text 7"/>
          <p:cNvSpPr txBox="1"/>
          <p:nvPr/>
        </p:nvSpPr>
        <p:spPr>
          <a:xfrm>
            <a:off x="5120640" y="2304288"/>
            <a:ext cx="10972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APORTE</a:t>
            </a:r>
            <a:endParaRPr lang="es-CL" sz="1200" dirty="0"/>
          </a:p>
        </p:txBody>
      </p:sp>
      <p:sp>
        <p:nvSpPr>
          <p:cNvPr id="10" name="Text 8"/>
          <p:cNvSpPr txBox="1"/>
          <p:nvPr/>
        </p:nvSpPr>
        <p:spPr>
          <a:xfrm>
            <a:off x="6217920" y="2304288"/>
            <a:ext cx="54251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POR QUÉ</a:t>
            </a:r>
            <a:endParaRPr lang="es-CL" sz="1200" dirty="0"/>
          </a:p>
        </p:txBody>
      </p:sp>
      <p:sp>
        <p:nvSpPr>
          <p:cNvPr id="11" name="Shape 9"/>
          <p:cNvSpPr/>
          <p:nvPr/>
        </p:nvSpPr>
        <p:spPr>
          <a:xfrm>
            <a:off x="548640" y="2615184"/>
            <a:ext cx="11094415" cy="0"/>
          </a:xfrm>
          <a:prstGeom prst="line">
            <a:avLst/>
          </a:prstGeom>
          <a:noFill/>
          <a:ln w="9525">
            <a:solidFill>
              <a:schemeClr val="accent1"/>
            </a:solidFill>
            <a:prstDash val="solid"/>
          </a:ln>
        </p:spPr>
      </p:sp>
      <p:sp>
        <p:nvSpPr>
          <p:cNvPr id="12" name="Text 10"/>
          <p:cNvSpPr txBox="1"/>
          <p:nvPr/>
        </p:nvSpPr>
        <p:spPr>
          <a:xfrm>
            <a:off x="548640" y="2615184"/>
            <a:ext cx="214884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Sustitutos</a:t>
            </a:r>
            <a:endParaRPr lang="es-CL" sz="1600" dirty="0"/>
          </a:p>
        </p:txBody>
      </p:sp>
      <p:sp>
        <p:nvSpPr>
          <p:cNvPr id="13" name="Text 11"/>
          <p:cNvSpPr txBox="1"/>
          <p:nvPr/>
        </p:nvSpPr>
        <p:spPr>
          <a:xfrm>
            <a:off x="2834640" y="2615184"/>
            <a:ext cx="7772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30%</a:t>
            </a:r>
            <a:endParaRPr lang="es-CL" sz="1600" dirty="0"/>
          </a:p>
        </p:txBody>
      </p:sp>
      <p:sp>
        <p:nvSpPr>
          <p:cNvPr id="14" name="Text 12"/>
          <p:cNvSpPr txBox="1"/>
          <p:nvPr/>
        </p:nvSpPr>
        <p:spPr>
          <a:xfrm>
            <a:off x="3749040" y="2615184"/>
            <a:ext cx="12344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5,00</a:t>
            </a:r>
            <a:endParaRPr lang="es-CL" sz="1600" dirty="0"/>
          </a:p>
        </p:txBody>
      </p:sp>
      <p:sp>
        <p:nvSpPr>
          <p:cNvPr id="15" name="Text 13"/>
          <p:cNvSpPr txBox="1"/>
          <p:nvPr/>
        </p:nvSpPr>
        <p:spPr>
          <a:xfrm>
            <a:off x="5120640" y="2615184"/>
            <a:ext cx="9601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1,50</a:t>
            </a:r>
            <a:endParaRPr lang="es-CL" sz="1600" dirty="0"/>
          </a:p>
        </p:txBody>
      </p:sp>
      <p:sp>
        <p:nvSpPr>
          <p:cNvPr id="16" name="Text 14"/>
          <p:cNvSpPr txBox="1"/>
          <p:nvPr/>
        </p:nvSpPr>
        <p:spPr>
          <a:xfrm>
            <a:off x="6217920" y="2615184"/>
            <a:ext cx="528797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Seguir con el auto actual o comprar un híbrido usado</a:t>
            </a:r>
            <a:endParaRPr lang="es-CL" sz="1600" dirty="0"/>
          </a:p>
        </p:txBody>
      </p:sp>
      <p:sp>
        <p:nvSpPr>
          <p:cNvPr id="17" name="Shape 15"/>
          <p:cNvSpPr/>
          <p:nvPr/>
        </p:nvSpPr>
        <p:spPr>
          <a:xfrm>
            <a:off x="548640" y="3127248"/>
            <a:ext cx="11094415" cy="0"/>
          </a:xfrm>
          <a:prstGeom prst="line">
            <a:avLst/>
          </a:prstGeom>
          <a:noFill/>
          <a:ln w="9525">
            <a:solidFill>
              <a:schemeClr val="accent5"/>
            </a:solidFill>
            <a:prstDash val="solid"/>
          </a:ln>
        </p:spPr>
      </p:sp>
      <p:sp>
        <p:nvSpPr>
          <p:cNvPr id="18" name="Text 16"/>
          <p:cNvSpPr txBox="1"/>
          <p:nvPr/>
        </p:nvSpPr>
        <p:spPr>
          <a:xfrm>
            <a:off x="548640" y="3127248"/>
            <a:ext cx="214884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Nuevos entrantes</a:t>
            </a:r>
            <a:endParaRPr lang="es-CL" sz="1600" dirty="0"/>
          </a:p>
        </p:txBody>
      </p:sp>
      <p:sp>
        <p:nvSpPr>
          <p:cNvPr id="19" name="Text 17"/>
          <p:cNvSpPr txBox="1"/>
          <p:nvPr/>
        </p:nvSpPr>
        <p:spPr>
          <a:xfrm>
            <a:off x="2834640" y="3127248"/>
            <a:ext cx="7772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20%</a:t>
            </a:r>
            <a:endParaRPr lang="es-CL" sz="1600" dirty="0"/>
          </a:p>
        </p:txBody>
      </p:sp>
      <p:sp>
        <p:nvSpPr>
          <p:cNvPr id="20" name="Text 18"/>
          <p:cNvSpPr txBox="1"/>
          <p:nvPr/>
        </p:nvSpPr>
        <p:spPr>
          <a:xfrm>
            <a:off x="3749040" y="3127248"/>
            <a:ext cx="12344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3,75</a:t>
            </a:r>
            <a:endParaRPr lang="es-CL" sz="1600" dirty="0"/>
          </a:p>
        </p:txBody>
      </p:sp>
      <p:sp>
        <p:nvSpPr>
          <p:cNvPr id="21" name="Text 19"/>
          <p:cNvSpPr txBox="1"/>
          <p:nvPr/>
        </p:nvSpPr>
        <p:spPr>
          <a:xfrm>
            <a:off x="5120640" y="3127248"/>
            <a:ext cx="9601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0,75</a:t>
            </a:r>
            <a:endParaRPr lang="es-CL" sz="1600" dirty="0"/>
          </a:p>
        </p:txBody>
      </p:sp>
      <p:sp>
        <p:nvSpPr>
          <p:cNvPr id="22" name="Text 20"/>
          <p:cNvSpPr txBox="1"/>
          <p:nvPr/>
        </p:nvSpPr>
        <p:spPr>
          <a:xfrm>
            <a:off x="6217920" y="3127248"/>
            <a:ext cx="528797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Si se abre la vía legal, otros con capital pueden homologar</a:t>
            </a:r>
            <a:endParaRPr lang="es-CL" sz="1600" dirty="0"/>
          </a:p>
        </p:txBody>
      </p:sp>
      <p:sp>
        <p:nvSpPr>
          <p:cNvPr id="23" name="Shape 21"/>
          <p:cNvSpPr/>
          <p:nvPr/>
        </p:nvSpPr>
        <p:spPr>
          <a:xfrm>
            <a:off x="548640" y="3639312"/>
            <a:ext cx="11094415" cy="0"/>
          </a:xfrm>
          <a:prstGeom prst="line">
            <a:avLst/>
          </a:prstGeom>
          <a:noFill/>
          <a:ln w="9525">
            <a:solidFill>
              <a:schemeClr val="accent5"/>
            </a:solidFill>
            <a:prstDash val="solid"/>
          </a:ln>
        </p:spPr>
      </p:sp>
      <p:sp>
        <p:nvSpPr>
          <p:cNvPr id="24" name="Text 22"/>
          <p:cNvSpPr txBox="1"/>
          <p:nvPr/>
        </p:nvSpPr>
        <p:spPr>
          <a:xfrm>
            <a:off x="548640" y="3639312"/>
            <a:ext cx="214884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Clientes</a:t>
            </a:r>
            <a:endParaRPr lang="es-CL" sz="1600" dirty="0"/>
          </a:p>
        </p:txBody>
      </p:sp>
      <p:sp>
        <p:nvSpPr>
          <p:cNvPr id="25" name="Text 23"/>
          <p:cNvSpPr txBox="1"/>
          <p:nvPr/>
        </p:nvSpPr>
        <p:spPr>
          <a:xfrm>
            <a:off x="2834640" y="3639312"/>
            <a:ext cx="7772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25%</a:t>
            </a:r>
            <a:endParaRPr lang="es-CL" sz="1600" dirty="0"/>
          </a:p>
        </p:txBody>
      </p:sp>
      <p:sp>
        <p:nvSpPr>
          <p:cNvPr id="26" name="Text 24"/>
          <p:cNvSpPr txBox="1"/>
          <p:nvPr/>
        </p:nvSpPr>
        <p:spPr>
          <a:xfrm>
            <a:off x="3749040" y="3639312"/>
            <a:ext cx="12344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2,64</a:t>
            </a:r>
            <a:endParaRPr lang="es-CL" sz="1600" dirty="0"/>
          </a:p>
        </p:txBody>
      </p:sp>
      <p:sp>
        <p:nvSpPr>
          <p:cNvPr id="27" name="Text 25"/>
          <p:cNvSpPr txBox="1"/>
          <p:nvPr/>
        </p:nvSpPr>
        <p:spPr>
          <a:xfrm>
            <a:off x="5120640" y="3639312"/>
            <a:ext cx="9601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0,66</a:t>
            </a:r>
            <a:endParaRPr lang="es-CL" sz="1600" dirty="0"/>
          </a:p>
        </p:txBody>
      </p:sp>
      <p:sp>
        <p:nvSpPr>
          <p:cNvPr id="28" name="Text 26"/>
          <p:cNvSpPr txBox="1"/>
          <p:nvPr/>
        </p:nvSpPr>
        <p:spPr>
          <a:xfrm>
            <a:off x="6217920" y="3639312"/>
            <a:ext cx="528797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Sensibles al precio y con liquidez limitada</a:t>
            </a:r>
            <a:endParaRPr lang="es-CL" sz="1600" dirty="0"/>
          </a:p>
        </p:txBody>
      </p:sp>
      <p:sp>
        <p:nvSpPr>
          <p:cNvPr id="29" name="Shape 27"/>
          <p:cNvSpPr/>
          <p:nvPr/>
        </p:nvSpPr>
        <p:spPr>
          <a:xfrm>
            <a:off x="548640" y="4151376"/>
            <a:ext cx="11094415" cy="0"/>
          </a:xfrm>
          <a:prstGeom prst="line">
            <a:avLst/>
          </a:prstGeom>
          <a:noFill/>
          <a:ln w="9525">
            <a:solidFill>
              <a:schemeClr val="accent5"/>
            </a:solidFill>
            <a:prstDash val="solid"/>
          </a:ln>
        </p:spPr>
      </p:sp>
      <p:sp>
        <p:nvSpPr>
          <p:cNvPr id="30" name="Text 28"/>
          <p:cNvSpPr txBox="1"/>
          <p:nvPr/>
        </p:nvSpPr>
        <p:spPr>
          <a:xfrm>
            <a:off x="548640" y="4151376"/>
            <a:ext cx="214884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Proveedores</a:t>
            </a:r>
            <a:endParaRPr lang="es-CL" sz="1600" dirty="0"/>
          </a:p>
        </p:txBody>
      </p:sp>
      <p:sp>
        <p:nvSpPr>
          <p:cNvPr id="31" name="Text 29"/>
          <p:cNvSpPr txBox="1"/>
          <p:nvPr/>
        </p:nvSpPr>
        <p:spPr>
          <a:xfrm>
            <a:off x="2834640" y="4151376"/>
            <a:ext cx="7772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15%</a:t>
            </a:r>
            <a:endParaRPr lang="es-CL" sz="1600" dirty="0"/>
          </a:p>
        </p:txBody>
      </p:sp>
      <p:sp>
        <p:nvSpPr>
          <p:cNvPr id="32" name="Text 30"/>
          <p:cNvSpPr txBox="1"/>
          <p:nvPr/>
        </p:nvSpPr>
        <p:spPr>
          <a:xfrm>
            <a:off x="3749040" y="4151376"/>
            <a:ext cx="12344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2,67</a:t>
            </a:r>
            <a:endParaRPr lang="es-CL" sz="1600" dirty="0"/>
          </a:p>
        </p:txBody>
      </p:sp>
      <p:sp>
        <p:nvSpPr>
          <p:cNvPr id="33" name="Text 31"/>
          <p:cNvSpPr txBox="1"/>
          <p:nvPr/>
        </p:nvSpPr>
        <p:spPr>
          <a:xfrm>
            <a:off x="5120640" y="4151376"/>
            <a:ext cx="9601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0,40</a:t>
            </a:r>
            <a:endParaRPr lang="es-CL" sz="1600" dirty="0"/>
          </a:p>
        </p:txBody>
      </p:sp>
      <p:sp>
        <p:nvSpPr>
          <p:cNvPr id="34" name="Text 32"/>
          <p:cNvSpPr txBox="1"/>
          <p:nvPr/>
        </p:nvSpPr>
        <p:spPr>
          <a:xfrm>
            <a:off x="6217920" y="4151376"/>
            <a:ext cx="528797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Componentes estandarizados; cambiar de proveedor obliga a rehomologar</a:t>
            </a:r>
            <a:endParaRPr lang="es-CL" sz="1600" dirty="0"/>
          </a:p>
        </p:txBody>
      </p:sp>
      <p:sp>
        <p:nvSpPr>
          <p:cNvPr id="35" name="Shape 33"/>
          <p:cNvSpPr/>
          <p:nvPr/>
        </p:nvSpPr>
        <p:spPr>
          <a:xfrm>
            <a:off x="548640" y="4663440"/>
            <a:ext cx="11094415" cy="0"/>
          </a:xfrm>
          <a:prstGeom prst="line">
            <a:avLst/>
          </a:prstGeom>
          <a:noFill/>
          <a:ln w="9525">
            <a:solidFill>
              <a:schemeClr val="accent5"/>
            </a:solidFill>
            <a:prstDash val="solid"/>
          </a:ln>
        </p:spPr>
      </p:sp>
      <p:sp>
        <p:nvSpPr>
          <p:cNvPr id="36" name="Text 34"/>
          <p:cNvSpPr txBox="1"/>
          <p:nvPr/>
        </p:nvSpPr>
        <p:spPr>
          <a:xfrm>
            <a:off x="548640" y="4663440"/>
            <a:ext cx="214884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Rivalidad</a:t>
            </a:r>
            <a:endParaRPr lang="es-CL" sz="1600" dirty="0"/>
          </a:p>
        </p:txBody>
      </p:sp>
      <p:sp>
        <p:nvSpPr>
          <p:cNvPr id="37" name="Text 35"/>
          <p:cNvSpPr txBox="1"/>
          <p:nvPr/>
        </p:nvSpPr>
        <p:spPr>
          <a:xfrm>
            <a:off x="2834640" y="4663440"/>
            <a:ext cx="7772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10%</a:t>
            </a:r>
            <a:endParaRPr lang="es-CL" sz="1600" dirty="0"/>
          </a:p>
        </p:txBody>
      </p:sp>
      <p:sp>
        <p:nvSpPr>
          <p:cNvPr id="38" name="Text 36"/>
          <p:cNvSpPr txBox="1"/>
          <p:nvPr/>
        </p:nvSpPr>
        <p:spPr>
          <a:xfrm>
            <a:off x="3749040" y="4663440"/>
            <a:ext cx="12344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1,83</a:t>
            </a:r>
            <a:endParaRPr lang="es-CL" sz="1600" dirty="0"/>
          </a:p>
        </p:txBody>
      </p:sp>
      <p:sp>
        <p:nvSpPr>
          <p:cNvPr id="39" name="Text 37"/>
          <p:cNvSpPr txBox="1"/>
          <p:nvPr/>
        </p:nvSpPr>
        <p:spPr>
          <a:xfrm>
            <a:off x="5120640" y="4663440"/>
            <a:ext cx="9601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0,18</a:t>
            </a:r>
            <a:endParaRPr lang="es-CL" sz="1600" dirty="0"/>
          </a:p>
        </p:txBody>
      </p:sp>
      <p:sp>
        <p:nvSpPr>
          <p:cNvPr id="40" name="Text 38"/>
          <p:cNvSpPr txBox="1"/>
          <p:nvPr/>
        </p:nvSpPr>
        <p:spPr>
          <a:xfrm>
            <a:off x="6217920" y="4663440"/>
            <a:ext cx="528797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Sin oferta directa identificada de hibridación de autos en uso</a:t>
            </a:r>
            <a:endParaRPr lang="es-CL" sz="1600" dirty="0"/>
          </a:p>
        </p:txBody>
      </p:sp>
      <p:sp>
        <p:nvSpPr>
          <p:cNvPr id="41" name="Shape 39"/>
          <p:cNvSpPr/>
          <p:nvPr/>
        </p:nvSpPr>
        <p:spPr>
          <a:xfrm>
            <a:off x="548640" y="5175504"/>
            <a:ext cx="11094415" cy="0"/>
          </a:xfrm>
          <a:prstGeom prst="line">
            <a:avLst/>
          </a:prstGeom>
          <a:noFill/>
          <a:ln w="9525">
            <a:solidFill>
              <a:schemeClr val="accent5"/>
            </a:solidFill>
            <a:prstDash val="solid"/>
          </a:ln>
        </p:spPr>
      </p:sp>
      <p:sp>
        <p:nvSpPr>
          <p:cNvPr id="42" name="Text 40"/>
          <p:cNvSpPr txBox="1"/>
          <p:nvPr/>
        </p:nvSpPr>
        <p:spPr>
          <a:xfrm>
            <a:off x="548640" y="5175504"/>
            <a:ext cx="214884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Total</a:t>
            </a:r>
            <a:endParaRPr lang="es-CL" sz="1600" dirty="0"/>
          </a:p>
        </p:txBody>
      </p:sp>
      <p:sp>
        <p:nvSpPr>
          <p:cNvPr id="43" name="Text 41"/>
          <p:cNvSpPr txBox="1"/>
          <p:nvPr/>
        </p:nvSpPr>
        <p:spPr>
          <a:xfrm>
            <a:off x="2834640" y="5175504"/>
            <a:ext cx="77724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100%</a:t>
            </a:r>
            <a:endParaRPr lang="es-CL" sz="1600" dirty="0"/>
          </a:p>
        </p:txBody>
      </p:sp>
      <p:sp>
        <p:nvSpPr>
          <p:cNvPr id="44" name="Text 42"/>
          <p:cNvSpPr txBox="1"/>
          <p:nvPr/>
        </p:nvSpPr>
        <p:spPr>
          <a:xfrm>
            <a:off x="3749040" y="5175504"/>
            <a:ext cx="1234440" cy="512064"/>
          </a:xfrm>
          <a:prstGeom prst="rect">
            <a:avLst/>
          </a:prstGeom>
          <a:noFill/>
          <a:ln/>
        </p:spPr>
        <p:txBody>
          <a:bodyPr wrap="square" lIns="0" tIns="0" rIns="0" bIns="0" rtlCol="0" anchor="ctr"/>
          <a:lstStyle/>
          <a:p>
            <a:pPr indent="0" marL="0">
              <a:lnSpc>
                <a:spcPct val="92000"/>
              </a:lnSpc>
              <a:buNone/>
            </a:pPr>
            <a:endParaRPr lang="es-CL" sz="1600" dirty="0"/>
          </a:p>
        </p:txBody>
      </p:sp>
      <p:sp>
        <p:nvSpPr>
          <p:cNvPr id="45" name="Text 43"/>
          <p:cNvSpPr txBox="1"/>
          <p:nvPr/>
        </p:nvSpPr>
        <p:spPr>
          <a:xfrm>
            <a:off x="5120640" y="5175504"/>
            <a:ext cx="96012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accent1"/>
                </a:solidFill>
                <a:latin typeface="Figtree" pitchFamily="34" charset="0"/>
                <a:ea typeface="Figtree" pitchFamily="34" charset="-122"/>
                <a:cs typeface="Figtree" pitchFamily="34" charset="-120"/>
              </a:rPr>
              <a:t>3,49</a:t>
            </a:r>
            <a:endParaRPr lang="es-CL" sz="1600" dirty="0"/>
          </a:p>
        </p:txBody>
      </p:sp>
      <p:sp>
        <p:nvSpPr>
          <p:cNvPr id="46" name="Text 44"/>
          <p:cNvSpPr txBox="1"/>
          <p:nvPr/>
        </p:nvSpPr>
        <p:spPr>
          <a:xfrm>
            <a:off x="6217920" y="5175504"/>
            <a:ext cx="5287975"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Presión moderadamente alta: industria poco atractiva</a:t>
            </a:r>
            <a:endParaRPr lang="es-CL" sz="1600" dirty="0"/>
          </a:p>
        </p:txBody>
      </p:sp>
      <p:sp>
        <p:nvSpPr>
          <p:cNvPr id="47" name="Shape 45"/>
          <p:cNvSpPr/>
          <p:nvPr/>
        </p:nvSpPr>
        <p:spPr>
          <a:xfrm>
            <a:off x="548640" y="5687568"/>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A4</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PEST · IMPACTO E INCERTIDUMBRE</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CINCO FACTORES CRÍTICOS,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todos inciertos.</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PEST (03) del análisis estratégico del equipo (Control de Gestión, 2026), matriz de impacto e incertidumbre (Francés, 2006).</a:t>
            </a:r>
            <a:endParaRPr lang="es-CL" sz="1200" dirty="0"/>
          </a:p>
        </p:txBody>
      </p:sp>
      <p:sp>
        <p:nvSpPr>
          <p:cNvPr id="6" name="Shape 4"/>
          <p:cNvSpPr/>
          <p:nvPr/>
        </p:nvSpPr>
        <p:spPr>
          <a:xfrm>
            <a:off x="548640" y="2395728"/>
            <a:ext cx="5364328" cy="3803904"/>
          </a:xfrm>
          <a:prstGeom prst="rect">
            <a:avLst/>
          </a:prstGeom>
          <a:solidFill>
            <a:srgbClr val="062A45"/>
          </a:solidFill>
          <a:ln w="15875">
            <a:solidFill>
              <a:schemeClr val="accent1"/>
            </a:solidFill>
            <a:prstDash val="solid"/>
          </a:ln>
        </p:spPr>
      </p:sp>
      <p:sp>
        <p:nvSpPr>
          <p:cNvPr id="7" name="Shape 5"/>
          <p:cNvSpPr/>
          <p:nvPr/>
        </p:nvSpPr>
        <p:spPr>
          <a:xfrm>
            <a:off x="493776" y="2340864"/>
            <a:ext cx="155448" cy="0"/>
          </a:xfrm>
          <a:prstGeom prst="line">
            <a:avLst/>
          </a:prstGeom>
          <a:noFill/>
          <a:ln w="15875">
            <a:solidFill>
              <a:schemeClr val="accent1"/>
            </a:solidFill>
            <a:prstDash val="solid"/>
          </a:ln>
        </p:spPr>
      </p:sp>
      <p:sp>
        <p:nvSpPr>
          <p:cNvPr id="8" name="Shape 6"/>
          <p:cNvSpPr/>
          <p:nvPr/>
        </p:nvSpPr>
        <p:spPr>
          <a:xfrm>
            <a:off x="493776" y="2340864"/>
            <a:ext cx="0" cy="155448"/>
          </a:xfrm>
          <a:prstGeom prst="line">
            <a:avLst/>
          </a:prstGeom>
          <a:noFill/>
          <a:ln w="15875">
            <a:solidFill>
              <a:schemeClr val="accent1"/>
            </a:solidFill>
            <a:prstDash val="solid"/>
          </a:ln>
        </p:spPr>
      </p:sp>
      <p:sp>
        <p:nvSpPr>
          <p:cNvPr id="9" name="Shape 7"/>
          <p:cNvSpPr/>
          <p:nvPr/>
        </p:nvSpPr>
        <p:spPr>
          <a:xfrm>
            <a:off x="5812384" y="2340864"/>
            <a:ext cx="155448" cy="0"/>
          </a:xfrm>
          <a:prstGeom prst="line">
            <a:avLst/>
          </a:prstGeom>
          <a:noFill/>
          <a:ln w="15875">
            <a:solidFill>
              <a:schemeClr val="accent1"/>
            </a:solidFill>
            <a:prstDash val="solid"/>
          </a:ln>
        </p:spPr>
      </p:sp>
      <p:sp>
        <p:nvSpPr>
          <p:cNvPr id="10" name="Shape 8"/>
          <p:cNvSpPr/>
          <p:nvPr/>
        </p:nvSpPr>
        <p:spPr>
          <a:xfrm>
            <a:off x="5967832" y="2340864"/>
            <a:ext cx="0" cy="155448"/>
          </a:xfrm>
          <a:prstGeom prst="line">
            <a:avLst/>
          </a:prstGeom>
          <a:noFill/>
          <a:ln w="15875">
            <a:solidFill>
              <a:schemeClr val="accent1"/>
            </a:solidFill>
            <a:prstDash val="solid"/>
          </a:ln>
        </p:spPr>
      </p:sp>
      <p:sp>
        <p:nvSpPr>
          <p:cNvPr id="11" name="Shape 9"/>
          <p:cNvSpPr/>
          <p:nvPr/>
        </p:nvSpPr>
        <p:spPr>
          <a:xfrm>
            <a:off x="493776" y="6254496"/>
            <a:ext cx="155448" cy="0"/>
          </a:xfrm>
          <a:prstGeom prst="line">
            <a:avLst/>
          </a:prstGeom>
          <a:noFill/>
          <a:ln w="15875">
            <a:solidFill>
              <a:schemeClr val="accent1"/>
            </a:solidFill>
            <a:prstDash val="solid"/>
          </a:ln>
        </p:spPr>
      </p:sp>
      <p:sp>
        <p:nvSpPr>
          <p:cNvPr id="12" name="Shape 10"/>
          <p:cNvSpPr/>
          <p:nvPr/>
        </p:nvSpPr>
        <p:spPr>
          <a:xfrm>
            <a:off x="493776" y="6099048"/>
            <a:ext cx="0" cy="155448"/>
          </a:xfrm>
          <a:prstGeom prst="line">
            <a:avLst/>
          </a:prstGeom>
          <a:noFill/>
          <a:ln w="15875">
            <a:solidFill>
              <a:schemeClr val="accent1"/>
            </a:solidFill>
            <a:prstDash val="solid"/>
          </a:ln>
        </p:spPr>
      </p:sp>
      <p:sp>
        <p:nvSpPr>
          <p:cNvPr id="13" name="Shape 11"/>
          <p:cNvSpPr/>
          <p:nvPr/>
        </p:nvSpPr>
        <p:spPr>
          <a:xfrm>
            <a:off x="5812384" y="6254496"/>
            <a:ext cx="155448" cy="0"/>
          </a:xfrm>
          <a:prstGeom prst="line">
            <a:avLst/>
          </a:prstGeom>
          <a:noFill/>
          <a:ln w="15875">
            <a:solidFill>
              <a:schemeClr val="accent1"/>
            </a:solidFill>
            <a:prstDash val="solid"/>
          </a:ln>
        </p:spPr>
      </p:sp>
      <p:sp>
        <p:nvSpPr>
          <p:cNvPr id="14" name="Shape 12"/>
          <p:cNvSpPr/>
          <p:nvPr/>
        </p:nvSpPr>
        <p:spPr>
          <a:xfrm>
            <a:off x="5967832" y="6099048"/>
            <a:ext cx="0" cy="155448"/>
          </a:xfrm>
          <a:prstGeom prst="line">
            <a:avLst/>
          </a:prstGeom>
          <a:noFill/>
          <a:ln w="15875">
            <a:solidFill>
              <a:schemeClr val="accent1"/>
            </a:solidFill>
            <a:prstDash val="solid"/>
          </a:ln>
        </p:spPr>
      </p:sp>
      <p:sp>
        <p:nvSpPr>
          <p:cNvPr id="15" name="Text 13"/>
          <p:cNvSpPr txBox="1"/>
          <p:nvPr/>
        </p:nvSpPr>
        <p:spPr>
          <a:xfrm>
            <a:off x="777240" y="2578608"/>
            <a:ext cx="490712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ALTO IMPACTO · ALTA INCERTIDUMBRE</a:t>
            </a:r>
            <a:endParaRPr lang="es-CL" sz="1300" dirty="0"/>
          </a:p>
        </p:txBody>
      </p:sp>
      <p:sp>
        <p:nvSpPr>
          <p:cNvPr id="16" name="Text 14"/>
          <p:cNvSpPr txBox="1"/>
          <p:nvPr/>
        </p:nvSpPr>
        <p:spPr>
          <a:xfrm>
            <a:off x="777240" y="2871216"/>
            <a:ext cx="4907128" cy="365760"/>
          </a:xfrm>
          <a:prstGeom prst="rect">
            <a:avLst/>
          </a:prstGeom>
          <a:noFill/>
          <a:ln/>
        </p:spPr>
        <p:txBody>
          <a:bodyPr wrap="square" lIns="0" tIns="0" rIns="0" bIns="0" rtlCol="0" anchor="t"/>
          <a:lstStyle/>
          <a:p>
            <a:pPr indent="0" marL="0">
              <a:buNone/>
            </a:pPr>
            <a:r>
              <a:rPr lang="es-CL" altLang="en-US" sz="1800" i="1" dirty="0">
                <a:solidFill>
                  <a:schemeClr val="tx2"/>
                </a:solidFill>
                <a:latin typeface="Instrument Serif" pitchFamily="34" charset="0"/>
                <a:ea typeface="Instrument Serif" pitchFamily="34" charset="-122"/>
                <a:cs typeface="Instrument Serif" pitchFamily="34" charset="-120"/>
              </a:rPr>
              <a:t>Se tratan con escenarios</a:t>
            </a:r>
            <a:endParaRPr lang="es-CL" sz="1800" dirty="0"/>
          </a:p>
        </p:txBody>
      </p:sp>
      <p:sp>
        <p:nvSpPr>
          <p:cNvPr id="17" name="Shape 15"/>
          <p:cNvSpPr/>
          <p:nvPr/>
        </p:nvSpPr>
        <p:spPr>
          <a:xfrm>
            <a:off x="777240" y="3355848"/>
            <a:ext cx="4907128" cy="0"/>
          </a:xfrm>
          <a:prstGeom prst="line">
            <a:avLst/>
          </a:prstGeom>
          <a:noFill/>
          <a:ln w="9525">
            <a:solidFill>
              <a:schemeClr val="accent5"/>
            </a:solidFill>
            <a:prstDash val="solid"/>
          </a:ln>
        </p:spPr>
      </p:sp>
      <p:sp>
        <p:nvSpPr>
          <p:cNvPr id="18" name="Text 16"/>
          <p:cNvSpPr txBox="1"/>
          <p:nvPr/>
        </p:nvSpPr>
        <p:spPr>
          <a:xfrm>
            <a:off x="777240" y="3355848"/>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Reglamento de la Ley N° 21.793</a:t>
            </a:r>
            <a:endParaRPr lang="es-CL" sz="1700" dirty="0"/>
          </a:p>
        </p:txBody>
      </p:sp>
      <p:sp>
        <p:nvSpPr>
          <p:cNvPr id="19" name="Shape 17"/>
          <p:cNvSpPr/>
          <p:nvPr/>
        </p:nvSpPr>
        <p:spPr>
          <a:xfrm>
            <a:off x="777240" y="3867912"/>
            <a:ext cx="4907128" cy="0"/>
          </a:xfrm>
          <a:prstGeom prst="line">
            <a:avLst/>
          </a:prstGeom>
          <a:noFill/>
          <a:ln w="9525">
            <a:solidFill>
              <a:schemeClr val="accent5"/>
            </a:solidFill>
            <a:prstDash val="solid"/>
          </a:ln>
        </p:spPr>
      </p:sp>
      <p:sp>
        <p:nvSpPr>
          <p:cNvPr id="20" name="Text 18"/>
          <p:cNvSpPr txBox="1"/>
          <p:nvPr/>
        </p:nvSpPr>
        <p:spPr>
          <a:xfrm>
            <a:off x="777240" y="3867912"/>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Reconocimiento de aseguradoras y plantas</a:t>
            </a:r>
            <a:endParaRPr lang="es-CL" sz="1700" dirty="0"/>
          </a:p>
        </p:txBody>
      </p:sp>
      <p:sp>
        <p:nvSpPr>
          <p:cNvPr id="21" name="Shape 19"/>
          <p:cNvSpPr/>
          <p:nvPr/>
        </p:nvSpPr>
        <p:spPr>
          <a:xfrm>
            <a:off x="777240" y="4379976"/>
            <a:ext cx="4907128" cy="0"/>
          </a:xfrm>
          <a:prstGeom prst="line">
            <a:avLst/>
          </a:prstGeom>
          <a:noFill/>
          <a:ln w="9525">
            <a:solidFill>
              <a:schemeClr val="accent5"/>
            </a:solidFill>
            <a:prstDash val="solid"/>
          </a:ln>
        </p:spPr>
      </p:sp>
      <p:sp>
        <p:nvSpPr>
          <p:cNvPr id="22" name="Text 20"/>
          <p:cNvSpPr txBox="1"/>
          <p:nvPr/>
        </p:nvSpPr>
        <p:spPr>
          <a:xfrm>
            <a:off x="777240" y="4379976"/>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Precio de la bencina (volátil)</a:t>
            </a:r>
            <a:endParaRPr lang="es-CL" sz="1700" dirty="0"/>
          </a:p>
        </p:txBody>
      </p:sp>
      <p:sp>
        <p:nvSpPr>
          <p:cNvPr id="23" name="Shape 21"/>
          <p:cNvSpPr/>
          <p:nvPr/>
        </p:nvSpPr>
        <p:spPr>
          <a:xfrm>
            <a:off x="777240" y="4892040"/>
            <a:ext cx="4907128" cy="0"/>
          </a:xfrm>
          <a:prstGeom prst="line">
            <a:avLst/>
          </a:prstGeom>
          <a:noFill/>
          <a:ln w="9525">
            <a:solidFill>
              <a:schemeClr val="accent5"/>
            </a:solidFill>
            <a:prstDash val="solid"/>
          </a:ln>
        </p:spPr>
      </p:sp>
      <p:sp>
        <p:nvSpPr>
          <p:cNvPr id="24" name="Text 22"/>
          <p:cNvSpPr txBox="1"/>
          <p:nvPr/>
        </p:nvSpPr>
        <p:spPr>
          <a:xfrm>
            <a:off x="777240" y="4892040"/>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Tipo de cambio (kit 100% importado)</a:t>
            </a:r>
            <a:endParaRPr lang="es-CL" sz="1700" dirty="0"/>
          </a:p>
        </p:txBody>
      </p:sp>
      <p:sp>
        <p:nvSpPr>
          <p:cNvPr id="25" name="Shape 23"/>
          <p:cNvSpPr/>
          <p:nvPr/>
        </p:nvSpPr>
        <p:spPr>
          <a:xfrm>
            <a:off x="777240" y="5404104"/>
            <a:ext cx="4907128" cy="0"/>
          </a:xfrm>
          <a:prstGeom prst="line">
            <a:avLst/>
          </a:prstGeom>
          <a:noFill/>
          <a:ln w="9525">
            <a:solidFill>
              <a:schemeClr val="accent5"/>
            </a:solidFill>
            <a:prstDash val="solid"/>
          </a:ln>
        </p:spPr>
      </p:sp>
      <p:sp>
        <p:nvSpPr>
          <p:cNvPr id="26" name="Text 24"/>
          <p:cNvSpPr txBox="1"/>
          <p:nvPr/>
        </p:nvSpPr>
        <p:spPr>
          <a:xfrm>
            <a:off x="777240" y="5404104"/>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Ahorro real, sin medición propia</a:t>
            </a:r>
            <a:endParaRPr lang="es-CL" sz="1700" dirty="0"/>
          </a:p>
        </p:txBody>
      </p:sp>
      <p:sp>
        <p:nvSpPr>
          <p:cNvPr id="27" name="Shape 25"/>
          <p:cNvSpPr/>
          <p:nvPr/>
        </p:nvSpPr>
        <p:spPr>
          <a:xfrm>
            <a:off x="6278728" y="2395728"/>
            <a:ext cx="5364328" cy="3803904"/>
          </a:xfrm>
          <a:prstGeom prst="rect">
            <a:avLst/>
          </a:prstGeom>
          <a:solidFill>
            <a:schemeClr val="bg2">
              <a:alpha val="85000"/>
            </a:schemeClr>
          </a:solidFill>
          <a:ln w="9525">
            <a:solidFill>
              <a:schemeClr val="accent5"/>
            </a:solidFill>
            <a:prstDash val="solid"/>
          </a:ln>
        </p:spPr>
      </p:sp>
      <p:sp>
        <p:nvSpPr>
          <p:cNvPr id="28" name="Text 26"/>
          <p:cNvSpPr txBox="1"/>
          <p:nvPr/>
        </p:nvSpPr>
        <p:spPr>
          <a:xfrm>
            <a:off x="6507328" y="2578608"/>
            <a:ext cx="4907128" cy="274320"/>
          </a:xfrm>
          <a:prstGeom prst="rect">
            <a:avLst/>
          </a:prstGeom>
          <a:noFill/>
          <a:ln/>
        </p:spPr>
        <p:txBody>
          <a:bodyPr wrap="square" lIns="0" tIns="0" rIns="0" bIns="0" rtlCol="0" anchor="t"/>
          <a:lstStyle/>
          <a:p>
            <a:pP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ALTO IMPACTO · BAJA INCERTIDUMBRE</a:t>
            </a:r>
            <a:endParaRPr lang="es-CL" sz="1300" dirty="0"/>
          </a:p>
        </p:txBody>
      </p:sp>
      <p:sp>
        <p:nvSpPr>
          <p:cNvPr id="29" name="Text 27"/>
          <p:cNvSpPr txBox="1"/>
          <p:nvPr/>
        </p:nvSpPr>
        <p:spPr>
          <a:xfrm>
            <a:off x="6507328" y="2871216"/>
            <a:ext cx="4907128" cy="365760"/>
          </a:xfrm>
          <a:prstGeom prst="rect">
            <a:avLst/>
          </a:prstGeom>
          <a:noFill/>
          <a:ln/>
        </p:spPr>
        <p:txBody>
          <a:bodyPr wrap="square" lIns="0" tIns="0" rIns="0" bIns="0" rtlCol="0" anchor="t"/>
          <a:lstStyle/>
          <a:p>
            <a:pPr indent="0" marL="0">
              <a:buNone/>
            </a:pPr>
            <a:r>
              <a:rPr lang="es-CL" altLang="en-US" sz="1800" i="1" dirty="0">
                <a:solidFill>
                  <a:schemeClr val="tx2"/>
                </a:solidFill>
                <a:latin typeface="Instrument Serif" pitchFamily="34" charset="0"/>
                <a:ea typeface="Instrument Serif" pitchFamily="34" charset="-122"/>
                <a:cs typeface="Instrument Serif" pitchFamily="34" charset="-120"/>
              </a:rPr>
              <a:t>Tendencias para planificar</a:t>
            </a:r>
            <a:endParaRPr lang="es-CL" sz="1800" dirty="0"/>
          </a:p>
        </p:txBody>
      </p:sp>
      <p:sp>
        <p:nvSpPr>
          <p:cNvPr id="30" name="Shape 28"/>
          <p:cNvSpPr/>
          <p:nvPr/>
        </p:nvSpPr>
        <p:spPr>
          <a:xfrm>
            <a:off x="6507328" y="3355848"/>
            <a:ext cx="4907128" cy="0"/>
          </a:xfrm>
          <a:prstGeom prst="line">
            <a:avLst/>
          </a:prstGeom>
          <a:noFill/>
          <a:ln w="9525">
            <a:solidFill>
              <a:schemeClr val="accent5"/>
            </a:solidFill>
            <a:prstDash val="solid"/>
          </a:ln>
        </p:spPr>
      </p:sp>
      <p:sp>
        <p:nvSpPr>
          <p:cNvPr id="31" name="Text 29"/>
          <p:cNvSpPr txBox="1"/>
          <p:nvPr/>
        </p:nvSpPr>
        <p:spPr>
          <a:xfrm>
            <a:off x="6507328" y="3355848"/>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Parque que envejece y se conserva</a:t>
            </a:r>
            <a:endParaRPr lang="es-CL" sz="1700" dirty="0"/>
          </a:p>
        </p:txBody>
      </p:sp>
      <p:sp>
        <p:nvSpPr>
          <p:cNvPr id="32" name="Shape 30"/>
          <p:cNvSpPr/>
          <p:nvPr/>
        </p:nvSpPr>
        <p:spPr>
          <a:xfrm>
            <a:off x="6507328" y="3867912"/>
            <a:ext cx="4907128" cy="0"/>
          </a:xfrm>
          <a:prstGeom prst="line">
            <a:avLst/>
          </a:prstGeom>
          <a:noFill/>
          <a:ln w="9525">
            <a:solidFill>
              <a:schemeClr val="accent5"/>
            </a:solidFill>
            <a:prstDash val="solid"/>
          </a:ln>
        </p:spPr>
      </p:sp>
      <p:sp>
        <p:nvSpPr>
          <p:cNvPr id="33" name="Text 31"/>
          <p:cNvSpPr txBox="1"/>
          <p:nvPr/>
        </p:nvSpPr>
        <p:spPr>
          <a:xfrm>
            <a:off x="6507328" y="3867912"/>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Componentes estandarizados</a:t>
            </a:r>
            <a:endParaRPr lang="es-CL" sz="1700" dirty="0"/>
          </a:p>
        </p:txBody>
      </p:sp>
      <p:sp>
        <p:nvSpPr>
          <p:cNvPr id="34" name="Shape 32"/>
          <p:cNvSpPr/>
          <p:nvPr/>
        </p:nvSpPr>
        <p:spPr>
          <a:xfrm>
            <a:off x="6507328" y="4379976"/>
            <a:ext cx="4907128" cy="0"/>
          </a:xfrm>
          <a:prstGeom prst="line">
            <a:avLst/>
          </a:prstGeom>
          <a:noFill/>
          <a:ln w="9525">
            <a:solidFill>
              <a:schemeClr val="accent5"/>
            </a:solidFill>
            <a:prstDash val="solid"/>
          </a:ln>
        </p:spPr>
      </p:sp>
      <p:sp>
        <p:nvSpPr>
          <p:cNvPr id="35" name="Text 33"/>
          <p:cNvSpPr txBox="1"/>
          <p:nvPr/>
        </p:nvSpPr>
        <p:spPr>
          <a:xfrm>
            <a:off x="6507328" y="4379976"/>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Sustitutos: seguir con el auto o un híbrido usado</a:t>
            </a:r>
            <a:endParaRPr lang="es-CL" sz="1700" dirty="0"/>
          </a:p>
        </p:txBody>
      </p:sp>
      <p:sp>
        <p:nvSpPr>
          <p:cNvPr id="36" name="Shape 34"/>
          <p:cNvSpPr/>
          <p:nvPr/>
        </p:nvSpPr>
        <p:spPr>
          <a:xfrm>
            <a:off x="6507328" y="4892040"/>
            <a:ext cx="4907128" cy="0"/>
          </a:xfrm>
          <a:prstGeom prst="line">
            <a:avLst/>
          </a:prstGeom>
          <a:noFill/>
          <a:ln w="9525">
            <a:solidFill>
              <a:schemeClr val="accent5"/>
            </a:solidFill>
            <a:prstDash val="solid"/>
          </a:ln>
        </p:spPr>
      </p:sp>
      <p:sp>
        <p:nvSpPr>
          <p:cNvPr id="37" name="Text 35"/>
          <p:cNvSpPr txBox="1"/>
          <p:nvPr/>
        </p:nvSpPr>
        <p:spPr>
          <a:xfrm>
            <a:off x="6507328" y="4892040"/>
            <a:ext cx="4907128" cy="512064"/>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Metas de reciclaje (Ley REP) para baterías</a:t>
            </a:r>
            <a:endParaRPr lang="es-CL" sz="17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A5</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COMPETENCIAS · 15 RECURSOS Y CAPACIDADES</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UNA SOLA COMPETENCIA CENTRAL,</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y todavía potencial.</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de competencias (05) del análisis estratégico del equipo (Control de Gestión, 2026).</a:t>
            </a:r>
            <a:endParaRPr lang="es-CL" sz="1200" dirty="0"/>
          </a:p>
        </p:txBody>
      </p:sp>
      <p:sp>
        <p:nvSpPr>
          <p:cNvPr id="6" name="Text 4"/>
          <p:cNvSpPr txBox="1"/>
          <p:nvPr/>
        </p:nvSpPr>
        <p:spPr>
          <a:xfrm>
            <a:off x="548640" y="2304288"/>
            <a:ext cx="365760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RECURSO O CAPACIDAD</a:t>
            </a:r>
            <a:endParaRPr lang="es-CL" sz="1200" dirty="0"/>
          </a:p>
        </p:txBody>
      </p:sp>
      <p:sp>
        <p:nvSpPr>
          <p:cNvPr id="7" name="Text 5"/>
          <p:cNvSpPr txBox="1"/>
          <p:nvPr/>
        </p:nvSpPr>
        <p:spPr>
          <a:xfrm>
            <a:off x="7665415" y="2304288"/>
            <a:ext cx="118872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TIPO</a:t>
            </a:r>
            <a:endParaRPr lang="es-CL" sz="1200" dirty="0"/>
          </a:p>
        </p:txBody>
      </p:sp>
      <p:sp>
        <p:nvSpPr>
          <p:cNvPr id="8" name="Text 6"/>
          <p:cNvSpPr txBox="1"/>
          <p:nvPr/>
        </p:nvSpPr>
        <p:spPr>
          <a:xfrm>
            <a:off x="8854135" y="230428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V</a:t>
            </a:r>
            <a:endParaRPr lang="es-CL" sz="1200" dirty="0"/>
          </a:p>
        </p:txBody>
      </p:sp>
      <p:sp>
        <p:nvSpPr>
          <p:cNvPr id="9" name="Text 7"/>
          <p:cNvSpPr txBox="1"/>
          <p:nvPr/>
        </p:nvSpPr>
        <p:spPr>
          <a:xfrm>
            <a:off x="9183319" y="230428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R</a:t>
            </a:r>
            <a:endParaRPr lang="es-CL" sz="1200" dirty="0"/>
          </a:p>
        </p:txBody>
      </p:sp>
      <p:sp>
        <p:nvSpPr>
          <p:cNvPr id="10" name="Text 8"/>
          <p:cNvSpPr txBox="1"/>
          <p:nvPr/>
        </p:nvSpPr>
        <p:spPr>
          <a:xfrm>
            <a:off x="9512503" y="230428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C</a:t>
            </a:r>
            <a:endParaRPr lang="es-CL" sz="1200" dirty="0"/>
          </a:p>
        </p:txBody>
      </p:sp>
      <p:sp>
        <p:nvSpPr>
          <p:cNvPr id="11" name="Text 9"/>
          <p:cNvSpPr txBox="1"/>
          <p:nvPr/>
        </p:nvSpPr>
        <p:spPr>
          <a:xfrm>
            <a:off x="9841687" y="2304288"/>
            <a:ext cx="274320" cy="274320"/>
          </a:xfrm>
          <a:prstGeom prst="rect">
            <a:avLst/>
          </a:prstGeom>
          <a:noFill/>
          <a:ln/>
        </p:spPr>
        <p:txBody>
          <a:bodyPr wrap="square" lIns="0" tIns="0" rIns="0" bIns="0" rtlCol="0" anchor="t"/>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I</a:t>
            </a:r>
            <a:endParaRPr lang="es-CL" sz="1200" dirty="0"/>
          </a:p>
        </p:txBody>
      </p:sp>
      <p:sp>
        <p:nvSpPr>
          <p:cNvPr id="12" name="Text 10"/>
          <p:cNvSpPr txBox="1"/>
          <p:nvPr/>
        </p:nvSpPr>
        <p:spPr>
          <a:xfrm>
            <a:off x="10225735" y="2304288"/>
            <a:ext cx="1417320" cy="274320"/>
          </a:xfrm>
          <a:prstGeom prst="rect">
            <a:avLst/>
          </a:prstGeom>
          <a:noFill/>
          <a:ln/>
        </p:spPr>
        <p:txBody>
          <a:bodyPr wrap="square" lIns="0" tIns="0" rIns="0" bIns="0" rtlCol="0" anchor="t"/>
          <a:lstStyle/>
          <a:p>
            <a:pPr algn="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RESULTADO</a:t>
            </a:r>
            <a:endParaRPr lang="es-CL" sz="1200" dirty="0"/>
          </a:p>
        </p:txBody>
      </p:sp>
      <p:sp>
        <p:nvSpPr>
          <p:cNvPr id="13" name="Shape 11"/>
          <p:cNvSpPr/>
          <p:nvPr/>
        </p:nvSpPr>
        <p:spPr>
          <a:xfrm>
            <a:off x="548640" y="2615184"/>
            <a:ext cx="11094415" cy="0"/>
          </a:xfrm>
          <a:prstGeom prst="line">
            <a:avLst/>
          </a:prstGeom>
          <a:noFill/>
          <a:ln w="9525">
            <a:solidFill>
              <a:schemeClr val="accent1"/>
            </a:solidFill>
            <a:prstDash val="solid"/>
          </a:ln>
        </p:spPr>
      </p:sp>
      <p:sp>
        <p:nvSpPr>
          <p:cNvPr id="14" name="Text 12"/>
          <p:cNvSpPr txBox="1"/>
          <p:nvPr/>
        </p:nvSpPr>
        <p:spPr>
          <a:xfrm>
            <a:off x="548640" y="2615184"/>
            <a:ext cx="7025335" cy="347472"/>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Biblioteca de calibraciones</a:t>
            </a:r>
            <a:endParaRPr lang="es-CL" sz="1600" dirty="0"/>
          </a:p>
        </p:txBody>
      </p:sp>
      <p:sp>
        <p:nvSpPr>
          <p:cNvPr id="15" name="Text 13"/>
          <p:cNvSpPr txBox="1"/>
          <p:nvPr/>
        </p:nvSpPr>
        <p:spPr>
          <a:xfrm>
            <a:off x="7665415" y="2615184"/>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Recurso</a:t>
            </a:r>
            <a:endParaRPr lang="es-CL" sz="1600" dirty="0"/>
          </a:p>
        </p:txBody>
      </p:sp>
      <p:sp>
        <p:nvSpPr>
          <p:cNvPr id="16" name="Shape 14"/>
          <p:cNvSpPr/>
          <p:nvPr/>
        </p:nvSpPr>
        <p:spPr>
          <a:xfrm>
            <a:off x="8927287" y="2715768"/>
            <a:ext cx="146304" cy="146304"/>
          </a:xfrm>
          <a:prstGeom prst="rect">
            <a:avLst/>
          </a:prstGeom>
          <a:solidFill>
            <a:schemeClr val="accent1"/>
          </a:solidFill>
          <a:ln w="9525">
            <a:solidFill>
              <a:schemeClr val="accent1"/>
            </a:solidFill>
            <a:prstDash val="solid"/>
          </a:ln>
        </p:spPr>
      </p:sp>
      <p:sp>
        <p:nvSpPr>
          <p:cNvPr id="17" name="Shape 15"/>
          <p:cNvSpPr/>
          <p:nvPr/>
        </p:nvSpPr>
        <p:spPr>
          <a:xfrm>
            <a:off x="9256471" y="2715768"/>
            <a:ext cx="146304" cy="146304"/>
          </a:xfrm>
          <a:prstGeom prst="rect">
            <a:avLst/>
          </a:prstGeom>
          <a:solidFill>
            <a:schemeClr val="accent1"/>
          </a:solidFill>
          <a:ln w="9525">
            <a:solidFill>
              <a:schemeClr val="accent1"/>
            </a:solidFill>
            <a:prstDash val="solid"/>
          </a:ln>
        </p:spPr>
      </p:sp>
      <p:sp>
        <p:nvSpPr>
          <p:cNvPr id="18" name="Shape 16"/>
          <p:cNvSpPr/>
          <p:nvPr/>
        </p:nvSpPr>
        <p:spPr>
          <a:xfrm>
            <a:off x="9585655" y="2715768"/>
            <a:ext cx="146304" cy="146304"/>
          </a:xfrm>
          <a:prstGeom prst="rect">
            <a:avLst/>
          </a:prstGeom>
          <a:solidFill>
            <a:schemeClr val="accent1"/>
          </a:solidFill>
          <a:ln w="9525">
            <a:solidFill>
              <a:schemeClr val="accent1"/>
            </a:solidFill>
            <a:prstDash val="solid"/>
          </a:ln>
        </p:spPr>
      </p:sp>
      <p:sp>
        <p:nvSpPr>
          <p:cNvPr id="19" name="Shape 17"/>
          <p:cNvSpPr/>
          <p:nvPr/>
        </p:nvSpPr>
        <p:spPr>
          <a:xfrm>
            <a:off x="9914839" y="2715768"/>
            <a:ext cx="146304" cy="146304"/>
          </a:xfrm>
          <a:prstGeom prst="rect">
            <a:avLst/>
          </a:prstGeom>
          <a:solidFill>
            <a:schemeClr val="accent1"/>
          </a:solidFill>
          <a:ln w="9525">
            <a:solidFill>
              <a:schemeClr val="accent1"/>
            </a:solidFill>
            <a:prstDash val="solid"/>
          </a:ln>
        </p:spPr>
      </p:sp>
      <p:sp>
        <p:nvSpPr>
          <p:cNvPr id="20" name="Text 18"/>
          <p:cNvSpPr txBox="1"/>
          <p:nvPr/>
        </p:nvSpPr>
        <p:spPr>
          <a:xfrm>
            <a:off x="10225735" y="2615184"/>
            <a:ext cx="1417320" cy="347472"/>
          </a:xfrm>
          <a:prstGeom prst="rect">
            <a:avLst/>
          </a:prstGeom>
          <a:noFill/>
          <a:ln/>
        </p:spPr>
        <p:txBody>
          <a:bodyPr wrap="square" lIns="0" tIns="0" rIns="0" bIns="0" rtlCol="0" anchor="ctr"/>
          <a:lstStyle/>
          <a:p>
            <a:pPr algn="r" indent="0" marL="0">
              <a:buNone/>
            </a:pPr>
            <a:r>
              <a:rPr lang="es-CL" altLang="en-US" sz="1300" b="1" spc="100" kern="0" dirty="0">
                <a:solidFill>
                  <a:schemeClr val="accent1"/>
                </a:solidFill>
                <a:latin typeface="IBM Plex Mono" pitchFamily="34" charset="0"/>
                <a:ea typeface="IBM Plex Mono" pitchFamily="34" charset="-122"/>
                <a:cs typeface="IBM Plex Mono" pitchFamily="34" charset="-120"/>
              </a:rPr>
              <a:t>POTENCIAL</a:t>
            </a:r>
            <a:endParaRPr lang="es-CL" sz="1300" dirty="0"/>
          </a:p>
        </p:txBody>
      </p:sp>
      <p:sp>
        <p:nvSpPr>
          <p:cNvPr id="21" name="Shape 19"/>
          <p:cNvSpPr/>
          <p:nvPr/>
        </p:nvSpPr>
        <p:spPr>
          <a:xfrm>
            <a:off x="548640" y="2962656"/>
            <a:ext cx="11094415" cy="0"/>
          </a:xfrm>
          <a:prstGeom prst="line">
            <a:avLst/>
          </a:prstGeom>
          <a:noFill/>
          <a:ln w="9525">
            <a:solidFill>
              <a:schemeClr val="accent5"/>
            </a:solidFill>
            <a:prstDash val="solid"/>
          </a:ln>
        </p:spPr>
      </p:sp>
      <p:sp>
        <p:nvSpPr>
          <p:cNvPr id="22" name="Text 20"/>
          <p:cNvSpPr txBox="1"/>
          <p:nvPr/>
        </p:nvSpPr>
        <p:spPr>
          <a:xfrm>
            <a:off x="548640" y="2962656"/>
            <a:ext cx="7025335" cy="347472"/>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Ingeniería de integración y calibración</a:t>
            </a:r>
            <a:endParaRPr lang="es-CL" sz="1600" dirty="0"/>
          </a:p>
        </p:txBody>
      </p:sp>
      <p:sp>
        <p:nvSpPr>
          <p:cNvPr id="23" name="Text 21"/>
          <p:cNvSpPr txBox="1"/>
          <p:nvPr/>
        </p:nvSpPr>
        <p:spPr>
          <a:xfrm>
            <a:off x="7665415" y="2962656"/>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Capacidad</a:t>
            </a:r>
            <a:endParaRPr lang="es-CL" sz="1600" dirty="0"/>
          </a:p>
        </p:txBody>
      </p:sp>
      <p:sp>
        <p:nvSpPr>
          <p:cNvPr id="24" name="Shape 22"/>
          <p:cNvSpPr/>
          <p:nvPr/>
        </p:nvSpPr>
        <p:spPr>
          <a:xfrm>
            <a:off x="8927287" y="3063240"/>
            <a:ext cx="146304" cy="146304"/>
          </a:xfrm>
          <a:prstGeom prst="rect">
            <a:avLst/>
          </a:prstGeom>
          <a:solidFill>
            <a:schemeClr val="accent1"/>
          </a:solidFill>
          <a:ln w="9525">
            <a:solidFill>
              <a:schemeClr val="accent1"/>
            </a:solidFill>
            <a:prstDash val="solid"/>
          </a:ln>
        </p:spPr>
      </p:sp>
      <p:sp>
        <p:nvSpPr>
          <p:cNvPr id="25" name="Shape 23"/>
          <p:cNvSpPr/>
          <p:nvPr/>
        </p:nvSpPr>
        <p:spPr>
          <a:xfrm>
            <a:off x="9256471" y="3063240"/>
            <a:ext cx="146304" cy="146304"/>
          </a:xfrm>
          <a:prstGeom prst="rect">
            <a:avLst/>
          </a:prstGeom>
          <a:solidFill>
            <a:schemeClr val="accent1"/>
          </a:solidFill>
          <a:ln w="9525">
            <a:solidFill>
              <a:schemeClr val="accent1"/>
            </a:solidFill>
            <a:prstDash val="solid"/>
          </a:ln>
        </p:spPr>
      </p:sp>
      <p:sp>
        <p:nvSpPr>
          <p:cNvPr id="26" name="Shape 24"/>
          <p:cNvSpPr/>
          <p:nvPr/>
        </p:nvSpPr>
        <p:spPr>
          <a:xfrm>
            <a:off x="9585655" y="3063240"/>
            <a:ext cx="146304" cy="146304"/>
          </a:xfrm>
          <a:prstGeom prst="rect">
            <a:avLst/>
          </a:prstGeom>
          <a:solidFill>
            <a:schemeClr val="accent1"/>
          </a:solidFill>
          <a:ln w="9525">
            <a:solidFill>
              <a:schemeClr val="accent1"/>
            </a:solidFill>
            <a:prstDash val="solid"/>
          </a:ln>
        </p:spPr>
      </p:sp>
      <p:sp>
        <p:nvSpPr>
          <p:cNvPr id="27" name="Shape 25"/>
          <p:cNvSpPr/>
          <p:nvPr/>
        </p:nvSpPr>
        <p:spPr>
          <a:xfrm>
            <a:off x="9914839" y="3063240"/>
            <a:ext cx="146304" cy="146304"/>
          </a:xfrm>
          <a:prstGeom prst="rect">
            <a:avLst/>
          </a:prstGeom>
          <a:solidFill>
            <a:schemeClr val="accent1"/>
          </a:solidFill>
          <a:ln w="9525">
            <a:solidFill>
              <a:schemeClr val="accent1"/>
            </a:solidFill>
            <a:prstDash val="solid"/>
          </a:ln>
        </p:spPr>
      </p:sp>
      <p:sp>
        <p:nvSpPr>
          <p:cNvPr id="28" name="Text 26"/>
          <p:cNvSpPr txBox="1"/>
          <p:nvPr/>
        </p:nvSpPr>
        <p:spPr>
          <a:xfrm>
            <a:off x="10225735" y="2962656"/>
            <a:ext cx="1417320" cy="347472"/>
          </a:xfrm>
          <a:prstGeom prst="rect">
            <a:avLst/>
          </a:prstGeom>
          <a:noFill/>
          <a:ln/>
        </p:spPr>
        <p:txBody>
          <a:bodyPr wrap="square" lIns="0" tIns="0" rIns="0" bIns="0" rtlCol="0" anchor="ctr"/>
          <a:lstStyle/>
          <a:p>
            <a:pPr algn="r" indent="0" marL="0">
              <a:buNone/>
            </a:pPr>
            <a:r>
              <a:rPr lang="es-CL" altLang="en-US" sz="1300" b="1" spc="100" kern="0" dirty="0">
                <a:solidFill>
                  <a:schemeClr val="accent1"/>
                </a:solidFill>
                <a:latin typeface="IBM Plex Mono" pitchFamily="34" charset="0"/>
                <a:ea typeface="IBM Plex Mono" pitchFamily="34" charset="-122"/>
                <a:cs typeface="IBM Plex Mono" pitchFamily="34" charset="-120"/>
              </a:rPr>
              <a:t>POTENCIAL</a:t>
            </a:r>
            <a:endParaRPr lang="es-CL" sz="1300" dirty="0"/>
          </a:p>
        </p:txBody>
      </p:sp>
      <p:sp>
        <p:nvSpPr>
          <p:cNvPr id="29" name="Shape 27"/>
          <p:cNvSpPr/>
          <p:nvPr/>
        </p:nvSpPr>
        <p:spPr>
          <a:xfrm>
            <a:off x="548640" y="3310128"/>
            <a:ext cx="11094415" cy="0"/>
          </a:xfrm>
          <a:prstGeom prst="line">
            <a:avLst/>
          </a:prstGeom>
          <a:noFill/>
          <a:ln w="9525">
            <a:solidFill>
              <a:schemeClr val="accent5"/>
            </a:solidFill>
            <a:prstDash val="solid"/>
          </a:ln>
        </p:spPr>
      </p:sp>
      <p:sp>
        <p:nvSpPr>
          <p:cNvPr id="30" name="Text 28"/>
          <p:cNvSpPr txBox="1"/>
          <p:nvPr/>
        </p:nvSpPr>
        <p:spPr>
          <a:xfrm>
            <a:off x="548640" y="3310128"/>
            <a:ext cx="702533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Formación interna en proceso y calibración</a:t>
            </a:r>
            <a:endParaRPr lang="es-CL" sz="1600" dirty="0"/>
          </a:p>
        </p:txBody>
      </p:sp>
      <p:sp>
        <p:nvSpPr>
          <p:cNvPr id="31" name="Text 29"/>
          <p:cNvSpPr txBox="1"/>
          <p:nvPr/>
        </p:nvSpPr>
        <p:spPr>
          <a:xfrm>
            <a:off x="7665415" y="3310128"/>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Capacidad</a:t>
            </a:r>
            <a:endParaRPr lang="es-CL" sz="1600" dirty="0"/>
          </a:p>
        </p:txBody>
      </p:sp>
      <p:sp>
        <p:nvSpPr>
          <p:cNvPr id="32" name="Shape 30"/>
          <p:cNvSpPr/>
          <p:nvPr/>
        </p:nvSpPr>
        <p:spPr>
          <a:xfrm>
            <a:off x="8927287" y="3410712"/>
            <a:ext cx="146304" cy="146304"/>
          </a:xfrm>
          <a:prstGeom prst="rect">
            <a:avLst/>
          </a:prstGeom>
          <a:solidFill>
            <a:schemeClr val="tx2"/>
          </a:solidFill>
          <a:ln w="9525">
            <a:solidFill>
              <a:schemeClr val="tx2"/>
            </a:solidFill>
            <a:prstDash val="solid"/>
          </a:ln>
        </p:spPr>
      </p:sp>
      <p:sp>
        <p:nvSpPr>
          <p:cNvPr id="33" name="Shape 31"/>
          <p:cNvSpPr/>
          <p:nvPr/>
        </p:nvSpPr>
        <p:spPr>
          <a:xfrm>
            <a:off x="9256471" y="3410712"/>
            <a:ext cx="146304" cy="146304"/>
          </a:xfrm>
          <a:prstGeom prst="rect">
            <a:avLst/>
          </a:prstGeom>
          <a:solidFill>
            <a:schemeClr val="tx2"/>
          </a:solidFill>
          <a:ln w="9525">
            <a:solidFill>
              <a:schemeClr val="tx2"/>
            </a:solidFill>
            <a:prstDash val="solid"/>
          </a:ln>
        </p:spPr>
      </p:sp>
      <p:sp>
        <p:nvSpPr>
          <p:cNvPr id="34" name="Shape 32"/>
          <p:cNvSpPr/>
          <p:nvPr/>
        </p:nvSpPr>
        <p:spPr>
          <a:xfrm>
            <a:off x="9585655" y="3410712"/>
            <a:ext cx="146304" cy="146304"/>
          </a:xfrm>
          <a:prstGeom prst="rect">
            <a:avLst/>
          </a:prstGeom>
          <a:solidFill>
            <a:schemeClr val="tx2"/>
          </a:solidFill>
          <a:ln w="9525">
            <a:solidFill>
              <a:schemeClr val="tx2"/>
            </a:solidFill>
            <a:prstDash val="solid"/>
          </a:ln>
        </p:spPr>
      </p:sp>
      <p:sp>
        <p:nvSpPr>
          <p:cNvPr id="35" name="Shape 33"/>
          <p:cNvSpPr/>
          <p:nvPr/>
        </p:nvSpPr>
        <p:spPr>
          <a:xfrm>
            <a:off x="9914839" y="3410712"/>
            <a:ext cx="146304" cy="146304"/>
          </a:xfrm>
          <a:prstGeom prst="rect">
            <a:avLst/>
          </a:prstGeom>
          <a:solidFill>
            <a:schemeClr val="bg1">
              <a:alpha val="0"/>
            </a:schemeClr>
          </a:solidFill>
          <a:ln w="9525">
            <a:solidFill>
              <a:schemeClr val="accent3"/>
            </a:solidFill>
            <a:prstDash val="solid"/>
          </a:ln>
        </p:spPr>
      </p:sp>
      <p:sp>
        <p:nvSpPr>
          <p:cNvPr id="36" name="Text 34"/>
          <p:cNvSpPr txBox="1"/>
          <p:nvPr/>
        </p:nvSpPr>
        <p:spPr>
          <a:xfrm>
            <a:off x="10225735" y="3310128"/>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37" name="Shape 35"/>
          <p:cNvSpPr/>
          <p:nvPr/>
        </p:nvSpPr>
        <p:spPr>
          <a:xfrm>
            <a:off x="548640" y="3657600"/>
            <a:ext cx="11094415" cy="0"/>
          </a:xfrm>
          <a:prstGeom prst="line">
            <a:avLst/>
          </a:prstGeom>
          <a:noFill/>
          <a:ln w="9525">
            <a:solidFill>
              <a:schemeClr val="accent5"/>
            </a:solidFill>
            <a:prstDash val="solid"/>
          </a:ln>
        </p:spPr>
      </p:sp>
      <p:sp>
        <p:nvSpPr>
          <p:cNvPr id="38" name="Text 36"/>
          <p:cNvSpPr txBox="1"/>
          <p:nvPr/>
        </p:nvSpPr>
        <p:spPr>
          <a:xfrm>
            <a:off x="548640" y="3657600"/>
            <a:ext cx="702533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Homologación por par modelo-kit</a:t>
            </a:r>
            <a:endParaRPr lang="es-CL" sz="1600" dirty="0"/>
          </a:p>
        </p:txBody>
      </p:sp>
      <p:sp>
        <p:nvSpPr>
          <p:cNvPr id="39" name="Text 37"/>
          <p:cNvSpPr txBox="1"/>
          <p:nvPr/>
        </p:nvSpPr>
        <p:spPr>
          <a:xfrm>
            <a:off x="7665415" y="3657600"/>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Recurso</a:t>
            </a:r>
            <a:endParaRPr lang="es-CL" sz="1600" dirty="0"/>
          </a:p>
        </p:txBody>
      </p:sp>
      <p:sp>
        <p:nvSpPr>
          <p:cNvPr id="40" name="Shape 38"/>
          <p:cNvSpPr/>
          <p:nvPr/>
        </p:nvSpPr>
        <p:spPr>
          <a:xfrm>
            <a:off x="8927287" y="3758184"/>
            <a:ext cx="146304" cy="146304"/>
          </a:xfrm>
          <a:prstGeom prst="rect">
            <a:avLst/>
          </a:prstGeom>
          <a:solidFill>
            <a:schemeClr val="tx2"/>
          </a:solidFill>
          <a:ln w="9525">
            <a:solidFill>
              <a:schemeClr val="tx2"/>
            </a:solidFill>
            <a:prstDash val="solid"/>
          </a:ln>
        </p:spPr>
      </p:sp>
      <p:sp>
        <p:nvSpPr>
          <p:cNvPr id="41" name="Shape 39"/>
          <p:cNvSpPr/>
          <p:nvPr/>
        </p:nvSpPr>
        <p:spPr>
          <a:xfrm>
            <a:off x="9256471" y="3758184"/>
            <a:ext cx="146304" cy="146304"/>
          </a:xfrm>
          <a:prstGeom prst="rect">
            <a:avLst/>
          </a:prstGeom>
          <a:solidFill>
            <a:schemeClr val="tx2"/>
          </a:solidFill>
          <a:ln w="9525">
            <a:solidFill>
              <a:schemeClr val="tx2"/>
            </a:solidFill>
            <a:prstDash val="solid"/>
          </a:ln>
        </p:spPr>
      </p:sp>
      <p:sp>
        <p:nvSpPr>
          <p:cNvPr id="42" name="Shape 40"/>
          <p:cNvSpPr/>
          <p:nvPr/>
        </p:nvSpPr>
        <p:spPr>
          <a:xfrm>
            <a:off x="9585655" y="3758184"/>
            <a:ext cx="146304" cy="146304"/>
          </a:xfrm>
          <a:prstGeom prst="rect">
            <a:avLst/>
          </a:prstGeom>
          <a:solidFill>
            <a:schemeClr val="bg1">
              <a:alpha val="0"/>
            </a:schemeClr>
          </a:solidFill>
          <a:ln w="9525">
            <a:solidFill>
              <a:schemeClr val="accent3"/>
            </a:solidFill>
            <a:prstDash val="solid"/>
          </a:ln>
        </p:spPr>
      </p:sp>
      <p:sp>
        <p:nvSpPr>
          <p:cNvPr id="43" name="Shape 41"/>
          <p:cNvSpPr/>
          <p:nvPr/>
        </p:nvSpPr>
        <p:spPr>
          <a:xfrm>
            <a:off x="9914839" y="3758184"/>
            <a:ext cx="146304" cy="146304"/>
          </a:xfrm>
          <a:prstGeom prst="rect">
            <a:avLst/>
          </a:prstGeom>
          <a:solidFill>
            <a:schemeClr val="bg1">
              <a:alpha val="0"/>
            </a:schemeClr>
          </a:solidFill>
          <a:ln w="9525">
            <a:solidFill>
              <a:schemeClr val="accent3"/>
            </a:solidFill>
            <a:prstDash val="solid"/>
          </a:ln>
        </p:spPr>
      </p:sp>
      <p:sp>
        <p:nvSpPr>
          <p:cNvPr id="44" name="Text 42"/>
          <p:cNvSpPr txBox="1"/>
          <p:nvPr/>
        </p:nvSpPr>
        <p:spPr>
          <a:xfrm>
            <a:off x="10225735" y="3657600"/>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45" name="Shape 43"/>
          <p:cNvSpPr/>
          <p:nvPr/>
        </p:nvSpPr>
        <p:spPr>
          <a:xfrm>
            <a:off x="548640" y="4005072"/>
            <a:ext cx="11094415" cy="0"/>
          </a:xfrm>
          <a:prstGeom prst="line">
            <a:avLst/>
          </a:prstGeom>
          <a:noFill/>
          <a:ln w="9525">
            <a:solidFill>
              <a:schemeClr val="accent5"/>
            </a:solidFill>
            <a:prstDash val="solid"/>
          </a:ln>
        </p:spPr>
      </p:sp>
      <p:sp>
        <p:nvSpPr>
          <p:cNvPr id="46" name="Text 44"/>
          <p:cNvSpPr txBox="1"/>
          <p:nvPr/>
        </p:nvSpPr>
        <p:spPr>
          <a:xfrm>
            <a:off x="548640" y="4005072"/>
            <a:ext cx="702533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Autorización del taller</a:t>
            </a:r>
            <a:endParaRPr lang="es-CL" sz="1600" dirty="0"/>
          </a:p>
        </p:txBody>
      </p:sp>
      <p:sp>
        <p:nvSpPr>
          <p:cNvPr id="47" name="Text 45"/>
          <p:cNvSpPr txBox="1"/>
          <p:nvPr/>
        </p:nvSpPr>
        <p:spPr>
          <a:xfrm>
            <a:off x="7665415" y="4005072"/>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Recurso</a:t>
            </a:r>
            <a:endParaRPr lang="es-CL" sz="1600" dirty="0"/>
          </a:p>
        </p:txBody>
      </p:sp>
      <p:sp>
        <p:nvSpPr>
          <p:cNvPr id="48" name="Shape 46"/>
          <p:cNvSpPr/>
          <p:nvPr/>
        </p:nvSpPr>
        <p:spPr>
          <a:xfrm>
            <a:off x="8927287" y="4105656"/>
            <a:ext cx="146304" cy="146304"/>
          </a:xfrm>
          <a:prstGeom prst="rect">
            <a:avLst/>
          </a:prstGeom>
          <a:solidFill>
            <a:schemeClr val="tx2"/>
          </a:solidFill>
          <a:ln w="9525">
            <a:solidFill>
              <a:schemeClr val="tx2"/>
            </a:solidFill>
            <a:prstDash val="solid"/>
          </a:ln>
        </p:spPr>
      </p:sp>
      <p:sp>
        <p:nvSpPr>
          <p:cNvPr id="49" name="Shape 47"/>
          <p:cNvSpPr/>
          <p:nvPr/>
        </p:nvSpPr>
        <p:spPr>
          <a:xfrm>
            <a:off x="9256471" y="4105656"/>
            <a:ext cx="146304" cy="146304"/>
          </a:xfrm>
          <a:prstGeom prst="rect">
            <a:avLst/>
          </a:prstGeom>
          <a:solidFill>
            <a:schemeClr val="tx2"/>
          </a:solidFill>
          <a:ln w="9525">
            <a:solidFill>
              <a:schemeClr val="tx2"/>
            </a:solidFill>
            <a:prstDash val="solid"/>
          </a:ln>
        </p:spPr>
      </p:sp>
      <p:sp>
        <p:nvSpPr>
          <p:cNvPr id="50" name="Shape 48"/>
          <p:cNvSpPr/>
          <p:nvPr/>
        </p:nvSpPr>
        <p:spPr>
          <a:xfrm>
            <a:off x="9585655" y="4105656"/>
            <a:ext cx="146304" cy="146304"/>
          </a:xfrm>
          <a:prstGeom prst="rect">
            <a:avLst/>
          </a:prstGeom>
          <a:solidFill>
            <a:schemeClr val="bg1">
              <a:alpha val="0"/>
            </a:schemeClr>
          </a:solidFill>
          <a:ln w="9525">
            <a:solidFill>
              <a:schemeClr val="accent3"/>
            </a:solidFill>
            <a:prstDash val="solid"/>
          </a:ln>
        </p:spPr>
      </p:sp>
      <p:sp>
        <p:nvSpPr>
          <p:cNvPr id="51" name="Shape 49"/>
          <p:cNvSpPr/>
          <p:nvPr/>
        </p:nvSpPr>
        <p:spPr>
          <a:xfrm>
            <a:off x="9914839" y="4105656"/>
            <a:ext cx="146304" cy="146304"/>
          </a:xfrm>
          <a:prstGeom prst="rect">
            <a:avLst/>
          </a:prstGeom>
          <a:solidFill>
            <a:schemeClr val="bg1">
              <a:alpha val="0"/>
            </a:schemeClr>
          </a:solidFill>
          <a:ln w="9525">
            <a:solidFill>
              <a:schemeClr val="accent3"/>
            </a:solidFill>
            <a:prstDash val="solid"/>
          </a:ln>
        </p:spPr>
      </p:sp>
      <p:sp>
        <p:nvSpPr>
          <p:cNvPr id="52" name="Text 50"/>
          <p:cNvSpPr txBox="1"/>
          <p:nvPr/>
        </p:nvSpPr>
        <p:spPr>
          <a:xfrm>
            <a:off x="10225735" y="4005072"/>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53" name="Shape 51"/>
          <p:cNvSpPr/>
          <p:nvPr/>
        </p:nvSpPr>
        <p:spPr>
          <a:xfrm>
            <a:off x="548640" y="4352544"/>
            <a:ext cx="11094415" cy="0"/>
          </a:xfrm>
          <a:prstGeom prst="line">
            <a:avLst/>
          </a:prstGeom>
          <a:noFill/>
          <a:ln w="9525">
            <a:solidFill>
              <a:schemeClr val="accent5"/>
            </a:solidFill>
            <a:prstDash val="solid"/>
          </a:ln>
        </p:spPr>
      </p:sp>
      <p:sp>
        <p:nvSpPr>
          <p:cNvPr id="54" name="Text 52"/>
          <p:cNvSpPr txBox="1"/>
          <p:nvPr/>
        </p:nvSpPr>
        <p:spPr>
          <a:xfrm>
            <a:off x="548640" y="4352544"/>
            <a:ext cx="702533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Técnicos con licencia SEC</a:t>
            </a:r>
            <a:endParaRPr lang="es-CL" sz="1600" dirty="0"/>
          </a:p>
        </p:txBody>
      </p:sp>
      <p:sp>
        <p:nvSpPr>
          <p:cNvPr id="55" name="Text 53"/>
          <p:cNvSpPr txBox="1"/>
          <p:nvPr/>
        </p:nvSpPr>
        <p:spPr>
          <a:xfrm>
            <a:off x="7665415" y="4352544"/>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Recurso</a:t>
            </a:r>
            <a:endParaRPr lang="es-CL" sz="1600" dirty="0"/>
          </a:p>
        </p:txBody>
      </p:sp>
      <p:sp>
        <p:nvSpPr>
          <p:cNvPr id="56" name="Shape 54"/>
          <p:cNvSpPr/>
          <p:nvPr/>
        </p:nvSpPr>
        <p:spPr>
          <a:xfrm>
            <a:off x="8927287" y="4453128"/>
            <a:ext cx="146304" cy="146304"/>
          </a:xfrm>
          <a:prstGeom prst="rect">
            <a:avLst/>
          </a:prstGeom>
          <a:solidFill>
            <a:schemeClr val="tx2"/>
          </a:solidFill>
          <a:ln w="9525">
            <a:solidFill>
              <a:schemeClr val="tx2"/>
            </a:solidFill>
            <a:prstDash val="solid"/>
          </a:ln>
        </p:spPr>
      </p:sp>
      <p:sp>
        <p:nvSpPr>
          <p:cNvPr id="57" name="Shape 55"/>
          <p:cNvSpPr/>
          <p:nvPr/>
        </p:nvSpPr>
        <p:spPr>
          <a:xfrm>
            <a:off x="9256471" y="4453128"/>
            <a:ext cx="146304" cy="146304"/>
          </a:xfrm>
          <a:prstGeom prst="rect">
            <a:avLst/>
          </a:prstGeom>
          <a:solidFill>
            <a:schemeClr val="tx2"/>
          </a:solidFill>
          <a:ln w="9525">
            <a:solidFill>
              <a:schemeClr val="tx2"/>
            </a:solidFill>
            <a:prstDash val="solid"/>
          </a:ln>
        </p:spPr>
      </p:sp>
      <p:sp>
        <p:nvSpPr>
          <p:cNvPr id="58" name="Shape 56"/>
          <p:cNvSpPr/>
          <p:nvPr/>
        </p:nvSpPr>
        <p:spPr>
          <a:xfrm>
            <a:off x="9585655" y="4453128"/>
            <a:ext cx="146304" cy="146304"/>
          </a:xfrm>
          <a:prstGeom prst="rect">
            <a:avLst/>
          </a:prstGeom>
          <a:solidFill>
            <a:schemeClr val="bg1">
              <a:alpha val="0"/>
            </a:schemeClr>
          </a:solidFill>
          <a:ln w="9525">
            <a:solidFill>
              <a:schemeClr val="accent3"/>
            </a:solidFill>
            <a:prstDash val="solid"/>
          </a:ln>
        </p:spPr>
      </p:sp>
      <p:sp>
        <p:nvSpPr>
          <p:cNvPr id="59" name="Shape 57"/>
          <p:cNvSpPr/>
          <p:nvPr/>
        </p:nvSpPr>
        <p:spPr>
          <a:xfrm>
            <a:off x="9914839" y="4453128"/>
            <a:ext cx="146304" cy="146304"/>
          </a:xfrm>
          <a:prstGeom prst="rect">
            <a:avLst/>
          </a:prstGeom>
          <a:solidFill>
            <a:schemeClr val="bg1">
              <a:alpha val="0"/>
            </a:schemeClr>
          </a:solidFill>
          <a:ln w="9525">
            <a:solidFill>
              <a:schemeClr val="accent3"/>
            </a:solidFill>
            <a:prstDash val="solid"/>
          </a:ln>
        </p:spPr>
      </p:sp>
      <p:sp>
        <p:nvSpPr>
          <p:cNvPr id="60" name="Text 58"/>
          <p:cNvSpPr txBox="1"/>
          <p:nvPr/>
        </p:nvSpPr>
        <p:spPr>
          <a:xfrm>
            <a:off x="10225735" y="4352544"/>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61" name="Shape 59"/>
          <p:cNvSpPr/>
          <p:nvPr/>
        </p:nvSpPr>
        <p:spPr>
          <a:xfrm>
            <a:off x="548640" y="4700016"/>
            <a:ext cx="11094415" cy="0"/>
          </a:xfrm>
          <a:prstGeom prst="line">
            <a:avLst/>
          </a:prstGeom>
          <a:noFill/>
          <a:ln w="9525">
            <a:solidFill>
              <a:schemeClr val="accent5"/>
            </a:solidFill>
            <a:prstDash val="solid"/>
          </a:ln>
        </p:spPr>
      </p:sp>
      <p:sp>
        <p:nvSpPr>
          <p:cNvPr id="62" name="Text 60"/>
          <p:cNvSpPr txBox="1"/>
          <p:nvPr/>
        </p:nvSpPr>
        <p:spPr>
          <a:xfrm>
            <a:off x="548640" y="4700016"/>
            <a:ext cx="702533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Gestión regulatoria e institucional</a:t>
            </a:r>
            <a:endParaRPr lang="es-CL" sz="1600" dirty="0"/>
          </a:p>
        </p:txBody>
      </p:sp>
      <p:sp>
        <p:nvSpPr>
          <p:cNvPr id="63" name="Text 61"/>
          <p:cNvSpPr txBox="1"/>
          <p:nvPr/>
        </p:nvSpPr>
        <p:spPr>
          <a:xfrm>
            <a:off x="7665415" y="4700016"/>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Capacidad</a:t>
            </a:r>
            <a:endParaRPr lang="es-CL" sz="1600" dirty="0"/>
          </a:p>
        </p:txBody>
      </p:sp>
      <p:sp>
        <p:nvSpPr>
          <p:cNvPr id="64" name="Shape 62"/>
          <p:cNvSpPr/>
          <p:nvPr/>
        </p:nvSpPr>
        <p:spPr>
          <a:xfrm>
            <a:off x="8927287" y="4800600"/>
            <a:ext cx="146304" cy="146304"/>
          </a:xfrm>
          <a:prstGeom prst="rect">
            <a:avLst/>
          </a:prstGeom>
          <a:solidFill>
            <a:schemeClr val="tx2"/>
          </a:solidFill>
          <a:ln w="9525">
            <a:solidFill>
              <a:schemeClr val="tx2"/>
            </a:solidFill>
            <a:prstDash val="solid"/>
          </a:ln>
        </p:spPr>
      </p:sp>
      <p:sp>
        <p:nvSpPr>
          <p:cNvPr id="65" name="Shape 63"/>
          <p:cNvSpPr/>
          <p:nvPr/>
        </p:nvSpPr>
        <p:spPr>
          <a:xfrm>
            <a:off x="9256471" y="4800600"/>
            <a:ext cx="146304" cy="146304"/>
          </a:xfrm>
          <a:prstGeom prst="rect">
            <a:avLst/>
          </a:prstGeom>
          <a:solidFill>
            <a:schemeClr val="tx2"/>
          </a:solidFill>
          <a:ln w="9525">
            <a:solidFill>
              <a:schemeClr val="tx2"/>
            </a:solidFill>
            <a:prstDash val="solid"/>
          </a:ln>
        </p:spPr>
      </p:sp>
      <p:sp>
        <p:nvSpPr>
          <p:cNvPr id="66" name="Shape 64"/>
          <p:cNvSpPr/>
          <p:nvPr/>
        </p:nvSpPr>
        <p:spPr>
          <a:xfrm>
            <a:off x="9585655" y="4800600"/>
            <a:ext cx="146304" cy="146304"/>
          </a:xfrm>
          <a:prstGeom prst="rect">
            <a:avLst/>
          </a:prstGeom>
          <a:solidFill>
            <a:schemeClr val="bg1">
              <a:alpha val="0"/>
            </a:schemeClr>
          </a:solidFill>
          <a:ln w="9525">
            <a:solidFill>
              <a:schemeClr val="accent3"/>
            </a:solidFill>
            <a:prstDash val="solid"/>
          </a:ln>
        </p:spPr>
      </p:sp>
      <p:sp>
        <p:nvSpPr>
          <p:cNvPr id="67" name="Shape 65"/>
          <p:cNvSpPr/>
          <p:nvPr/>
        </p:nvSpPr>
        <p:spPr>
          <a:xfrm>
            <a:off x="9914839" y="4800600"/>
            <a:ext cx="146304" cy="146304"/>
          </a:xfrm>
          <a:prstGeom prst="rect">
            <a:avLst/>
          </a:prstGeom>
          <a:solidFill>
            <a:schemeClr val="bg1">
              <a:alpha val="0"/>
            </a:schemeClr>
          </a:solidFill>
          <a:ln w="9525">
            <a:solidFill>
              <a:schemeClr val="accent3"/>
            </a:solidFill>
            <a:prstDash val="solid"/>
          </a:ln>
        </p:spPr>
      </p:sp>
      <p:sp>
        <p:nvSpPr>
          <p:cNvPr id="68" name="Text 66"/>
          <p:cNvSpPr txBox="1"/>
          <p:nvPr/>
        </p:nvSpPr>
        <p:spPr>
          <a:xfrm>
            <a:off x="10225735" y="4700016"/>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69" name="Shape 67"/>
          <p:cNvSpPr/>
          <p:nvPr/>
        </p:nvSpPr>
        <p:spPr>
          <a:xfrm>
            <a:off x="548640" y="5047488"/>
            <a:ext cx="11094415" cy="0"/>
          </a:xfrm>
          <a:prstGeom prst="line">
            <a:avLst/>
          </a:prstGeom>
          <a:noFill/>
          <a:ln w="9525">
            <a:solidFill>
              <a:schemeClr val="accent5"/>
            </a:solidFill>
            <a:prstDash val="solid"/>
          </a:ln>
        </p:spPr>
      </p:sp>
      <p:sp>
        <p:nvSpPr>
          <p:cNvPr id="70" name="Text 68"/>
          <p:cNvSpPr txBox="1"/>
          <p:nvPr/>
        </p:nvSpPr>
        <p:spPr>
          <a:xfrm>
            <a:off x="548640" y="5047488"/>
            <a:ext cx="702533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Diagnóstico previo y posventa</a:t>
            </a:r>
            <a:endParaRPr lang="es-CL" sz="1600" dirty="0"/>
          </a:p>
        </p:txBody>
      </p:sp>
      <p:sp>
        <p:nvSpPr>
          <p:cNvPr id="71" name="Text 69"/>
          <p:cNvSpPr txBox="1"/>
          <p:nvPr/>
        </p:nvSpPr>
        <p:spPr>
          <a:xfrm>
            <a:off x="7665415" y="5047488"/>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Capacidad</a:t>
            </a:r>
            <a:endParaRPr lang="es-CL" sz="1600" dirty="0"/>
          </a:p>
        </p:txBody>
      </p:sp>
      <p:sp>
        <p:nvSpPr>
          <p:cNvPr id="72" name="Shape 70"/>
          <p:cNvSpPr/>
          <p:nvPr/>
        </p:nvSpPr>
        <p:spPr>
          <a:xfrm>
            <a:off x="8927287" y="5148072"/>
            <a:ext cx="146304" cy="146304"/>
          </a:xfrm>
          <a:prstGeom prst="rect">
            <a:avLst/>
          </a:prstGeom>
          <a:solidFill>
            <a:schemeClr val="tx2"/>
          </a:solidFill>
          <a:ln w="9525">
            <a:solidFill>
              <a:schemeClr val="tx2"/>
            </a:solidFill>
            <a:prstDash val="solid"/>
          </a:ln>
        </p:spPr>
      </p:sp>
      <p:sp>
        <p:nvSpPr>
          <p:cNvPr id="73" name="Shape 71"/>
          <p:cNvSpPr/>
          <p:nvPr/>
        </p:nvSpPr>
        <p:spPr>
          <a:xfrm>
            <a:off x="9256471" y="5148072"/>
            <a:ext cx="146304" cy="146304"/>
          </a:xfrm>
          <a:prstGeom prst="rect">
            <a:avLst/>
          </a:prstGeom>
          <a:solidFill>
            <a:schemeClr val="tx2"/>
          </a:solidFill>
          <a:ln w="9525">
            <a:solidFill>
              <a:schemeClr val="tx2"/>
            </a:solidFill>
            <a:prstDash val="solid"/>
          </a:ln>
        </p:spPr>
      </p:sp>
      <p:sp>
        <p:nvSpPr>
          <p:cNvPr id="74" name="Shape 72"/>
          <p:cNvSpPr/>
          <p:nvPr/>
        </p:nvSpPr>
        <p:spPr>
          <a:xfrm>
            <a:off x="9585655" y="5148072"/>
            <a:ext cx="146304" cy="146304"/>
          </a:xfrm>
          <a:prstGeom prst="rect">
            <a:avLst/>
          </a:prstGeom>
          <a:solidFill>
            <a:schemeClr val="bg1">
              <a:alpha val="0"/>
            </a:schemeClr>
          </a:solidFill>
          <a:ln w="9525">
            <a:solidFill>
              <a:schemeClr val="accent3"/>
            </a:solidFill>
            <a:prstDash val="solid"/>
          </a:ln>
        </p:spPr>
      </p:sp>
      <p:sp>
        <p:nvSpPr>
          <p:cNvPr id="75" name="Shape 73"/>
          <p:cNvSpPr/>
          <p:nvPr/>
        </p:nvSpPr>
        <p:spPr>
          <a:xfrm>
            <a:off x="9914839" y="5148072"/>
            <a:ext cx="146304" cy="146304"/>
          </a:xfrm>
          <a:prstGeom prst="rect">
            <a:avLst/>
          </a:prstGeom>
          <a:solidFill>
            <a:schemeClr val="bg1">
              <a:alpha val="0"/>
            </a:schemeClr>
          </a:solidFill>
          <a:ln w="9525">
            <a:solidFill>
              <a:schemeClr val="accent3"/>
            </a:solidFill>
            <a:prstDash val="solid"/>
          </a:ln>
        </p:spPr>
      </p:sp>
      <p:sp>
        <p:nvSpPr>
          <p:cNvPr id="76" name="Text 74"/>
          <p:cNvSpPr txBox="1"/>
          <p:nvPr/>
        </p:nvSpPr>
        <p:spPr>
          <a:xfrm>
            <a:off x="10225735" y="5047488"/>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1"/>
                </a:solidFill>
                <a:latin typeface="IBM Plex Mono" pitchFamily="34" charset="0"/>
                <a:ea typeface="IBM Plex Mono" pitchFamily="34" charset="-122"/>
                <a:cs typeface="IBM Plex Mono" pitchFamily="34" charset="-120"/>
              </a:rPr>
              <a:t>TEMPORAL</a:t>
            </a:r>
            <a:endParaRPr lang="es-CL" sz="1300" dirty="0"/>
          </a:p>
        </p:txBody>
      </p:sp>
      <p:sp>
        <p:nvSpPr>
          <p:cNvPr id="77" name="Shape 75"/>
          <p:cNvSpPr/>
          <p:nvPr/>
        </p:nvSpPr>
        <p:spPr>
          <a:xfrm>
            <a:off x="548640" y="5394960"/>
            <a:ext cx="11094415" cy="0"/>
          </a:xfrm>
          <a:prstGeom prst="line">
            <a:avLst/>
          </a:prstGeom>
          <a:noFill/>
          <a:ln w="9525">
            <a:solidFill>
              <a:schemeClr val="accent5"/>
            </a:solidFill>
            <a:prstDash val="solid"/>
          </a:ln>
        </p:spPr>
      </p:sp>
      <p:sp>
        <p:nvSpPr>
          <p:cNvPr id="78" name="Text 76"/>
          <p:cNvSpPr txBox="1"/>
          <p:nvPr/>
        </p:nvSpPr>
        <p:spPr>
          <a:xfrm>
            <a:off x="548640" y="5394960"/>
            <a:ext cx="7025335" cy="347472"/>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Taller, kit, equipamiento y otros 4</a:t>
            </a:r>
            <a:endParaRPr lang="es-CL" sz="1600" dirty="0"/>
          </a:p>
        </p:txBody>
      </p:sp>
      <p:sp>
        <p:nvSpPr>
          <p:cNvPr id="79" name="Text 77"/>
          <p:cNvSpPr txBox="1"/>
          <p:nvPr/>
        </p:nvSpPr>
        <p:spPr>
          <a:xfrm>
            <a:off x="7665415" y="5394960"/>
            <a:ext cx="1188720" cy="347472"/>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7 ítems</a:t>
            </a:r>
            <a:endParaRPr lang="es-CL" sz="1600" dirty="0"/>
          </a:p>
        </p:txBody>
      </p:sp>
      <p:sp>
        <p:nvSpPr>
          <p:cNvPr id="80" name="Shape 78"/>
          <p:cNvSpPr/>
          <p:nvPr/>
        </p:nvSpPr>
        <p:spPr>
          <a:xfrm>
            <a:off x="8927287" y="5495544"/>
            <a:ext cx="146304" cy="146304"/>
          </a:xfrm>
          <a:prstGeom prst="rect">
            <a:avLst/>
          </a:prstGeom>
          <a:solidFill>
            <a:schemeClr val="tx2"/>
          </a:solidFill>
          <a:ln w="9525">
            <a:solidFill>
              <a:schemeClr val="tx2"/>
            </a:solidFill>
            <a:prstDash val="solid"/>
          </a:ln>
        </p:spPr>
      </p:sp>
      <p:sp>
        <p:nvSpPr>
          <p:cNvPr id="81" name="Shape 79"/>
          <p:cNvSpPr/>
          <p:nvPr/>
        </p:nvSpPr>
        <p:spPr>
          <a:xfrm>
            <a:off x="9256471" y="5495544"/>
            <a:ext cx="146304" cy="146304"/>
          </a:xfrm>
          <a:prstGeom prst="rect">
            <a:avLst/>
          </a:prstGeom>
          <a:solidFill>
            <a:schemeClr val="bg1">
              <a:alpha val="0"/>
            </a:schemeClr>
          </a:solidFill>
          <a:ln w="9525">
            <a:solidFill>
              <a:schemeClr val="accent3"/>
            </a:solidFill>
            <a:prstDash val="solid"/>
          </a:ln>
        </p:spPr>
      </p:sp>
      <p:sp>
        <p:nvSpPr>
          <p:cNvPr id="82" name="Shape 80"/>
          <p:cNvSpPr/>
          <p:nvPr/>
        </p:nvSpPr>
        <p:spPr>
          <a:xfrm>
            <a:off x="9585655" y="5495544"/>
            <a:ext cx="146304" cy="146304"/>
          </a:xfrm>
          <a:prstGeom prst="rect">
            <a:avLst/>
          </a:prstGeom>
          <a:solidFill>
            <a:schemeClr val="bg1">
              <a:alpha val="0"/>
            </a:schemeClr>
          </a:solidFill>
          <a:ln w="9525">
            <a:solidFill>
              <a:schemeClr val="accent3"/>
            </a:solidFill>
            <a:prstDash val="solid"/>
          </a:ln>
        </p:spPr>
      </p:sp>
      <p:sp>
        <p:nvSpPr>
          <p:cNvPr id="83" name="Shape 81"/>
          <p:cNvSpPr/>
          <p:nvPr/>
        </p:nvSpPr>
        <p:spPr>
          <a:xfrm>
            <a:off x="9914839" y="5495544"/>
            <a:ext cx="146304" cy="146304"/>
          </a:xfrm>
          <a:prstGeom prst="rect">
            <a:avLst/>
          </a:prstGeom>
          <a:solidFill>
            <a:schemeClr val="bg1">
              <a:alpha val="0"/>
            </a:schemeClr>
          </a:solidFill>
          <a:ln w="9525">
            <a:solidFill>
              <a:schemeClr val="accent3"/>
            </a:solidFill>
            <a:prstDash val="solid"/>
          </a:ln>
        </p:spPr>
      </p:sp>
      <p:sp>
        <p:nvSpPr>
          <p:cNvPr id="84" name="Text 82"/>
          <p:cNvSpPr txBox="1"/>
          <p:nvPr/>
        </p:nvSpPr>
        <p:spPr>
          <a:xfrm>
            <a:off x="10225735" y="5394960"/>
            <a:ext cx="1417320" cy="347472"/>
          </a:xfrm>
          <a:prstGeom prst="rect">
            <a:avLst/>
          </a:prstGeom>
          <a:noFill/>
          <a:ln/>
        </p:spPr>
        <p:txBody>
          <a:bodyPr wrap="square" lIns="0" tIns="0" rIns="0" bIns="0" rtlCol="0" anchor="ctr"/>
          <a:lstStyle/>
          <a:p>
            <a:pPr algn="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IGUALDAD</a:t>
            </a:r>
            <a:endParaRPr lang="es-CL" sz="1300" dirty="0"/>
          </a:p>
        </p:txBody>
      </p:sp>
      <p:sp>
        <p:nvSpPr>
          <p:cNvPr id="85" name="Shape 83"/>
          <p:cNvSpPr/>
          <p:nvPr/>
        </p:nvSpPr>
        <p:spPr>
          <a:xfrm>
            <a:off x="548640" y="5742432"/>
            <a:ext cx="11094415" cy="0"/>
          </a:xfrm>
          <a:prstGeom prst="line">
            <a:avLst/>
          </a:prstGeom>
          <a:noFill/>
          <a:ln w="9525">
            <a:solidFill>
              <a:schemeClr val="accent5"/>
            </a:solidFill>
            <a:prstDash val="solid"/>
          </a:ln>
        </p:spPr>
      </p:sp>
      <p:sp>
        <p:nvSpPr>
          <p:cNvPr id="86" name="Text 84"/>
          <p:cNvSpPr txBox="1"/>
          <p:nvPr/>
        </p:nvSpPr>
        <p:spPr>
          <a:xfrm>
            <a:off x="548640" y="5815584"/>
            <a:ext cx="11094415" cy="256032"/>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V VALIOSO · R RARO · C COSTOSO DE IMITAR · I INSUSTITUIBLE</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A6</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CADENA DE VALOR · FACTORES CRÍTICOS DE ÉXITO</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LAS CONDICIONES DE ENTRADA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están entre las más débiles.</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instrumento de cadena de valor (06) del análisis estratégico del equipo (Control de Gestión, 2026), factores críticos de éxito (Francés, 2006).</a:t>
            </a:r>
            <a:endParaRPr lang="es-CL" sz="1200" dirty="0"/>
          </a:p>
        </p:txBody>
      </p:sp>
      <p:sp>
        <p:nvSpPr>
          <p:cNvPr id="6" name="Text 4"/>
          <p:cNvSpPr txBox="1"/>
          <p:nvPr/>
        </p:nvSpPr>
        <p:spPr>
          <a:xfrm>
            <a:off x="548640" y="2304288"/>
            <a:ext cx="393192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FACTOR CRÍTICO</a:t>
            </a:r>
            <a:endParaRPr lang="es-CL" sz="1200" dirty="0"/>
          </a:p>
        </p:txBody>
      </p:sp>
      <p:sp>
        <p:nvSpPr>
          <p:cNvPr id="7" name="Text 5"/>
          <p:cNvSpPr txBox="1"/>
          <p:nvPr/>
        </p:nvSpPr>
        <p:spPr>
          <a:xfrm>
            <a:off x="4480560" y="2304288"/>
            <a:ext cx="132588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HABILIDAD</a:t>
            </a:r>
            <a:endParaRPr lang="es-CL" sz="1200" dirty="0"/>
          </a:p>
        </p:txBody>
      </p:sp>
      <p:sp>
        <p:nvSpPr>
          <p:cNvPr id="8" name="Text 6"/>
          <p:cNvSpPr txBox="1"/>
          <p:nvPr/>
        </p:nvSpPr>
        <p:spPr>
          <a:xfrm>
            <a:off x="5806440" y="2304288"/>
            <a:ext cx="11430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RIESGO</a:t>
            </a:r>
            <a:endParaRPr lang="es-CL" sz="1200" dirty="0"/>
          </a:p>
        </p:txBody>
      </p:sp>
      <p:sp>
        <p:nvSpPr>
          <p:cNvPr id="9" name="Text 7"/>
          <p:cNvSpPr txBox="1"/>
          <p:nvPr/>
        </p:nvSpPr>
        <p:spPr>
          <a:xfrm>
            <a:off x="6949440" y="2304288"/>
            <a:ext cx="469361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ESTADO</a:t>
            </a:r>
            <a:endParaRPr lang="es-CL" sz="1200" dirty="0"/>
          </a:p>
        </p:txBody>
      </p:sp>
      <p:sp>
        <p:nvSpPr>
          <p:cNvPr id="10" name="Shape 8"/>
          <p:cNvSpPr/>
          <p:nvPr/>
        </p:nvSpPr>
        <p:spPr>
          <a:xfrm>
            <a:off x="548640" y="2615184"/>
            <a:ext cx="11094415" cy="0"/>
          </a:xfrm>
          <a:prstGeom prst="line">
            <a:avLst/>
          </a:prstGeom>
          <a:noFill/>
          <a:ln w="9525">
            <a:solidFill>
              <a:schemeClr val="accent1"/>
            </a:solidFill>
            <a:prstDash val="solid"/>
          </a:ln>
        </p:spPr>
      </p:sp>
      <p:sp>
        <p:nvSpPr>
          <p:cNvPr id="11" name="Text 9"/>
          <p:cNvSpPr txBox="1"/>
          <p:nvPr/>
        </p:nvSpPr>
        <p:spPr>
          <a:xfrm>
            <a:off x="548640" y="2615184"/>
            <a:ext cx="379476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Gestión regulatoria e institucional</a:t>
            </a:r>
            <a:endParaRPr lang="es-CL" sz="1600" dirty="0"/>
          </a:p>
        </p:txBody>
      </p:sp>
      <p:sp>
        <p:nvSpPr>
          <p:cNvPr id="12" name="Text 10"/>
          <p:cNvSpPr txBox="1"/>
          <p:nvPr/>
        </p:nvSpPr>
        <p:spPr>
          <a:xfrm>
            <a:off x="4480560" y="2615184"/>
            <a:ext cx="11887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2</a:t>
            </a:r>
            <a:endParaRPr lang="es-CL" sz="1600" dirty="0"/>
          </a:p>
        </p:txBody>
      </p:sp>
      <p:sp>
        <p:nvSpPr>
          <p:cNvPr id="13" name="Text 11"/>
          <p:cNvSpPr txBox="1"/>
          <p:nvPr/>
        </p:nvSpPr>
        <p:spPr>
          <a:xfrm>
            <a:off x="5806440" y="2615184"/>
            <a:ext cx="10058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a:t>
            </a:r>
            <a:endParaRPr lang="es-CL" sz="1600" dirty="0"/>
          </a:p>
        </p:txBody>
      </p:sp>
      <p:sp>
        <p:nvSpPr>
          <p:cNvPr id="14" name="Text 12"/>
          <p:cNvSpPr txBox="1"/>
          <p:nvPr/>
        </p:nvSpPr>
        <p:spPr>
          <a:xfrm>
            <a:off x="6949440" y="2615184"/>
            <a:ext cx="455645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Sin interlocución formal con la autoridad</a:t>
            </a:r>
            <a:endParaRPr lang="es-CL" sz="1600" dirty="0"/>
          </a:p>
        </p:txBody>
      </p:sp>
      <p:sp>
        <p:nvSpPr>
          <p:cNvPr id="15" name="Shape 13"/>
          <p:cNvSpPr/>
          <p:nvPr/>
        </p:nvSpPr>
        <p:spPr>
          <a:xfrm>
            <a:off x="548640" y="3127248"/>
            <a:ext cx="11094415" cy="0"/>
          </a:xfrm>
          <a:prstGeom prst="line">
            <a:avLst/>
          </a:prstGeom>
          <a:noFill/>
          <a:ln w="9525">
            <a:solidFill>
              <a:schemeClr val="accent5"/>
            </a:solidFill>
            <a:prstDash val="solid"/>
          </a:ln>
        </p:spPr>
      </p:sp>
      <p:sp>
        <p:nvSpPr>
          <p:cNvPr id="16" name="Text 14"/>
          <p:cNvSpPr txBox="1"/>
          <p:nvPr/>
        </p:nvSpPr>
        <p:spPr>
          <a:xfrm>
            <a:off x="548640" y="3127248"/>
            <a:ext cx="379476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Financiamiento en el punto de venta</a:t>
            </a:r>
            <a:endParaRPr lang="es-CL" sz="1600" dirty="0"/>
          </a:p>
        </p:txBody>
      </p:sp>
      <p:sp>
        <p:nvSpPr>
          <p:cNvPr id="17" name="Text 15"/>
          <p:cNvSpPr txBox="1"/>
          <p:nvPr/>
        </p:nvSpPr>
        <p:spPr>
          <a:xfrm>
            <a:off x="4480560" y="3127248"/>
            <a:ext cx="11887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3</a:t>
            </a:r>
            <a:endParaRPr lang="es-CL" sz="1600" dirty="0"/>
          </a:p>
        </p:txBody>
      </p:sp>
      <p:sp>
        <p:nvSpPr>
          <p:cNvPr id="18" name="Text 16"/>
          <p:cNvSpPr txBox="1"/>
          <p:nvPr/>
        </p:nvSpPr>
        <p:spPr>
          <a:xfrm>
            <a:off x="5806440" y="3127248"/>
            <a:ext cx="10058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a:t>
            </a:r>
            <a:endParaRPr lang="es-CL" sz="1600" dirty="0"/>
          </a:p>
        </p:txBody>
      </p:sp>
      <p:sp>
        <p:nvSpPr>
          <p:cNvPr id="19" name="Text 17"/>
          <p:cNvSpPr txBox="1"/>
          <p:nvPr/>
        </p:nvSpPr>
        <p:spPr>
          <a:xfrm>
            <a:off x="6949440" y="3127248"/>
            <a:ext cx="455645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Sin convenio</a:t>
            </a:r>
            <a:endParaRPr lang="es-CL" sz="1600" dirty="0"/>
          </a:p>
        </p:txBody>
      </p:sp>
      <p:sp>
        <p:nvSpPr>
          <p:cNvPr id="20" name="Shape 18"/>
          <p:cNvSpPr/>
          <p:nvPr/>
        </p:nvSpPr>
        <p:spPr>
          <a:xfrm>
            <a:off x="548640" y="3639312"/>
            <a:ext cx="11094415" cy="0"/>
          </a:xfrm>
          <a:prstGeom prst="line">
            <a:avLst/>
          </a:prstGeom>
          <a:noFill/>
          <a:ln w="9525">
            <a:solidFill>
              <a:schemeClr val="accent5"/>
            </a:solidFill>
            <a:prstDash val="solid"/>
          </a:ln>
        </p:spPr>
      </p:sp>
      <p:sp>
        <p:nvSpPr>
          <p:cNvPr id="21" name="Text 19"/>
          <p:cNvSpPr txBox="1"/>
          <p:nvPr/>
        </p:nvSpPr>
        <p:spPr>
          <a:xfrm>
            <a:off x="548640" y="3639312"/>
            <a:ext cx="379476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Ingeniería de integración y calibración</a:t>
            </a:r>
            <a:endParaRPr lang="es-CL" sz="1600" dirty="0"/>
          </a:p>
        </p:txBody>
      </p:sp>
      <p:sp>
        <p:nvSpPr>
          <p:cNvPr id="22" name="Text 20"/>
          <p:cNvSpPr txBox="1"/>
          <p:nvPr/>
        </p:nvSpPr>
        <p:spPr>
          <a:xfrm>
            <a:off x="4480560" y="3639312"/>
            <a:ext cx="11887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4</a:t>
            </a:r>
            <a:endParaRPr lang="es-CL" sz="1600" dirty="0"/>
          </a:p>
        </p:txBody>
      </p:sp>
      <p:sp>
        <p:nvSpPr>
          <p:cNvPr id="23" name="Text 21"/>
          <p:cNvSpPr txBox="1"/>
          <p:nvPr/>
        </p:nvSpPr>
        <p:spPr>
          <a:xfrm>
            <a:off x="5806440" y="3639312"/>
            <a:ext cx="10058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a:t>
            </a:r>
            <a:endParaRPr lang="es-CL" sz="1600" dirty="0"/>
          </a:p>
        </p:txBody>
      </p:sp>
      <p:sp>
        <p:nvSpPr>
          <p:cNvPr id="24" name="Text 22"/>
          <p:cNvSpPr txBox="1"/>
          <p:nvPr/>
        </p:nvSpPr>
        <p:spPr>
          <a:xfrm>
            <a:off x="6949440" y="3639312"/>
            <a:ext cx="455645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Diseñada; riesgo de incompatibilidad con la electrónica original</a:t>
            </a:r>
            <a:endParaRPr lang="es-CL" sz="1600" dirty="0"/>
          </a:p>
        </p:txBody>
      </p:sp>
      <p:sp>
        <p:nvSpPr>
          <p:cNvPr id="25" name="Shape 23"/>
          <p:cNvSpPr/>
          <p:nvPr/>
        </p:nvSpPr>
        <p:spPr>
          <a:xfrm>
            <a:off x="548640" y="4151376"/>
            <a:ext cx="11094415" cy="0"/>
          </a:xfrm>
          <a:prstGeom prst="line">
            <a:avLst/>
          </a:prstGeom>
          <a:noFill/>
          <a:ln w="9525">
            <a:solidFill>
              <a:schemeClr val="accent5"/>
            </a:solidFill>
            <a:prstDash val="solid"/>
          </a:ln>
        </p:spPr>
      </p:sp>
      <p:sp>
        <p:nvSpPr>
          <p:cNvPr id="26" name="Text 24"/>
          <p:cNvSpPr txBox="1"/>
          <p:nvPr/>
        </p:nvSpPr>
        <p:spPr>
          <a:xfrm>
            <a:off x="548640" y="4151376"/>
            <a:ext cx="379476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Talento certificado en alta tensión</a:t>
            </a:r>
            <a:endParaRPr lang="es-CL" sz="1600" dirty="0"/>
          </a:p>
        </p:txBody>
      </p:sp>
      <p:sp>
        <p:nvSpPr>
          <p:cNvPr id="27" name="Text 25"/>
          <p:cNvSpPr txBox="1"/>
          <p:nvPr/>
        </p:nvSpPr>
        <p:spPr>
          <a:xfrm>
            <a:off x="4480560" y="4151376"/>
            <a:ext cx="11887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2</a:t>
            </a:r>
            <a:endParaRPr lang="es-CL" sz="1600" dirty="0"/>
          </a:p>
        </p:txBody>
      </p:sp>
      <p:sp>
        <p:nvSpPr>
          <p:cNvPr id="28" name="Text 26"/>
          <p:cNvSpPr txBox="1"/>
          <p:nvPr/>
        </p:nvSpPr>
        <p:spPr>
          <a:xfrm>
            <a:off x="5806440" y="4151376"/>
            <a:ext cx="10058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a:t>
            </a:r>
            <a:endParaRPr lang="es-CL" sz="1600" dirty="0"/>
          </a:p>
        </p:txBody>
      </p:sp>
      <p:sp>
        <p:nvSpPr>
          <p:cNvPr id="29" name="Text 27"/>
          <p:cNvSpPr txBox="1"/>
          <p:nvPr/>
        </p:nvSpPr>
        <p:spPr>
          <a:xfrm>
            <a:off x="6949440" y="4151376"/>
            <a:ext cx="455645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Perfil escaso; sin esquema de retención</a:t>
            </a:r>
            <a:endParaRPr lang="es-CL" sz="1600" dirty="0"/>
          </a:p>
        </p:txBody>
      </p:sp>
      <p:sp>
        <p:nvSpPr>
          <p:cNvPr id="30" name="Shape 28"/>
          <p:cNvSpPr/>
          <p:nvPr/>
        </p:nvSpPr>
        <p:spPr>
          <a:xfrm>
            <a:off x="548640" y="4663440"/>
            <a:ext cx="11094415" cy="0"/>
          </a:xfrm>
          <a:prstGeom prst="line">
            <a:avLst/>
          </a:prstGeom>
          <a:noFill/>
          <a:ln w="9525">
            <a:solidFill>
              <a:schemeClr val="accent5"/>
            </a:solidFill>
            <a:prstDash val="solid"/>
          </a:ln>
        </p:spPr>
      </p:sp>
      <p:sp>
        <p:nvSpPr>
          <p:cNvPr id="31" name="Text 29"/>
          <p:cNvSpPr txBox="1"/>
          <p:nvPr/>
        </p:nvSpPr>
        <p:spPr>
          <a:xfrm>
            <a:off x="548640" y="4663440"/>
            <a:ext cx="379476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Logística de insumos críticos</a:t>
            </a:r>
            <a:endParaRPr lang="es-CL" sz="1600" dirty="0"/>
          </a:p>
        </p:txBody>
      </p:sp>
      <p:sp>
        <p:nvSpPr>
          <p:cNvPr id="32" name="Text 30"/>
          <p:cNvSpPr txBox="1"/>
          <p:nvPr/>
        </p:nvSpPr>
        <p:spPr>
          <a:xfrm>
            <a:off x="4480560" y="4663440"/>
            <a:ext cx="11887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3</a:t>
            </a:r>
            <a:endParaRPr lang="es-CL" sz="1600" dirty="0"/>
          </a:p>
        </p:txBody>
      </p:sp>
      <p:sp>
        <p:nvSpPr>
          <p:cNvPr id="33" name="Text 31"/>
          <p:cNvSpPr txBox="1"/>
          <p:nvPr/>
        </p:nvSpPr>
        <p:spPr>
          <a:xfrm>
            <a:off x="5806440" y="4663440"/>
            <a:ext cx="10058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2</a:t>
            </a:r>
            <a:endParaRPr lang="es-CL" sz="1600" dirty="0"/>
          </a:p>
        </p:txBody>
      </p:sp>
      <p:sp>
        <p:nvSpPr>
          <p:cNvPr id="34" name="Text 32"/>
          <p:cNvSpPr txBox="1"/>
          <p:nvPr/>
        </p:nvSpPr>
        <p:spPr>
          <a:xfrm>
            <a:off x="6949440" y="4663440"/>
            <a:ext cx="455645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Protocolo definido; carga peligrosa con plazos largos</a:t>
            </a:r>
            <a:endParaRPr lang="es-CL" sz="1600" dirty="0"/>
          </a:p>
        </p:txBody>
      </p:sp>
      <p:sp>
        <p:nvSpPr>
          <p:cNvPr id="35" name="Shape 33"/>
          <p:cNvSpPr/>
          <p:nvPr/>
        </p:nvSpPr>
        <p:spPr>
          <a:xfrm>
            <a:off x="548640" y="5175504"/>
            <a:ext cx="11094415" cy="0"/>
          </a:xfrm>
          <a:prstGeom prst="line">
            <a:avLst/>
          </a:prstGeom>
          <a:noFill/>
          <a:ln w="9525">
            <a:solidFill>
              <a:schemeClr val="accent5"/>
            </a:solidFill>
            <a:prstDash val="solid"/>
          </a:ln>
        </p:spPr>
      </p:sp>
      <p:sp>
        <p:nvSpPr>
          <p:cNvPr id="36" name="Text 34"/>
          <p:cNvSpPr txBox="1"/>
          <p:nvPr/>
        </p:nvSpPr>
        <p:spPr>
          <a:xfrm>
            <a:off x="548640" y="5175504"/>
            <a:ext cx="3794760" cy="512064"/>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Estandarización y tiempo de taller</a:t>
            </a:r>
            <a:endParaRPr lang="es-CL" sz="1600" dirty="0"/>
          </a:p>
        </p:txBody>
      </p:sp>
      <p:sp>
        <p:nvSpPr>
          <p:cNvPr id="37" name="Text 35"/>
          <p:cNvSpPr txBox="1"/>
          <p:nvPr/>
        </p:nvSpPr>
        <p:spPr>
          <a:xfrm>
            <a:off x="4480560" y="5175504"/>
            <a:ext cx="118872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4</a:t>
            </a:r>
            <a:endParaRPr lang="es-CL" sz="1600" dirty="0"/>
          </a:p>
        </p:txBody>
      </p:sp>
      <p:sp>
        <p:nvSpPr>
          <p:cNvPr id="38" name="Text 36"/>
          <p:cNvSpPr txBox="1"/>
          <p:nvPr/>
        </p:nvSpPr>
        <p:spPr>
          <a:xfrm>
            <a:off x="5806440" y="5175504"/>
            <a:ext cx="1005840"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a:t>
            </a:r>
            <a:endParaRPr lang="es-CL" sz="1600" dirty="0"/>
          </a:p>
        </p:txBody>
      </p:sp>
      <p:sp>
        <p:nvSpPr>
          <p:cNvPr id="39" name="Text 37"/>
          <p:cNvSpPr txBox="1"/>
          <p:nvPr/>
        </p:nvSpPr>
        <p:spPr>
          <a:xfrm>
            <a:off x="6949440" y="5175504"/>
            <a:ext cx="4556455" cy="512064"/>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Cinco etapas definidas; no probadas</a:t>
            </a:r>
            <a:endParaRPr lang="es-CL" sz="1600" dirty="0"/>
          </a:p>
        </p:txBody>
      </p:sp>
      <p:sp>
        <p:nvSpPr>
          <p:cNvPr id="40" name="Shape 38"/>
          <p:cNvSpPr/>
          <p:nvPr/>
        </p:nvSpPr>
        <p:spPr>
          <a:xfrm>
            <a:off x="548640" y="5687568"/>
            <a:ext cx="11094415" cy="0"/>
          </a:xfrm>
          <a:prstGeom prst="line">
            <a:avLst/>
          </a:prstGeom>
          <a:noFill/>
          <a:ln w="9525">
            <a:solidFill>
              <a:schemeClr val="accent5"/>
            </a:solidFill>
            <a:prstDash val="solid"/>
          </a:ln>
        </p:spPr>
      </p:sp>
      <p:sp>
        <p:nvSpPr>
          <p:cNvPr id="41" name="Text 39"/>
          <p:cNvSpPr txBox="1"/>
          <p:nvPr/>
        </p:nvSpPr>
        <p:spPr>
          <a:xfrm>
            <a:off x="548640" y="5925312"/>
            <a:ext cx="11094415"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ESCALA 1 (GRAN DEBILIDAD) A 5 (GRAN FORTALEZA) · EN RIESGO, UN NÚMERO BAJO ES RIESGO ALTO</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A7</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FODA · CRUCES PARA EL AVANCE 2</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DEL FODA A LAS PREGUNTAS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de la formulación.</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cruces del análisis estratégico del equipo, corregidos para el Avance 1. Son insumo de la formulación, no estrategia aprobada.</a:t>
            </a:r>
            <a:endParaRPr lang="es-CL" sz="1200" dirty="0"/>
          </a:p>
        </p:txBody>
      </p:sp>
      <p:sp>
        <p:nvSpPr>
          <p:cNvPr id="6" name="Shape 4"/>
          <p:cNvSpPr/>
          <p:nvPr/>
        </p:nvSpPr>
        <p:spPr>
          <a:xfrm>
            <a:off x="548640" y="2167128"/>
            <a:ext cx="5410048" cy="1371600"/>
          </a:xfrm>
          <a:prstGeom prst="rect">
            <a:avLst/>
          </a:prstGeom>
          <a:solidFill>
            <a:schemeClr val="bg2">
              <a:alpha val="85000"/>
            </a:schemeClr>
          </a:solidFill>
          <a:ln w="9525">
            <a:solidFill>
              <a:schemeClr val="accent5"/>
            </a:solidFill>
            <a:prstDash val="solid"/>
          </a:ln>
        </p:spPr>
      </p:sp>
      <p:sp>
        <p:nvSpPr>
          <p:cNvPr id="7" name="Shape 5"/>
          <p:cNvSpPr/>
          <p:nvPr/>
        </p:nvSpPr>
        <p:spPr>
          <a:xfrm>
            <a:off x="749808" y="2368296"/>
            <a:ext cx="548640" cy="329184"/>
          </a:xfrm>
          <a:prstGeom prst="rect">
            <a:avLst/>
          </a:prstGeom>
          <a:solidFill>
            <a:schemeClr val="accent5"/>
          </a:solidFill>
          <a:ln/>
        </p:spPr>
      </p:sp>
      <p:sp>
        <p:nvSpPr>
          <p:cNvPr id="8" name="Text 6"/>
          <p:cNvSpPr txBox="1"/>
          <p:nvPr/>
        </p:nvSpPr>
        <p:spPr>
          <a:xfrm>
            <a:off x="749808" y="2368296"/>
            <a:ext cx="548640"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FO</a:t>
            </a:r>
            <a:endParaRPr lang="es-CL" sz="1400" dirty="0"/>
          </a:p>
        </p:txBody>
      </p:sp>
      <p:sp>
        <p:nvSpPr>
          <p:cNvPr id="9" name="Text 7"/>
          <p:cNvSpPr txBox="1"/>
          <p:nvPr/>
        </p:nvSpPr>
        <p:spPr>
          <a:xfrm>
            <a:off x="1463040" y="2304288"/>
            <a:ext cx="4312768" cy="1097280"/>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Homologar primero los modelos más frecuentes del segmento priorizado.</a:t>
            </a:r>
            <a:endParaRPr lang="es-CL" sz="1800" dirty="0"/>
          </a:p>
        </p:txBody>
      </p:sp>
      <p:sp>
        <p:nvSpPr>
          <p:cNvPr id="10" name="Shape 8"/>
          <p:cNvSpPr/>
          <p:nvPr/>
        </p:nvSpPr>
        <p:spPr>
          <a:xfrm>
            <a:off x="6233008" y="2167128"/>
            <a:ext cx="5410048" cy="1371600"/>
          </a:xfrm>
          <a:prstGeom prst="rect">
            <a:avLst/>
          </a:prstGeom>
          <a:solidFill>
            <a:schemeClr val="bg2">
              <a:alpha val="85000"/>
            </a:schemeClr>
          </a:solidFill>
          <a:ln w="9525">
            <a:solidFill>
              <a:schemeClr val="accent5"/>
            </a:solidFill>
            <a:prstDash val="solid"/>
          </a:ln>
        </p:spPr>
      </p:sp>
      <p:sp>
        <p:nvSpPr>
          <p:cNvPr id="11" name="Shape 9"/>
          <p:cNvSpPr/>
          <p:nvPr/>
        </p:nvSpPr>
        <p:spPr>
          <a:xfrm>
            <a:off x="6434176" y="2368296"/>
            <a:ext cx="548640" cy="329184"/>
          </a:xfrm>
          <a:prstGeom prst="rect">
            <a:avLst/>
          </a:prstGeom>
          <a:solidFill>
            <a:schemeClr val="accent5"/>
          </a:solidFill>
          <a:ln/>
        </p:spPr>
      </p:sp>
      <p:sp>
        <p:nvSpPr>
          <p:cNvPr id="12" name="Text 10"/>
          <p:cNvSpPr txBox="1"/>
          <p:nvPr/>
        </p:nvSpPr>
        <p:spPr>
          <a:xfrm>
            <a:off x="6434176" y="2368296"/>
            <a:ext cx="548640"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DO</a:t>
            </a:r>
            <a:endParaRPr lang="es-CL" sz="1400" dirty="0"/>
          </a:p>
        </p:txBody>
      </p:sp>
      <p:sp>
        <p:nvSpPr>
          <p:cNvPr id="13" name="Text 11"/>
          <p:cNvSpPr txBox="1"/>
          <p:nvPr/>
        </p:nvSpPr>
        <p:spPr>
          <a:xfrm>
            <a:off x="7147408" y="2304288"/>
            <a:ext cx="4312768" cy="1097280"/>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Pedir un pronunciamiento formal a la autoridad mientras se elabora el reglamento.</a:t>
            </a:r>
            <a:endParaRPr lang="es-CL" sz="1800" dirty="0"/>
          </a:p>
        </p:txBody>
      </p:sp>
      <p:sp>
        <p:nvSpPr>
          <p:cNvPr id="14" name="Shape 12"/>
          <p:cNvSpPr/>
          <p:nvPr/>
        </p:nvSpPr>
        <p:spPr>
          <a:xfrm>
            <a:off x="548640" y="3721608"/>
            <a:ext cx="5410048" cy="1371600"/>
          </a:xfrm>
          <a:prstGeom prst="rect">
            <a:avLst/>
          </a:prstGeom>
          <a:solidFill>
            <a:schemeClr val="bg2">
              <a:alpha val="85000"/>
            </a:schemeClr>
          </a:solidFill>
          <a:ln w="9525">
            <a:solidFill>
              <a:schemeClr val="accent5"/>
            </a:solidFill>
            <a:prstDash val="solid"/>
          </a:ln>
        </p:spPr>
      </p:sp>
      <p:sp>
        <p:nvSpPr>
          <p:cNvPr id="15" name="Shape 13"/>
          <p:cNvSpPr/>
          <p:nvPr/>
        </p:nvSpPr>
        <p:spPr>
          <a:xfrm>
            <a:off x="749808" y="3922776"/>
            <a:ext cx="548640" cy="329184"/>
          </a:xfrm>
          <a:prstGeom prst="rect">
            <a:avLst/>
          </a:prstGeom>
          <a:solidFill>
            <a:schemeClr val="accent5"/>
          </a:solidFill>
          <a:ln/>
        </p:spPr>
      </p:sp>
      <p:sp>
        <p:nvSpPr>
          <p:cNvPr id="16" name="Text 14"/>
          <p:cNvSpPr txBox="1"/>
          <p:nvPr/>
        </p:nvSpPr>
        <p:spPr>
          <a:xfrm>
            <a:off x="749808" y="3922776"/>
            <a:ext cx="548640"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FA</a:t>
            </a:r>
            <a:endParaRPr lang="es-CL" sz="1400" dirty="0"/>
          </a:p>
        </p:txBody>
      </p:sp>
      <p:sp>
        <p:nvSpPr>
          <p:cNvPr id="17" name="Text 15"/>
          <p:cNvSpPr txBox="1"/>
          <p:nvPr/>
        </p:nvSpPr>
        <p:spPr>
          <a:xfrm>
            <a:off x="1463040" y="3858768"/>
            <a:ext cx="4312768" cy="1097280"/>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Mostrar el ahorro mensual estimado frente al costo del kit, con su método y sus límites.</a:t>
            </a:r>
            <a:endParaRPr lang="es-CL" sz="1800" dirty="0"/>
          </a:p>
        </p:txBody>
      </p:sp>
      <p:sp>
        <p:nvSpPr>
          <p:cNvPr id="18" name="Shape 16"/>
          <p:cNvSpPr/>
          <p:nvPr/>
        </p:nvSpPr>
        <p:spPr>
          <a:xfrm>
            <a:off x="6233008" y="3721608"/>
            <a:ext cx="5410048" cy="1371600"/>
          </a:xfrm>
          <a:prstGeom prst="rect">
            <a:avLst/>
          </a:prstGeom>
          <a:solidFill>
            <a:schemeClr val="bg2">
              <a:alpha val="85000"/>
            </a:schemeClr>
          </a:solidFill>
          <a:ln w="9525">
            <a:solidFill>
              <a:schemeClr val="accent5"/>
            </a:solidFill>
            <a:prstDash val="solid"/>
          </a:ln>
        </p:spPr>
      </p:sp>
      <p:sp>
        <p:nvSpPr>
          <p:cNvPr id="19" name="Shape 17"/>
          <p:cNvSpPr/>
          <p:nvPr/>
        </p:nvSpPr>
        <p:spPr>
          <a:xfrm>
            <a:off x="6434176" y="3922776"/>
            <a:ext cx="548640" cy="329184"/>
          </a:xfrm>
          <a:prstGeom prst="rect">
            <a:avLst/>
          </a:prstGeom>
          <a:solidFill>
            <a:schemeClr val="accent5"/>
          </a:solidFill>
          <a:ln/>
        </p:spPr>
      </p:sp>
      <p:sp>
        <p:nvSpPr>
          <p:cNvPr id="20" name="Text 18"/>
          <p:cNvSpPr txBox="1"/>
          <p:nvPr/>
        </p:nvSpPr>
        <p:spPr>
          <a:xfrm>
            <a:off x="6434176" y="3922776"/>
            <a:ext cx="548640" cy="329184"/>
          </a:xfrm>
          <a:prstGeom prst="rect">
            <a:avLst/>
          </a:prstGeom>
          <a:noFill/>
          <a:ln/>
        </p:spPr>
        <p:txBody>
          <a:bodyPr wrap="square" lIns="0" tIns="0" rIns="0" bIns="0" rtlCol="0" anchor="ctr"/>
          <a:lstStyle/>
          <a:p>
            <a:pPr algn="ctr" indent="0" marL="0">
              <a:buNone/>
            </a:pPr>
            <a:r>
              <a:rPr lang="es-CL" altLang="en-US" sz="1400" b="1" dirty="0">
                <a:solidFill>
                  <a:schemeClr val="tx1"/>
                </a:solidFill>
                <a:latin typeface="IBM Plex Mono" pitchFamily="34" charset="0"/>
                <a:ea typeface="IBM Plex Mono" pitchFamily="34" charset="-122"/>
                <a:cs typeface="IBM Plex Mono" pitchFamily="34" charset="-120"/>
              </a:rPr>
              <a:t>DA</a:t>
            </a:r>
            <a:endParaRPr lang="es-CL" sz="1400" dirty="0"/>
          </a:p>
        </p:txBody>
      </p:sp>
      <p:sp>
        <p:nvSpPr>
          <p:cNvPr id="21" name="Text 19"/>
          <p:cNvSpPr txBox="1"/>
          <p:nvPr/>
        </p:nvSpPr>
        <p:spPr>
          <a:xfrm>
            <a:off x="7147408" y="3858768"/>
            <a:ext cx="4312768" cy="1097280"/>
          </a:xfrm>
          <a:prstGeom prst="rect">
            <a:avLst/>
          </a:prstGeom>
          <a:noFill/>
          <a:ln/>
        </p:spPr>
        <p:txBody>
          <a:bodyPr wrap="square" lIns="0" tIns="0" rIns="0" bIns="0" rtlCol="0" anchor="ctr"/>
          <a:lstStyle/>
          <a:p>
            <a:pPr indent="0" marL="0">
              <a:buNone/>
            </a:pPr>
            <a:r>
              <a:rPr lang="es-CL" altLang="en-US" sz="1800" dirty="0">
                <a:solidFill>
                  <a:schemeClr val="tx1"/>
                </a:solidFill>
                <a:latin typeface="Figtree" pitchFamily="34" charset="0"/>
                <a:ea typeface="Figtree" pitchFamily="34" charset="-122"/>
                <a:cs typeface="Figtree" pitchFamily="34" charset="-120"/>
              </a:rPr>
              <a:t>Buscar acuerdos con aseguradoras, plantas de revisión técnica y una financiera antes de vender. Hoy no existen.</a:t>
            </a:r>
            <a:endParaRPr lang="es-CL" sz="1800" dirty="0"/>
          </a:p>
        </p:txBody>
      </p:sp>
      <p:sp>
        <p:nvSpPr>
          <p:cNvPr id="22" name="Text 20"/>
          <p:cNvSpPr txBox="1"/>
          <p:nvPr/>
        </p:nvSpPr>
        <p:spPr>
          <a:xfrm>
            <a:off x="548640" y="5276088"/>
            <a:ext cx="11094415" cy="411480"/>
          </a:xfrm>
          <a:prstGeom prst="rect">
            <a:avLst/>
          </a:prstGeom>
          <a:noFill/>
          <a:ln/>
        </p:spPr>
        <p:txBody>
          <a:bodyPr wrap="square" lIns="0" tIns="0" rIns="0" bIns="0" rtlCol="0" anchor="ctr"/>
          <a:lstStyle/>
          <a:p>
            <a:pPr indent="0" marL="0">
              <a:buNone/>
            </a:pPr>
            <a:r>
              <a:rPr lang="es-CL" altLang="en-US" sz="1700" b="1" dirty="0">
                <a:solidFill>
                  <a:schemeClr val="tx1"/>
                </a:solidFill>
                <a:latin typeface="Figtree" pitchFamily="34" charset="0"/>
                <a:ea typeface="Figtree" pitchFamily="34" charset="-122"/>
                <a:cs typeface="Figtree" pitchFamily="34" charset="-120"/>
              </a:rPr>
              <a:t>Quinto cruce (DA): </a:t>
            </a:r>
            <a:pPr indent="0" marL="0">
              <a:buNone/>
            </a:pPr>
            <a:r>
              <a:rPr lang="es-CL" altLang="en-US" sz="1700" dirty="0">
                <a:solidFill>
                  <a:schemeClr val="tx2"/>
                </a:solidFill>
                <a:latin typeface="Figtree" pitchFamily="34" charset="0"/>
                <a:ea typeface="Figtree" pitchFamily="34" charset="-122"/>
                <a:cs typeface="Figtree" pitchFamily="34" charset="-120"/>
              </a:rPr>
              <a:t>cobertura cambiaria y proveedor de largo plazo (cambiarlo obliga a rehomologar).</a:t>
            </a:r>
            <a:endParaRPr lang="es-CL" sz="1700" dirty="0"/>
          </a:p>
        </p:txBody>
      </p:sp>
      <p:sp>
        <p:nvSpPr>
          <p:cNvPr id="23" name="Shape 21"/>
          <p:cNvSpPr/>
          <p:nvPr/>
        </p:nvSpPr>
        <p:spPr>
          <a:xfrm>
            <a:off x="548640" y="5925312"/>
            <a:ext cx="5622036" cy="310896"/>
          </a:xfrm>
          <a:prstGeom prst="rect">
            <a:avLst/>
          </a:prstGeom>
          <a:solidFill>
            <a:schemeClr val="bg1">
              <a:alpha val="0"/>
            </a:schemeClr>
          </a:solidFill>
          <a:ln w="12700">
            <a:solidFill>
              <a:schemeClr val="tx1"/>
            </a:solidFill>
            <a:prstDash val="dash"/>
          </a:ln>
        </p:spPr>
      </p:sp>
      <p:sp>
        <p:nvSpPr>
          <p:cNvPr id="24" name="Text 22"/>
          <p:cNvSpPr txBox="1"/>
          <p:nvPr/>
        </p:nvSpPr>
        <p:spPr>
          <a:xfrm>
            <a:off x="658368" y="5925312"/>
            <a:ext cx="5402580" cy="310896"/>
          </a:xfrm>
          <a:prstGeom prst="rect">
            <a:avLst/>
          </a:prstGeom>
          <a:noFill/>
          <a:ln/>
        </p:spPr>
        <p:txBody>
          <a:bodyPr wrap="square" lIns="0" tIns="0" rIns="0" bIns="0" rtlCol="0" anchor="ctr"/>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INSUMO PARA EL AVANCE 2 · NO ES ESTRATEGIA APROBADA</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A8</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CLIENTE · AHORRO DERIVADO Y ENTREVISTAS</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UN TECHO DE AHORRO,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no una medición.</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Fuentes: supuestos del equipo para la derivación; entrevistas en profundidad (n = 3). Nada de esta lámina es una medición.</a:t>
            </a:r>
            <a:endParaRPr lang="es-CL" sz="1200" dirty="0"/>
          </a:p>
        </p:txBody>
      </p:sp>
      <p:sp>
        <p:nvSpPr>
          <p:cNvPr id="6" name="Text 4"/>
          <p:cNvSpPr txBox="1"/>
          <p:nvPr/>
        </p:nvSpPr>
        <p:spPr>
          <a:xfrm>
            <a:off x="548640" y="2395728"/>
            <a:ext cx="5669280" cy="274320"/>
          </a:xfrm>
          <a:prstGeom prst="rect">
            <a:avLst/>
          </a:prstGeom>
          <a:noFill/>
          <a:ln/>
        </p:spPr>
        <p:txBody>
          <a:bodyPr wrap="square" lIns="0" tIns="0" rIns="0" bIns="0" rtlCol="0" anchor="t"/>
          <a:lstStyle/>
          <a:p>
            <a:pP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150–250 KM/DÍA · 24 DÍAS · 10 KM/L · $1.450/L</a:t>
            </a:r>
            <a:endParaRPr lang="es-CL" sz="1200" dirty="0"/>
          </a:p>
        </p:txBody>
      </p:sp>
      <p:sp>
        <p:nvSpPr>
          <p:cNvPr id="7" name="Shape 5"/>
          <p:cNvSpPr/>
          <p:nvPr/>
        </p:nvSpPr>
        <p:spPr>
          <a:xfrm>
            <a:off x="548640" y="2807208"/>
            <a:ext cx="5669280" cy="0"/>
          </a:xfrm>
          <a:prstGeom prst="line">
            <a:avLst/>
          </a:prstGeom>
          <a:noFill/>
          <a:ln w="9525">
            <a:solidFill>
              <a:schemeClr val="accent5"/>
            </a:solidFill>
            <a:prstDash val="solid"/>
          </a:ln>
        </p:spPr>
      </p:sp>
      <p:sp>
        <p:nvSpPr>
          <p:cNvPr id="8" name="Text 6"/>
          <p:cNvSpPr txBox="1"/>
          <p:nvPr/>
        </p:nvSpPr>
        <p:spPr>
          <a:xfrm>
            <a:off x="548640" y="2898648"/>
            <a:ext cx="5669280" cy="274320"/>
          </a:xfrm>
          <a:prstGeom prst="rect">
            <a:avLst/>
          </a:prstGeom>
          <a:noFill/>
          <a:ln/>
        </p:spPr>
        <p:txBody>
          <a:bodyPr wrap="square" lIns="0" tIns="0" rIns="0" bIns="0" rtlCol="0" anchor="t"/>
          <a:lstStyle/>
          <a:p>
            <a:pPr indent="0" marL="0">
              <a:buNone/>
            </a:pPr>
            <a:r>
              <a:rPr lang="es-CL" altLang="en-US" sz="1300" spc="100" kern="0" dirty="0">
                <a:solidFill>
                  <a:schemeClr val="tx2"/>
                </a:solidFill>
                <a:latin typeface="IBM Plex Mono" pitchFamily="34" charset="0"/>
                <a:ea typeface="IBM Plex Mono" pitchFamily="34" charset="-122"/>
                <a:cs typeface="IBM Plex Mono" pitchFamily="34" charset="-120"/>
              </a:rPr>
              <a:t>GASTO MENSUAL EN BENCINA</a:t>
            </a:r>
            <a:endParaRPr lang="es-CL" sz="1300" dirty="0"/>
          </a:p>
        </p:txBody>
      </p:sp>
      <p:sp>
        <p:nvSpPr>
          <p:cNvPr id="9" name="Text 7"/>
          <p:cNvSpPr txBox="1"/>
          <p:nvPr/>
        </p:nvSpPr>
        <p:spPr>
          <a:xfrm>
            <a:off x="548640" y="3172968"/>
            <a:ext cx="5669280" cy="777240"/>
          </a:xfrm>
          <a:prstGeom prst="rect">
            <a:avLst/>
          </a:prstGeom>
          <a:noFill/>
          <a:ln/>
        </p:spPr>
        <p:txBody>
          <a:bodyPr wrap="square" lIns="0" tIns="0" rIns="0" bIns="0" rtlCol="0" anchor="ctr"/>
          <a:lstStyle/>
          <a:p>
            <a:pPr indent="0" marL="0">
              <a:buNone/>
            </a:pPr>
            <a:r>
              <a:rPr lang="es-CL" altLang="en-US" sz="4400" b="1" dirty="0">
                <a:solidFill>
                  <a:schemeClr val="tx1"/>
                </a:solidFill>
                <a:latin typeface="Archivo Condensed" pitchFamily="34" charset="0"/>
                <a:ea typeface="Archivo Condensed" pitchFamily="34" charset="-122"/>
                <a:cs typeface="Archivo Condensed" pitchFamily="34" charset="-120"/>
              </a:rPr>
              <a:t>$522.000 – $870.000</a:t>
            </a:r>
            <a:endParaRPr lang="es-CL" sz="4400" dirty="0"/>
          </a:p>
        </p:txBody>
      </p:sp>
      <p:sp>
        <p:nvSpPr>
          <p:cNvPr id="10" name="Shape 8"/>
          <p:cNvSpPr/>
          <p:nvPr/>
        </p:nvSpPr>
        <p:spPr>
          <a:xfrm>
            <a:off x="548640" y="4041648"/>
            <a:ext cx="5669280" cy="0"/>
          </a:xfrm>
          <a:prstGeom prst="line">
            <a:avLst/>
          </a:prstGeom>
          <a:noFill/>
          <a:ln w="9525">
            <a:solidFill>
              <a:schemeClr val="accent1"/>
            </a:solidFill>
            <a:prstDash val="solid"/>
          </a:ln>
        </p:spPr>
      </p:sp>
      <p:sp>
        <p:nvSpPr>
          <p:cNvPr id="11" name="Text 9"/>
          <p:cNvSpPr txBox="1"/>
          <p:nvPr/>
        </p:nvSpPr>
        <p:spPr>
          <a:xfrm>
            <a:off x="548640" y="4133088"/>
            <a:ext cx="566928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CON HASTA 20% MENOS</a:t>
            </a:r>
            <a:endParaRPr lang="es-CL" sz="1300" dirty="0"/>
          </a:p>
        </p:txBody>
      </p:sp>
      <p:sp>
        <p:nvSpPr>
          <p:cNvPr id="12" name="Text 10"/>
          <p:cNvSpPr txBox="1"/>
          <p:nvPr/>
        </p:nvSpPr>
        <p:spPr>
          <a:xfrm>
            <a:off x="548640" y="4407408"/>
            <a:ext cx="5669280" cy="777240"/>
          </a:xfrm>
          <a:prstGeom prst="rect">
            <a:avLst/>
          </a:prstGeom>
          <a:noFill/>
          <a:ln/>
        </p:spPr>
        <p:txBody>
          <a:bodyPr wrap="square" lIns="0" tIns="0" rIns="0" bIns="0" rtlCol="0" anchor="ctr"/>
          <a:lstStyle/>
          <a:p>
            <a:pPr indent="0" marL="0">
              <a:buNone/>
            </a:pPr>
            <a:r>
              <a:rPr lang="es-CL" altLang="en-US" sz="4400" b="1" dirty="0">
                <a:solidFill>
                  <a:schemeClr val="accent1"/>
                </a:solidFill>
                <a:latin typeface="Archivo Condensed" pitchFamily="34" charset="0"/>
                <a:ea typeface="Archivo Condensed" pitchFamily="34" charset="-122"/>
                <a:cs typeface="Archivo Condensed" pitchFamily="34" charset="-120"/>
              </a:rPr>
              <a:t>$104.400 – $174.000</a:t>
            </a:r>
            <a:endParaRPr lang="es-CL" sz="4400" dirty="0"/>
          </a:p>
        </p:txBody>
      </p:sp>
      <p:sp>
        <p:nvSpPr>
          <p:cNvPr id="13" name="Text 11"/>
          <p:cNvSpPr txBox="1"/>
          <p:nvPr/>
        </p:nvSpPr>
        <p:spPr>
          <a:xfrm>
            <a:off x="548640" y="5367528"/>
            <a:ext cx="5669280" cy="59436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Ahorro mensual como techo, derivado de una estimación de ingeniería. No es un ahorro medido.</a:t>
            </a:r>
            <a:endParaRPr lang="es-CL" sz="1600" dirty="0"/>
          </a:p>
        </p:txBody>
      </p:sp>
      <p:sp>
        <p:nvSpPr>
          <p:cNvPr id="14" name="Shape 12"/>
          <p:cNvSpPr/>
          <p:nvPr/>
        </p:nvSpPr>
        <p:spPr>
          <a:xfrm>
            <a:off x="548640" y="5888736"/>
            <a:ext cx="4164076" cy="310896"/>
          </a:xfrm>
          <a:prstGeom prst="rect">
            <a:avLst/>
          </a:prstGeom>
          <a:solidFill>
            <a:schemeClr val="bg1">
              <a:alpha val="0"/>
            </a:schemeClr>
          </a:solidFill>
          <a:ln w="12700">
            <a:solidFill>
              <a:schemeClr val="tx2"/>
            </a:solidFill>
            <a:prstDash val="sysDot"/>
          </a:ln>
        </p:spPr>
      </p:sp>
      <p:sp>
        <p:nvSpPr>
          <p:cNvPr id="15" name="Text 13"/>
          <p:cNvSpPr txBox="1"/>
          <p:nvPr/>
        </p:nvSpPr>
        <p:spPr>
          <a:xfrm>
            <a:off x="658368" y="5888736"/>
            <a:ext cx="3944620" cy="310896"/>
          </a:xfrm>
          <a:prstGeom prst="rect">
            <a:avLst/>
          </a:prstGeom>
          <a:noFill/>
          <a:ln/>
        </p:spPr>
        <p:txBody>
          <a:bodyPr wrap="square" lIns="0" tIns="0" rIns="0" bIns="0" rtlCol="0" anchor="ctr"/>
          <a:lstStyle/>
          <a:p>
            <a:pPr algn="ctr" indent="0" marL="0">
              <a:buNone/>
            </a:pPr>
            <a:r>
              <a:rPr lang="es-CL" altLang="en-US" sz="1200" spc="100" kern="0" dirty="0">
                <a:solidFill>
                  <a:schemeClr val="tx2"/>
                </a:solidFill>
                <a:latin typeface="IBM Plex Mono" pitchFamily="34" charset="0"/>
                <a:ea typeface="IBM Plex Mono" pitchFamily="34" charset="-122"/>
                <a:cs typeface="IBM Plex Mono" pitchFamily="34" charset="-120"/>
              </a:rPr>
              <a:t>SUPUESTOS DEL EQUIPO · NO ES MEDICIÓN</a:t>
            </a:r>
            <a:endParaRPr lang="es-CL" sz="1200" dirty="0"/>
          </a:p>
        </p:txBody>
      </p:sp>
      <p:sp>
        <p:nvSpPr>
          <p:cNvPr id="16" name="Text 14"/>
          <p:cNvSpPr txBox="1"/>
          <p:nvPr/>
        </p:nvSpPr>
        <p:spPr>
          <a:xfrm>
            <a:off x="6675120" y="2395728"/>
            <a:ext cx="496793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ENTREVISTAS EN PROFUNDIDAD · n = 3</a:t>
            </a:r>
            <a:endParaRPr lang="es-CL" sz="1200" dirty="0"/>
          </a:p>
        </p:txBody>
      </p:sp>
      <p:sp>
        <p:nvSpPr>
          <p:cNvPr id="17" name="Shape 15"/>
          <p:cNvSpPr/>
          <p:nvPr/>
        </p:nvSpPr>
        <p:spPr>
          <a:xfrm>
            <a:off x="6675120" y="2761488"/>
            <a:ext cx="4967935" cy="0"/>
          </a:xfrm>
          <a:prstGeom prst="line">
            <a:avLst/>
          </a:prstGeom>
          <a:noFill/>
          <a:ln w="9525">
            <a:solidFill>
              <a:schemeClr val="accent5"/>
            </a:solidFill>
            <a:prstDash val="solid"/>
          </a:ln>
        </p:spPr>
      </p:sp>
      <p:sp>
        <p:nvSpPr>
          <p:cNvPr id="18" name="Text 16"/>
          <p:cNvSpPr txBox="1"/>
          <p:nvPr/>
        </p:nvSpPr>
        <p:spPr>
          <a:xfrm>
            <a:off x="6675120" y="2852928"/>
            <a:ext cx="4572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01</a:t>
            </a:r>
            <a:endParaRPr lang="es-CL" sz="1300" dirty="0"/>
          </a:p>
        </p:txBody>
      </p:sp>
      <p:sp>
        <p:nvSpPr>
          <p:cNvPr id="19" name="Text 17"/>
          <p:cNvSpPr txBox="1"/>
          <p:nvPr/>
        </p:nvSpPr>
        <p:spPr>
          <a:xfrm>
            <a:off x="7178040" y="2807208"/>
            <a:ext cx="4465015" cy="713232"/>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No intervenir el motor ni la mecánica original</a:t>
            </a:r>
            <a:endParaRPr lang="es-CL" sz="1700" dirty="0"/>
          </a:p>
        </p:txBody>
      </p:sp>
      <p:sp>
        <p:nvSpPr>
          <p:cNvPr id="20" name="Shape 18"/>
          <p:cNvSpPr/>
          <p:nvPr/>
        </p:nvSpPr>
        <p:spPr>
          <a:xfrm>
            <a:off x="6675120" y="3538728"/>
            <a:ext cx="4967935" cy="0"/>
          </a:xfrm>
          <a:prstGeom prst="line">
            <a:avLst/>
          </a:prstGeom>
          <a:noFill/>
          <a:ln w="9525">
            <a:solidFill>
              <a:schemeClr val="accent5"/>
            </a:solidFill>
            <a:prstDash val="solid"/>
          </a:ln>
        </p:spPr>
      </p:sp>
      <p:sp>
        <p:nvSpPr>
          <p:cNvPr id="21" name="Text 19"/>
          <p:cNvSpPr txBox="1"/>
          <p:nvPr/>
        </p:nvSpPr>
        <p:spPr>
          <a:xfrm>
            <a:off x="6675120" y="3630168"/>
            <a:ext cx="4572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02</a:t>
            </a:r>
            <a:endParaRPr lang="es-CL" sz="1300" dirty="0"/>
          </a:p>
        </p:txBody>
      </p:sp>
      <p:sp>
        <p:nvSpPr>
          <p:cNvPr id="22" name="Text 20"/>
          <p:cNvSpPr txBox="1"/>
          <p:nvPr/>
        </p:nvSpPr>
        <p:spPr>
          <a:xfrm>
            <a:off x="7178040" y="3584448"/>
            <a:ext cx="4465015" cy="713232"/>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Confianza: garantía escrita, quién responde ante fallas y un caso verificable</a:t>
            </a:r>
            <a:endParaRPr lang="es-CL" sz="1700" dirty="0"/>
          </a:p>
        </p:txBody>
      </p:sp>
      <p:sp>
        <p:nvSpPr>
          <p:cNvPr id="23" name="Shape 21"/>
          <p:cNvSpPr/>
          <p:nvPr/>
        </p:nvSpPr>
        <p:spPr>
          <a:xfrm>
            <a:off x="6675120" y="4315968"/>
            <a:ext cx="4967935" cy="0"/>
          </a:xfrm>
          <a:prstGeom prst="line">
            <a:avLst/>
          </a:prstGeom>
          <a:noFill/>
          <a:ln w="9525">
            <a:solidFill>
              <a:schemeClr val="accent5"/>
            </a:solidFill>
            <a:prstDash val="solid"/>
          </a:ln>
        </p:spPr>
      </p:sp>
      <p:sp>
        <p:nvSpPr>
          <p:cNvPr id="24" name="Text 22"/>
          <p:cNvSpPr txBox="1"/>
          <p:nvPr/>
        </p:nvSpPr>
        <p:spPr>
          <a:xfrm>
            <a:off x="6675120" y="4407408"/>
            <a:ext cx="457200"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03</a:t>
            </a:r>
            <a:endParaRPr lang="es-CL" sz="1300" dirty="0"/>
          </a:p>
        </p:txBody>
      </p:sp>
      <p:sp>
        <p:nvSpPr>
          <p:cNvPr id="25" name="Text 23"/>
          <p:cNvSpPr txBox="1"/>
          <p:nvPr/>
        </p:nvSpPr>
        <p:spPr>
          <a:xfrm>
            <a:off x="7178040" y="4361688"/>
            <a:ext cx="4465015" cy="713232"/>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Precio: no fue el temor dominante</a:t>
            </a:r>
            <a:endParaRPr lang="es-CL" sz="1700" dirty="0"/>
          </a:p>
        </p:txBody>
      </p:sp>
      <p:sp>
        <p:nvSpPr>
          <p:cNvPr id="26" name="Text 24"/>
          <p:cNvSpPr txBox="1"/>
          <p:nvPr/>
        </p:nvSpPr>
        <p:spPr>
          <a:xfrm>
            <a:off x="6675120" y="5138928"/>
            <a:ext cx="4967935" cy="1051560"/>
          </a:xfrm>
          <a:prstGeom prst="rect">
            <a:avLst/>
          </a:prstGeom>
          <a:noFill/>
          <a:ln/>
        </p:spPr>
        <p:txBody>
          <a:bodyPr wrap="square" lIns="0" tIns="0" rIns="0" bIns="0" rtlCol="0" anchor="t"/>
          <a:lstStyle/>
          <a:p>
            <a:pPr indent="0" marL="0">
              <a:buNone/>
            </a:pPr>
            <a:r>
              <a:rPr lang="es-CL" altLang="en-US" sz="1600" dirty="0">
                <a:solidFill>
                  <a:schemeClr val="tx2"/>
                </a:solidFill>
                <a:latin typeface="Figtree" pitchFamily="34" charset="0"/>
                <a:ea typeface="Figtree" pitchFamily="34" charset="-122"/>
                <a:cs typeface="Figtree" pitchFamily="34" charset="-120"/>
              </a:rPr>
              <a:t>Tensión: los instrumentos 02 y 03 muestran un cliente muy sensible al precio. Ambas cosas pueden ser ciertas; resolverlo exige una muestra aleatoria y cuantitativa.</a:t>
            </a:r>
            <a:endParaRPr lang="es-CL" sz="16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A9</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DECLARACIONES ESTRATÉGICAS · TEXTO LITERAL</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MISIÓN, VISIÓN Y VALORES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completos.</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informe del Avance 1, secciones 5.1, 5.2 y 5.3.</a:t>
            </a:r>
            <a:endParaRPr lang="es-CL" sz="1200" dirty="0"/>
          </a:p>
        </p:txBody>
      </p:sp>
      <p:sp>
        <p:nvSpPr>
          <p:cNvPr id="6" name="Text 4"/>
          <p:cNvSpPr txBox="1"/>
          <p:nvPr/>
        </p:nvSpPr>
        <p:spPr>
          <a:xfrm>
            <a:off x="548640" y="2350008"/>
            <a:ext cx="11094415" cy="868680"/>
          </a:xfrm>
          <a:prstGeom prst="rect">
            <a:avLst/>
          </a:prstGeom>
          <a:noFill/>
          <a:ln/>
        </p:spPr>
        <p:txBody>
          <a:bodyPr wrap="square" lIns="0" tIns="0" rIns="0" bIns="0" rtlCol="0" anchor="t"/>
          <a:lstStyle/>
          <a:p>
            <a:pPr indent="0" marL="0">
              <a:buNone/>
            </a:pPr>
            <a:r>
              <a:rPr lang="es-CL" altLang="en-US" sz="1300" dirty="0">
                <a:solidFill>
                  <a:schemeClr val="accent1"/>
                </a:solidFill>
                <a:latin typeface="IBM Plex Mono" pitchFamily="34" charset="0"/>
                <a:ea typeface="IBM Plex Mono" pitchFamily="34" charset="-122"/>
                <a:cs typeface="IBM Plex Mono" pitchFamily="34" charset="-120"/>
              </a:rPr>
              <a:t>MISIÓN  </a:t>
            </a:r>
            <a:pPr indent="0" marL="0">
              <a:buNone/>
            </a:pPr>
            <a:r>
              <a:rPr lang="es-CL" altLang="en-US" sz="1700" dirty="0">
                <a:solidFill>
                  <a:schemeClr val="tx1"/>
                </a:solidFill>
                <a:latin typeface="Figtree" pitchFamily="34" charset="0"/>
                <a:ea typeface="Figtree" pitchFamily="34" charset="-122"/>
                <a:cs typeface="Figtree" pitchFamily="34" charset="-120"/>
              </a:rPr>
              <a:t>«Reducir el combustible que un vehículo liviano a combustión necesita por kilómetro, mediante la instalación certificada de un sistema de hibridación aditiva sobre el automóvil que el cliente ya tiene, sin reemplazarlo y sin intervenir su motor.»</a:t>
            </a:r>
            <a:endParaRPr lang="es-CL" sz="1700" dirty="0"/>
          </a:p>
        </p:txBody>
      </p:sp>
      <p:sp>
        <p:nvSpPr>
          <p:cNvPr id="7" name="Text 5"/>
          <p:cNvSpPr txBox="1"/>
          <p:nvPr/>
        </p:nvSpPr>
        <p:spPr>
          <a:xfrm>
            <a:off x="548640" y="3291840"/>
            <a:ext cx="11094415" cy="640080"/>
          </a:xfrm>
          <a:prstGeom prst="rect">
            <a:avLst/>
          </a:prstGeom>
          <a:noFill/>
          <a:ln/>
        </p:spPr>
        <p:txBody>
          <a:bodyPr wrap="square" lIns="0" tIns="0" rIns="0" bIns="0" rtlCol="0" anchor="t"/>
          <a:lstStyle/>
          <a:p>
            <a:pPr indent="0" marL="0">
              <a:buNone/>
            </a:pPr>
            <a:r>
              <a:rPr lang="es-CL" altLang="en-US" sz="1300" dirty="0">
                <a:solidFill>
                  <a:schemeClr val="accent1"/>
                </a:solidFill>
                <a:latin typeface="IBM Plex Mono" pitchFamily="34" charset="0"/>
                <a:ea typeface="IBM Plex Mono" pitchFamily="34" charset="-122"/>
                <a:cs typeface="IBM Plex Mono" pitchFamily="34" charset="-120"/>
              </a:rPr>
              <a:t>VISIÓN  </a:t>
            </a:r>
            <a:pPr indent="0" marL="0">
              <a:buNone/>
            </a:pPr>
            <a:r>
              <a:rPr lang="es-CL" altLang="en-US" sz="1700" dirty="0">
                <a:solidFill>
                  <a:schemeClr val="tx1"/>
                </a:solidFill>
                <a:latin typeface="Figtree" pitchFamily="34" charset="0"/>
                <a:ea typeface="Figtree" pitchFamily="34" charset="-122"/>
                <a:cs typeface="Figtree" pitchFamily="34" charset="-120"/>
              </a:rPr>
              <a:t>«Ser hacia 2031 el taller de referencia en hibridación de vehículos en uso en Chile, con un procedimiento reconocido por la autoridad, las plantas de revisión técnica y las compañías de seguros.»</a:t>
            </a:r>
            <a:endParaRPr lang="es-CL" sz="1700" dirty="0"/>
          </a:p>
        </p:txBody>
      </p:sp>
      <p:sp>
        <p:nvSpPr>
          <p:cNvPr id="8" name="Shape 6"/>
          <p:cNvSpPr/>
          <p:nvPr/>
        </p:nvSpPr>
        <p:spPr>
          <a:xfrm>
            <a:off x="548640" y="4087368"/>
            <a:ext cx="5364328" cy="0"/>
          </a:xfrm>
          <a:prstGeom prst="line">
            <a:avLst/>
          </a:prstGeom>
          <a:noFill/>
          <a:ln w="9525">
            <a:solidFill>
              <a:schemeClr val="accent1"/>
            </a:solidFill>
            <a:prstDash val="solid"/>
          </a:ln>
        </p:spPr>
      </p:sp>
      <p:sp>
        <p:nvSpPr>
          <p:cNvPr id="9" name="Text 7"/>
          <p:cNvSpPr txBox="1"/>
          <p:nvPr/>
        </p:nvSpPr>
        <p:spPr>
          <a:xfrm>
            <a:off x="548640" y="4160520"/>
            <a:ext cx="536432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VALORES ORGANIZACIONALES</a:t>
            </a:r>
            <a:endParaRPr lang="es-CL" sz="1300" dirty="0"/>
          </a:p>
        </p:txBody>
      </p:sp>
      <p:sp>
        <p:nvSpPr>
          <p:cNvPr id="10" name="Shape 8"/>
          <p:cNvSpPr/>
          <p:nvPr/>
        </p:nvSpPr>
        <p:spPr>
          <a:xfrm>
            <a:off x="548640" y="4609084"/>
            <a:ext cx="82296" cy="82296"/>
          </a:xfrm>
          <a:prstGeom prst="rect">
            <a:avLst/>
          </a:prstGeom>
          <a:solidFill>
            <a:schemeClr val="accent1"/>
          </a:solidFill>
          <a:ln/>
        </p:spPr>
      </p:sp>
      <p:sp>
        <p:nvSpPr>
          <p:cNvPr id="11" name="Text 9"/>
          <p:cNvSpPr txBox="1"/>
          <p:nvPr/>
        </p:nvSpPr>
        <p:spPr>
          <a:xfrm>
            <a:off x="749808" y="4526280"/>
            <a:ext cx="5163160"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Verificabilidad antes que afirmación</a:t>
            </a:r>
            <a:endParaRPr lang="es-CL" sz="1600" dirty="0"/>
          </a:p>
        </p:txBody>
      </p:sp>
      <p:sp>
        <p:nvSpPr>
          <p:cNvPr id="12" name="Shape 10"/>
          <p:cNvSpPr/>
          <p:nvPr/>
        </p:nvSpPr>
        <p:spPr>
          <a:xfrm>
            <a:off x="548640" y="4966716"/>
            <a:ext cx="82296" cy="82296"/>
          </a:xfrm>
          <a:prstGeom prst="rect">
            <a:avLst/>
          </a:prstGeom>
          <a:solidFill>
            <a:schemeClr val="accent1"/>
          </a:solidFill>
          <a:ln/>
        </p:spPr>
      </p:sp>
      <p:sp>
        <p:nvSpPr>
          <p:cNvPr id="13" name="Text 11"/>
          <p:cNvSpPr txBox="1"/>
          <p:nvPr/>
        </p:nvSpPr>
        <p:spPr>
          <a:xfrm>
            <a:off x="749808" y="4883912"/>
            <a:ext cx="5163160"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Formalidad como condición de operación</a:t>
            </a:r>
            <a:endParaRPr lang="es-CL" sz="1600" dirty="0"/>
          </a:p>
        </p:txBody>
      </p:sp>
      <p:sp>
        <p:nvSpPr>
          <p:cNvPr id="14" name="Shape 12"/>
          <p:cNvSpPr/>
          <p:nvPr/>
        </p:nvSpPr>
        <p:spPr>
          <a:xfrm>
            <a:off x="548640" y="5324348"/>
            <a:ext cx="82296" cy="82296"/>
          </a:xfrm>
          <a:prstGeom prst="rect">
            <a:avLst/>
          </a:prstGeom>
          <a:solidFill>
            <a:schemeClr val="accent1"/>
          </a:solidFill>
          <a:ln/>
        </p:spPr>
      </p:sp>
      <p:sp>
        <p:nvSpPr>
          <p:cNvPr id="15" name="Text 13"/>
          <p:cNvSpPr txBox="1"/>
          <p:nvPr/>
        </p:nvSpPr>
        <p:spPr>
          <a:xfrm>
            <a:off x="749808" y="5241544"/>
            <a:ext cx="5163160"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Trazabilidad del conocimiento técnico</a:t>
            </a:r>
            <a:endParaRPr lang="es-CL" sz="1600" dirty="0"/>
          </a:p>
        </p:txBody>
      </p:sp>
      <p:sp>
        <p:nvSpPr>
          <p:cNvPr id="16" name="Shape 14"/>
          <p:cNvSpPr/>
          <p:nvPr/>
        </p:nvSpPr>
        <p:spPr>
          <a:xfrm>
            <a:off x="548640" y="5681980"/>
            <a:ext cx="82296" cy="82296"/>
          </a:xfrm>
          <a:prstGeom prst="rect">
            <a:avLst/>
          </a:prstGeom>
          <a:solidFill>
            <a:schemeClr val="accent1"/>
          </a:solidFill>
          <a:ln/>
        </p:spPr>
      </p:sp>
      <p:sp>
        <p:nvSpPr>
          <p:cNvPr id="17" name="Text 15"/>
          <p:cNvSpPr txBox="1"/>
          <p:nvPr/>
        </p:nvSpPr>
        <p:spPr>
          <a:xfrm>
            <a:off x="749808" y="5599176"/>
            <a:ext cx="5163160"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Responsabilidad sobre el ciclo completo del componente</a:t>
            </a:r>
            <a:endParaRPr lang="es-CL" sz="1600" dirty="0"/>
          </a:p>
        </p:txBody>
      </p:sp>
      <p:sp>
        <p:nvSpPr>
          <p:cNvPr id="18" name="Shape 16"/>
          <p:cNvSpPr/>
          <p:nvPr/>
        </p:nvSpPr>
        <p:spPr>
          <a:xfrm>
            <a:off x="6278728" y="4087368"/>
            <a:ext cx="5364328" cy="0"/>
          </a:xfrm>
          <a:prstGeom prst="line">
            <a:avLst/>
          </a:prstGeom>
          <a:noFill/>
          <a:ln w="9525">
            <a:solidFill>
              <a:schemeClr val="accent1"/>
            </a:solidFill>
            <a:prstDash val="solid"/>
          </a:ln>
        </p:spPr>
      </p:sp>
      <p:sp>
        <p:nvSpPr>
          <p:cNvPr id="19" name="Text 17"/>
          <p:cNvSpPr txBox="1"/>
          <p:nvPr/>
        </p:nvSpPr>
        <p:spPr>
          <a:xfrm>
            <a:off x="6278728" y="4160520"/>
            <a:ext cx="5364328" cy="274320"/>
          </a:xfrm>
          <a:prstGeom prst="rect">
            <a:avLst/>
          </a:prstGeom>
          <a:noFill/>
          <a:ln/>
        </p:spPr>
        <p:txBody>
          <a:bodyPr wrap="square" lIns="0" tIns="0" rIns="0" bIns="0" rtlCol="0" anchor="t"/>
          <a:lstStyle/>
          <a:p>
            <a:pPr indent="0" marL="0">
              <a:buNone/>
            </a:pPr>
            <a:r>
              <a:rPr lang="es-CL" altLang="en-US" sz="1300" spc="100" kern="0" dirty="0">
                <a:solidFill>
                  <a:schemeClr val="accent1"/>
                </a:solidFill>
                <a:latin typeface="IBM Plex Mono" pitchFamily="34" charset="0"/>
                <a:ea typeface="IBM Plex Mono" pitchFamily="34" charset="-122"/>
                <a:cs typeface="IBM Plex Mono" pitchFamily="34" charset="-120"/>
              </a:rPr>
              <a:t>VALORES HUMANOS</a:t>
            </a:r>
            <a:endParaRPr lang="es-CL" sz="1300" dirty="0"/>
          </a:p>
        </p:txBody>
      </p:sp>
      <p:sp>
        <p:nvSpPr>
          <p:cNvPr id="20" name="Shape 18"/>
          <p:cNvSpPr/>
          <p:nvPr/>
        </p:nvSpPr>
        <p:spPr>
          <a:xfrm>
            <a:off x="6278728" y="4609084"/>
            <a:ext cx="82296" cy="82296"/>
          </a:xfrm>
          <a:prstGeom prst="rect">
            <a:avLst/>
          </a:prstGeom>
          <a:solidFill>
            <a:schemeClr val="accent1"/>
          </a:solidFill>
          <a:ln/>
        </p:spPr>
      </p:sp>
      <p:sp>
        <p:nvSpPr>
          <p:cNvPr id="21" name="Text 19"/>
          <p:cNvSpPr txBox="1"/>
          <p:nvPr/>
        </p:nvSpPr>
        <p:spPr>
          <a:xfrm>
            <a:off x="6479896" y="4526280"/>
            <a:ext cx="5163160"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Honestidad técnica en el diagnóstico</a:t>
            </a:r>
            <a:endParaRPr lang="es-CL" sz="1600" dirty="0"/>
          </a:p>
        </p:txBody>
      </p:sp>
      <p:sp>
        <p:nvSpPr>
          <p:cNvPr id="22" name="Shape 20"/>
          <p:cNvSpPr/>
          <p:nvPr/>
        </p:nvSpPr>
        <p:spPr>
          <a:xfrm>
            <a:off x="6278728" y="4966716"/>
            <a:ext cx="82296" cy="82296"/>
          </a:xfrm>
          <a:prstGeom prst="rect">
            <a:avLst/>
          </a:prstGeom>
          <a:solidFill>
            <a:schemeClr val="accent1"/>
          </a:solidFill>
          <a:ln/>
        </p:spPr>
      </p:sp>
      <p:sp>
        <p:nvSpPr>
          <p:cNvPr id="23" name="Text 21"/>
          <p:cNvSpPr txBox="1"/>
          <p:nvPr/>
        </p:nvSpPr>
        <p:spPr>
          <a:xfrm>
            <a:off x="6479896" y="4883912"/>
            <a:ext cx="5163160"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Seguridad de quien instala y de quien conduce</a:t>
            </a:r>
            <a:endParaRPr lang="es-CL" sz="1600" dirty="0"/>
          </a:p>
        </p:txBody>
      </p:sp>
      <p:sp>
        <p:nvSpPr>
          <p:cNvPr id="24" name="Shape 22"/>
          <p:cNvSpPr/>
          <p:nvPr/>
        </p:nvSpPr>
        <p:spPr>
          <a:xfrm>
            <a:off x="6278728" y="5324348"/>
            <a:ext cx="82296" cy="82296"/>
          </a:xfrm>
          <a:prstGeom prst="rect">
            <a:avLst/>
          </a:prstGeom>
          <a:solidFill>
            <a:schemeClr val="accent1"/>
          </a:solidFill>
          <a:ln/>
        </p:spPr>
      </p:sp>
      <p:sp>
        <p:nvSpPr>
          <p:cNvPr id="25" name="Text 23"/>
          <p:cNvSpPr txBox="1"/>
          <p:nvPr/>
        </p:nvSpPr>
        <p:spPr>
          <a:xfrm>
            <a:off x="6479896" y="5241544"/>
            <a:ext cx="5163160" cy="495808"/>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Responsabilidad individual sobre la instalación ejecutada</a:t>
            </a:r>
            <a:endParaRPr lang="es-CL" sz="1600" dirty="0"/>
          </a:p>
        </p:txBody>
      </p:sp>
      <p:sp>
        <p:nvSpPr>
          <p:cNvPr id="26" name="Shape 24"/>
          <p:cNvSpPr/>
          <p:nvPr/>
        </p:nvSpPr>
        <p:spPr>
          <a:xfrm>
            <a:off x="6278728" y="5929884"/>
            <a:ext cx="82296" cy="82296"/>
          </a:xfrm>
          <a:prstGeom prst="rect">
            <a:avLst/>
          </a:prstGeom>
          <a:solidFill>
            <a:schemeClr val="accent1"/>
          </a:solidFill>
          <a:ln/>
        </p:spPr>
      </p:sp>
      <p:sp>
        <p:nvSpPr>
          <p:cNvPr id="27" name="Text 25"/>
          <p:cNvSpPr txBox="1"/>
          <p:nvPr/>
        </p:nvSpPr>
        <p:spPr>
          <a:xfrm>
            <a:off x="6479896" y="5847080"/>
            <a:ext cx="5163160" cy="247904"/>
          </a:xfrm>
          <a:prstGeom prst="rect">
            <a:avLst/>
          </a:prstGeom>
          <a:noFill/>
          <a:ln/>
        </p:spPr>
        <p:txBody>
          <a:bodyPr wrap="square" lIns="0" tIns="0" rIns="0" bIns="0" rtlCol="0" anchor="t"/>
          <a:lstStyle/>
          <a:p>
            <a:pPr indent="0" marL="0">
              <a:lnSpc>
                <a:spcPct val="100000"/>
              </a:lnSpc>
              <a:buNone/>
            </a:pPr>
            <a:r>
              <a:rPr lang="es-CL" altLang="en-US" sz="1600" dirty="0">
                <a:solidFill>
                  <a:schemeClr val="tx1"/>
                </a:solidFill>
                <a:latin typeface="Figtree" pitchFamily="34" charset="0"/>
                <a:ea typeface="Figtree" pitchFamily="34" charset="-122"/>
                <a:cs typeface="Figtree" pitchFamily="34" charset="-120"/>
              </a:rPr>
              <a:t>Reconocimiento del oficio técnico</a:t>
            </a:r>
            <a:endParaRPr lang="es-CL" sz="16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A10</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TRANSPARENCIA · ORIGEN DE CADA AFIRMACIÓN</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DATO, EVALUACIÓN, ESTIMACIÓN O FALTA:</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cada cifra dice qué es.</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revisión del equipo de cada cifra usada en la exposición.</a:t>
            </a:r>
            <a:endParaRPr lang="es-CL" sz="1200" dirty="0"/>
          </a:p>
        </p:txBody>
      </p:sp>
      <p:sp>
        <p:nvSpPr>
          <p:cNvPr id="6" name="Shape 4"/>
          <p:cNvSpPr/>
          <p:nvPr/>
        </p:nvSpPr>
        <p:spPr>
          <a:xfrm>
            <a:off x="548640" y="2395728"/>
            <a:ext cx="2602154" cy="3803904"/>
          </a:xfrm>
          <a:prstGeom prst="rect">
            <a:avLst/>
          </a:prstGeom>
          <a:solidFill>
            <a:schemeClr val="bg1">
              <a:alpha val="0"/>
            </a:schemeClr>
          </a:solidFill>
          <a:ln w="15875">
            <a:solidFill>
              <a:schemeClr val="accent1"/>
            </a:solidFill>
            <a:prstDash val="solid"/>
          </a:ln>
        </p:spPr>
      </p:sp>
      <p:sp>
        <p:nvSpPr>
          <p:cNvPr id="7" name="Text 5"/>
          <p:cNvSpPr txBox="1"/>
          <p:nvPr/>
        </p:nvSpPr>
        <p:spPr>
          <a:xfrm>
            <a:off x="731520" y="2578608"/>
            <a:ext cx="2236394" cy="457200"/>
          </a:xfrm>
          <a:prstGeom prst="rect">
            <a:avLst/>
          </a:prstGeom>
          <a:noFill/>
          <a:ln/>
        </p:spPr>
        <p:txBody>
          <a:bodyPr wrap="square" lIns="0" tIns="0" rIns="0" bIns="0" rtlCol="0" anchor="t"/>
          <a:lstStyle/>
          <a:p>
            <a:pPr indent="0" marL="0">
              <a:buNone/>
            </a:pPr>
            <a:r>
              <a:rPr lang="es-CL" altLang="en-US" sz="1300" b="1" spc="100" kern="0" dirty="0">
                <a:solidFill>
                  <a:schemeClr val="accent1"/>
                </a:solidFill>
                <a:latin typeface="IBM Plex Mono" pitchFamily="34" charset="0"/>
                <a:ea typeface="IBM Plex Mono" pitchFamily="34" charset="-122"/>
                <a:cs typeface="IBM Plex Mono" pitchFamily="34" charset="-120"/>
              </a:rPr>
              <a:t>DATO PÚBLICO</a:t>
            </a:r>
            <a:endParaRPr lang="es-CL" sz="1300" dirty="0"/>
          </a:p>
        </p:txBody>
      </p:sp>
      <p:sp>
        <p:nvSpPr>
          <p:cNvPr id="8" name="Shape 6"/>
          <p:cNvSpPr/>
          <p:nvPr/>
        </p:nvSpPr>
        <p:spPr>
          <a:xfrm>
            <a:off x="731520" y="3127248"/>
            <a:ext cx="2236394" cy="0"/>
          </a:xfrm>
          <a:prstGeom prst="line">
            <a:avLst/>
          </a:prstGeom>
          <a:noFill/>
          <a:ln w="9525">
            <a:solidFill>
              <a:schemeClr val="accent5"/>
            </a:solidFill>
            <a:prstDash val="solid"/>
          </a:ln>
        </p:spPr>
      </p:sp>
      <p:sp>
        <p:nvSpPr>
          <p:cNvPr id="9" name="Text 7"/>
          <p:cNvSpPr txBox="1"/>
          <p:nvPr/>
        </p:nvSpPr>
        <p:spPr>
          <a:xfrm>
            <a:off x="731520" y="318211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Ley N° 21.793 sin reglamento</a:t>
            </a:r>
            <a:endParaRPr lang="es-CL" sz="1700" dirty="0"/>
          </a:p>
        </p:txBody>
      </p:sp>
      <p:sp>
        <p:nvSpPr>
          <p:cNvPr id="10" name="Shape 8"/>
          <p:cNvSpPr/>
          <p:nvPr/>
        </p:nvSpPr>
        <p:spPr>
          <a:xfrm>
            <a:off x="731520" y="4087368"/>
            <a:ext cx="2236394" cy="0"/>
          </a:xfrm>
          <a:prstGeom prst="line">
            <a:avLst/>
          </a:prstGeom>
          <a:noFill/>
          <a:ln w="9525">
            <a:solidFill>
              <a:schemeClr val="accent5"/>
            </a:solidFill>
            <a:prstDash val="solid"/>
          </a:ln>
        </p:spPr>
      </p:sp>
      <p:sp>
        <p:nvSpPr>
          <p:cNvPr id="11" name="Text 9"/>
          <p:cNvSpPr txBox="1"/>
          <p:nvPr/>
        </p:nvSpPr>
        <p:spPr>
          <a:xfrm>
            <a:off x="731520" y="414223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Meta 2035 de electromovilidad</a:t>
            </a:r>
            <a:endParaRPr lang="es-CL" sz="1700" dirty="0"/>
          </a:p>
        </p:txBody>
      </p:sp>
      <p:sp>
        <p:nvSpPr>
          <p:cNvPr id="12" name="Shape 10"/>
          <p:cNvSpPr/>
          <p:nvPr/>
        </p:nvSpPr>
        <p:spPr>
          <a:xfrm>
            <a:off x="731520" y="5047488"/>
            <a:ext cx="2236394" cy="0"/>
          </a:xfrm>
          <a:prstGeom prst="line">
            <a:avLst/>
          </a:prstGeom>
          <a:noFill/>
          <a:ln w="9525">
            <a:solidFill>
              <a:schemeClr val="accent5"/>
            </a:solidFill>
            <a:prstDash val="solid"/>
          </a:ln>
        </p:spPr>
      </p:sp>
      <p:sp>
        <p:nvSpPr>
          <p:cNvPr id="13" name="Text 11"/>
          <p:cNvSpPr txBox="1"/>
          <p:nvPr/>
        </p:nvSpPr>
        <p:spPr>
          <a:xfrm>
            <a:off x="731520" y="510235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Precios y transferencias (fuente primaria por adjuntar)</a:t>
            </a:r>
            <a:endParaRPr lang="es-CL" sz="1700" dirty="0"/>
          </a:p>
        </p:txBody>
      </p:sp>
      <p:sp>
        <p:nvSpPr>
          <p:cNvPr id="14" name="Shape 12"/>
          <p:cNvSpPr/>
          <p:nvPr/>
        </p:nvSpPr>
        <p:spPr>
          <a:xfrm>
            <a:off x="3379394" y="2395728"/>
            <a:ext cx="2602154" cy="3803904"/>
          </a:xfrm>
          <a:prstGeom prst="rect">
            <a:avLst/>
          </a:prstGeom>
          <a:solidFill>
            <a:schemeClr val="bg1">
              <a:alpha val="0"/>
            </a:schemeClr>
          </a:solidFill>
          <a:ln w="12700">
            <a:solidFill>
              <a:schemeClr val="tx2"/>
            </a:solidFill>
            <a:prstDash val="sysDot"/>
          </a:ln>
        </p:spPr>
      </p:sp>
      <p:sp>
        <p:nvSpPr>
          <p:cNvPr id="15" name="Text 13"/>
          <p:cNvSpPr txBox="1"/>
          <p:nvPr/>
        </p:nvSpPr>
        <p:spPr>
          <a:xfrm>
            <a:off x="3562274" y="2578608"/>
            <a:ext cx="2236394" cy="457200"/>
          </a:xfrm>
          <a:prstGeom prst="rect">
            <a:avLst/>
          </a:prstGeom>
          <a:noFill/>
          <a:ln/>
        </p:spPr>
        <p:txBody>
          <a:bodyPr wrap="square" lIns="0" tIns="0" rIns="0" bIns="0" rtlCol="0" anchor="t"/>
          <a:lstStyle/>
          <a:p>
            <a:pPr indent="0" marL="0">
              <a:buNone/>
            </a:pPr>
            <a:r>
              <a:rPr lang="es-CL" altLang="en-US" sz="1300" b="1" spc="100" kern="0" dirty="0">
                <a:solidFill>
                  <a:schemeClr val="tx1"/>
                </a:solidFill>
                <a:latin typeface="IBM Plex Mono" pitchFamily="34" charset="0"/>
                <a:ea typeface="IBM Plex Mono" pitchFamily="34" charset="-122"/>
                <a:cs typeface="IBM Plex Mono" pitchFamily="34" charset="-120"/>
              </a:rPr>
              <a:t>EVALUACIÓN DEL EQUIPO</a:t>
            </a:r>
            <a:endParaRPr lang="es-CL" sz="1300" dirty="0"/>
          </a:p>
        </p:txBody>
      </p:sp>
      <p:sp>
        <p:nvSpPr>
          <p:cNvPr id="16" name="Shape 14"/>
          <p:cNvSpPr/>
          <p:nvPr/>
        </p:nvSpPr>
        <p:spPr>
          <a:xfrm>
            <a:off x="3562274" y="3127248"/>
            <a:ext cx="2236394" cy="0"/>
          </a:xfrm>
          <a:prstGeom prst="line">
            <a:avLst/>
          </a:prstGeom>
          <a:noFill/>
          <a:ln w="9525">
            <a:solidFill>
              <a:schemeClr val="accent5"/>
            </a:solidFill>
            <a:prstDash val="solid"/>
          </a:ln>
        </p:spPr>
      </p:sp>
      <p:sp>
        <p:nvSpPr>
          <p:cNvPr id="17" name="Text 15"/>
          <p:cNvSpPr txBox="1"/>
          <p:nvPr/>
        </p:nvSpPr>
        <p:spPr>
          <a:xfrm>
            <a:off x="3562274" y="318211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Puntajes de PEST, Porter, Hitt y cadena de valor</a:t>
            </a:r>
            <a:endParaRPr lang="es-CL" sz="1700" dirty="0"/>
          </a:p>
        </p:txBody>
      </p:sp>
      <p:sp>
        <p:nvSpPr>
          <p:cNvPr id="18" name="Shape 16"/>
          <p:cNvSpPr/>
          <p:nvPr/>
        </p:nvSpPr>
        <p:spPr>
          <a:xfrm>
            <a:off x="3562274" y="4087368"/>
            <a:ext cx="2236394" cy="0"/>
          </a:xfrm>
          <a:prstGeom prst="line">
            <a:avLst/>
          </a:prstGeom>
          <a:noFill/>
          <a:ln w="9525">
            <a:solidFill>
              <a:schemeClr val="accent5"/>
            </a:solidFill>
            <a:prstDash val="solid"/>
          </a:ln>
        </p:spPr>
      </p:sp>
      <p:sp>
        <p:nvSpPr>
          <p:cNvPr id="19" name="Text 17"/>
          <p:cNvSpPr txBox="1"/>
          <p:nvPr/>
        </p:nvSpPr>
        <p:spPr>
          <a:xfrm>
            <a:off x="3562274" y="414223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Escenarios E1 a E4</a:t>
            </a:r>
            <a:endParaRPr lang="es-CL" sz="1700" dirty="0"/>
          </a:p>
        </p:txBody>
      </p:sp>
      <p:sp>
        <p:nvSpPr>
          <p:cNvPr id="20" name="Shape 18"/>
          <p:cNvSpPr/>
          <p:nvPr/>
        </p:nvSpPr>
        <p:spPr>
          <a:xfrm>
            <a:off x="3562274" y="5047488"/>
            <a:ext cx="2236394" cy="0"/>
          </a:xfrm>
          <a:prstGeom prst="line">
            <a:avLst/>
          </a:prstGeom>
          <a:noFill/>
          <a:ln w="9525">
            <a:solidFill>
              <a:schemeClr val="accent5"/>
            </a:solidFill>
            <a:prstDash val="solid"/>
          </a:ln>
        </p:spPr>
      </p:sp>
      <p:sp>
        <p:nvSpPr>
          <p:cNvPr id="21" name="Text 19"/>
          <p:cNvSpPr txBox="1"/>
          <p:nvPr/>
        </p:nvSpPr>
        <p:spPr>
          <a:xfrm>
            <a:off x="3562274" y="510235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FODA y tres brechas</a:t>
            </a:r>
            <a:endParaRPr lang="es-CL" sz="1700" dirty="0"/>
          </a:p>
        </p:txBody>
      </p:sp>
      <p:sp>
        <p:nvSpPr>
          <p:cNvPr id="22" name="Shape 20"/>
          <p:cNvSpPr/>
          <p:nvPr/>
        </p:nvSpPr>
        <p:spPr>
          <a:xfrm>
            <a:off x="6210148" y="2395728"/>
            <a:ext cx="2602154" cy="3803904"/>
          </a:xfrm>
          <a:prstGeom prst="rect">
            <a:avLst/>
          </a:prstGeom>
          <a:solidFill>
            <a:schemeClr val="bg1">
              <a:alpha val="0"/>
            </a:schemeClr>
          </a:solidFill>
          <a:ln w="12700">
            <a:solidFill>
              <a:schemeClr val="tx2"/>
            </a:solidFill>
            <a:prstDash val="dash"/>
          </a:ln>
        </p:spPr>
      </p:sp>
      <p:sp>
        <p:nvSpPr>
          <p:cNvPr id="23" name="Text 21"/>
          <p:cNvSpPr txBox="1"/>
          <p:nvPr/>
        </p:nvSpPr>
        <p:spPr>
          <a:xfrm>
            <a:off x="6393028" y="2578608"/>
            <a:ext cx="2236394" cy="457200"/>
          </a:xfrm>
          <a:prstGeom prst="rect">
            <a:avLst/>
          </a:prstGeom>
          <a:noFill/>
          <a:ln/>
        </p:spPr>
        <p:txBody>
          <a:bodyPr wrap="square" lIns="0" tIns="0" rIns="0" bIns="0" rtlCol="0" anchor="t"/>
          <a:lstStyle/>
          <a:p>
            <a:pPr indent="0" marL="0">
              <a:buNone/>
            </a:pPr>
            <a:r>
              <a:rPr lang="es-CL" altLang="en-US" sz="1300" b="1" spc="100" kern="0" dirty="0">
                <a:solidFill>
                  <a:schemeClr val="tx1"/>
                </a:solidFill>
                <a:latin typeface="IBM Plex Mono" pitchFamily="34" charset="0"/>
                <a:ea typeface="IBM Plex Mono" pitchFamily="34" charset="-122"/>
                <a:cs typeface="IBM Plex Mono" pitchFamily="34" charset="-120"/>
              </a:rPr>
              <a:t>ESTIMACIÓN</a:t>
            </a:r>
            <a:endParaRPr lang="es-CL" sz="1300" dirty="0"/>
          </a:p>
        </p:txBody>
      </p:sp>
      <p:sp>
        <p:nvSpPr>
          <p:cNvPr id="24" name="Shape 22"/>
          <p:cNvSpPr/>
          <p:nvPr/>
        </p:nvSpPr>
        <p:spPr>
          <a:xfrm>
            <a:off x="6393028" y="3127248"/>
            <a:ext cx="2236394" cy="0"/>
          </a:xfrm>
          <a:prstGeom prst="line">
            <a:avLst/>
          </a:prstGeom>
          <a:noFill/>
          <a:ln w="9525">
            <a:solidFill>
              <a:schemeClr val="accent5"/>
            </a:solidFill>
            <a:prstDash val="solid"/>
          </a:ln>
        </p:spPr>
      </p:sp>
      <p:sp>
        <p:nvSpPr>
          <p:cNvPr id="25" name="Text 23"/>
          <p:cNvSpPr txBox="1"/>
          <p:nvPr/>
        </p:nvSpPr>
        <p:spPr>
          <a:xfrm>
            <a:off x="6393028" y="318211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Hasta 20% menos bencina en ciudad</a:t>
            </a:r>
            <a:endParaRPr lang="es-CL" sz="1700" dirty="0"/>
          </a:p>
        </p:txBody>
      </p:sp>
      <p:sp>
        <p:nvSpPr>
          <p:cNvPr id="26" name="Shape 24"/>
          <p:cNvSpPr/>
          <p:nvPr/>
        </p:nvSpPr>
        <p:spPr>
          <a:xfrm>
            <a:off x="6393028" y="4087368"/>
            <a:ext cx="2236394" cy="0"/>
          </a:xfrm>
          <a:prstGeom prst="line">
            <a:avLst/>
          </a:prstGeom>
          <a:noFill/>
          <a:ln w="9525">
            <a:solidFill>
              <a:schemeClr val="accent5"/>
            </a:solidFill>
            <a:prstDash val="solid"/>
          </a:ln>
        </p:spPr>
      </p:sp>
      <p:sp>
        <p:nvSpPr>
          <p:cNvPr id="27" name="Text 25"/>
          <p:cNvSpPr txBox="1"/>
          <p:nvPr/>
        </p:nvSpPr>
        <p:spPr>
          <a:xfrm>
            <a:off x="6393028" y="414223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Ahorro mensual derivado</a:t>
            </a:r>
            <a:endParaRPr lang="es-CL" sz="1700" dirty="0"/>
          </a:p>
        </p:txBody>
      </p:sp>
      <p:sp>
        <p:nvSpPr>
          <p:cNvPr id="28" name="Shape 26"/>
          <p:cNvSpPr/>
          <p:nvPr/>
        </p:nvSpPr>
        <p:spPr>
          <a:xfrm>
            <a:off x="6393028" y="5047488"/>
            <a:ext cx="2236394" cy="0"/>
          </a:xfrm>
          <a:prstGeom prst="line">
            <a:avLst/>
          </a:prstGeom>
          <a:noFill/>
          <a:ln w="9525">
            <a:solidFill>
              <a:schemeClr val="accent5"/>
            </a:solidFill>
            <a:prstDash val="solid"/>
          </a:ln>
        </p:spPr>
      </p:sp>
      <p:sp>
        <p:nvSpPr>
          <p:cNvPr id="29" name="Text 27"/>
          <p:cNvSpPr txBox="1"/>
          <p:nvPr/>
        </p:nvSpPr>
        <p:spPr>
          <a:xfrm>
            <a:off x="6393028" y="510235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Señales de las entrevistas (n = 3)</a:t>
            </a:r>
            <a:endParaRPr lang="es-CL" sz="1700" dirty="0"/>
          </a:p>
        </p:txBody>
      </p:sp>
      <p:sp>
        <p:nvSpPr>
          <p:cNvPr id="30" name="Shape 28"/>
          <p:cNvSpPr/>
          <p:nvPr/>
        </p:nvSpPr>
        <p:spPr>
          <a:xfrm>
            <a:off x="9040901" y="2395728"/>
            <a:ext cx="2602154" cy="3803904"/>
          </a:xfrm>
          <a:prstGeom prst="rect">
            <a:avLst/>
          </a:prstGeom>
          <a:solidFill>
            <a:schemeClr val="bg1">
              <a:alpha val="0"/>
            </a:schemeClr>
          </a:solidFill>
          <a:ln w="15875">
            <a:solidFill>
              <a:schemeClr val="tx1"/>
            </a:solidFill>
            <a:prstDash val="dash"/>
          </a:ln>
        </p:spPr>
      </p:sp>
      <p:sp>
        <p:nvSpPr>
          <p:cNvPr id="31" name="Text 29"/>
          <p:cNvSpPr txBox="1"/>
          <p:nvPr/>
        </p:nvSpPr>
        <p:spPr>
          <a:xfrm>
            <a:off x="9223781" y="2578608"/>
            <a:ext cx="2236394" cy="457200"/>
          </a:xfrm>
          <a:prstGeom prst="rect">
            <a:avLst/>
          </a:prstGeom>
          <a:noFill/>
          <a:ln/>
        </p:spPr>
        <p:txBody>
          <a:bodyPr wrap="square" lIns="0" tIns="0" rIns="0" bIns="0" rtlCol="0" anchor="t"/>
          <a:lstStyle/>
          <a:p>
            <a:pPr indent="0" marL="0">
              <a:buNone/>
            </a:pPr>
            <a:r>
              <a:rPr lang="es-CL" altLang="en-US" sz="1300" b="1" spc="100" kern="0" dirty="0">
                <a:solidFill>
                  <a:schemeClr val="tx1"/>
                </a:solidFill>
                <a:latin typeface="IBM Plex Mono" pitchFamily="34" charset="0"/>
                <a:ea typeface="IBM Plex Mono" pitchFamily="34" charset="-122"/>
                <a:cs typeface="IBM Plex Mono" pitchFamily="34" charset="-120"/>
              </a:rPr>
              <a:t>SIN DATO HOY</a:t>
            </a:r>
            <a:endParaRPr lang="es-CL" sz="1300" dirty="0"/>
          </a:p>
        </p:txBody>
      </p:sp>
      <p:sp>
        <p:nvSpPr>
          <p:cNvPr id="32" name="Shape 30"/>
          <p:cNvSpPr/>
          <p:nvPr/>
        </p:nvSpPr>
        <p:spPr>
          <a:xfrm>
            <a:off x="9223781" y="3127248"/>
            <a:ext cx="2236394" cy="0"/>
          </a:xfrm>
          <a:prstGeom prst="line">
            <a:avLst/>
          </a:prstGeom>
          <a:noFill/>
          <a:ln w="9525">
            <a:solidFill>
              <a:schemeClr val="accent5"/>
            </a:solidFill>
            <a:prstDash val="solid"/>
          </a:ln>
        </p:spPr>
      </p:sp>
      <p:sp>
        <p:nvSpPr>
          <p:cNvPr id="33" name="Text 31"/>
          <p:cNvSpPr txBox="1"/>
          <p:nvPr/>
        </p:nvSpPr>
        <p:spPr>
          <a:xfrm>
            <a:off x="9223781" y="318211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Precio del kit y costos</a:t>
            </a:r>
            <a:endParaRPr lang="es-CL" sz="1700" dirty="0"/>
          </a:p>
        </p:txBody>
      </p:sp>
      <p:sp>
        <p:nvSpPr>
          <p:cNvPr id="34" name="Shape 32"/>
          <p:cNvSpPr/>
          <p:nvPr/>
        </p:nvSpPr>
        <p:spPr>
          <a:xfrm>
            <a:off x="9223781" y="4087368"/>
            <a:ext cx="2236394" cy="0"/>
          </a:xfrm>
          <a:prstGeom prst="line">
            <a:avLst/>
          </a:prstGeom>
          <a:noFill/>
          <a:ln w="9525">
            <a:solidFill>
              <a:schemeClr val="accent5"/>
            </a:solidFill>
            <a:prstDash val="solid"/>
          </a:ln>
        </p:spPr>
      </p:sp>
      <p:sp>
        <p:nvSpPr>
          <p:cNvPr id="35" name="Text 33"/>
          <p:cNvSpPr txBox="1"/>
          <p:nvPr/>
        </p:nvSpPr>
        <p:spPr>
          <a:xfrm>
            <a:off x="9223781" y="414223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Ahorro medido en autos chilenos</a:t>
            </a:r>
            <a:endParaRPr lang="es-CL" sz="1700" dirty="0"/>
          </a:p>
        </p:txBody>
      </p:sp>
      <p:sp>
        <p:nvSpPr>
          <p:cNvPr id="36" name="Shape 34"/>
          <p:cNvSpPr/>
          <p:nvPr/>
        </p:nvSpPr>
        <p:spPr>
          <a:xfrm>
            <a:off x="9223781" y="5047488"/>
            <a:ext cx="2236394" cy="0"/>
          </a:xfrm>
          <a:prstGeom prst="line">
            <a:avLst/>
          </a:prstGeom>
          <a:noFill/>
          <a:ln w="9525">
            <a:solidFill>
              <a:schemeClr val="accent5"/>
            </a:solidFill>
            <a:prstDash val="solid"/>
          </a:ln>
        </p:spPr>
      </p:sp>
      <p:sp>
        <p:nvSpPr>
          <p:cNvPr id="37" name="Text 35"/>
          <p:cNvSpPr txBox="1"/>
          <p:nvPr/>
        </p:nvSpPr>
        <p:spPr>
          <a:xfrm>
            <a:off x="9223781" y="5102352"/>
            <a:ext cx="2236394" cy="841248"/>
          </a:xfrm>
          <a:prstGeom prst="rect">
            <a:avLst/>
          </a:prstGeom>
          <a:noFill/>
          <a:ln/>
        </p:spPr>
        <p:txBody>
          <a:bodyPr wrap="square" lIns="0" tIns="0" rIns="0" bIns="0" rtlCol="0" anchor="ctr"/>
          <a:lstStyle/>
          <a:p>
            <a:pPr indent="0" marL="0">
              <a:buNone/>
            </a:pPr>
            <a:r>
              <a:rPr lang="es-CL" altLang="en-US" sz="1700" dirty="0">
                <a:solidFill>
                  <a:schemeClr val="tx1"/>
                </a:solidFill>
                <a:latin typeface="Figtree" pitchFamily="34" charset="0"/>
                <a:ea typeface="Figtree" pitchFamily="34" charset="-122"/>
                <a:cs typeface="Figtree" pitchFamily="34" charset="-120"/>
              </a:rPr>
              <a:t>Permisos, clientes y convenios</a:t>
            </a:r>
            <a:endParaRPr lang="es-CL" sz="17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A11</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COHERENCIA CON EL INFORME ESCRITO</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CADA LÁMINA TIENE SU SECCIÓN</a:t>
            </a:r>
            <a:endParaRPr lang="en-US" sz="3400" dirty="0"/>
          </a:p>
          <a:p>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en el informe.</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informe del Avance 1 (versión corregida) y esta presentación.</a:t>
            </a:r>
            <a:endParaRPr lang="es-CL" sz="1200" dirty="0"/>
          </a:p>
        </p:txBody>
      </p:sp>
      <p:sp>
        <p:nvSpPr>
          <p:cNvPr id="6" name="Text 4"/>
          <p:cNvSpPr txBox="1"/>
          <p:nvPr/>
        </p:nvSpPr>
        <p:spPr>
          <a:xfrm>
            <a:off x="548640" y="2286000"/>
            <a:ext cx="365760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LÁMINA</a:t>
            </a:r>
            <a:endParaRPr lang="es-CL" sz="1200" dirty="0"/>
          </a:p>
        </p:txBody>
      </p:sp>
      <p:sp>
        <p:nvSpPr>
          <p:cNvPr id="7" name="Text 5"/>
          <p:cNvSpPr txBox="1"/>
          <p:nvPr/>
        </p:nvSpPr>
        <p:spPr>
          <a:xfrm>
            <a:off x="4206240" y="2286000"/>
            <a:ext cx="4937760"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SECCIÓN DEL INFORME</a:t>
            </a:r>
            <a:endParaRPr lang="es-CL" sz="1200" dirty="0"/>
          </a:p>
        </p:txBody>
      </p:sp>
      <p:sp>
        <p:nvSpPr>
          <p:cNvPr id="8" name="Text 6"/>
          <p:cNvSpPr txBox="1"/>
          <p:nvPr/>
        </p:nvSpPr>
        <p:spPr>
          <a:xfrm>
            <a:off x="9144000" y="2286000"/>
            <a:ext cx="2499055" cy="274320"/>
          </a:xfrm>
          <a:prstGeom prst="rect">
            <a:avLst/>
          </a:prstGeom>
          <a:noFill/>
          <a:ln/>
        </p:spPr>
        <p:txBody>
          <a:bodyPr wrap="square" lIns="0" tIns="0" rIns="0" bIns="0" rtlCol="0" anchor="t"/>
          <a:lstStyle/>
          <a:p>
            <a:pPr indent="0" marL="0">
              <a:buNone/>
            </a:pPr>
            <a:r>
              <a:rPr lang="es-CL" altLang="en-US" sz="1200" spc="100" kern="0" dirty="0">
                <a:solidFill>
                  <a:schemeClr val="accent1"/>
                </a:solidFill>
                <a:latin typeface="IBM Plex Mono" pitchFamily="34" charset="0"/>
                <a:ea typeface="IBM Plex Mono" pitchFamily="34" charset="-122"/>
                <a:cs typeface="IBM Plex Mono" pitchFamily="34" charset="-120"/>
              </a:rPr>
              <a:t>EVIDENCIA</a:t>
            </a:r>
            <a:endParaRPr lang="es-CL" sz="1200" dirty="0"/>
          </a:p>
        </p:txBody>
      </p:sp>
      <p:sp>
        <p:nvSpPr>
          <p:cNvPr id="9" name="Shape 7"/>
          <p:cNvSpPr/>
          <p:nvPr/>
        </p:nvSpPr>
        <p:spPr>
          <a:xfrm>
            <a:off x="548640" y="2596896"/>
            <a:ext cx="11094415" cy="0"/>
          </a:xfrm>
          <a:prstGeom prst="line">
            <a:avLst/>
          </a:prstGeom>
          <a:noFill/>
          <a:ln w="9525">
            <a:solidFill>
              <a:schemeClr val="accent1"/>
            </a:solidFill>
            <a:prstDash val="solid"/>
          </a:ln>
        </p:spPr>
      </p:sp>
      <p:sp>
        <p:nvSpPr>
          <p:cNvPr id="10" name="Text 8"/>
          <p:cNvSpPr txBox="1"/>
          <p:nvPr/>
        </p:nvSpPr>
        <p:spPr>
          <a:xfrm>
            <a:off x="548640" y="2596896"/>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02 · Contexto</a:t>
            </a:r>
            <a:endParaRPr lang="es-CL" sz="1600" dirty="0"/>
          </a:p>
        </p:txBody>
      </p:sp>
      <p:sp>
        <p:nvSpPr>
          <p:cNvPr id="11" name="Text 9"/>
          <p:cNvSpPr txBox="1"/>
          <p:nvPr/>
        </p:nvSpPr>
        <p:spPr>
          <a:xfrm>
            <a:off x="4206240" y="2596896"/>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3. Introducción</a:t>
            </a:r>
            <a:endParaRPr lang="es-CL" sz="1600" dirty="0"/>
          </a:p>
        </p:txBody>
      </p:sp>
      <p:sp>
        <p:nvSpPr>
          <p:cNvPr id="12" name="Text 10"/>
          <p:cNvSpPr txBox="1"/>
          <p:nvPr/>
        </p:nvSpPr>
        <p:spPr>
          <a:xfrm>
            <a:off x="9144000" y="2596896"/>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A2 · A10</a:t>
            </a:r>
            <a:endParaRPr lang="es-CL" sz="1600" dirty="0"/>
          </a:p>
        </p:txBody>
      </p:sp>
      <p:sp>
        <p:nvSpPr>
          <p:cNvPr id="13" name="Shape 11"/>
          <p:cNvSpPr/>
          <p:nvPr/>
        </p:nvSpPr>
        <p:spPr>
          <a:xfrm>
            <a:off x="548640" y="2921508"/>
            <a:ext cx="11094415" cy="0"/>
          </a:xfrm>
          <a:prstGeom prst="line">
            <a:avLst/>
          </a:prstGeom>
          <a:noFill/>
          <a:ln w="9525">
            <a:solidFill>
              <a:schemeClr val="accent5"/>
            </a:solidFill>
            <a:prstDash val="solid"/>
          </a:ln>
        </p:spPr>
      </p:sp>
      <p:sp>
        <p:nvSpPr>
          <p:cNvPr id="14" name="Text 12"/>
          <p:cNvSpPr txBox="1"/>
          <p:nvPr/>
        </p:nvSpPr>
        <p:spPr>
          <a:xfrm>
            <a:off x="548640" y="2921508"/>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03 · El kit</a:t>
            </a:r>
            <a:endParaRPr lang="es-CL" sz="1600" dirty="0"/>
          </a:p>
        </p:txBody>
      </p:sp>
      <p:sp>
        <p:nvSpPr>
          <p:cNvPr id="15" name="Text 13"/>
          <p:cNvSpPr txBox="1"/>
          <p:nvPr/>
        </p:nvSpPr>
        <p:spPr>
          <a:xfrm>
            <a:off x="4206240" y="2921508"/>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4.1 Solución y funcionamiento</a:t>
            </a:r>
            <a:endParaRPr lang="es-CL" sz="1600" dirty="0"/>
          </a:p>
        </p:txBody>
      </p:sp>
      <p:sp>
        <p:nvSpPr>
          <p:cNvPr id="16" name="Text 14"/>
          <p:cNvSpPr txBox="1"/>
          <p:nvPr/>
        </p:nvSpPr>
        <p:spPr>
          <a:xfrm>
            <a:off x="9144000" y="2921508"/>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A10</a:t>
            </a:r>
            <a:endParaRPr lang="es-CL" sz="1600" dirty="0"/>
          </a:p>
        </p:txBody>
      </p:sp>
      <p:sp>
        <p:nvSpPr>
          <p:cNvPr id="17" name="Shape 15"/>
          <p:cNvSpPr/>
          <p:nvPr/>
        </p:nvSpPr>
        <p:spPr>
          <a:xfrm>
            <a:off x="548640" y="3246120"/>
            <a:ext cx="11094415" cy="0"/>
          </a:xfrm>
          <a:prstGeom prst="line">
            <a:avLst/>
          </a:prstGeom>
          <a:noFill/>
          <a:ln w="9525">
            <a:solidFill>
              <a:schemeClr val="accent5"/>
            </a:solidFill>
            <a:prstDash val="solid"/>
          </a:ln>
        </p:spPr>
      </p:sp>
      <p:sp>
        <p:nvSpPr>
          <p:cNvPr id="18" name="Text 16"/>
          <p:cNvSpPr txBox="1"/>
          <p:nvPr/>
        </p:nvSpPr>
        <p:spPr>
          <a:xfrm>
            <a:off x="548640" y="3246120"/>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04 · Cliente y modelo</a:t>
            </a:r>
            <a:endParaRPr lang="es-CL" sz="1600" dirty="0"/>
          </a:p>
        </p:txBody>
      </p:sp>
      <p:sp>
        <p:nvSpPr>
          <p:cNvPr id="19" name="Text 17"/>
          <p:cNvSpPr txBox="1"/>
          <p:nvPr/>
        </p:nvSpPr>
        <p:spPr>
          <a:xfrm>
            <a:off x="4206240" y="3246120"/>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4.2 Cliente · 4.3 Modelo de negocio</a:t>
            </a:r>
            <a:endParaRPr lang="es-CL" sz="1600" dirty="0"/>
          </a:p>
        </p:txBody>
      </p:sp>
      <p:sp>
        <p:nvSpPr>
          <p:cNvPr id="20" name="Text 18"/>
          <p:cNvSpPr txBox="1"/>
          <p:nvPr/>
        </p:nvSpPr>
        <p:spPr>
          <a:xfrm>
            <a:off x="9144000" y="3246120"/>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A8</a:t>
            </a:r>
            <a:endParaRPr lang="es-CL" sz="1600" dirty="0"/>
          </a:p>
        </p:txBody>
      </p:sp>
      <p:sp>
        <p:nvSpPr>
          <p:cNvPr id="21" name="Shape 19"/>
          <p:cNvSpPr/>
          <p:nvPr/>
        </p:nvSpPr>
        <p:spPr>
          <a:xfrm>
            <a:off x="548640" y="3570732"/>
            <a:ext cx="11094415" cy="0"/>
          </a:xfrm>
          <a:prstGeom prst="line">
            <a:avLst/>
          </a:prstGeom>
          <a:noFill/>
          <a:ln w="9525">
            <a:solidFill>
              <a:schemeClr val="accent5"/>
            </a:solidFill>
            <a:prstDash val="solid"/>
          </a:ln>
        </p:spPr>
      </p:sp>
      <p:sp>
        <p:nvSpPr>
          <p:cNvPr id="22" name="Text 20"/>
          <p:cNvSpPr txBox="1"/>
          <p:nvPr/>
        </p:nvSpPr>
        <p:spPr>
          <a:xfrm>
            <a:off x="548640" y="3570732"/>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05 · Misión, visión, valores</a:t>
            </a:r>
            <a:endParaRPr lang="es-CL" sz="1600" dirty="0"/>
          </a:p>
        </p:txBody>
      </p:sp>
      <p:sp>
        <p:nvSpPr>
          <p:cNvPr id="23" name="Text 21"/>
          <p:cNvSpPr txBox="1"/>
          <p:nvPr/>
        </p:nvSpPr>
        <p:spPr>
          <a:xfrm>
            <a:off x="4206240" y="3570732"/>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5.1 · 5.2 · 5.3</a:t>
            </a:r>
            <a:endParaRPr lang="es-CL" sz="1600" dirty="0"/>
          </a:p>
        </p:txBody>
      </p:sp>
      <p:sp>
        <p:nvSpPr>
          <p:cNvPr id="24" name="Text 22"/>
          <p:cNvSpPr txBox="1"/>
          <p:nvPr/>
        </p:nvSpPr>
        <p:spPr>
          <a:xfrm>
            <a:off x="9144000" y="3570732"/>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A9</a:t>
            </a:r>
            <a:endParaRPr lang="es-CL" sz="1600" dirty="0"/>
          </a:p>
        </p:txBody>
      </p:sp>
      <p:sp>
        <p:nvSpPr>
          <p:cNvPr id="25" name="Shape 23"/>
          <p:cNvSpPr/>
          <p:nvPr/>
        </p:nvSpPr>
        <p:spPr>
          <a:xfrm>
            <a:off x="548640" y="3895344"/>
            <a:ext cx="11094415" cy="0"/>
          </a:xfrm>
          <a:prstGeom prst="line">
            <a:avLst/>
          </a:prstGeom>
          <a:noFill/>
          <a:ln w="9525">
            <a:solidFill>
              <a:schemeClr val="accent5"/>
            </a:solidFill>
            <a:prstDash val="solid"/>
          </a:ln>
        </p:spPr>
      </p:sp>
      <p:sp>
        <p:nvSpPr>
          <p:cNvPr id="26" name="Text 24"/>
          <p:cNvSpPr txBox="1"/>
          <p:nvPr/>
        </p:nvSpPr>
        <p:spPr>
          <a:xfrm>
            <a:off x="548640" y="3895344"/>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06 · PEST</a:t>
            </a:r>
            <a:endParaRPr lang="es-CL" sz="1600" dirty="0"/>
          </a:p>
        </p:txBody>
      </p:sp>
      <p:sp>
        <p:nvSpPr>
          <p:cNvPr id="27" name="Text 25"/>
          <p:cNvSpPr txBox="1"/>
          <p:nvPr/>
        </p:nvSpPr>
        <p:spPr>
          <a:xfrm>
            <a:off x="4206240" y="3895344"/>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6.2 Entorno general</a:t>
            </a:r>
            <a:endParaRPr lang="es-CL" sz="1600" dirty="0"/>
          </a:p>
        </p:txBody>
      </p:sp>
      <p:sp>
        <p:nvSpPr>
          <p:cNvPr id="28" name="Text 26"/>
          <p:cNvSpPr txBox="1"/>
          <p:nvPr/>
        </p:nvSpPr>
        <p:spPr>
          <a:xfrm>
            <a:off x="9144000" y="3895344"/>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A1 · A2 · A4</a:t>
            </a:r>
            <a:endParaRPr lang="es-CL" sz="1600" dirty="0"/>
          </a:p>
        </p:txBody>
      </p:sp>
      <p:sp>
        <p:nvSpPr>
          <p:cNvPr id="29" name="Shape 27"/>
          <p:cNvSpPr/>
          <p:nvPr/>
        </p:nvSpPr>
        <p:spPr>
          <a:xfrm>
            <a:off x="548640" y="4219956"/>
            <a:ext cx="11094415" cy="0"/>
          </a:xfrm>
          <a:prstGeom prst="line">
            <a:avLst/>
          </a:prstGeom>
          <a:noFill/>
          <a:ln w="9525">
            <a:solidFill>
              <a:schemeClr val="accent5"/>
            </a:solidFill>
            <a:prstDash val="solid"/>
          </a:ln>
        </p:spPr>
      </p:sp>
      <p:sp>
        <p:nvSpPr>
          <p:cNvPr id="30" name="Text 28"/>
          <p:cNvSpPr txBox="1"/>
          <p:nvPr/>
        </p:nvSpPr>
        <p:spPr>
          <a:xfrm>
            <a:off x="548640" y="4219956"/>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07 · Cinco fuerzas</a:t>
            </a:r>
            <a:endParaRPr lang="es-CL" sz="1600" dirty="0"/>
          </a:p>
        </p:txBody>
      </p:sp>
      <p:sp>
        <p:nvSpPr>
          <p:cNvPr id="31" name="Text 29"/>
          <p:cNvSpPr txBox="1"/>
          <p:nvPr/>
        </p:nvSpPr>
        <p:spPr>
          <a:xfrm>
            <a:off x="4206240" y="4219956"/>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6.3 Industria</a:t>
            </a:r>
            <a:endParaRPr lang="es-CL" sz="1600" dirty="0"/>
          </a:p>
        </p:txBody>
      </p:sp>
      <p:sp>
        <p:nvSpPr>
          <p:cNvPr id="32" name="Text 30"/>
          <p:cNvSpPr txBox="1"/>
          <p:nvPr/>
        </p:nvSpPr>
        <p:spPr>
          <a:xfrm>
            <a:off x="9144000" y="4219956"/>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A3</a:t>
            </a:r>
            <a:endParaRPr lang="es-CL" sz="1600" dirty="0"/>
          </a:p>
        </p:txBody>
      </p:sp>
      <p:sp>
        <p:nvSpPr>
          <p:cNvPr id="33" name="Shape 31"/>
          <p:cNvSpPr/>
          <p:nvPr/>
        </p:nvSpPr>
        <p:spPr>
          <a:xfrm>
            <a:off x="548640" y="4544568"/>
            <a:ext cx="11094415" cy="0"/>
          </a:xfrm>
          <a:prstGeom prst="line">
            <a:avLst/>
          </a:prstGeom>
          <a:noFill/>
          <a:ln w="9525">
            <a:solidFill>
              <a:schemeClr val="accent5"/>
            </a:solidFill>
            <a:prstDash val="solid"/>
          </a:ln>
        </p:spPr>
      </p:sp>
      <p:sp>
        <p:nvSpPr>
          <p:cNvPr id="34" name="Text 32"/>
          <p:cNvSpPr txBox="1"/>
          <p:nvPr/>
        </p:nvSpPr>
        <p:spPr>
          <a:xfrm>
            <a:off x="548640" y="4544568"/>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08 · Escenarios</a:t>
            </a:r>
            <a:endParaRPr lang="es-CL" sz="1600" dirty="0"/>
          </a:p>
        </p:txBody>
      </p:sp>
      <p:sp>
        <p:nvSpPr>
          <p:cNvPr id="35" name="Text 33"/>
          <p:cNvSpPr txBox="1"/>
          <p:nvPr/>
        </p:nvSpPr>
        <p:spPr>
          <a:xfrm>
            <a:off x="4206240" y="4544568"/>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6.2 Entorno general (vía regulatoria)</a:t>
            </a:r>
            <a:endParaRPr lang="es-CL" sz="1600" dirty="0"/>
          </a:p>
        </p:txBody>
      </p:sp>
      <p:sp>
        <p:nvSpPr>
          <p:cNvPr id="36" name="Text 34"/>
          <p:cNvSpPr txBox="1"/>
          <p:nvPr/>
        </p:nvSpPr>
        <p:spPr>
          <a:xfrm>
            <a:off x="9144000" y="4544568"/>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Ley N° 21.793</a:t>
            </a:r>
            <a:endParaRPr lang="es-CL" sz="1600" dirty="0"/>
          </a:p>
        </p:txBody>
      </p:sp>
      <p:sp>
        <p:nvSpPr>
          <p:cNvPr id="37" name="Shape 35"/>
          <p:cNvSpPr/>
          <p:nvPr/>
        </p:nvSpPr>
        <p:spPr>
          <a:xfrm>
            <a:off x="548640" y="4869180"/>
            <a:ext cx="11094415" cy="0"/>
          </a:xfrm>
          <a:prstGeom prst="line">
            <a:avLst/>
          </a:prstGeom>
          <a:noFill/>
          <a:ln w="9525">
            <a:solidFill>
              <a:schemeClr val="accent5"/>
            </a:solidFill>
            <a:prstDash val="solid"/>
          </a:ln>
        </p:spPr>
      </p:sp>
      <p:sp>
        <p:nvSpPr>
          <p:cNvPr id="38" name="Text 36"/>
          <p:cNvSpPr txBox="1"/>
          <p:nvPr/>
        </p:nvSpPr>
        <p:spPr>
          <a:xfrm>
            <a:off x="548640" y="4869180"/>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09 · Recursos</a:t>
            </a:r>
            <a:endParaRPr lang="es-CL" sz="1600" dirty="0"/>
          </a:p>
        </p:txBody>
      </p:sp>
      <p:sp>
        <p:nvSpPr>
          <p:cNvPr id="39" name="Text 37"/>
          <p:cNvSpPr txBox="1"/>
          <p:nvPr/>
        </p:nvSpPr>
        <p:spPr>
          <a:xfrm>
            <a:off x="4206240" y="4869180"/>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6.4 Capacidades internas</a:t>
            </a:r>
            <a:endParaRPr lang="es-CL" sz="1600" dirty="0"/>
          </a:p>
        </p:txBody>
      </p:sp>
      <p:sp>
        <p:nvSpPr>
          <p:cNvPr id="40" name="Text 38"/>
          <p:cNvSpPr txBox="1"/>
          <p:nvPr/>
        </p:nvSpPr>
        <p:spPr>
          <a:xfrm>
            <a:off x="9144000" y="4869180"/>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A5</a:t>
            </a:r>
            <a:endParaRPr lang="es-CL" sz="1600" dirty="0"/>
          </a:p>
        </p:txBody>
      </p:sp>
      <p:sp>
        <p:nvSpPr>
          <p:cNvPr id="41" name="Shape 39"/>
          <p:cNvSpPr/>
          <p:nvPr/>
        </p:nvSpPr>
        <p:spPr>
          <a:xfrm>
            <a:off x="548640" y="5193792"/>
            <a:ext cx="11094415" cy="0"/>
          </a:xfrm>
          <a:prstGeom prst="line">
            <a:avLst/>
          </a:prstGeom>
          <a:noFill/>
          <a:ln w="9525">
            <a:solidFill>
              <a:schemeClr val="accent5"/>
            </a:solidFill>
            <a:prstDash val="solid"/>
          </a:ln>
        </p:spPr>
      </p:sp>
      <p:sp>
        <p:nvSpPr>
          <p:cNvPr id="42" name="Text 40"/>
          <p:cNvSpPr txBox="1"/>
          <p:nvPr/>
        </p:nvSpPr>
        <p:spPr>
          <a:xfrm>
            <a:off x="548640" y="5193792"/>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10 · Cadena de valor</a:t>
            </a:r>
            <a:endParaRPr lang="es-CL" sz="1600" dirty="0"/>
          </a:p>
        </p:txBody>
      </p:sp>
      <p:sp>
        <p:nvSpPr>
          <p:cNvPr id="43" name="Text 41"/>
          <p:cNvSpPr txBox="1"/>
          <p:nvPr/>
        </p:nvSpPr>
        <p:spPr>
          <a:xfrm>
            <a:off x="4206240" y="5193792"/>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6.4 Cadena de valor y factores críticos</a:t>
            </a:r>
            <a:endParaRPr lang="es-CL" sz="1600" dirty="0"/>
          </a:p>
        </p:txBody>
      </p:sp>
      <p:sp>
        <p:nvSpPr>
          <p:cNvPr id="44" name="Text 42"/>
          <p:cNvSpPr txBox="1"/>
          <p:nvPr/>
        </p:nvSpPr>
        <p:spPr>
          <a:xfrm>
            <a:off x="9144000" y="5193792"/>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A6</a:t>
            </a:r>
            <a:endParaRPr lang="es-CL" sz="1600" dirty="0"/>
          </a:p>
        </p:txBody>
      </p:sp>
      <p:sp>
        <p:nvSpPr>
          <p:cNvPr id="45" name="Shape 43"/>
          <p:cNvSpPr/>
          <p:nvPr/>
        </p:nvSpPr>
        <p:spPr>
          <a:xfrm>
            <a:off x="548640" y="5518404"/>
            <a:ext cx="11094415" cy="0"/>
          </a:xfrm>
          <a:prstGeom prst="line">
            <a:avLst/>
          </a:prstGeom>
          <a:noFill/>
          <a:ln w="9525">
            <a:solidFill>
              <a:schemeClr val="accent5"/>
            </a:solidFill>
            <a:prstDash val="solid"/>
          </a:ln>
        </p:spPr>
      </p:sp>
      <p:sp>
        <p:nvSpPr>
          <p:cNvPr id="46" name="Text 44"/>
          <p:cNvSpPr txBox="1"/>
          <p:nvPr/>
        </p:nvSpPr>
        <p:spPr>
          <a:xfrm>
            <a:off x="548640" y="5518404"/>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11 · FODA</a:t>
            </a:r>
            <a:endParaRPr lang="es-CL" sz="1600" dirty="0"/>
          </a:p>
        </p:txBody>
      </p:sp>
      <p:sp>
        <p:nvSpPr>
          <p:cNvPr id="47" name="Text 45"/>
          <p:cNvSpPr txBox="1"/>
          <p:nvPr/>
        </p:nvSpPr>
        <p:spPr>
          <a:xfrm>
            <a:off x="4206240" y="5518404"/>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6.5 Síntesis FODA</a:t>
            </a:r>
            <a:endParaRPr lang="es-CL" sz="1600" dirty="0"/>
          </a:p>
        </p:txBody>
      </p:sp>
      <p:sp>
        <p:nvSpPr>
          <p:cNvPr id="48" name="Text 46"/>
          <p:cNvSpPr txBox="1"/>
          <p:nvPr/>
        </p:nvSpPr>
        <p:spPr>
          <a:xfrm>
            <a:off x="9144000" y="5518404"/>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A7</a:t>
            </a:r>
            <a:endParaRPr lang="es-CL" sz="1600" dirty="0"/>
          </a:p>
        </p:txBody>
      </p:sp>
      <p:sp>
        <p:nvSpPr>
          <p:cNvPr id="49" name="Shape 47"/>
          <p:cNvSpPr/>
          <p:nvPr/>
        </p:nvSpPr>
        <p:spPr>
          <a:xfrm>
            <a:off x="548640" y="5843016"/>
            <a:ext cx="11094415" cy="0"/>
          </a:xfrm>
          <a:prstGeom prst="line">
            <a:avLst/>
          </a:prstGeom>
          <a:noFill/>
          <a:ln w="9525">
            <a:solidFill>
              <a:schemeClr val="accent5"/>
            </a:solidFill>
            <a:prstDash val="solid"/>
          </a:ln>
        </p:spPr>
      </p:sp>
      <p:sp>
        <p:nvSpPr>
          <p:cNvPr id="50" name="Text 48"/>
          <p:cNvSpPr txBox="1"/>
          <p:nvPr/>
        </p:nvSpPr>
        <p:spPr>
          <a:xfrm>
            <a:off x="548640" y="5843016"/>
            <a:ext cx="3520440" cy="324612"/>
          </a:xfrm>
          <a:prstGeom prst="rect">
            <a:avLst/>
          </a:prstGeom>
          <a:noFill/>
          <a:ln/>
        </p:spPr>
        <p:txBody>
          <a:bodyPr wrap="square" lIns="0" tIns="0" rIns="0" bIns="0" rtlCol="0" anchor="ctr"/>
          <a:lstStyle/>
          <a:p>
            <a:pPr indent="0" marL="0">
              <a:lnSpc>
                <a:spcPct val="92000"/>
              </a:lnSpc>
              <a:buNone/>
            </a:pPr>
            <a:r>
              <a:rPr lang="es-CL" altLang="en-US" sz="1600" b="1" dirty="0">
                <a:solidFill>
                  <a:schemeClr val="tx1"/>
                </a:solidFill>
                <a:latin typeface="Figtree" pitchFamily="34" charset="0"/>
                <a:ea typeface="Figtree" pitchFamily="34" charset="-122"/>
                <a:cs typeface="Figtree" pitchFamily="34" charset="-120"/>
              </a:rPr>
              <a:t>12 · Tres brechas</a:t>
            </a:r>
            <a:endParaRPr lang="es-CL" sz="1600" dirty="0"/>
          </a:p>
        </p:txBody>
      </p:sp>
      <p:sp>
        <p:nvSpPr>
          <p:cNvPr id="51" name="Text 49"/>
          <p:cNvSpPr txBox="1"/>
          <p:nvPr/>
        </p:nvSpPr>
        <p:spPr>
          <a:xfrm>
            <a:off x="4206240" y="5843016"/>
            <a:ext cx="4800600"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tx1"/>
                </a:solidFill>
                <a:latin typeface="Figtree" pitchFamily="34" charset="0"/>
                <a:ea typeface="Figtree" pitchFamily="34" charset="-122"/>
                <a:cs typeface="Figtree" pitchFamily="34" charset="-120"/>
              </a:rPr>
              <a:t>6.6 Diagnóstico integrado</a:t>
            </a:r>
            <a:endParaRPr lang="es-CL" sz="1600" dirty="0"/>
          </a:p>
        </p:txBody>
      </p:sp>
      <p:sp>
        <p:nvSpPr>
          <p:cNvPr id="52" name="Text 50"/>
          <p:cNvSpPr txBox="1"/>
          <p:nvPr/>
        </p:nvSpPr>
        <p:spPr>
          <a:xfrm>
            <a:off x="9144000" y="5843016"/>
            <a:ext cx="2361895" cy="324612"/>
          </a:xfrm>
          <a:prstGeom prst="rect">
            <a:avLst/>
          </a:prstGeom>
          <a:noFill/>
          <a:ln/>
        </p:spPr>
        <p:txBody>
          <a:bodyPr wrap="square" lIns="0" tIns="0" rIns="0" bIns="0" rtlCol="0" anchor="ctr"/>
          <a:lstStyle/>
          <a:p>
            <a:pPr indent="0" marL="0">
              <a:lnSpc>
                <a:spcPct val="92000"/>
              </a:lnSpc>
              <a:buNone/>
            </a:pPr>
            <a:r>
              <a:rPr lang="es-CL" altLang="en-US" sz="1600" dirty="0">
                <a:solidFill>
                  <a:schemeClr val="accent1"/>
                </a:solidFill>
                <a:latin typeface="Figtree" pitchFamily="34" charset="0"/>
                <a:ea typeface="Figtree" pitchFamily="34" charset="-122"/>
                <a:cs typeface="Figtree" pitchFamily="34" charset="-120"/>
              </a:rPr>
              <a:t>—</a:t>
            </a:r>
            <a:endParaRPr lang="es-CL" sz="1600" dirty="0"/>
          </a:p>
        </p:txBody>
      </p:sp>
      <p:sp>
        <p:nvSpPr>
          <p:cNvPr id="53" name="Shape 51"/>
          <p:cNvSpPr/>
          <p:nvPr/>
        </p:nvSpPr>
        <p:spPr>
          <a:xfrm>
            <a:off x="548640" y="6167628"/>
            <a:ext cx="11094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A12</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REFERENCIAS</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BIBLIOGRAFÍA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en formato APA.</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Formato APA, 7.ª edición. Las fuentes primarias de los datos de entorno del instrumento 03 deben sumarse antes de entregar.</a:t>
            </a:r>
            <a:endParaRPr lang="es-CL" sz="1200" dirty="0"/>
          </a:p>
        </p:txBody>
      </p:sp>
      <p:sp>
        <p:nvSpPr>
          <p:cNvPr id="6" name="Shape 4"/>
          <p:cNvSpPr/>
          <p:nvPr/>
        </p:nvSpPr>
        <p:spPr>
          <a:xfrm>
            <a:off x="548640" y="2304288"/>
            <a:ext cx="11094415" cy="0"/>
          </a:xfrm>
          <a:prstGeom prst="line">
            <a:avLst/>
          </a:prstGeom>
          <a:noFill/>
          <a:ln w="9525">
            <a:solidFill>
              <a:schemeClr val="accent1"/>
            </a:solidFill>
            <a:prstDash val="solid"/>
          </a:ln>
        </p:spPr>
      </p:sp>
      <p:sp>
        <p:nvSpPr>
          <p:cNvPr id="7" name="Text 5"/>
          <p:cNvSpPr txBox="1"/>
          <p:nvPr/>
        </p:nvSpPr>
        <p:spPr>
          <a:xfrm>
            <a:off x="548640" y="2304288"/>
            <a:ext cx="11094415" cy="54864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Francés, A. (2006). Estrategia y planes para la empresa: con el cuadro de mando integral. Pearson Educación.</a:t>
            </a:r>
            <a:endParaRPr lang="es-CL" sz="1600" dirty="0"/>
          </a:p>
        </p:txBody>
      </p:sp>
      <p:sp>
        <p:nvSpPr>
          <p:cNvPr id="8" name="Shape 6"/>
          <p:cNvSpPr/>
          <p:nvPr/>
        </p:nvSpPr>
        <p:spPr>
          <a:xfrm>
            <a:off x="548640" y="2852928"/>
            <a:ext cx="11094415" cy="0"/>
          </a:xfrm>
          <a:prstGeom prst="line">
            <a:avLst/>
          </a:prstGeom>
          <a:noFill/>
          <a:ln w="9525">
            <a:solidFill>
              <a:schemeClr val="accent5"/>
            </a:solidFill>
            <a:prstDash val="solid"/>
          </a:ln>
        </p:spPr>
      </p:sp>
      <p:sp>
        <p:nvSpPr>
          <p:cNvPr id="9" name="Text 7"/>
          <p:cNvSpPr txBox="1"/>
          <p:nvPr/>
        </p:nvSpPr>
        <p:spPr>
          <a:xfrm>
            <a:off x="548640" y="2852928"/>
            <a:ext cx="11094415" cy="548640"/>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Hitt, M. A., Ireland, R. D. y Hoskisson, R. E. Administración estratégica: competitividad y globalización. Cengage Learning. [Confirmar la edición y el año usados].</a:t>
            </a:r>
            <a:endParaRPr lang="es-CL" sz="1600" dirty="0"/>
          </a:p>
        </p:txBody>
      </p:sp>
      <p:sp>
        <p:nvSpPr>
          <p:cNvPr id="10" name="Shape 8"/>
          <p:cNvSpPr/>
          <p:nvPr/>
        </p:nvSpPr>
        <p:spPr>
          <a:xfrm>
            <a:off x="548640" y="3401568"/>
            <a:ext cx="11094415" cy="0"/>
          </a:xfrm>
          <a:prstGeom prst="line">
            <a:avLst/>
          </a:prstGeom>
          <a:noFill/>
          <a:ln w="9525">
            <a:solidFill>
              <a:schemeClr val="accent5"/>
            </a:solidFill>
            <a:prstDash val="solid"/>
          </a:ln>
        </p:spPr>
      </p:sp>
      <p:sp>
        <p:nvSpPr>
          <p:cNvPr id="11" name="Text 9"/>
          <p:cNvSpPr txBox="1"/>
          <p:nvPr/>
        </p:nvSpPr>
        <p:spPr>
          <a:xfrm>
            <a:off x="548640" y="3401568"/>
            <a:ext cx="11094415" cy="54864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Kaplan, R. S. y Norton, D. P. (2008). The execution premium: integrando la estrategia y las operaciones para lograr ventajas competitivas. Deusto.</a:t>
            </a:r>
            <a:endParaRPr lang="es-CL" sz="1600" dirty="0"/>
          </a:p>
        </p:txBody>
      </p:sp>
      <p:sp>
        <p:nvSpPr>
          <p:cNvPr id="12" name="Shape 10"/>
          <p:cNvSpPr/>
          <p:nvPr/>
        </p:nvSpPr>
        <p:spPr>
          <a:xfrm>
            <a:off x="548640" y="3950208"/>
            <a:ext cx="11094415" cy="0"/>
          </a:xfrm>
          <a:prstGeom prst="line">
            <a:avLst/>
          </a:prstGeom>
          <a:noFill/>
          <a:ln w="9525">
            <a:solidFill>
              <a:schemeClr val="accent5"/>
            </a:solidFill>
            <a:prstDash val="solid"/>
          </a:ln>
        </p:spPr>
      </p:sp>
      <p:sp>
        <p:nvSpPr>
          <p:cNvPr id="13" name="Text 11"/>
          <p:cNvSpPr txBox="1"/>
          <p:nvPr/>
        </p:nvSpPr>
        <p:spPr>
          <a:xfrm>
            <a:off x="548640" y="3950208"/>
            <a:ext cx="11094415" cy="548640"/>
          </a:xfrm>
          <a:prstGeom prst="rect">
            <a:avLst/>
          </a:prstGeom>
          <a:noFill/>
          <a:ln/>
        </p:spPr>
        <p:txBody>
          <a:bodyPr wrap="square" lIns="0" tIns="0" rIns="0" bIns="0" rtlCol="0" anchor="ctr"/>
          <a:lstStyle/>
          <a:p>
            <a:pPr indent="0" marL="0">
              <a:buNone/>
            </a:pPr>
            <a:r>
              <a:rPr lang="es-CL" altLang="en-US" sz="1600" dirty="0">
                <a:solidFill>
                  <a:schemeClr val="tx2"/>
                </a:solidFill>
                <a:latin typeface="Figtree" pitchFamily="34" charset="0"/>
                <a:ea typeface="Figtree" pitchFamily="34" charset="-122"/>
                <a:cs typeface="Figtree" pitchFamily="34" charset="-120"/>
              </a:rPr>
              <a:t>Ley N° 21.793. (2026, 14 de enero). Diario Oficial de la República de Chile. [Completar con el título oficial].</a:t>
            </a:r>
            <a:endParaRPr lang="es-CL" sz="1600" dirty="0"/>
          </a:p>
        </p:txBody>
      </p:sp>
      <p:sp>
        <p:nvSpPr>
          <p:cNvPr id="14" name="Shape 12"/>
          <p:cNvSpPr/>
          <p:nvPr/>
        </p:nvSpPr>
        <p:spPr>
          <a:xfrm>
            <a:off x="548640" y="4498848"/>
            <a:ext cx="11094415" cy="0"/>
          </a:xfrm>
          <a:prstGeom prst="line">
            <a:avLst/>
          </a:prstGeom>
          <a:noFill/>
          <a:ln w="9525">
            <a:solidFill>
              <a:schemeClr val="accent5"/>
            </a:solidFill>
            <a:prstDash val="solid"/>
          </a:ln>
        </p:spPr>
      </p:sp>
      <p:sp>
        <p:nvSpPr>
          <p:cNvPr id="15" name="Text 13"/>
          <p:cNvSpPr txBox="1"/>
          <p:nvPr/>
        </p:nvSpPr>
        <p:spPr>
          <a:xfrm>
            <a:off x="548640" y="4498848"/>
            <a:ext cx="11094415" cy="54864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Ministerio de Energía. (2021). Estrategia Nacional de Electromovilidad. Gobierno de Chile.</a:t>
            </a:r>
            <a:endParaRPr lang="es-CL" sz="1600" dirty="0"/>
          </a:p>
        </p:txBody>
      </p:sp>
      <p:sp>
        <p:nvSpPr>
          <p:cNvPr id="16" name="Shape 14"/>
          <p:cNvSpPr/>
          <p:nvPr/>
        </p:nvSpPr>
        <p:spPr>
          <a:xfrm>
            <a:off x="548640" y="5047488"/>
            <a:ext cx="11094415" cy="0"/>
          </a:xfrm>
          <a:prstGeom prst="line">
            <a:avLst/>
          </a:prstGeom>
          <a:noFill/>
          <a:ln w="9525">
            <a:solidFill>
              <a:schemeClr val="accent5"/>
            </a:solidFill>
            <a:prstDash val="solid"/>
          </a:ln>
        </p:spPr>
      </p:sp>
      <p:sp>
        <p:nvSpPr>
          <p:cNvPr id="17" name="Text 15"/>
          <p:cNvSpPr txBox="1"/>
          <p:nvPr/>
        </p:nvSpPr>
        <p:spPr>
          <a:xfrm>
            <a:off x="548640" y="5047488"/>
            <a:ext cx="11094415" cy="54864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Porter, M. E. (1985). Competitive advantage: Creating and sustaining superior performance. Free Press.</a:t>
            </a:r>
            <a:endParaRPr lang="es-CL" sz="1600" dirty="0"/>
          </a:p>
        </p:txBody>
      </p:sp>
      <p:sp>
        <p:nvSpPr>
          <p:cNvPr id="18" name="Shape 16"/>
          <p:cNvSpPr/>
          <p:nvPr/>
        </p:nvSpPr>
        <p:spPr>
          <a:xfrm>
            <a:off x="548640" y="5596128"/>
            <a:ext cx="11094415" cy="0"/>
          </a:xfrm>
          <a:prstGeom prst="line">
            <a:avLst/>
          </a:prstGeom>
          <a:noFill/>
          <a:ln w="9525">
            <a:solidFill>
              <a:schemeClr val="accent5"/>
            </a:solidFill>
            <a:prstDash val="solid"/>
          </a:ln>
        </p:spPr>
      </p:sp>
      <p:sp>
        <p:nvSpPr>
          <p:cNvPr id="19" name="Text 17"/>
          <p:cNvSpPr txBox="1"/>
          <p:nvPr/>
        </p:nvSpPr>
        <p:spPr>
          <a:xfrm>
            <a:off x="548640" y="5596128"/>
            <a:ext cx="11094415" cy="548640"/>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Porter, M. E. (2008). Las cinco fuerzas competitivas que le dan forma a la estrategia. Harvard Business Review América Latina, 86(1).</a:t>
            </a:r>
            <a:endParaRPr lang="es-CL" sz="16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a:hlinkClick r:id="rId1" tooltip="Volver al índice del anexo" action="ppaction://hlinksldjump"/>
          </p:cNvPr>
          <p:cNvSpPr/>
          <p:nvPr/>
        </p:nvSpPr>
        <p:spPr>
          <a:xfrm>
            <a:off x="7040880" y="640080"/>
            <a:ext cx="4602175" cy="237744"/>
          </a:xfrm>
          <a:prstGeom prst="rect">
            <a:avLst/>
          </a:prstGeom>
          <a:noFill/>
          <a:ln/>
        </p:spPr>
        <p:txBody>
          <a:bodyPr wrap="square" lIns="0" tIns="0" rIns="0" bIns="0" rtlCol="0" anchor="ctr"/>
          <a:lstStyle/>
          <a:p>
            <a:pPr algn="r" indent="0" marL="0">
              <a:buNone/>
            </a:pPr>
            <a:r>
              <a:rPr lang="en-US" sz="1200" u="sng" spc="100" kern="0" dirty="0">
                <a:solidFill>
                  <a:schemeClr val="accent1"/>
                </a:solidFill>
                <a:latin typeface="IBM Plex Mono" pitchFamily="34" charset="0"/>
                <a:ea typeface="IBM Plex Mono" pitchFamily="34" charset="-122"/>
                <a:cs typeface="IBM Plex Mono" pitchFamily="34" charset="-120"/>
                <a:hlinkClick r:id="rId1" action="ppaction://hlinksldjump" tooltip="Volver al índice del anexo">
                  <a:extLst>
                    <a:ext uri="{A12FA001-AC4F-418D-AE19-62706E023703}">
                      <ahyp:hlinkClr xmlns:ahyp="http://schemas.microsoft.com/office/drawing/2018/hyperlinkcolor" val="tx"/>
                    </a:ext>
                  </a:extLst>
                </a:hlinkClick>
              </a:rPr>
              <a:t>VOLVER AL ÍNDICE DEL ANEXO</a:t>
            </a:r>
            <a:endParaRPr lang="en-US" sz="1200" dirty="0"/>
          </a:p>
        </p:txBody>
      </p:sp>
      <p:sp>
        <p:nvSpPr>
          <p:cNvPr id="3" name="Text 1"/>
          <p:cNvSpPr/>
          <p:nvPr>
            <p:ph idx="102" type="body" hasCustomPrompt="1"/>
          </p:nvPr>
        </p:nvSpPr>
        <p:spPr>
          <a:xfrm>
            <a:off x="548640" y="841248"/>
            <a:ext cx="7863840" cy="274320"/>
          </a:xfrm>
          <a:prstGeom prst="rect">
            <a:avLst/>
          </a:prstGeom>
          <a:noFill/>
          <a:ln/>
        </p:spPr>
        <p:txBody>
          <a:bodyPr wrap="square" lIns="0" tIns="0" rIns="0" bIns="0" rtlCol="0" anchor="ctr"/>
          <a:lstStyle/>
          <a:p>
            <a:pPr indent="0" marL="0">
              <a:buNone/>
            </a:pPr>
            <a:r>
              <a:rPr lang="en-US" sz="1300" spc="150" kern="0" dirty="0">
                <a:solidFill>
                  <a:schemeClr val="accent1"/>
                </a:solidFill>
                <a:latin typeface="IBM Plex Mono" pitchFamily="34" charset="0"/>
                <a:ea typeface="IBM Plex Mono" pitchFamily="34" charset="-122"/>
                <a:cs typeface="IBM Plex Mono" pitchFamily="34" charset="-120"/>
              </a:rPr>
              <a:t>A13</a:t>
            </a:r>
            <a:pPr indent="0" marL="0">
              <a:buNone/>
            </a:pPr>
            <a:r>
              <a:rPr lang="en-US" sz="13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300" spc="150" kern="0" dirty="0">
                <a:solidFill>
                  <a:srgbClr val="9AA8B6"/>
                </a:solidFill>
                <a:latin typeface="IBM Plex Mono" pitchFamily="34" charset="0"/>
                <a:ea typeface="IBM Plex Mono" pitchFamily="34" charset="-122"/>
                <a:cs typeface="IBM Plex Mono" pitchFamily="34" charset="-120"/>
              </a:rPr>
              <a:t>ANEXO · RESPALDO · AVANCE 2 · NO SE EXPONE</a:t>
            </a:r>
            <a:endParaRPr lang="en-US" sz="1300" dirty="0"/>
          </a:p>
        </p:txBody>
      </p:sp>
      <p:sp>
        <p:nvSpPr>
          <p:cNvPr id="4" name="Text 1"/>
          <p:cNvSpPr/>
          <p:nvPr>
            <p:ph idx="103" type="title" hasCustomPrompt="1"/>
          </p:nvPr>
        </p:nvSpPr>
        <p:spPr>
          <a:xfrm>
            <a:off x="548640" y="1243584"/>
            <a:ext cx="11094415" cy="1097280"/>
          </a:xfrm>
          <a:prstGeom prst="rect">
            <a:avLst/>
          </a:prstGeom>
          <a:noFill/>
          <a:ln/>
        </p:spPr>
        <p:txBody>
          <a:bodyPr wrap="square" lIns="0" tIns="0" rIns="0" bIns="0" rtlCol="0" anchor="t"/>
          <a:lstStyle/>
          <a:p>
            <a:pPr algn="l" indent="0" marL="0">
              <a:lnSpc>
                <a:spcPct val="86000"/>
              </a:lnSpc>
              <a:buNone/>
            </a:pPr>
            <a:r>
              <a:rPr lang="en-US" sz="3400" dirty="0">
                <a:solidFill>
                  <a:srgbClr val="FFFFFF"/>
                </a:solidFill>
                <a:latin typeface="Archivo SemiExpanded ExtraBold" pitchFamily="34" charset="0"/>
                <a:ea typeface="Archivo SemiExpanded ExtraBold" pitchFamily="34" charset="-122"/>
                <a:cs typeface="Archivo SemiExpanded ExtraBold" pitchFamily="34" charset="-120"/>
              </a:rPr>
              <a:t>CMI PRELIMINAR: </a:t>
            </a:r>
            <a:pPr algn="l" indent="0" marL="0">
              <a:lnSpc>
                <a:spcPct val="86000"/>
              </a:lnSpc>
              <a:buNone/>
            </a:pPr>
            <a:r>
              <a:rPr lang="en-US" sz="4000" i="1" dirty="0">
                <a:solidFill>
                  <a:schemeClr val="accent1"/>
                </a:solidFill>
                <a:latin typeface="Instrument Serif" pitchFamily="34" charset="0"/>
                <a:ea typeface="Instrument Serif" pitchFamily="34" charset="-122"/>
                <a:cs typeface="Instrument Serif" pitchFamily="34" charset="-120"/>
              </a:rPr>
              <a:t>lo que viene en el Avance 2.</a:t>
            </a:r>
            <a:endParaRPr lang="en-US" sz="3400" dirty="0"/>
          </a:p>
        </p:txBody>
      </p:sp>
      <p:sp>
        <p:nvSpPr>
          <p:cNvPr id="5" name="Text 3"/>
          <p:cNvSpPr txBox="1"/>
          <p:nvPr/>
        </p:nvSpPr>
        <p:spPr>
          <a:xfrm>
            <a:off x="548640" y="6309360"/>
            <a:ext cx="10180015"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Fuente: CMI de trabajo del equipo (Solemne 2, 20-10-2026). Se revisará en el Avance 2 con las correcciones del profesor.</a:t>
            </a:r>
            <a:endParaRPr lang="es-CL" sz="1200" dirty="0"/>
          </a:p>
        </p:txBody>
      </p:sp>
      <p:sp>
        <p:nvSpPr>
          <p:cNvPr id="6" name="Shape 4"/>
          <p:cNvSpPr/>
          <p:nvPr/>
        </p:nvSpPr>
        <p:spPr>
          <a:xfrm>
            <a:off x="548640" y="2395728"/>
            <a:ext cx="0" cy="804672"/>
          </a:xfrm>
          <a:prstGeom prst="line">
            <a:avLst/>
          </a:prstGeom>
          <a:noFill/>
          <a:ln w="25400">
            <a:solidFill>
              <a:schemeClr val="accent1"/>
            </a:solidFill>
            <a:prstDash val="solid"/>
          </a:ln>
        </p:spPr>
      </p:sp>
      <p:sp>
        <p:nvSpPr>
          <p:cNvPr id="7" name="Text 5"/>
          <p:cNvSpPr txBox="1"/>
          <p:nvPr/>
        </p:nvSpPr>
        <p:spPr>
          <a:xfrm>
            <a:off x="685800" y="2395728"/>
            <a:ext cx="1645920" cy="804672"/>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FINANCIERA</a:t>
            </a:r>
            <a:endParaRPr lang="es-CL" sz="1200" dirty="0"/>
          </a:p>
        </p:txBody>
      </p:sp>
      <p:sp>
        <p:nvSpPr>
          <p:cNvPr id="8" name="Shape 6"/>
          <p:cNvSpPr/>
          <p:nvPr/>
        </p:nvSpPr>
        <p:spPr>
          <a:xfrm>
            <a:off x="2377440" y="2468880"/>
            <a:ext cx="2978810" cy="658368"/>
          </a:xfrm>
          <a:prstGeom prst="rect">
            <a:avLst/>
          </a:prstGeom>
          <a:solidFill>
            <a:schemeClr val="bg2">
              <a:alpha val="85000"/>
            </a:schemeClr>
          </a:solidFill>
          <a:ln w="9525">
            <a:solidFill>
              <a:schemeClr val="accent5"/>
            </a:solidFill>
            <a:prstDash val="sysDot"/>
          </a:ln>
        </p:spPr>
      </p:sp>
      <p:sp>
        <p:nvSpPr>
          <p:cNvPr id="9" name="Text 7"/>
          <p:cNvSpPr txBox="1"/>
          <p:nvPr/>
        </p:nvSpPr>
        <p:spPr>
          <a:xfrm>
            <a:off x="2468880" y="2468880"/>
            <a:ext cx="2795930"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Rentabilidad sobre el costo de capital</a:t>
            </a:r>
            <a:endParaRPr lang="es-CL" sz="1500" dirty="0"/>
          </a:p>
        </p:txBody>
      </p:sp>
      <p:sp>
        <p:nvSpPr>
          <p:cNvPr id="10" name="Shape 8"/>
          <p:cNvSpPr/>
          <p:nvPr/>
        </p:nvSpPr>
        <p:spPr>
          <a:xfrm>
            <a:off x="5465978" y="2468880"/>
            <a:ext cx="2978810" cy="658368"/>
          </a:xfrm>
          <a:prstGeom prst="rect">
            <a:avLst/>
          </a:prstGeom>
          <a:solidFill>
            <a:schemeClr val="bg2">
              <a:alpha val="85000"/>
            </a:schemeClr>
          </a:solidFill>
          <a:ln w="9525">
            <a:solidFill>
              <a:schemeClr val="accent5"/>
            </a:solidFill>
            <a:prstDash val="sysDot"/>
          </a:ln>
        </p:spPr>
      </p:sp>
      <p:sp>
        <p:nvSpPr>
          <p:cNvPr id="11" name="Text 9"/>
          <p:cNvSpPr txBox="1"/>
          <p:nvPr/>
        </p:nvSpPr>
        <p:spPr>
          <a:xfrm>
            <a:off x="5557418" y="2468880"/>
            <a:ext cx="2795930"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Margen por servicio</a:t>
            </a:r>
            <a:endParaRPr lang="es-CL" sz="1500" dirty="0"/>
          </a:p>
        </p:txBody>
      </p:sp>
      <p:sp>
        <p:nvSpPr>
          <p:cNvPr id="12" name="Shape 10"/>
          <p:cNvSpPr/>
          <p:nvPr/>
        </p:nvSpPr>
        <p:spPr>
          <a:xfrm>
            <a:off x="8554517" y="2468880"/>
            <a:ext cx="2978810" cy="658368"/>
          </a:xfrm>
          <a:prstGeom prst="rect">
            <a:avLst/>
          </a:prstGeom>
          <a:solidFill>
            <a:schemeClr val="bg2">
              <a:alpha val="85000"/>
            </a:schemeClr>
          </a:solidFill>
          <a:ln w="9525">
            <a:solidFill>
              <a:schemeClr val="accent5"/>
            </a:solidFill>
            <a:prstDash val="sysDot"/>
          </a:ln>
        </p:spPr>
      </p:sp>
      <p:sp>
        <p:nvSpPr>
          <p:cNvPr id="13" name="Text 11"/>
          <p:cNvSpPr txBox="1"/>
          <p:nvPr/>
        </p:nvSpPr>
        <p:spPr>
          <a:xfrm>
            <a:off x="8645957" y="2468880"/>
            <a:ext cx="2795930"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Expansión y licencias</a:t>
            </a:r>
            <a:endParaRPr lang="es-CL" sz="1500" dirty="0"/>
          </a:p>
        </p:txBody>
      </p:sp>
      <p:sp>
        <p:nvSpPr>
          <p:cNvPr id="14" name="Shape 12"/>
          <p:cNvSpPr/>
          <p:nvPr/>
        </p:nvSpPr>
        <p:spPr>
          <a:xfrm>
            <a:off x="548640" y="3291840"/>
            <a:ext cx="0" cy="804672"/>
          </a:xfrm>
          <a:prstGeom prst="line">
            <a:avLst/>
          </a:prstGeom>
          <a:noFill/>
          <a:ln w="25400">
            <a:solidFill>
              <a:schemeClr val="accent1"/>
            </a:solidFill>
            <a:prstDash val="solid"/>
          </a:ln>
        </p:spPr>
      </p:sp>
      <p:sp>
        <p:nvSpPr>
          <p:cNvPr id="15" name="Text 13"/>
          <p:cNvSpPr txBox="1"/>
          <p:nvPr/>
        </p:nvSpPr>
        <p:spPr>
          <a:xfrm>
            <a:off x="685800" y="3291840"/>
            <a:ext cx="1645920" cy="804672"/>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CLIENTES</a:t>
            </a:r>
            <a:endParaRPr lang="es-CL" sz="1200" dirty="0"/>
          </a:p>
        </p:txBody>
      </p:sp>
      <p:sp>
        <p:nvSpPr>
          <p:cNvPr id="16" name="Shape 14"/>
          <p:cNvSpPr/>
          <p:nvPr/>
        </p:nvSpPr>
        <p:spPr>
          <a:xfrm>
            <a:off x="2377440" y="3364992"/>
            <a:ext cx="2206676" cy="658368"/>
          </a:xfrm>
          <a:prstGeom prst="rect">
            <a:avLst/>
          </a:prstGeom>
          <a:solidFill>
            <a:schemeClr val="bg2">
              <a:alpha val="85000"/>
            </a:schemeClr>
          </a:solidFill>
          <a:ln w="9525">
            <a:solidFill>
              <a:schemeClr val="accent5"/>
            </a:solidFill>
            <a:prstDash val="sysDot"/>
          </a:ln>
        </p:spPr>
      </p:sp>
      <p:sp>
        <p:nvSpPr>
          <p:cNvPr id="17" name="Text 15"/>
          <p:cNvSpPr txBox="1"/>
          <p:nvPr/>
        </p:nvSpPr>
        <p:spPr>
          <a:xfrm>
            <a:off x="2468880" y="3364992"/>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Promesa técnica cumplida</a:t>
            </a:r>
            <a:endParaRPr lang="es-CL" sz="1500" dirty="0"/>
          </a:p>
        </p:txBody>
      </p:sp>
      <p:sp>
        <p:nvSpPr>
          <p:cNvPr id="18" name="Shape 16"/>
          <p:cNvSpPr/>
          <p:nvPr/>
        </p:nvSpPr>
        <p:spPr>
          <a:xfrm>
            <a:off x="4693844" y="3364992"/>
            <a:ext cx="2206676" cy="658368"/>
          </a:xfrm>
          <a:prstGeom prst="rect">
            <a:avLst/>
          </a:prstGeom>
          <a:solidFill>
            <a:schemeClr val="bg2">
              <a:alpha val="85000"/>
            </a:schemeClr>
          </a:solidFill>
          <a:ln w="9525">
            <a:solidFill>
              <a:schemeClr val="accent5"/>
            </a:solidFill>
            <a:prstDash val="sysDot"/>
          </a:ln>
        </p:spPr>
      </p:sp>
      <p:sp>
        <p:nvSpPr>
          <p:cNvPr id="19" name="Text 17"/>
          <p:cNvSpPr txBox="1"/>
          <p:nvPr/>
        </p:nvSpPr>
        <p:spPr>
          <a:xfrm>
            <a:off x="4785284" y="3364992"/>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Ahorro acreditado</a:t>
            </a:r>
            <a:endParaRPr lang="es-CL" sz="1500" dirty="0"/>
          </a:p>
        </p:txBody>
      </p:sp>
      <p:sp>
        <p:nvSpPr>
          <p:cNvPr id="20" name="Shape 18"/>
          <p:cNvSpPr/>
          <p:nvPr/>
        </p:nvSpPr>
        <p:spPr>
          <a:xfrm>
            <a:off x="7010248" y="3364992"/>
            <a:ext cx="2206676" cy="658368"/>
          </a:xfrm>
          <a:prstGeom prst="rect">
            <a:avLst/>
          </a:prstGeom>
          <a:solidFill>
            <a:schemeClr val="bg2">
              <a:alpha val="85000"/>
            </a:schemeClr>
          </a:solidFill>
          <a:ln w="9525">
            <a:solidFill>
              <a:schemeClr val="accent5"/>
            </a:solidFill>
            <a:prstDash val="sysDot"/>
          </a:ln>
        </p:spPr>
      </p:sp>
      <p:sp>
        <p:nvSpPr>
          <p:cNvPr id="21" name="Text 19"/>
          <p:cNvSpPr txBox="1"/>
          <p:nvPr/>
        </p:nvSpPr>
        <p:spPr>
          <a:xfrm>
            <a:off x="7101688" y="3364992"/>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Confianza del cliente</a:t>
            </a:r>
            <a:endParaRPr lang="es-CL" sz="1500" dirty="0"/>
          </a:p>
        </p:txBody>
      </p:sp>
      <p:sp>
        <p:nvSpPr>
          <p:cNvPr id="22" name="Shape 20"/>
          <p:cNvSpPr/>
          <p:nvPr/>
        </p:nvSpPr>
        <p:spPr>
          <a:xfrm>
            <a:off x="9326651" y="3364992"/>
            <a:ext cx="2206676" cy="658368"/>
          </a:xfrm>
          <a:prstGeom prst="rect">
            <a:avLst/>
          </a:prstGeom>
          <a:solidFill>
            <a:schemeClr val="bg2">
              <a:alpha val="85000"/>
            </a:schemeClr>
          </a:solidFill>
          <a:ln w="9525">
            <a:solidFill>
              <a:schemeClr val="accent5"/>
            </a:solidFill>
            <a:prstDash val="sysDot"/>
          </a:ln>
        </p:spPr>
      </p:sp>
      <p:sp>
        <p:nvSpPr>
          <p:cNvPr id="23" name="Text 21"/>
          <p:cNvSpPr txBox="1"/>
          <p:nvPr/>
        </p:nvSpPr>
        <p:spPr>
          <a:xfrm>
            <a:off x="9418091" y="3364992"/>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Segmento captado</a:t>
            </a:r>
            <a:endParaRPr lang="es-CL" sz="1500" dirty="0"/>
          </a:p>
        </p:txBody>
      </p:sp>
      <p:sp>
        <p:nvSpPr>
          <p:cNvPr id="24" name="Shape 22"/>
          <p:cNvSpPr/>
          <p:nvPr/>
        </p:nvSpPr>
        <p:spPr>
          <a:xfrm>
            <a:off x="548640" y="4187952"/>
            <a:ext cx="0" cy="804672"/>
          </a:xfrm>
          <a:prstGeom prst="line">
            <a:avLst/>
          </a:prstGeom>
          <a:noFill/>
          <a:ln w="25400">
            <a:solidFill>
              <a:schemeClr val="accent1"/>
            </a:solidFill>
            <a:prstDash val="solid"/>
          </a:ln>
        </p:spPr>
      </p:sp>
      <p:sp>
        <p:nvSpPr>
          <p:cNvPr id="25" name="Text 23"/>
          <p:cNvSpPr txBox="1"/>
          <p:nvPr/>
        </p:nvSpPr>
        <p:spPr>
          <a:xfrm>
            <a:off x="685800" y="4187952"/>
            <a:ext cx="1645920" cy="804672"/>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PROCESOS</a:t>
            </a:r>
            <a:endParaRPr lang="es-CL" sz="1200" dirty="0"/>
          </a:p>
        </p:txBody>
      </p:sp>
      <p:sp>
        <p:nvSpPr>
          <p:cNvPr id="26" name="Shape 24"/>
          <p:cNvSpPr/>
          <p:nvPr/>
        </p:nvSpPr>
        <p:spPr>
          <a:xfrm>
            <a:off x="2377440" y="4261104"/>
            <a:ext cx="1434541" cy="658368"/>
          </a:xfrm>
          <a:prstGeom prst="rect">
            <a:avLst/>
          </a:prstGeom>
          <a:solidFill>
            <a:schemeClr val="bg2">
              <a:alpha val="85000"/>
            </a:schemeClr>
          </a:solidFill>
          <a:ln w="9525">
            <a:solidFill>
              <a:schemeClr val="accent5"/>
            </a:solidFill>
            <a:prstDash val="sysDot"/>
          </a:ln>
        </p:spPr>
      </p:sp>
      <p:sp>
        <p:nvSpPr>
          <p:cNvPr id="27" name="Text 25"/>
          <p:cNvSpPr txBox="1"/>
          <p:nvPr/>
        </p:nvSpPr>
        <p:spPr>
          <a:xfrm>
            <a:off x="2468880" y="4261104"/>
            <a:ext cx="1251661"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Vía legal</a:t>
            </a:r>
            <a:endParaRPr lang="es-CL" sz="1500" dirty="0"/>
          </a:p>
        </p:txBody>
      </p:sp>
      <p:sp>
        <p:nvSpPr>
          <p:cNvPr id="28" name="Shape 26"/>
          <p:cNvSpPr/>
          <p:nvPr/>
        </p:nvSpPr>
        <p:spPr>
          <a:xfrm>
            <a:off x="3921709" y="4261104"/>
            <a:ext cx="1434541" cy="658368"/>
          </a:xfrm>
          <a:prstGeom prst="rect">
            <a:avLst/>
          </a:prstGeom>
          <a:solidFill>
            <a:schemeClr val="bg2">
              <a:alpha val="85000"/>
            </a:schemeClr>
          </a:solidFill>
          <a:ln w="9525">
            <a:solidFill>
              <a:schemeClr val="accent5"/>
            </a:solidFill>
            <a:prstDash val="sysDot"/>
          </a:ln>
        </p:spPr>
      </p:sp>
      <p:sp>
        <p:nvSpPr>
          <p:cNvPr id="29" name="Text 27"/>
          <p:cNvSpPr txBox="1"/>
          <p:nvPr/>
        </p:nvSpPr>
        <p:spPr>
          <a:xfrm>
            <a:off x="4013149" y="4261104"/>
            <a:ext cx="1251661"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Par modelo-kit aprobado</a:t>
            </a:r>
            <a:endParaRPr lang="es-CL" sz="1500" dirty="0"/>
          </a:p>
        </p:txBody>
      </p:sp>
      <p:sp>
        <p:nvSpPr>
          <p:cNvPr id="30" name="Shape 28"/>
          <p:cNvSpPr/>
          <p:nvPr/>
        </p:nvSpPr>
        <p:spPr>
          <a:xfrm>
            <a:off x="5465978" y="4261104"/>
            <a:ext cx="1434541" cy="658368"/>
          </a:xfrm>
          <a:prstGeom prst="rect">
            <a:avLst/>
          </a:prstGeom>
          <a:solidFill>
            <a:schemeClr val="bg2">
              <a:alpha val="85000"/>
            </a:schemeClr>
          </a:solidFill>
          <a:ln w="9525">
            <a:solidFill>
              <a:schemeClr val="accent5"/>
            </a:solidFill>
            <a:prstDash val="sysDot"/>
          </a:ln>
        </p:spPr>
      </p:sp>
      <p:sp>
        <p:nvSpPr>
          <p:cNvPr id="31" name="Text 29"/>
          <p:cNvSpPr txBox="1"/>
          <p:nvPr/>
        </p:nvSpPr>
        <p:spPr>
          <a:xfrm>
            <a:off x="5557418" y="4261104"/>
            <a:ext cx="1251661"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Instalación segura</a:t>
            </a:r>
            <a:endParaRPr lang="es-CL" sz="1500" dirty="0"/>
          </a:p>
        </p:txBody>
      </p:sp>
      <p:sp>
        <p:nvSpPr>
          <p:cNvPr id="32" name="Shape 30"/>
          <p:cNvSpPr/>
          <p:nvPr/>
        </p:nvSpPr>
        <p:spPr>
          <a:xfrm>
            <a:off x="7010248" y="4261104"/>
            <a:ext cx="1434541" cy="658368"/>
          </a:xfrm>
          <a:prstGeom prst="rect">
            <a:avLst/>
          </a:prstGeom>
          <a:solidFill>
            <a:schemeClr val="bg2">
              <a:alpha val="85000"/>
            </a:schemeClr>
          </a:solidFill>
          <a:ln w="9525">
            <a:solidFill>
              <a:schemeClr val="accent5"/>
            </a:solidFill>
            <a:prstDash val="sysDot"/>
          </a:ln>
        </p:spPr>
      </p:sp>
      <p:sp>
        <p:nvSpPr>
          <p:cNvPr id="33" name="Text 31"/>
          <p:cNvSpPr txBox="1"/>
          <p:nvPr/>
        </p:nvSpPr>
        <p:spPr>
          <a:xfrm>
            <a:off x="7101688" y="4261104"/>
            <a:ext cx="1251661"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Medición y posventa</a:t>
            </a:r>
            <a:endParaRPr lang="es-CL" sz="1500" dirty="0"/>
          </a:p>
        </p:txBody>
      </p:sp>
      <p:sp>
        <p:nvSpPr>
          <p:cNvPr id="34" name="Shape 32"/>
          <p:cNvSpPr/>
          <p:nvPr/>
        </p:nvSpPr>
        <p:spPr>
          <a:xfrm>
            <a:off x="8554517" y="4261104"/>
            <a:ext cx="1434541" cy="658368"/>
          </a:xfrm>
          <a:prstGeom prst="rect">
            <a:avLst/>
          </a:prstGeom>
          <a:solidFill>
            <a:schemeClr val="bg2">
              <a:alpha val="85000"/>
            </a:schemeClr>
          </a:solidFill>
          <a:ln w="9525">
            <a:solidFill>
              <a:schemeClr val="accent5"/>
            </a:solidFill>
            <a:prstDash val="sysDot"/>
          </a:ln>
        </p:spPr>
      </p:sp>
      <p:sp>
        <p:nvSpPr>
          <p:cNvPr id="35" name="Text 33"/>
          <p:cNvSpPr txBox="1"/>
          <p:nvPr/>
        </p:nvSpPr>
        <p:spPr>
          <a:xfrm>
            <a:off x="8645957" y="4261104"/>
            <a:ext cx="1251661"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Réplica en talleres</a:t>
            </a:r>
            <a:endParaRPr lang="es-CL" sz="1500" dirty="0"/>
          </a:p>
        </p:txBody>
      </p:sp>
      <p:sp>
        <p:nvSpPr>
          <p:cNvPr id="36" name="Shape 34"/>
          <p:cNvSpPr/>
          <p:nvPr/>
        </p:nvSpPr>
        <p:spPr>
          <a:xfrm>
            <a:off x="10098786" y="4261104"/>
            <a:ext cx="1434541" cy="658368"/>
          </a:xfrm>
          <a:prstGeom prst="rect">
            <a:avLst/>
          </a:prstGeom>
          <a:solidFill>
            <a:schemeClr val="bg2">
              <a:alpha val="85000"/>
            </a:schemeClr>
          </a:solidFill>
          <a:ln w="9525">
            <a:solidFill>
              <a:schemeClr val="accent5"/>
            </a:solidFill>
            <a:prstDash val="sysDot"/>
          </a:ln>
        </p:spPr>
      </p:sp>
      <p:sp>
        <p:nvSpPr>
          <p:cNvPr id="37" name="Text 35"/>
          <p:cNvSpPr txBox="1"/>
          <p:nvPr/>
        </p:nvSpPr>
        <p:spPr>
          <a:xfrm>
            <a:off x="10190226" y="4261104"/>
            <a:ext cx="1251661"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Acuerdos que destraban la compra</a:t>
            </a:r>
            <a:endParaRPr lang="es-CL" sz="1500" dirty="0"/>
          </a:p>
        </p:txBody>
      </p:sp>
      <p:sp>
        <p:nvSpPr>
          <p:cNvPr id="38" name="Shape 36"/>
          <p:cNvSpPr/>
          <p:nvPr/>
        </p:nvSpPr>
        <p:spPr>
          <a:xfrm>
            <a:off x="548640" y="5084064"/>
            <a:ext cx="0" cy="804672"/>
          </a:xfrm>
          <a:prstGeom prst="line">
            <a:avLst/>
          </a:prstGeom>
          <a:noFill/>
          <a:ln w="25400">
            <a:solidFill>
              <a:schemeClr val="accent1"/>
            </a:solidFill>
            <a:prstDash val="solid"/>
          </a:ln>
        </p:spPr>
      </p:sp>
      <p:sp>
        <p:nvSpPr>
          <p:cNvPr id="39" name="Text 37"/>
          <p:cNvSpPr txBox="1"/>
          <p:nvPr/>
        </p:nvSpPr>
        <p:spPr>
          <a:xfrm>
            <a:off x="685800" y="5084064"/>
            <a:ext cx="1645920" cy="804672"/>
          </a:xfrm>
          <a:prstGeom prst="rect">
            <a:avLst/>
          </a:prstGeom>
          <a:noFill/>
          <a:ln/>
        </p:spPr>
        <p:txBody>
          <a:bodyPr wrap="square" lIns="0" tIns="0" rIns="0" bIns="0" rtlCol="0" anchor="ctr"/>
          <a:lstStyle/>
          <a:p>
            <a:pP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APRENDIZAJE</a:t>
            </a:r>
            <a:endParaRPr lang="es-CL" sz="1200" dirty="0"/>
          </a:p>
        </p:txBody>
      </p:sp>
      <p:sp>
        <p:nvSpPr>
          <p:cNvPr id="40" name="Shape 38"/>
          <p:cNvSpPr/>
          <p:nvPr/>
        </p:nvSpPr>
        <p:spPr>
          <a:xfrm>
            <a:off x="2377440" y="5157216"/>
            <a:ext cx="2206676" cy="658368"/>
          </a:xfrm>
          <a:prstGeom prst="rect">
            <a:avLst/>
          </a:prstGeom>
          <a:solidFill>
            <a:schemeClr val="bg2">
              <a:alpha val="85000"/>
            </a:schemeClr>
          </a:solidFill>
          <a:ln w="9525">
            <a:solidFill>
              <a:schemeClr val="accent5"/>
            </a:solidFill>
            <a:prstDash val="sysDot"/>
          </a:ln>
        </p:spPr>
      </p:sp>
      <p:sp>
        <p:nvSpPr>
          <p:cNvPr id="41" name="Text 39"/>
          <p:cNvSpPr txBox="1"/>
          <p:nvPr/>
        </p:nvSpPr>
        <p:spPr>
          <a:xfrm>
            <a:off x="2468880" y="5157216"/>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Biblioteca de calibraciones</a:t>
            </a:r>
            <a:endParaRPr lang="es-CL" sz="1500" dirty="0"/>
          </a:p>
        </p:txBody>
      </p:sp>
      <p:sp>
        <p:nvSpPr>
          <p:cNvPr id="42" name="Shape 40"/>
          <p:cNvSpPr/>
          <p:nvPr/>
        </p:nvSpPr>
        <p:spPr>
          <a:xfrm>
            <a:off x="4693844" y="5157216"/>
            <a:ext cx="2206676" cy="658368"/>
          </a:xfrm>
          <a:prstGeom prst="rect">
            <a:avLst/>
          </a:prstGeom>
          <a:solidFill>
            <a:schemeClr val="bg2">
              <a:alpha val="85000"/>
            </a:schemeClr>
          </a:solidFill>
          <a:ln w="9525">
            <a:solidFill>
              <a:schemeClr val="accent5"/>
            </a:solidFill>
            <a:prstDash val="sysDot"/>
          </a:ln>
        </p:spPr>
      </p:sp>
      <p:sp>
        <p:nvSpPr>
          <p:cNvPr id="43" name="Text 41"/>
          <p:cNvSpPr txBox="1"/>
          <p:nvPr/>
        </p:nvSpPr>
        <p:spPr>
          <a:xfrm>
            <a:off x="4785284" y="5157216"/>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Técnicos habilitados</a:t>
            </a:r>
            <a:endParaRPr lang="es-CL" sz="1500" dirty="0"/>
          </a:p>
        </p:txBody>
      </p:sp>
      <p:sp>
        <p:nvSpPr>
          <p:cNvPr id="44" name="Shape 42"/>
          <p:cNvSpPr/>
          <p:nvPr/>
        </p:nvSpPr>
        <p:spPr>
          <a:xfrm>
            <a:off x="7010248" y="5157216"/>
            <a:ext cx="2206676" cy="658368"/>
          </a:xfrm>
          <a:prstGeom prst="rect">
            <a:avLst/>
          </a:prstGeom>
          <a:solidFill>
            <a:schemeClr val="bg2">
              <a:alpha val="85000"/>
            </a:schemeClr>
          </a:solidFill>
          <a:ln w="9525">
            <a:solidFill>
              <a:schemeClr val="accent5"/>
            </a:solidFill>
            <a:prstDash val="sysDot"/>
          </a:ln>
        </p:spPr>
      </p:sp>
      <p:sp>
        <p:nvSpPr>
          <p:cNvPr id="45" name="Text 43"/>
          <p:cNvSpPr txBox="1"/>
          <p:nvPr/>
        </p:nvSpPr>
        <p:spPr>
          <a:xfrm>
            <a:off x="7101688" y="5157216"/>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Protocolo de medición</a:t>
            </a:r>
            <a:endParaRPr lang="es-CL" sz="1500" dirty="0"/>
          </a:p>
        </p:txBody>
      </p:sp>
      <p:sp>
        <p:nvSpPr>
          <p:cNvPr id="46" name="Shape 44"/>
          <p:cNvSpPr/>
          <p:nvPr/>
        </p:nvSpPr>
        <p:spPr>
          <a:xfrm>
            <a:off x="9326651" y="5157216"/>
            <a:ext cx="2206676" cy="658368"/>
          </a:xfrm>
          <a:prstGeom prst="rect">
            <a:avLst/>
          </a:prstGeom>
          <a:solidFill>
            <a:schemeClr val="bg2">
              <a:alpha val="85000"/>
            </a:schemeClr>
          </a:solidFill>
          <a:ln w="9525">
            <a:solidFill>
              <a:schemeClr val="accent5"/>
            </a:solidFill>
            <a:prstDash val="sysDot"/>
          </a:ln>
        </p:spPr>
      </p:sp>
      <p:sp>
        <p:nvSpPr>
          <p:cNvPr id="47" name="Text 45"/>
          <p:cNvSpPr txBox="1"/>
          <p:nvPr/>
        </p:nvSpPr>
        <p:spPr>
          <a:xfrm>
            <a:off x="9418091" y="5157216"/>
            <a:ext cx="2023796" cy="658368"/>
          </a:xfrm>
          <a:prstGeom prst="rect">
            <a:avLst/>
          </a:prstGeom>
          <a:noFill/>
          <a:ln/>
        </p:spPr>
        <p:txBody>
          <a:bodyPr wrap="square" lIns="0" tIns="0" rIns="0" bIns="0" rtlCol="0" anchor="ctr"/>
          <a:lstStyle/>
          <a:p>
            <a:pPr algn="ctr" indent="0" marL="0">
              <a:lnSpc>
                <a:spcPct val="90000"/>
              </a:lnSpc>
              <a:buNone/>
            </a:pPr>
            <a:r>
              <a:rPr lang="es-CL" altLang="en-US" sz="1500" dirty="0">
                <a:solidFill>
                  <a:schemeClr val="tx1"/>
                </a:solidFill>
                <a:latin typeface="Figtree" pitchFamily="34" charset="0"/>
                <a:ea typeface="Figtree" pitchFamily="34" charset="-122"/>
                <a:cs typeface="Figtree" pitchFamily="34" charset="-120"/>
              </a:rPr>
              <a:t>Lumine Habilita</a:t>
            </a:r>
            <a:endParaRPr lang="es-CL" sz="1500" dirty="0"/>
          </a:p>
        </p:txBody>
      </p:sp>
      <p:sp>
        <p:nvSpPr>
          <p:cNvPr id="48" name="Shape 46"/>
          <p:cNvSpPr/>
          <p:nvPr/>
        </p:nvSpPr>
        <p:spPr>
          <a:xfrm>
            <a:off x="6437579" y="5925312"/>
            <a:ext cx="5205476" cy="310896"/>
          </a:xfrm>
          <a:prstGeom prst="rect">
            <a:avLst/>
          </a:prstGeom>
          <a:solidFill>
            <a:schemeClr val="bg1">
              <a:alpha val="0"/>
            </a:schemeClr>
          </a:solidFill>
          <a:ln w="12700">
            <a:solidFill>
              <a:schemeClr val="tx1"/>
            </a:solidFill>
            <a:prstDash val="dash"/>
          </a:ln>
        </p:spPr>
      </p:sp>
      <p:sp>
        <p:nvSpPr>
          <p:cNvPr id="49" name="Text 47"/>
          <p:cNvSpPr txBox="1"/>
          <p:nvPr/>
        </p:nvSpPr>
        <p:spPr>
          <a:xfrm>
            <a:off x="6547307" y="5925312"/>
            <a:ext cx="4986020" cy="310896"/>
          </a:xfrm>
          <a:prstGeom prst="rect">
            <a:avLst/>
          </a:prstGeom>
          <a:noFill/>
          <a:ln/>
        </p:spPr>
        <p:txBody>
          <a:bodyPr wrap="square" lIns="0" tIns="0" rIns="0" bIns="0" rtlCol="0" anchor="ctr"/>
          <a:lstStyle/>
          <a:p>
            <a:pPr algn="ctr" indent="0" marL="0">
              <a:buNone/>
            </a:pPr>
            <a:r>
              <a:rPr lang="es-CL" altLang="en-US" sz="1200" spc="100" kern="0" dirty="0">
                <a:solidFill>
                  <a:schemeClr val="tx1"/>
                </a:solidFill>
                <a:latin typeface="IBM Plex Mono" pitchFamily="34" charset="0"/>
                <a:ea typeface="IBM Plex Mono" pitchFamily="34" charset="-122"/>
                <a:cs typeface="IBM Plex Mono" pitchFamily="34" charset="-120"/>
              </a:rPr>
              <a:t>PROPUESTA DE TRABAJO · 17 OBJETIVOS SIN APROBAR</a:t>
            </a:r>
            <a:endParaRPr lang="es-CL" sz="1200" dirty="0"/>
          </a:p>
        </p:txBody>
      </p:sp>
      <p:sp>
        <p:nvSpPr>
          <p:cNvPr id="25" name="Slide Number Placeholder 0"/>
          <p:cNvSpPr>
            <a:spLocks noGrp="1"/>
          </p:cNvSpPr>
          <p:nvPr>
            <p:ph type="sldNum" sz="quarter" idx="4294967295"/>
          </p:nvPr>
        </p:nvSpPr>
        <p:spPr>
          <a:xfrm>
            <a:off x="10911535" y="6400800"/>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12AAE9"/>
                </a:solidFill>
                <a:latin typeface="IBM Plex Mono"/>
                <a:ea typeface="IBM Plex Mono"/>
                <a:cs typeface="IBM Plex Mono"/>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Lumine">
  <a:themeElements>
    <a:clrScheme name="Lumine">
      <a:dk1>
        <a:srgbClr val="FFFFFF"/>
      </a:dk1>
      <a:lt1>
        <a:srgbClr val="000000"/>
      </a:lt1>
      <a:dk2>
        <a:srgbClr val="9AA8B6"/>
      </a:dk2>
      <a:lt2>
        <a:srgbClr val="061428"/>
      </a:lt2>
      <a:accent1>
        <a:srgbClr val="12AAE9"/>
      </a:accent1>
      <a:accent2>
        <a:srgbClr val="9AA8B6"/>
      </a:accent2>
      <a:accent3>
        <a:srgbClr val="3C4D60"/>
      </a:accent3>
      <a:accent4>
        <a:srgbClr val="FFFFFF"/>
      </a:accent4>
      <a:accent5>
        <a:srgbClr val="22354B"/>
      </a:accent5>
      <a:accent6>
        <a:srgbClr val="0A1A2E"/>
      </a:accent6>
      <a:hlink>
        <a:srgbClr val="12AAE9"/>
      </a:hlink>
      <a:folHlink>
        <a:srgbClr val="0A6F9E"/>
      </a:folHlink>
    </a:clrScheme>
    <a:fontScheme name="Lumine">
      <a:majorFont>
        <a:latin typeface="Archivo SemiExpanded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Lumine Motors Chile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3 · Avance 1 del TIG · Análisis estratégico de Lumine Motors</dc:title>
  <dc:subject>Control de Gestión · ICMA901 · UNAB</dc:subject>
  <dc:creator>Diego Alarcón, Benjamín Torres y Lukas Verdugo</dc:creator>
  <cp:lastModifiedBy>Diego Alarcón, Benjamín Torres y Lukas Verdugo</cp:lastModifiedBy>
  <cp:revision>1</cp:revision>
  <dcterms:created xsi:type="dcterms:W3CDTF">2026-10-22T17:20:20Z</dcterms:created>
  <dcterms:modified xsi:type="dcterms:W3CDTF">2026-10-22T17:20:20Z</dcterms:modified>
</cp:coreProperties>
</file>