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a" id="{394fcd9b-4ca2-c090-062b-6d8a6730b452}">
          <p14:sldIdLst>
            <p14:sldId id="256"/>
            <p14:sldId id="257"/>
            <p14:sldId id="258"/>
          </p14:sldIdLst>
        </p14:section>
        <p14:section name="Herramienta" id="{f750f563-c363-2a1c-8de3-0480d5dfc052}">
          <p14:sldIdLst>
            <p14:sldId id="259"/>
            <p14:sldId id="260"/>
          </p14:sldIdLst>
        </p14:section>
        <p14:section name="Resultados" id="{079c144b-93ef-4c1d-7110-7a8b07aca66d}">
          <p14:sldIdLst>
            <p14:sldId id="261"/>
            <p14:sldId id="262"/>
            <p14:sldId id="263"/>
          </p14:sldIdLst>
        </p14:section>
        <p14:section name="Implementación" id="{eaea1c3c-2bbd-2b41-d56a-4d0f3ee27a09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44"/>
                </a:solidFill>
                <a:latin typeface="+mn-lt"/>
              </a:rPr>
              <a:t>Error absoluto medio en conductores no vistos (puntos porcentuales; 10 particiones)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medio (pp)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A0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4C9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Cifra genérica 25%</c:v>
                  </c:pt>
                  <c:pt idx="1">
                    <c:v>Laboratorio ICCT 15,5%</c:v>
                  </c:pt>
                  <c:pt idx="2">
                    <c:v>Promedio por perfil</c:v>
                  </c:pt>
                  <c:pt idx="3">
                    <c:v>GBM (Entrega 3)</c:v>
                  </c:pt>
                  <c:pt idx="4">
                    <c:v>Ridge (final)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7.9</c:v>
                </c:pt>
                <c:pt idx="1">
                  <c:v>2.3</c:v>
                </c:pt>
                <c:pt idx="2">
                  <c:v>1.08</c:v>
                </c:pt>
                <c:pt idx="3">
                  <c:v>0.89</c:v>
                </c:pt>
                <c:pt idx="4">
                  <c:v>0.77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44"/>
                </a:solidFill>
                <a:latin typeface="+mn-lt"/>
              </a:rPr>
              <a:t>Casos aprobados de 12 por versión de las instrucciones RAFA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 aprobados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A0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A3E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v3.1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11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(30 s). Buenos días. Somos Lumine Motors: un taller que instalaría un kit híbrido en el eje trasero de autos con más de siete años, el parque que en Chile se conserva y que quedó fuera del gas y del recambio a eléctrico. Todo nuestro proyecto responde una sola pregunta, la que nos hizo cada conductor entrevistado: ¿cuánto me voy a ahorrar? Les mostraremos el problema, la herramienta de IA que construimos y lo que encontramos.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(40 s). El problema es la promesa. El sector vende “hasta 25% de ahorro”, pero el ahorro del kit depende de cuánta energía termina en los frenos, y eso cambia con cada conductor. Al comparar esa cifra con el ahorro simulado de 300 conductores de Santiago, se equivoca en promedio por casi 8 puntos, y en el 98% de los casos por más de 3. En las entrevistas, la barrera no fue el precio sino la confianza. Lumine debe decidir si reemplaza esa cifra por una estimación personal y verificable.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(35 s). Nuestra pregunta tiene dos mitades: si la IA puede estimar el ahorro de cada cliente con precisión suficiente, y si eso cambia su disposición a contratar. Cumplimos tres de cinco objetivos. Los datos propios en terreno se eliminaron por tiempo y los sustituimos por jornadas reales de una base pública. La medición con clientes la rediseñamos: con 40 encuestas no habríamos detectado nada, así que proponemos un experimento A/B con 173 prospectos por grupo. Benjamín les muestra la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(45 s). La herramienta tiene tres piezas de IA y una regla. Un simulador físico calcula cuánta energía recupera el kit en cada segundo de conducción; un modelo predictivo aprende de miles de esas simulaciones a estimar el ahorro de cada conductor con un intervalo; y Claude, con instrucciones RAFA, solo redacta la explicación. La regla es que la IA generativa nunca calcula: recibe cifras cerradas y un validador comprueba que cada número exista. Encima, un técnico humano aprueba, ajusta o bloquea.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(40 s). Este es el prototipo funcionando. Un colectivo registra una semana con su celular; el sistema calcula once variables y borra la ruta. El modelo estima 19,7% de ahorro, con un rango de 18,4% a 21%. El motor comercial lo traduce a lo que entiende el cliente: 159 mil pesos al mes y recuperar el kit en 22 meses con el escenario conservador. Claude escribe el mensaje y el validador confirma cada número. Esta es también la conexión entre el modelo matemático y el prompt que nos pidió explicar mejor.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(50 s). Los resultados. En diez particiones de conductores que el modelo nunca vio, la cifra genérica erra por 7,9 puntos y nuestro modelo final por 0,77. Un hallazgo: la regresión Ridge, más simple, le ganó al gradient boosting en las diez, así que la adoptamos. El ahorro mediano es 19,6% en colectivos y 15 a 16% en el resto. En datos reales el error sube a 2 puntos, pero al recalibrar con datos reales baja a 1,3 y el intervalo cubre 78%. Por eso el modelo solo se usa comercialmente después de recalibrarlo. Lukas sigue con la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(45 s). La capa generativa se probó con 12 casos fijos. La primera versión no aprobó ninguno: inventaba ahorros anuales y decía que el kit era legal. Con la estructura RAFA, reglas por estado y cifras cerradas, la versión final aprobó los 12. Después la atacamos: Grok escribió diez notas tramposas y ChatGPT las respondió con nuestras instrucciones; resistió las diez. Además, cinco IA auditaron el trabajo, y dos encontraron por separado el mismo error, que corregimos. También aprendimos que exageran e inventan, así que todo se verificó.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(30 s). Así lo construimos. Dos agentes de programación trabajaron en paralelo sobre el mismo repositorio: Claude Code hizo el simulador, el modelo y los informes; Codex llevó el modelo Ridge al prototipo, escribió 20 pruebas y reprodujo todo desde cero. Nosotros revisamos e integramos cada cambio. Las cinco IA auditoras nunca tocaron el código: sus hallazgos entraron como cambios con fecha y autor. Por eso cada cifra que les mostramos se puede rastrear hasta su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(40 s). El uso responsable no es un anexo, está en el diseño. La ubicación revela domicilio y rutinas, así que pedimos consentimiento específico, borramos la ruta y la IA generativa nunca recibe datos personales. Toda cifra lleva su rango y medimos si el intervalo es igual de confiable para todos: hoy no lo es del todo para particulares. Cada decisión tiene un responsable humano, y una regla con cinco gatillos detiene el sistema si la promesa deja de cumplirse.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(40 s). La implementación va por fases y cada una termina en una decisión. Primero, cambiar ya el “hasta 25%” por la cotización con intervalo. Luego, un piloto A/B que mida si la estimación personal aumenta el agendamiento, y diez instalaciones con telemetría para recalibrar. El estimador cuesta unos 9 millones el primer año y se paga si sube el agendamiento en 3 puntos; con 5 puntos, el retorno es de 68%. Si no cambia nada, se pierde el costo: por eso el A/B va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(35 s). Nuestra respuesta es sí, con una condición. La IA estima el ahorro de cada cliente diez veces mejor que la cifra genérica y lo comunica sin inventar, pero el intervalo solo es confiable después de recalibrarlo con datos reales. Recomendamos implementar con ajustes: retirar hoy el “hasta 25%”, medir con un A/B y habilitar el diagnóstico cuando la telemetría lo confirme. Los límites son claros: ahorro simulado, datos reales secundarios y el efecto en el cliente por medir.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_OSC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Lumine Motors · Grupo 1 · NRC 4153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_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de 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1600200" cy="121615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¿Cuánto me voy a ahorrar?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4290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Un estimador de ahorro con IA que convierte una promesa genérica en una estimación personal, verificable y gobernada</a:t>
            </a:r>
            <a:endParaRPr lang="en-US" sz="2200" dirty="0"/>
          </a:p>
        </p:txBody>
      </p:sp>
      <p:sp>
        <p:nvSpPr>
          <p:cNvPr id="5" name="Integrantes"/>
          <p:cNvSpPr txBox="1"/>
          <p:nvPr/>
        </p:nvSpPr>
        <p:spPr>
          <a:xfrm>
            <a:off x="731520" y="56235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Diego Alarcón · Benjamín Torres · Lukas Verdugo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Grupo 1 · NRC 4153 · IA Aplicada al Marketing y los Negocios · Prof. Cristián Cisterna-Aravena · noviembre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promesa “hasta 25%” no describe a casi nadie</a:t>
            </a:r>
            <a:endParaRPr lang="en-US" sz="3000" dirty="0"/>
          </a:p>
        </p:txBody>
      </p:sp>
      <p:sp>
        <p:nvSpPr>
          <p:cNvPr id="3" name="Dato 1"/>
          <p:cNvSpPr/>
          <p:nvPr/>
        </p:nvSpPr>
        <p:spPr>
          <a:xfrm>
            <a:off x="548640" y="146304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4" name="Cifra 1"/>
          <p:cNvSpPr txBox="1"/>
          <p:nvPr/>
        </p:nvSpPr>
        <p:spPr>
          <a:xfrm>
            <a:off x="777240" y="166420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7,9 pp</a:t>
            </a:r>
            <a:endParaRPr lang="en-US" sz="4400" dirty="0"/>
          </a:p>
        </p:txBody>
      </p:sp>
      <p:sp>
        <p:nvSpPr>
          <p:cNvPr id="5" name="Etiqueta 1"/>
          <p:cNvSpPr txBox="1"/>
          <p:nvPr/>
        </p:nvSpPr>
        <p:spPr>
          <a:xfrm>
            <a:off x="2926080" y="166420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error medio de la cifra genérica de 25% frente al ahorro simulado de cada conductor</a:t>
            </a:r>
            <a:endParaRPr lang="en-US" sz="1500" dirty="0"/>
          </a:p>
        </p:txBody>
      </p:sp>
      <p:sp>
        <p:nvSpPr>
          <p:cNvPr id="6" name="Dato 2"/>
          <p:cNvSpPr/>
          <p:nvPr/>
        </p:nvSpPr>
        <p:spPr>
          <a:xfrm>
            <a:off x="548640" y="306324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7" name="Cifra 2"/>
          <p:cNvSpPr txBox="1"/>
          <p:nvPr/>
        </p:nvSpPr>
        <p:spPr>
          <a:xfrm>
            <a:off x="777240" y="326440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98%</a:t>
            </a:r>
            <a:endParaRPr lang="en-US" sz="4400" dirty="0"/>
          </a:p>
        </p:txBody>
      </p:sp>
      <p:sp>
        <p:nvSpPr>
          <p:cNvPr id="8" name="Etiqueta 2"/>
          <p:cNvSpPr txBox="1"/>
          <p:nvPr/>
        </p:nvSpPr>
        <p:spPr>
          <a:xfrm>
            <a:off x="2926080" y="326440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 los conductores con un error mayor a 3 puntos con esa cifra</a:t>
            </a:r>
            <a:endParaRPr lang="en-US" sz="1500" dirty="0"/>
          </a:p>
        </p:txBody>
      </p:sp>
      <p:sp>
        <p:nvSpPr>
          <p:cNvPr id="9" name="Dato 3"/>
          <p:cNvSpPr/>
          <p:nvPr/>
        </p:nvSpPr>
        <p:spPr>
          <a:xfrm>
            <a:off x="548640" y="466344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0" name="Cifra 3"/>
          <p:cNvSpPr txBox="1"/>
          <p:nvPr/>
        </p:nvSpPr>
        <p:spPr>
          <a:xfrm>
            <a:off x="777240" y="486460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3,4</a:t>
            </a:r>
            <a:endParaRPr lang="en-US" sz="4400" dirty="0"/>
          </a:p>
        </p:txBody>
      </p:sp>
      <p:sp>
        <p:nvSpPr>
          <p:cNvPr id="11" name="Etiqueta 3"/>
          <p:cNvSpPr txBox="1"/>
          <p:nvPr/>
        </p:nvSpPr>
        <p:spPr>
          <a:xfrm>
            <a:off x="2926080" y="486460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autos usados transferidos por cada nuevo en 2025: un parque que se conserva</a:t>
            </a:r>
            <a:endParaRPr lang="en-US" sz="1500" dirty="0"/>
          </a:p>
        </p:txBody>
      </p:sp>
      <p:sp>
        <p:nvSpPr>
          <p:cNvPr id="12" name="Decisión"/>
          <p:cNvSpPr/>
          <p:nvPr/>
        </p:nvSpPr>
        <p:spPr>
          <a:xfrm>
            <a:off x="6583680" y="146304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3" name="Etiqueta decisión"/>
          <p:cNvSpPr txBox="1"/>
          <p:nvPr/>
        </p:nvSpPr>
        <p:spPr>
          <a:xfrm>
            <a:off x="690372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LA DECISIÓN DE LUMINE</a:t>
            </a:r>
            <a:endParaRPr lang="en-US" sz="1400" dirty="0"/>
          </a:p>
        </p:txBody>
      </p:sp>
      <p:sp>
        <p:nvSpPr>
          <p:cNvPr id="14" name="Pregunta de decisión"/>
          <p:cNvSpPr txBox="1"/>
          <p:nvPr/>
        </p:nvSpPr>
        <p:spPr>
          <a:xfrm>
            <a:off x="6903720" y="22402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¿Reemplazar la cifra genérica por una estimación personal, con intervalo y verificable después de instalar?</a:t>
            </a:r>
            <a:endParaRPr lang="en-US" sz="2200" dirty="0"/>
          </a:p>
        </p:txBody>
      </p:sp>
      <p:sp>
        <p:nvSpPr>
          <p:cNvPr id="15" name="Contexto"/>
          <p:cNvSpPr txBox="1"/>
          <p:nvPr/>
        </p:nvSpPr>
        <p:spPr>
          <a:xfrm>
            <a:off x="6903720" y="41148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La barrera del cliente es la confianza, no el precio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El ahorro depende de cuánto frena cada conductor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Una cifra que no se cumple es publicidad engañosa (Ley 19.496)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¿Puede la IA estimar el ahorro antes de instalar?</a:t>
            </a:r>
            <a:endParaRPr lang="en-US" sz="3000" dirty="0"/>
          </a:p>
        </p:txBody>
      </p:sp>
      <p:sp>
        <p:nvSpPr>
          <p:cNvPr id="3" name="Pregunta"/>
          <p:cNvSpPr/>
          <p:nvPr/>
        </p:nvSpPr>
        <p:spPr>
          <a:xfrm>
            <a:off x="548640" y="146304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4" name="Ícono pregunta fondo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pic>
        <p:nvPicPr>
          <p:cNvPr id="5" name="Ícono pregunta" descr="Ícono pregu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01952"/>
            <a:ext cx="356616" cy="356616"/>
          </a:xfrm>
          <a:prstGeom prst="rect">
            <a:avLst/>
          </a:prstGeom>
        </p:spPr>
      </p:pic>
      <p:sp>
        <p:nvSpPr>
          <p:cNvPr id="6" name="Título pregunta"/>
          <p:cNvSpPr txBox="1"/>
          <p:nvPr/>
        </p:nvSpPr>
        <p:spPr>
          <a:xfrm>
            <a:off x="8229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Pregunta de investigación</a:t>
            </a:r>
            <a:endParaRPr lang="en-US" sz="1600" dirty="0"/>
          </a:p>
        </p:txBody>
      </p:sp>
      <p:sp>
        <p:nvSpPr>
          <p:cNvPr id="7" name="Texto pregunta"/>
          <p:cNvSpPr txBox="1"/>
          <p:nvPr/>
        </p:nvSpPr>
        <p:spPr>
          <a:xfrm>
            <a:off x="822960" y="30175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¿Puede un modelo de IA predictiva, alimentado con el patrón de conducción de cada vehículo, estimar el ahorro con precisión suficiente para una promesa verificable, y cómo cambia eso la disposición a contratar?</a:t>
            </a:r>
            <a:endParaRPr lang="en-US" sz="1500" dirty="0"/>
          </a:p>
        </p:txBody>
      </p:sp>
      <p:sp>
        <p:nvSpPr>
          <p:cNvPr id="8" name="Objetivo 1"/>
          <p:cNvSpPr/>
          <p:nvPr/>
        </p:nvSpPr>
        <p:spPr>
          <a:xfrm>
            <a:off x="5120640" y="1463040"/>
            <a:ext cx="6492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9" name="Nombre objetivo 1"/>
          <p:cNvSpPr txBox="1"/>
          <p:nvPr/>
        </p:nvSpPr>
        <p:spPr>
          <a:xfrm>
            <a:off x="5349240" y="1572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OE1 Datos reales</a:t>
            </a:r>
            <a:endParaRPr lang="en-US" sz="1500" dirty="0"/>
          </a:p>
        </p:txBody>
      </p:sp>
      <p:sp>
        <p:nvSpPr>
          <p:cNvPr id="10" name="Resultado objetivo 1"/>
          <p:cNvSpPr txBox="1"/>
          <p:nvPr/>
        </p:nvSpPr>
        <p:spPr>
          <a:xfrm>
            <a:off x="736092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45 jornadas reales secundarias; terreno eliminado</a:t>
            </a:r>
            <a:endParaRPr lang="en-US" sz="1300" dirty="0"/>
          </a:p>
        </p:txBody>
      </p:sp>
      <p:sp>
        <p:nvSpPr>
          <p:cNvPr id="11" name="Estado 1"/>
          <p:cNvSpPr/>
          <p:nvPr/>
        </p:nvSpPr>
        <p:spPr>
          <a:xfrm>
            <a:off x="10241280" y="1664208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o estado 1"/>
          <p:cNvSpPr txBox="1"/>
          <p:nvPr/>
        </p:nvSpPr>
        <p:spPr>
          <a:xfrm>
            <a:off x="10241280" y="16642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Sustituido</a:t>
            </a:r>
            <a:endParaRPr lang="en-US" sz="1200" dirty="0"/>
          </a:p>
        </p:txBody>
      </p:sp>
      <p:sp>
        <p:nvSpPr>
          <p:cNvPr id="13" name="Objetivo 2"/>
          <p:cNvSpPr/>
          <p:nvPr/>
        </p:nvSpPr>
        <p:spPr>
          <a:xfrm>
            <a:off x="5120640" y="2377440"/>
            <a:ext cx="6492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4" name="Nombre objetivo 2"/>
          <p:cNvSpPr txBox="1"/>
          <p:nvPr/>
        </p:nvSpPr>
        <p:spPr>
          <a:xfrm>
            <a:off x="5349240" y="24871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OE2 Modelo</a:t>
            </a:r>
            <a:endParaRPr lang="en-US" sz="1500" dirty="0"/>
          </a:p>
        </p:txBody>
      </p:sp>
      <p:sp>
        <p:nvSpPr>
          <p:cNvPr id="15" name="Resultado objetivo 2"/>
          <p:cNvSpPr txBox="1"/>
          <p:nvPr/>
        </p:nvSpPr>
        <p:spPr>
          <a:xfrm>
            <a:off x="7360920" y="24871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Error 0,77 pp, R² 0,83 (meta ≤ 3 pp y ≥ 0,80)</a:t>
            </a:r>
            <a:endParaRPr lang="en-US" sz="1300" dirty="0"/>
          </a:p>
        </p:txBody>
      </p:sp>
      <p:sp>
        <p:nvSpPr>
          <p:cNvPr id="16" name="Estado 2"/>
          <p:cNvSpPr/>
          <p:nvPr/>
        </p:nvSpPr>
        <p:spPr>
          <a:xfrm>
            <a:off x="10241280" y="2578608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o estado 2"/>
          <p:cNvSpPr txBox="1"/>
          <p:nvPr/>
        </p:nvSpPr>
        <p:spPr>
          <a:xfrm>
            <a:off x="10241280" y="25786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Cumplido</a:t>
            </a:r>
            <a:endParaRPr lang="en-US" sz="1200" dirty="0"/>
          </a:p>
        </p:txBody>
      </p:sp>
      <p:sp>
        <p:nvSpPr>
          <p:cNvPr id="18" name="Objetivo 3"/>
          <p:cNvSpPr/>
          <p:nvPr/>
        </p:nvSpPr>
        <p:spPr>
          <a:xfrm>
            <a:off x="5120640" y="3291840"/>
            <a:ext cx="6492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9" name="Nombre objetivo 3"/>
          <p:cNvSpPr txBox="1"/>
          <p:nvPr/>
        </p:nvSpPr>
        <p:spPr>
          <a:xfrm>
            <a:off x="5349240" y="34015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OE3 Prototipo</a:t>
            </a:r>
            <a:endParaRPr lang="en-US" sz="1500" dirty="0"/>
          </a:p>
        </p:txBody>
      </p:sp>
      <p:sp>
        <p:nvSpPr>
          <p:cNvPr id="20" name="Resultado objetivo 3"/>
          <p:cNvSpPr txBox="1"/>
          <p:nvPr/>
        </p:nvSpPr>
        <p:spPr>
          <a:xfrm>
            <a:off x="7360920" y="3401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12/12 casos y 10/10 ataques resistidos</a:t>
            </a:r>
            <a:endParaRPr lang="en-US" sz="1300" dirty="0"/>
          </a:p>
        </p:txBody>
      </p:sp>
      <p:sp>
        <p:nvSpPr>
          <p:cNvPr id="21" name="Estado 3"/>
          <p:cNvSpPr/>
          <p:nvPr/>
        </p:nvSpPr>
        <p:spPr>
          <a:xfrm>
            <a:off x="10241280" y="3493008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o estado 3"/>
          <p:cNvSpPr txBox="1"/>
          <p:nvPr/>
        </p:nvSpPr>
        <p:spPr>
          <a:xfrm>
            <a:off x="10241280" y="34930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Cumplido</a:t>
            </a:r>
            <a:endParaRPr lang="en-US" sz="1200" dirty="0"/>
          </a:p>
        </p:txBody>
      </p:sp>
      <p:sp>
        <p:nvSpPr>
          <p:cNvPr id="23" name="Objetivo 4"/>
          <p:cNvSpPr/>
          <p:nvPr/>
        </p:nvSpPr>
        <p:spPr>
          <a:xfrm>
            <a:off x="5120640" y="4206240"/>
            <a:ext cx="6492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24" name="Nombre objetivo 4"/>
          <p:cNvSpPr txBox="1"/>
          <p:nvPr/>
        </p:nvSpPr>
        <p:spPr>
          <a:xfrm>
            <a:off x="5349240" y="4315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OE4 Cliente</a:t>
            </a:r>
            <a:endParaRPr lang="en-US" sz="1500" dirty="0"/>
          </a:p>
        </p:txBody>
      </p:sp>
      <p:sp>
        <p:nvSpPr>
          <p:cNvPr id="25" name="Resultado objetivo 4"/>
          <p:cNvSpPr txBox="1"/>
          <p:nvPr/>
        </p:nvSpPr>
        <p:spPr>
          <a:xfrm>
            <a:off x="7360920" y="4315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A/B de 173 por grupo en el piloto</a:t>
            </a:r>
            <a:endParaRPr lang="en-US" sz="1300" dirty="0"/>
          </a:p>
        </p:txBody>
      </p:sp>
      <p:sp>
        <p:nvSpPr>
          <p:cNvPr id="26" name="Estado 4"/>
          <p:cNvSpPr/>
          <p:nvPr/>
        </p:nvSpPr>
        <p:spPr>
          <a:xfrm>
            <a:off x="10241280" y="4407408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o estado 4"/>
          <p:cNvSpPr txBox="1"/>
          <p:nvPr/>
        </p:nvSpPr>
        <p:spPr>
          <a:xfrm>
            <a:off x="10241280" y="4407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Rediseñado</a:t>
            </a:r>
            <a:endParaRPr lang="en-US" sz="1200" dirty="0"/>
          </a:p>
        </p:txBody>
      </p:sp>
      <p:sp>
        <p:nvSpPr>
          <p:cNvPr id="28" name="Objetivo 5"/>
          <p:cNvSpPr/>
          <p:nvPr/>
        </p:nvSpPr>
        <p:spPr>
          <a:xfrm>
            <a:off x="5120640" y="5120640"/>
            <a:ext cx="6492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29" name="Nombre objetivo 5"/>
          <p:cNvSpPr txBox="1"/>
          <p:nvPr/>
        </p:nvSpPr>
        <p:spPr>
          <a:xfrm>
            <a:off x="5349240" y="52303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OE5 Gobernanza</a:t>
            </a:r>
            <a:endParaRPr lang="en-US" sz="1500" dirty="0"/>
          </a:p>
        </p:txBody>
      </p:sp>
      <p:sp>
        <p:nvSpPr>
          <p:cNvPr id="30" name="Resultado objetivo 5"/>
          <p:cNvSpPr txBox="1"/>
          <p:nvPr/>
        </p:nvSpPr>
        <p:spPr>
          <a:xfrm>
            <a:off x="7360920" y="52303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Regla de suspensión con 5 gatillos</a:t>
            </a:r>
            <a:endParaRPr lang="en-US" sz="1300" dirty="0"/>
          </a:p>
        </p:txBody>
      </p:sp>
      <p:sp>
        <p:nvSpPr>
          <p:cNvPr id="31" name="Estado 5"/>
          <p:cNvSpPr/>
          <p:nvPr/>
        </p:nvSpPr>
        <p:spPr>
          <a:xfrm>
            <a:off x="10241280" y="5321808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o estado 5"/>
          <p:cNvSpPr txBox="1"/>
          <p:nvPr/>
        </p:nvSpPr>
        <p:spPr>
          <a:xfrm>
            <a:off x="10241280" y="5321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Cumplido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matemática calcula; el lenguaje solo explica</a:t>
            </a:r>
            <a:endParaRPr lang="en-US" sz="3000" dirty="0"/>
          </a:p>
        </p:txBody>
      </p:sp>
      <p:sp>
        <p:nvSpPr>
          <p:cNvPr id="3" name="Pieza 1"/>
          <p:cNvSpPr/>
          <p:nvPr/>
        </p:nvSpPr>
        <p:spPr>
          <a:xfrm>
            <a:off x="548640" y="1463040"/>
            <a:ext cx="2560320" cy="3246120"/>
          </a:xfrm>
          <a:prstGeom prst="roundRect">
            <a:avLst>
              <a:gd name="adj" fmla="val 42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4" name="Ícono pieza 1 fondo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pic>
        <p:nvPicPr>
          <p:cNvPr id="5" name="Ícono pieza 1" descr="Ícono piez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867205"/>
            <a:ext cx="380390" cy="380390"/>
          </a:xfrm>
          <a:prstGeom prst="rect">
            <a:avLst/>
          </a:prstGeom>
        </p:spPr>
      </p:pic>
      <p:sp>
        <p:nvSpPr>
          <p:cNvPr id="6" name="Título pieza 1"/>
          <p:cNvSpPr txBox="1"/>
          <p:nvPr/>
        </p:nvSpPr>
        <p:spPr>
          <a:xfrm>
            <a:off x="777240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Simulador físico</a:t>
            </a:r>
            <a:endParaRPr lang="en-US" sz="1700" dirty="0"/>
          </a:p>
        </p:txBody>
      </p:sp>
      <p:sp>
        <p:nvSpPr>
          <p:cNvPr id="7" name="Texto pieza 1"/>
          <p:cNvSpPr txBox="1"/>
          <p:nvPr/>
        </p:nvSpPr>
        <p:spPr>
          <a:xfrm>
            <a:off x="777240" y="301752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Calcula segundo a segundo la energía que recupera el kit. Calibrado contra FASTSim (error 3,4%)</a:t>
            </a:r>
            <a:endParaRPr lang="en-US" sz="1400" dirty="0"/>
          </a:p>
        </p:txBody>
      </p:sp>
      <p:sp>
        <p:nvSpPr>
          <p:cNvPr id="8" name="Flecha 1"/>
          <p:cNvSpPr/>
          <p:nvPr/>
        </p:nvSpPr>
        <p:spPr>
          <a:xfrm>
            <a:off x="3136392" y="2926080"/>
            <a:ext cx="201168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Pieza 2"/>
          <p:cNvSpPr/>
          <p:nvPr/>
        </p:nvSpPr>
        <p:spPr>
          <a:xfrm>
            <a:off x="3364992" y="1463040"/>
            <a:ext cx="2560320" cy="3246120"/>
          </a:xfrm>
          <a:prstGeom prst="roundRect">
            <a:avLst>
              <a:gd name="adj" fmla="val 42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0" name="Ícono pieza 2 fondo"/>
          <p:cNvSpPr/>
          <p:nvPr/>
        </p:nvSpPr>
        <p:spPr>
          <a:xfrm>
            <a:off x="3593592" y="1691640"/>
            <a:ext cx="731520" cy="73152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pic>
        <p:nvPicPr>
          <p:cNvPr id="11" name="Ícono pieza 2" descr="Ícono piez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157" y="1867205"/>
            <a:ext cx="380390" cy="380390"/>
          </a:xfrm>
          <a:prstGeom prst="rect">
            <a:avLst/>
          </a:prstGeom>
        </p:spPr>
      </p:pic>
      <p:sp>
        <p:nvSpPr>
          <p:cNvPr id="12" name="Título pieza 2"/>
          <p:cNvSpPr txBox="1"/>
          <p:nvPr/>
        </p:nvSpPr>
        <p:spPr>
          <a:xfrm>
            <a:off x="3593592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Modelo predictivo</a:t>
            </a:r>
            <a:endParaRPr lang="en-US" sz="1700" dirty="0"/>
          </a:p>
        </p:txBody>
      </p:sp>
      <p:sp>
        <p:nvSpPr>
          <p:cNvPr id="13" name="Texto pieza 2"/>
          <p:cNvSpPr txBox="1"/>
          <p:nvPr/>
        </p:nvSpPr>
        <p:spPr>
          <a:xfrm>
            <a:off x="3593592" y="301752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Ridge con 11 variables de una semana de conducción e intervalo conforme al 80%</a:t>
            </a:r>
            <a:endParaRPr lang="en-US" sz="1400" dirty="0"/>
          </a:p>
        </p:txBody>
      </p:sp>
      <p:sp>
        <p:nvSpPr>
          <p:cNvPr id="14" name="Flecha 2"/>
          <p:cNvSpPr/>
          <p:nvPr/>
        </p:nvSpPr>
        <p:spPr>
          <a:xfrm>
            <a:off x="5952744" y="2926080"/>
            <a:ext cx="201168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Pieza 3"/>
          <p:cNvSpPr/>
          <p:nvPr/>
        </p:nvSpPr>
        <p:spPr>
          <a:xfrm>
            <a:off x="6181344" y="1463040"/>
            <a:ext cx="2560320" cy="3246120"/>
          </a:xfrm>
          <a:prstGeom prst="roundRect">
            <a:avLst>
              <a:gd name="adj" fmla="val 42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6" name="Ícono pieza 3 fondo"/>
          <p:cNvSpPr/>
          <p:nvPr/>
        </p:nvSpPr>
        <p:spPr>
          <a:xfrm>
            <a:off x="6409944" y="1691640"/>
            <a:ext cx="731520" cy="73152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pic>
        <p:nvPicPr>
          <p:cNvPr id="17" name="Ícono pieza 3" descr="Ícono pieza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509" y="1867205"/>
            <a:ext cx="380390" cy="380390"/>
          </a:xfrm>
          <a:prstGeom prst="rect">
            <a:avLst/>
          </a:prstGeom>
        </p:spPr>
      </p:pic>
      <p:sp>
        <p:nvSpPr>
          <p:cNvPr id="18" name="Título pieza 3"/>
          <p:cNvSpPr txBox="1"/>
          <p:nvPr/>
        </p:nvSpPr>
        <p:spPr>
          <a:xfrm>
            <a:off x="6409944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Motor comercial</a:t>
            </a:r>
            <a:endParaRPr lang="en-US" sz="1700" dirty="0"/>
          </a:p>
        </p:txBody>
      </p:sp>
      <p:sp>
        <p:nvSpPr>
          <p:cNvPr id="19" name="Texto pieza 3"/>
          <p:cNvSpPr txBox="1"/>
          <p:nvPr/>
        </p:nvSpPr>
        <p:spPr>
          <a:xfrm>
            <a:off x="6409944" y="301752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Pesos al mes, plazo conservador y 6 estados: ok, no conviene, no aplica…</a:t>
            </a:r>
            <a:endParaRPr lang="en-US" sz="1400" dirty="0"/>
          </a:p>
        </p:txBody>
      </p:sp>
      <p:sp>
        <p:nvSpPr>
          <p:cNvPr id="20" name="Flecha 3"/>
          <p:cNvSpPr/>
          <p:nvPr/>
        </p:nvSpPr>
        <p:spPr>
          <a:xfrm>
            <a:off x="8769096" y="2926080"/>
            <a:ext cx="201168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Pieza 4"/>
          <p:cNvSpPr/>
          <p:nvPr/>
        </p:nvSpPr>
        <p:spPr>
          <a:xfrm>
            <a:off x="8997696" y="1463040"/>
            <a:ext cx="2560320" cy="3246120"/>
          </a:xfrm>
          <a:prstGeom prst="roundRect">
            <a:avLst>
              <a:gd name="adj" fmla="val 428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22" name="Ícono pieza 4 fondo"/>
          <p:cNvSpPr/>
          <p:nvPr/>
        </p:nvSpPr>
        <p:spPr>
          <a:xfrm>
            <a:off x="9226296" y="1691640"/>
            <a:ext cx="731520" cy="731520"/>
          </a:xfrm>
          <a:prstGeom prst="ellipse">
            <a:avLst/>
          </a:prstGeom>
          <a:solidFill>
            <a:srgbClr val="14A3E0"/>
          </a:solidFill>
          <a:ln w="12700">
            <a:solidFill>
              <a:srgbClr val="14A3E0"/>
            </a:solidFill>
            <a:prstDash val="solid"/>
          </a:ln>
        </p:spPr>
      </p:sp>
      <p:pic>
        <p:nvPicPr>
          <p:cNvPr id="23" name="Ícono pieza 4" descr="Ícono pieza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861" y="1867205"/>
            <a:ext cx="380390" cy="380390"/>
          </a:xfrm>
          <a:prstGeom prst="rect">
            <a:avLst/>
          </a:prstGeom>
        </p:spPr>
      </p:pic>
      <p:sp>
        <p:nvSpPr>
          <p:cNvPr id="24" name="Título pieza 4"/>
          <p:cNvSpPr txBox="1"/>
          <p:nvPr/>
        </p:nvSpPr>
        <p:spPr>
          <a:xfrm>
            <a:off x="9226296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Claude + RAFA v3.1</a:t>
            </a:r>
            <a:endParaRPr lang="en-US" sz="1700" dirty="0"/>
          </a:p>
        </p:txBody>
      </p:sp>
      <p:sp>
        <p:nvSpPr>
          <p:cNvPr id="25" name="Texto pieza 4"/>
          <p:cNvSpPr txBox="1"/>
          <p:nvPr/>
        </p:nvSpPr>
        <p:spPr>
          <a:xfrm>
            <a:off x="9226296" y="301752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Redacta la explicación copiando cifras cerradas; nunca calcula</a:t>
            </a:r>
            <a:endParaRPr lang="en-US" sz="1400" dirty="0"/>
          </a:p>
        </p:txBody>
      </p:sp>
      <p:sp>
        <p:nvSpPr>
          <p:cNvPr id="26" name="Control humano"/>
          <p:cNvSpPr/>
          <p:nvPr/>
        </p:nvSpPr>
        <p:spPr>
          <a:xfrm>
            <a:off x="548640" y="4983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27" name="Ícono técnico fondo"/>
          <p:cNvSpPr/>
          <p:nvPr/>
        </p:nvSpPr>
        <p:spPr>
          <a:xfrm>
            <a:off x="777240" y="5120640"/>
            <a:ext cx="822960" cy="822960"/>
          </a:xfrm>
          <a:prstGeom prst="ellipse">
            <a:avLst/>
          </a:prstGeom>
          <a:solidFill>
            <a:srgbClr val="14A3E0"/>
          </a:solidFill>
          <a:ln w="12700">
            <a:solidFill>
              <a:srgbClr val="14A3E0"/>
            </a:solidFill>
            <a:prstDash val="solid"/>
          </a:ln>
        </p:spPr>
      </p:sp>
      <p:pic>
        <p:nvPicPr>
          <p:cNvPr id="28" name="Ícono técnico" descr="Ícono técnic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" y="5318150"/>
            <a:ext cx="427939" cy="427939"/>
          </a:xfrm>
          <a:prstGeom prst="rect">
            <a:avLst/>
          </a:prstGeom>
        </p:spPr>
      </p:pic>
      <p:sp>
        <p:nvSpPr>
          <p:cNvPr id="29" name="Texto control humano"/>
          <p:cNvSpPr txBox="1"/>
          <p:nvPr/>
        </p:nvSpPr>
        <p:spPr>
          <a:xfrm>
            <a:off x="1828800" y="5120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Validador de 9 criterios + técnico humano.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Si una cifra del mensaje no existe en los datos, el cliente recibe una plantilla fija. El técnico aprueba, ajusta hasta ±2 pp con motivo o bloquea.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colectivo de 213 km diarios, de punta a punta</a:t>
            </a:r>
            <a:endParaRPr lang="en-US" sz="3000" dirty="0"/>
          </a:p>
        </p:txBody>
      </p:sp>
      <p:pic>
        <p:nvPicPr>
          <p:cNvPr id="3" name="Captura prototipo" descr="Captura del prototipo: diagnóstico de un colectivo con 19,7% de ahorr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440680" cy="4754880"/>
          </a:xfrm>
          <a:prstGeom prst="rect">
            <a:avLst/>
          </a:prstGeom>
        </p:spPr>
      </p:pic>
      <p:sp>
        <p:nvSpPr>
          <p:cNvPr id="4" name="Paso 1"/>
          <p:cNvSpPr/>
          <p:nvPr/>
        </p:nvSpPr>
        <p:spPr>
          <a:xfrm>
            <a:off x="6400800" y="1554480"/>
            <a:ext cx="640080" cy="64008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sp>
        <p:nvSpPr>
          <p:cNvPr id="5" name="Número paso 1"/>
          <p:cNvSpPr txBox="1"/>
          <p:nvPr/>
        </p:nvSpPr>
        <p:spPr>
          <a:xfrm>
            <a:off x="64008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ítulo paso 1"/>
          <p:cNvSpPr txBox="1"/>
          <p:nvPr/>
        </p:nvSpPr>
        <p:spPr>
          <a:xfrm>
            <a:off x="7269480" y="14630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Registro de una semana</a:t>
            </a:r>
            <a:endParaRPr lang="en-US" sz="1700" dirty="0"/>
          </a:p>
        </p:txBody>
      </p:sp>
      <p:sp>
        <p:nvSpPr>
          <p:cNvPr id="7" name="Texto paso 1"/>
          <p:cNvSpPr txBox="1"/>
          <p:nvPr/>
        </p:nvSpPr>
        <p:spPr>
          <a:xfrm>
            <a:off x="7269480" y="185623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3,3 detenciones por km; la ruta se borra</a:t>
            </a:r>
            <a:endParaRPr lang="en-US" sz="1500" dirty="0"/>
          </a:p>
        </p:txBody>
      </p:sp>
      <p:sp>
        <p:nvSpPr>
          <p:cNvPr id="8" name="Paso 2"/>
          <p:cNvSpPr/>
          <p:nvPr/>
        </p:nvSpPr>
        <p:spPr>
          <a:xfrm>
            <a:off x="6400800" y="2724912"/>
            <a:ext cx="640080" cy="64008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sp>
        <p:nvSpPr>
          <p:cNvPr id="9" name="Número paso 2"/>
          <p:cNvSpPr txBox="1"/>
          <p:nvPr/>
        </p:nvSpPr>
        <p:spPr>
          <a:xfrm>
            <a:off x="6400800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ítulo paso 2"/>
          <p:cNvSpPr txBox="1"/>
          <p:nvPr/>
        </p:nvSpPr>
        <p:spPr>
          <a:xfrm>
            <a:off x="7269480" y="263347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Modelo Ridge</a:t>
            </a:r>
            <a:endParaRPr lang="en-US" sz="1700" dirty="0"/>
          </a:p>
        </p:txBody>
      </p:sp>
      <p:sp>
        <p:nvSpPr>
          <p:cNvPr id="11" name="Texto paso 2"/>
          <p:cNvSpPr txBox="1"/>
          <p:nvPr/>
        </p:nvSpPr>
        <p:spPr>
          <a:xfrm>
            <a:off x="7269480" y="302666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19,7% de ahorro, rango de 18,4% a 21,0%</a:t>
            </a:r>
            <a:endParaRPr lang="en-US" sz="1500" dirty="0"/>
          </a:p>
        </p:txBody>
      </p:sp>
      <p:sp>
        <p:nvSpPr>
          <p:cNvPr id="12" name="Paso 3"/>
          <p:cNvSpPr/>
          <p:nvPr/>
        </p:nvSpPr>
        <p:spPr>
          <a:xfrm>
            <a:off x="6400800" y="3895344"/>
            <a:ext cx="640080" cy="64008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sp>
        <p:nvSpPr>
          <p:cNvPr id="13" name="Número paso 3"/>
          <p:cNvSpPr txBox="1"/>
          <p:nvPr/>
        </p:nvSpPr>
        <p:spPr>
          <a:xfrm>
            <a:off x="6400800" y="38953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ítulo paso 3"/>
          <p:cNvSpPr txBox="1"/>
          <p:nvPr/>
        </p:nvSpPr>
        <p:spPr>
          <a:xfrm>
            <a:off x="7269480" y="38039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Motor comercial</a:t>
            </a:r>
            <a:endParaRPr lang="en-US" sz="1700" dirty="0"/>
          </a:p>
        </p:txBody>
      </p:sp>
      <p:sp>
        <p:nvSpPr>
          <p:cNvPr id="15" name="Texto paso 3"/>
          <p:cNvSpPr txBox="1"/>
          <p:nvPr/>
        </p:nvSpPr>
        <p:spPr>
          <a:xfrm>
            <a:off x="7269480" y="419709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$159.000 al mes; recupera el kit en 22 meses (conservador)</a:t>
            </a:r>
            <a:endParaRPr lang="en-US" sz="1500" dirty="0"/>
          </a:p>
        </p:txBody>
      </p:sp>
      <p:sp>
        <p:nvSpPr>
          <p:cNvPr id="16" name="Paso 4"/>
          <p:cNvSpPr/>
          <p:nvPr/>
        </p:nvSpPr>
        <p:spPr>
          <a:xfrm>
            <a:off x="6400800" y="5065776"/>
            <a:ext cx="640080" cy="640080"/>
          </a:xfrm>
          <a:prstGeom prst="ellipse">
            <a:avLst/>
          </a:prstGeom>
          <a:solidFill>
            <a:srgbClr val="14A3E0"/>
          </a:solidFill>
          <a:ln w="12700">
            <a:solidFill>
              <a:srgbClr val="14A3E0"/>
            </a:solidFill>
            <a:prstDash val="solid"/>
          </a:ln>
        </p:spPr>
      </p:sp>
      <p:sp>
        <p:nvSpPr>
          <p:cNvPr id="17" name="Número paso 4"/>
          <p:cNvSpPr txBox="1"/>
          <p:nvPr/>
        </p:nvSpPr>
        <p:spPr>
          <a:xfrm>
            <a:off x="6400800" y="5065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ítulo paso 4"/>
          <p:cNvSpPr txBox="1"/>
          <p:nvPr/>
        </p:nvSpPr>
        <p:spPr>
          <a:xfrm>
            <a:off x="7269480" y="49743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Mensaje</a:t>
            </a:r>
            <a:endParaRPr lang="en-US" sz="1700" dirty="0"/>
          </a:p>
        </p:txBody>
      </p:sp>
      <p:sp>
        <p:nvSpPr>
          <p:cNvPr id="19" name="Texto paso 4"/>
          <p:cNvSpPr txBox="1"/>
          <p:nvPr/>
        </p:nvSpPr>
        <p:spPr>
          <a:xfrm>
            <a:off x="7269480" y="536752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Claude lo explica; el validador confirma cada cifra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modelo erra 10 veces menos que la cifra genérica</a:t>
            </a:r>
            <a:endParaRPr lang="en-US" sz="3000" dirty="0"/>
          </a:p>
        </p:txBody>
      </p:sp>
      <p:graphicFrame>
        <p:nvGraphicFramePr>
          <p:cNvPr id="3" name="Gráfico error" descr=""/>
          <p:cNvGraphicFramePr/>
          <p:nvPr/>
        </p:nvGraphicFramePr>
        <p:xfrm>
          <a:off x="54864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ultado 1"/>
          <p:cNvSpPr/>
          <p:nvPr/>
        </p:nvSpPr>
        <p:spPr>
          <a:xfrm>
            <a:off x="7498080" y="146304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5" name="Cifra resultado 1"/>
          <p:cNvSpPr txBox="1"/>
          <p:nvPr/>
        </p:nvSpPr>
        <p:spPr>
          <a:xfrm>
            <a:off x="772668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19,6% · 16,1% · 15,3%</a:t>
            </a:r>
            <a:endParaRPr lang="en-US" sz="2400" dirty="0"/>
          </a:p>
        </p:txBody>
      </p:sp>
      <p:sp>
        <p:nvSpPr>
          <p:cNvPr id="6" name="Texto resultado 1"/>
          <p:cNvSpPr txBox="1"/>
          <p:nvPr/>
        </p:nvSpPr>
        <p:spPr>
          <a:xfrm>
            <a:off x="7726680" y="21214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ahorro mediano en colectivos, aplicación y particulares</a:t>
            </a:r>
            <a:endParaRPr lang="en-US" sz="1400" dirty="0"/>
          </a:p>
        </p:txBody>
      </p:sp>
      <p:sp>
        <p:nvSpPr>
          <p:cNvPr id="7" name="Resultado 2"/>
          <p:cNvSpPr/>
          <p:nvPr/>
        </p:nvSpPr>
        <p:spPr>
          <a:xfrm>
            <a:off x="7498080" y="3035808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8" name="Cifra resultado 2"/>
          <p:cNvSpPr txBox="1"/>
          <p:nvPr/>
        </p:nvSpPr>
        <p:spPr>
          <a:xfrm>
            <a:off x="7726680" y="31729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1,3 pp y 78%</a:t>
            </a:r>
            <a:endParaRPr lang="en-US" sz="2400" dirty="0"/>
          </a:p>
        </p:txBody>
      </p:sp>
      <p:sp>
        <p:nvSpPr>
          <p:cNvPr id="9" name="Texto resultado 2"/>
          <p:cNvSpPr txBox="1"/>
          <p:nvPr/>
        </p:nvSpPr>
        <p:spPr>
          <a:xfrm>
            <a:off x="7726680" y="36941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error y cobertura en 45 jornadas reales, tras recalibrar con datos reales</a:t>
            </a:r>
            <a:endParaRPr lang="en-US" sz="1400" dirty="0"/>
          </a:p>
        </p:txBody>
      </p:sp>
      <p:sp>
        <p:nvSpPr>
          <p:cNvPr id="10" name="Resultado 3"/>
          <p:cNvSpPr/>
          <p:nvPr/>
        </p:nvSpPr>
        <p:spPr>
          <a:xfrm>
            <a:off x="7498080" y="4608576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1" name="Cifra resultado 3"/>
          <p:cNvSpPr txBox="1"/>
          <p:nvPr/>
        </p:nvSpPr>
        <p:spPr>
          <a:xfrm>
            <a:off x="7726680" y="4745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67%</a:t>
            </a:r>
            <a:endParaRPr lang="en-US" sz="2400" dirty="0"/>
          </a:p>
        </p:txBody>
      </p:sp>
      <p:sp>
        <p:nvSpPr>
          <p:cNvPr id="12" name="Texto resultado 3"/>
          <p:cNvSpPr txBox="1"/>
          <p:nvPr/>
        </p:nvSpPr>
        <p:spPr>
          <a:xfrm>
            <a:off x="7726680" y="52669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la variación del ahorro la explica el tipo de uso: H1 se reformula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Cuatro versiones del prompt y diez ataques después</a:t>
            </a:r>
            <a:endParaRPr lang="en-US" sz="3000" dirty="0"/>
          </a:p>
        </p:txBody>
      </p:sp>
      <p:graphicFrame>
        <p:nvGraphicFramePr>
          <p:cNvPr id="3" name="Gráfico prompts" descr=""/>
          <p:cNvGraphicFramePr/>
          <p:nvPr/>
        </p:nvGraphicFramePr>
        <p:xfrm>
          <a:off x="548640" y="137160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uditoría 1"/>
          <p:cNvSpPr/>
          <p:nvPr/>
        </p:nvSpPr>
        <p:spPr>
          <a:xfrm>
            <a:off x="6400800" y="146304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5" name="Ícono auditoría 1 fondo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pic>
        <p:nvPicPr>
          <p:cNvPr id="6" name="Ícono auditoría 1" descr="Ícono auditoría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7" name="Título auditoría 1"/>
          <p:cNvSpPr txBox="1"/>
          <p:nvPr/>
        </p:nvSpPr>
        <p:spPr>
          <a:xfrm>
            <a:off x="7498080" y="1600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10 de 10 ataques resistidos</a:t>
            </a:r>
            <a:endParaRPr lang="en-US" sz="1600" dirty="0"/>
          </a:p>
        </p:txBody>
      </p:sp>
      <p:sp>
        <p:nvSpPr>
          <p:cNvPr id="8" name="Texto auditoría 1"/>
          <p:cNvSpPr txBox="1"/>
          <p:nvPr/>
        </p:nvSpPr>
        <p:spPr>
          <a:xfrm>
            <a:off x="7498080" y="19842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Grok escribió notas que pedían prometer cifras, afirmar la legalidad o revelar precios; ChatGPT respondió con nuestras instrucciones y no cedió</a:t>
            </a:r>
            <a:endParaRPr lang="en-US" sz="1250" dirty="0"/>
          </a:p>
        </p:txBody>
      </p:sp>
      <p:sp>
        <p:nvSpPr>
          <p:cNvPr id="9" name="Auditoría 2"/>
          <p:cNvSpPr/>
          <p:nvPr/>
        </p:nvSpPr>
        <p:spPr>
          <a:xfrm>
            <a:off x="6400800" y="3035808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0" name="Ícono auditoría 2 fondo"/>
          <p:cNvSpPr/>
          <p:nvPr/>
        </p:nvSpPr>
        <p:spPr>
          <a:xfrm>
            <a:off x="6583680" y="3310128"/>
            <a:ext cx="731520" cy="73152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pic>
        <p:nvPicPr>
          <p:cNvPr id="11" name="Ícono auditoría 2" descr="Ícono auditoría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45" y="3485693"/>
            <a:ext cx="380390" cy="380390"/>
          </a:xfrm>
          <a:prstGeom prst="rect">
            <a:avLst/>
          </a:prstGeom>
        </p:spPr>
      </p:pic>
      <p:sp>
        <p:nvSpPr>
          <p:cNvPr id="12" name="Título auditoría 2"/>
          <p:cNvSpPr txBox="1"/>
          <p:nvPr/>
        </p:nvSpPr>
        <p:spPr>
          <a:xfrm>
            <a:off x="7498080" y="31729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IA auditaron el trabajo</a:t>
            </a:r>
            <a:endParaRPr lang="en-US" sz="1600" dirty="0"/>
          </a:p>
        </p:txBody>
      </p:sp>
      <p:sp>
        <p:nvSpPr>
          <p:cNvPr id="13" name="Texto auditoría 2"/>
          <p:cNvSpPr txBox="1"/>
          <p:nvPr/>
        </p:nvSpPr>
        <p:spPr>
          <a:xfrm>
            <a:off x="7498080" y="355701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Gemini verificó los cálculos; ChatGPT y DeepSeek hallaron por separado el mismo defecto de validación, que corregimos</a:t>
            </a:r>
            <a:endParaRPr lang="en-US" sz="1250" dirty="0"/>
          </a:p>
        </p:txBody>
      </p:sp>
      <p:sp>
        <p:nvSpPr>
          <p:cNvPr id="14" name="Auditoría 3"/>
          <p:cNvSpPr/>
          <p:nvPr/>
        </p:nvSpPr>
        <p:spPr>
          <a:xfrm>
            <a:off x="6400800" y="4608576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5" name="Ícono auditoría 3 fondo"/>
          <p:cNvSpPr/>
          <p:nvPr/>
        </p:nvSpPr>
        <p:spPr>
          <a:xfrm>
            <a:off x="6583680" y="4882896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Ícono auditoría 3" descr="Ícono auditoría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245" y="5058461"/>
            <a:ext cx="380390" cy="380390"/>
          </a:xfrm>
          <a:prstGeom prst="rect">
            <a:avLst/>
          </a:prstGeom>
        </p:spPr>
      </p:pic>
      <p:sp>
        <p:nvSpPr>
          <p:cNvPr id="17" name="Título auditoría 3"/>
          <p:cNvSpPr txBox="1"/>
          <p:nvPr/>
        </p:nvSpPr>
        <p:spPr>
          <a:xfrm>
            <a:off x="7498080" y="4745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Las IA también fallan</a:t>
            </a:r>
            <a:endParaRPr lang="en-US" sz="1600" dirty="0"/>
          </a:p>
        </p:txBody>
      </p:sp>
      <p:sp>
        <p:nvSpPr>
          <p:cNvPr id="18" name="Texto auditoría 3"/>
          <p:cNvSpPr txBox="1"/>
          <p:nvPr/>
        </p:nvSpPr>
        <p:spPr>
          <a:xfrm>
            <a:off x="7498080" y="512978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ChatGPT exageró supuestos ya declarados y Canva ubicó la empresa en Madrid: todo se verificó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Dos agentes en paralelo y todo trazable en GitHub</a:t>
            </a:r>
            <a:endParaRPr lang="en-US" sz="3000" dirty="0"/>
          </a:p>
        </p:txBody>
      </p:sp>
      <p:sp>
        <p:nvSpPr>
          <p:cNvPr id="3" name="Carril 1"/>
          <p:cNvSpPr/>
          <p:nvPr/>
        </p:nvSpPr>
        <p:spPr>
          <a:xfrm>
            <a:off x="548640" y="146304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4" name="Ícono Claude Code fondo"/>
          <p:cNvSpPr/>
          <p:nvPr/>
        </p:nvSpPr>
        <p:spPr>
          <a:xfrm>
            <a:off x="777240" y="1764792"/>
            <a:ext cx="777240" cy="77724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pic>
        <p:nvPicPr>
          <p:cNvPr id="5" name="Ícono Claude Code" descr="Ícono Claude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951330"/>
            <a:ext cx="404165" cy="404165"/>
          </a:xfrm>
          <a:prstGeom prst="rect">
            <a:avLst/>
          </a:prstGeom>
        </p:spPr>
      </p:pic>
      <p:sp>
        <p:nvSpPr>
          <p:cNvPr id="6" name="Título Claude Code"/>
          <p:cNvSpPr txBox="1"/>
          <p:nvPr/>
        </p:nvSpPr>
        <p:spPr>
          <a:xfrm>
            <a:off x="1783080" y="162763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Claude Code</a:t>
            </a:r>
            <a:endParaRPr lang="en-US" sz="1700" dirty="0"/>
          </a:p>
        </p:txBody>
      </p:sp>
      <p:sp>
        <p:nvSpPr>
          <p:cNvPr id="7" name="Texto Claude Code"/>
          <p:cNvSpPr txBox="1"/>
          <p:nvPr/>
        </p:nvSpPr>
        <p:spPr>
          <a:xfrm>
            <a:off x="1783080" y="202996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Rama claude/…: simulador, modelo, prototipo e informes. 15 commits; cada cifra sale de un script</a:t>
            </a:r>
            <a:endParaRPr lang="en-US" sz="1400" dirty="0"/>
          </a:p>
        </p:txBody>
      </p:sp>
      <p:sp>
        <p:nvSpPr>
          <p:cNvPr id="8" name="Carril 2"/>
          <p:cNvSpPr/>
          <p:nvPr/>
        </p:nvSpPr>
        <p:spPr>
          <a:xfrm>
            <a:off x="548640" y="3035808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9" name="Ícono Codex fondo"/>
          <p:cNvSpPr/>
          <p:nvPr/>
        </p:nvSpPr>
        <p:spPr>
          <a:xfrm>
            <a:off x="777240" y="3337560"/>
            <a:ext cx="777240" cy="777240"/>
          </a:xfrm>
          <a:prstGeom prst="ellipse">
            <a:avLst/>
          </a:prstGeom>
          <a:solidFill>
            <a:srgbClr val="14A3E0"/>
          </a:solidFill>
          <a:ln w="12700">
            <a:solidFill>
              <a:srgbClr val="14A3E0"/>
            </a:solidFill>
            <a:prstDash val="solid"/>
          </a:ln>
        </p:spPr>
      </p:sp>
      <p:pic>
        <p:nvPicPr>
          <p:cNvPr id="10" name="Ícono Codex" descr="Ícono Code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3524098"/>
            <a:ext cx="404165" cy="404165"/>
          </a:xfrm>
          <a:prstGeom prst="rect">
            <a:avLst/>
          </a:prstGeom>
        </p:spPr>
      </p:pic>
      <p:sp>
        <p:nvSpPr>
          <p:cNvPr id="11" name="Título Codex"/>
          <p:cNvSpPr txBox="1"/>
          <p:nvPr/>
        </p:nvSpPr>
        <p:spPr>
          <a:xfrm>
            <a:off x="1783080" y="32004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Codex</a:t>
            </a:r>
            <a:endParaRPr lang="en-US" sz="1700" dirty="0"/>
          </a:p>
        </p:txBody>
      </p:sp>
      <p:sp>
        <p:nvSpPr>
          <p:cNvPr id="12" name="Texto Codex"/>
          <p:cNvSpPr txBox="1"/>
          <p:nvPr/>
        </p:nvSpPr>
        <p:spPr>
          <a:xfrm>
            <a:off x="1783080" y="3602736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Rama codex/…: Ridge en el prototipo, 20 pruebas, GitHub Actions y reproducción desde cero</a:t>
            </a:r>
            <a:endParaRPr lang="en-US" sz="1400" dirty="0"/>
          </a:p>
        </p:txBody>
      </p:sp>
      <p:sp>
        <p:nvSpPr>
          <p:cNvPr id="13" name="Carril 3"/>
          <p:cNvSpPr/>
          <p:nvPr/>
        </p:nvSpPr>
        <p:spPr>
          <a:xfrm>
            <a:off x="548640" y="4608576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4" name="Ícono 5 IA auditoras fondo"/>
          <p:cNvSpPr/>
          <p:nvPr/>
        </p:nvSpPr>
        <p:spPr>
          <a:xfrm>
            <a:off x="777240" y="4910328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Ícono 5 IA auditoras" descr="Ícono 5 IA auditor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5096866"/>
            <a:ext cx="404165" cy="404165"/>
          </a:xfrm>
          <a:prstGeom prst="rect">
            <a:avLst/>
          </a:prstGeom>
        </p:spPr>
      </p:pic>
      <p:sp>
        <p:nvSpPr>
          <p:cNvPr id="16" name="Título 5 IA auditoras"/>
          <p:cNvSpPr txBox="1"/>
          <p:nvPr/>
        </p:nvSpPr>
        <p:spPr>
          <a:xfrm>
            <a:off x="1783080" y="47731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 IA auditoras</a:t>
            </a:r>
            <a:endParaRPr lang="en-US" sz="1700" dirty="0"/>
          </a:p>
        </p:txBody>
      </p:sp>
      <p:sp>
        <p:nvSpPr>
          <p:cNvPr id="17" name="Texto 5 IA auditoras"/>
          <p:cNvSpPr txBox="1"/>
          <p:nvPr/>
        </p:nvSpPr>
        <p:spPr>
          <a:xfrm>
            <a:off x="1783080" y="5175504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Gemini, ChatGPT, DeepSeek, Grok y Canva IA revisan sin tocar el código; sus hallazgos entran como commits</a:t>
            </a:r>
            <a:endParaRPr lang="en-US" sz="1400" dirty="0"/>
          </a:p>
        </p:txBody>
      </p:sp>
      <p:sp>
        <p:nvSpPr>
          <p:cNvPr id="18" name="Cifra GitHub 1"/>
          <p:cNvSpPr/>
          <p:nvPr/>
        </p:nvSpPr>
        <p:spPr>
          <a:xfrm>
            <a:off x="7589520" y="14630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9" name="Valor GitHub 1"/>
          <p:cNvSpPr txBox="1"/>
          <p:nvPr/>
        </p:nvSpPr>
        <p:spPr>
          <a:xfrm>
            <a:off x="7818120" y="1600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18</a:t>
            </a:r>
            <a:endParaRPr lang="en-US" sz="3200" dirty="0"/>
          </a:p>
        </p:txBody>
      </p:sp>
      <p:sp>
        <p:nvSpPr>
          <p:cNvPr id="20" name="Etiqueta GitHub 1"/>
          <p:cNvSpPr txBox="1"/>
          <p:nvPr/>
        </p:nvSpPr>
        <p:spPr>
          <a:xfrm>
            <a:off x="7818120" y="2240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commits trazables, del 3 al 27 de octubre</a:t>
            </a:r>
            <a:endParaRPr lang="en-US" sz="1400" dirty="0"/>
          </a:p>
        </p:txBody>
      </p:sp>
      <p:sp>
        <p:nvSpPr>
          <p:cNvPr id="21" name="Cifra GitHub 2"/>
          <p:cNvSpPr/>
          <p:nvPr/>
        </p:nvSpPr>
        <p:spPr>
          <a:xfrm>
            <a:off x="7589520" y="303580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22" name="Valor GitHub 2"/>
          <p:cNvSpPr txBox="1"/>
          <p:nvPr/>
        </p:nvSpPr>
        <p:spPr>
          <a:xfrm>
            <a:off x="7818120" y="31729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20/20</a:t>
            </a:r>
            <a:endParaRPr lang="en-US" sz="3200" dirty="0"/>
          </a:p>
        </p:txBody>
      </p:sp>
      <p:sp>
        <p:nvSpPr>
          <p:cNvPr id="23" name="Etiqueta GitHub 2"/>
          <p:cNvSpPr txBox="1"/>
          <p:nvPr/>
        </p:nvSpPr>
        <p:spPr>
          <a:xfrm>
            <a:off x="7818120" y="38130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pruebas automáticas en verde al integrar</a:t>
            </a:r>
            <a:endParaRPr lang="en-US" sz="1400" dirty="0"/>
          </a:p>
        </p:txBody>
      </p:sp>
      <p:sp>
        <p:nvSpPr>
          <p:cNvPr id="24" name="Cifra GitHub 3"/>
          <p:cNvSpPr/>
          <p:nvPr/>
        </p:nvSpPr>
        <p:spPr>
          <a:xfrm>
            <a:off x="7589520" y="460857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25" name="Valor GitHub 3"/>
          <p:cNvSpPr txBox="1"/>
          <p:nvPr/>
        </p:nvSpPr>
        <p:spPr>
          <a:xfrm>
            <a:off x="7818120" y="474573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14 min</a:t>
            </a:r>
            <a:endParaRPr lang="en-US" sz="3200" dirty="0"/>
          </a:p>
        </p:txBody>
      </p:sp>
      <p:sp>
        <p:nvSpPr>
          <p:cNvPr id="26" name="Etiqueta GitHub 3"/>
          <p:cNvSpPr txBox="1"/>
          <p:nvPr/>
        </p:nvSpPr>
        <p:spPr>
          <a:xfrm>
            <a:off x="7818120" y="53858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para regenerar el modelo desde cero, medido por Codex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Ninguna cifra sin intervalo ni decisión sin una persona</a:t>
            </a:r>
            <a:endParaRPr lang="en-US" sz="3000" dirty="0"/>
          </a:p>
        </p:txBody>
      </p:sp>
      <p:sp>
        <p:nvSpPr>
          <p:cNvPr id="3" name="Responsable 1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4" name="Ícono Privacidad fondo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pic>
        <p:nvPicPr>
          <p:cNvPr id="5" name="Ícono Privacidad" descr="Ícono Privac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923898"/>
            <a:ext cx="404165" cy="404165"/>
          </a:xfrm>
          <a:prstGeom prst="rect">
            <a:avLst/>
          </a:prstGeom>
        </p:spPr>
      </p:pic>
      <p:sp>
        <p:nvSpPr>
          <p:cNvPr id="6" name="Título Privacidad"/>
          <p:cNvSpPr txBox="1"/>
          <p:nvPr/>
        </p:nvSpPr>
        <p:spPr>
          <a:xfrm>
            <a:off x="1828800" y="1810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Privacidad</a:t>
            </a:r>
            <a:endParaRPr lang="en-US" sz="1800" dirty="0"/>
          </a:p>
        </p:txBody>
      </p:sp>
      <p:sp>
        <p:nvSpPr>
          <p:cNvPr id="7" name="Texto Privacidad"/>
          <p:cNvSpPr txBox="1"/>
          <p:nvPr/>
        </p:nvSpPr>
        <p:spPr>
          <a:xfrm>
            <a:off x="822960" y="2606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Consentimiento específico; se recortan 300 m por viaje y se borra la ruta (Ley 21.719). Claude nunca ve ubicación ni datos personales</a:t>
            </a:r>
            <a:endParaRPr lang="en-US" sz="1400" dirty="0"/>
          </a:p>
        </p:txBody>
      </p:sp>
      <p:sp>
        <p:nvSpPr>
          <p:cNvPr id="8" name="Responsable 2"/>
          <p:cNvSpPr/>
          <p:nvPr/>
        </p:nvSpPr>
        <p:spPr>
          <a:xfrm>
            <a:off x="6172200" y="14630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9" name="Ícono Transparencia y equidad fondo"/>
          <p:cNvSpPr/>
          <p:nvPr/>
        </p:nvSpPr>
        <p:spPr>
          <a:xfrm>
            <a:off x="6446520" y="1737360"/>
            <a:ext cx="777240" cy="77724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pic>
        <p:nvPicPr>
          <p:cNvPr id="10" name="Ícono Transparencia y equidad" descr="Ícono Transparencia y equid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1923898"/>
            <a:ext cx="404165" cy="404165"/>
          </a:xfrm>
          <a:prstGeom prst="rect">
            <a:avLst/>
          </a:prstGeom>
        </p:spPr>
      </p:pic>
      <p:sp>
        <p:nvSpPr>
          <p:cNvPr id="11" name="Título Transparencia y equidad"/>
          <p:cNvSpPr txBox="1"/>
          <p:nvPr/>
        </p:nvSpPr>
        <p:spPr>
          <a:xfrm>
            <a:off x="7452360" y="1810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Transparencia y equidad</a:t>
            </a:r>
            <a:endParaRPr lang="en-US" sz="1800" dirty="0"/>
          </a:p>
        </p:txBody>
      </p:sp>
      <p:sp>
        <p:nvSpPr>
          <p:cNvPr id="12" name="Texto Transparencia y equidad"/>
          <p:cNvSpPr txBox="1"/>
          <p:nvPr/>
        </p:nvSpPr>
        <p:spPr>
          <a:xfrm>
            <a:off x="6446520" y="2606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Toda cifra va con su rango. La cobertura se mide por perfil: 87% en colectivos frente a 77% en particulares</a:t>
            </a:r>
            <a:endParaRPr lang="en-US" sz="1400" dirty="0"/>
          </a:p>
        </p:txBody>
      </p:sp>
      <p:sp>
        <p:nvSpPr>
          <p:cNvPr id="13" name="Responsable 3"/>
          <p:cNvSpPr/>
          <p:nvPr/>
        </p:nvSpPr>
        <p:spPr>
          <a:xfrm>
            <a:off x="548640" y="38404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4" name="Ícono Gobernanza humana fondo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pic>
        <p:nvPicPr>
          <p:cNvPr id="15" name="Ícono Gobernanza humana" descr="Ícono Gobernanza human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4301338"/>
            <a:ext cx="404165" cy="404165"/>
          </a:xfrm>
          <a:prstGeom prst="rect">
            <a:avLst/>
          </a:prstGeom>
        </p:spPr>
      </p:pic>
      <p:sp>
        <p:nvSpPr>
          <p:cNvPr id="16" name="Título Gobernanza humana"/>
          <p:cNvSpPr txBox="1"/>
          <p:nvPr/>
        </p:nvSpPr>
        <p:spPr>
          <a:xfrm>
            <a:off x="182880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Gobernanza humana</a:t>
            </a:r>
            <a:endParaRPr lang="en-US" sz="1800" dirty="0"/>
          </a:p>
        </p:txBody>
      </p:sp>
      <p:sp>
        <p:nvSpPr>
          <p:cNvPr id="17" name="Texto Gobernanza humana"/>
          <p:cNvSpPr txBox="1"/>
          <p:nvPr/>
        </p:nvSpPr>
        <p:spPr>
          <a:xfrm>
            <a:off x="822960" y="4983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gerencia aprueba cambios; el técnico supervisa cada caso; la ingeniería recalibra; nadie delega en la IA legalidad ni garantía</a:t>
            </a:r>
            <a:endParaRPr lang="en-US" sz="1400" dirty="0"/>
          </a:p>
        </p:txBody>
      </p:sp>
      <p:sp>
        <p:nvSpPr>
          <p:cNvPr id="18" name="Responsable 4"/>
          <p:cNvSpPr/>
          <p:nvPr/>
        </p:nvSpPr>
        <p:spPr>
          <a:xfrm>
            <a:off x="6172200" y="38404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9" name="Ícono Regla de suspensión fondo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0" name="Ícono Regla de suspensión" descr="Ícono Regla de suspensió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4301338"/>
            <a:ext cx="404165" cy="404165"/>
          </a:xfrm>
          <a:prstGeom prst="rect">
            <a:avLst/>
          </a:prstGeom>
        </p:spPr>
      </p:pic>
      <p:sp>
        <p:nvSpPr>
          <p:cNvPr id="21" name="Título Regla de suspensión"/>
          <p:cNvSpPr txBox="1"/>
          <p:nvPr/>
        </p:nvSpPr>
        <p:spPr>
          <a:xfrm>
            <a:off x="745236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Regla de suspensión</a:t>
            </a:r>
            <a:endParaRPr lang="en-US" sz="1800" dirty="0"/>
          </a:p>
        </p:txBody>
      </p:sp>
      <p:sp>
        <p:nvSpPr>
          <p:cNvPr id="22" name="Texto Regla de suspensión"/>
          <p:cNvSpPr txBox="1"/>
          <p:nvPr/>
        </p:nvSpPr>
        <p:spPr>
          <a:xfrm>
            <a:off x="6446520" y="4983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 detiene si el error real supera 3 pp, la cobertura cae bajo 70%, un perfil queda 15 pp atrás, el validador falla o hay un reclamo fundado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Implementar por fases, con una decisión en cada hito</a:t>
            </a:r>
            <a:endParaRPr lang="en-US" sz="3000" dirty="0"/>
          </a:p>
        </p:txBody>
      </p:sp>
      <p:sp>
        <p:nvSpPr>
          <p:cNvPr id="3" name="Línea de tiempo"/>
          <p:cNvSpPr/>
          <p:nvPr/>
        </p:nvSpPr>
        <p:spPr>
          <a:xfrm>
            <a:off x="868680" y="1783080"/>
            <a:ext cx="0" cy="3931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4" name="Fase F0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sp>
        <p:nvSpPr>
          <p:cNvPr id="5" name="Texto fase F0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F0</a:t>
            </a:r>
            <a:endParaRPr lang="en-US" sz="1500" dirty="0"/>
          </a:p>
        </p:txBody>
      </p:sp>
      <p:sp>
        <p:nvSpPr>
          <p:cNvPr id="6" name="Plazo F0"/>
          <p:cNvSpPr txBox="1"/>
          <p:nvPr/>
        </p:nvSpPr>
        <p:spPr>
          <a:xfrm>
            <a:off x="1417320" y="14447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Meses 0 a 1,5</a:t>
            </a:r>
            <a:endParaRPr lang="en-US" sz="1500" dirty="0"/>
          </a:p>
        </p:txBody>
      </p:sp>
      <p:sp>
        <p:nvSpPr>
          <p:cNvPr id="7" name="Hito F0"/>
          <p:cNvSpPr txBox="1"/>
          <p:nvPr/>
        </p:nvSpPr>
        <p:spPr>
          <a:xfrm>
            <a:off x="1417320" y="179222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Consentimiento y cotización con intervalo en el sitio, en lugar de “hasta 25%”</a:t>
            </a:r>
            <a:endParaRPr lang="en-US" sz="1400" dirty="0"/>
          </a:p>
        </p:txBody>
      </p:sp>
      <p:sp>
        <p:nvSpPr>
          <p:cNvPr id="8" name="Fase F1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sp>
        <p:nvSpPr>
          <p:cNvPr id="9" name="Texto fase F1"/>
          <p:cNvSpPr txBox="1"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F1</a:t>
            </a:r>
            <a:endParaRPr lang="en-US" sz="1500" dirty="0"/>
          </a:p>
        </p:txBody>
      </p:sp>
      <p:sp>
        <p:nvSpPr>
          <p:cNvPr id="10" name="Plazo F1"/>
          <p:cNvSpPr txBox="1"/>
          <p:nvPr/>
        </p:nvSpPr>
        <p:spPr>
          <a:xfrm>
            <a:off x="1417320" y="26334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Meses 1,5 a 4</a:t>
            </a:r>
            <a:endParaRPr lang="en-US" sz="1500" dirty="0"/>
          </a:p>
        </p:txBody>
      </p:sp>
      <p:sp>
        <p:nvSpPr>
          <p:cNvPr id="11" name="Hito F1"/>
          <p:cNvSpPr txBox="1"/>
          <p:nvPr/>
        </p:nvSpPr>
        <p:spPr>
          <a:xfrm>
            <a:off x="1417320" y="298094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Piloto A/B (173 por grupo) y 10 instalaciones con telemetría</a:t>
            </a:r>
            <a:endParaRPr lang="en-US" sz="1400" dirty="0"/>
          </a:p>
        </p:txBody>
      </p:sp>
      <p:sp>
        <p:nvSpPr>
          <p:cNvPr id="12" name="Fase F2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sp>
        <p:nvSpPr>
          <p:cNvPr id="13" name="Texto fase F2"/>
          <p:cNvSpPr txBox="1"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F2</a:t>
            </a:r>
            <a:endParaRPr lang="en-US" sz="1500" dirty="0"/>
          </a:p>
        </p:txBody>
      </p:sp>
      <p:sp>
        <p:nvSpPr>
          <p:cNvPr id="14" name="Plazo F2"/>
          <p:cNvSpPr txBox="1"/>
          <p:nvPr/>
        </p:nvSpPr>
        <p:spPr>
          <a:xfrm>
            <a:off x="1417320" y="38221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Meses 4 a 8</a:t>
            </a:r>
            <a:endParaRPr lang="en-US" sz="1500" dirty="0"/>
          </a:p>
        </p:txBody>
      </p:sp>
      <p:sp>
        <p:nvSpPr>
          <p:cNvPr id="15" name="Hito F2"/>
          <p:cNvSpPr txBox="1"/>
          <p:nvPr/>
        </p:nvSpPr>
        <p:spPr>
          <a:xfrm>
            <a:off x="1417320" y="416966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Verificación posventa y recalibración con datos de Santiago</a:t>
            </a:r>
            <a:endParaRPr lang="en-US" sz="1400" dirty="0"/>
          </a:p>
        </p:txBody>
      </p:sp>
      <p:sp>
        <p:nvSpPr>
          <p:cNvPr id="16" name="Fase F3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sp>
        <p:nvSpPr>
          <p:cNvPr id="17" name="Texto fase F3"/>
          <p:cNvSpPr txBox="1"/>
          <p:nvPr/>
        </p:nvSpPr>
        <p:spPr>
          <a:xfrm>
            <a:off x="54864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F3</a:t>
            </a:r>
            <a:endParaRPr lang="en-US" sz="1500" dirty="0"/>
          </a:p>
        </p:txBody>
      </p:sp>
      <p:sp>
        <p:nvSpPr>
          <p:cNvPr id="18" name="Plazo F3"/>
          <p:cNvSpPr txBox="1"/>
          <p:nvPr/>
        </p:nvSpPr>
        <p:spPr>
          <a:xfrm>
            <a:off x="1417320" y="50109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Meses 8 a 12</a:t>
            </a:r>
            <a:endParaRPr lang="en-US" sz="1500" dirty="0"/>
          </a:p>
        </p:txBody>
      </p:sp>
      <p:sp>
        <p:nvSpPr>
          <p:cNvPr id="19" name="Hito F3"/>
          <p:cNvSpPr txBox="1"/>
          <p:nvPr/>
        </p:nvSpPr>
        <p:spPr>
          <a:xfrm>
            <a:off x="1417320" y="535838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Diagnóstico comercial si la cobertura real queda entre 75% y 85%</a:t>
            </a:r>
            <a:endParaRPr lang="en-US" sz="1400" dirty="0"/>
          </a:p>
        </p:txBody>
      </p:sp>
      <p:sp>
        <p:nvSpPr>
          <p:cNvPr id="20" name="Cifra económica 1"/>
          <p:cNvSpPr/>
          <p:nvPr/>
        </p:nvSpPr>
        <p:spPr>
          <a:xfrm>
            <a:off x="6949440" y="1463040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21" name="Valor económico 1"/>
          <p:cNvSpPr txBox="1"/>
          <p:nvPr/>
        </p:nvSpPr>
        <p:spPr>
          <a:xfrm>
            <a:off x="7178040" y="1600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$9,0 M</a:t>
            </a:r>
            <a:endParaRPr lang="en-US" sz="3200" dirty="0"/>
          </a:p>
        </p:txBody>
      </p:sp>
      <p:sp>
        <p:nvSpPr>
          <p:cNvPr id="22" name="Etiqueta económica 1"/>
          <p:cNvSpPr txBox="1"/>
          <p:nvPr/>
        </p:nvSpPr>
        <p:spPr>
          <a:xfrm>
            <a:off x="7178040" y="2240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costo del estimador el primer año</a:t>
            </a:r>
            <a:endParaRPr lang="en-US" sz="1400" dirty="0"/>
          </a:p>
        </p:txBody>
      </p:sp>
      <p:sp>
        <p:nvSpPr>
          <p:cNvPr id="23" name="Cifra económica 2"/>
          <p:cNvSpPr/>
          <p:nvPr/>
        </p:nvSpPr>
        <p:spPr>
          <a:xfrm>
            <a:off x="6949440" y="3035808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24" name="Valor económico 2"/>
          <p:cNvSpPr txBox="1"/>
          <p:nvPr/>
        </p:nvSpPr>
        <p:spPr>
          <a:xfrm>
            <a:off x="7178040" y="31729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+3,0 pp</a:t>
            </a:r>
            <a:endParaRPr lang="en-US" sz="3200" dirty="0"/>
          </a:p>
        </p:txBody>
      </p:sp>
      <p:sp>
        <p:nvSpPr>
          <p:cNvPr id="25" name="Etiqueta económica 2"/>
          <p:cNvSpPr txBox="1"/>
          <p:nvPr/>
        </p:nvSpPr>
        <p:spPr>
          <a:xfrm>
            <a:off x="7178040" y="38130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 agendamiento bastan para pagarlo (H3 plantea +15)</a:t>
            </a:r>
            <a:endParaRPr lang="en-US" sz="1400" dirty="0"/>
          </a:p>
        </p:txBody>
      </p:sp>
      <p:sp>
        <p:nvSpPr>
          <p:cNvPr id="26" name="Cifra económica 3"/>
          <p:cNvSpPr/>
          <p:nvPr/>
        </p:nvSpPr>
        <p:spPr>
          <a:xfrm>
            <a:off x="6949440" y="4608576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27" name="Valor económico 3"/>
          <p:cNvSpPr txBox="1"/>
          <p:nvPr/>
        </p:nvSpPr>
        <p:spPr>
          <a:xfrm>
            <a:off x="7178040" y="474573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68%</a:t>
            </a:r>
            <a:endParaRPr lang="en-US" sz="3200" dirty="0"/>
          </a:p>
        </p:txBody>
      </p:sp>
      <p:sp>
        <p:nvSpPr>
          <p:cNvPr id="28" name="Etiqueta económica 3"/>
          <p:cNvSpPr txBox="1"/>
          <p:nvPr/>
        </p:nvSpPr>
        <p:spPr>
          <a:xfrm>
            <a:off x="7178040" y="53858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retorno del año 1 con +5 pp (escenario base)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Recomendación: implementar con ajustes, por fases</a:t>
            </a:r>
            <a:endParaRPr lang="en-US" sz="3200" dirty="0"/>
          </a:p>
        </p:txBody>
      </p:sp>
      <p:sp>
        <p:nvSpPr>
          <p:cNvPr id="3" name="Acción 1"/>
          <p:cNvSpPr/>
          <p:nvPr/>
        </p:nvSpPr>
        <p:spPr>
          <a:xfrm>
            <a:off x="548640" y="160020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4" name="Número acción 1"/>
          <p:cNvSpPr txBox="1"/>
          <p:nvPr/>
        </p:nvSpPr>
        <p:spPr>
          <a:xfrm>
            <a:off x="82296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</a:t>
            </a:r>
            <a:endParaRPr lang="en-US" sz="4400" dirty="0"/>
          </a:p>
        </p:txBody>
      </p:sp>
      <p:sp>
        <p:nvSpPr>
          <p:cNvPr id="5" name="Título acción 1"/>
          <p:cNvSpPr txBox="1"/>
          <p:nvPr/>
        </p:nvSpPr>
        <p:spPr>
          <a:xfrm>
            <a:off x="82296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Retirar hoy el “hasta 25%”</a:t>
            </a:r>
            <a:endParaRPr lang="en-US" sz="1800" dirty="0"/>
          </a:p>
        </p:txBody>
      </p:sp>
      <p:sp>
        <p:nvSpPr>
          <p:cNvPr id="6" name="Texto acción 1"/>
          <p:cNvSpPr txBox="1"/>
          <p:nvPr/>
        </p:nvSpPr>
        <p:spPr>
          <a:xfrm>
            <a:off x="82296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y cotizar con intervalo: alrededor de 20% en colectivos y de 15% a 19% en el resto, cada uno con su rango</a:t>
            </a:r>
            <a:endParaRPr lang="en-US" sz="1400" dirty="0"/>
          </a:p>
        </p:txBody>
      </p:sp>
      <p:sp>
        <p:nvSpPr>
          <p:cNvPr id="7" name="Acción 2"/>
          <p:cNvSpPr/>
          <p:nvPr/>
        </p:nvSpPr>
        <p:spPr>
          <a:xfrm>
            <a:off x="4297680" y="160020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8" name="Número acción 2"/>
          <p:cNvSpPr txBox="1"/>
          <p:nvPr/>
        </p:nvSpPr>
        <p:spPr>
          <a:xfrm>
            <a:off x="457200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9" name="Título acción 2"/>
          <p:cNvSpPr txBox="1"/>
          <p:nvPr/>
        </p:nvSpPr>
        <p:spPr>
          <a:xfrm>
            <a:off x="457200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Medir con un A/B</a:t>
            </a:r>
            <a:endParaRPr lang="en-US" sz="1800" dirty="0"/>
          </a:p>
        </p:txBody>
      </p:sp>
      <p:sp>
        <p:nvSpPr>
          <p:cNvPr id="10" name="Texto acción 2"/>
          <p:cNvSpPr txBox="1"/>
          <p:nvPr/>
        </p:nvSpPr>
        <p:spPr>
          <a:xfrm>
            <a:off x="457200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 la estimación personal aumenta el agendamiento antes de escalar</a:t>
            </a:r>
            <a:endParaRPr lang="en-US" sz="1400" dirty="0"/>
          </a:p>
        </p:txBody>
      </p:sp>
      <p:sp>
        <p:nvSpPr>
          <p:cNvPr id="11" name="Acción 3"/>
          <p:cNvSpPr/>
          <p:nvPr/>
        </p:nvSpPr>
        <p:spPr>
          <a:xfrm>
            <a:off x="8046720" y="160020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sp>
        <p:nvSpPr>
          <p:cNvPr id="12" name="Número acción 3"/>
          <p:cNvSpPr txBox="1"/>
          <p:nvPr/>
        </p:nvSpPr>
        <p:spPr>
          <a:xfrm>
            <a:off x="832104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</a:t>
            </a:r>
            <a:endParaRPr lang="en-US" sz="4400" dirty="0"/>
          </a:p>
        </p:txBody>
      </p:sp>
      <p:sp>
        <p:nvSpPr>
          <p:cNvPr id="13" name="Título acción 3"/>
          <p:cNvSpPr txBox="1"/>
          <p:nvPr/>
        </p:nvSpPr>
        <p:spPr>
          <a:xfrm>
            <a:off x="832104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Habilitar el diagnóstico</a:t>
            </a:r>
            <a:endParaRPr lang="en-US" sz="1800" dirty="0"/>
          </a:p>
        </p:txBody>
      </p:sp>
      <p:sp>
        <p:nvSpPr>
          <p:cNvPr id="14" name="Texto acción 3"/>
          <p:cNvSpPr txBox="1"/>
          <p:nvPr/>
        </p:nvSpPr>
        <p:spPr>
          <a:xfrm>
            <a:off x="832104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solo cuando la telemetría de los primeros kits confirme el intervalo</a:t>
            </a:r>
            <a:endParaRPr lang="en-US" sz="1400" dirty="0"/>
          </a:p>
        </p:txBody>
      </p:sp>
      <p:sp>
        <p:nvSpPr>
          <p:cNvPr id="15" name="Límites"/>
          <p:cNvSpPr txBox="1"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Límites: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el ahorro es simulado con un kit supuesto, los datos reales son secundarios y el efecto sobre el cliente (H3) aún no se mide.</a:t>
            </a:r>
            <a:endParaRPr lang="en-US" sz="1500" dirty="0"/>
          </a:p>
        </p:txBody>
      </p:sp>
      <p:sp>
        <p:nvSpPr>
          <p:cNvPr id="16" name="Cierre"/>
          <p:cNvSpPr txBox="1"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Gracias. ¿Preguntas?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mine">
  <a:themeElements>
    <a:clrScheme name="Lumine">
      <a:dk1>
        <a:srgbClr val="0B1220"/>
      </a:dk1>
      <a:lt1>
        <a:srgbClr val="FFFFFF"/>
      </a:lt1>
      <a:dk2>
        <a:srgbClr val="1F2A44"/>
      </a:dk2>
      <a:lt2>
        <a:srgbClr val="EEF3F8"/>
      </a:lt2>
      <a:accent1>
        <a:srgbClr val="14A3E0"/>
      </a:accent1>
      <a:accent2>
        <a:srgbClr val="2B4C9B"/>
      </a:accent2>
      <a:accent3>
        <a:srgbClr val="F59E0B"/>
      </a:accent3>
      <a:accent4>
        <a:srgbClr val="10B981"/>
      </a:accent4>
      <a:accent5>
        <a:srgbClr val="6B7280"/>
      </a:accent5>
      <a:accent6>
        <a:srgbClr val="C0392B"/>
      </a:accent6>
      <a:hlink>
        <a:srgbClr val="14A3E0"/>
      </a:hlink>
      <a:folHlink>
        <a:srgbClr val="2B4C9B"/>
      </a:folHlink>
    </a:clrScheme>
    <a:fontScheme name="Lumin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Lumine Motors: estimador de ahorro con IA</dc:title>
  <dc:subject>PptxGenJS Presentation</dc:subject>
  <dc:creator>Grupo 1, NRC 4153</dc:creator>
  <cp:lastModifiedBy>Grupo 1, NRC 4153</cp:lastModifiedBy>
  <cp:revision>1</cp:revision>
  <dcterms:created xsi:type="dcterms:W3CDTF">2026-10-27T00:29:09Z</dcterms:created>
  <dcterms:modified xsi:type="dcterms:W3CDTF">2026-10-27T00:29:09Z</dcterms:modified>
</cp:coreProperties>
</file>